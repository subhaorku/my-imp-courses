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56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4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7111"/>
    <a:srgbClr val="009900"/>
    <a:srgbClr val="8DD783"/>
    <a:srgbClr val="EA9B26"/>
    <a:srgbClr val="158D82"/>
    <a:srgbClr val="5E861C"/>
    <a:srgbClr val="499200"/>
    <a:srgbClr val="F9DE6B"/>
    <a:srgbClr val="F1BE7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A72402-DDD5-4AA4-B67D-84D287CD135A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3684B-A4BC-40E1-95BF-E6FD95234C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9836" y="1096965"/>
            <a:ext cx="8567530" cy="2085696"/>
          </a:xfrm>
        </p:spPr>
        <p:txBody>
          <a:bodyPr anchor="b">
            <a:normAutofit/>
          </a:bodyPr>
          <a:lstStyle>
            <a:lvl1pPr algn="ctr">
              <a:defRPr sz="48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>
                <a:solidFill>
                  <a:schemeClr val="accent5">
                    <a:lumMod val="50000"/>
                    <a:alpha val="6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D0C487A-D036-4525-9F6D-E5DCC81B692F}"/>
              </a:ext>
            </a:extLst>
          </p:cNvPr>
          <p:cNvSpPr txBox="1"/>
          <p:nvPr userDrawn="1"/>
        </p:nvSpPr>
        <p:spPr>
          <a:xfrm>
            <a:off x="1735490" y="849093"/>
            <a:ext cx="8406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chemeClr val="accent5">
                    <a:lumMod val="50000"/>
                  </a:schemeClr>
                </a:solidFill>
              </a:rPr>
              <a:t>Foundation of Large Language Models (FLLM)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455E08-B879-420B-A99D-356579E89058}"/>
              </a:ext>
            </a:extLst>
          </p:cNvPr>
          <p:cNvSpPr txBox="1"/>
          <p:nvPr userDrawn="1"/>
        </p:nvSpPr>
        <p:spPr>
          <a:xfrm>
            <a:off x="4948333" y="1384536"/>
            <a:ext cx="14176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AI60213</a:t>
            </a:r>
          </a:p>
        </p:txBody>
      </p:sp>
    </p:spTree>
    <p:extLst>
      <p:ext uri="{BB962C8B-B14F-4D97-AF65-F5344CB8AC3E}">
        <p14:creationId xmlns:p14="http://schemas.microsoft.com/office/powerpoint/2010/main" val="1088301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6" y="-204151"/>
            <a:ext cx="10545418" cy="1112836"/>
          </a:xfrm>
        </p:spPr>
        <p:txBody>
          <a:bodyPr>
            <a:normAutofit/>
          </a:bodyPr>
          <a:lstStyle>
            <a:lvl1pPr>
              <a:defRPr sz="4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766" y="1097280"/>
            <a:ext cx="10545418" cy="5180971"/>
          </a:xfrm>
        </p:spPr>
        <p:txBody>
          <a:bodyPr/>
          <a:lstStyle>
            <a:lvl1pPr marL="36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 sz="2800">
                <a:solidFill>
                  <a:schemeClr val="accent2">
                    <a:lumMod val="50000"/>
                  </a:schemeClr>
                </a:solidFill>
              </a:defRPr>
            </a:lvl1pPr>
            <a:lvl2pPr marL="702900" indent="-342900">
              <a:buClr>
                <a:schemeClr val="tx1"/>
              </a:buClr>
              <a:buFont typeface="Courier New" panose="02070309020205020404" pitchFamily="49" charset="0"/>
              <a:buChar char="o"/>
              <a:defRPr sz="2400" i="0">
                <a:solidFill>
                  <a:schemeClr val="tx1"/>
                </a:solidFill>
              </a:defRPr>
            </a:lvl2pPr>
            <a:lvl3pPr marL="1080000" indent="-360000">
              <a:buClr>
                <a:schemeClr val="tx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3pPr>
            <a:lvl4pPr marL="1422900" indent="-342900">
              <a:buClr>
                <a:schemeClr val="bg1"/>
              </a:buClr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4pPr>
            <a:lvl5pPr marL="1800000" indent="-360000">
              <a:buFont typeface="Courier New" panose="02070309020205020404" pitchFamily="49" charset="0"/>
              <a:buChar char="o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B105E-D291-4F14-B83F-344D1A4D0A2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pPr>
              <a:defRPr/>
            </a:pPr>
            <a:r>
              <a:rPr lang="en-US" dirty="0">
                <a:solidFill>
                  <a:srgbClr val="000000">
                    <a:alpha val="60000"/>
                  </a:srgbClr>
                </a:solidFill>
              </a:rPr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58E440-80E3-4674-868F-16E3FD812262}"/>
              </a:ext>
            </a:extLst>
          </p:cNvPr>
          <p:cNvCxnSpPr/>
          <p:nvPr userDrawn="1"/>
        </p:nvCxnSpPr>
        <p:spPr>
          <a:xfrm>
            <a:off x="932873" y="868045"/>
            <a:ext cx="5421745" cy="0"/>
          </a:xfrm>
          <a:prstGeom prst="line">
            <a:avLst/>
          </a:prstGeom>
          <a:ln w="31750" cmpd="dbl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940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37E9-86D0-44A7-A0ED-EDDA30C3C5AA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25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582D1-F736-4095-9778-F7BC872664AD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041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C60BA-BCFA-461D-B1E4-75355B87CE53}" type="datetime1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96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E250E-7243-49D9-9EE1-CDD7CEC3C9DC}" type="datetime1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4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31780-62A7-4065-B15C-16FEE64FCE05}" type="datetime1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FDD58-8592-4A6A-836D-0E35C354EDF7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9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2BB06-1D41-4420-820F-B73A9A09BC28}" type="datetime1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2924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3980B-E693-4EA3-9046-65F1495C9307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9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4A516-8344-4269-9CD2-8B76EF291C3B}" type="datetime1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Indian Oil Training on AI and ML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917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BA4D4E7B-4493-4CEA-A8F8-D2AD2DCAE9DB}" type="datetime1">
              <a:rPr lang="en-US" smtClean="0"/>
              <a:t>10/13/2025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Indian Oil Training on AI and ML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FF2BD96E-3838-45D2-9031-D3AF67C920A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60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74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Courier New" panose="02070309020205020404" pitchFamily="49" charset="0"/>
        <a:buChar char="o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§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3pPr>
      <a:lvl4pPr marL="1422900" indent="-3429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Arial" panose="020B0604020202020204" pitchFamily="34" charset="0"/>
        <a:buChar char="•"/>
        <a:defRPr sz="2000" b="0" i="1" kern="1200" spc="50" baseline="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bg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57210-9334-4A18-A6C0-80B658DD84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PEFT: </a:t>
            </a:r>
            <a:r>
              <a:rPr lang="en-US" dirty="0" err="1"/>
              <a:t>Reparameterized</a:t>
            </a:r>
            <a:r>
              <a:rPr lang="en-US" dirty="0"/>
              <a:t> Models, </a:t>
            </a:r>
            <a:r>
              <a:rPr lang="en-US" dirty="0" err="1"/>
              <a:t>LoRA</a:t>
            </a:r>
            <a:r>
              <a:rPr lang="en-US" dirty="0"/>
              <a:t>, </a:t>
            </a:r>
            <a:r>
              <a:rPr lang="en-US" dirty="0" err="1"/>
              <a:t>DyLoRA</a:t>
            </a:r>
            <a:r>
              <a:rPr lang="en-US" dirty="0"/>
              <a:t>, </a:t>
            </a:r>
            <a:r>
              <a:rPr lang="en-US" dirty="0" err="1"/>
              <a:t>QLoRA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5A4C8-F94D-4F5D-B4F9-508689224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Plaban Kumar Bhowmick</a:t>
            </a:r>
          </a:p>
          <a:p>
            <a:r>
              <a:rPr lang="en-IN" dirty="0"/>
              <a:t>Department of AI</a:t>
            </a:r>
          </a:p>
          <a:p>
            <a:r>
              <a:rPr lang="en-IN" dirty="0"/>
              <a:t>plaban@ai.iitkgp.ac.in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6D040-688E-4CDE-B3E0-268C6E0DA1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82800" y="6357600"/>
            <a:ext cx="1760150" cy="460800"/>
          </a:xfrm>
        </p:spPr>
        <p:txBody>
          <a:bodyPr/>
          <a:lstStyle/>
          <a:p>
            <a:fld id="{FF2BD96E-3838-45D2-9031-D3AF67C920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731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9DBD0-7EB3-4E41-A339-517EED3D9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Reparameterization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EE0EA-F4D6-40D7-9C91-73B7928E6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Improving the training efficiency and performance of a model by </a:t>
            </a:r>
            <a:r>
              <a:rPr lang="en-US" dirty="0">
                <a:solidFill>
                  <a:srgbClr val="C00000"/>
                </a:solidFill>
              </a:rPr>
              <a:t>transforming its parameters</a:t>
            </a:r>
          </a:p>
          <a:p>
            <a:r>
              <a:rPr lang="en-IN" dirty="0"/>
              <a:t>Low-rank parameterization</a:t>
            </a:r>
          </a:p>
          <a:p>
            <a:pPr lvl="1"/>
            <a:r>
              <a:rPr lang="en-US" dirty="0"/>
              <a:t>constructing a </a:t>
            </a:r>
            <a:r>
              <a:rPr lang="en-US" dirty="0">
                <a:solidFill>
                  <a:srgbClr val="C00000"/>
                </a:solidFill>
              </a:rPr>
              <a:t>low-rank learnable parameter matrix </a:t>
            </a:r>
            <a:r>
              <a:rPr lang="en-US" dirty="0"/>
              <a:t>to adapt to specific downstream tasks</a:t>
            </a:r>
          </a:p>
          <a:p>
            <a:r>
              <a:rPr lang="en-US" dirty="0"/>
              <a:t>Training time: only the </a:t>
            </a:r>
            <a:r>
              <a:rPr lang="en-US" dirty="0">
                <a:solidFill>
                  <a:srgbClr val="C00000"/>
                </a:solidFill>
              </a:rPr>
              <a:t>low-rank parameter matrix is fine-tuned</a:t>
            </a:r>
          </a:p>
          <a:p>
            <a:r>
              <a:rPr lang="en-US" dirty="0"/>
              <a:t>Inference time: </a:t>
            </a:r>
            <a:r>
              <a:rPr lang="en-US" dirty="0">
                <a:solidFill>
                  <a:srgbClr val="C00000"/>
                </a:solidFill>
              </a:rPr>
              <a:t>learned matrix is combined </a:t>
            </a:r>
            <a:r>
              <a:rPr lang="en-US" dirty="0"/>
              <a:t>with the pretrained parameters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5D145-8EA1-41B6-94C4-D1A427F25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174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9926-3BD2-4178-841F-55BFAC833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Low-Rank Adaptation (</a:t>
            </a:r>
            <a:r>
              <a:rPr lang="en-IN" dirty="0" err="1"/>
              <a:t>LoRA</a:t>
            </a:r>
            <a:r>
              <a:rPr lang="en-IN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04B78-62D4-444B-BD0D-A668C0275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BE51BD-930E-4751-8B42-E13605A9460C}"/>
              </a:ext>
            </a:extLst>
          </p:cNvPr>
          <p:cNvSpPr txBox="1"/>
          <p:nvPr/>
        </p:nvSpPr>
        <p:spPr>
          <a:xfrm>
            <a:off x="854767" y="993771"/>
            <a:ext cx="107740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The learned over-parametrized models reside on a low intrinsic dimension. 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30BA0B-D1B1-4F56-B39F-387C8DD1A79B}"/>
              </a:ext>
            </a:extLst>
          </p:cNvPr>
          <p:cNvSpPr txBox="1"/>
          <p:nvPr/>
        </p:nvSpPr>
        <p:spPr>
          <a:xfrm>
            <a:off x="854766" y="1485253"/>
            <a:ext cx="11111948" cy="464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solidFill>
                  <a:srgbClr val="C00000"/>
                </a:solidFill>
              </a:rPr>
              <a:t>Change in weights during model adaptation also has a low “intrinsic rank”.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9647BC-EA63-4D18-9C7B-E7D9A7D9188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30" y="2084070"/>
            <a:ext cx="4890952" cy="4273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C43127-36F4-4B41-AAA3-9B52B9B81D6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1859" y="2186940"/>
            <a:ext cx="5557682" cy="41706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204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55B4D-DABE-4A9B-A3C8-96861AC83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Parameter Update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BBDF5-D0A6-4829-8E9F-6DCCDC15DB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Standard parameter update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p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</m:t>
                    </m:r>
                  </m:oMath>
                </a14:m>
                <a:r>
                  <a:rPr lang="en-IN" sz="2200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p>
                        <m:r>
                          <a:rPr lang="en-IN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IN" sz="22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m:rPr>
                        <m:sty m:val="p"/>
                      </m:rPr>
                      <a:rPr lang="en-IN" sz="220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IN" sz="22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</m:t>
                    </m:r>
                    <m:r>
                      <a:rPr lang="en-IN" sz="22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×</m:t>
                        </m:r>
                        <m:r>
                          <a:rPr lang="en-I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p>
                    </m:sSup>
                  </m:oMath>
                </a14:m>
                <a:endParaRPr lang="en-IN" sz="2200" dirty="0"/>
              </a:p>
              <a:p>
                <a:r>
                  <a:rPr lang="en-IN" dirty="0"/>
                  <a:t>Low-rank parameter update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𝐴𝐵</m:t>
                    </m:r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IN" sz="2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IN" sz="2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×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sup>
                    </m:sSup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𝐵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×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</m:t>
                        </m:r>
                      </m:sup>
                    </m:sSup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</m:t>
                    </m:r>
                  </m:oMath>
                </a14:m>
                <a:r>
                  <a:rPr lang="en-IN" sz="18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IN" sz="2200" dirty="0"/>
                  <a:t>and rank </a:t>
                </a:r>
                <a14:m>
                  <m:oMath xmlns:m="http://schemas.openxmlformats.org/officeDocument/2006/math"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≪</m:t>
                    </m:r>
                    <m:func>
                      <m:func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IN" sz="22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min</m:t>
                        </m:r>
                      </m:fName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,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𝑘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func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Updating representation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sz="22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IN" sz="22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num>
                      <m:den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den>
                    </m:f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𝐴𝐵𝑥</m:t>
                    </m:r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BBDF5-D0A6-4829-8E9F-6DCCDC15DB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1D4CD-16E8-4E48-AB54-877B952D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611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EF142-7F45-4C24-9A1B-F869AEDAD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5C60C-6A97-4C6F-82FF-6F903A680B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b="0" dirty="0"/>
                  <a:t>Scaling factor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a constant in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>
                    <a:solidFill>
                      <a:srgbClr val="C00000"/>
                    </a:solidFill>
                  </a:rPr>
                  <a:t>fixed</a:t>
                </a:r>
                <a:r>
                  <a:rPr lang="en-US" dirty="0"/>
                  <a:t> regardless of the </a:t>
                </a:r>
                <a:r>
                  <a:rPr lang="en-US" dirty="0" err="1"/>
                  <a:t>LoRA</a:t>
                </a:r>
                <a:r>
                  <a:rPr lang="en-US" dirty="0"/>
                  <a:t> rank 𝑟</a:t>
                </a:r>
              </a:p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controls how much you let </a:t>
                </a:r>
                <a:r>
                  <a:rPr lang="en-US" dirty="0" err="1"/>
                  <a:t>LoRA</a:t>
                </a:r>
                <a:r>
                  <a:rPr lang="en-US" dirty="0"/>
                  <a:t> deviate from the frozen base model (</a:t>
                </a:r>
                <a:r>
                  <a:rPr lang="en-US" dirty="0" err="1">
                    <a:solidFill>
                      <a:srgbClr val="C00000"/>
                    </a:solidFill>
                  </a:rPr>
                  <a:t>LoRA</a:t>
                </a:r>
                <a:r>
                  <a:rPr lang="en-US" dirty="0">
                    <a:solidFill>
                      <a:srgbClr val="C00000"/>
                    </a:solidFill>
                  </a:rPr>
                  <a:t> strength</a:t>
                </a:r>
                <a:r>
                  <a:rPr lang="en-US" dirty="0"/>
                  <a:t>)</a:t>
                </a:r>
              </a:p>
              <a:p>
                <a:r>
                  <a:rPr lang="en-US" dirty="0"/>
                  <a:t>The magnitude of AB increases with the rank value (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The factor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 is used to </a:t>
                </a:r>
                <a:r>
                  <a:rPr lang="en-US" dirty="0">
                    <a:solidFill>
                      <a:srgbClr val="C00000"/>
                    </a:solidFill>
                  </a:rPr>
                  <a:t>normalize the score </a:t>
                </a:r>
              </a:p>
              <a:p>
                <a:pPr lvl="1"/>
                <a:r>
                  <a:rPr lang="en-US" dirty="0"/>
                  <a:t>Expected </a:t>
                </a:r>
                <a:r>
                  <a:rPr lang="en-US" dirty="0">
                    <a:solidFill>
                      <a:srgbClr val="C00000"/>
                    </a:solidFill>
                  </a:rPr>
                  <a:t>update magnitude remains stable </a:t>
                </a:r>
                <a:r>
                  <a:rPr lang="en-US" dirty="0"/>
                  <a:t>as 𝑟 is varied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05C60C-6A97-4C6F-82FF-6F903A680B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39101-8C45-4761-A696-4B2A1D21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848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871CC-76DD-4281-A98C-6E33FC792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10B04-F5D7-490D-BCC5-004E8404F6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Effective scale 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lang="en-US" dirty="0"/>
                  <a:t> is the </a:t>
                </a:r>
                <a:r>
                  <a:rPr lang="en-US" dirty="0" err="1">
                    <a:solidFill>
                      <a:srgbClr val="C00000"/>
                    </a:solidFill>
                  </a:rPr>
                  <a:t>LoRA</a:t>
                </a:r>
                <a:r>
                  <a:rPr lang="en-US" dirty="0">
                    <a:solidFill>
                      <a:srgbClr val="C00000"/>
                    </a:solidFill>
                  </a:rPr>
                  <a:t> strength per rank unit</a:t>
                </a:r>
              </a:p>
              <a:p>
                <a:r>
                  <a:rPr lang="en-US" dirty="0"/>
                  <a:t>Near-zero initialization</a:t>
                </a:r>
              </a:p>
              <a:p>
                <a:pPr lvl="1"/>
                <a:r>
                  <a:rPr lang="en-US" dirty="0"/>
                  <a:t>Matrix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initialized to zero </a:t>
                </a:r>
              </a:p>
              <a:p>
                <a:pPr lvl="1"/>
                <a:r>
                  <a:rPr lang="en-US" dirty="0"/>
                  <a:t>Random zero mean Gaussian initialization is used for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 is zero at the beginning of training</a:t>
                </a:r>
                <a:endParaRPr lang="en-IN" dirty="0"/>
              </a:p>
              <a:p>
                <a:r>
                  <a:rPr lang="en-US" dirty="0"/>
                  <a:t>During hyperparameter tuning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is tuned first for a starting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value and is not tuned further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10B04-F5D7-490D-BCC5-004E8404F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45427B-49D4-4A51-A005-D2574ECF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0D7D-4977-4537-9A9B-A2CB21AF5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LoRA</a:t>
            </a:r>
            <a:r>
              <a:rPr lang="en-US" dirty="0"/>
              <a:t> is a Generalization of Full Fine-Tuning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2D78C-E881-49F2-BE4E-CFC58E53E7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Full Fine-Tuning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IN" sz="22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p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′</m:t>
                        </m:r>
                      </m:sup>
                    </m:sSup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200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Δ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</m:t>
                    </m:r>
                  </m:oMath>
                </a14:m>
                <a:r>
                  <a:rPr lang="en-IN" sz="2200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:r>
                  <a:rPr lang="en-IN" dirty="0"/>
                  <a:t>Δ𝑊 is an </a:t>
                </a:r>
                <a:r>
                  <a:rPr lang="en-IN" dirty="0">
                    <a:solidFill>
                      <a:srgbClr val="C00000"/>
                    </a:solidFill>
                  </a:rPr>
                  <a:t>unrestricted (full-rank) matrix</a:t>
                </a:r>
              </a:p>
              <a:p>
                <a:pPr lvl="1"/>
                <a:r>
                  <a:rPr lang="en-IN" dirty="0"/>
                  <a:t>Provides the model maximum </a:t>
                </a:r>
                <a:r>
                  <a:rPr lang="en-IN" dirty="0">
                    <a:solidFill>
                      <a:srgbClr val="C00000"/>
                    </a:solidFill>
                  </a:rPr>
                  <a:t>flexibility</a:t>
                </a:r>
              </a:p>
              <a:p>
                <a:pPr lvl="1"/>
                <a:r>
                  <a:rPr lang="en-IN" dirty="0">
                    <a:solidFill>
                      <a:srgbClr val="C00000"/>
                    </a:solidFill>
                  </a:rPr>
                  <a:t>Expensive</a:t>
                </a:r>
                <a:r>
                  <a:rPr lang="en-IN" dirty="0"/>
                  <a:t> as it is required to store and update all weights</a:t>
                </a:r>
              </a:p>
              <a:p>
                <a:r>
                  <a:rPr lang="en-IN" dirty="0" err="1"/>
                  <a:t>LoRA</a:t>
                </a:r>
                <a:r>
                  <a:rPr lang="en-IN" dirty="0"/>
                  <a:t>: parameterizes the update as a low-rank factorization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In place of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18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IN" dirty="0"/>
                  <a:t>parameters, </a:t>
                </a:r>
                <a:r>
                  <a:rPr lang="en-IN" dirty="0" err="1"/>
                  <a:t>LoRA</a:t>
                </a:r>
                <a:r>
                  <a:rPr lang="en-IN" dirty="0"/>
                  <a:t> only trains </a:t>
                </a:r>
                <a14:m>
                  <m:oMath xmlns:m="http://schemas.openxmlformats.org/officeDocument/2006/math">
                    <m:r>
                      <a:rPr lang="en-I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×(</m:t>
                    </m:r>
                    <m:r>
                      <a:rPr lang="en-I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1800" dirty="0">
                    <a:solidFill>
                      <a:srgbClr val="C00000"/>
                    </a:solidFill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n-IN" dirty="0">
                    <a:solidFill>
                      <a:srgbClr val="C00000"/>
                    </a:solidFill>
                  </a:rPr>
                  <a:t>parameters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72D78C-E881-49F2-BE4E-CFC58E53E7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r="-694" b="-7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4024D-651F-459D-8B15-66B0792B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29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DEBAD-E06C-4E96-AFE0-015C0FA44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LoRA</a:t>
            </a:r>
            <a:r>
              <a:rPr lang="en-US" dirty="0"/>
              <a:t> is a Generalization of Full Fine-Tuning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5687CB-339E-458C-A791-50B11DF530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LoRA: parameterizes the update as a low-rank factorization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IN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endParaRPr lang="en-IN" dirty="0"/>
              </a:p>
              <a:p>
                <a:pPr lvl="1"/>
                <a:r>
                  <a:rPr lang="en-US" dirty="0"/>
                  <a:t>Update space (the set of all possible </a:t>
                </a:r>
                <a14:m>
                  <m:oMath xmlns:m="http://schemas.openxmlformats.org/officeDocument/2006/math">
                    <m:r>
                      <a:rPr lang="en-IN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) is a subset of all possible ΔW updates — </a:t>
                </a:r>
                <a:r>
                  <a:rPr lang="en-US" dirty="0">
                    <a:solidFill>
                      <a:srgbClr val="C00000"/>
                    </a:solidFill>
                  </a:rPr>
                  <a:t>it’s rank-constrained</a:t>
                </a:r>
              </a:p>
              <a:p>
                <a:r>
                  <a:rPr lang="en-US" dirty="0"/>
                  <a:t>Full fine-tuning, each update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can have full rank</a:t>
                </a:r>
              </a:p>
              <a:p>
                <a:r>
                  <a:rPr lang="en-IN" dirty="0" err="1"/>
                  <a:t>LoRA</a:t>
                </a:r>
                <a:r>
                  <a:rPr lang="en-IN" dirty="0"/>
                  <a:t> assumes </a:t>
                </a:r>
                <a:r>
                  <a:rPr lang="en-US" dirty="0">
                    <a:solidFill>
                      <a:srgbClr val="C00000"/>
                    </a:solidFill>
                  </a:rPr>
                  <a:t>most useful updates can be expressed as combinations of a few basis directions</a:t>
                </a:r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5687CB-339E-458C-A791-50B11DF530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 r="-6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F6E657-6F0E-4956-AE89-73D221C7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92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A636C-F17A-478B-A3DF-773F99367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LoRA</a:t>
            </a:r>
            <a:r>
              <a:rPr lang="en-US" dirty="0"/>
              <a:t> is a Generalization of Full Fine-Tuning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92D6E-580D-436C-BFF2-693DCC5F74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What happens when the rank is increased?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US" dirty="0"/>
                  <a:t> is able to approximate </a:t>
                </a:r>
                <a:r>
                  <a:rPr lang="en-US" dirty="0">
                    <a:solidFill>
                      <a:srgbClr val="C00000"/>
                    </a:solidFill>
                  </a:rPr>
                  <a:t>more complex (higher-rank) updates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equal to the full rank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IN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𝐴𝐵</m:t>
                    </m:r>
                  </m:oMath>
                </a14:m>
                <a:r>
                  <a:rPr lang="en-IN" dirty="0">
                    <a:solidFill>
                      <a:srgbClr val="C00000"/>
                    </a:solidFill>
                  </a:rPr>
                  <a:t> represents the same update space as full-tuning</a:t>
                </a:r>
                <a:endParaRPr lang="en-IN" dirty="0"/>
              </a:p>
              <a:p>
                <a:r>
                  <a:rPr lang="en-US" dirty="0" err="1">
                    <a:solidFill>
                      <a:srgbClr val="C00000"/>
                    </a:solidFill>
                  </a:rPr>
                  <a:t>LoRA</a:t>
                </a:r>
                <a:r>
                  <a:rPr lang="en-US" dirty="0">
                    <a:solidFill>
                      <a:srgbClr val="C00000"/>
                    </a:solidFill>
                  </a:rPr>
                  <a:t> converges to full fine-tuning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increased to the maximum rank of the pretrained weights</a:t>
                </a:r>
              </a:p>
              <a:p>
                <a:r>
                  <a:rPr lang="en-US" dirty="0"/>
                  <a:t>In summary: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is close to full rank, </a:t>
                </a:r>
                <a:r>
                  <a:rPr lang="en-US" dirty="0" err="1"/>
                  <a:t>LoRA</a:t>
                </a:r>
                <a:r>
                  <a:rPr lang="en-US" dirty="0"/>
                  <a:t> ≈ full fine-tuning (same expressive power)</a:t>
                </a:r>
              </a:p>
              <a:p>
                <a:pPr lvl="1"/>
                <a:r>
                  <a:rPr lang="en-US" dirty="0"/>
                  <a:t>For small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LoRA</a:t>
                </a:r>
                <a:r>
                  <a:rPr lang="en-US" dirty="0"/>
                  <a:t> ≈ efficient fine-tuning (lower cost, still expressive)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792D6E-580D-436C-BFF2-693DCC5F74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 b="-12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7FD45-702B-4BB7-93F5-9AA760E9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920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28DE-127A-4B77-9E69-A11A3E20D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Dynamic Low-rank Adaptation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96D0A-4441-4683-A2F8-9B0D0A7BFC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 err="1"/>
                  <a:t>LoRA</a:t>
                </a:r>
                <a:r>
                  <a:rPr lang="en-US" dirty="0"/>
                  <a:t> suffers from two problems</a:t>
                </a:r>
              </a:p>
              <a:p>
                <a:pPr lvl="1"/>
                <a:r>
                  <a:rPr lang="en-US" dirty="0"/>
                  <a:t>The </a:t>
                </a:r>
                <a:r>
                  <a:rPr lang="en-US" dirty="0">
                    <a:solidFill>
                      <a:srgbClr val="C00000"/>
                    </a:solidFill>
                  </a:rPr>
                  <a:t>size of </a:t>
                </a:r>
                <a:r>
                  <a:rPr lang="en-US" dirty="0" err="1">
                    <a:solidFill>
                      <a:srgbClr val="C00000"/>
                    </a:solidFill>
                  </a:rPr>
                  <a:t>LoRA</a:t>
                </a:r>
                <a:r>
                  <a:rPr lang="en-US" dirty="0">
                    <a:solidFill>
                      <a:srgbClr val="C00000"/>
                    </a:solidFill>
                  </a:rPr>
                  <a:t> blocks are fixed </a:t>
                </a:r>
                <a:r>
                  <a:rPr lang="en-US" dirty="0"/>
                  <a:t>and cannot be modified after training </a:t>
                </a:r>
              </a:p>
              <a:p>
                <a:pPr lvl="2"/>
                <a:r>
                  <a:rPr lang="en-US" dirty="0"/>
                  <a:t>if we need to change the rank of </a:t>
                </a:r>
                <a:r>
                  <a:rPr lang="en-US" dirty="0" err="1"/>
                  <a:t>LoRA</a:t>
                </a:r>
                <a:r>
                  <a:rPr lang="en-US" dirty="0"/>
                  <a:t> blocks, then </a:t>
                </a:r>
                <a:r>
                  <a:rPr lang="en-US" dirty="0">
                    <a:solidFill>
                      <a:srgbClr val="C00000"/>
                    </a:solidFill>
                  </a:rPr>
                  <a:t>we need to retrain them from scratch</a:t>
                </a:r>
              </a:p>
              <a:p>
                <a:pPr lvl="1"/>
                <a:r>
                  <a:rPr lang="en-US" dirty="0">
                    <a:solidFill>
                      <a:srgbClr val="C00000"/>
                    </a:solidFill>
                  </a:rPr>
                  <a:t>Optimization to find the effective rank </a:t>
                </a:r>
                <a:r>
                  <a:rPr lang="en-US" dirty="0"/>
                  <a:t>requires an exhaustive search and effort</a:t>
                </a:r>
              </a:p>
              <a:p>
                <a:r>
                  <a:rPr lang="en-US" dirty="0" err="1"/>
                  <a:t>DyLoRA</a:t>
                </a:r>
                <a:r>
                  <a:rPr lang="en-US" dirty="0"/>
                  <a:t>: Dynamic Low-rank Adapter</a:t>
                </a:r>
              </a:p>
              <a:p>
                <a:pPr lvl="1"/>
                <a:r>
                  <a:rPr lang="en-US" dirty="0"/>
                  <a:t>Trained and deployed on </a:t>
                </a:r>
                <a:r>
                  <a:rPr lang="en-US" dirty="0">
                    <a:solidFill>
                      <a:srgbClr val="C00000"/>
                    </a:solidFill>
                  </a:rPr>
                  <a:t>a range of ranks </a:t>
                </a:r>
                <a:r>
                  <a:rPr lang="en-US" dirty="0"/>
                  <a:t>instead of a single particular rank</a:t>
                </a:r>
              </a:p>
              <a:p>
                <a:pPr lvl="1"/>
                <a:r>
                  <a:rPr lang="en-IN" sz="1800" dirty="0">
                    <a:effectLst/>
                    <a:latin typeface="Arial" panose="020B0604020202020204" pitchFamily="34" charset="0"/>
                    <a:ea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𝑟</m:t>
                    </m:r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∈[</m:t>
                    </m:r>
                    <m:sSub>
                      <m:sSubPr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𝑚𝑖𝑛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dirty="0"/>
                  <a:t> are the new hyperparameters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96D0A-4441-4683-A2F8-9B0D0A7BF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 r="-11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077F2E-2514-45D3-B53C-BD18DD900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0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4D3C-F187-486B-BA68-1B5682388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Dropout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F5C864-424A-4890-9BA0-D0C0A385EE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N" dirty="0"/>
                  <a:t>Context: An auto-encoder mapping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sub>
                    </m:sSub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: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𝑌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𝑋</m:t>
                    </m:r>
                  </m:oMath>
                </a14:m>
                <a:r>
                  <a:rPr lang="en-IN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𝜓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IN" sz="2200" dirty="0"/>
                  <a:t> [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IN" sz="220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IN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⊂</m:t>
                    </m:r>
                    <m:sSup>
                      <m:sSup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IN" sz="2200" dirty="0"/>
                  <a:t>]</a:t>
                </a:r>
              </a:p>
              <a:p>
                <a:pPr lvl="1"/>
                <a:r>
                  <a:rPr lang="en-IN" sz="2200" dirty="0"/>
                  <a:t>Reconstruction loss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IN" sz="18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  <m:d>
                      <m:d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𝜃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, 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𝜓</m:t>
                        </m:r>
                      </m:e>
                    </m:d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  <m:t>𝜓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IN" sz="1800" i="1" kern="1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IN" sz="1800" i="1" kern="1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 kern="1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Arial" panose="020B0604020202020204" pitchFamily="34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sz="2600" dirty="0"/>
                  <a:t>Dropping out some elements in </a:t>
                </a:r>
                <a14:m>
                  <m:oMath xmlns:m="http://schemas.openxmlformats.org/officeDocument/2006/math">
                    <m:r>
                      <a:rPr lang="en-IN" sz="2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IN" sz="2600" dirty="0"/>
              </a:p>
              <a:p>
                <a:pPr lvl="1"/>
                <a:r>
                  <a:rPr lang="en-IN" sz="2200" dirty="0"/>
                  <a:t>sample a random variable </a:t>
                </a:r>
                <a14:m>
                  <m:oMath xmlns:m="http://schemas.openxmlformats.org/officeDocument/2006/math">
                    <m:r>
                      <a:rPr lang="en-IN" sz="2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IN" sz="2200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~</m:t>
                    </m:r>
                    <m:sSub>
                      <m:sSub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𝑝</m:t>
                        </m:r>
                      </m:e>
                      <m:sub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</m:e>
                    </m:d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∈{1,2, …, 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  <m:r>
                      <a:rPr lang="en-IN" sz="22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IN" sz="2200" dirty="0"/>
              </a:p>
              <a:p>
                <a:pPr lvl="1"/>
                <a:r>
                  <a:rPr lang="en-US" sz="2200" dirty="0"/>
                  <a:t>truncate the functions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2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200">
                            <a:latin typeface="Cambria Math" panose="02040503050406030204" pitchFamily="18" charset="0"/>
                          </a:rPr>
                          <m:t>ψ</m:t>
                        </m:r>
                      </m:sub>
                    </m:sSub>
                  </m:oMath>
                </a14:m>
                <a:r>
                  <a:rPr lang="en-IN" sz="2200" dirty="0"/>
                  <a:t> </a:t>
                </a:r>
                <a:r>
                  <a:rPr lang="en-IN" dirty="0"/>
                  <a:t>dropping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IN" dirty="0"/>
                  <a:t> 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IN" dirty="0"/>
                  <a:t> indices</a:t>
                </a:r>
              </a:p>
              <a:p>
                <a:pPr lvl="2"/>
                <a:r>
                  <a:rPr lang="en-IN" sz="1800" dirty="0"/>
                  <a:t>b-truncated vectors: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</m:oMath>
                </a14:m>
                <a:endParaRPr lang="en-IN" sz="1800" dirty="0"/>
              </a:p>
              <a:p>
                <a:pPr lvl="2"/>
                <a:r>
                  <a:rPr lang="en-IN" sz="1800" dirty="0"/>
                  <a:t>b-truncated functions: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8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𝑓</m:t>
                        </m:r>
                      </m:e>
                      <m:sub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18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IN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IN">
                            <a:latin typeface="Cambria Math" panose="02040503050406030204" pitchFamily="18" charset="0"/>
                          </a:rPr>
                          <m:t>↓</m:t>
                        </m:r>
                        <m:r>
                          <m:rPr>
                            <m:sty m:val="p"/>
                          </m:rPr>
                          <a:rPr lang="en-IN">
                            <a:latin typeface="Cambria Math" panose="02040503050406030204" pitchFamily="18" charset="0"/>
                          </a:rPr>
                          <m:t>ψ</m:t>
                        </m:r>
                      </m:sub>
                    </m:sSub>
                  </m:oMath>
                </a14:m>
                <a:endParaRPr lang="en-IN" sz="18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F5C864-424A-4890-9BA0-D0C0A385EE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BF979-A470-4546-B054-81BA932A0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4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DBFA4-534E-45D4-B1B0-5DD9526E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Nested Dropout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E5B6-0A44-47AD-8800-38A2D8327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0763D7-C3BD-4469-A386-342E865C6AEF}"/>
                  </a:ext>
                </a:extLst>
              </p:cNvPr>
              <p:cNvSpPr txBox="1"/>
              <p:nvPr/>
            </p:nvSpPr>
            <p:spPr>
              <a:xfrm>
                <a:off x="2363027" y="1477683"/>
                <a:ext cx="7526407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  <m:e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sSub>
                            <m:sSub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↓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d>
                            <m:d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D0763D7-C3BD-4469-A386-342E865C6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27" y="1477683"/>
                <a:ext cx="7526407" cy="11308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A3AED8-4991-4962-9537-4C425EF7EDBC}"/>
                  </a:ext>
                </a:extLst>
              </p:cNvPr>
              <p:cNvSpPr txBox="1"/>
              <p:nvPr/>
            </p:nvSpPr>
            <p:spPr>
              <a:xfrm>
                <a:off x="3048828" y="3077848"/>
                <a:ext cx="6097656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↓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d>
                        <m:d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I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IN" sz="2400" i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IN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e>
                                    <m:sub>
                                      <m:r>
                                        <a:rPr lang="en-IN" sz="2400" i="0">
                                          <a:latin typeface="Cambria Math" panose="02040503050406030204" pitchFamily="18" charset="0"/>
                                        </a:rPr>
                                        <m:t>↓</m:t>
                                      </m:r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𝜓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IN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N" sz="2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IN" sz="2400" i="0">
                                              <a:latin typeface="Cambria Math" panose="02040503050406030204" pitchFamily="18" charset="0"/>
                                            </a:rPr>
                                            <m:t>↓</m:t>
                                          </m:r>
                                          <m:r>
                                            <a:rPr lang="en-IN" sz="2400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IN" sz="2400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IN" sz="2400" i="1">
                                                  <a:solidFill>
                                                    <a:srgbClr val="836967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N" sz="2400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N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7A3AED8-4991-4962-9537-4C425EF7E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828" y="3077848"/>
                <a:ext cx="6097656" cy="11308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E8995B-EAF8-4229-B878-4C1DBAE760FD}"/>
                  </a:ext>
                </a:extLst>
              </p:cNvPr>
              <p:cNvSpPr txBox="1"/>
              <p:nvPr/>
            </p:nvSpPr>
            <p:spPr>
              <a:xfrm>
                <a:off x="3045516" y="4893581"/>
                <a:ext cx="6097656" cy="618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  <m:sup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400" i="0">
                              <a:latin typeface="Cambria Math" panose="02040503050406030204" pitchFamily="18" charset="0"/>
                            </a:rPr>
                            <m:t>arg</m:t>
                          </m:r>
                          <m:limLow>
                            <m:limLow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IN" sz="2400" i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lim>
                          </m:limLow>
                        </m:fName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sepChr m:val=","/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e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7E8995B-EAF8-4229-B878-4C1DBAE76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516" y="4893581"/>
                <a:ext cx="6097656" cy="618054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5721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BAFAD-518E-4EC3-A06A-47C86CBA8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DyLoRA</a:t>
            </a:r>
            <a:r>
              <a:rPr lang="en-IN" dirty="0"/>
              <a:t>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3C185-DB94-4CEB-ACC5-363CF9FB4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01A80-53C6-40EA-8779-4DF5D3BA6E1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6225" y="1172942"/>
            <a:ext cx="12014172" cy="48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379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BDB2-45D7-4B20-A3C8-4548017D9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DyLoRA</a:t>
            </a:r>
            <a:r>
              <a:rPr lang="en-IN" dirty="0"/>
              <a:t>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DF791-2F17-4B7D-AD78-077F58FCBA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IN" dirty="0"/>
                  <a:t>Consider </a:t>
                </a:r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𝑊𝑢𝑝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</m:sub>
                    </m:sSub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endParaRPr lang="en-IN" dirty="0"/>
              </a:p>
              <a:p>
                <a:r>
                  <a:rPr lang="en-IN" dirty="0"/>
                  <a:t>b-truncate </a:t>
                </a:r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𝑊𝑢𝑝</m:t>
                    </m:r>
                  </m:oMath>
                </a14:m>
                <a:r>
                  <a:rPr lang="en-IN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~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d>
                      <m:d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d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∈{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+1, …, 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I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[:,: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[: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𝑏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,:]</m:t>
                    </m:r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Forward pass of the truncated </a:t>
                </a:r>
                <a:r>
                  <a:rPr lang="en-US" dirty="0" err="1"/>
                  <a:t>LoRA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IN" sz="22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h</m:t>
                    </m:r>
                    <m:r>
                      <a:rPr lang="en-IN" sz="2200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0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</m:t>
                    </m:r>
                    <m:f>
                      <m:f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𝛼</m:t>
                        </m:r>
                      </m:num>
                      <m:den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den>
                    </m:f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𝑢𝑝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sSub>
                      <m:sSubPr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𝑑𝑤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IN" dirty="0"/>
                  <a:t>Fine tune </a:t>
                </a:r>
                <a:r>
                  <a:rPr lang="en-IN" dirty="0" err="1"/>
                  <a:t>LoRA</a:t>
                </a:r>
                <a:r>
                  <a:rPr lang="en-IN" dirty="0"/>
                  <a:t> with loss function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IN" sz="22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ℒ</m:t>
                        </m:r>
                      </m:e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IN" sz="22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𝑖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=1</m:t>
                        </m:r>
                      </m:sub>
                      <m:sup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𝑁</m:t>
                        </m:r>
                      </m:sup>
                      <m:e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𝑙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𝑓</m:t>
                        </m:r>
                        <m:d>
                          <m:dPr>
                            <m:ctrlPr>
                              <a:rPr lang="en-IN" sz="2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2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;</m:t>
                            </m:r>
                            <m:sSub>
                              <m:sSubPr>
                                <m:ctrlP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𝑢𝑝</m:t>
                                </m:r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↓</m:t>
                                </m:r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IN" sz="2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𝑑𝑤</m:t>
                                </m:r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↓</m:t>
                                </m:r>
                                <m:r>
                                  <a:rPr lang="en-IN" sz="2200" i="1" kern="10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IN" sz="2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sz="2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2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2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</m:oMath>
                </a14:m>
                <a:endParaRPr lang="en-IN" sz="2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en-IN" dirty="0"/>
              </a:p>
              <a:p>
                <a:pPr lvl="1"/>
                <a:endParaRPr lang="en-IN" dirty="0"/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ADF791-2F17-4B7D-AD78-077F58FCBA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 b="-10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790EF-64E4-45CA-A3AE-C2D0F881A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46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D953-74A0-46F9-BF9C-70E4DE40B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DyLoRA</a:t>
            </a:r>
            <a:r>
              <a:rPr lang="en-IN" dirty="0"/>
              <a:t> Process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F82D2-CB93-4D86-83ED-9B9F05B684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Different from standard nested dropout</a:t>
                </a:r>
              </a:p>
              <a:p>
                <a:pPr lvl="1"/>
                <a:r>
                  <a:rPr lang="en-IN" dirty="0"/>
                  <a:t>Standard dropout iterates over all ranks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IN" sz="220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naryPr>
                      <m:sub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𝑚𝑖𝑛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𝑚𝑎𝑥</m:t>
                            </m:r>
                          </m:sub>
                        </m:sSub>
                      </m:sup>
                      <m:e>
                        <m:sSub>
                          <m:sSubPr>
                            <m:ctrlP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200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𝐵</m:t>
                            </m:r>
                          </m:sub>
                        </m:sSub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)</m:t>
                        </m:r>
                      </m:e>
                    </m:nary>
                    <m:sSub>
                      <m:sSubPr>
                        <m:ctrlP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ℒ</m:t>
                        </m:r>
                      </m:e>
                      <m:sub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22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</m:oMath>
                </a14:m>
                <a:endParaRPr lang="en-IN" sz="2200" dirty="0"/>
              </a:p>
              <a:p>
                <a:r>
                  <a:rPr lang="en-US" sz="2600" dirty="0" err="1"/>
                  <a:t>DyLoRA</a:t>
                </a:r>
                <a:r>
                  <a:rPr lang="en-US" sz="2600" dirty="0"/>
                  <a:t> performs the optimization for each target rank </a:t>
                </a:r>
              </a:p>
              <a:p>
                <a:r>
                  <a:rPr lang="en-US" sz="2600" dirty="0"/>
                  <a:t>FROZEN hyperparameter</a:t>
                </a:r>
              </a:p>
              <a:p>
                <a:pPr lvl="1"/>
                <a:r>
                  <a:rPr lang="en-US" sz="2200" dirty="0"/>
                  <a:t>A single row or column (b-</a:t>
                </a:r>
                <a:r>
                  <a:rPr lang="en-US" sz="2200" dirty="0" err="1"/>
                  <a:t>th</a:t>
                </a:r>
                <a:r>
                  <a:rPr lang="en-US" sz="2200" dirty="0"/>
                  <a:t>) will be updated at a time to prevent the learning parameters from being forgotten at previous time steps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IN" sz="1800" i="1" kern="100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sub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p>
                    </m:sSub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←</m:t>
                    </m:r>
                    <m:sSubSup>
                      <m:sSubSup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𝑣</m:t>
                        </m:r>
                      </m:sub>
                      <m:sup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p>
                    </m:sSubSup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𝜂</m:t>
                    </m:r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1800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∇</m:t>
                        </m:r>
                      </m:e>
                      <m:sub>
                        <m:sSubSup>
                          <m:sSubSupPr>
                            <m:ctrlP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bSupPr>
                          <m:e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𝑣</m:t>
                            </m:r>
                          </m:sub>
                          <m:sup>
                            <m:r>
                              <a:rPr lang="en-IN" sz="1800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𝑏</m:t>
                            </m:r>
                          </m:sup>
                        </m:sSubSup>
                      </m:sub>
                    </m:sSub>
                    <m:sSub>
                      <m:sSubPr>
                        <m:ctrlP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ℒ</m:t>
                        </m:r>
                      </m:e>
                      <m:sub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↓</m:t>
                        </m:r>
                        <m:r>
                          <a:rPr lang="en-IN" sz="1800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</m:sub>
                    </m:sSub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 , 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𝑣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∈{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𝑑𝑤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, 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𝑢𝑝</m:t>
                    </m:r>
                    <m:r>
                      <a:rPr lang="en-IN" sz="1800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}</m:t>
                    </m:r>
                  </m:oMath>
                </a14:m>
                <a:endParaRPr lang="en-IN" sz="1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endParaRPr lang="en-IN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9F82D2-CB93-4D86-83ED-9B9F05B684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ABAFE-6C05-443B-877D-D259E078D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53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A24D76-79A4-4DE2-8423-DA4EA0A1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EB248C-836D-4425-915A-8B76BB481376}"/>
              </a:ext>
            </a:extLst>
          </p:cNvPr>
          <p:cNvSpPr txBox="1">
            <a:spLocks/>
          </p:cNvSpPr>
          <p:nvPr/>
        </p:nvSpPr>
        <p:spPr>
          <a:xfrm>
            <a:off x="3448879" y="2693677"/>
            <a:ext cx="5784573" cy="11128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200" kern="1200" cap="none" spc="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6000" dirty="0">
                <a:solidFill>
                  <a:srgbClr val="002060"/>
                </a:solidFill>
              </a:rPr>
              <a:t>Quantized PEFT</a:t>
            </a:r>
          </a:p>
        </p:txBody>
      </p:sp>
    </p:spTree>
    <p:extLst>
      <p:ext uri="{BB962C8B-B14F-4D97-AF65-F5344CB8AC3E}">
        <p14:creationId xmlns:p14="http://schemas.microsoft.com/office/powerpoint/2010/main" val="1795036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8CB79-ACF7-4BF5-8F03-98D5021EC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of Fine-tuning an LLM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2F7142-60D0-4D0A-8337-E17E2E87D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7130" y="1097280"/>
            <a:ext cx="6033054" cy="5180971"/>
          </a:xfrm>
        </p:spPr>
        <p:txBody>
          <a:bodyPr/>
          <a:lstStyle/>
          <a:p>
            <a:r>
              <a:rPr lang="en-IN" dirty="0"/>
              <a:t>Weight: 2 bytes</a:t>
            </a:r>
          </a:p>
          <a:p>
            <a:r>
              <a:rPr lang="en-IN" dirty="0"/>
              <a:t>Weight gradients: 2 bytes</a:t>
            </a:r>
          </a:p>
          <a:p>
            <a:r>
              <a:rPr lang="en-IN" dirty="0"/>
              <a:t>Optimizer state: 8 bytes</a:t>
            </a:r>
          </a:p>
          <a:p>
            <a:r>
              <a:rPr lang="en-IN" dirty="0"/>
              <a:t>70B model </a:t>
            </a:r>
            <a:r>
              <a:rPr lang="en-IN" dirty="0">
                <a:sym typeface="Wingdings" panose="05000000000000000000" pitchFamily="2" charset="2"/>
              </a:rPr>
              <a:t> 840GB of GPU memory  18x data </a:t>
            </a:r>
            <a:r>
              <a:rPr lang="en-IN" dirty="0" err="1">
                <a:sym typeface="Wingdings" panose="05000000000000000000" pitchFamily="2" charset="2"/>
              </a:rPr>
              <a:t>center</a:t>
            </a:r>
            <a:r>
              <a:rPr lang="en-IN" dirty="0">
                <a:sym typeface="Wingdings" panose="05000000000000000000" pitchFamily="2" charset="2"/>
              </a:rPr>
              <a:t> GPUs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DE4C86-B2C1-4C2F-9954-B87843747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41B4E-5381-40B5-BB05-4BB45BD645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91" y="1478111"/>
            <a:ext cx="3616801" cy="4296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9A80D0-641E-43AF-97E2-03BA26A1E8D5}"/>
              </a:ext>
            </a:extLst>
          </p:cNvPr>
          <p:cNvSpPr txBox="1"/>
          <p:nvPr/>
        </p:nvSpPr>
        <p:spPr>
          <a:xfrm>
            <a:off x="5575852" y="5774635"/>
            <a:ext cx="354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*Fine-tuning cost per parameter</a:t>
            </a:r>
          </a:p>
        </p:txBody>
      </p:sp>
    </p:spTree>
    <p:extLst>
      <p:ext uri="{BB962C8B-B14F-4D97-AF65-F5344CB8AC3E}">
        <p14:creationId xmlns:p14="http://schemas.microsoft.com/office/powerpoint/2010/main" val="23650656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532A1-61C1-4EAF-9E24-E24775434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of Fine-tuning an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B281B-E2B2-4FD2-BA37-0981F05E6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8652" y="1097280"/>
            <a:ext cx="6281532" cy="5180971"/>
          </a:xfrm>
        </p:spPr>
        <p:txBody>
          <a:bodyPr/>
          <a:lstStyle/>
          <a:p>
            <a:r>
              <a:rPr lang="en-IN" dirty="0"/>
              <a:t>Weight: 16 bits</a:t>
            </a:r>
          </a:p>
          <a:p>
            <a:r>
              <a:rPr lang="en-IN" dirty="0"/>
              <a:t>Weight gradients: ~0.4bits</a:t>
            </a:r>
          </a:p>
          <a:p>
            <a:r>
              <a:rPr lang="en-IN" dirty="0"/>
              <a:t>Optimizer state: ~0.8bits</a:t>
            </a:r>
          </a:p>
          <a:p>
            <a:r>
              <a:rPr lang="en-IN" dirty="0"/>
              <a:t>Adapter weights: ~0.4bits</a:t>
            </a:r>
          </a:p>
          <a:p>
            <a:r>
              <a:rPr lang="en-IN" dirty="0"/>
              <a:t>70B model </a:t>
            </a:r>
            <a:r>
              <a:rPr lang="en-IN" dirty="0">
                <a:sym typeface="Wingdings" panose="05000000000000000000" pitchFamily="2" charset="2"/>
              </a:rPr>
              <a:t> 154GB of GPU memory  4x data </a:t>
            </a:r>
            <a:r>
              <a:rPr lang="en-IN" dirty="0" err="1">
                <a:sym typeface="Wingdings" panose="05000000000000000000" pitchFamily="2" charset="2"/>
              </a:rPr>
              <a:t>center</a:t>
            </a:r>
            <a:r>
              <a:rPr lang="en-IN" dirty="0">
                <a:sym typeface="Wingdings" panose="05000000000000000000" pitchFamily="2" charset="2"/>
              </a:rPr>
              <a:t> GPUs</a:t>
            </a: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A9517-DB84-4E4A-B35A-0D8B81E80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F06F2E-08B4-4C6D-8FDD-95A0477D9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341" y="1559800"/>
            <a:ext cx="2766155" cy="42652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4194F2-3A40-4B9C-98CC-7B395D6769AF}"/>
              </a:ext>
            </a:extLst>
          </p:cNvPr>
          <p:cNvSpPr txBox="1"/>
          <p:nvPr/>
        </p:nvSpPr>
        <p:spPr>
          <a:xfrm>
            <a:off x="2425145" y="1630019"/>
            <a:ext cx="7688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/>
              <a:t>LoRA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762AD8-AF0F-4248-9F9C-F2E7ED033FBB}"/>
              </a:ext>
            </a:extLst>
          </p:cNvPr>
          <p:cNvSpPr txBox="1"/>
          <p:nvPr/>
        </p:nvSpPr>
        <p:spPr>
          <a:xfrm>
            <a:off x="5240190" y="5760720"/>
            <a:ext cx="354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*Fine-tuning cost per parameter</a:t>
            </a:r>
          </a:p>
        </p:txBody>
      </p:sp>
    </p:spTree>
    <p:extLst>
      <p:ext uri="{BB962C8B-B14F-4D97-AF65-F5344CB8AC3E}">
        <p14:creationId xmlns:p14="http://schemas.microsoft.com/office/powerpoint/2010/main" val="981400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39133-EA05-4850-AB39-67AA55D07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 we fit the LLMs in a Single GPU?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8C323-B513-4A84-A740-71BC8D629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Quantization: </a:t>
            </a:r>
            <a:r>
              <a:rPr lang="en-US" dirty="0"/>
              <a:t>aims at improving computational efficiency and reducing memory usage</a:t>
            </a:r>
          </a:p>
          <a:p>
            <a:r>
              <a:rPr lang="en-US" dirty="0"/>
              <a:t>What is quantization?</a:t>
            </a:r>
          </a:p>
          <a:p>
            <a:pPr lvl="1"/>
            <a:r>
              <a:rPr lang="en-US" dirty="0"/>
              <a:t>Discretizing an input from a representation that holds more information to a representation with less information</a:t>
            </a:r>
          </a:p>
          <a:p>
            <a:pPr lvl="1"/>
            <a:r>
              <a:rPr lang="en-US" dirty="0"/>
              <a:t>Taking a data type (32-bit float) with more bits and converting it to fewer bits (8-bit integer)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61F4C-FFB4-460B-9448-E92D299DF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7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D8BCA-1F93-454B-882A-A4B6D78C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912C5-3043-4B12-ABF6-38E30AFA4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Quantizing a 32-bit Floating Point (FP32) tensor into a Int8 tensor with range [−127, 127]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0DA61D-1F56-4688-B90B-BBCF18322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9DBDD-3546-4750-9DEE-3DFF23951C7C}"/>
                  </a:ext>
                </a:extLst>
              </p:cNvPr>
              <p:cNvSpPr txBox="1"/>
              <p:nvPr/>
            </p:nvSpPr>
            <p:spPr>
              <a:xfrm>
                <a:off x="1757270" y="2506824"/>
                <a:ext cx="8740409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sz="2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𝐼𝑛𝑡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127</m:t>
                              </m:r>
                            </m:num>
                            <m:den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𝑎𝑏𝑠𝑚𝑎𝑥</m:t>
                              </m:r>
                              <m:d>
                                <m:dPr>
                                  <m:ctrlPr>
                                    <a:rPr lang="en-IN" sz="2400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IN" sz="2400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latin typeface="Cambria Math" panose="02040503050406030204" pitchFamily="18" charset="0"/>
                                        </a:rPr>
                                        <m:t>𝐹𝑃</m:t>
                                      </m:r>
                                      <m:r>
                                        <a:rPr lang="en-IN" sz="2400" i="0">
                                          <a:latin typeface="Cambria Math" panose="02040503050406030204" pitchFamily="18" charset="0"/>
                                        </a:rPr>
                                        <m:t>32</m:t>
                                      </m:r>
                                    </m:sup>
                                  </m:sSup>
                                </m:e>
                              </m:d>
                            </m:den>
                          </m:f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.</m:t>
                          </m:r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189DBDD-3546-4750-9DEE-3DFF23951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7270" y="2506824"/>
                <a:ext cx="8740409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6DE1B3FA-3357-477F-9245-1DC6221FA0BE}"/>
              </a:ext>
            </a:extLst>
          </p:cNvPr>
          <p:cNvSpPr txBox="1"/>
          <p:nvPr/>
        </p:nvSpPr>
        <p:spPr>
          <a:xfrm>
            <a:off x="1925706" y="3617595"/>
            <a:ext cx="60976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c is called the quantization constant </a:t>
            </a:r>
            <a:endParaRPr lang="en-IN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D4ED99-BC16-4026-B654-4A5A32879204}"/>
                  </a:ext>
                </a:extLst>
              </p:cNvPr>
              <p:cNvSpPr txBox="1"/>
              <p:nvPr/>
            </p:nvSpPr>
            <p:spPr>
              <a:xfrm>
                <a:off x="1391478" y="4401897"/>
                <a:ext cx="6097656" cy="8338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smtClean="0">
                          <a:latin typeface="Cambria Math" panose="02040503050406030204" pitchFamily="18" charset="0"/>
                        </a:rPr>
                        <m:t>𝑑𝑒𝑞𝑢𝑎𝑛𝑡</m:t>
                      </m:r>
                      <m:d>
                        <m:d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𝐼𝑛𝑡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e>
                      </m:d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𝐼𝑛𝑡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IN" sz="24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𝐹𝑃</m:t>
                              </m:r>
                              <m:r>
                                <a:rPr lang="en-IN" sz="2400" i="0">
                                  <a:latin typeface="Cambria Math" panose="02040503050406030204" pitchFamily="18" charset="0"/>
                                </a:rPr>
                                <m:t>32</m:t>
                              </m:r>
                            </m:sup>
                          </m:sSup>
                        </m:den>
                      </m:f>
                      <m:r>
                        <a:rPr lang="en-IN" sz="2400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sz="24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IN" sz="2400" i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9D4ED99-BC16-4026-B654-4A5A32879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1478" y="4401897"/>
                <a:ext cx="6097656" cy="8338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8998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EF06-3930-409D-9FCE-657487B17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Uniform Quantization: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9972C-B11F-4BC0-A4C5-81A5EF74F0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we have a FP32 weight vector: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IN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[0.5,</m:t>
                    </m:r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IN" kern="10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2.0,1.2,3.0]</m:t>
                    </m:r>
                  </m:oMath>
                </a14:m>
                <a:endParaRPr lang="en-IN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𝑎𝑏𝑠𝑚𝑎𝑥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)= 3.0</m:t>
                    </m:r>
                  </m:oMath>
                </a14:m>
                <a:endParaRPr lang="en-IN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r>
                  <a:rPr lang="en-US" dirty="0"/>
                  <a:t>We want to quantize it to int8</a:t>
                </a:r>
                <a:endParaRPr lang="en-IN" dirty="0"/>
              </a:p>
              <a:p>
                <a:pPr lvl="1"/>
                <a:r>
                  <a:rPr lang="en-IN" dirty="0"/>
                  <a:t>Scaling factor: </a:t>
                </a:r>
                <a14:m>
                  <m:oMath xmlns:m="http://schemas.openxmlformats.org/officeDocument/2006/math"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𝑐</m:t>
                    </m:r>
                    <m:r>
                      <a:rPr lang="en-IN" i="1" kern="100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IN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max</m:t>
                            </m:r>
                          </m:fName>
                          <m:e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𝑖𝑛𝑡</m:t>
                            </m:r>
                          </m:e>
                        </m:func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8</m:t>
                        </m:r>
                      </m:num>
                      <m:den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𝑎𝑏𝑠𝑚𝑎𝑥</m:t>
                        </m:r>
                      </m:den>
                    </m:f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127</m:t>
                        </m:r>
                      </m:num>
                      <m:den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3.0</m:t>
                        </m:r>
                      </m:den>
                    </m:f>
                    <m:r>
                      <a:rPr lang="en-IN" i="1" kern="1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≈42.333</m:t>
                    </m:r>
                  </m:oMath>
                </a14:m>
                <a:endParaRPr lang="en-IN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IN" dirty="0"/>
                  <a:t>Quantize FP32 to int8: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  <m:sup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𝑞</m:t>
                        </m:r>
                      </m:sup>
                    </m:sSup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𝑟𝑜𝑢𝑛𝑑</m:t>
                    </m:r>
                    <m:d>
                      <m:dPr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𝑐</m:t>
                        </m:r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.</m:t>
                        </m:r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𝑋</m:t>
                        </m:r>
                      </m:e>
                    </m:d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21, −85, 51, 127</m:t>
                        </m:r>
                      </m:e>
                    </m:d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Dequantize back to FP32: </a:t>
                </a:r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≈</m:t>
                    </m:r>
                    <m:f>
                      <m:fPr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</m:ctrlPr>
                          </m:sSupPr>
                          <m:e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IN" i="1"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Arial" panose="020B0604020202020204" pitchFamily="34" charset="0"/>
                              </a:rPr>
                              <m:t>𝑞</m:t>
                            </m:r>
                          </m:sup>
                        </m:sSup>
                      </m:num>
                      <m:den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𝑐</m:t>
                        </m:r>
                      </m:den>
                    </m:f>
                    <m:r>
                      <a:rPr lang="en-IN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≈[0.496, −2.01, 1.205, 3.0]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Quantization loss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49972C-B11F-4BC0-A4C5-81A5EF74F0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7808BC-5653-4FF0-866B-9F94E8D6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989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BA430-2F09-47A6-8BCF-17DC18360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Does Quantization Help?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DF268-0E2B-4B1E-A910-730DB06EE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AC5030-9EF3-40C8-B7D1-960A84AAD7CC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71545" y="941978"/>
            <a:ext cx="8911859" cy="5646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86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7662B-08A6-4BEC-BB7E-7D7E98ED8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 with Vanilla (Uniform) 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CF216-742D-4ACA-B836-895CE615E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What happens a very small fragments of the weights have very high value (outlier)</a:t>
            </a:r>
          </a:p>
          <a:p>
            <a:pPr lvl="1"/>
            <a:r>
              <a:rPr lang="en-IN" dirty="0"/>
              <a:t>Can't discard the outliers</a:t>
            </a:r>
          </a:p>
          <a:p>
            <a:r>
              <a:rPr lang="en-IN" dirty="0"/>
              <a:t>Uniform quantization allocates same sized bins </a:t>
            </a:r>
          </a:p>
          <a:p>
            <a:pPr lvl="1"/>
            <a:r>
              <a:rPr lang="en-IN" dirty="0"/>
              <a:t>even if some bins are near empty (outliers)</a:t>
            </a:r>
          </a:p>
          <a:p>
            <a:pPr lvl="1"/>
            <a:r>
              <a:rPr lang="en-IN" dirty="0"/>
              <a:t>We may want allocate lesser number of bits to such ranges and assign the surplus bits where the values are dense.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85526-B429-4F93-B734-76807D26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37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47DC-32A4-4489-BD7E-B538061F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Issue with Vanilla (Uniform) Quantization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DB101-8751-4BFC-BAFC-67B78FF5E7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IN" dirty="0"/>
                  <a:t>To prevent outlier issue:</a:t>
                </a:r>
              </a:p>
              <a:p>
                <a:pPr lvl="1"/>
                <a:r>
                  <a:rPr lang="en-US" dirty="0"/>
                  <a:t>Chunk the input tensor into blocks that are independently quantized</a:t>
                </a:r>
              </a:p>
              <a:p>
                <a:pPr lvl="2"/>
                <a:r>
                  <a:rPr lang="en-US" dirty="0"/>
                  <a:t>each with their own quantization constant c</a:t>
                </a:r>
              </a:p>
              <a:p>
                <a:r>
                  <a:rPr lang="en-US" dirty="0"/>
                  <a:t>Chunking the tensor</a:t>
                </a:r>
              </a:p>
              <a:p>
                <a:pPr lvl="1"/>
                <a:r>
                  <a:rPr lang="en-US" dirty="0"/>
                  <a:t>chunk the input tensor </a:t>
                </a:r>
                <a14:m>
                  <m:oMath xmlns:m="http://schemas.openxmlformats.org/officeDocument/2006/math"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𝑋</m:t>
                    </m:r>
                    <m:r>
                      <a:rPr lang="en-IN" i="1" smtClean="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∈</m:t>
                    </m:r>
                    <m:sSup>
                      <m:sSupPr>
                        <m:ctrlP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ℝ</m:t>
                        </m:r>
                      </m:e>
                      <m:sup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𝑏</m:t>
                        </m:r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×</m:t>
                        </m:r>
                        <m:r>
                          <a:rPr lang="en-IN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h</m:t>
                        </m:r>
                      </m:sup>
                    </m:sSup>
                  </m:oMath>
                </a14:m>
                <a:r>
                  <a:rPr lang="en-US" dirty="0"/>
                  <a:t> into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i="1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  <a:r>
                  <a:rPr lang="en-US" dirty="0"/>
                  <a:t> contiguous blocks of size B </a:t>
                </a:r>
              </a:p>
              <a:p>
                <a:pPr lvl="1"/>
                <a:r>
                  <a:rPr lang="en-US" dirty="0"/>
                  <a:t>Flattening the input tensor and slicing the linear segment into n blocks</a:t>
                </a:r>
              </a:p>
              <a:p>
                <a:pPr lvl="1"/>
                <a:r>
                  <a:rPr lang="en-US" dirty="0"/>
                  <a:t>These blocks </a:t>
                </a:r>
                <a:r>
                  <a:rPr lang="en-US" dirty="0" err="1"/>
                  <a:t>i</a:t>
                </a:r>
                <a:r>
                  <a:rPr lang="en-US" dirty="0"/>
                  <a:t> quantized independently to create a quantized tensor and n quantization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CCDB101-8751-4BFC-BAFC-67B78FF5E7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 r="-1387" b="-14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6B396-3606-4597-8B02-57C0ADE0F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05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D55D4-127F-4483-B597-C8F76D7A8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Chunking-based Quantization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2221B-D53B-47A2-BE22-BDB1696D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 descr="Visual comparison of standard vs block-wise quantization. Image by author.">
            <a:extLst>
              <a:ext uri="{FF2B5EF4-FFF2-40B4-BE49-F238E27FC236}">
                <a16:creationId xmlns:a16="http://schemas.microsoft.com/office/drawing/2014/main" id="{7B1D2883-2A8D-439F-8378-2975180EEF7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60" y="1115461"/>
            <a:ext cx="8794116" cy="5156129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B55F3-CA83-4529-B0C3-EEF03445500B}"/>
                  </a:ext>
                </a:extLst>
              </p:cNvPr>
              <p:cNvSpPr txBox="1"/>
              <p:nvPr/>
            </p:nvSpPr>
            <p:spPr>
              <a:xfrm>
                <a:off x="1908312" y="6172934"/>
                <a:ext cx="33857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Need to store only one value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2B55F3-CA83-4529-B0C3-EEF034455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8312" y="6172934"/>
                <a:ext cx="3385799" cy="369332"/>
              </a:xfrm>
              <a:prstGeom prst="rect">
                <a:avLst/>
              </a:prstGeom>
              <a:blipFill>
                <a:blip r:embed="rId3"/>
                <a:stretch>
                  <a:fillRect l="-1441" t="-8333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C50501-5F0A-4B93-B844-0F35E607BA79}"/>
                  </a:ext>
                </a:extLst>
              </p:cNvPr>
              <p:cNvSpPr txBox="1"/>
              <p:nvPr/>
            </p:nvSpPr>
            <p:spPr>
              <a:xfrm>
                <a:off x="6672469" y="6197146"/>
                <a:ext cx="2544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Need to store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dirty="0"/>
                  <a:t> values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C50501-5F0A-4B93-B844-0F35E607B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2469" y="6197146"/>
                <a:ext cx="2544094" cy="369332"/>
              </a:xfrm>
              <a:prstGeom prst="rect">
                <a:avLst/>
              </a:prstGeom>
              <a:blipFill>
                <a:blip r:embed="rId4"/>
                <a:stretch>
                  <a:fillRect l="-2158" t="-8333" r="-1679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2753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E98A-10F5-4C3A-8AF7-CE7E5D493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Chunking Helps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58C0F-7D3B-4513-80F6-4B2690E06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A1912-2811-41C8-AE64-360ABE507B9E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78657" y="1325880"/>
            <a:ext cx="7802812" cy="5031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486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C9B4-90A5-44C0-A47E-3EDBA0A50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Core Ideas in </a:t>
            </a:r>
            <a:r>
              <a:rPr lang="en-IN" dirty="0" err="1"/>
              <a:t>QLoRA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C0B9A-8060-4552-A0D9-9D0EB53BA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New data type</a:t>
            </a:r>
          </a:p>
          <a:p>
            <a:pPr lvl="1"/>
            <a:r>
              <a:rPr lang="en-IN" dirty="0"/>
              <a:t>4-bit </a:t>
            </a:r>
            <a:r>
              <a:rPr lang="en-IN" dirty="0" err="1"/>
              <a:t>NormalFloat</a:t>
            </a:r>
            <a:r>
              <a:rPr lang="en-IN" dirty="0"/>
              <a:t> Quantization</a:t>
            </a:r>
          </a:p>
          <a:p>
            <a:r>
              <a:rPr lang="en-IN" dirty="0"/>
              <a:t>Double quantization</a:t>
            </a:r>
          </a:p>
          <a:p>
            <a:pPr lvl="1"/>
            <a:r>
              <a:rPr lang="en-IN" dirty="0"/>
              <a:t>To reduce memory requirement to store the block-based quantization constants</a:t>
            </a:r>
          </a:p>
          <a:p>
            <a:r>
              <a:rPr lang="en-IN" dirty="0"/>
              <a:t>Paged optimization</a:t>
            </a:r>
          </a:p>
          <a:p>
            <a:pPr lvl="1"/>
            <a:r>
              <a:rPr lang="en-IN" dirty="0"/>
              <a:t>Helps with GPU runs out of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ED3A2-73E0-4FD4-A28D-925BCCAE1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87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2C1F1-3DAE-42FC-8059-47BCFAA73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4-bit </a:t>
            </a:r>
            <a:r>
              <a:rPr lang="en-IN" dirty="0" err="1"/>
              <a:t>NormalFloat</a:t>
            </a:r>
            <a:r>
              <a:rPr lang="en-IN" dirty="0"/>
              <a:t> 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8BA65-0104-4B7A-B61B-EC844B4B06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Quantile Quantization</a:t>
            </a:r>
          </a:p>
          <a:p>
            <a:pPr lvl="1"/>
            <a:r>
              <a:rPr lang="en-US" dirty="0"/>
              <a:t>ensures each quantization bin has an equal number of values assigned from the input tensor</a:t>
            </a:r>
          </a:p>
          <a:p>
            <a:r>
              <a:rPr lang="en-US" dirty="0"/>
              <a:t>LLM weights are typically normally distributed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DEAFA-D99F-43CA-9690-A436728DA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4" descr="QLoRA: Key Quantization and Fine-tuning Techniques in the Era of Large  Language Models | by Florian June | Artificial Intelligence in Plain English">
            <a:extLst>
              <a:ext uri="{FF2B5EF4-FFF2-40B4-BE49-F238E27FC236}">
                <a16:creationId xmlns:a16="http://schemas.microsoft.com/office/drawing/2014/main" id="{6B43C486-2574-4B10-96A4-5140DF90D1D3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6312" y="3912241"/>
            <a:ext cx="3078480" cy="23660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64E56D-9561-40E5-926F-FC0836BCC809}"/>
              </a:ext>
            </a:extLst>
          </p:cNvPr>
          <p:cNvSpPr txBox="1"/>
          <p:nvPr/>
        </p:nvSpPr>
        <p:spPr>
          <a:xfrm>
            <a:off x="5910578" y="4316826"/>
            <a:ext cx="548169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Have more precision near the mean (zero)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Reduce precision for the value ranges that</a:t>
            </a:r>
          </a:p>
          <a:p>
            <a:r>
              <a:rPr lang="en-IN" dirty="0"/>
              <a:t>     moves away from mean (zero)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Create more, finer quantization levels near zero </a:t>
            </a:r>
          </a:p>
          <a:p>
            <a:r>
              <a:rPr lang="en-US" dirty="0"/>
              <a:t>     and fewer, coarser levels in the tails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921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47DAD-8EC7-4CD8-A5A0-5A86B3C6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NF4 Quantization Steps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5EF86C-E952-4C8F-97AC-ED38B304EC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NF4 uses 16 pre-defined quantization levels (for 4 bits)</a:t>
                </a:r>
              </a:p>
              <a:p>
                <a:pPr lvl="1"/>
                <a:r>
                  <a:rPr lang="en-US" dirty="0"/>
                  <a:t>optimized for the standard normal distribution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STEP-1: Fetch the NF4 quantization levels 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r>
                      <a:rPr lang="en-I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(0,1)</m:t>
                    </m:r>
                  </m:oMath>
                </a14:m>
                <a:endParaRPr lang="en-IN" dirty="0"/>
              </a:p>
              <a:p>
                <a:pPr lvl="1"/>
                <a:r>
                  <a:rPr lang="en-IN" dirty="0"/>
                  <a:t>NF4 Quantization Levels: [ -1.0000, -0.6962, -0.5251, -0.3949, -0.2844, -0.1848, -0.0911,  0.0000, 0.0796,  0.1610,  0.2461,  0.3379,  0.4407,  0.5626,  0.7230,  1.0000]</a:t>
                </a:r>
              </a:p>
              <a:p>
                <a:r>
                  <a:rPr lang="en-IN" dirty="0"/>
                  <a:t>STEP-2: </a:t>
                </a:r>
                <a:r>
                  <a:rPr lang="en-US" dirty="0"/>
                  <a:t>Fetch the input tensor</a:t>
                </a:r>
              </a:p>
              <a:p>
                <a:pPr lvl="1"/>
                <a:r>
                  <a:rPr lang="en-US" dirty="0"/>
                  <a:t>Weights: [[-1.2000,  0.0800, -0.4500],        </a:t>
                </a:r>
              </a:p>
              <a:p>
                <a:pPr marL="360000" lvl="1" indent="0">
                  <a:buNone/>
                </a:pPr>
                <a:r>
                  <a:rPr lang="en-US" dirty="0"/>
                  <a:t>                      [ 0.3300, -0.9200,  1.6500]] </a:t>
                </a:r>
              </a:p>
              <a:p>
                <a:pPr lvl="1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25EF86C-E952-4C8F-97AC-ED38B304EC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BF63B-B5D5-446E-A5EF-FD42005BE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13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E8CB-CACA-4ABC-8C5E-287B62A56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NF4 Quantization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87ADC-201A-4838-8A39-8ACB4276A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STEP-3: Normalize the Tensor</a:t>
            </a:r>
          </a:p>
          <a:p>
            <a:pPr lvl="1"/>
            <a:r>
              <a:rPr lang="en-IN" dirty="0"/>
              <a:t>Normalization factor (</a:t>
            </a:r>
            <a:r>
              <a:rPr lang="en-IN" dirty="0" err="1"/>
              <a:t>absmax</a:t>
            </a:r>
            <a:r>
              <a:rPr lang="en-IN" dirty="0"/>
              <a:t>): 1.6500</a:t>
            </a:r>
          </a:p>
          <a:p>
            <a:pPr lvl="1"/>
            <a:r>
              <a:rPr lang="en-IN" dirty="0"/>
              <a:t>Normalized Tensor: [[-0.7273,  0.0485, -0.2727],</a:t>
            </a:r>
          </a:p>
          <a:p>
            <a:pPr marL="360000" lvl="1" indent="0">
              <a:buNone/>
            </a:pPr>
            <a:r>
              <a:rPr lang="en-IN" dirty="0"/>
              <a:t>                                         [ 0.2000, -0.5576,  1.0000]]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CC1C4-4453-4796-8037-7D00383EB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60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673EF-7A1E-453A-869C-608D76C91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NF4 Quantization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E2509-F259-4455-AF25-6B262477B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STEP-4: Quantize to NF4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C1A664-2D34-4DDF-9FB6-DA1F2F1B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E9886B5-0531-41D5-8EA1-1ADF80E29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42398"/>
              </p:ext>
            </p:extLst>
          </p:nvPr>
        </p:nvGraphicFramePr>
        <p:xfrm>
          <a:off x="1759226" y="1979556"/>
          <a:ext cx="7454350" cy="330435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623443">
                  <a:extLst>
                    <a:ext uri="{9D8B030D-6E8A-4147-A177-3AD203B41FA5}">
                      <a16:colId xmlns:a16="http://schemas.microsoft.com/office/drawing/2014/main" val="2800834580"/>
                    </a:ext>
                  </a:extLst>
                </a:gridCol>
                <a:gridCol w="1562891">
                  <a:extLst>
                    <a:ext uri="{9D8B030D-6E8A-4147-A177-3AD203B41FA5}">
                      <a16:colId xmlns:a16="http://schemas.microsoft.com/office/drawing/2014/main" val="1020854721"/>
                    </a:ext>
                  </a:extLst>
                </a:gridCol>
                <a:gridCol w="2134008">
                  <a:extLst>
                    <a:ext uri="{9D8B030D-6E8A-4147-A177-3AD203B41FA5}">
                      <a16:colId xmlns:a16="http://schemas.microsoft.com/office/drawing/2014/main" val="177233100"/>
                    </a:ext>
                  </a:extLst>
                </a:gridCol>
                <a:gridCol w="2134008">
                  <a:extLst>
                    <a:ext uri="{9D8B030D-6E8A-4147-A177-3AD203B41FA5}">
                      <a16:colId xmlns:a16="http://schemas.microsoft.com/office/drawing/2014/main" val="1694882465"/>
                    </a:ext>
                  </a:extLst>
                </a:gridCol>
              </a:tblGrid>
              <a:tr h="67305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b="0" kern="100" dirty="0">
                          <a:effectLst/>
                        </a:rPr>
                        <a:t>Original Weight</a:t>
                      </a:r>
                      <a:endParaRPr lang="en-IN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b="0" kern="100" dirty="0">
                          <a:effectLst/>
                        </a:rPr>
                        <a:t>Normalized</a:t>
                      </a:r>
                      <a:endParaRPr lang="en-IN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b="0" kern="100" dirty="0">
                          <a:effectLst/>
                        </a:rPr>
                        <a:t>Closest NF4 value</a:t>
                      </a:r>
                      <a:endParaRPr lang="en-IN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b="0" kern="100" dirty="0">
                          <a:effectLst/>
                        </a:rPr>
                        <a:t>NF4 Level</a:t>
                      </a:r>
                      <a:endParaRPr lang="en-IN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951881087"/>
                  </a:ext>
                </a:extLst>
              </a:tr>
              <a:tr h="4338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-1.2000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-0.727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-0.696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922876120"/>
                  </a:ext>
                </a:extLst>
              </a:tr>
              <a:tr h="4338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0.0800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0.048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0.080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8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20656741"/>
                  </a:ext>
                </a:extLst>
              </a:tr>
              <a:tr h="4338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-0.4500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-0.273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-0.285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4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7358532"/>
                  </a:ext>
                </a:extLst>
              </a:tr>
              <a:tr h="4338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0.3300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0.200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0.161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9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4190514991"/>
                  </a:ext>
                </a:extLst>
              </a:tr>
              <a:tr h="4338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-0.9200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-0.558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-0.525 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2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718119647"/>
                  </a:ext>
                </a:extLst>
              </a:tr>
              <a:tr h="433824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1.6500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1.000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1.000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15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96433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3972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CDAB0-D455-41A5-AFF9-DA07E6856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NF4 Quantization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88095-0F80-44EC-9DDC-94B19CE91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STEP-5: Pack 4-bit indices for Storage</a:t>
            </a:r>
          </a:p>
          <a:p>
            <a:pPr lvl="1"/>
            <a:r>
              <a:rPr lang="en-US" dirty="0"/>
              <a:t>Since we can't actually store individual 4-bit values, we pack 2 indices in a byte. </a:t>
            </a:r>
          </a:p>
          <a:p>
            <a:pPr lvl="1"/>
            <a:r>
              <a:rPr lang="en-US" dirty="0"/>
              <a:t>Quantized Indices (4-bit): [1, 8, 4, 9, 2, 15]</a:t>
            </a:r>
          </a:p>
          <a:p>
            <a:pPr lvl="1"/>
            <a:r>
              <a:rPr lang="en-US" dirty="0"/>
              <a:t>Packed data (bytes): [24, 73, 47]</a:t>
            </a:r>
          </a:p>
          <a:p>
            <a:r>
              <a:rPr lang="en-IN" dirty="0"/>
              <a:t>Memory saving</a:t>
            </a:r>
          </a:p>
          <a:p>
            <a:pPr lvl="1"/>
            <a:r>
              <a:rPr lang="en-US" dirty="0"/>
              <a:t>Original memory: 24 bytes</a:t>
            </a:r>
          </a:p>
          <a:p>
            <a:pPr lvl="1"/>
            <a:r>
              <a:rPr lang="en-US" dirty="0"/>
              <a:t>Quantized memory: 3 bytes (packed 4-bit indices)</a:t>
            </a:r>
          </a:p>
          <a:p>
            <a:pPr lvl="1"/>
            <a:r>
              <a:rPr lang="en-US" dirty="0"/>
              <a:t>Plus </a:t>
            </a:r>
            <a:r>
              <a:rPr lang="en-US" dirty="0" err="1"/>
              <a:t>absmax</a:t>
            </a:r>
            <a:r>
              <a:rPr lang="en-US" dirty="0"/>
              <a:t> (4 bytes): 4 bytes</a:t>
            </a:r>
          </a:p>
          <a:p>
            <a:pPr lvl="1"/>
            <a:r>
              <a:rPr lang="en-US" dirty="0"/>
              <a:t>Total quantized: 7 bytes</a:t>
            </a:r>
          </a:p>
          <a:p>
            <a:pPr lvl="1"/>
            <a:r>
              <a:rPr lang="en-US" dirty="0"/>
              <a:t>Memory reduction: 70.8%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A3A1A-2C95-46EF-A802-43AA3EF35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2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8617-CE4B-4CFE-8260-C20031A85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NF4 Quantization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C766D-3849-408B-A9EA-D9F3F88CF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STEP-6: Dequantize Back to Float</a:t>
            </a:r>
          </a:p>
          <a:p>
            <a:pPr lvl="1"/>
            <a:r>
              <a:rPr lang="en-US" dirty="0"/>
              <a:t>Map level codes to NF4 values</a:t>
            </a:r>
          </a:p>
          <a:p>
            <a:pPr lvl="1"/>
            <a:r>
              <a:rPr lang="en-US" dirty="0"/>
              <a:t>Dequantize by multiplying with </a:t>
            </a:r>
            <a:r>
              <a:rPr lang="en-US" dirty="0" err="1"/>
              <a:t>absmax</a:t>
            </a:r>
            <a:endParaRPr lang="en-US" dirty="0"/>
          </a:p>
          <a:p>
            <a:pPr lvl="2"/>
            <a:r>
              <a:rPr lang="en-IN" dirty="0"/>
              <a:t>level 1 </a:t>
            </a:r>
            <a:r>
              <a:rPr lang="en-IN" dirty="0">
                <a:sym typeface="Wingdings" panose="05000000000000000000" pitchFamily="2" charset="2"/>
              </a:rPr>
              <a:t> NF4 value -0.696  </a:t>
            </a:r>
            <a:r>
              <a:rPr lang="en-US" dirty="0">
                <a:sym typeface="Wingdings" panose="05000000000000000000" pitchFamily="2" charset="2"/>
              </a:rPr>
              <a:t>dequantized value: -0.696x1.65= -1.1.49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63B1D-CB54-424F-A563-37AEB3136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C4D041-6E7C-4FE8-8E42-53CA5E90E1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341977"/>
              </p:ext>
            </p:extLst>
          </p:nvPr>
        </p:nvGraphicFramePr>
        <p:xfrm>
          <a:off x="2683565" y="3883426"/>
          <a:ext cx="4829645" cy="2492442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857421">
                  <a:extLst>
                    <a:ext uri="{9D8B030D-6E8A-4147-A177-3AD203B41FA5}">
                      <a16:colId xmlns:a16="http://schemas.microsoft.com/office/drawing/2014/main" val="37839213"/>
                    </a:ext>
                  </a:extLst>
                </a:gridCol>
                <a:gridCol w="1839936">
                  <a:extLst>
                    <a:ext uri="{9D8B030D-6E8A-4147-A177-3AD203B41FA5}">
                      <a16:colId xmlns:a16="http://schemas.microsoft.com/office/drawing/2014/main" val="2049106698"/>
                    </a:ext>
                  </a:extLst>
                </a:gridCol>
                <a:gridCol w="1132288">
                  <a:extLst>
                    <a:ext uri="{9D8B030D-6E8A-4147-A177-3AD203B41FA5}">
                      <a16:colId xmlns:a16="http://schemas.microsoft.com/office/drawing/2014/main" val="1528289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>
                        <a:lnSpc>
                          <a:spcPts val="165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2000" b="0" kern="100" dirty="0">
                          <a:effectLst/>
                        </a:rPr>
                        <a:t>Original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0" kern="100" dirty="0">
                          <a:effectLst/>
                        </a:rPr>
                        <a:t> </a:t>
                      </a:r>
                      <a:endParaRPr lang="en-IN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65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2000" b="0" kern="100" dirty="0">
                          <a:effectLst/>
                        </a:rPr>
                        <a:t>Dequantized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ts val="1650"/>
                        </a:lnSpc>
                        <a:spcAft>
                          <a:spcPts val="80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IN" sz="2000" b="0" kern="100" dirty="0">
                          <a:effectLst/>
                        </a:rPr>
                        <a:t>Error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b="0" kern="100" dirty="0">
                          <a:effectLst/>
                        </a:rPr>
                        <a:t> </a:t>
                      </a:r>
                      <a:endParaRPr lang="en-IN" sz="2000" b="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37008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-1.200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-1.149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0.051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5046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0.080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0.131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0.051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2806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-0.450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-0.469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0.019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9185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0.330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0.266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0.064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34141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-0.920 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-0.866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0.054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8149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1.650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>
                          <a:effectLst/>
                        </a:rPr>
                        <a:t>1.650</a:t>
                      </a:r>
                      <a:endParaRPr lang="en-IN" sz="20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2000" kern="100" dirty="0">
                          <a:effectLst/>
                        </a:rPr>
                        <a:t>0.000</a:t>
                      </a:r>
                      <a:endParaRPr lang="en-IN" sz="20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9750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50464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F44BA-B1C4-4804-8213-D79337BC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Quantization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DFA6-90E1-4D4E-894F-7AE5BB4537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Block-based quantization is required for handling outliers</a:t>
            </a:r>
          </a:p>
          <a:p>
            <a:r>
              <a:rPr lang="en-IN" dirty="0"/>
              <a:t>Small block size is preferable for precise 4-bit quantization</a:t>
            </a:r>
          </a:p>
          <a:p>
            <a:r>
              <a:rPr lang="en-IN" dirty="0"/>
              <a:t>However, the quantization constants add to the storage requirement</a:t>
            </a:r>
          </a:p>
          <a:p>
            <a:pPr lvl="1"/>
            <a:r>
              <a:rPr lang="en-IN" dirty="0"/>
              <a:t>Consider a 32-bit quantization constant and a block-size 64</a:t>
            </a:r>
          </a:p>
          <a:p>
            <a:pPr lvl="2"/>
            <a:r>
              <a:rPr lang="en-IN" dirty="0"/>
              <a:t>Add 32/64=0.5 bits per parameter</a:t>
            </a:r>
          </a:p>
          <a:p>
            <a:pPr lvl="2"/>
            <a:r>
              <a:rPr lang="en-IN" dirty="0"/>
              <a:t>Each block adds 0.5 bits per parameter</a:t>
            </a:r>
          </a:p>
          <a:p>
            <a:r>
              <a:rPr lang="en-IN" dirty="0"/>
              <a:t>Solution: Double quantization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A82B5-F92F-4A89-9C51-D8C52E548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377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84D28-14C4-4AE3-AB4A-22317B251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Quantization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F62418-D252-4C32-A7ED-5217C1D18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82F447-FA49-41A7-ACAC-253761CE6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2197"/>
            <a:ext cx="3293274" cy="3272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31E865-860E-40E3-A8F4-F1713B03F7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0376" y="2714678"/>
            <a:ext cx="8496974" cy="17672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1BAF210-91D3-4F8C-91F5-2A7DED1D849B}"/>
              </a:ext>
            </a:extLst>
          </p:cNvPr>
          <p:cNvSpPr txBox="1"/>
          <p:nvPr/>
        </p:nvSpPr>
        <p:spPr>
          <a:xfrm>
            <a:off x="946007" y="6287939"/>
            <a:ext cx="10545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https://harvard-iacs.github.io/2024-AC215/assets/lectures/lecture9/L09-FineTuning.pdf</a:t>
            </a:r>
          </a:p>
        </p:txBody>
      </p:sp>
    </p:spTree>
    <p:extLst>
      <p:ext uri="{BB962C8B-B14F-4D97-AF65-F5344CB8AC3E}">
        <p14:creationId xmlns:p14="http://schemas.microsoft.com/office/powerpoint/2010/main" val="17332478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B36F7-52A2-43F2-A0F3-89ED0BCB4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Quantization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CF7C-CC82-436E-97AE-D7F2C493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A14552-3475-48DE-86EE-A42C6C044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378" y="1147600"/>
            <a:ext cx="10825817" cy="50146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8B7F8C-3AEB-4E2F-85F2-ED0248D138CA}"/>
                  </a:ext>
                </a:extLst>
              </p:cNvPr>
              <p:cNvSpPr txBox="1"/>
              <p:nvPr/>
            </p:nvSpPr>
            <p:spPr>
              <a:xfrm>
                <a:off x="4303643" y="6357600"/>
                <a:ext cx="346216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Rescaled Weight Vector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𝐼𝑛𝑡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IN" dirty="0"/>
                  <a:t>)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48B7F8C-3AEB-4E2F-85F2-ED0248D13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3643" y="6357600"/>
                <a:ext cx="3462166" cy="369332"/>
              </a:xfrm>
              <a:prstGeom prst="rect">
                <a:avLst/>
              </a:prstGeom>
              <a:blipFill>
                <a:blip r:embed="rId3"/>
                <a:stretch>
                  <a:fillRect l="-1585" t="-8333" r="-352" b="-28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23348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A391-8B65-474B-9185-B7D226F9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Quantization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69CF3-483C-40D5-82B9-F16632EA3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2FA713-01FD-426F-8D77-932EF226C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570" y="1020871"/>
            <a:ext cx="11252830" cy="519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3228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F6FC4-38DB-40FE-8077-A00670A4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Double Quantization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0AFC3-D795-4B41-A39B-F5ACFA029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C41900-E89E-4DF9-B278-67CED5BA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489" y="2160160"/>
            <a:ext cx="2301439" cy="253768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FC1CA76-D645-4802-A5C6-AB3C3EDFB5ED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2763078" y="1492156"/>
            <a:ext cx="3236819" cy="10622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37BA6D8-76C8-4089-8EDC-2B513C0E9D31}"/>
              </a:ext>
            </a:extLst>
          </p:cNvPr>
          <p:cNvSpPr txBox="1"/>
          <p:nvPr/>
        </p:nvSpPr>
        <p:spPr>
          <a:xfrm rot="20517662">
            <a:off x="3512564" y="1655613"/>
            <a:ext cx="1713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No Quantization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6ADA54-5E94-4228-838D-724B70B16D1B}"/>
              </a:ext>
            </a:extLst>
          </p:cNvPr>
          <p:cNvSpPr txBox="1"/>
          <p:nvPr/>
        </p:nvSpPr>
        <p:spPr>
          <a:xfrm>
            <a:off x="7460758" y="1349756"/>
            <a:ext cx="1883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25x4=100 Bytes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82B81E8-F663-45B1-8FB8-96966A531DB1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2783503" y="2751500"/>
            <a:ext cx="3224155" cy="274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70BB1F2-C756-492F-A8AE-32C707CE6C38}"/>
              </a:ext>
            </a:extLst>
          </p:cNvPr>
          <p:cNvSpPr txBox="1"/>
          <p:nvPr/>
        </p:nvSpPr>
        <p:spPr>
          <a:xfrm rot="21187200">
            <a:off x="4013198" y="2598787"/>
            <a:ext cx="11641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Non-Block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FB418F8-C1E5-47FB-8116-32AFBE81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58" y="2168030"/>
            <a:ext cx="1295542" cy="116694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6EA48F2-2192-4B17-A684-E01BBAE08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9897" y="908685"/>
            <a:ext cx="1289135" cy="116694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5364975-8FB3-494B-97D6-C5EF25D0A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3904" y="3395746"/>
            <a:ext cx="1573963" cy="35888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D19DFD6D-EDEE-46E2-B667-EDD349DB4FE3}"/>
              </a:ext>
            </a:extLst>
          </p:cNvPr>
          <p:cNvSpPr txBox="1"/>
          <p:nvPr/>
        </p:nvSpPr>
        <p:spPr>
          <a:xfrm>
            <a:off x="5893904" y="3678518"/>
            <a:ext cx="1749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25x1=25 Bytes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1EDE523-F3DC-4F83-B01C-58A99418E532}"/>
              </a:ext>
            </a:extLst>
          </p:cNvPr>
          <p:cNvSpPr txBox="1"/>
          <p:nvPr/>
        </p:nvSpPr>
        <p:spPr>
          <a:xfrm>
            <a:off x="7638518" y="1960617"/>
            <a:ext cx="8675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DE83FE-C474-45BD-BEFC-9BAB3B685773}"/>
                  </a:ext>
                </a:extLst>
              </p:cNvPr>
              <p:cNvSpPr txBox="1"/>
              <p:nvPr/>
            </p:nvSpPr>
            <p:spPr>
              <a:xfrm>
                <a:off x="8637922" y="2483795"/>
                <a:ext cx="838691" cy="375616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6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b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5DE83FE-C474-45BD-BEFC-9BAB3B6857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37922" y="2483795"/>
                <a:ext cx="838691" cy="375616"/>
              </a:xfrm>
              <a:prstGeom prst="rect">
                <a:avLst/>
              </a:prstGeom>
              <a:blipFill>
                <a:blip r:embed="rId6"/>
                <a:stretch>
                  <a:fillRect l="-7971" r="-2174" b="-16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8BEA4B05-E565-463D-9D26-B1EC720F5621}"/>
              </a:ext>
            </a:extLst>
          </p:cNvPr>
          <p:cNvSpPr txBox="1"/>
          <p:nvPr/>
        </p:nvSpPr>
        <p:spPr>
          <a:xfrm>
            <a:off x="8585022" y="302109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 Bytes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DC24F0-A71C-434A-8BC6-C926F1032F5B}"/>
              </a:ext>
            </a:extLst>
          </p:cNvPr>
          <p:cNvSpPr txBox="1"/>
          <p:nvPr/>
        </p:nvSpPr>
        <p:spPr>
          <a:xfrm>
            <a:off x="10144684" y="2480880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29 Bytes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1F4EB41-FE56-430F-AA01-A89298B6856A}"/>
              </a:ext>
            </a:extLst>
          </p:cNvPr>
          <p:cNvCxnSpPr>
            <a:cxnSpLocks/>
          </p:cNvCxnSpPr>
          <p:nvPr/>
        </p:nvCxnSpPr>
        <p:spPr>
          <a:xfrm>
            <a:off x="2803928" y="3660389"/>
            <a:ext cx="2949235" cy="1154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5771F661-59B9-4A48-B8D0-8BC80E5B882A}"/>
              </a:ext>
            </a:extLst>
          </p:cNvPr>
          <p:cNvSpPr txBox="1"/>
          <p:nvPr/>
        </p:nvSpPr>
        <p:spPr>
          <a:xfrm rot="1297157">
            <a:off x="2710532" y="3857003"/>
            <a:ext cx="32670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Block-based, Single Quantization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4A622D5-2185-490B-B081-E1B0AE94B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5034" y="4069727"/>
            <a:ext cx="1295542" cy="1166940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FAF00D1E-BDEF-4F13-A2A6-0812389785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1280" y="5237809"/>
            <a:ext cx="1573963" cy="35888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DCEC0B4-1947-4B91-B0D4-91894A197523}"/>
              </a:ext>
            </a:extLst>
          </p:cNvPr>
          <p:cNvSpPr txBox="1"/>
          <p:nvPr/>
        </p:nvSpPr>
        <p:spPr>
          <a:xfrm>
            <a:off x="7300374" y="3883317"/>
            <a:ext cx="8675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+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DA7779F0-BB55-4ECB-875D-9F8DBC2FA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290" y="4382279"/>
            <a:ext cx="1755999" cy="3101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59DAD02-DC2C-4FFF-8DB1-CBFCA640B1DF}"/>
                  </a:ext>
                </a:extLst>
              </p:cNvPr>
              <p:cNvSpPr txBox="1"/>
              <p:nvPr/>
            </p:nvSpPr>
            <p:spPr>
              <a:xfrm>
                <a:off x="8623368" y="4730622"/>
                <a:ext cx="721239" cy="342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59DAD02-DC2C-4FFF-8DB1-CBFCA640B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3368" y="4730622"/>
                <a:ext cx="721239" cy="342786"/>
              </a:xfrm>
              <a:prstGeom prst="rect">
                <a:avLst/>
              </a:prstGeom>
              <a:blipFill>
                <a:blip r:embed="rId8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TextBox 43">
            <a:extLst>
              <a:ext uri="{FF2B5EF4-FFF2-40B4-BE49-F238E27FC236}">
                <a16:creationId xmlns:a16="http://schemas.microsoft.com/office/drawing/2014/main" id="{04AC6179-F41E-433F-96A2-28F0D4185A44}"/>
              </a:ext>
            </a:extLst>
          </p:cNvPr>
          <p:cNvSpPr txBox="1"/>
          <p:nvPr/>
        </p:nvSpPr>
        <p:spPr>
          <a:xfrm>
            <a:off x="8478044" y="5006738"/>
            <a:ext cx="1614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5x4=20 Bytes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15D494-68E3-4925-9F38-31ED5A3598A8}"/>
              </a:ext>
            </a:extLst>
          </p:cNvPr>
          <p:cNvSpPr txBox="1"/>
          <p:nvPr/>
        </p:nvSpPr>
        <p:spPr>
          <a:xfrm>
            <a:off x="10144684" y="4323110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45 Bytes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3FDC151-288C-4270-89DA-D47353043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428" y="5312485"/>
            <a:ext cx="1295542" cy="116694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BAF6E5B-678D-4AA6-A91A-DB7D1C2137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3674" y="6480567"/>
            <a:ext cx="1573963" cy="358884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931D526-D8FE-4D6A-B7D6-888E8B1E3B13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2741792" y="3909281"/>
            <a:ext cx="2023407" cy="1403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8F546A42-2402-4CB5-9826-27DA9A47B3F6}"/>
              </a:ext>
            </a:extLst>
          </p:cNvPr>
          <p:cNvSpPr txBox="1"/>
          <p:nvPr/>
        </p:nvSpPr>
        <p:spPr>
          <a:xfrm rot="2007263">
            <a:off x="2544088" y="4338499"/>
            <a:ext cx="2772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Block-based, Double Quant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18DC556B-FD51-4F68-AE1D-E59F645D09F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5764" y="5733141"/>
            <a:ext cx="1755999" cy="3101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D29F4-8812-4D70-80C9-B8ACF121C61E}"/>
                  </a:ext>
                </a:extLst>
              </p:cNvPr>
              <p:cNvSpPr txBox="1"/>
              <p:nvPr/>
            </p:nvSpPr>
            <p:spPr>
              <a:xfrm>
                <a:off x="7036842" y="6081484"/>
                <a:ext cx="721239" cy="3415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𝐼𝑛𝑡</m:t>
                          </m:r>
                          <m:r>
                            <a:rPr lang="en-IN" sz="16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bSup>
                    </m:oMath>
                  </m:oMathPara>
                </a14:m>
                <a:endParaRPr lang="en-IN" sz="16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7D29F4-8812-4D70-80C9-B8ACF121C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842" y="6081484"/>
                <a:ext cx="721239" cy="34156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4748A6FE-1183-4BF5-B38E-C76A60230046}"/>
              </a:ext>
            </a:extLst>
          </p:cNvPr>
          <p:cNvSpPr txBox="1"/>
          <p:nvPr/>
        </p:nvSpPr>
        <p:spPr>
          <a:xfrm>
            <a:off x="6891518" y="6357600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5x1=5 Bytes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7A1DC54-3986-4B35-8293-AA05516C13F7}"/>
              </a:ext>
            </a:extLst>
          </p:cNvPr>
          <p:cNvSpPr txBox="1"/>
          <p:nvPr/>
        </p:nvSpPr>
        <p:spPr>
          <a:xfrm>
            <a:off x="5505591" y="5267009"/>
            <a:ext cx="8675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+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6DD90CF-EB5C-4361-A4E0-B9CF3E5F576A}"/>
              </a:ext>
            </a:extLst>
          </p:cNvPr>
          <p:cNvSpPr txBox="1"/>
          <p:nvPr/>
        </p:nvSpPr>
        <p:spPr>
          <a:xfrm>
            <a:off x="8266004" y="5191404"/>
            <a:ext cx="86754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0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605E84-B439-41E7-A59D-51E3B791E4EC}"/>
                  </a:ext>
                </a:extLst>
              </p:cNvPr>
              <p:cNvSpPr txBox="1"/>
              <p:nvPr/>
            </p:nvSpPr>
            <p:spPr>
              <a:xfrm>
                <a:off x="9265408" y="5714582"/>
                <a:ext cx="838691" cy="376385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  <a:alpha val="65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𝐹𝑃</m:t>
                          </m:r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p>
                      </m:sSubSup>
                    </m:oMath>
                  </m:oMathPara>
                </a14:m>
                <a:endParaRPr lang="en-IN" sz="24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6605E84-B439-41E7-A59D-51E3B791E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5408" y="5714582"/>
                <a:ext cx="838691" cy="376385"/>
              </a:xfrm>
              <a:prstGeom prst="rect">
                <a:avLst/>
              </a:prstGeom>
              <a:blipFill>
                <a:blip r:embed="rId10"/>
                <a:stretch>
                  <a:fillRect l="-8029" r="-2920" b="-161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75D2A22B-1342-4518-91FA-348FEF2B2AA9}"/>
              </a:ext>
            </a:extLst>
          </p:cNvPr>
          <p:cNvSpPr txBox="1"/>
          <p:nvPr/>
        </p:nvSpPr>
        <p:spPr>
          <a:xfrm>
            <a:off x="9212508" y="6251886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4 Bytes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6FEB7D-86AF-4506-AE0B-D2A5016FEA29}"/>
              </a:ext>
            </a:extLst>
          </p:cNvPr>
          <p:cNvSpPr txBox="1"/>
          <p:nvPr/>
        </p:nvSpPr>
        <p:spPr>
          <a:xfrm>
            <a:off x="10508035" y="5750745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34 Bytes</a:t>
            </a:r>
          </a:p>
        </p:txBody>
      </p:sp>
    </p:spTree>
    <p:extLst>
      <p:ext uri="{BB962C8B-B14F-4D97-AF65-F5344CB8AC3E}">
        <p14:creationId xmlns:p14="http://schemas.microsoft.com/office/powerpoint/2010/main" val="4998988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8AE1-CCAB-4021-B4F2-A549014F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GPU Out of Memory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14B35-C946-45D8-9DC4-BB084F846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39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DAA783-37D8-43D7-B91A-3B7CA8D72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70" y="1215198"/>
            <a:ext cx="11573141" cy="500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981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4314F-D299-4551-86B6-782F59068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Checkpointing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F2AAA-131A-4F55-A00E-1AAB8F14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01BAD0-4599-4734-B739-2F7B5D52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3" y="1103226"/>
            <a:ext cx="11204333" cy="502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696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EA7F-BFDF-474B-84FF-2519674E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Checkpointing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0B100-0322-4ADE-BB08-DF90AF795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B8F4D-FB92-48AD-A70F-883CA860B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052" y="1143970"/>
            <a:ext cx="10892827" cy="5127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92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09EE4-0E5A-4247-AC12-D8829AF83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Checkpointing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7E8CC-629F-4026-8C99-DA2A89907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D4DB9D-DEBE-4C79-BDDD-6675AF24B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1112318"/>
            <a:ext cx="10627488" cy="51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91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07751-5F8A-4589-83E5-E98743737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Checkpointing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EA62A7-1B8E-4C07-AE88-3E0580CF8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9F87F-6502-460A-A71E-8E5A81D2D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52" y="1287795"/>
            <a:ext cx="11270923" cy="411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194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97AC1-63DB-408E-80C1-343B2EBCB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Checkpointing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85F66-09AC-493C-910B-2F33FB923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CE02CD-CCC1-40FF-9DD1-F63E9AF9E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1155078"/>
            <a:ext cx="10889355" cy="469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3927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ECE78-60E4-4B6D-B2BA-FA85BE1B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Checkpointing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6BB47D-AC9B-4C27-BE2E-F06A251ED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C3EEE3-8834-4CB1-A407-19FBCBCC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1340616"/>
            <a:ext cx="10956654" cy="44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1835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8FED-4551-41FD-95D6-7B98727D8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Paged Optimizer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4F2053-97FD-47E8-96BE-C615EC300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8AC36-E96C-416C-B791-6AE8CFA0B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47" y="1014400"/>
            <a:ext cx="11007796" cy="53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9790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DB22B-A4DD-4AB1-8DD6-248BEEDDD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QLoRA</a:t>
            </a:r>
            <a:r>
              <a:rPr lang="en-IN" dirty="0"/>
              <a:t>: Ingredients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541F7-6EFA-438F-859F-C4EADA5D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D00360-1ED9-4EFC-A8C3-096ED906E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101" y="1383195"/>
            <a:ext cx="10602546" cy="400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3030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D70B-2067-4CBE-A14E-1448062EF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5F18EE-6DB3-409E-995B-DE85404C5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90BE58-CC8B-4D39-850E-94F09B9B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219" y="1235923"/>
            <a:ext cx="11236950" cy="4518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4236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D2065-B453-42E8-A1A5-A62A7727B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EFAFC-00E3-4F9F-9D1A-BD4022F2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AD936B-30D6-4962-ACBB-A36026550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76" y="1242051"/>
            <a:ext cx="10874492" cy="4204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8578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E158-3656-4B6C-8943-B700EAEAF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14AC28-5F59-4B44-A6B7-42EF2144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A6E8BF-AE9B-4E91-8A1A-7352A4BE8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1090464"/>
            <a:ext cx="10679383" cy="478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267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6260-8A83-4A8E-B75C-86CDD217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A3FD59-EC09-4D91-8AAC-8CCF115DD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66785C-032F-489B-91D0-7BAF9F373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587" y="1389163"/>
            <a:ext cx="10912216" cy="4037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3654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6547F-A5DE-4984-9133-2A6954BDA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C70FE-0D85-4B9F-9710-E95A3A762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5B1745-EDD9-436C-8A92-BB66DAE74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5" y="1088811"/>
            <a:ext cx="10512627" cy="474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8319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B89FD-C376-4F76-A242-8134AA4B5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it all together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49D6E8-E2F1-4827-984E-33165295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50370-7E1F-4377-9321-6109B5F58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766" y="1328519"/>
            <a:ext cx="10766982" cy="4257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4255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6147-7284-4358-93D6-F8CCA59D5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Can we fit the LLMs in a Single GPU?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DE959DE-A301-4969-A14D-E5D1B4141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9686" y="1097280"/>
            <a:ext cx="6450497" cy="5180971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Weight: 4 bits</a:t>
            </a:r>
          </a:p>
          <a:p>
            <a:r>
              <a:rPr lang="en-IN" dirty="0"/>
              <a:t>Weight gradients: ~0.4bits</a:t>
            </a:r>
          </a:p>
          <a:p>
            <a:r>
              <a:rPr lang="en-IN" dirty="0"/>
              <a:t>Optimizer state: ~0.8bits</a:t>
            </a:r>
          </a:p>
          <a:p>
            <a:r>
              <a:rPr lang="en-IN" dirty="0"/>
              <a:t>Adapter weights: ~0.4bits</a:t>
            </a:r>
          </a:p>
          <a:p>
            <a:r>
              <a:rPr lang="en-IN" dirty="0"/>
              <a:t>Bits per parameter: ~5.2 bits</a:t>
            </a:r>
          </a:p>
          <a:p>
            <a:r>
              <a:rPr lang="en-IN" dirty="0"/>
              <a:t>70B model </a:t>
            </a:r>
            <a:r>
              <a:rPr lang="en-IN" dirty="0">
                <a:sym typeface="Wingdings" panose="05000000000000000000" pitchFamily="2" charset="2"/>
              </a:rPr>
              <a:t> 46GB of GPU memory  1x data </a:t>
            </a:r>
            <a:r>
              <a:rPr lang="en-IN" dirty="0" err="1">
                <a:sym typeface="Wingdings" panose="05000000000000000000" pitchFamily="2" charset="2"/>
              </a:rPr>
              <a:t>center</a:t>
            </a:r>
            <a:r>
              <a:rPr lang="en-IN" dirty="0">
                <a:sym typeface="Wingdings" panose="05000000000000000000" pitchFamily="2" charset="2"/>
              </a:rPr>
              <a:t> GPUs</a:t>
            </a: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5D3C6B-A4CB-4A45-97F6-872689692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54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168673-4071-48B2-B145-4B2B51710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172" y="2495419"/>
            <a:ext cx="3375362" cy="1957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876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AnalogousFromDarkSeedLeftStep">
      <a:dk1>
        <a:srgbClr val="000000"/>
      </a:dk1>
      <a:lt1>
        <a:srgbClr val="FFFFFF"/>
      </a:lt1>
      <a:dk2>
        <a:srgbClr val="1C2B32"/>
      </a:dk2>
      <a:lt2>
        <a:srgbClr val="E2E8E2"/>
      </a:lt2>
      <a:accent1>
        <a:srgbClr val="D838D6"/>
      </a:accent1>
      <a:accent2>
        <a:srgbClr val="8526C6"/>
      </a:accent2>
      <a:accent3>
        <a:srgbClr val="5538D8"/>
      </a:accent3>
      <a:accent4>
        <a:srgbClr val="264CC6"/>
      </a:accent4>
      <a:accent5>
        <a:srgbClr val="38A1D8"/>
      </a:accent5>
      <a:accent6>
        <a:srgbClr val="23B6AC"/>
      </a:accent6>
      <a:hlink>
        <a:srgbClr val="3F7DBF"/>
      </a:hlink>
      <a:folHlink>
        <a:srgbClr val="7F7F7F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79525</TotalTime>
  <Words>1971</Words>
  <Application>Microsoft Office PowerPoint</Application>
  <PresentationFormat>Widescreen</PresentationFormat>
  <Paragraphs>359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Arial</vt:lpstr>
      <vt:lpstr>Avenir Next LT Pro</vt:lpstr>
      <vt:lpstr>Calibri</vt:lpstr>
      <vt:lpstr>Cambria Math</vt:lpstr>
      <vt:lpstr>Courier New</vt:lpstr>
      <vt:lpstr>Goudy Old Style</vt:lpstr>
      <vt:lpstr>Wingdings</vt:lpstr>
      <vt:lpstr>FrostyVTI</vt:lpstr>
      <vt:lpstr>PEFT: Reparameterized Models, LoRA, DyLoRA, QLoRA</vt:lpstr>
      <vt:lpstr>Reparameterization</vt:lpstr>
      <vt:lpstr>Low-Rank Adaptation (LoRA)</vt:lpstr>
      <vt:lpstr>Parameter Update</vt:lpstr>
      <vt:lpstr>Some Details</vt:lpstr>
      <vt:lpstr>Some Details</vt:lpstr>
      <vt:lpstr>LoRA is a Generalization of Full Fine-Tuning</vt:lpstr>
      <vt:lpstr>LoRA is a Generalization of Full Fine-Tuning</vt:lpstr>
      <vt:lpstr>LoRA is a Generalization of Full Fine-Tuning</vt:lpstr>
      <vt:lpstr>Dynamic Low-rank Adaptation</vt:lpstr>
      <vt:lpstr>Nested Dropout</vt:lpstr>
      <vt:lpstr>Nested Dropout</vt:lpstr>
      <vt:lpstr>DyLoRA Process</vt:lpstr>
      <vt:lpstr>DyLoRA Process</vt:lpstr>
      <vt:lpstr>DyLoRA Process</vt:lpstr>
      <vt:lpstr>PowerPoint Presentation</vt:lpstr>
      <vt:lpstr>Cost of Fine-tuning an LLM</vt:lpstr>
      <vt:lpstr>Cost of Fine-tuning an LLM</vt:lpstr>
      <vt:lpstr>Can we fit the LLMs in a Single GPU?</vt:lpstr>
      <vt:lpstr>Quantization</vt:lpstr>
      <vt:lpstr>Uniform Quantization: Example</vt:lpstr>
      <vt:lpstr>Does Quantization Help? </vt:lpstr>
      <vt:lpstr>Issue with Vanilla (Uniform) Quantization</vt:lpstr>
      <vt:lpstr>Issue with Vanilla (Uniform) Quantization</vt:lpstr>
      <vt:lpstr>Chunking-based Quantization </vt:lpstr>
      <vt:lpstr>Chunking Helps</vt:lpstr>
      <vt:lpstr>Three Core Ideas in QLoRA</vt:lpstr>
      <vt:lpstr>4-bit NormalFloat Quantization</vt:lpstr>
      <vt:lpstr>NF4 Quantization Steps</vt:lpstr>
      <vt:lpstr>NF4 Quantization Steps</vt:lpstr>
      <vt:lpstr>NF4 Quantization Steps</vt:lpstr>
      <vt:lpstr>NF4 Quantization Steps</vt:lpstr>
      <vt:lpstr>NF4 Quantization Steps</vt:lpstr>
      <vt:lpstr>Double Quantization</vt:lpstr>
      <vt:lpstr>Double Quantization</vt:lpstr>
      <vt:lpstr>Double Quantization</vt:lpstr>
      <vt:lpstr>Double Quantization</vt:lpstr>
      <vt:lpstr>Double Quantization</vt:lpstr>
      <vt:lpstr>GPU Out of Memory</vt:lpstr>
      <vt:lpstr>Gradient Checkpointing</vt:lpstr>
      <vt:lpstr>Gradient Checkpointing</vt:lpstr>
      <vt:lpstr>Gradient Checkpointing</vt:lpstr>
      <vt:lpstr>Gradient Checkpointing</vt:lpstr>
      <vt:lpstr>Gradient Checkpointing</vt:lpstr>
      <vt:lpstr>Gradient Checkpointing</vt:lpstr>
      <vt:lpstr>Paged Optimizer</vt:lpstr>
      <vt:lpstr>QLoRA: Ingredients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Putting it all together</vt:lpstr>
      <vt:lpstr>Can we fit the LLMs in a Single GPU?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 Neural Networks</dc:title>
  <dc:creator>Plaban Kumar Bhowmick</dc:creator>
  <cp:lastModifiedBy>Plaban Kumar Bhowmick</cp:lastModifiedBy>
  <cp:revision>1062</cp:revision>
  <dcterms:created xsi:type="dcterms:W3CDTF">2021-07-28T12:05:26Z</dcterms:created>
  <dcterms:modified xsi:type="dcterms:W3CDTF">2025-10-13T14:04:43Z</dcterms:modified>
</cp:coreProperties>
</file>