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43"/>
  </p:notesMasterIdLst>
  <p:sldIdLst>
    <p:sldId id="258" r:id="rId2"/>
    <p:sldId id="294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79" r:id="rId25"/>
    <p:sldId id="281" r:id="rId26"/>
    <p:sldId id="282" r:id="rId27"/>
    <p:sldId id="284" r:id="rId28"/>
    <p:sldId id="285" r:id="rId29"/>
    <p:sldId id="283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5" r:id="rId39"/>
    <p:sldId id="296" r:id="rId40"/>
    <p:sldId id="297" r:id="rId41"/>
    <p:sldId id="298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7111"/>
    <a:srgbClr val="EA9B26"/>
    <a:srgbClr val="158D82"/>
    <a:srgbClr val="009900"/>
    <a:srgbClr val="8DD783"/>
    <a:srgbClr val="5E861C"/>
    <a:srgbClr val="499200"/>
    <a:srgbClr val="F9DE6B"/>
    <a:srgbClr val="F1BE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49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72402-DDD5-4AA4-B67D-84D287CD135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3684B-A4BC-40E1-95BF-E6FD9523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836" y="1096965"/>
            <a:ext cx="8567530" cy="2085696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>
                <a:solidFill>
                  <a:schemeClr val="accent5">
                    <a:lumMod val="50000"/>
                    <a:alpha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D0C487A-D036-4525-9F6D-E5DCC81B692F}"/>
              </a:ext>
            </a:extLst>
          </p:cNvPr>
          <p:cNvSpPr txBox="1"/>
          <p:nvPr userDrawn="1"/>
        </p:nvSpPr>
        <p:spPr>
          <a:xfrm>
            <a:off x="1735490" y="849093"/>
            <a:ext cx="8406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Foundation of Large Language Models (FLLM)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55E08-B879-420B-A99D-356579E89058}"/>
              </a:ext>
            </a:extLst>
          </p:cNvPr>
          <p:cNvSpPr txBox="1"/>
          <p:nvPr userDrawn="1"/>
        </p:nvSpPr>
        <p:spPr>
          <a:xfrm>
            <a:off x="4948333" y="1384536"/>
            <a:ext cx="1417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AI60213</a:t>
            </a:r>
          </a:p>
        </p:txBody>
      </p:sp>
    </p:spTree>
    <p:extLst>
      <p:ext uri="{BB962C8B-B14F-4D97-AF65-F5344CB8AC3E}">
        <p14:creationId xmlns:p14="http://schemas.microsoft.com/office/powerpoint/2010/main" val="108830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545418" cy="1112836"/>
          </a:xfrm>
        </p:spPr>
        <p:txBody>
          <a:bodyPr>
            <a:normAutofit/>
          </a:bodyPr>
          <a:lstStyle>
            <a:lvl1pPr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0"/>
            <a:ext cx="10545418" cy="5180971"/>
          </a:xfrm>
        </p:spPr>
        <p:txBody>
          <a:bodyPr/>
          <a:lstStyle>
            <a:lvl1pPr marL="36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70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2400" i="0">
                <a:solidFill>
                  <a:schemeClr val="tx1"/>
                </a:solidFill>
              </a:defRPr>
            </a:lvl2pPr>
            <a:lvl3pPr marL="108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3pPr>
            <a:lvl4pPr marL="1422900" indent="-342900">
              <a:buClr>
                <a:schemeClr val="bg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4pPr>
            <a:lvl5pPr marL="1800000" indent="-360000"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105E-D291-4F14-B83F-344D1A4D0A27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8E440-80E3-4674-868F-16E3FD812262}"/>
              </a:ext>
            </a:extLst>
          </p:cNvPr>
          <p:cNvCxnSpPr/>
          <p:nvPr userDrawn="1"/>
        </p:nvCxnSpPr>
        <p:spPr>
          <a:xfrm>
            <a:off x="932873" y="868045"/>
            <a:ext cx="5421745" cy="0"/>
          </a:xfrm>
          <a:prstGeom prst="line">
            <a:avLst/>
          </a:prstGeom>
          <a:ln w="317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4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537E9-86D0-44A7-A0ED-EDDA30C3C5AA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82D1-F736-4095-9778-F7BC872664AD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4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0BA-BCFA-461D-B1E4-75355B87CE53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9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250E-7243-49D9-9EE1-CDD7CEC3C9DC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4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1780-62A7-4065-B15C-16FEE64FCE05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6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FDD58-8592-4A6A-836D-0E35C354EDF7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49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BB06-1D41-4420-820F-B73A9A09BC28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92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980B-E693-4EA3-9046-65F1495C9307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A516-8344-4269-9CD2-8B76EF291C3B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BA4D4E7B-4493-4CEA-A8F8-D2AD2DCAE9DB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Indian Oil Training on AI and ML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6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Courier New" panose="02070309020205020404" pitchFamily="49" charset="0"/>
        <a:buChar char="o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3pPr>
      <a:lvl4pPr marL="1422900" indent="-3429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GyFrqc34yc" TargetMode="External"/><Relationship Id="rId2" Type="http://schemas.openxmlformats.org/officeDocument/2006/relationships/hyperlink" Target="https://proceedings.neurips.cc/paper_files/paper/2017/file/d5e2c0adad503c91f91df240d0cd4e49-Paper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hvGa5Mba4c8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21" Type="http://schemas.openxmlformats.org/officeDocument/2006/relationships/image" Target="../media/image59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38.png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1.png"/><Relationship Id="rId21" Type="http://schemas.openxmlformats.org/officeDocument/2006/relationships/image" Target="../media/image63.png"/><Relationship Id="rId7" Type="http://schemas.openxmlformats.org/officeDocument/2006/relationships/image" Target="../media/image45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image" Target="../media/image38.png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10" Type="http://schemas.openxmlformats.org/officeDocument/2006/relationships/image" Target="../media/image48.png"/><Relationship Id="rId19" Type="http://schemas.openxmlformats.org/officeDocument/2006/relationships/image" Target="../media/image61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3" Type="http://schemas.openxmlformats.org/officeDocument/2006/relationships/image" Target="../media/image76.png"/><Relationship Id="rId21" Type="http://schemas.openxmlformats.org/officeDocument/2006/relationships/image" Target="../media/image94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image" Target="../media/image75.png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23" Type="http://schemas.openxmlformats.org/officeDocument/2006/relationships/image" Target="../media/image96.png"/><Relationship Id="rId10" Type="http://schemas.openxmlformats.org/officeDocument/2006/relationships/image" Target="../media/image83.png"/><Relationship Id="rId19" Type="http://schemas.openxmlformats.org/officeDocument/2006/relationships/image" Target="../media/image92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Relationship Id="rId22" Type="http://schemas.openxmlformats.org/officeDocument/2006/relationships/image" Target="../media/image9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image" Target="../media/image76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0" Type="http://schemas.openxmlformats.org/officeDocument/2006/relationships/image" Target="../media/image122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2.png"/><Relationship Id="rId21" Type="http://schemas.openxmlformats.org/officeDocument/2006/relationships/image" Target="../media/image64.png"/><Relationship Id="rId7" Type="http://schemas.openxmlformats.org/officeDocument/2006/relationships/image" Target="../media/image46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image" Target="../media/image41.png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4.png"/><Relationship Id="rId5" Type="http://schemas.openxmlformats.org/officeDocument/2006/relationships/image" Target="../media/image44.png"/><Relationship Id="rId15" Type="http://schemas.openxmlformats.org/officeDocument/2006/relationships/image" Target="../media/image58.png"/><Relationship Id="rId23" Type="http://schemas.openxmlformats.org/officeDocument/2006/relationships/image" Target="../media/image141.png"/><Relationship Id="rId10" Type="http://schemas.openxmlformats.org/officeDocument/2006/relationships/image" Target="../media/image49.png"/><Relationship Id="rId19" Type="http://schemas.openxmlformats.org/officeDocument/2006/relationships/image" Target="../media/image140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4.png"/><Relationship Id="rId4" Type="http://schemas.openxmlformats.org/officeDocument/2006/relationships/image" Target="../media/image13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7210-9334-4A18-A6C0-80B658DD8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LLM Alignment: Reinforcement Learning through Human Feedback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5A4C8-F94D-4F5D-B4F9-508689224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Plaban Kumar Bhowmick</a:t>
            </a:r>
          </a:p>
          <a:p>
            <a:r>
              <a:rPr lang="en-IN" dirty="0"/>
              <a:t>Department of AI</a:t>
            </a:r>
          </a:p>
          <a:p>
            <a:r>
              <a:rPr lang="en-IN" dirty="0"/>
              <a:t>plaban@ai.iitkgp.ac.in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6D040-688E-4CDE-B3E0-268C6E0DA1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82800" y="6357600"/>
            <a:ext cx="1760150" cy="460800"/>
          </a:xfrm>
        </p:spPr>
        <p:txBody>
          <a:bodyPr/>
          <a:lstStyle/>
          <a:p>
            <a:fld id="{FF2BD96E-3838-45D2-9031-D3AF67C92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3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026A-91D3-40CC-AD47-495979081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5C141-3DC0-4037-9CFD-0EEEA9C76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Christiano</a:t>
            </a:r>
            <a:r>
              <a:rPr lang="en-US" dirty="0"/>
              <a:t> et al., Deep Reinforcement Learning from Human Preferences</a:t>
            </a:r>
          </a:p>
          <a:p>
            <a:pPr lvl="1"/>
            <a:r>
              <a:rPr lang="en-US" dirty="0">
                <a:hlinkClick r:id="rId2"/>
              </a:rPr>
              <a:t>https://proceedings.neurips.cc/paper_files/paper/2017/file/d5e2c0adad503c91f91df240d0cd4e49-Paper.pdf</a:t>
            </a:r>
            <a:endParaRPr lang="en-US" dirty="0"/>
          </a:p>
          <a:p>
            <a:r>
              <a:rPr lang="en-US" dirty="0"/>
              <a:t>Umar Jamil </a:t>
            </a:r>
          </a:p>
          <a:p>
            <a:pPr lvl="1"/>
            <a:r>
              <a:rPr lang="en-US" dirty="0"/>
              <a:t>RLHF Basics: </a:t>
            </a:r>
            <a:r>
              <a:rPr lang="en-US" dirty="0">
                <a:hlinkClick r:id="rId3"/>
              </a:rPr>
              <a:t>https://www.youtube.com/watch?v=qGyFrqc34yc</a:t>
            </a:r>
            <a:endParaRPr lang="en-US" dirty="0"/>
          </a:p>
          <a:p>
            <a:pPr lvl="1"/>
            <a:r>
              <a:rPr lang="en-US" dirty="0"/>
              <a:t>DPO: </a:t>
            </a:r>
            <a:r>
              <a:rPr lang="en-US" dirty="0">
                <a:hlinkClick r:id="rId4"/>
              </a:rPr>
              <a:t>https://www.youtube.com/watch?v=hvGa5Mba4c8</a:t>
            </a:r>
            <a:endParaRPr lang="en-US" dirty="0"/>
          </a:p>
          <a:p>
            <a:r>
              <a:rPr lang="en-US" dirty="0"/>
              <a:t>Nathan Lambert, Reinforcement Learning from Human Feedback</a:t>
            </a:r>
          </a:p>
          <a:p>
            <a:pPr lvl="1"/>
            <a:r>
              <a:rPr lang="en-US" dirty="0"/>
              <a:t>https://arxiv.org/pdf/2504.12501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D99F9-A4B6-4DD6-A0AF-549AB0FA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0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70DA-3541-4C4D-B6B2-63902156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Language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BCF18-11AC-4BBF-84F9-56489207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75C35-3844-4F2B-A20A-9E647DBA5FEE}"/>
              </a:ext>
            </a:extLst>
          </p:cNvPr>
          <p:cNvSpPr txBox="1"/>
          <p:nvPr/>
        </p:nvSpPr>
        <p:spPr>
          <a:xfrm>
            <a:off x="1689652" y="2932041"/>
            <a:ext cx="4006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P(_________ | Kharagpur is a town in)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CC04AA8-FF8B-4574-8E41-414E77CDC2A0}"/>
              </a:ext>
            </a:extLst>
          </p:cNvPr>
          <p:cNvCxnSpPr>
            <a:stCxn id="5" idx="3"/>
          </p:cNvCxnSpPr>
          <p:nvPr/>
        </p:nvCxnSpPr>
        <p:spPr>
          <a:xfrm flipV="1">
            <a:off x="5696262" y="1868554"/>
            <a:ext cx="1489729" cy="124815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475901-4A3E-42CB-B040-C24C68B8ADB9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696262" y="2554355"/>
            <a:ext cx="1489729" cy="5623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48EEBE-F5FA-4A58-AC5F-1EFF83C3B0B0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696262" y="3021493"/>
            <a:ext cx="1489729" cy="9521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039010-5408-44DD-BA2F-024059DE1DF1}"/>
              </a:ext>
            </a:extLst>
          </p:cNvPr>
          <p:cNvCxnSpPr>
            <a:cxnSpLocks/>
          </p:cNvCxnSpPr>
          <p:nvPr/>
        </p:nvCxnSpPr>
        <p:spPr>
          <a:xfrm>
            <a:off x="5691811" y="3106768"/>
            <a:ext cx="1494180" cy="125809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F9D7474-031A-4E61-9FB7-EB43C9A7366B}"/>
              </a:ext>
            </a:extLst>
          </p:cNvPr>
          <p:cNvSpPr txBox="1"/>
          <p:nvPr/>
        </p:nvSpPr>
        <p:spPr>
          <a:xfrm>
            <a:off x="7185991" y="1710848"/>
            <a:ext cx="708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7BEF84-6B9B-4C4D-8FCE-9FD6E72A2E16}"/>
              </a:ext>
            </a:extLst>
          </p:cNvPr>
          <p:cNvSpPr txBox="1"/>
          <p:nvPr/>
        </p:nvSpPr>
        <p:spPr>
          <a:xfrm>
            <a:off x="7185991" y="2362652"/>
            <a:ext cx="838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Kerala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4017C2-9199-45D8-BC1D-FB6091AEA01B}"/>
              </a:ext>
            </a:extLst>
          </p:cNvPr>
          <p:cNvSpPr txBox="1"/>
          <p:nvPr/>
        </p:nvSpPr>
        <p:spPr>
          <a:xfrm>
            <a:off x="7184317" y="2847076"/>
            <a:ext cx="47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Taj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6D3A88-5062-4434-A04A-668F53B6C157}"/>
              </a:ext>
            </a:extLst>
          </p:cNvPr>
          <p:cNvSpPr txBox="1"/>
          <p:nvPr/>
        </p:nvSpPr>
        <p:spPr>
          <a:xfrm>
            <a:off x="7184317" y="4170255"/>
            <a:ext cx="110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Australia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6BA6AE-1EE5-407D-AC19-14F80A4359F5}"/>
              </a:ext>
            </a:extLst>
          </p:cNvPr>
          <p:cNvSpPr txBox="1"/>
          <p:nvPr/>
        </p:nvSpPr>
        <p:spPr>
          <a:xfrm>
            <a:off x="8210993" y="1710848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0.6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CD7ED8-97C5-4414-95F4-4E628DBDDCFD}"/>
              </a:ext>
            </a:extLst>
          </p:cNvPr>
          <p:cNvSpPr txBox="1"/>
          <p:nvPr/>
        </p:nvSpPr>
        <p:spPr>
          <a:xfrm>
            <a:off x="8210993" y="2369689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0.1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BDA5D7-07BC-4660-B313-DF674119AF85}"/>
              </a:ext>
            </a:extLst>
          </p:cNvPr>
          <p:cNvSpPr txBox="1"/>
          <p:nvPr/>
        </p:nvSpPr>
        <p:spPr>
          <a:xfrm>
            <a:off x="8210993" y="2884434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0.002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19A940-CF99-41B6-8FFE-367C3780B518}"/>
              </a:ext>
            </a:extLst>
          </p:cNvPr>
          <p:cNvSpPr txBox="1"/>
          <p:nvPr/>
        </p:nvSpPr>
        <p:spPr>
          <a:xfrm>
            <a:off x="8244921" y="4170255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0.0001</a:t>
            </a:r>
          </a:p>
        </p:txBody>
      </p:sp>
    </p:spTree>
    <p:extLst>
      <p:ext uri="{BB962C8B-B14F-4D97-AF65-F5344CB8AC3E}">
        <p14:creationId xmlns:p14="http://schemas.microsoft.com/office/powerpoint/2010/main" val="195703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B02C-C9D0-42FE-8A33-8BD9542E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LLM: Generating Next Token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D1C5C-464D-4333-8316-913FA9C0C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553654-6EAC-4E7C-93E3-89EBFDA4EDAD}"/>
              </a:ext>
            </a:extLst>
          </p:cNvPr>
          <p:cNvSpPr txBox="1"/>
          <p:nvPr/>
        </p:nvSpPr>
        <p:spPr>
          <a:xfrm>
            <a:off x="616226" y="1570383"/>
            <a:ext cx="8156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Time=0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E4FFD-451A-44F8-B1E4-8CB610DC7858}"/>
              </a:ext>
            </a:extLst>
          </p:cNvPr>
          <p:cNvSpPr txBox="1"/>
          <p:nvPr/>
        </p:nvSpPr>
        <p:spPr>
          <a:xfrm>
            <a:off x="3293160" y="1600200"/>
            <a:ext cx="1897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Where is Kharagpur?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264DD0-3192-4F47-9BA0-DBB77AF082AB}"/>
              </a:ext>
            </a:extLst>
          </p:cNvPr>
          <p:cNvSpPr/>
          <p:nvPr/>
        </p:nvSpPr>
        <p:spPr>
          <a:xfrm>
            <a:off x="5953539" y="1570383"/>
            <a:ext cx="1202635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LLM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337BA0-E44F-4523-AF8E-F053D7A416EC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190795" y="1754089"/>
            <a:ext cx="762744" cy="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618C01-B1DF-43A7-B2BF-3644BEFAFA29}"/>
              </a:ext>
            </a:extLst>
          </p:cNvPr>
          <p:cNvCxnSpPr/>
          <p:nvPr/>
        </p:nvCxnSpPr>
        <p:spPr>
          <a:xfrm>
            <a:off x="7156174" y="1755049"/>
            <a:ext cx="639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BEB64EB-3E00-4E2E-8844-5DDA639CCD67}"/>
              </a:ext>
            </a:extLst>
          </p:cNvPr>
          <p:cNvSpPr txBox="1"/>
          <p:nvPr/>
        </p:nvSpPr>
        <p:spPr>
          <a:xfrm>
            <a:off x="7736443" y="1602121"/>
            <a:ext cx="13243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Kharagpur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0604DD-7FF9-4AA1-B6BD-D5690D38176C}"/>
              </a:ext>
            </a:extLst>
          </p:cNvPr>
          <p:cNvGrpSpPr/>
          <p:nvPr/>
        </p:nvGrpSpPr>
        <p:grpSpPr>
          <a:xfrm>
            <a:off x="616226" y="2232081"/>
            <a:ext cx="8434668" cy="369332"/>
            <a:chOff x="616226" y="2232081"/>
            <a:chExt cx="8434668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E3CEE1-74A7-43BE-8E58-D37AC4ECBDDA}"/>
                </a:ext>
              </a:extLst>
            </p:cNvPr>
            <p:cNvSpPr txBox="1"/>
            <p:nvPr/>
          </p:nvSpPr>
          <p:spPr>
            <a:xfrm>
              <a:off x="616226" y="2232081"/>
              <a:ext cx="8156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Time=1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38820E-A2B8-42DB-9E8C-7473F1FA4639}"/>
                </a:ext>
              </a:extLst>
            </p:cNvPr>
            <p:cNvSpPr txBox="1"/>
            <p:nvPr/>
          </p:nvSpPr>
          <p:spPr>
            <a:xfrm>
              <a:off x="2438402" y="2261898"/>
              <a:ext cx="27642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Where is </a:t>
              </a:r>
              <a:r>
                <a:rPr lang="en-IN" sz="1400" dirty="0" err="1"/>
                <a:t>Kharagpur?Kharagpur</a:t>
              </a:r>
              <a:endParaRPr lang="en-IN" sz="14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B26045-FB96-444D-A174-F83F6C7AC7C0}"/>
                </a:ext>
              </a:extLst>
            </p:cNvPr>
            <p:cNvSpPr/>
            <p:nvPr/>
          </p:nvSpPr>
          <p:spPr>
            <a:xfrm>
              <a:off x="5953539" y="2232081"/>
              <a:ext cx="1202635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LLM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9A98EAF-A5CE-4205-8DA1-EF0159B6DE7E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>
              <a:off x="5202685" y="2415787"/>
              <a:ext cx="750854" cy="9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20E2602-2DC6-4978-A92B-A64ACB776639}"/>
                </a:ext>
              </a:extLst>
            </p:cNvPr>
            <p:cNvCxnSpPr/>
            <p:nvPr/>
          </p:nvCxnSpPr>
          <p:spPr>
            <a:xfrm>
              <a:off x="7156174" y="2416747"/>
              <a:ext cx="6399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CDDF9A-BAE8-4D13-BE6E-EC28E03FEEE2}"/>
                </a:ext>
              </a:extLst>
            </p:cNvPr>
            <p:cNvSpPr txBox="1"/>
            <p:nvPr/>
          </p:nvSpPr>
          <p:spPr>
            <a:xfrm>
              <a:off x="7726505" y="2261898"/>
              <a:ext cx="13243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/>
                <a:t>is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64AA729-255E-4E5E-8320-AFACCAB74126}"/>
              </a:ext>
            </a:extLst>
          </p:cNvPr>
          <p:cNvGrpSpPr/>
          <p:nvPr/>
        </p:nvGrpSpPr>
        <p:grpSpPr>
          <a:xfrm>
            <a:off x="626164" y="2902039"/>
            <a:ext cx="7643194" cy="369332"/>
            <a:chOff x="626164" y="2902039"/>
            <a:chExt cx="7643194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B4476AB-CC48-42E8-8047-9183D67F0FF3}"/>
                </a:ext>
              </a:extLst>
            </p:cNvPr>
            <p:cNvSpPr txBox="1"/>
            <p:nvPr/>
          </p:nvSpPr>
          <p:spPr>
            <a:xfrm>
              <a:off x="626164" y="2902039"/>
              <a:ext cx="8156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Time=2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5527504-19E3-4158-B649-A64C0092B618}"/>
                </a:ext>
              </a:extLst>
            </p:cNvPr>
            <p:cNvSpPr txBox="1"/>
            <p:nvPr/>
          </p:nvSpPr>
          <p:spPr>
            <a:xfrm>
              <a:off x="2259499" y="2931856"/>
              <a:ext cx="29342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Where is </a:t>
              </a:r>
              <a:r>
                <a:rPr lang="en-IN" sz="1400" dirty="0" err="1"/>
                <a:t>Kharagpur?Kharagpur</a:t>
              </a:r>
              <a:r>
                <a:rPr lang="en-IN" sz="1400" dirty="0"/>
                <a:t> is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12B9042-DFE2-4FB5-9A15-25D33A86C713}"/>
                </a:ext>
              </a:extLst>
            </p:cNvPr>
            <p:cNvSpPr/>
            <p:nvPr/>
          </p:nvSpPr>
          <p:spPr>
            <a:xfrm>
              <a:off x="5963477" y="2902039"/>
              <a:ext cx="1202635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LLM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94CBE5C-8EF9-4D01-8DB1-70B29BDDB660}"/>
                </a:ext>
              </a:extLst>
            </p:cNvPr>
            <p:cNvCxnSpPr>
              <a:stCxn id="20" idx="3"/>
              <a:endCxn id="21" idx="1"/>
            </p:cNvCxnSpPr>
            <p:nvPr/>
          </p:nvCxnSpPr>
          <p:spPr>
            <a:xfrm>
              <a:off x="5193700" y="3085745"/>
              <a:ext cx="769777" cy="9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FF80627-F546-4449-A55E-0394628F3BC7}"/>
                </a:ext>
              </a:extLst>
            </p:cNvPr>
            <p:cNvCxnSpPr/>
            <p:nvPr/>
          </p:nvCxnSpPr>
          <p:spPr>
            <a:xfrm>
              <a:off x="7166112" y="3086705"/>
              <a:ext cx="6399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CE9F9E-D2C8-4F18-A8FE-FE32494B5482}"/>
                </a:ext>
              </a:extLst>
            </p:cNvPr>
            <p:cNvSpPr txBox="1"/>
            <p:nvPr/>
          </p:nvSpPr>
          <p:spPr>
            <a:xfrm>
              <a:off x="7736444" y="2921676"/>
              <a:ext cx="532914" cy="317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/>
                <a:t>in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AF918E1-244B-4EA0-B8F2-35DB46E42D42}"/>
              </a:ext>
            </a:extLst>
          </p:cNvPr>
          <p:cNvGrpSpPr/>
          <p:nvPr/>
        </p:nvGrpSpPr>
        <p:grpSpPr>
          <a:xfrm>
            <a:off x="616226" y="3531999"/>
            <a:ext cx="7921488" cy="369332"/>
            <a:chOff x="616226" y="3531999"/>
            <a:chExt cx="7921488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58AA24-CE59-4F9B-AF86-B8C4815DD0D7}"/>
                </a:ext>
              </a:extLst>
            </p:cNvPr>
            <p:cNvSpPr txBox="1"/>
            <p:nvPr/>
          </p:nvSpPr>
          <p:spPr>
            <a:xfrm>
              <a:off x="616226" y="3531999"/>
              <a:ext cx="8156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Time=3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3BC7DE4-A1C3-4D18-957D-BCF71EF9D234}"/>
                </a:ext>
              </a:extLst>
            </p:cNvPr>
            <p:cNvSpPr txBox="1"/>
            <p:nvPr/>
          </p:nvSpPr>
          <p:spPr>
            <a:xfrm>
              <a:off x="1991144" y="3561816"/>
              <a:ext cx="31281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Where is </a:t>
              </a:r>
              <a:r>
                <a:rPr lang="en-IN" sz="1400" dirty="0" err="1"/>
                <a:t>Kharagpur?Kharagpur</a:t>
              </a:r>
              <a:r>
                <a:rPr lang="en-IN" sz="1400" dirty="0"/>
                <a:t> is in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4278FB-99B0-488C-A875-B7FB3A1890EE}"/>
                </a:ext>
              </a:extLst>
            </p:cNvPr>
            <p:cNvSpPr/>
            <p:nvPr/>
          </p:nvSpPr>
          <p:spPr>
            <a:xfrm>
              <a:off x="5953539" y="3531999"/>
              <a:ext cx="1202635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LLM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84C73BB-D085-4C76-B7BA-FE232674C9C5}"/>
                </a:ext>
              </a:extLst>
            </p:cNvPr>
            <p:cNvCxnSpPr>
              <a:stCxn id="26" idx="3"/>
              <a:endCxn id="27" idx="1"/>
            </p:cNvCxnSpPr>
            <p:nvPr/>
          </p:nvCxnSpPr>
          <p:spPr>
            <a:xfrm>
              <a:off x="5119308" y="3715705"/>
              <a:ext cx="834231" cy="9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AC4E54A-60BE-4A9C-9A11-D2EDA8823C6D}"/>
                </a:ext>
              </a:extLst>
            </p:cNvPr>
            <p:cNvCxnSpPr/>
            <p:nvPr/>
          </p:nvCxnSpPr>
          <p:spPr>
            <a:xfrm>
              <a:off x="7156174" y="3716665"/>
              <a:ext cx="6399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027A25D-9692-4B0D-8529-79C8A61EDDB4}"/>
                </a:ext>
              </a:extLst>
            </p:cNvPr>
            <p:cNvSpPr txBox="1"/>
            <p:nvPr/>
          </p:nvSpPr>
          <p:spPr>
            <a:xfrm>
              <a:off x="7726506" y="3561816"/>
              <a:ext cx="81120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/>
                <a:t>West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C6B9F62-95BD-4672-ADC2-208271E8C854}"/>
              </a:ext>
            </a:extLst>
          </p:cNvPr>
          <p:cNvGrpSpPr/>
          <p:nvPr/>
        </p:nvGrpSpPr>
        <p:grpSpPr>
          <a:xfrm>
            <a:off x="616226" y="4131182"/>
            <a:ext cx="7921488" cy="369332"/>
            <a:chOff x="616226" y="4131182"/>
            <a:chExt cx="7921488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C48D3A-64C1-41F1-965E-2BE511135AFD}"/>
                </a:ext>
              </a:extLst>
            </p:cNvPr>
            <p:cNvSpPr txBox="1"/>
            <p:nvPr/>
          </p:nvSpPr>
          <p:spPr>
            <a:xfrm>
              <a:off x="616226" y="4180877"/>
              <a:ext cx="8156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Time=4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4E7BE34-73B5-45F5-85E2-E98261E6D48F}"/>
                </a:ext>
              </a:extLst>
            </p:cNvPr>
            <p:cNvSpPr txBox="1"/>
            <p:nvPr/>
          </p:nvSpPr>
          <p:spPr>
            <a:xfrm>
              <a:off x="1643279" y="4160999"/>
              <a:ext cx="35779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Where is </a:t>
              </a:r>
              <a:r>
                <a:rPr lang="en-IN" sz="1400" dirty="0" err="1"/>
                <a:t>Kharagpur?Kharagpur</a:t>
              </a:r>
              <a:r>
                <a:rPr lang="en-IN" sz="1400" dirty="0"/>
                <a:t> is in West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6B4A354-E5FC-4B9F-90F4-6F51CEAFA4CA}"/>
                </a:ext>
              </a:extLst>
            </p:cNvPr>
            <p:cNvSpPr/>
            <p:nvPr/>
          </p:nvSpPr>
          <p:spPr>
            <a:xfrm>
              <a:off x="5953539" y="4131182"/>
              <a:ext cx="1202635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LLM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8334531-AAB4-4804-B64D-42EBD3D70067}"/>
                </a:ext>
              </a:extLst>
            </p:cNvPr>
            <p:cNvCxnSpPr>
              <a:stCxn id="32" idx="3"/>
              <a:endCxn id="33" idx="1"/>
            </p:cNvCxnSpPr>
            <p:nvPr/>
          </p:nvCxnSpPr>
          <p:spPr>
            <a:xfrm>
              <a:off x="5221246" y="4314888"/>
              <a:ext cx="732293" cy="9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B51F5AB-B368-406A-BF11-31E634A11889}"/>
                </a:ext>
              </a:extLst>
            </p:cNvPr>
            <p:cNvCxnSpPr/>
            <p:nvPr/>
          </p:nvCxnSpPr>
          <p:spPr>
            <a:xfrm>
              <a:off x="7156174" y="4315848"/>
              <a:ext cx="6399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CEDA8D2-81D6-4119-AC65-EE172FA403D8}"/>
                </a:ext>
              </a:extLst>
            </p:cNvPr>
            <p:cNvSpPr txBox="1"/>
            <p:nvPr/>
          </p:nvSpPr>
          <p:spPr>
            <a:xfrm>
              <a:off x="7726505" y="4131183"/>
              <a:ext cx="81120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/>
                <a:t>Bengal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685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8A22C-DB96-4977-ABC4-16AF941B3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15D5F-63A5-40D1-BB38-8E92E3034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Tuned model may sometime exhibit undesired </a:t>
            </a:r>
            <a:r>
              <a:rPr lang="en-IN" dirty="0" err="1"/>
              <a:t>behavior</a:t>
            </a:r>
            <a:endParaRPr lang="en-IN" dirty="0"/>
          </a:p>
          <a:p>
            <a:pPr lvl="1"/>
            <a:r>
              <a:rPr lang="en-IN" dirty="0" err="1"/>
              <a:t>Halucination</a:t>
            </a:r>
            <a:r>
              <a:rPr lang="en-IN" dirty="0"/>
              <a:t>: Presenting false information</a:t>
            </a:r>
          </a:p>
          <a:p>
            <a:pPr lvl="1"/>
            <a:r>
              <a:rPr lang="en-IN" dirty="0"/>
              <a:t>Harmful or offensive response</a:t>
            </a:r>
          </a:p>
          <a:p>
            <a:pPr lvl="1"/>
            <a:r>
              <a:rPr lang="en-IN" dirty="0"/>
              <a:t>Misinterpreting human information</a:t>
            </a:r>
          </a:p>
          <a:p>
            <a:r>
              <a:rPr lang="en-IN" dirty="0"/>
              <a:t>AI alignment: LLM fine-tuning to align the model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16F3F-FC11-48EA-B5FB-CB6942D8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0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8FEEC-70F4-485D-A5C4-DB364370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Alignment (HHH)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CA429-D9ED-4740-9E81-F4C52E9B8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Helpfulness</a:t>
            </a:r>
          </a:p>
          <a:p>
            <a:pPr lvl="1"/>
            <a:r>
              <a:rPr lang="en-US" dirty="0"/>
              <a:t>The ability of the model to adhere closely to the prompt instructions and help the user accomplish their task</a:t>
            </a:r>
          </a:p>
          <a:p>
            <a:r>
              <a:rPr lang="en-US" dirty="0"/>
              <a:t>Honesty</a:t>
            </a:r>
          </a:p>
          <a:p>
            <a:pPr lvl="1"/>
            <a:r>
              <a:rPr lang="en-US" dirty="0"/>
              <a:t>The ability of the model to provide accurate information to the user; i.e., to not hallucinate false information</a:t>
            </a:r>
          </a:p>
          <a:p>
            <a:r>
              <a:rPr lang="en-US" dirty="0"/>
              <a:t>Harmlessness</a:t>
            </a:r>
          </a:p>
          <a:p>
            <a:pPr lvl="1"/>
            <a:r>
              <a:rPr lang="en-US" dirty="0"/>
              <a:t>The model’s tendency to not generate text that is harmful to, or otherwise contrary to, the values and morals of the user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837C5-3BC0-4C99-BB92-59E341B3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4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A95FB-5789-4D0F-87D2-5830F0310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Reinforcement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65C33-F999-4A30-824B-9156D5CD4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LLMs lack an intrinsic understanding of </a:t>
            </a:r>
            <a:r>
              <a:rPr lang="en-US" dirty="0">
                <a:solidFill>
                  <a:srgbClr val="C00000"/>
                </a:solidFill>
              </a:rPr>
              <a:t>nuanced human preferences and societal norms</a:t>
            </a:r>
          </a:p>
          <a:p>
            <a:r>
              <a:rPr lang="en-US" dirty="0"/>
              <a:t>Humans excel at evaluating and selecting model outputs</a:t>
            </a:r>
          </a:p>
          <a:p>
            <a:pPr lvl="1"/>
            <a:r>
              <a:rPr lang="en-US" dirty="0"/>
              <a:t>Intuitively </a:t>
            </a:r>
            <a:r>
              <a:rPr lang="en-US" dirty="0">
                <a:solidFill>
                  <a:srgbClr val="C00000"/>
                </a:solidFill>
              </a:rPr>
              <a:t>weigh complex factors</a:t>
            </a:r>
            <a:r>
              <a:rPr lang="en-US" dirty="0"/>
              <a:t> like context, cultural nuances, and ethical implications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challenging for automated systems</a:t>
            </a:r>
            <a:r>
              <a:rPr lang="en-US" dirty="0"/>
              <a:t> to grasp and incorporate</a:t>
            </a:r>
          </a:p>
          <a:p>
            <a:r>
              <a:rPr lang="en-US" dirty="0"/>
              <a:t>Traditional loss function to train the language model to align with human preferences through conventional optimization techniques is impractical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59937-B6D5-478D-ADD9-A08E6BBAA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1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F81C6-8157-4375-94AD-F32B3BF80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Reinforcement Learning?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AB8FE-03C9-403B-90E3-035BDE91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8E784B-DAC3-49DE-9069-8B8A71E98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97" y="1293098"/>
            <a:ext cx="7057574" cy="437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36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3859-0811-4E21-AC20-93AE7820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RL Setup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3CCE01-F633-4E02-9603-16AF09E99F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24740" y="1097280"/>
                <a:ext cx="7275444" cy="5969442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IN" b="1" dirty="0"/>
                  <a:t>Agent:</a:t>
                </a:r>
                <a:r>
                  <a:rPr lang="en-IN" dirty="0"/>
                  <a:t> The mouse</a:t>
                </a:r>
              </a:p>
              <a:p>
                <a:r>
                  <a:rPr lang="en-IN" b="1" dirty="0"/>
                  <a:t>State: </a:t>
                </a:r>
                <a:r>
                  <a:rPr lang="en-IN" dirty="0"/>
                  <a:t>The position (</a:t>
                </a:r>
                <a:r>
                  <a:rPr lang="en-IN" dirty="0" err="1"/>
                  <a:t>x,y</a:t>
                </a:r>
                <a:r>
                  <a:rPr lang="en-IN" dirty="0"/>
                  <a:t>) of the mouse in the grid</a:t>
                </a:r>
              </a:p>
              <a:p>
                <a:r>
                  <a:rPr lang="en-IN" b="1" dirty="0"/>
                  <a:t>Action:</a:t>
                </a:r>
                <a:r>
                  <a:rPr lang="en-IN" dirty="0"/>
                  <a:t> At each position, the mouse can move one of the 4 directionally connected cells. If the move is invalid, the mouse stays there. Every time the mouse moves, it results in a new state and a reward</a:t>
                </a:r>
              </a:p>
              <a:p>
                <a:r>
                  <a:rPr lang="en-IN" b="1" dirty="0"/>
                  <a:t>Reward Model: </a:t>
                </a:r>
              </a:p>
              <a:p>
                <a:pPr lvl="1"/>
                <a:r>
                  <a:rPr lang="en-IN" dirty="0"/>
                  <a:t>Move to empty cell: Reward=0</a:t>
                </a:r>
              </a:p>
              <a:p>
                <a:pPr lvl="1"/>
                <a:r>
                  <a:rPr lang="en-IN" dirty="0"/>
                  <a:t>Move towards doll cat: Reward=-1</a:t>
                </a:r>
              </a:p>
              <a:p>
                <a:pPr lvl="1"/>
                <a:r>
                  <a:rPr lang="en-IN" dirty="0"/>
                  <a:t>Move towards the mouse trap: Reward = -1</a:t>
                </a:r>
              </a:p>
              <a:p>
                <a:pPr lvl="2"/>
                <a:r>
                  <a:rPr lang="en-IN" dirty="0"/>
                  <a:t>If the mouse if trapped, episode ends and starts from the initial position</a:t>
                </a:r>
              </a:p>
              <a:p>
                <a:pPr lvl="1"/>
                <a:r>
                  <a:rPr lang="en-IN" dirty="0"/>
                  <a:t>Moving towards the cheese: Reward = +100</a:t>
                </a:r>
              </a:p>
              <a:p>
                <a:r>
                  <a:rPr lang="en-IN" b="1" dirty="0"/>
                  <a:t>Policy:</a:t>
                </a:r>
                <a:r>
                  <a:rPr lang="en-IN" dirty="0"/>
                  <a:t> How the agent selects the action to perform in a given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(.|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Transition Model: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(.|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Goal: </a:t>
                </a:r>
                <a:r>
                  <a:rPr lang="en-IN" dirty="0"/>
                  <a:t>To select a policy that </a:t>
                </a:r>
                <a:r>
                  <a:rPr lang="en-IN" dirty="0">
                    <a:solidFill>
                      <a:srgbClr val="C00000"/>
                    </a:solidFill>
                  </a:rPr>
                  <a:t>maximizes the expected return</a:t>
                </a:r>
                <a:r>
                  <a:rPr lang="en-IN" dirty="0"/>
                  <a:t> when the </a:t>
                </a:r>
                <a:r>
                  <a:rPr lang="en-IN" dirty="0">
                    <a:solidFill>
                      <a:srgbClr val="C00000"/>
                    </a:solidFill>
                  </a:rPr>
                  <a:t>agent act according to it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3CCE01-F633-4E02-9603-16AF09E99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24740" y="1097280"/>
                <a:ext cx="7275444" cy="5969442"/>
              </a:xfrm>
              <a:blipFill>
                <a:blip r:embed="rId2"/>
                <a:stretch>
                  <a:fillRect l="-251" r="-3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4D7A8-A88A-4BC2-9C91-C4050C5B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5AA6D7A-0F5E-45C6-B25F-E3CCB619D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38410"/>
              </p:ext>
            </p:extLst>
          </p:nvPr>
        </p:nvGraphicFramePr>
        <p:xfrm>
          <a:off x="431800" y="1950095"/>
          <a:ext cx="3036955" cy="2957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391">
                  <a:extLst>
                    <a:ext uri="{9D8B030D-6E8A-4147-A177-3AD203B41FA5}">
                      <a16:colId xmlns:a16="http://schemas.microsoft.com/office/drawing/2014/main" val="1468546449"/>
                    </a:ext>
                  </a:extLst>
                </a:gridCol>
                <a:gridCol w="607391">
                  <a:extLst>
                    <a:ext uri="{9D8B030D-6E8A-4147-A177-3AD203B41FA5}">
                      <a16:colId xmlns:a16="http://schemas.microsoft.com/office/drawing/2014/main" val="620095959"/>
                    </a:ext>
                  </a:extLst>
                </a:gridCol>
                <a:gridCol w="607391">
                  <a:extLst>
                    <a:ext uri="{9D8B030D-6E8A-4147-A177-3AD203B41FA5}">
                      <a16:colId xmlns:a16="http://schemas.microsoft.com/office/drawing/2014/main" val="1765254742"/>
                    </a:ext>
                  </a:extLst>
                </a:gridCol>
                <a:gridCol w="607391">
                  <a:extLst>
                    <a:ext uri="{9D8B030D-6E8A-4147-A177-3AD203B41FA5}">
                      <a16:colId xmlns:a16="http://schemas.microsoft.com/office/drawing/2014/main" val="2596362597"/>
                    </a:ext>
                  </a:extLst>
                </a:gridCol>
                <a:gridCol w="607391">
                  <a:extLst>
                    <a:ext uri="{9D8B030D-6E8A-4147-A177-3AD203B41FA5}">
                      <a16:colId xmlns:a16="http://schemas.microsoft.com/office/drawing/2014/main" val="208703130"/>
                    </a:ext>
                  </a:extLst>
                </a:gridCol>
              </a:tblGrid>
              <a:tr h="59156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30631"/>
                  </a:ext>
                </a:extLst>
              </a:tr>
              <a:tr h="59156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86404"/>
                  </a:ext>
                </a:extLst>
              </a:tr>
              <a:tr h="59156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61502"/>
                  </a:ext>
                </a:extLst>
              </a:tr>
              <a:tr h="59156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106486"/>
                  </a:ext>
                </a:extLst>
              </a:tr>
              <a:tr h="59156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05602"/>
                  </a:ext>
                </a:extLst>
              </a:tr>
            </a:tbl>
          </a:graphicData>
        </a:graphic>
      </p:graphicFrame>
      <p:pic>
        <p:nvPicPr>
          <p:cNvPr id="1028" name="Picture 4" descr="Cute Cartoon Standing Mouse PNG &amp; SVG Design For T-Shirts">
            <a:extLst>
              <a:ext uri="{FF2B5EF4-FFF2-40B4-BE49-F238E27FC236}">
                <a16:creationId xmlns:a16="http://schemas.microsoft.com/office/drawing/2014/main" id="{B4A74425-4DA8-4908-A428-6CDB0C463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2" y="1971999"/>
            <a:ext cx="582358" cy="58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wnload HD Cartoon Mouse Trap Png Transparent PNG Image - NicePNG.com">
            <a:extLst>
              <a:ext uri="{FF2B5EF4-FFF2-40B4-BE49-F238E27FC236}">
                <a16:creationId xmlns:a16="http://schemas.microsoft.com/office/drawing/2014/main" id="{E049B09D-DF61-4CC4-B8CA-23C35BD2D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30" y="3879160"/>
            <a:ext cx="530929" cy="325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heese Cartoon PNGs for Free Download">
            <a:extLst>
              <a:ext uri="{FF2B5EF4-FFF2-40B4-BE49-F238E27FC236}">
                <a16:creationId xmlns:a16="http://schemas.microsoft.com/office/drawing/2014/main" id="{F04294B5-D013-4DDA-A7E3-9121EF2F5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648" y="2653748"/>
            <a:ext cx="460451" cy="36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5F88EB-8853-4ADC-B8C8-0E355695D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0729" y="1950095"/>
            <a:ext cx="566530" cy="56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43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3E5BA-132A-4DA2-8C50-F7C9084A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RL and Language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72FC6E-FFE4-484A-B7B1-642328D17D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4766" y="1097280"/>
                <a:ext cx="10545418" cy="3225581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IN" b="1" dirty="0"/>
                  <a:t>Agent:</a:t>
                </a:r>
                <a:r>
                  <a:rPr lang="en-IN" dirty="0"/>
                  <a:t> The language model itself</a:t>
                </a:r>
              </a:p>
              <a:p>
                <a:r>
                  <a:rPr lang="en-IN" b="1" dirty="0"/>
                  <a:t>State:</a:t>
                </a:r>
                <a:r>
                  <a:rPr lang="en-IN" dirty="0"/>
                  <a:t> the prompt (input token)</a:t>
                </a:r>
              </a:p>
              <a:p>
                <a:r>
                  <a:rPr lang="en-IN" b="1" dirty="0"/>
                  <a:t>Action:</a:t>
                </a:r>
                <a:r>
                  <a:rPr lang="en-IN" dirty="0"/>
                  <a:t> Which token to be selected as the next token</a:t>
                </a:r>
              </a:p>
              <a:p>
                <a:r>
                  <a:rPr lang="en-IN" b="1" dirty="0"/>
                  <a:t>Reward model:</a:t>
                </a:r>
                <a:r>
                  <a:rPr lang="en-IN" dirty="0"/>
                  <a:t> should rewarded for generating ‘</a:t>
                </a:r>
                <a:r>
                  <a:rPr lang="en-IN" dirty="0">
                    <a:solidFill>
                      <a:srgbClr val="158D82"/>
                    </a:solidFill>
                  </a:rPr>
                  <a:t>good response</a:t>
                </a:r>
                <a:r>
                  <a:rPr lang="en-IN" dirty="0"/>
                  <a:t>’ and should not receive any reward for ‘</a:t>
                </a:r>
                <a:r>
                  <a:rPr lang="en-IN" dirty="0">
                    <a:solidFill>
                      <a:srgbClr val="FF0000"/>
                    </a:solidFill>
                  </a:rPr>
                  <a:t>bad response</a:t>
                </a:r>
                <a:r>
                  <a:rPr lang="en-IN" dirty="0"/>
                  <a:t>’</a:t>
                </a:r>
              </a:p>
              <a:p>
                <a:r>
                  <a:rPr lang="en-IN" b="1" dirty="0"/>
                  <a:t>Policy:</a:t>
                </a:r>
                <a:r>
                  <a:rPr lang="en-IN" dirty="0"/>
                  <a:t> the language model itself as it models the probability of the action space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(.|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72FC6E-FFE4-484A-B7B1-642328D17D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4766" y="1097280"/>
                <a:ext cx="10545418" cy="3225581"/>
              </a:xfrm>
              <a:blipFill>
                <a:blip r:embed="rId2"/>
                <a:stretch>
                  <a:fillRect l="-4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441C-A010-4381-BE36-8F223E15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6F8997-12D6-40EF-AA45-96F01B319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871" y="4322861"/>
            <a:ext cx="5829805" cy="2263336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280ACCF1-9F31-494B-97AF-164D590ED353}"/>
              </a:ext>
            </a:extLst>
          </p:cNvPr>
          <p:cNvSpPr/>
          <p:nvPr/>
        </p:nvSpPr>
        <p:spPr>
          <a:xfrm rot="16200000">
            <a:off x="1997764" y="5427419"/>
            <a:ext cx="308689" cy="811565"/>
          </a:xfrm>
          <a:prstGeom prst="leftBrace">
            <a:avLst/>
          </a:prstGeom>
          <a:ln w="15875">
            <a:solidFill>
              <a:srgbClr val="EA9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A7557CE8-FD75-4358-8AA0-F29A78D3209D}"/>
              </a:ext>
            </a:extLst>
          </p:cNvPr>
          <p:cNvSpPr/>
          <p:nvPr/>
        </p:nvSpPr>
        <p:spPr>
          <a:xfrm rot="16200000">
            <a:off x="3409009" y="4933886"/>
            <a:ext cx="308690" cy="1798630"/>
          </a:xfrm>
          <a:prstGeom prst="leftBrace">
            <a:avLst/>
          </a:prstGeom>
          <a:ln w="15875">
            <a:solidFill>
              <a:srgbClr val="EA9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1876E1-C505-498B-8AD5-9F2B5603657A}"/>
              </a:ext>
            </a:extLst>
          </p:cNvPr>
          <p:cNvSpPr txBox="1"/>
          <p:nvPr/>
        </p:nvSpPr>
        <p:spPr>
          <a:xfrm>
            <a:off x="1717533" y="5965426"/>
            <a:ext cx="792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C00000"/>
                </a:solidFill>
              </a:rPr>
              <a:t>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7EF5D-A28F-4C60-B3A4-41401F42DCA7}"/>
              </a:ext>
            </a:extLst>
          </p:cNvPr>
          <p:cNvSpPr txBox="1"/>
          <p:nvPr/>
        </p:nvSpPr>
        <p:spPr>
          <a:xfrm>
            <a:off x="3239830" y="594831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C00000"/>
                </a:solidFill>
              </a:rPr>
              <a:t>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CC57E7-5E6D-4B69-929F-AA5A24B60396}"/>
                  </a:ext>
                </a:extLst>
              </p:cNvPr>
              <p:cNvSpPr txBox="1"/>
              <p:nvPr/>
            </p:nvSpPr>
            <p:spPr>
              <a:xfrm>
                <a:off x="5414342" y="4022254"/>
                <a:ext cx="16325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I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I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(.|</m:t>
                      </m:r>
                      <m:sSub>
                        <m:sSubPr>
                          <m:ctrlPr>
                            <a:rPr lang="en-I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CC57E7-5E6D-4B69-929F-AA5A24B60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42" y="4022254"/>
                <a:ext cx="1632501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8C9D943-D96E-40DB-8951-08A12694E3DE}"/>
              </a:ext>
            </a:extLst>
          </p:cNvPr>
          <p:cNvSpPr txBox="1"/>
          <p:nvPr/>
        </p:nvSpPr>
        <p:spPr>
          <a:xfrm>
            <a:off x="7533860" y="5085197"/>
            <a:ext cx="2993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What is the reward model?</a:t>
            </a:r>
          </a:p>
        </p:txBody>
      </p:sp>
    </p:spTree>
    <p:extLst>
      <p:ext uri="{BB962C8B-B14F-4D97-AF65-F5344CB8AC3E}">
        <p14:creationId xmlns:p14="http://schemas.microsoft.com/office/powerpoint/2010/main" val="263215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3CC8-09E3-4839-A782-5D10BE72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Reward Model for Language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6B248-A93D-4CEB-9E65-C36808A3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89FC12-0F11-4DF9-80D4-1D68226A1F4D}"/>
              </a:ext>
            </a:extLst>
          </p:cNvPr>
          <p:cNvSpPr txBox="1"/>
          <p:nvPr/>
        </p:nvSpPr>
        <p:spPr>
          <a:xfrm>
            <a:off x="854766" y="1133061"/>
            <a:ext cx="104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It is not easy for us to create the reward model, as this would require us to </a:t>
            </a:r>
            <a:r>
              <a:rPr lang="en-IN" dirty="0">
                <a:solidFill>
                  <a:srgbClr val="C00000"/>
                </a:solidFill>
              </a:rPr>
              <a:t>dataset of prompts and </a:t>
            </a:r>
          </a:p>
          <a:p>
            <a:r>
              <a:rPr lang="en-IN" dirty="0">
                <a:solidFill>
                  <a:srgbClr val="C00000"/>
                </a:solidFill>
              </a:rPr>
              <a:t>responses and universally accepted ‘reward’ for each answer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0C4603-0138-4B26-99C3-BB9A226DF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53" y="1835708"/>
            <a:ext cx="10956254" cy="479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02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436C-66B1-4D4E-9245-7090CD83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Reward Model by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1D0AC-7036-4139-9D0C-E896818CD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0D559D-3735-4B14-9BDA-32ED5BBAFD0D}"/>
              </a:ext>
            </a:extLst>
          </p:cNvPr>
          <p:cNvSpPr txBox="1"/>
          <p:nvPr/>
        </p:nvSpPr>
        <p:spPr>
          <a:xfrm>
            <a:off x="1229553" y="1093809"/>
            <a:ext cx="97328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Imagine if we could instead create a dataset of queries and answers and we could </a:t>
            </a:r>
            <a:r>
              <a:rPr lang="en-US" sz="2000" dirty="0">
                <a:solidFill>
                  <a:srgbClr val="C00000"/>
                </a:solidFill>
              </a:rPr>
              <a:t>ask people to just select which one they prefer</a:t>
            </a:r>
            <a:r>
              <a:rPr lang="en-US" sz="2000" dirty="0"/>
              <a:t>. This would be much easier!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DF1C90-AFCC-47C1-96DC-1C952F92F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59" y="2388505"/>
            <a:ext cx="11057891" cy="223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5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3AEA-B158-48CD-B69C-98B50E695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Reward Model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88CD8-2C51-4A81-8E8C-4759303F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A0291A-D992-4369-8BF7-BC987912C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81" y="1377227"/>
            <a:ext cx="10162838" cy="468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23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A6428-DD70-4312-BCA3-0B6BD22F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Reward Model: Loss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6CD54-A483-4A86-8403-E6789C8C7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101C3-BC75-4539-85CE-73AE04B72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140" y="1188664"/>
            <a:ext cx="7837436" cy="8819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CFD1B6-99B5-4032-B9CB-A52F87C148AB}"/>
                  </a:ext>
                </a:extLst>
              </p:cNvPr>
              <p:cNvSpPr txBox="1"/>
              <p:nvPr/>
            </p:nvSpPr>
            <p:spPr>
              <a:xfrm>
                <a:off x="2996648" y="2350605"/>
                <a:ext cx="49253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I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I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func>
                    </m:oMath>
                  </m:oMathPara>
                </a14:m>
                <a:endParaRPr lang="en-IN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CFD1B6-99B5-4032-B9CB-A52F87C14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648" y="2350605"/>
                <a:ext cx="4925387" cy="369332"/>
              </a:xfrm>
              <a:prstGeom prst="rect">
                <a:avLst/>
              </a:prstGeom>
              <a:blipFill>
                <a:blip r:embed="rId3"/>
                <a:stretch>
                  <a:fillRect l="-124" r="-743" b="-3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0B6FD4-7582-4FCE-AAAC-3E0913C71667}"/>
                  </a:ext>
                </a:extLst>
              </p:cNvPr>
              <p:cNvSpPr txBox="1"/>
              <p:nvPr/>
            </p:nvSpPr>
            <p:spPr>
              <a:xfrm>
                <a:off x="5206919" y="1050164"/>
                <a:ext cx="7149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0B6FD4-7582-4FCE-AAAC-3E0913C71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919" y="1050164"/>
                <a:ext cx="714939" cy="276999"/>
              </a:xfrm>
              <a:prstGeom prst="rect">
                <a:avLst/>
              </a:prstGeom>
              <a:blipFill>
                <a:blip r:embed="rId4"/>
                <a:stretch>
                  <a:fillRect l="-4274" r="-11111" b="-34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04BCFE2-93AF-4051-AE44-202BE3284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39055"/>
            <a:ext cx="3201444" cy="25688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92CEC7-CF2B-4440-B31B-7AA083AAC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1463" y="3239055"/>
            <a:ext cx="2640357" cy="26156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88DA54-0B67-413B-A644-85279766CCAC}"/>
                  </a:ext>
                </a:extLst>
              </p:cNvPr>
              <p:cNvSpPr txBox="1"/>
              <p:nvPr/>
            </p:nvSpPr>
            <p:spPr>
              <a:xfrm>
                <a:off x="3747052" y="3429000"/>
                <a:ext cx="4810539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000" dirty="0">
                    <a:sym typeface="Wingdings" panose="05000000000000000000" pitchFamily="2" charset="2"/>
                  </a:rPr>
                  <a:t></a:t>
                </a:r>
                <a:r>
                  <a:rPr lang="en-US" sz="2000" dirty="0"/>
                  <a:t> Sigmoid will return a value &gt; 0.5 </a:t>
                </a:r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  <a:r>
                  <a:rPr lang="en-US" sz="2000" dirty="0"/>
                  <a:t>Loss will be a small number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endParaRPr lang="en-IN" sz="2000" dirty="0"/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000" dirty="0">
                    <a:sym typeface="Wingdings" panose="05000000000000000000" pitchFamily="2" charset="2"/>
                  </a:rPr>
                  <a:t></a:t>
                </a:r>
                <a:r>
                  <a:rPr lang="en-US" sz="2000" dirty="0"/>
                  <a:t> Sigmoid will return a value &lt; 0.5 </a:t>
                </a:r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  <a:r>
                  <a:rPr lang="en-US" sz="2000" dirty="0"/>
                  <a:t>Loss will be a large number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endParaRPr lang="en-IN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88DA54-0B67-413B-A644-85279766C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052" y="3429000"/>
                <a:ext cx="4810539" cy="2554545"/>
              </a:xfrm>
              <a:prstGeom prst="rect">
                <a:avLst/>
              </a:prstGeom>
              <a:blipFill>
                <a:blip r:embed="rId7"/>
                <a:stretch>
                  <a:fillRect l="-1141" t="-14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B9EA977-6EA0-4630-85F5-BE16EAC059F2}"/>
              </a:ext>
            </a:extLst>
          </p:cNvPr>
          <p:cNvSpPr txBox="1"/>
          <p:nvPr/>
        </p:nvSpPr>
        <p:spPr>
          <a:xfrm>
            <a:off x="960603" y="6034434"/>
            <a:ext cx="103834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loss forces the model to </a:t>
            </a:r>
            <a:r>
              <a:rPr lang="en-US" dirty="0">
                <a:solidFill>
                  <a:srgbClr val="C00000"/>
                </a:solidFill>
              </a:rPr>
              <a:t>give high rewards to “winning” responses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low rewards to “losing” responses</a:t>
            </a:r>
            <a:r>
              <a:rPr lang="en-US" dirty="0"/>
              <a:t>, because that’s the only way for the model to minimize the loss.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6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DFEA-8198-4275-A017-85B7EC032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RL: Trajectories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88E371-9B90-419B-92E5-FA65E2D59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Goal in RL is to select a policy which </a:t>
                </a:r>
                <a:r>
                  <a:rPr lang="en-US" dirty="0">
                    <a:solidFill>
                      <a:srgbClr val="C00000"/>
                    </a:solidFill>
                  </a:rPr>
                  <a:t>maximizes the expected return </a:t>
                </a:r>
                <a:r>
                  <a:rPr lang="en-US" dirty="0"/>
                  <a:t>when the agent acts according to it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lim>
                        </m:limLow>
                      </m:fNam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IN" b="0" dirty="0"/>
              </a:p>
              <a:p>
                <a:r>
                  <a:rPr lang="en-US" dirty="0"/>
                  <a:t>The expected return of a policy is the </a:t>
                </a:r>
                <a:r>
                  <a:rPr lang="en-US" dirty="0">
                    <a:solidFill>
                      <a:srgbClr val="C00000"/>
                    </a:solidFill>
                  </a:rPr>
                  <a:t>expected return over all possible trajectories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b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r>
                  <a:rPr lang="en-IN" dirty="0"/>
                  <a:t>What is a trajectory?</a:t>
                </a:r>
              </a:p>
              <a:p>
                <a:pPr lvl="1"/>
                <a:r>
                  <a:rPr lang="en-IN" dirty="0"/>
                  <a:t>A series of </a:t>
                </a:r>
                <a:r>
                  <a:rPr lang="en-US" dirty="0"/>
                  <a:t>(action, state), starting from an initial state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…)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88E371-9B90-419B-92E5-FA65E2D59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9" b="-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292E7-843F-41D2-BDE3-DC477038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286390-B058-4DD4-BA3F-2252D93F9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623" y="3511558"/>
            <a:ext cx="2883849" cy="276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1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85F4-8462-4B04-9699-DD807DAA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RL: Trajectories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3C2BC2-5F0C-49D6-8450-FF1BD4625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Transition model: </a:t>
                </a:r>
                <a:r>
                  <a:rPr lang="en-US" dirty="0"/>
                  <a:t>model the next state as being stochastic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(.|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r>
                  <a:rPr lang="en-US" dirty="0"/>
                  <a:t>Discounted rewards (we </a:t>
                </a:r>
                <a:r>
                  <a:rPr lang="en-US" dirty="0">
                    <a:solidFill>
                      <a:srgbClr val="C00000"/>
                    </a:solidFill>
                  </a:rPr>
                  <a:t>prefer immediate rewards </a:t>
                </a:r>
                <a:r>
                  <a:rPr lang="en-US" dirty="0"/>
                  <a:t>instead of future)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en-IN" dirty="0"/>
              </a:p>
              <a:p>
                <a:r>
                  <a:rPr lang="en-IN" dirty="0"/>
                  <a:t>Probability of a trajectory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∏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IN" dirty="0"/>
              </a:p>
              <a:p>
                <a:pPr lvl="1"/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3C2BC2-5F0C-49D6-8450-FF1BD4625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 r="-289" b="-8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AF2E7-5747-45C3-8A3A-2606A54C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CFABB-832C-4A6A-880C-FD7E22025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924" y="3374742"/>
            <a:ext cx="3026459" cy="290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8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DEA2F-2A7F-47D4-9765-0ACB80F2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Trajectories in Language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F9E8C6-1822-43BA-BCED-AF39C8743E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4766" y="1097281"/>
                <a:ext cx="10545418" cy="233172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We want to fine-tune the language model so that it selects the next token in such a way as to maximize the reward it gets</a:t>
                </a:r>
              </a:p>
              <a:p>
                <a:r>
                  <a:rPr lang="en-US" dirty="0"/>
                  <a:t>What is a trajectory in language model?</a:t>
                </a:r>
              </a:p>
              <a:p>
                <a:pPr lvl="1"/>
                <a:r>
                  <a:rPr lang="en-US" dirty="0"/>
                  <a:t>It is a series of prompts (state) and their next tokens (actions)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…)</m:t>
                    </m:r>
                  </m:oMath>
                </a14:m>
                <a:endParaRPr lang="en-IN" dirty="0"/>
              </a:p>
              <a:p>
                <a:pPr marL="360000" lvl="1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F9E8C6-1822-43BA-BCED-AF39C8743E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4766" y="1097281"/>
                <a:ext cx="10545418" cy="2331720"/>
              </a:xfrm>
              <a:blipFill>
                <a:blip r:embed="rId2"/>
                <a:stretch>
                  <a:fillRect l="-5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FCB8D-7AE2-4C9F-AADD-D4D445C1C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BE15D-D6D5-4130-831C-55BA3ED82D22}"/>
              </a:ext>
            </a:extLst>
          </p:cNvPr>
          <p:cNvSpPr txBox="1"/>
          <p:nvPr/>
        </p:nvSpPr>
        <p:spPr>
          <a:xfrm>
            <a:off x="2673626" y="3588026"/>
            <a:ext cx="2274693" cy="400110"/>
          </a:xfrm>
          <a:prstGeom prst="rect">
            <a:avLst/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Where is Kolkata?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F5B89-99C7-450B-A99E-808689775864}"/>
              </a:ext>
            </a:extLst>
          </p:cNvPr>
          <p:cNvSpPr txBox="1"/>
          <p:nvPr/>
        </p:nvSpPr>
        <p:spPr>
          <a:xfrm>
            <a:off x="5585788" y="3577295"/>
            <a:ext cx="1151150" cy="400110"/>
          </a:xfrm>
          <a:prstGeom prst="rect">
            <a:avLst/>
          </a:prstGeom>
          <a:solidFill>
            <a:srgbClr val="00B050">
              <a:alpha val="47000"/>
            </a:srgbClr>
          </a:solidFill>
        </p:spPr>
        <p:txBody>
          <a:bodyPr wrap="square">
            <a:spAutoFit/>
          </a:bodyPr>
          <a:lstStyle/>
          <a:p>
            <a:r>
              <a:rPr lang="en-IN" sz="2000" dirty="0"/>
              <a:t>Kolkata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466B51-418F-4C9C-B078-480B9DB8840F}"/>
              </a:ext>
            </a:extLst>
          </p:cNvPr>
          <p:cNvSpPr txBox="1"/>
          <p:nvPr/>
        </p:nvSpPr>
        <p:spPr>
          <a:xfrm>
            <a:off x="6980578" y="3577295"/>
            <a:ext cx="438007" cy="400110"/>
          </a:xfrm>
          <a:prstGeom prst="rect">
            <a:avLst/>
          </a:prstGeom>
          <a:solidFill>
            <a:srgbClr val="C00000">
              <a:alpha val="47000"/>
            </a:srgbClr>
          </a:solidFill>
        </p:spPr>
        <p:txBody>
          <a:bodyPr wrap="square">
            <a:spAutoFit/>
          </a:bodyPr>
          <a:lstStyle/>
          <a:p>
            <a:r>
              <a:rPr lang="en-IN" sz="2000" dirty="0"/>
              <a:t>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46400E-8BC7-4CD2-B952-09772F66332C}"/>
              </a:ext>
            </a:extLst>
          </p:cNvPr>
          <p:cNvSpPr txBox="1"/>
          <p:nvPr/>
        </p:nvSpPr>
        <p:spPr>
          <a:xfrm>
            <a:off x="7683769" y="3588026"/>
            <a:ext cx="438007" cy="400110"/>
          </a:xfrm>
          <a:prstGeom prst="rect">
            <a:avLst/>
          </a:prstGeom>
          <a:solidFill>
            <a:schemeClr val="accent6">
              <a:lumMod val="75000"/>
              <a:alpha val="47000"/>
            </a:schemeClr>
          </a:solidFill>
        </p:spPr>
        <p:txBody>
          <a:bodyPr wrap="square">
            <a:spAutoFit/>
          </a:bodyPr>
          <a:lstStyle/>
          <a:p>
            <a:r>
              <a:rPr lang="en-IN" sz="2000" dirty="0"/>
              <a:t>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C70221-1AC9-455E-B53D-77BD45C0217D}"/>
              </a:ext>
            </a:extLst>
          </p:cNvPr>
          <p:cNvSpPr txBox="1"/>
          <p:nvPr/>
        </p:nvSpPr>
        <p:spPr>
          <a:xfrm>
            <a:off x="8417607" y="3577295"/>
            <a:ext cx="795958" cy="400110"/>
          </a:xfrm>
          <a:prstGeom prst="rect">
            <a:avLst/>
          </a:prstGeom>
          <a:solidFill>
            <a:schemeClr val="accent4">
              <a:lumMod val="75000"/>
              <a:alpha val="47000"/>
            </a:schemeClr>
          </a:solidFill>
        </p:spPr>
        <p:txBody>
          <a:bodyPr wrap="square">
            <a:spAutoFit/>
          </a:bodyPr>
          <a:lstStyle/>
          <a:p>
            <a:r>
              <a:rPr lang="en-IN" sz="2000" dirty="0"/>
              <a:t>India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4B6C84-17AD-41E7-AF02-BCC643C4A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972" y="4136430"/>
            <a:ext cx="2453853" cy="3124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CB5F3D-3029-4FB3-BA97-216E64842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7193" y="4502891"/>
            <a:ext cx="4732430" cy="4648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792897A-CF6D-4E8D-A3AB-8E447E5FB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627" y="5001096"/>
            <a:ext cx="5456393" cy="5410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039386F-73FE-4B4B-A803-B658081847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5627" y="5704179"/>
            <a:ext cx="6439458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59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A2B4-194E-43D6-8753-FDDA7874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Policy Gradient Optimization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044AC-9693-4095-920D-D73470450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We have a policy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, parameterized by parameters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IN" dirty="0"/>
              </a:p>
              <a:p>
                <a:r>
                  <a:rPr lang="en-US" dirty="0"/>
                  <a:t>We want to update the parameters of the policy to maximize the expected return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)]</m:t>
                    </m:r>
                  </m:oMath>
                </a14:m>
                <a:endParaRPr lang="en-IN" dirty="0"/>
              </a:p>
              <a:p>
                <a:r>
                  <a:rPr lang="en-US" dirty="0"/>
                  <a:t>Change the parameters of the policy network iteratively to  maximize a loss function (</a:t>
                </a:r>
                <a:r>
                  <a:rPr lang="en-IN" dirty="0"/>
                  <a:t>Stochastic Gradient Ascent</a:t>
                </a:r>
                <a:r>
                  <a:rPr lang="en-U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r>
                  <a:rPr lang="en-IN" dirty="0"/>
                  <a:t>Computationally intractable</a:t>
                </a:r>
              </a:p>
              <a:p>
                <a:pPr lvl="1"/>
                <a:r>
                  <a:rPr lang="en-US" dirty="0"/>
                  <a:t>To calculate the gradient, we would need to </a:t>
                </a:r>
                <a:r>
                  <a:rPr lang="en-US" dirty="0">
                    <a:solidFill>
                      <a:srgbClr val="C00000"/>
                    </a:solidFill>
                  </a:rPr>
                  <a:t>evaluate it over all the possible trajectories</a:t>
                </a:r>
                <a:endParaRPr lang="en-IN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044AC-9693-4095-920D-D73470450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6" r="-1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2F74D-14CE-40E9-9557-71F8C4CD2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4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3325C-BE2D-496A-8BE2-01A7890B1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Policy Gradient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775AB-2830-41EB-9981-029159456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9A03E-FEFE-4842-B969-67A3BE2B7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86" y="963468"/>
            <a:ext cx="2842506" cy="5334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BD4163-CB12-4764-A0FD-145D681C0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927" y="1508376"/>
            <a:ext cx="2324301" cy="6477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F57874-CCCE-4705-A216-576871834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210" y="2156132"/>
            <a:ext cx="2217612" cy="6553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776481-44E7-4F68-BD3B-36356A3B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866" y="2890966"/>
            <a:ext cx="3406435" cy="5944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1C2084-E733-4833-9396-1BF50949982A}"/>
                  </a:ext>
                </a:extLst>
              </p:cNvPr>
              <p:cNvSpPr txBox="1"/>
              <p:nvPr/>
            </p:nvSpPr>
            <p:spPr>
              <a:xfrm>
                <a:off x="7250595" y="1109509"/>
                <a:ext cx="3632533" cy="6217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0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0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2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r>
                                <a:rPr lang="en-IN" sz="2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IN" sz="2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IN" sz="20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e>
                                  <m:r>
                                    <a:rPr lang="en-IN" sz="20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000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sz="20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1C2084-E733-4833-9396-1BF509499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595" y="1109509"/>
                <a:ext cx="3632533" cy="6217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5EA4A3-88D9-4086-958D-33F4C11AC4CC}"/>
                  </a:ext>
                </a:extLst>
              </p:cNvPr>
              <p:cNvSpPr txBox="1"/>
              <p:nvPr/>
            </p:nvSpPr>
            <p:spPr>
              <a:xfrm>
                <a:off x="7250595" y="1819836"/>
                <a:ext cx="356033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0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IN" sz="20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e>
                          <m:r>
                            <a:rPr lang="en-IN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e>
                          <m: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sSub>
                        <m:sSubPr>
                          <m:ctrlPr>
                            <a:rPr lang="en-IN" sz="20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0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N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IN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5EA4A3-88D9-4086-958D-33F4C11AC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595" y="1819836"/>
                <a:ext cx="3560334" cy="307777"/>
              </a:xfrm>
              <a:prstGeom prst="rect">
                <a:avLst/>
              </a:prstGeom>
              <a:blipFill>
                <a:blip r:embed="rId7"/>
                <a:stretch>
                  <a:fillRect l="-1027" t="-2000" r="-2055" b="-3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54E757DB-EE9E-48F3-83A9-827CAC8270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1866" y="3729935"/>
            <a:ext cx="2949196" cy="4267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189B688-46B9-4426-A62D-390B8825A4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147" y="4220212"/>
            <a:ext cx="4740051" cy="92972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20F52C-F29B-462D-A6D1-B4667509CED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94092" y="2811509"/>
            <a:ext cx="5862237" cy="19501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5D7D10-4907-4037-B6F2-6358D2E79EE1}"/>
                  </a:ext>
                </a:extLst>
              </p:cNvPr>
              <p:cNvSpPr txBox="1"/>
              <p:nvPr/>
            </p:nvSpPr>
            <p:spPr>
              <a:xfrm>
                <a:off x="280555" y="5226627"/>
                <a:ext cx="65529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Approximate expectation with sample mean of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IN" dirty="0"/>
                  <a:t> trajectories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5D7D10-4907-4037-B6F2-6358D2E79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55" y="5226627"/>
                <a:ext cx="6552948" cy="369332"/>
              </a:xfrm>
              <a:prstGeom prst="rect">
                <a:avLst/>
              </a:prstGeom>
              <a:blipFill>
                <a:blip r:embed="rId11"/>
                <a:stretch>
                  <a:fillRect l="-744" t="-6557" r="-93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E74EC4CC-925F-4208-BDC6-F39D532EAC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22543" y="5736818"/>
            <a:ext cx="4294865" cy="94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08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2CE46-80BB-4A39-963E-018079837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Policy Gradient Optimization: REINFORCE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A2A6-8CC2-4C12-A791-C35F550BA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Create a neural network that defines a policy</a:t>
            </a:r>
          </a:p>
          <a:p>
            <a:pPr marL="342900" lvl="1" indent="0">
              <a:buNone/>
            </a:pPr>
            <a:r>
              <a:rPr lang="en-US" dirty="0"/>
              <a:t>   (takes an input the current state of the agent and outputs the probability   </a:t>
            </a:r>
            <a:br>
              <a:rPr lang="en-US" dirty="0"/>
            </a:br>
            <a:r>
              <a:rPr lang="en-US" dirty="0"/>
              <a:t>    over the action space)</a:t>
            </a:r>
          </a:p>
          <a:p>
            <a:pPr marL="514350" indent="-514350">
              <a:buAutoNum type="arabicPeriod"/>
            </a:pPr>
            <a:r>
              <a:rPr lang="en-US" dirty="0"/>
              <a:t>Use the network to sample trajectories and their corresponding rewards</a:t>
            </a:r>
          </a:p>
          <a:p>
            <a:pPr marL="514350" indent="-514350">
              <a:buAutoNum type="arabicPeriod"/>
            </a:pPr>
            <a:r>
              <a:rPr lang="en-US" dirty="0"/>
              <a:t>Use the sample to calculate the gradient</a:t>
            </a:r>
          </a:p>
          <a:p>
            <a:pPr marL="514350" indent="-514350">
              <a:buAutoNum type="arabicPeriod"/>
            </a:pPr>
            <a:r>
              <a:rPr lang="en-US" dirty="0"/>
              <a:t>Run stochastic gradient ascent to update the parameters of the policy/network</a:t>
            </a:r>
          </a:p>
          <a:p>
            <a:pPr marL="514350" indent="-514350">
              <a:buAutoNum type="arabicPeriod"/>
            </a:pPr>
            <a:r>
              <a:rPr lang="en-IN" dirty="0"/>
              <a:t>Go back to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5C098-86B3-45B0-92FE-7184C334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4FA9F-D805-43F5-B68B-5BF6A0938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645" y="3687764"/>
            <a:ext cx="3828091" cy="8842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72C2DC-5D44-4386-B662-CE28F3A83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401" y="5070052"/>
            <a:ext cx="3206269" cy="50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26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6DA5-F523-41D2-94D0-4DE1BEB8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Trajectories in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B6B20-9E7D-4EEA-BEBB-949E5C464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Preference data to train reward model</a:t>
            </a:r>
          </a:p>
          <a:p>
            <a:r>
              <a:rPr lang="en-IN" dirty="0"/>
              <a:t>Trajectory generation</a:t>
            </a:r>
          </a:p>
          <a:p>
            <a:pPr lvl="1"/>
            <a:r>
              <a:rPr lang="en-IN" dirty="0"/>
              <a:t>Ask question picked up from the dataset</a:t>
            </a:r>
          </a:p>
          <a:p>
            <a:pPr lvl="1"/>
            <a:r>
              <a:rPr lang="en-IN" dirty="0"/>
              <a:t>Generate answer from the LLM</a:t>
            </a:r>
          </a:p>
          <a:p>
            <a:pPr lvl="1"/>
            <a:r>
              <a:rPr lang="en-IN" dirty="0"/>
              <a:t>Calculate reward using the reward model</a:t>
            </a:r>
          </a:p>
          <a:p>
            <a:r>
              <a:rPr lang="en-IN" dirty="0"/>
              <a:t>Train the models with the generated trajectory</a:t>
            </a:r>
          </a:p>
          <a:p>
            <a:r>
              <a:rPr lang="en-IN" dirty="0"/>
              <a:t>Text generation</a:t>
            </a:r>
          </a:p>
          <a:p>
            <a:pPr lvl="1"/>
            <a:r>
              <a:rPr lang="en-IN" dirty="0"/>
              <a:t>Series of prompt, next token (state, action)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B1B09-AA1E-46DD-8C20-B1810F5E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C707-6536-470D-A072-A318941B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Trajectory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75616-534A-4FC2-BC4F-41EBC41C5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44F4A-CA1E-478D-A57D-30D16C927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446" y="1025225"/>
            <a:ext cx="3754527" cy="8249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256B7D-CC63-431C-93D7-9649F957C6F2}"/>
              </a:ext>
            </a:extLst>
          </p:cNvPr>
          <p:cNvSpPr/>
          <p:nvPr/>
        </p:nvSpPr>
        <p:spPr>
          <a:xfrm>
            <a:off x="427383" y="6281526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305C3-3EDF-4FE4-B8CC-18FA074DDFE2}"/>
              </a:ext>
            </a:extLst>
          </p:cNvPr>
          <p:cNvSpPr/>
          <p:nvPr/>
        </p:nvSpPr>
        <p:spPr>
          <a:xfrm>
            <a:off x="1374920" y="6281525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F11C0-20FA-46A6-A211-6572D094AB76}"/>
              </a:ext>
            </a:extLst>
          </p:cNvPr>
          <p:cNvSpPr/>
          <p:nvPr/>
        </p:nvSpPr>
        <p:spPr>
          <a:xfrm>
            <a:off x="2322450" y="6287241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28B00-D04F-46D3-942E-B3A0B1802C2F}"/>
              </a:ext>
            </a:extLst>
          </p:cNvPr>
          <p:cNvSpPr/>
          <p:nvPr/>
        </p:nvSpPr>
        <p:spPr>
          <a:xfrm>
            <a:off x="3279922" y="6287240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1C710E-3754-4B31-A175-6469BBDC0DBB}"/>
              </a:ext>
            </a:extLst>
          </p:cNvPr>
          <p:cNvSpPr/>
          <p:nvPr/>
        </p:nvSpPr>
        <p:spPr>
          <a:xfrm>
            <a:off x="4227452" y="6275811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B0B97C-1DFF-4A39-9469-4F1CC0B26BB4}"/>
              </a:ext>
            </a:extLst>
          </p:cNvPr>
          <p:cNvSpPr/>
          <p:nvPr/>
        </p:nvSpPr>
        <p:spPr>
          <a:xfrm>
            <a:off x="5184923" y="6275810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FEE3C-E11F-4DCE-BED2-DC02E14D5BFD}"/>
              </a:ext>
            </a:extLst>
          </p:cNvPr>
          <p:cNvSpPr/>
          <p:nvPr/>
        </p:nvSpPr>
        <p:spPr>
          <a:xfrm>
            <a:off x="6132458" y="6281526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FE1462-5B41-4902-816A-C6D5DC314028}"/>
              </a:ext>
            </a:extLst>
          </p:cNvPr>
          <p:cNvSpPr/>
          <p:nvPr/>
        </p:nvSpPr>
        <p:spPr>
          <a:xfrm>
            <a:off x="7089930" y="6281525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B795BC-3D4C-49DB-BC2D-7ABFADA5FDBF}"/>
                  </a:ext>
                </a:extLst>
              </p:cNvPr>
              <p:cNvSpPr/>
              <p:nvPr/>
            </p:nvSpPr>
            <p:spPr>
              <a:xfrm>
                <a:off x="427383" y="4959622"/>
                <a:ext cx="7474234" cy="87464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/>
                  <a:t>Language Model (Policy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2800" dirty="0"/>
                  <a:t>)</a:t>
                </a: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B795BC-3D4C-49DB-BC2D-7ABFADA5F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83" y="4959622"/>
                <a:ext cx="7474234" cy="8746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2DE2DB-397A-484A-939F-D16E33A65DB1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33227" y="5834266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3AA7E2-3C1C-4211-B89C-E99C2CB090E8}"/>
              </a:ext>
            </a:extLst>
          </p:cNvPr>
          <p:cNvCxnSpPr>
            <a:cxnSpLocks/>
          </p:cNvCxnSpPr>
          <p:nvPr/>
        </p:nvCxnSpPr>
        <p:spPr>
          <a:xfrm flipV="1">
            <a:off x="1780757" y="5838489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C85BD3-DFE5-4D9F-9CC3-EE03F73CF9BA}"/>
              </a:ext>
            </a:extLst>
          </p:cNvPr>
          <p:cNvCxnSpPr>
            <a:cxnSpLocks/>
          </p:cNvCxnSpPr>
          <p:nvPr/>
        </p:nvCxnSpPr>
        <p:spPr>
          <a:xfrm flipV="1">
            <a:off x="2752291" y="5834266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64FCBC-1606-4F75-B9FA-84760A04CD4C}"/>
              </a:ext>
            </a:extLst>
          </p:cNvPr>
          <p:cNvCxnSpPr>
            <a:cxnSpLocks/>
          </p:cNvCxnSpPr>
          <p:nvPr/>
        </p:nvCxnSpPr>
        <p:spPr>
          <a:xfrm flipV="1">
            <a:off x="3699821" y="5838489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00E237-90CE-471E-AB8F-7E2B32F1216F}"/>
              </a:ext>
            </a:extLst>
          </p:cNvPr>
          <p:cNvCxnSpPr>
            <a:cxnSpLocks/>
          </p:cNvCxnSpPr>
          <p:nvPr/>
        </p:nvCxnSpPr>
        <p:spPr>
          <a:xfrm flipV="1">
            <a:off x="4663105" y="5838489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E9DFDE-4A52-4B78-A5F8-EC99D7D648EF}"/>
              </a:ext>
            </a:extLst>
          </p:cNvPr>
          <p:cNvCxnSpPr>
            <a:cxnSpLocks/>
          </p:cNvCxnSpPr>
          <p:nvPr/>
        </p:nvCxnSpPr>
        <p:spPr>
          <a:xfrm flipV="1">
            <a:off x="5610635" y="5842712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B435A9C-02D6-4301-989F-002260519BA2}"/>
              </a:ext>
            </a:extLst>
          </p:cNvPr>
          <p:cNvCxnSpPr>
            <a:cxnSpLocks/>
          </p:cNvCxnSpPr>
          <p:nvPr/>
        </p:nvCxnSpPr>
        <p:spPr>
          <a:xfrm flipV="1">
            <a:off x="6582169" y="5838489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4F1D546-6F78-4408-BEA8-6BFCC3B2D8BE}"/>
              </a:ext>
            </a:extLst>
          </p:cNvPr>
          <p:cNvCxnSpPr>
            <a:cxnSpLocks/>
          </p:cNvCxnSpPr>
          <p:nvPr/>
        </p:nvCxnSpPr>
        <p:spPr>
          <a:xfrm flipV="1">
            <a:off x="7529699" y="5842712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7A48898-BBD2-4232-A50F-43132775AE75}"/>
                  </a:ext>
                </a:extLst>
              </p:cNvPr>
              <p:cNvSpPr/>
              <p:nvPr/>
            </p:nvSpPr>
            <p:spPr>
              <a:xfrm>
                <a:off x="427383" y="4287070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7A48898-BBD2-4232-A50F-43132775AE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83" y="4287070"/>
                <a:ext cx="811687" cy="384183"/>
              </a:xfrm>
              <a:prstGeom prst="rect">
                <a:avLst/>
              </a:prstGeom>
              <a:blipFill>
                <a:blip r:embed="rId4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9B0A573-027C-4E29-B08D-CCEBC26C4879}"/>
                  </a:ext>
                </a:extLst>
              </p:cNvPr>
              <p:cNvSpPr/>
              <p:nvPr/>
            </p:nvSpPr>
            <p:spPr>
              <a:xfrm>
                <a:off x="1374920" y="4287069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9B0A573-027C-4E29-B08D-CCEBC26C48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920" y="4287069"/>
                <a:ext cx="811687" cy="384183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9E44EC3-9789-4E1C-A8B5-831456D8B1FA}"/>
                  </a:ext>
                </a:extLst>
              </p:cNvPr>
              <p:cNvSpPr/>
              <p:nvPr/>
            </p:nvSpPr>
            <p:spPr>
              <a:xfrm>
                <a:off x="2322450" y="4292785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9E44EC3-9789-4E1C-A8B5-831456D8B1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450" y="4292785"/>
                <a:ext cx="811687" cy="384183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859ACD6-2D02-41FF-B819-BF3FD8AD7DEC}"/>
                  </a:ext>
                </a:extLst>
              </p:cNvPr>
              <p:cNvSpPr/>
              <p:nvPr/>
            </p:nvSpPr>
            <p:spPr>
              <a:xfrm>
                <a:off x="3279922" y="4292784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859ACD6-2D02-41FF-B819-BF3FD8AD7D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922" y="4292784"/>
                <a:ext cx="811687" cy="384183"/>
              </a:xfrm>
              <a:prstGeom prst="rect">
                <a:avLst/>
              </a:prstGeom>
              <a:blipFill>
                <a:blip r:embed="rId7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E6305CB-03CB-47EC-80EF-784A7BC9AC24}"/>
                  </a:ext>
                </a:extLst>
              </p:cNvPr>
              <p:cNvSpPr/>
              <p:nvPr/>
            </p:nvSpPr>
            <p:spPr>
              <a:xfrm>
                <a:off x="4227452" y="4281355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E6305CB-03CB-47EC-80EF-784A7BC9A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452" y="4281355"/>
                <a:ext cx="811687" cy="384183"/>
              </a:xfrm>
              <a:prstGeom prst="rect">
                <a:avLst/>
              </a:prstGeom>
              <a:blipFill>
                <a:blip r:embed="rId8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BB3C9AD-1A32-4FB0-92E4-3777D475BF69}"/>
                  </a:ext>
                </a:extLst>
              </p:cNvPr>
              <p:cNvSpPr/>
              <p:nvPr/>
            </p:nvSpPr>
            <p:spPr>
              <a:xfrm>
                <a:off x="5184923" y="4281354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BB3C9AD-1A32-4FB0-92E4-3777D475BF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923" y="4281354"/>
                <a:ext cx="811687" cy="3841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722A760-3DC6-4C9E-A545-B3D484812C65}"/>
                  </a:ext>
                </a:extLst>
              </p:cNvPr>
              <p:cNvSpPr/>
              <p:nvPr/>
            </p:nvSpPr>
            <p:spPr>
              <a:xfrm>
                <a:off x="6132458" y="4287070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722A760-3DC6-4C9E-A545-B3D484812C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458" y="4287070"/>
                <a:ext cx="811687" cy="3841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BDF7B46-2FA4-4B2E-BB66-22FEDD6EB562}"/>
                  </a:ext>
                </a:extLst>
              </p:cNvPr>
              <p:cNvSpPr/>
              <p:nvPr/>
            </p:nvSpPr>
            <p:spPr>
              <a:xfrm>
                <a:off x="7089930" y="4287069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BDF7B46-2FA4-4B2E-BB66-22FEDD6EB5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930" y="4287069"/>
                <a:ext cx="811687" cy="3841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D159902B-77EC-4A57-B229-D9BC753819C8}"/>
              </a:ext>
            </a:extLst>
          </p:cNvPr>
          <p:cNvGrpSpPr/>
          <p:nvPr/>
        </p:nvGrpSpPr>
        <p:grpSpPr>
          <a:xfrm>
            <a:off x="831566" y="4671390"/>
            <a:ext cx="6696472" cy="288231"/>
            <a:chOff x="831566" y="4503916"/>
            <a:chExt cx="6696472" cy="455706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3FDBF70-CE72-44FD-89A7-D24E9773DA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66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7813136-CC5F-414D-B5A4-F7FD4663A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096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4B90BCF-F274-4AAA-BCF2-3760BBD67B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0630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0EB66BD-66B2-4E59-8A67-C3E747DE8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160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9C90D89-748D-42DD-B08E-27895E396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D6AEBED-2FA0-48EB-BD69-3FBA02FED6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C3D8EF3-F498-457E-9990-F355117C1F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90C84ED-880B-4751-9794-831725838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75DF83FB-0C49-40EF-A831-2D13B9FC1087}"/>
              </a:ext>
            </a:extLst>
          </p:cNvPr>
          <p:cNvSpPr/>
          <p:nvPr/>
        </p:nvSpPr>
        <p:spPr>
          <a:xfrm>
            <a:off x="459647" y="3619908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p1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9C7652C-3E18-4F30-8AB2-B8CC0E440A21}"/>
              </a:ext>
            </a:extLst>
          </p:cNvPr>
          <p:cNvSpPr/>
          <p:nvPr/>
        </p:nvSpPr>
        <p:spPr>
          <a:xfrm>
            <a:off x="1407184" y="3619907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p2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E13B40E-1EFE-469F-B6C3-E296346EF58C}"/>
              </a:ext>
            </a:extLst>
          </p:cNvPr>
          <p:cNvSpPr/>
          <p:nvPr/>
        </p:nvSpPr>
        <p:spPr>
          <a:xfrm>
            <a:off x="2354714" y="3625623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p3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CA44506-6CEE-4B15-9E8B-1412B25846A2}"/>
              </a:ext>
            </a:extLst>
          </p:cNvPr>
          <p:cNvSpPr/>
          <p:nvPr/>
        </p:nvSpPr>
        <p:spPr>
          <a:xfrm>
            <a:off x="3312186" y="3625622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p4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70FF755-505F-41EC-827E-17AE4A3D98F4}"/>
              </a:ext>
            </a:extLst>
          </p:cNvPr>
          <p:cNvSpPr/>
          <p:nvPr/>
        </p:nvSpPr>
        <p:spPr>
          <a:xfrm>
            <a:off x="4259716" y="3614193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p5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7B52C2C-45BD-47D3-A4B0-E048FF6E2AEB}"/>
              </a:ext>
            </a:extLst>
          </p:cNvPr>
          <p:cNvSpPr/>
          <p:nvPr/>
        </p:nvSpPr>
        <p:spPr>
          <a:xfrm>
            <a:off x="5217187" y="3614192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0C4014-83B7-4BF9-B2F5-106801FA4903}"/>
              </a:ext>
            </a:extLst>
          </p:cNvPr>
          <p:cNvSpPr/>
          <p:nvPr/>
        </p:nvSpPr>
        <p:spPr>
          <a:xfrm>
            <a:off x="6164722" y="3619908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5DC5A18-2CF0-4E99-A197-F0AE3BCA40D1}"/>
              </a:ext>
            </a:extLst>
          </p:cNvPr>
          <p:cNvSpPr/>
          <p:nvPr/>
        </p:nvSpPr>
        <p:spPr>
          <a:xfrm>
            <a:off x="7122194" y="3619907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a3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E1D7D1B-06D2-4E82-86B2-6D80B839BFF5}"/>
              </a:ext>
            </a:extLst>
          </p:cNvPr>
          <p:cNvGrpSpPr/>
          <p:nvPr/>
        </p:nvGrpSpPr>
        <p:grpSpPr>
          <a:xfrm>
            <a:off x="815010" y="3999757"/>
            <a:ext cx="6696472" cy="288231"/>
            <a:chOff x="831566" y="4503916"/>
            <a:chExt cx="6696472" cy="455706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723B74F-704C-447E-B89B-C7BDE6169E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66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096B4AC-57C3-4BC8-B5F3-2CF4B7557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096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5AB33C3-22AF-45CD-9020-0525264980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0630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A14FD5DA-79F1-411C-8329-C1D0951F72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160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09EA2F5-C414-4E8C-8E10-321CD2023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62BF7296-C716-440B-ADDB-53EB77F2D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9EB0FA9B-79A3-42EB-BC87-C019844BF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C6B76BE-A8BF-4881-AAF6-11D2DB5EAD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9DABDC2A-1D9A-405E-8945-852EA653DE38}"/>
              </a:ext>
            </a:extLst>
          </p:cNvPr>
          <p:cNvSpPr/>
          <p:nvPr/>
        </p:nvSpPr>
        <p:spPr>
          <a:xfrm>
            <a:off x="410827" y="2938835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SOFTM p1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C5860E9-BBA5-4585-A9D4-08D664D2C665}"/>
              </a:ext>
            </a:extLst>
          </p:cNvPr>
          <p:cNvSpPr/>
          <p:nvPr/>
        </p:nvSpPr>
        <p:spPr>
          <a:xfrm>
            <a:off x="1358364" y="2938834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SOFTM p2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C81E912-55DB-4D6E-A824-3B0C5DCADD1B}"/>
              </a:ext>
            </a:extLst>
          </p:cNvPr>
          <p:cNvSpPr/>
          <p:nvPr/>
        </p:nvSpPr>
        <p:spPr>
          <a:xfrm>
            <a:off x="2305894" y="2944550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SOFTM p3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FE6E366-DA3A-49D1-9ECC-C9729A043E62}"/>
              </a:ext>
            </a:extLst>
          </p:cNvPr>
          <p:cNvSpPr/>
          <p:nvPr/>
        </p:nvSpPr>
        <p:spPr>
          <a:xfrm>
            <a:off x="3263366" y="2944549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SOFTM p4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C04AA63-9CD5-4EAD-A605-1C8B6074FD18}"/>
              </a:ext>
            </a:extLst>
          </p:cNvPr>
          <p:cNvSpPr/>
          <p:nvPr/>
        </p:nvSpPr>
        <p:spPr>
          <a:xfrm>
            <a:off x="4210896" y="2933120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SOFTM p5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5E6DA76-7B0E-4C8C-BBBA-CC135603A07F}"/>
              </a:ext>
            </a:extLst>
          </p:cNvPr>
          <p:cNvSpPr/>
          <p:nvPr/>
        </p:nvSpPr>
        <p:spPr>
          <a:xfrm>
            <a:off x="5168367" y="2933119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SOFTM a1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1F888E6-30AB-4E92-8DE8-5ACF58CBCE22}"/>
              </a:ext>
            </a:extLst>
          </p:cNvPr>
          <p:cNvSpPr/>
          <p:nvPr/>
        </p:nvSpPr>
        <p:spPr>
          <a:xfrm>
            <a:off x="6115902" y="2938835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SOFTM a2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518D397-22EB-44F7-BC2B-E400276E3939}"/>
              </a:ext>
            </a:extLst>
          </p:cNvPr>
          <p:cNvSpPr/>
          <p:nvPr/>
        </p:nvSpPr>
        <p:spPr>
          <a:xfrm>
            <a:off x="7073374" y="2938834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SOFTM a3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D74F768-BCEE-44AE-872C-AFBA4E32B1D0}"/>
              </a:ext>
            </a:extLst>
          </p:cNvPr>
          <p:cNvGrpSpPr/>
          <p:nvPr/>
        </p:nvGrpSpPr>
        <p:grpSpPr>
          <a:xfrm>
            <a:off x="815010" y="3323155"/>
            <a:ext cx="6696472" cy="288231"/>
            <a:chOff x="831566" y="4503916"/>
            <a:chExt cx="6696472" cy="455706"/>
          </a:xfrm>
        </p:grpSpPr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4E6246B-3756-47E9-B575-1A504E0E1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66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85323645-040A-4FA7-BCC5-777AB0CA9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096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B5D3B20C-914E-47D2-B7AF-C7D7DF2EB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0630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B1B67D79-D090-48E3-9E58-40E85A445A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160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ABDC6718-ADF3-40CE-9F6D-61A897BEAD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61C4265F-5507-46EE-80C4-D2D38F7BF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3A51EBFE-8337-460A-BDF4-A9F093C9F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DF04797D-916C-4F96-BBD6-7E26C1A0B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7B44A78-7D47-4E77-BEC0-D966335E8FD1}"/>
              </a:ext>
            </a:extLst>
          </p:cNvPr>
          <p:cNvGrpSpPr/>
          <p:nvPr/>
        </p:nvGrpSpPr>
        <p:grpSpPr>
          <a:xfrm>
            <a:off x="798454" y="2651522"/>
            <a:ext cx="6696472" cy="288231"/>
            <a:chOff x="831566" y="4503916"/>
            <a:chExt cx="6696472" cy="455706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3EAFB91E-1E77-4EB9-886B-ED45BC2A4D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66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DAD37CE9-157A-4C91-BE5C-BA74277196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096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A6F9097B-A263-4423-8FBA-947711E7C9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0630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DC7315DC-9B18-4DDC-9868-576773B854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160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85EC99BA-2AC2-414C-B6DB-CBD8E2A7E1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839F437A-2EED-4959-B459-21450A556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08B486F-C848-4FD6-8018-73E20A11C6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EBC4BD4E-EFF0-472D-8447-57FDDF4E61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6295E28-584A-4706-911F-4F85DBEDBB03}"/>
                  </a:ext>
                </a:extLst>
              </p:cNvPr>
              <p:cNvSpPr/>
              <p:nvPr/>
            </p:nvSpPr>
            <p:spPr>
              <a:xfrm>
                <a:off x="4229899" y="2266966"/>
                <a:ext cx="811687" cy="384183"/>
              </a:xfrm>
              <a:prstGeom prst="rect">
                <a:avLst/>
              </a:prstGeom>
              <a:solidFill>
                <a:schemeClr val="accent6">
                  <a:lumMod val="75000"/>
                  <a:alpha val="7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6295E28-584A-4706-911F-4F85DBEDBB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899" y="2266966"/>
                <a:ext cx="811687" cy="3841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08B17B17-86BF-45B3-B49B-659B3DFA5D2F}"/>
                  </a:ext>
                </a:extLst>
              </p:cNvPr>
              <p:cNvSpPr/>
              <p:nvPr/>
            </p:nvSpPr>
            <p:spPr>
              <a:xfrm>
                <a:off x="5187370" y="2266965"/>
                <a:ext cx="811687" cy="384183"/>
              </a:xfrm>
              <a:prstGeom prst="rect">
                <a:avLst/>
              </a:prstGeom>
              <a:solidFill>
                <a:schemeClr val="accent6">
                  <a:lumMod val="75000"/>
                  <a:alpha val="7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08B17B17-86BF-45B3-B49B-659B3DFA5D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370" y="2266965"/>
                <a:ext cx="811687" cy="3841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0D336CE-A135-4798-90FE-8E7E3B6EBEA9}"/>
                  </a:ext>
                </a:extLst>
              </p:cNvPr>
              <p:cNvSpPr/>
              <p:nvPr/>
            </p:nvSpPr>
            <p:spPr>
              <a:xfrm>
                <a:off x="6134905" y="2272681"/>
                <a:ext cx="811687" cy="384183"/>
              </a:xfrm>
              <a:prstGeom prst="rect">
                <a:avLst/>
              </a:prstGeom>
              <a:solidFill>
                <a:schemeClr val="accent6">
                  <a:lumMod val="75000"/>
                  <a:alpha val="7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0D336CE-A135-4798-90FE-8E7E3B6EBE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905" y="2272681"/>
                <a:ext cx="811687" cy="3841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792175E8-5D8A-4048-8863-26F882D67CF7}"/>
                  </a:ext>
                </a:extLst>
              </p:cNvPr>
              <p:cNvSpPr/>
              <p:nvPr/>
            </p:nvSpPr>
            <p:spPr>
              <a:xfrm>
                <a:off x="7092377" y="2272680"/>
                <a:ext cx="811687" cy="384183"/>
              </a:xfrm>
              <a:prstGeom prst="rect">
                <a:avLst/>
              </a:prstGeom>
              <a:solidFill>
                <a:schemeClr val="accent6">
                  <a:lumMod val="75000"/>
                  <a:alpha val="7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792175E8-5D8A-4048-8863-26F882D67C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377" y="2272680"/>
                <a:ext cx="811687" cy="38418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3265AF9-5273-41E9-941B-A2FB992E3B9F}"/>
                  </a:ext>
                </a:extLst>
              </p:cNvPr>
              <p:cNvSpPr txBox="1"/>
              <p:nvPr/>
            </p:nvSpPr>
            <p:spPr>
              <a:xfrm>
                <a:off x="725163" y="6299584"/>
                <a:ext cx="280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3265AF9-5273-41E9-941B-A2FB992E3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63" y="6299584"/>
                <a:ext cx="280654" cy="276999"/>
              </a:xfrm>
              <a:prstGeom prst="rect">
                <a:avLst/>
              </a:prstGeom>
              <a:blipFill>
                <a:blip r:embed="rId16"/>
                <a:stretch>
                  <a:fillRect l="-19565" r="-6522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EFD53BC-CB79-4C07-93ED-9CE483C33DE0}"/>
                  </a:ext>
                </a:extLst>
              </p:cNvPr>
              <p:cNvSpPr txBox="1"/>
              <p:nvPr/>
            </p:nvSpPr>
            <p:spPr>
              <a:xfrm>
                <a:off x="1675267" y="6315566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EFD53BC-CB79-4C07-93ED-9CE483C33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267" y="6315566"/>
                <a:ext cx="285976" cy="276999"/>
              </a:xfrm>
              <a:prstGeom prst="rect">
                <a:avLst/>
              </a:prstGeom>
              <a:blipFill>
                <a:blip r:embed="rId17"/>
                <a:stretch>
                  <a:fillRect l="-19149" r="-6383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FC08C4-4D00-4F9F-A5B2-8FBAB1D88ABA}"/>
                  </a:ext>
                </a:extLst>
              </p:cNvPr>
              <p:cNvSpPr txBox="1"/>
              <p:nvPr/>
            </p:nvSpPr>
            <p:spPr>
              <a:xfrm>
                <a:off x="2626380" y="6305627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FC08C4-4D00-4F9F-A5B2-8FBAB1D88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380" y="6305627"/>
                <a:ext cx="285976" cy="276999"/>
              </a:xfrm>
              <a:prstGeom prst="rect">
                <a:avLst/>
              </a:prstGeom>
              <a:blipFill>
                <a:blip r:embed="rId18"/>
                <a:stretch>
                  <a:fillRect l="-19149" r="-6383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22CF63B-B469-447B-8763-8FB42531758D}"/>
                  </a:ext>
                </a:extLst>
              </p:cNvPr>
              <p:cNvSpPr txBox="1"/>
              <p:nvPr/>
            </p:nvSpPr>
            <p:spPr>
              <a:xfrm>
                <a:off x="3601359" y="6284440"/>
                <a:ext cx="284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22CF63B-B469-447B-8763-8FB425317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359" y="6284440"/>
                <a:ext cx="284245" cy="276999"/>
              </a:xfrm>
              <a:prstGeom prst="rect">
                <a:avLst/>
              </a:prstGeom>
              <a:blipFill>
                <a:blip r:embed="rId19"/>
                <a:stretch>
                  <a:fillRect l="-19565" r="-8696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AE4521-CCF2-4AD3-B19A-C2DA7BE419A0}"/>
                  </a:ext>
                </a:extLst>
              </p:cNvPr>
              <p:cNvSpPr txBox="1"/>
              <p:nvPr/>
            </p:nvSpPr>
            <p:spPr>
              <a:xfrm>
                <a:off x="4528761" y="6304974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AE4521-CCF2-4AD3-B19A-C2DA7BE41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761" y="6304974"/>
                <a:ext cx="285976" cy="276999"/>
              </a:xfrm>
              <a:prstGeom prst="rect">
                <a:avLst/>
              </a:prstGeom>
              <a:blipFill>
                <a:blip r:embed="rId20"/>
                <a:stretch>
                  <a:fillRect l="-19149" r="-8511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ED4B929-74FD-4B46-997B-52D91907B160}"/>
                  </a:ext>
                </a:extLst>
              </p:cNvPr>
              <p:cNvSpPr txBox="1"/>
              <p:nvPr/>
            </p:nvSpPr>
            <p:spPr>
              <a:xfrm>
                <a:off x="5476893" y="6311474"/>
                <a:ext cx="287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ED4B929-74FD-4B46-997B-52D91907B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93" y="6311474"/>
                <a:ext cx="287963" cy="276999"/>
              </a:xfrm>
              <a:prstGeom prst="rect">
                <a:avLst/>
              </a:prstGeom>
              <a:blipFill>
                <a:blip r:embed="rId21"/>
                <a:stretch>
                  <a:fillRect l="-10417" r="-6250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8AFBA02-BAB8-4895-9952-F1095B3057B4}"/>
                  </a:ext>
                </a:extLst>
              </p:cNvPr>
              <p:cNvSpPr txBox="1"/>
              <p:nvPr/>
            </p:nvSpPr>
            <p:spPr>
              <a:xfrm>
                <a:off x="6436526" y="6309523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8AFBA02-BAB8-4895-9952-F1095B305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526" y="6309523"/>
                <a:ext cx="293285" cy="276999"/>
              </a:xfrm>
              <a:prstGeom prst="rect">
                <a:avLst/>
              </a:prstGeom>
              <a:blipFill>
                <a:blip r:embed="rId22"/>
                <a:stretch>
                  <a:fillRect l="-10417" r="-625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9C6D853-C039-43AA-81FA-77B10DE7E3F3}"/>
                  </a:ext>
                </a:extLst>
              </p:cNvPr>
              <p:cNvSpPr txBox="1"/>
              <p:nvPr/>
            </p:nvSpPr>
            <p:spPr>
              <a:xfrm>
                <a:off x="7426316" y="6308491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9C6D853-C039-43AA-81FA-77B10DE7E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316" y="6308491"/>
                <a:ext cx="293285" cy="276999"/>
              </a:xfrm>
              <a:prstGeom prst="rect">
                <a:avLst/>
              </a:prstGeom>
              <a:blipFill>
                <a:blip r:embed="rId23"/>
                <a:stretch>
                  <a:fillRect l="-10417" r="-8333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TextBox 129">
            <a:extLst>
              <a:ext uri="{FF2B5EF4-FFF2-40B4-BE49-F238E27FC236}">
                <a16:creationId xmlns:a16="http://schemas.microsoft.com/office/drawing/2014/main" id="{A017879D-1E67-481E-83ED-5248A81A51BF}"/>
              </a:ext>
            </a:extLst>
          </p:cNvPr>
          <p:cNvSpPr txBox="1"/>
          <p:nvPr/>
        </p:nvSpPr>
        <p:spPr>
          <a:xfrm>
            <a:off x="8634620" y="4513539"/>
            <a:ext cx="35573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hidden state encoder information only about previous tokens (</a:t>
            </a:r>
            <a:r>
              <a:rPr lang="en-US" dirty="0">
                <a:solidFill>
                  <a:srgbClr val="C00000"/>
                </a:solidFill>
              </a:rPr>
              <a:t>causal masking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2BDCFB0-23D1-48EF-9598-FEA31F1FCDCF}"/>
              </a:ext>
            </a:extLst>
          </p:cNvPr>
          <p:cNvSpPr txBox="1"/>
          <p:nvPr/>
        </p:nvSpPr>
        <p:spPr>
          <a:xfrm>
            <a:off x="8620096" y="3948473"/>
            <a:ext cx="355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Linear layer for logit calculation</a:t>
            </a:r>
            <a:endParaRPr lang="en-IN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1B85E0F-6F3B-40D6-8C50-E87F17C759A2}"/>
              </a:ext>
            </a:extLst>
          </p:cNvPr>
          <p:cNvSpPr txBox="1"/>
          <p:nvPr/>
        </p:nvSpPr>
        <p:spPr>
          <a:xfrm>
            <a:off x="8644090" y="3264069"/>
            <a:ext cx="2628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Softmax</a:t>
            </a:r>
            <a:r>
              <a:rPr lang="en-US" dirty="0"/>
              <a:t> for prob </a:t>
            </a:r>
            <a:r>
              <a:rPr lang="en-US" dirty="0" err="1"/>
              <a:t>dist</a:t>
            </a:r>
            <a:endParaRPr lang="en-IN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48335D0-398A-4935-9CA2-3B735C1EF938}"/>
              </a:ext>
            </a:extLst>
          </p:cNvPr>
          <p:cNvSpPr txBox="1"/>
          <p:nvPr/>
        </p:nvSpPr>
        <p:spPr>
          <a:xfrm>
            <a:off x="8614336" y="2548104"/>
            <a:ext cx="3402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Probability of the next action (token)</a:t>
            </a:r>
            <a:endParaRPr lang="en-IN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0CBEF44-1342-45E9-8E2D-B034DD70A12E}"/>
              </a:ext>
            </a:extLst>
          </p:cNvPr>
          <p:cNvCxnSpPr/>
          <p:nvPr/>
        </p:nvCxnSpPr>
        <p:spPr>
          <a:xfrm flipH="1">
            <a:off x="7933881" y="4820478"/>
            <a:ext cx="680455" cy="0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157D041-69D9-4035-8305-FA69FCC3769B}"/>
              </a:ext>
            </a:extLst>
          </p:cNvPr>
          <p:cNvCxnSpPr/>
          <p:nvPr/>
        </p:nvCxnSpPr>
        <p:spPr>
          <a:xfrm flipH="1">
            <a:off x="7963635" y="4157869"/>
            <a:ext cx="680455" cy="0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6907785C-9B0D-47C4-8DF4-4D8D7398D9D6}"/>
              </a:ext>
            </a:extLst>
          </p:cNvPr>
          <p:cNvCxnSpPr/>
          <p:nvPr/>
        </p:nvCxnSpPr>
        <p:spPr>
          <a:xfrm flipH="1">
            <a:off x="7963635" y="3462130"/>
            <a:ext cx="680455" cy="0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2E2387-57D2-4C8E-9974-581CE42AC62E}"/>
              </a:ext>
            </a:extLst>
          </p:cNvPr>
          <p:cNvCxnSpPr/>
          <p:nvPr/>
        </p:nvCxnSpPr>
        <p:spPr>
          <a:xfrm flipH="1">
            <a:off x="7963635" y="2816086"/>
            <a:ext cx="680455" cy="0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36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131" grpId="0"/>
      <p:bldP spid="132" grpId="0"/>
      <p:bldP spid="1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C707-6536-470D-A072-A318941B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Reward Calculation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75616-534A-4FC2-BC4F-41EBC41C5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44F4A-CA1E-478D-A57D-30D16C927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446" y="1025225"/>
            <a:ext cx="3754527" cy="8249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256B7D-CC63-431C-93D7-9649F957C6F2}"/>
              </a:ext>
            </a:extLst>
          </p:cNvPr>
          <p:cNvSpPr/>
          <p:nvPr/>
        </p:nvSpPr>
        <p:spPr>
          <a:xfrm>
            <a:off x="427383" y="6281526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305C3-3EDF-4FE4-B8CC-18FA074DDFE2}"/>
              </a:ext>
            </a:extLst>
          </p:cNvPr>
          <p:cNvSpPr/>
          <p:nvPr/>
        </p:nvSpPr>
        <p:spPr>
          <a:xfrm>
            <a:off x="1374920" y="6281525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F11C0-20FA-46A6-A211-6572D094AB76}"/>
              </a:ext>
            </a:extLst>
          </p:cNvPr>
          <p:cNvSpPr/>
          <p:nvPr/>
        </p:nvSpPr>
        <p:spPr>
          <a:xfrm>
            <a:off x="2322450" y="6287241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28B00-D04F-46D3-942E-B3A0B1802C2F}"/>
              </a:ext>
            </a:extLst>
          </p:cNvPr>
          <p:cNvSpPr/>
          <p:nvPr/>
        </p:nvSpPr>
        <p:spPr>
          <a:xfrm>
            <a:off x="3279922" y="6287240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1C710E-3754-4B31-A175-6469BBDC0DBB}"/>
              </a:ext>
            </a:extLst>
          </p:cNvPr>
          <p:cNvSpPr/>
          <p:nvPr/>
        </p:nvSpPr>
        <p:spPr>
          <a:xfrm>
            <a:off x="4227452" y="6275811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B0B97C-1DFF-4A39-9469-4F1CC0B26BB4}"/>
              </a:ext>
            </a:extLst>
          </p:cNvPr>
          <p:cNvSpPr/>
          <p:nvPr/>
        </p:nvSpPr>
        <p:spPr>
          <a:xfrm>
            <a:off x="5184923" y="6275810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FEE3C-E11F-4DCE-BED2-DC02E14D5BFD}"/>
              </a:ext>
            </a:extLst>
          </p:cNvPr>
          <p:cNvSpPr/>
          <p:nvPr/>
        </p:nvSpPr>
        <p:spPr>
          <a:xfrm>
            <a:off x="6132458" y="6281526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FE1462-5B41-4902-816A-C6D5DC314028}"/>
              </a:ext>
            </a:extLst>
          </p:cNvPr>
          <p:cNvSpPr/>
          <p:nvPr/>
        </p:nvSpPr>
        <p:spPr>
          <a:xfrm>
            <a:off x="7089930" y="6281525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B795BC-3D4C-49DB-BC2D-7ABFADA5FDBF}"/>
                  </a:ext>
                </a:extLst>
              </p:cNvPr>
              <p:cNvSpPr/>
              <p:nvPr/>
            </p:nvSpPr>
            <p:spPr>
              <a:xfrm>
                <a:off x="427383" y="4959622"/>
                <a:ext cx="7474234" cy="87464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/>
                  <a:t>Language Model (Policy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2800" dirty="0"/>
                  <a:t>)</a:t>
                </a: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B795BC-3D4C-49DB-BC2D-7ABFADA5F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83" y="4959622"/>
                <a:ext cx="7474234" cy="8746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2DE2DB-397A-484A-939F-D16E33A65DB1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33227" y="5834266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3AA7E2-3C1C-4211-B89C-E99C2CB090E8}"/>
              </a:ext>
            </a:extLst>
          </p:cNvPr>
          <p:cNvCxnSpPr>
            <a:cxnSpLocks/>
          </p:cNvCxnSpPr>
          <p:nvPr/>
        </p:nvCxnSpPr>
        <p:spPr>
          <a:xfrm flipV="1">
            <a:off x="1780757" y="5838489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C85BD3-DFE5-4D9F-9CC3-EE03F73CF9BA}"/>
              </a:ext>
            </a:extLst>
          </p:cNvPr>
          <p:cNvCxnSpPr>
            <a:cxnSpLocks/>
          </p:cNvCxnSpPr>
          <p:nvPr/>
        </p:nvCxnSpPr>
        <p:spPr>
          <a:xfrm flipV="1">
            <a:off x="2752291" y="5834266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64FCBC-1606-4F75-B9FA-84760A04CD4C}"/>
              </a:ext>
            </a:extLst>
          </p:cNvPr>
          <p:cNvCxnSpPr>
            <a:cxnSpLocks/>
          </p:cNvCxnSpPr>
          <p:nvPr/>
        </p:nvCxnSpPr>
        <p:spPr>
          <a:xfrm flipV="1">
            <a:off x="3699821" y="5838489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00E237-90CE-471E-AB8F-7E2B32F1216F}"/>
              </a:ext>
            </a:extLst>
          </p:cNvPr>
          <p:cNvCxnSpPr>
            <a:cxnSpLocks/>
          </p:cNvCxnSpPr>
          <p:nvPr/>
        </p:nvCxnSpPr>
        <p:spPr>
          <a:xfrm flipV="1">
            <a:off x="4663105" y="5838489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E9DFDE-4A52-4B78-A5F8-EC99D7D648EF}"/>
              </a:ext>
            </a:extLst>
          </p:cNvPr>
          <p:cNvCxnSpPr>
            <a:cxnSpLocks/>
          </p:cNvCxnSpPr>
          <p:nvPr/>
        </p:nvCxnSpPr>
        <p:spPr>
          <a:xfrm flipV="1">
            <a:off x="5610635" y="5842712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B435A9C-02D6-4301-989F-002260519BA2}"/>
              </a:ext>
            </a:extLst>
          </p:cNvPr>
          <p:cNvCxnSpPr>
            <a:cxnSpLocks/>
          </p:cNvCxnSpPr>
          <p:nvPr/>
        </p:nvCxnSpPr>
        <p:spPr>
          <a:xfrm flipV="1">
            <a:off x="6582169" y="5838489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4F1D546-6F78-4408-BEA8-6BFCC3B2D8BE}"/>
              </a:ext>
            </a:extLst>
          </p:cNvPr>
          <p:cNvCxnSpPr>
            <a:cxnSpLocks/>
          </p:cNvCxnSpPr>
          <p:nvPr/>
        </p:nvCxnSpPr>
        <p:spPr>
          <a:xfrm flipV="1">
            <a:off x="7529699" y="5842712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7A48898-BBD2-4232-A50F-43132775AE75}"/>
                  </a:ext>
                </a:extLst>
              </p:cNvPr>
              <p:cNvSpPr/>
              <p:nvPr/>
            </p:nvSpPr>
            <p:spPr>
              <a:xfrm>
                <a:off x="427383" y="4287070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7A48898-BBD2-4232-A50F-43132775AE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83" y="4287070"/>
                <a:ext cx="811687" cy="384183"/>
              </a:xfrm>
              <a:prstGeom prst="rect">
                <a:avLst/>
              </a:prstGeom>
              <a:blipFill>
                <a:blip r:embed="rId4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9B0A573-027C-4E29-B08D-CCEBC26C4879}"/>
                  </a:ext>
                </a:extLst>
              </p:cNvPr>
              <p:cNvSpPr/>
              <p:nvPr/>
            </p:nvSpPr>
            <p:spPr>
              <a:xfrm>
                <a:off x="1374920" y="4287069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9B0A573-027C-4E29-B08D-CCEBC26C48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920" y="4287069"/>
                <a:ext cx="811687" cy="384183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9E44EC3-9789-4E1C-A8B5-831456D8B1FA}"/>
                  </a:ext>
                </a:extLst>
              </p:cNvPr>
              <p:cNvSpPr/>
              <p:nvPr/>
            </p:nvSpPr>
            <p:spPr>
              <a:xfrm>
                <a:off x="2322450" y="4292785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9E44EC3-9789-4E1C-A8B5-831456D8B1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450" y="4292785"/>
                <a:ext cx="811687" cy="384183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859ACD6-2D02-41FF-B819-BF3FD8AD7DEC}"/>
                  </a:ext>
                </a:extLst>
              </p:cNvPr>
              <p:cNvSpPr/>
              <p:nvPr/>
            </p:nvSpPr>
            <p:spPr>
              <a:xfrm>
                <a:off x="3279922" y="4292784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859ACD6-2D02-41FF-B819-BF3FD8AD7D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922" y="4292784"/>
                <a:ext cx="811687" cy="384183"/>
              </a:xfrm>
              <a:prstGeom prst="rect">
                <a:avLst/>
              </a:prstGeom>
              <a:blipFill>
                <a:blip r:embed="rId7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E6305CB-03CB-47EC-80EF-784A7BC9AC24}"/>
                  </a:ext>
                </a:extLst>
              </p:cNvPr>
              <p:cNvSpPr/>
              <p:nvPr/>
            </p:nvSpPr>
            <p:spPr>
              <a:xfrm>
                <a:off x="4227452" y="4281355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E6305CB-03CB-47EC-80EF-784A7BC9A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452" y="4281355"/>
                <a:ext cx="811687" cy="384183"/>
              </a:xfrm>
              <a:prstGeom prst="rect">
                <a:avLst/>
              </a:prstGeom>
              <a:blipFill>
                <a:blip r:embed="rId8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BB3C9AD-1A32-4FB0-92E4-3777D475BF69}"/>
                  </a:ext>
                </a:extLst>
              </p:cNvPr>
              <p:cNvSpPr/>
              <p:nvPr/>
            </p:nvSpPr>
            <p:spPr>
              <a:xfrm>
                <a:off x="5184923" y="4281354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BB3C9AD-1A32-4FB0-92E4-3777D475BF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923" y="4281354"/>
                <a:ext cx="811687" cy="3841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722A760-3DC6-4C9E-A545-B3D484812C65}"/>
                  </a:ext>
                </a:extLst>
              </p:cNvPr>
              <p:cNvSpPr/>
              <p:nvPr/>
            </p:nvSpPr>
            <p:spPr>
              <a:xfrm>
                <a:off x="6132458" y="4287070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722A760-3DC6-4C9E-A545-B3D484812C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458" y="4287070"/>
                <a:ext cx="811687" cy="3841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BDF7B46-2FA4-4B2E-BB66-22FEDD6EB562}"/>
                  </a:ext>
                </a:extLst>
              </p:cNvPr>
              <p:cNvSpPr/>
              <p:nvPr/>
            </p:nvSpPr>
            <p:spPr>
              <a:xfrm>
                <a:off x="7089930" y="4287069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BDF7B46-2FA4-4B2E-BB66-22FEDD6EB5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930" y="4287069"/>
                <a:ext cx="811687" cy="3841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D159902B-77EC-4A57-B229-D9BC753819C8}"/>
              </a:ext>
            </a:extLst>
          </p:cNvPr>
          <p:cNvGrpSpPr/>
          <p:nvPr/>
        </p:nvGrpSpPr>
        <p:grpSpPr>
          <a:xfrm>
            <a:off x="831566" y="4671390"/>
            <a:ext cx="6696472" cy="288231"/>
            <a:chOff x="831566" y="4503916"/>
            <a:chExt cx="6696472" cy="455706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3FDBF70-CE72-44FD-89A7-D24E9773DA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66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7813136-CC5F-414D-B5A4-F7FD4663A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096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4B90BCF-F274-4AAA-BCF2-3760BBD67B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0630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0EB66BD-66B2-4E59-8A67-C3E747DE8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160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9C90D89-748D-42DD-B08E-27895E396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D6AEBED-2FA0-48EB-BD69-3FBA02FED6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C3D8EF3-F498-457E-9990-F355117C1F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90C84ED-880B-4751-9794-831725838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870FF755-505F-41EC-827E-17AE4A3D98F4}"/>
              </a:ext>
            </a:extLst>
          </p:cNvPr>
          <p:cNvSpPr/>
          <p:nvPr/>
        </p:nvSpPr>
        <p:spPr>
          <a:xfrm>
            <a:off x="4259716" y="3614193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p5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7B52C2C-45BD-47D3-A4B0-E048FF6E2AEB}"/>
              </a:ext>
            </a:extLst>
          </p:cNvPr>
          <p:cNvSpPr/>
          <p:nvPr/>
        </p:nvSpPr>
        <p:spPr>
          <a:xfrm>
            <a:off x="5217187" y="3614192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0C4014-83B7-4BF9-B2F5-106801FA4903}"/>
              </a:ext>
            </a:extLst>
          </p:cNvPr>
          <p:cNvSpPr/>
          <p:nvPr/>
        </p:nvSpPr>
        <p:spPr>
          <a:xfrm>
            <a:off x="6164722" y="3619908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5DC5A18-2CF0-4E99-A197-F0AE3BCA40D1}"/>
              </a:ext>
            </a:extLst>
          </p:cNvPr>
          <p:cNvSpPr/>
          <p:nvPr/>
        </p:nvSpPr>
        <p:spPr>
          <a:xfrm>
            <a:off x="7122194" y="3619907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a3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E1D7D1B-06D2-4E82-86B2-6D80B839BFF5}"/>
              </a:ext>
            </a:extLst>
          </p:cNvPr>
          <p:cNvGrpSpPr/>
          <p:nvPr/>
        </p:nvGrpSpPr>
        <p:grpSpPr>
          <a:xfrm>
            <a:off x="815010" y="3999757"/>
            <a:ext cx="6696472" cy="288231"/>
            <a:chOff x="831566" y="4503916"/>
            <a:chExt cx="6696472" cy="455706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723B74F-704C-447E-B89B-C7BDE6169E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66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096B4AC-57C3-4BC8-B5F3-2CF4B7557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096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5AB33C3-22AF-45CD-9020-0525264980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0630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A14FD5DA-79F1-411C-8329-C1D0951F72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160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09EA2F5-C414-4E8C-8E10-321CD2023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62BF7296-C716-440B-ADDB-53EB77F2D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9EB0FA9B-79A3-42EB-BC87-C019844BF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C6B76BE-A8BF-4881-AAF6-11D2DB5EAD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D74F768-BCEE-44AE-872C-AFBA4E32B1D0}"/>
              </a:ext>
            </a:extLst>
          </p:cNvPr>
          <p:cNvGrpSpPr/>
          <p:nvPr/>
        </p:nvGrpSpPr>
        <p:grpSpPr>
          <a:xfrm>
            <a:off x="4644888" y="3325826"/>
            <a:ext cx="2866594" cy="285560"/>
            <a:chOff x="4661444" y="4508139"/>
            <a:chExt cx="2866594" cy="451483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ABDC6718-ADF3-40CE-9F6D-61A897BEAD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61C4265F-5507-46EE-80C4-D2D38F7BF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3A51EBFE-8337-460A-BDF4-A9F093C9F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DF04797D-916C-4F96-BBD6-7E26C1A0B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3265AF9-5273-41E9-941B-A2FB992E3B9F}"/>
                  </a:ext>
                </a:extLst>
              </p:cNvPr>
              <p:cNvSpPr txBox="1"/>
              <p:nvPr/>
            </p:nvSpPr>
            <p:spPr>
              <a:xfrm>
                <a:off x="725163" y="6299584"/>
                <a:ext cx="280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3265AF9-5273-41E9-941B-A2FB992E3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63" y="6299584"/>
                <a:ext cx="280654" cy="276999"/>
              </a:xfrm>
              <a:prstGeom prst="rect">
                <a:avLst/>
              </a:prstGeom>
              <a:blipFill>
                <a:blip r:embed="rId12"/>
                <a:stretch>
                  <a:fillRect l="-19565" r="-6522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EFD53BC-CB79-4C07-93ED-9CE483C33DE0}"/>
                  </a:ext>
                </a:extLst>
              </p:cNvPr>
              <p:cNvSpPr txBox="1"/>
              <p:nvPr/>
            </p:nvSpPr>
            <p:spPr>
              <a:xfrm>
                <a:off x="1675267" y="6315566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EFD53BC-CB79-4C07-93ED-9CE483C33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267" y="6315566"/>
                <a:ext cx="285976" cy="276999"/>
              </a:xfrm>
              <a:prstGeom prst="rect">
                <a:avLst/>
              </a:prstGeom>
              <a:blipFill>
                <a:blip r:embed="rId13"/>
                <a:stretch>
                  <a:fillRect l="-19149" r="-6383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FC08C4-4D00-4F9F-A5B2-8FBAB1D88ABA}"/>
                  </a:ext>
                </a:extLst>
              </p:cNvPr>
              <p:cNvSpPr txBox="1"/>
              <p:nvPr/>
            </p:nvSpPr>
            <p:spPr>
              <a:xfrm>
                <a:off x="2626380" y="6305627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FC08C4-4D00-4F9F-A5B2-8FBAB1D88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380" y="6305627"/>
                <a:ext cx="285976" cy="276999"/>
              </a:xfrm>
              <a:prstGeom prst="rect">
                <a:avLst/>
              </a:prstGeom>
              <a:blipFill>
                <a:blip r:embed="rId14"/>
                <a:stretch>
                  <a:fillRect l="-19149" r="-6383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22CF63B-B469-447B-8763-8FB42531758D}"/>
                  </a:ext>
                </a:extLst>
              </p:cNvPr>
              <p:cNvSpPr txBox="1"/>
              <p:nvPr/>
            </p:nvSpPr>
            <p:spPr>
              <a:xfrm>
                <a:off x="3601359" y="6284440"/>
                <a:ext cx="284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22CF63B-B469-447B-8763-8FB425317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359" y="6284440"/>
                <a:ext cx="284245" cy="276999"/>
              </a:xfrm>
              <a:prstGeom prst="rect">
                <a:avLst/>
              </a:prstGeom>
              <a:blipFill>
                <a:blip r:embed="rId15"/>
                <a:stretch>
                  <a:fillRect l="-19565" r="-8696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AE4521-CCF2-4AD3-B19A-C2DA7BE419A0}"/>
                  </a:ext>
                </a:extLst>
              </p:cNvPr>
              <p:cNvSpPr txBox="1"/>
              <p:nvPr/>
            </p:nvSpPr>
            <p:spPr>
              <a:xfrm>
                <a:off x="4528761" y="6304974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AE4521-CCF2-4AD3-B19A-C2DA7BE41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761" y="6304974"/>
                <a:ext cx="285976" cy="276999"/>
              </a:xfrm>
              <a:prstGeom prst="rect">
                <a:avLst/>
              </a:prstGeom>
              <a:blipFill>
                <a:blip r:embed="rId16"/>
                <a:stretch>
                  <a:fillRect l="-19149" r="-8511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ED4B929-74FD-4B46-997B-52D91907B160}"/>
                  </a:ext>
                </a:extLst>
              </p:cNvPr>
              <p:cNvSpPr txBox="1"/>
              <p:nvPr/>
            </p:nvSpPr>
            <p:spPr>
              <a:xfrm>
                <a:off x="5476893" y="6311474"/>
                <a:ext cx="287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ED4B929-74FD-4B46-997B-52D91907B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93" y="6311474"/>
                <a:ext cx="287963" cy="276999"/>
              </a:xfrm>
              <a:prstGeom prst="rect">
                <a:avLst/>
              </a:prstGeom>
              <a:blipFill>
                <a:blip r:embed="rId17"/>
                <a:stretch>
                  <a:fillRect l="-10417" r="-6250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8AFBA02-BAB8-4895-9952-F1095B3057B4}"/>
                  </a:ext>
                </a:extLst>
              </p:cNvPr>
              <p:cNvSpPr txBox="1"/>
              <p:nvPr/>
            </p:nvSpPr>
            <p:spPr>
              <a:xfrm>
                <a:off x="6436526" y="6309523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8AFBA02-BAB8-4895-9952-F1095B305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526" y="6309523"/>
                <a:ext cx="293285" cy="276999"/>
              </a:xfrm>
              <a:prstGeom prst="rect">
                <a:avLst/>
              </a:prstGeom>
              <a:blipFill>
                <a:blip r:embed="rId18"/>
                <a:stretch>
                  <a:fillRect l="-10417" r="-625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9C6D853-C039-43AA-81FA-77B10DE7E3F3}"/>
                  </a:ext>
                </a:extLst>
              </p:cNvPr>
              <p:cNvSpPr txBox="1"/>
              <p:nvPr/>
            </p:nvSpPr>
            <p:spPr>
              <a:xfrm>
                <a:off x="7426316" y="6308491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9C6D853-C039-43AA-81FA-77B10DE7E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316" y="6308491"/>
                <a:ext cx="293285" cy="276999"/>
              </a:xfrm>
              <a:prstGeom prst="rect">
                <a:avLst/>
              </a:prstGeom>
              <a:blipFill>
                <a:blip r:embed="rId19"/>
                <a:stretch>
                  <a:fillRect l="-10417" r="-8333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948335D0-398A-4935-9CA2-3B735C1EF938}"/>
              </a:ext>
            </a:extLst>
          </p:cNvPr>
          <p:cNvSpPr txBox="1"/>
          <p:nvPr/>
        </p:nvSpPr>
        <p:spPr>
          <a:xfrm>
            <a:off x="8614336" y="2597799"/>
            <a:ext cx="3402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Linear layer with one output</a:t>
            </a:r>
            <a:endParaRPr lang="en-IN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2E2387-57D2-4C8E-9974-581CE42AC62E}"/>
              </a:ext>
            </a:extLst>
          </p:cNvPr>
          <p:cNvCxnSpPr/>
          <p:nvPr/>
        </p:nvCxnSpPr>
        <p:spPr>
          <a:xfrm flipH="1">
            <a:off x="7963635" y="2816086"/>
            <a:ext cx="680455" cy="0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2457B20-DA83-4B31-84C4-DA82C1D16D84}"/>
              </a:ext>
            </a:extLst>
          </p:cNvPr>
          <p:cNvSpPr/>
          <p:nvPr/>
        </p:nvSpPr>
        <p:spPr>
          <a:xfrm>
            <a:off x="4243160" y="2901844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Linear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5EF212A-B80E-479A-B82C-301C493ABC90}"/>
              </a:ext>
            </a:extLst>
          </p:cNvPr>
          <p:cNvSpPr/>
          <p:nvPr/>
        </p:nvSpPr>
        <p:spPr>
          <a:xfrm>
            <a:off x="5200631" y="2901843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Linear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BACC827-D104-49F4-9868-2DDFA6365640}"/>
              </a:ext>
            </a:extLst>
          </p:cNvPr>
          <p:cNvSpPr/>
          <p:nvPr/>
        </p:nvSpPr>
        <p:spPr>
          <a:xfrm>
            <a:off x="6148166" y="2907559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Linear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65245C3-9E50-45DF-B048-D8C2A740A425}"/>
              </a:ext>
            </a:extLst>
          </p:cNvPr>
          <p:cNvSpPr/>
          <p:nvPr/>
        </p:nvSpPr>
        <p:spPr>
          <a:xfrm>
            <a:off x="7105638" y="2907558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Linear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A3130F5-A28F-47CF-9B9E-6A37076165F6}"/>
              </a:ext>
            </a:extLst>
          </p:cNvPr>
          <p:cNvGrpSpPr/>
          <p:nvPr/>
        </p:nvGrpSpPr>
        <p:grpSpPr>
          <a:xfrm>
            <a:off x="4628332" y="2613477"/>
            <a:ext cx="2866594" cy="285560"/>
            <a:chOff x="4661444" y="4508139"/>
            <a:chExt cx="2866594" cy="451483"/>
          </a:xfrm>
        </p:grpSpPr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CF2C8B07-A7B4-4D99-B7A1-F7D7AE76D5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C9BB331B-0F71-4860-BE2A-24BA99257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82EF675-2D14-4175-AAAB-5356D5061E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8D199D75-AD6A-467D-A489-2DC07E8A72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261BB6-E4C7-4E7D-B449-075182E9F0C0}"/>
                  </a:ext>
                </a:extLst>
              </p:cNvPr>
              <p:cNvSpPr txBox="1"/>
              <p:nvPr/>
            </p:nvSpPr>
            <p:spPr>
              <a:xfrm>
                <a:off x="3975056" y="2276061"/>
                <a:ext cx="1185798" cy="282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Reward (</a:t>
                </a:r>
                <a14:m>
                  <m:oMath xmlns:m="http://schemas.openxmlformats.org/officeDocument/2006/math"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1200" dirty="0"/>
                  <a:t>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261BB6-E4C7-4E7D-B449-075182E9F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056" y="2276061"/>
                <a:ext cx="1185798" cy="282889"/>
              </a:xfrm>
              <a:prstGeom prst="rect">
                <a:avLst/>
              </a:prstGeom>
              <a:blipFill>
                <a:blip r:embed="rId20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67CF00CF-322F-492F-8974-68D8850F796E}"/>
                  </a:ext>
                </a:extLst>
              </p:cNvPr>
              <p:cNvSpPr txBox="1"/>
              <p:nvPr/>
            </p:nvSpPr>
            <p:spPr>
              <a:xfrm>
                <a:off x="5018842" y="2288041"/>
                <a:ext cx="1185798" cy="282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Reward (</a:t>
                </a:r>
                <a14:m>
                  <m:oMath xmlns:m="http://schemas.openxmlformats.org/officeDocument/2006/math"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1200" dirty="0"/>
                  <a:t>)</a:t>
                </a:r>
              </a:p>
            </p:txBody>
          </p:sp>
        </mc:Choice>
        <mc:Fallback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67CF00CF-322F-492F-8974-68D8850F7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8842" y="2288041"/>
                <a:ext cx="1185798" cy="282889"/>
              </a:xfrm>
              <a:prstGeom prst="rect">
                <a:avLst/>
              </a:prstGeom>
              <a:blipFill>
                <a:blip r:embed="rId21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4E06781-BD4C-48BA-A5D1-4CE4444CB8E4}"/>
                  </a:ext>
                </a:extLst>
              </p:cNvPr>
              <p:cNvSpPr txBox="1"/>
              <p:nvPr/>
            </p:nvSpPr>
            <p:spPr>
              <a:xfrm>
                <a:off x="6107597" y="2293748"/>
                <a:ext cx="1185798" cy="282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Reward (</a:t>
                </a:r>
                <a14:m>
                  <m:oMath xmlns:m="http://schemas.openxmlformats.org/officeDocument/2006/math"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IN" sz="1200" dirty="0"/>
                  <a:t>)</a:t>
                </a:r>
              </a:p>
            </p:txBody>
          </p:sp>
        </mc:Choice>
        <mc:Fallback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4E06781-BD4C-48BA-A5D1-4CE4444CB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597" y="2293748"/>
                <a:ext cx="1185798" cy="282889"/>
              </a:xfrm>
              <a:prstGeom prst="rect">
                <a:avLst/>
              </a:prstGeom>
              <a:blipFill>
                <a:blip r:embed="rId22"/>
                <a:stretch>
                  <a:fillRect l="-515" b="-127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FF6DFD07-8F7E-4E45-BABA-BDFF20F58317}"/>
                  </a:ext>
                </a:extLst>
              </p:cNvPr>
              <p:cNvSpPr txBox="1"/>
              <p:nvPr/>
            </p:nvSpPr>
            <p:spPr>
              <a:xfrm>
                <a:off x="7169973" y="2286000"/>
                <a:ext cx="1185798" cy="282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Reward (</a:t>
                </a:r>
                <a14:m>
                  <m:oMath xmlns:m="http://schemas.openxmlformats.org/officeDocument/2006/math"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IN" sz="1200" dirty="0"/>
                  <a:t>)</a:t>
                </a:r>
              </a:p>
            </p:txBody>
          </p:sp>
        </mc:Choice>
        <mc:Fallback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FF6DFD07-8F7E-4E45-BABA-BDFF20F58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973" y="2286000"/>
                <a:ext cx="1185798" cy="282889"/>
              </a:xfrm>
              <a:prstGeom prst="rect">
                <a:avLst/>
              </a:prstGeom>
              <a:blipFill>
                <a:blip r:embed="rId2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16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68F3-5E0C-431C-B8FE-30C82C3B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Issues with Gradient Policy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A185C-B035-4CF2-8C37-24CEACF7D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19BAD-F888-4E1E-B610-C9A42E098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446" y="1025225"/>
            <a:ext cx="5064538" cy="11128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44ED96-B3CA-4B30-8C8E-3E3CFAB54ED5}"/>
                  </a:ext>
                </a:extLst>
              </p:cNvPr>
              <p:cNvSpPr txBox="1"/>
              <p:nvPr/>
            </p:nvSpPr>
            <p:spPr>
              <a:xfrm>
                <a:off x="2874872" y="3195932"/>
                <a:ext cx="47904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We </a:t>
                </a:r>
                <a:r>
                  <a:rPr lang="en-IN" sz="2400" dirty="0">
                    <a:solidFill>
                      <a:srgbClr val="C00000"/>
                    </a:solidFill>
                  </a:rPr>
                  <a:t>sample</a:t>
                </a:r>
                <a:r>
                  <a:rPr lang="en-IN" sz="2400" dirty="0"/>
                  <a:t> a set of trajectories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44ED96-B3CA-4B30-8C8E-3E3CFAB54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872" y="3195932"/>
                <a:ext cx="4790479" cy="461665"/>
              </a:xfrm>
              <a:prstGeom prst="rect">
                <a:avLst/>
              </a:prstGeom>
              <a:blipFill>
                <a:blip r:embed="rId3"/>
                <a:stretch>
                  <a:fillRect l="-2038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757521B-869E-48E5-9BC3-8E3D5A099CF4}"/>
              </a:ext>
            </a:extLst>
          </p:cNvPr>
          <p:cNvSpPr txBox="1"/>
          <p:nvPr/>
        </p:nvSpPr>
        <p:spPr>
          <a:xfrm>
            <a:off x="2874871" y="2321865"/>
            <a:ext cx="6941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The gradient is approximated through a sample </a:t>
            </a:r>
          </a:p>
          <a:p>
            <a:r>
              <a:rPr lang="en-IN" sz="2400" dirty="0"/>
              <a:t>(set of trajectories)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EB6E7-679B-4773-A407-59E2E0FB83A6}"/>
              </a:ext>
            </a:extLst>
          </p:cNvPr>
          <p:cNvSpPr txBox="1"/>
          <p:nvPr/>
        </p:nvSpPr>
        <p:spPr>
          <a:xfrm>
            <a:off x="2875126" y="3825411"/>
            <a:ext cx="4508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The approximation is </a:t>
            </a:r>
            <a:r>
              <a:rPr lang="en-IN" sz="2400" dirty="0">
                <a:solidFill>
                  <a:srgbClr val="00B050"/>
                </a:solidFill>
              </a:rPr>
              <a:t>unbiased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8A9898-B7FA-45C3-8E62-34959CB76131}"/>
              </a:ext>
            </a:extLst>
          </p:cNvPr>
          <p:cNvSpPr txBox="1"/>
          <p:nvPr/>
        </p:nvSpPr>
        <p:spPr>
          <a:xfrm>
            <a:off x="3315761" y="4224057"/>
            <a:ext cx="6906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On the average, the approximated gradient will </a:t>
            </a:r>
          </a:p>
          <a:p>
            <a:r>
              <a:rPr lang="en-IN" sz="2400" dirty="0"/>
              <a:t>converge to the true gradient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4F2E0B-2841-4D35-BF00-187AE1D96117}"/>
              </a:ext>
            </a:extLst>
          </p:cNvPr>
          <p:cNvSpPr txBox="1"/>
          <p:nvPr/>
        </p:nvSpPr>
        <p:spPr>
          <a:xfrm>
            <a:off x="2874871" y="5159849"/>
            <a:ext cx="4977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But the gradient has </a:t>
            </a:r>
            <a:r>
              <a:rPr lang="en-IN" sz="2400" dirty="0">
                <a:solidFill>
                  <a:srgbClr val="FF0000"/>
                </a:solidFill>
              </a:rPr>
              <a:t>high variance</a:t>
            </a:r>
          </a:p>
        </p:txBody>
      </p:sp>
    </p:spTree>
    <p:extLst>
      <p:ext uri="{BB962C8B-B14F-4D97-AF65-F5344CB8AC3E}">
        <p14:creationId xmlns:p14="http://schemas.microsoft.com/office/powerpoint/2010/main" val="421031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4B949-AC79-4DD7-A24D-D15B80DD1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Reducing Variance: Influence of Future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007E7-6AEA-4A1B-9378-A5750AB9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7EED7-CB63-4416-A2A8-448B1434A294}"/>
              </a:ext>
            </a:extLst>
          </p:cNvPr>
          <p:cNvSpPr txBox="1"/>
          <p:nvPr/>
        </p:nvSpPr>
        <p:spPr>
          <a:xfrm>
            <a:off x="2415209" y="1013791"/>
            <a:ext cx="61872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C00000"/>
                </a:solidFill>
              </a:rPr>
              <a:t>Future cannot influence the past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E69860-42F6-4ACB-90F0-DF198D5C7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2" y="1598566"/>
            <a:ext cx="5322457" cy="11786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7DE583-E4A5-4F32-AF61-537700F8B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2" y="2777242"/>
            <a:ext cx="6626043" cy="11128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272ED1-F35C-43D7-959C-96ACA6A7D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2" y="4055770"/>
            <a:ext cx="8167069" cy="17089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354BE0-7FD7-42F9-8DB9-CC2DD74705FC}"/>
              </a:ext>
            </a:extLst>
          </p:cNvPr>
          <p:cNvSpPr txBox="1"/>
          <p:nvPr/>
        </p:nvSpPr>
        <p:spPr>
          <a:xfrm>
            <a:off x="7007087" y="5760873"/>
            <a:ext cx="2057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</a:rPr>
              <a:t>Reward to go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EAAD49-4F82-407C-A567-DAB3BB8A953F}"/>
              </a:ext>
            </a:extLst>
          </p:cNvPr>
          <p:cNvSpPr txBox="1"/>
          <p:nvPr/>
        </p:nvSpPr>
        <p:spPr>
          <a:xfrm>
            <a:off x="1172818" y="6347282"/>
            <a:ext cx="7915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Removing terms in the expression may reduce variance</a:t>
            </a:r>
          </a:p>
        </p:txBody>
      </p:sp>
    </p:spTree>
    <p:extLst>
      <p:ext uri="{BB962C8B-B14F-4D97-AF65-F5344CB8AC3E}">
        <p14:creationId xmlns:p14="http://schemas.microsoft.com/office/powerpoint/2010/main" val="215343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1A1D4-84AF-4C44-8122-0B1BB6C44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Reducing Variance: Baseline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F10CB-97AE-4BDE-AC5A-9278F0459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E986FC-1F82-4833-A77B-338395DED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98" y="982198"/>
            <a:ext cx="9858677" cy="16218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DEE498-899C-4B4C-B151-0D94104DF681}"/>
                  </a:ext>
                </a:extLst>
              </p:cNvPr>
              <p:cNvSpPr txBox="1"/>
              <p:nvPr/>
            </p:nvSpPr>
            <p:spPr>
              <a:xfrm>
                <a:off x="1591977" y="2554627"/>
                <a:ext cx="83908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400" dirty="0"/>
                  <a:t> can be dependant on the state </a:t>
                </a:r>
                <a:r>
                  <a:rPr lang="en-IN" sz="2400" dirty="0">
                    <a:sym typeface="Wingdings" panose="05000000000000000000" pitchFamily="2" charset="2"/>
                  </a:rPr>
                  <a:t> </a:t>
                </a:r>
                <a:r>
                  <a:rPr lang="en-IN" sz="24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Value function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p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e>
                    </m:d>
                  </m:oMath>
                </a14:m>
                <a:r>
                  <a:rPr lang="en-IN" sz="24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)  </a:t>
                </a:r>
                <a:r>
                  <a:rPr lang="en-IN" sz="2400" dirty="0">
                    <a:solidFill>
                      <a:srgbClr val="C00000"/>
                    </a:solidFill>
                  </a:rPr>
                  <a:t> </a:t>
                </a:r>
                <a:endParaRPr lang="en-IN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DEE498-899C-4B4C-B151-0D94104DF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977" y="2554627"/>
                <a:ext cx="8390823" cy="461665"/>
              </a:xfrm>
              <a:prstGeom prst="rect">
                <a:avLst/>
              </a:prstGeom>
              <a:blipFill>
                <a:blip r:embed="rId3"/>
                <a:stretch>
                  <a:fillRect l="-218" t="-10526" r="-145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5D92685-DE4B-4F90-9A61-BE24B310F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894" y="3947218"/>
            <a:ext cx="4564815" cy="78371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A22B6BF-623B-49FD-8DE7-2360E0ED7C38}"/>
              </a:ext>
            </a:extLst>
          </p:cNvPr>
          <p:cNvGrpSpPr/>
          <p:nvPr/>
        </p:nvGrpSpPr>
        <p:grpSpPr>
          <a:xfrm>
            <a:off x="1679291" y="3433765"/>
            <a:ext cx="2808599" cy="2392251"/>
            <a:chOff x="1679291" y="3433765"/>
            <a:chExt cx="2808599" cy="23922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CB0F56BC-E84D-472B-B136-38325BA87D84}"/>
                    </a:ext>
                  </a:extLst>
                </p:cNvPr>
                <p:cNvSpPr/>
                <p:nvPr/>
              </p:nvSpPr>
              <p:spPr>
                <a:xfrm>
                  <a:off x="3083591" y="3433765"/>
                  <a:ext cx="461665" cy="46166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CB0F56BC-E84D-472B-B136-38325BA87D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3591" y="3433765"/>
                  <a:ext cx="461665" cy="461665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FA82BBC-6664-4AB1-B45C-F274B6F59B6F}"/>
                </a:ext>
              </a:extLst>
            </p:cNvPr>
            <p:cNvSpPr/>
            <p:nvPr/>
          </p:nvSpPr>
          <p:spPr>
            <a:xfrm>
              <a:off x="1679291" y="3702122"/>
              <a:ext cx="1404300" cy="2097156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9569BBB-3616-475E-AEF0-514941506099}"/>
                </a:ext>
              </a:extLst>
            </p:cNvPr>
            <p:cNvSpPr/>
            <p:nvPr/>
          </p:nvSpPr>
          <p:spPr>
            <a:xfrm>
              <a:off x="2576693" y="3794888"/>
              <a:ext cx="556593" cy="1944756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16D619D-6946-4D45-8728-48AFFA9398BE}"/>
                </a:ext>
              </a:extLst>
            </p:cNvPr>
            <p:cNvSpPr/>
            <p:nvPr/>
          </p:nvSpPr>
          <p:spPr>
            <a:xfrm>
              <a:off x="3083591" y="3887654"/>
              <a:ext cx="202095" cy="1851990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A58AD29-153D-4321-80F5-4ACDBDCFB2AA}"/>
                </a:ext>
              </a:extLst>
            </p:cNvPr>
            <p:cNvSpPr/>
            <p:nvPr/>
          </p:nvSpPr>
          <p:spPr>
            <a:xfrm flipH="1">
              <a:off x="3413311" y="3864461"/>
              <a:ext cx="477079" cy="1851990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757AA5-0A2F-45EB-B1E6-5334EE930806}"/>
                </a:ext>
              </a:extLst>
            </p:cNvPr>
            <p:cNvSpPr/>
            <p:nvPr/>
          </p:nvSpPr>
          <p:spPr>
            <a:xfrm flipH="1">
              <a:off x="3522786" y="3728861"/>
              <a:ext cx="965104" cy="2097155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8583C1-422F-4933-BD00-D74A9FFF39E1}"/>
                  </a:ext>
                </a:extLst>
              </p:cNvPr>
              <p:cNvSpPr txBox="1"/>
              <p:nvPr/>
            </p:nvSpPr>
            <p:spPr>
              <a:xfrm>
                <a:off x="5953540" y="5227983"/>
                <a:ext cx="483976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IN" sz="2400" dirty="0"/>
                  <a:t> represents the utility of the state if the policy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IN" sz="2400" dirty="0"/>
                  <a:t> is followed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8583C1-422F-4933-BD00-D74A9FFF3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540" y="5227983"/>
                <a:ext cx="4839762" cy="830997"/>
              </a:xfrm>
              <a:prstGeom prst="rect">
                <a:avLst/>
              </a:prstGeom>
              <a:blipFill>
                <a:blip r:embed="rId6"/>
                <a:stretch>
                  <a:fillRect l="-2015" t="-5147" r="-1385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76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EA5C707-6536-470D-A072-A318941B4BC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Estimating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EA5C707-6536-470D-A072-A318941B4B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601" b="-296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75616-534A-4FC2-BC4F-41EBC41C5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256B7D-CC63-431C-93D7-9649F957C6F2}"/>
              </a:ext>
            </a:extLst>
          </p:cNvPr>
          <p:cNvSpPr/>
          <p:nvPr/>
        </p:nvSpPr>
        <p:spPr>
          <a:xfrm>
            <a:off x="427383" y="6132441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305C3-3EDF-4FE4-B8CC-18FA074DDFE2}"/>
              </a:ext>
            </a:extLst>
          </p:cNvPr>
          <p:cNvSpPr/>
          <p:nvPr/>
        </p:nvSpPr>
        <p:spPr>
          <a:xfrm>
            <a:off x="1374920" y="6132440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F11C0-20FA-46A6-A211-6572D094AB76}"/>
              </a:ext>
            </a:extLst>
          </p:cNvPr>
          <p:cNvSpPr/>
          <p:nvPr/>
        </p:nvSpPr>
        <p:spPr>
          <a:xfrm>
            <a:off x="2322450" y="6138156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28B00-D04F-46D3-942E-B3A0B1802C2F}"/>
              </a:ext>
            </a:extLst>
          </p:cNvPr>
          <p:cNvSpPr/>
          <p:nvPr/>
        </p:nvSpPr>
        <p:spPr>
          <a:xfrm>
            <a:off x="3279922" y="6138155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1C710E-3754-4B31-A175-6469BBDC0DBB}"/>
              </a:ext>
            </a:extLst>
          </p:cNvPr>
          <p:cNvSpPr/>
          <p:nvPr/>
        </p:nvSpPr>
        <p:spPr>
          <a:xfrm>
            <a:off x="4227452" y="6126726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B0B97C-1DFF-4A39-9469-4F1CC0B26BB4}"/>
              </a:ext>
            </a:extLst>
          </p:cNvPr>
          <p:cNvSpPr/>
          <p:nvPr/>
        </p:nvSpPr>
        <p:spPr>
          <a:xfrm>
            <a:off x="5184923" y="6126725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FEE3C-E11F-4DCE-BED2-DC02E14D5BFD}"/>
              </a:ext>
            </a:extLst>
          </p:cNvPr>
          <p:cNvSpPr/>
          <p:nvPr/>
        </p:nvSpPr>
        <p:spPr>
          <a:xfrm>
            <a:off x="6132458" y="6132441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FE1462-5B41-4902-816A-C6D5DC314028}"/>
              </a:ext>
            </a:extLst>
          </p:cNvPr>
          <p:cNvSpPr/>
          <p:nvPr/>
        </p:nvSpPr>
        <p:spPr>
          <a:xfrm>
            <a:off x="7089930" y="6132440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B795BC-3D4C-49DB-BC2D-7ABFADA5FDBF}"/>
                  </a:ext>
                </a:extLst>
              </p:cNvPr>
              <p:cNvSpPr/>
              <p:nvPr/>
            </p:nvSpPr>
            <p:spPr>
              <a:xfrm>
                <a:off x="427383" y="4810537"/>
                <a:ext cx="7474234" cy="87464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/>
                  <a:t>Language Model (Policy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2800" dirty="0"/>
                  <a:t>)</a:t>
                </a: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B795BC-3D4C-49DB-BC2D-7ABFADA5F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83" y="4810537"/>
                <a:ext cx="7474234" cy="8746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2DE2DB-397A-484A-939F-D16E33A65DB1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33227" y="5685181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3AA7E2-3C1C-4211-B89C-E99C2CB090E8}"/>
              </a:ext>
            </a:extLst>
          </p:cNvPr>
          <p:cNvCxnSpPr>
            <a:cxnSpLocks/>
          </p:cNvCxnSpPr>
          <p:nvPr/>
        </p:nvCxnSpPr>
        <p:spPr>
          <a:xfrm flipV="1">
            <a:off x="1780757" y="5689404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C85BD3-DFE5-4D9F-9CC3-EE03F73CF9BA}"/>
              </a:ext>
            </a:extLst>
          </p:cNvPr>
          <p:cNvCxnSpPr>
            <a:cxnSpLocks/>
          </p:cNvCxnSpPr>
          <p:nvPr/>
        </p:nvCxnSpPr>
        <p:spPr>
          <a:xfrm flipV="1">
            <a:off x="2752291" y="5685181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64FCBC-1606-4F75-B9FA-84760A04CD4C}"/>
              </a:ext>
            </a:extLst>
          </p:cNvPr>
          <p:cNvCxnSpPr>
            <a:cxnSpLocks/>
          </p:cNvCxnSpPr>
          <p:nvPr/>
        </p:nvCxnSpPr>
        <p:spPr>
          <a:xfrm flipV="1">
            <a:off x="3699821" y="5689404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00E237-90CE-471E-AB8F-7E2B32F1216F}"/>
              </a:ext>
            </a:extLst>
          </p:cNvPr>
          <p:cNvCxnSpPr>
            <a:cxnSpLocks/>
          </p:cNvCxnSpPr>
          <p:nvPr/>
        </p:nvCxnSpPr>
        <p:spPr>
          <a:xfrm flipV="1">
            <a:off x="4663105" y="5689404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E9DFDE-4A52-4B78-A5F8-EC99D7D648EF}"/>
              </a:ext>
            </a:extLst>
          </p:cNvPr>
          <p:cNvCxnSpPr>
            <a:cxnSpLocks/>
          </p:cNvCxnSpPr>
          <p:nvPr/>
        </p:nvCxnSpPr>
        <p:spPr>
          <a:xfrm flipV="1">
            <a:off x="5610635" y="5693627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B435A9C-02D6-4301-989F-002260519BA2}"/>
              </a:ext>
            </a:extLst>
          </p:cNvPr>
          <p:cNvCxnSpPr>
            <a:cxnSpLocks/>
          </p:cNvCxnSpPr>
          <p:nvPr/>
        </p:nvCxnSpPr>
        <p:spPr>
          <a:xfrm flipV="1">
            <a:off x="6582169" y="5689404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4F1D546-6F78-4408-BEA8-6BFCC3B2D8BE}"/>
              </a:ext>
            </a:extLst>
          </p:cNvPr>
          <p:cNvCxnSpPr>
            <a:cxnSpLocks/>
          </p:cNvCxnSpPr>
          <p:nvPr/>
        </p:nvCxnSpPr>
        <p:spPr>
          <a:xfrm flipV="1">
            <a:off x="7529699" y="5693627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7A48898-BBD2-4232-A50F-43132775AE75}"/>
                  </a:ext>
                </a:extLst>
              </p:cNvPr>
              <p:cNvSpPr/>
              <p:nvPr/>
            </p:nvSpPr>
            <p:spPr>
              <a:xfrm>
                <a:off x="427383" y="4137985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7A48898-BBD2-4232-A50F-43132775AE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83" y="4137985"/>
                <a:ext cx="811687" cy="384183"/>
              </a:xfrm>
              <a:prstGeom prst="rect">
                <a:avLst/>
              </a:prstGeom>
              <a:blipFill>
                <a:blip r:embed="rId4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9B0A573-027C-4E29-B08D-CCEBC26C4879}"/>
                  </a:ext>
                </a:extLst>
              </p:cNvPr>
              <p:cNvSpPr/>
              <p:nvPr/>
            </p:nvSpPr>
            <p:spPr>
              <a:xfrm>
                <a:off x="1374920" y="4137984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9B0A573-027C-4E29-B08D-CCEBC26C48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920" y="4137984"/>
                <a:ext cx="811687" cy="384183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9E44EC3-9789-4E1C-A8B5-831456D8B1FA}"/>
                  </a:ext>
                </a:extLst>
              </p:cNvPr>
              <p:cNvSpPr/>
              <p:nvPr/>
            </p:nvSpPr>
            <p:spPr>
              <a:xfrm>
                <a:off x="2322450" y="4143700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9E44EC3-9789-4E1C-A8B5-831456D8B1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450" y="4143700"/>
                <a:ext cx="811687" cy="384183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859ACD6-2D02-41FF-B819-BF3FD8AD7DEC}"/>
                  </a:ext>
                </a:extLst>
              </p:cNvPr>
              <p:cNvSpPr/>
              <p:nvPr/>
            </p:nvSpPr>
            <p:spPr>
              <a:xfrm>
                <a:off x="3279922" y="4143699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859ACD6-2D02-41FF-B819-BF3FD8AD7D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922" y="4143699"/>
                <a:ext cx="811687" cy="384183"/>
              </a:xfrm>
              <a:prstGeom prst="rect">
                <a:avLst/>
              </a:prstGeom>
              <a:blipFill>
                <a:blip r:embed="rId7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E6305CB-03CB-47EC-80EF-784A7BC9AC24}"/>
                  </a:ext>
                </a:extLst>
              </p:cNvPr>
              <p:cNvSpPr/>
              <p:nvPr/>
            </p:nvSpPr>
            <p:spPr>
              <a:xfrm>
                <a:off x="4227452" y="4132270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E6305CB-03CB-47EC-80EF-784A7BC9A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452" y="4132270"/>
                <a:ext cx="811687" cy="384183"/>
              </a:xfrm>
              <a:prstGeom prst="rect">
                <a:avLst/>
              </a:prstGeom>
              <a:blipFill>
                <a:blip r:embed="rId8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BB3C9AD-1A32-4FB0-92E4-3777D475BF69}"/>
                  </a:ext>
                </a:extLst>
              </p:cNvPr>
              <p:cNvSpPr/>
              <p:nvPr/>
            </p:nvSpPr>
            <p:spPr>
              <a:xfrm>
                <a:off x="5184923" y="4132269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BB3C9AD-1A32-4FB0-92E4-3777D475BF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923" y="4132269"/>
                <a:ext cx="811687" cy="3841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722A760-3DC6-4C9E-A545-B3D484812C65}"/>
                  </a:ext>
                </a:extLst>
              </p:cNvPr>
              <p:cNvSpPr/>
              <p:nvPr/>
            </p:nvSpPr>
            <p:spPr>
              <a:xfrm>
                <a:off x="6132458" y="4137985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722A760-3DC6-4C9E-A545-B3D484812C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458" y="4137985"/>
                <a:ext cx="811687" cy="3841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BDF7B46-2FA4-4B2E-BB66-22FEDD6EB562}"/>
                  </a:ext>
                </a:extLst>
              </p:cNvPr>
              <p:cNvSpPr/>
              <p:nvPr/>
            </p:nvSpPr>
            <p:spPr>
              <a:xfrm>
                <a:off x="7089930" y="4137984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BDF7B46-2FA4-4B2E-BB66-22FEDD6EB5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930" y="4137984"/>
                <a:ext cx="811687" cy="3841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D159902B-77EC-4A57-B229-D9BC753819C8}"/>
              </a:ext>
            </a:extLst>
          </p:cNvPr>
          <p:cNvGrpSpPr/>
          <p:nvPr/>
        </p:nvGrpSpPr>
        <p:grpSpPr>
          <a:xfrm>
            <a:off x="831566" y="4522305"/>
            <a:ext cx="6696472" cy="288231"/>
            <a:chOff x="831566" y="4503916"/>
            <a:chExt cx="6696472" cy="455706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3FDBF70-CE72-44FD-89A7-D24E9773DA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66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7813136-CC5F-414D-B5A4-F7FD4663A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096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4B90BCF-F274-4AAA-BCF2-3760BBD67B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0630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0EB66BD-66B2-4E59-8A67-C3E747DE8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160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9C90D89-748D-42DD-B08E-27895E396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D6AEBED-2FA0-48EB-BD69-3FBA02FED6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C3D8EF3-F498-457E-9990-F355117C1F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90C84ED-880B-4751-9794-831725838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870FF755-505F-41EC-827E-17AE4A3D98F4}"/>
              </a:ext>
            </a:extLst>
          </p:cNvPr>
          <p:cNvSpPr/>
          <p:nvPr/>
        </p:nvSpPr>
        <p:spPr>
          <a:xfrm>
            <a:off x="4259716" y="3465108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p5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7B52C2C-45BD-47D3-A4B0-E048FF6E2AEB}"/>
              </a:ext>
            </a:extLst>
          </p:cNvPr>
          <p:cNvSpPr/>
          <p:nvPr/>
        </p:nvSpPr>
        <p:spPr>
          <a:xfrm>
            <a:off x="5217187" y="3465107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0C4014-83B7-4BF9-B2F5-106801FA4903}"/>
              </a:ext>
            </a:extLst>
          </p:cNvPr>
          <p:cNvSpPr/>
          <p:nvPr/>
        </p:nvSpPr>
        <p:spPr>
          <a:xfrm>
            <a:off x="6164722" y="3470823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5DC5A18-2CF0-4E99-A197-F0AE3BCA40D1}"/>
              </a:ext>
            </a:extLst>
          </p:cNvPr>
          <p:cNvSpPr/>
          <p:nvPr/>
        </p:nvSpPr>
        <p:spPr>
          <a:xfrm>
            <a:off x="7122194" y="3470822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a3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E1D7D1B-06D2-4E82-86B2-6D80B839BFF5}"/>
              </a:ext>
            </a:extLst>
          </p:cNvPr>
          <p:cNvGrpSpPr/>
          <p:nvPr/>
        </p:nvGrpSpPr>
        <p:grpSpPr>
          <a:xfrm>
            <a:off x="815010" y="3850672"/>
            <a:ext cx="6696472" cy="288231"/>
            <a:chOff x="831566" y="4503916"/>
            <a:chExt cx="6696472" cy="455706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723B74F-704C-447E-B89B-C7BDE6169E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66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096B4AC-57C3-4BC8-B5F3-2CF4B7557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096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5AB33C3-22AF-45CD-9020-0525264980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0630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A14FD5DA-79F1-411C-8329-C1D0951F72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160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09EA2F5-C414-4E8C-8E10-321CD2023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62BF7296-C716-440B-ADDB-53EB77F2D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9EB0FA9B-79A3-42EB-BC87-C019844BF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C6B76BE-A8BF-4881-AAF6-11D2DB5EAD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D74F768-BCEE-44AE-872C-AFBA4E32B1D0}"/>
              </a:ext>
            </a:extLst>
          </p:cNvPr>
          <p:cNvGrpSpPr/>
          <p:nvPr/>
        </p:nvGrpSpPr>
        <p:grpSpPr>
          <a:xfrm>
            <a:off x="4644888" y="3176741"/>
            <a:ext cx="2866594" cy="285560"/>
            <a:chOff x="4661444" y="4508139"/>
            <a:chExt cx="2866594" cy="451483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ABDC6718-ADF3-40CE-9F6D-61A897BEAD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61C4265F-5507-46EE-80C4-D2D38F7BF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3A51EBFE-8337-460A-BDF4-A9F093C9F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DF04797D-916C-4F96-BBD6-7E26C1A0B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3265AF9-5273-41E9-941B-A2FB992E3B9F}"/>
                  </a:ext>
                </a:extLst>
              </p:cNvPr>
              <p:cNvSpPr txBox="1"/>
              <p:nvPr/>
            </p:nvSpPr>
            <p:spPr>
              <a:xfrm>
                <a:off x="725163" y="6150499"/>
                <a:ext cx="280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3265AF9-5273-41E9-941B-A2FB992E3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63" y="6150499"/>
                <a:ext cx="280654" cy="276999"/>
              </a:xfrm>
              <a:prstGeom prst="rect">
                <a:avLst/>
              </a:prstGeom>
              <a:blipFill>
                <a:blip r:embed="rId12"/>
                <a:stretch>
                  <a:fillRect l="-19565" r="-6522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EFD53BC-CB79-4C07-93ED-9CE483C33DE0}"/>
                  </a:ext>
                </a:extLst>
              </p:cNvPr>
              <p:cNvSpPr txBox="1"/>
              <p:nvPr/>
            </p:nvSpPr>
            <p:spPr>
              <a:xfrm>
                <a:off x="1675267" y="6166481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EFD53BC-CB79-4C07-93ED-9CE483C33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267" y="6166481"/>
                <a:ext cx="285976" cy="276999"/>
              </a:xfrm>
              <a:prstGeom prst="rect">
                <a:avLst/>
              </a:prstGeom>
              <a:blipFill>
                <a:blip r:embed="rId13"/>
                <a:stretch>
                  <a:fillRect l="-19149" r="-6383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FC08C4-4D00-4F9F-A5B2-8FBAB1D88ABA}"/>
                  </a:ext>
                </a:extLst>
              </p:cNvPr>
              <p:cNvSpPr txBox="1"/>
              <p:nvPr/>
            </p:nvSpPr>
            <p:spPr>
              <a:xfrm>
                <a:off x="2626380" y="6156542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FC08C4-4D00-4F9F-A5B2-8FBAB1D88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380" y="6156542"/>
                <a:ext cx="285976" cy="276999"/>
              </a:xfrm>
              <a:prstGeom prst="rect">
                <a:avLst/>
              </a:prstGeom>
              <a:blipFill>
                <a:blip r:embed="rId14"/>
                <a:stretch>
                  <a:fillRect l="-19149" r="-6383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22CF63B-B469-447B-8763-8FB42531758D}"/>
                  </a:ext>
                </a:extLst>
              </p:cNvPr>
              <p:cNvSpPr txBox="1"/>
              <p:nvPr/>
            </p:nvSpPr>
            <p:spPr>
              <a:xfrm>
                <a:off x="3601359" y="6135355"/>
                <a:ext cx="284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22CF63B-B469-447B-8763-8FB425317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359" y="6135355"/>
                <a:ext cx="284245" cy="276999"/>
              </a:xfrm>
              <a:prstGeom prst="rect">
                <a:avLst/>
              </a:prstGeom>
              <a:blipFill>
                <a:blip r:embed="rId15"/>
                <a:stretch>
                  <a:fillRect l="-19565" r="-8696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AE4521-CCF2-4AD3-B19A-C2DA7BE419A0}"/>
                  </a:ext>
                </a:extLst>
              </p:cNvPr>
              <p:cNvSpPr txBox="1"/>
              <p:nvPr/>
            </p:nvSpPr>
            <p:spPr>
              <a:xfrm>
                <a:off x="4528761" y="6155889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AE4521-CCF2-4AD3-B19A-C2DA7BE41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761" y="6155889"/>
                <a:ext cx="285976" cy="276999"/>
              </a:xfrm>
              <a:prstGeom prst="rect">
                <a:avLst/>
              </a:prstGeom>
              <a:blipFill>
                <a:blip r:embed="rId16"/>
                <a:stretch>
                  <a:fillRect l="-19149" r="-8511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ED4B929-74FD-4B46-997B-52D91907B160}"/>
                  </a:ext>
                </a:extLst>
              </p:cNvPr>
              <p:cNvSpPr txBox="1"/>
              <p:nvPr/>
            </p:nvSpPr>
            <p:spPr>
              <a:xfrm>
                <a:off x="5476893" y="6162389"/>
                <a:ext cx="287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ED4B929-74FD-4B46-997B-52D91907B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93" y="6162389"/>
                <a:ext cx="287963" cy="276999"/>
              </a:xfrm>
              <a:prstGeom prst="rect">
                <a:avLst/>
              </a:prstGeom>
              <a:blipFill>
                <a:blip r:embed="rId17"/>
                <a:stretch>
                  <a:fillRect l="-10417" r="-625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8AFBA02-BAB8-4895-9952-F1095B3057B4}"/>
                  </a:ext>
                </a:extLst>
              </p:cNvPr>
              <p:cNvSpPr txBox="1"/>
              <p:nvPr/>
            </p:nvSpPr>
            <p:spPr>
              <a:xfrm>
                <a:off x="6436526" y="6160438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8AFBA02-BAB8-4895-9952-F1095B305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526" y="6160438"/>
                <a:ext cx="293285" cy="276999"/>
              </a:xfrm>
              <a:prstGeom prst="rect">
                <a:avLst/>
              </a:prstGeom>
              <a:blipFill>
                <a:blip r:embed="rId18"/>
                <a:stretch>
                  <a:fillRect l="-10417" r="-625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9C6D853-C039-43AA-81FA-77B10DE7E3F3}"/>
                  </a:ext>
                </a:extLst>
              </p:cNvPr>
              <p:cNvSpPr txBox="1"/>
              <p:nvPr/>
            </p:nvSpPr>
            <p:spPr>
              <a:xfrm>
                <a:off x="7426316" y="6159406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9C6D853-C039-43AA-81FA-77B10DE7E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316" y="6159406"/>
                <a:ext cx="293285" cy="276999"/>
              </a:xfrm>
              <a:prstGeom prst="rect">
                <a:avLst/>
              </a:prstGeom>
              <a:blipFill>
                <a:blip r:embed="rId19"/>
                <a:stretch>
                  <a:fillRect l="-10417" r="-8333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948335D0-398A-4935-9CA2-3B735C1EF938}"/>
              </a:ext>
            </a:extLst>
          </p:cNvPr>
          <p:cNvSpPr txBox="1"/>
          <p:nvPr/>
        </p:nvSpPr>
        <p:spPr>
          <a:xfrm>
            <a:off x="8614336" y="2448714"/>
            <a:ext cx="3402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Linear layer with one output</a:t>
            </a:r>
            <a:endParaRPr lang="en-IN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2E2387-57D2-4C8E-9974-581CE42AC62E}"/>
              </a:ext>
            </a:extLst>
          </p:cNvPr>
          <p:cNvCxnSpPr/>
          <p:nvPr/>
        </p:nvCxnSpPr>
        <p:spPr>
          <a:xfrm flipH="1">
            <a:off x="7963635" y="2667001"/>
            <a:ext cx="680455" cy="0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2457B20-DA83-4B31-84C4-DA82C1D16D84}"/>
              </a:ext>
            </a:extLst>
          </p:cNvPr>
          <p:cNvSpPr/>
          <p:nvPr/>
        </p:nvSpPr>
        <p:spPr>
          <a:xfrm>
            <a:off x="4243160" y="2752759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Linear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5EF212A-B80E-479A-B82C-301C493ABC90}"/>
              </a:ext>
            </a:extLst>
          </p:cNvPr>
          <p:cNvSpPr/>
          <p:nvPr/>
        </p:nvSpPr>
        <p:spPr>
          <a:xfrm>
            <a:off x="5200631" y="2752758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Linear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BACC827-D104-49F4-9868-2DDFA6365640}"/>
              </a:ext>
            </a:extLst>
          </p:cNvPr>
          <p:cNvSpPr/>
          <p:nvPr/>
        </p:nvSpPr>
        <p:spPr>
          <a:xfrm>
            <a:off x="6148166" y="2758474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Linear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65245C3-9E50-45DF-B048-D8C2A740A425}"/>
              </a:ext>
            </a:extLst>
          </p:cNvPr>
          <p:cNvSpPr/>
          <p:nvPr/>
        </p:nvSpPr>
        <p:spPr>
          <a:xfrm>
            <a:off x="7105638" y="2758473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Linear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A3130F5-A28F-47CF-9B9E-6A37076165F6}"/>
              </a:ext>
            </a:extLst>
          </p:cNvPr>
          <p:cNvGrpSpPr/>
          <p:nvPr/>
        </p:nvGrpSpPr>
        <p:grpSpPr>
          <a:xfrm>
            <a:off x="4628332" y="2464392"/>
            <a:ext cx="2866594" cy="285560"/>
            <a:chOff x="4661444" y="4508139"/>
            <a:chExt cx="2866594" cy="451483"/>
          </a:xfrm>
        </p:grpSpPr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CF2C8B07-A7B4-4D99-B7A1-F7D7AE76D5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C9BB331B-0F71-4860-BE2A-24BA99257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82EF675-2D14-4175-AAAB-5356D5061E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8D199D75-AD6A-467D-A489-2DC07E8A72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261BB6-E4C7-4E7D-B449-075182E9F0C0}"/>
                  </a:ext>
                </a:extLst>
              </p:cNvPr>
              <p:cNvSpPr txBox="1"/>
              <p:nvPr/>
            </p:nvSpPr>
            <p:spPr>
              <a:xfrm>
                <a:off x="4318907" y="2144755"/>
                <a:ext cx="632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261BB6-E4C7-4E7D-B449-075182E9F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907" y="2144755"/>
                <a:ext cx="632093" cy="369332"/>
              </a:xfrm>
              <a:prstGeom prst="rect">
                <a:avLst/>
              </a:prstGeom>
              <a:blipFill>
                <a:blip r:embed="rId20"/>
                <a:stretch>
                  <a:fillRect r="-39423"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B3795F6-B20F-4857-AD08-BE0B2B7B61AB}"/>
                  </a:ext>
                </a:extLst>
              </p:cNvPr>
              <p:cNvSpPr txBox="1"/>
              <p:nvPr/>
            </p:nvSpPr>
            <p:spPr>
              <a:xfrm>
                <a:off x="5136811" y="2118923"/>
                <a:ext cx="632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B3795F6-B20F-4857-AD08-BE0B2B7B6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811" y="2118923"/>
                <a:ext cx="632093" cy="369332"/>
              </a:xfrm>
              <a:prstGeom prst="rect">
                <a:avLst/>
              </a:prstGeom>
              <a:blipFill>
                <a:blip r:embed="rId21"/>
                <a:stretch>
                  <a:fillRect r="-39806"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2BD9442-BD99-4425-8E03-FE34312E22F7}"/>
                  </a:ext>
                </a:extLst>
              </p:cNvPr>
              <p:cNvSpPr txBox="1"/>
              <p:nvPr/>
            </p:nvSpPr>
            <p:spPr>
              <a:xfrm>
                <a:off x="6191779" y="2110823"/>
                <a:ext cx="632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2BD9442-BD99-4425-8E03-FE34312E2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779" y="2110823"/>
                <a:ext cx="632093" cy="369332"/>
              </a:xfrm>
              <a:prstGeom prst="rect">
                <a:avLst/>
              </a:prstGeom>
              <a:blipFill>
                <a:blip r:embed="rId22"/>
                <a:stretch>
                  <a:fillRect r="-40777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F82B657-A186-49E5-A7CA-82DD264B15F7}"/>
                  </a:ext>
                </a:extLst>
              </p:cNvPr>
              <p:cNvSpPr txBox="1"/>
              <p:nvPr/>
            </p:nvSpPr>
            <p:spPr>
              <a:xfrm>
                <a:off x="7155001" y="2116643"/>
                <a:ext cx="632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F82B657-A186-49E5-A7CA-82DD264B1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001" y="2116643"/>
                <a:ext cx="632093" cy="369332"/>
              </a:xfrm>
              <a:prstGeom prst="rect">
                <a:avLst/>
              </a:prstGeom>
              <a:blipFill>
                <a:blip r:embed="rId23"/>
                <a:stretch>
                  <a:fillRect r="-40777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7E7F7E2-6E9D-492D-83D5-9C7FDC505E07}"/>
              </a:ext>
            </a:extLst>
          </p:cNvPr>
          <p:cNvSpPr txBox="1"/>
          <p:nvPr/>
        </p:nvSpPr>
        <p:spPr>
          <a:xfrm>
            <a:off x="8257701" y="3947603"/>
            <a:ext cx="3934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Training data: Generate a trajectory and calculate reward at each point</a:t>
            </a:r>
          </a:p>
        </p:txBody>
      </p:sp>
    </p:spTree>
    <p:extLst>
      <p:ext uri="{BB962C8B-B14F-4D97-AF65-F5344CB8AC3E}">
        <p14:creationId xmlns:p14="http://schemas.microsoft.com/office/powerpoint/2010/main" val="332035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C707-6536-470D-A072-A318941B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Overall Model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75616-534A-4FC2-BC4F-41EBC41C5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256B7D-CC63-431C-93D7-9649F957C6F2}"/>
              </a:ext>
            </a:extLst>
          </p:cNvPr>
          <p:cNvSpPr/>
          <p:nvPr/>
        </p:nvSpPr>
        <p:spPr>
          <a:xfrm>
            <a:off x="427383" y="6132441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305C3-3EDF-4FE4-B8CC-18FA074DDFE2}"/>
              </a:ext>
            </a:extLst>
          </p:cNvPr>
          <p:cNvSpPr/>
          <p:nvPr/>
        </p:nvSpPr>
        <p:spPr>
          <a:xfrm>
            <a:off x="1374920" y="6132440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F11C0-20FA-46A6-A211-6572D094AB76}"/>
              </a:ext>
            </a:extLst>
          </p:cNvPr>
          <p:cNvSpPr/>
          <p:nvPr/>
        </p:nvSpPr>
        <p:spPr>
          <a:xfrm>
            <a:off x="2322450" y="6138156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28B00-D04F-46D3-942E-B3A0B1802C2F}"/>
              </a:ext>
            </a:extLst>
          </p:cNvPr>
          <p:cNvSpPr/>
          <p:nvPr/>
        </p:nvSpPr>
        <p:spPr>
          <a:xfrm>
            <a:off x="3279922" y="6138155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1C710E-3754-4B31-A175-6469BBDC0DBB}"/>
              </a:ext>
            </a:extLst>
          </p:cNvPr>
          <p:cNvSpPr/>
          <p:nvPr/>
        </p:nvSpPr>
        <p:spPr>
          <a:xfrm>
            <a:off x="4227452" y="6126726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B0B97C-1DFF-4A39-9469-4F1CC0B26BB4}"/>
              </a:ext>
            </a:extLst>
          </p:cNvPr>
          <p:cNvSpPr/>
          <p:nvPr/>
        </p:nvSpPr>
        <p:spPr>
          <a:xfrm>
            <a:off x="5184923" y="6126725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FEE3C-E11F-4DCE-BED2-DC02E14D5BFD}"/>
              </a:ext>
            </a:extLst>
          </p:cNvPr>
          <p:cNvSpPr/>
          <p:nvPr/>
        </p:nvSpPr>
        <p:spPr>
          <a:xfrm>
            <a:off x="6132458" y="6132441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FE1462-5B41-4902-816A-C6D5DC314028}"/>
              </a:ext>
            </a:extLst>
          </p:cNvPr>
          <p:cNvSpPr/>
          <p:nvPr/>
        </p:nvSpPr>
        <p:spPr>
          <a:xfrm>
            <a:off x="7089930" y="6132440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B795BC-3D4C-49DB-BC2D-7ABFADA5FDBF}"/>
                  </a:ext>
                </a:extLst>
              </p:cNvPr>
              <p:cNvSpPr/>
              <p:nvPr/>
            </p:nvSpPr>
            <p:spPr>
              <a:xfrm>
                <a:off x="427383" y="4810537"/>
                <a:ext cx="7474234" cy="87464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/>
                  <a:t>Language Model (Policy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2800" dirty="0"/>
                  <a:t>)</a:t>
                </a: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B795BC-3D4C-49DB-BC2D-7ABFADA5F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83" y="4810537"/>
                <a:ext cx="7474234" cy="8746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2DE2DB-397A-484A-939F-D16E33A65DB1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33227" y="5685181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3AA7E2-3C1C-4211-B89C-E99C2CB090E8}"/>
              </a:ext>
            </a:extLst>
          </p:cNvPr>
          <p:cNvCxnSpPr>
            <a:cxnSpLocks/>
          </p:cNvCxnSpPr>
          <p:nvPr/>
        </p:nvCxnSpPr>
        <p:spPr>
          <a:xfrm flipV="1">
            <a:off x="1780757" y="5689404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C85BD3-DFE5-4D9F-9CC3-EE03F73CF9BA}"/>
              </a:ext>
            </a:extLst>
          </p:cNvPr>
          <p:cNvCxnSpPr>
            <a:cxnSpLocks/>
          </p:cNvCxnSpPr>
          <p:nvPr/>
        </p:nvCxnSpPr>
        <p:spPr>
          <a:xfrm flipV="1">
            <a:off x="2752291" y="5685181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64FCBC-1606-4F75-B9FA-84760A04CD4C}"/>
              </a:ext>
            </a:extLst>
          </p:cNvPr>
          <p:cNvCxnSpPr>
            <a:cxnSpLocks/>
          </p:cNvCxnSpPr>
          <p:nvPr/>
        </p:nvCxnSpPr>
        <p:spPr>
          <a:xfrm flipV="1">
            <a:off x="3699821" y="5689404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00E237-90CE-471E-AB8F-7E2B32F1216F}"/>
              </a:ext>
            </a:extLst>
          </p:cNvPr>
          <p:cNvCxnSpPr>
            <a:cxnSpLocks/>
          </p:cNvCxnSpPr>
          <p:nvPr/>
        </p:nvCxnSpPr>
        <p:spPr>
          <a:xfrm flipV="1">
            <a:off x="4663105" y="5689404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E9DFDE-4A52-4B78-A5F8-EC99D7D648EF}"/>
              </a:ext>
            </a:extLst>
          </p:cNvPr>
          <p:cNvCxnSpPr>
            <a:cxnSpLocks/>
          </p:cNvCxnSpPr>
          <p:nvPr/>
        </p:nvCxnSpPr>
        <p:spPr>
          <a:xfrm flipV="1">
            <a:off x="5610635" y="5693627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B435A9C-02D6-4301-989F-002260519BA2}"/>
              </a:ext>
            </a:extLst>
          </p:cNvPr>
          <p:cNvCxnSpPr>
            <a:cxnSpLocks/>
          </p:cNvCxnSpPr>
          <p:nvPr/>
        </p:nvCxnSpPr>
        <p:spPr>
          <a:xfrm flipV="1">
            <a:off x="6582169" y="5689404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4F1D546-6F78-4408-BEA8-6BFCC3B2D8BE}"/>
              </a:ext>
            </a:extLst>
          </p:cNvPr>
          <p:cNvCxnSpPr>
            <a:cxnSpLocks/>
          </p:cNvCxnSpPr>
          <p:nvPr/>
        </p:nvCxnSpPr>
        <p:spPr>
          <a:xfrm flipV="1">
            <a:off x="7529699" y="5693627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7A48898-BBD2-4232-A50F-43132775AE75}"/>
                  </a:ext>
                </a:extLst>
              </p:cNvPr>
              <p:cNvSpPr/>
              <p:nvPr/>
            </p:nvSpPr>
            <p:spPr>
              <a:xfrm>
                <a:off x="427383" y="4137985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7A48898-BBD2-4232-A50F-43132775AE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83" y="4137985"/>
                <a:ext cx="811687" cy="384183"/>
              </a:xfrm>
              <a:prstGeom prst="rect">
                <a:avLst/>
              </a:prstGeom>
              <a:blipFill>
                <a:blip r:embed="rId3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9B0A573-027C-4E29-B08D-CCEBC26C4879}"/>
                  </a:ext>
                </a:extLst>
              </p:cNvPr>
              <p:cNvSpPr/>
              <p:nvPr/>
            </p:nvSpPr>
            <p:spPr>
              <a:xfrm>
                <a:off x="1374920" y="4137984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9B0A573-027C-4E29-B08D-CCEBC26C48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920" y="4137984"/>
                <a:ext cx="811687" cy="384183"/>
              </a:xfrm>
              <a:prstGeom prst="rect">
                <a:avLst/>
              </a:prstGeom>
              <a:blipFill>
                <a:blip r:embed="rId4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9E44EC3-9789-4E1C-A8B5-831456D8B1FA}"/>
                  </a:ext>
                </a:extLst>
              </p:cNvPr>
              <p:cNvSpPr/>
              <p:nvPr/>
            </p:nvSpPr>
            <p:spPr>
              <a:xfrm>
                <a:off x="2322450" y="4143700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9E44EC3-9789-4E1C-A8B5-831456D8B1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450" y="4143700"/>
                <a:ext cx="811687" cy="384183"/>
              </a:xfrm>
              <a:prstGeom prst="rect">
                <a:avLst/>
              </a:prstGeom>
              <a:blipFill>
                <a:blip r:embed="rId5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859ACD6-2D02-41FF-B819-BF3FD8AD7DEC}"/>
                  </a:ext>
                </a:extLst>
              </p:cNvPr>
              <p:cNvSpPr/>
              <p:nvPr/>
            </p:nvSpPr>
            <p:spPr>
              <a:xfrm>
                <a:off x="3279922" y="4143699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859ACD6-2D02-41FF-B819-BF3FD8AD7D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922" y="4143699"/>
                <a:ext cx="811687" cy="384183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E6305CB-03CB-47EC-80EF-784A7BC9AC24}"/>
                  </a:ext>
                </a:extLst>
              </p:cNvPr>
              <p:cNvSpPr/>
              <p:nvPr/>
            </p:nvSpPr>
            <p:spPr>
              <a:xfrm>
                <a:off x="4227452" y="4132270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E6305CB-03CB-47EC-80EF-784A7BC9A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452" y="4132270"/>
                <a:ext cx="811687" cy="384183"/>
              </a:xfrm>
              <a:prstGeom prst="rect">
                <a:avLst/>
              </a:prstGeom>
              <a:blipFill>
                <a:blip r:embed="rId7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BB3C9AD-1A32-4FB0-92E4-3777D475BF69}"/>
                  </a:ext>
                </a:extLst>
              </p:cNvPr>
              <p:cNvSpPr/>
              <p:nvPr/>
            </p:nvSpPr>
            <p:spPr>
              <a:xfrm>
                <a:off x="5184923" y="4132269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BB3C9AD-1A32-4FB0-92E4-3777D475BF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923" y="4132269"/>
                <a:ext cx="811687" cy="3841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722A760-3DC6-4C9E-A545-B3D484812C65}"/>
                  </a:ext>
                </a:extLst>
              </p:cNvPr>
              <p:cNvSpPr/>
              <p:nvPr/>
            </p:nvSpPr>
            <p:spPr>
              <a:xfrm>
                <a:off x="6132458" y="4137985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722A760-3DC6-4C9E-A545-B3D484812C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458" y="4137985"/>
                <a:ext cx="811687" cy="3841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BDF7B46-2FA4-4B2E-BB66-22FEDD6EB562}"/>
                  </a:ext>
                </a:extLst>
              </p:cNvPr>
              <p:cNvSpPr/>
              <p:nvPr/>
            </p:nvSpPr>
            <p:spPr>
              <a:xfrm>
                <a:off x="7089930" y="4137984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BDF7B46-2FA4-4B2E-BB66-22FEDD6EB5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930" y="4137984"/>
                <a:ext cx="811687" cy="3841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D159902B-77EC-4A57-B229-D9BC753819C8}"/>
              </a:ext>
            </a:extLst>
          </p:cNvPr>
          <p:cNvGrpSpPr/>
          <p:nvPr/>
        </p:nvGrpSpPr>
        <p:grpSpPr>
          <a:xfrm>
            <a:off x="831566" y="4522305"/>
            <a:ext cx="6696472" cy="288231"/>
            <a:chOff x="831566" y="4503916"/>
            <a:chExt cx="6696472" cy="455706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3FDBF70-CE72-44FD-89A7-D24E9773DA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66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7813136-CC5F-414D-B5A4-F7FD4663A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096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4B90BCF-F274-4AAA-BCF2-3760BBD67B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0630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0EB66BD-66B2-4E59-8A67-C3E747DE8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160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9C90D89-748D-42DD-B08E-27895E396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D6AEBED-2FA0-48EB-BD69-3FBA02FED6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C3D8EF3-F498-457E-9990-F355117C1F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90C84ED-880B-4751-9794-831725838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870FF755-505F-41EC-827E-17AE4A3D98F4}"/>
              </a:ext>
            </a:extLst>
          </p:cNvPr>
          <p:cNvSpPr/>
          <p:nvPr/>
        </p:nvSpPr>
        <p:spPr>
          <a:xfrm>
            <a:off x="4259716" y="3465108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p5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7B52C2C-45BD-47D3-A4B0-E048FF6E2AEB}"/>
              </a:ext>
            </a:extLst>
          </p:cNvPr>
          <p:cNvSpPr/>
          <p:nvPr/>
        </p:nvSpPr>
        <p:spPr>
          <a:xfrm>
            <a:off x="5217187" y="3465107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0C4014-83B7-4BF9-B2F5-106801FA4903}"/>
              </a:ext>
            </a:extLst>
          </p:cNvPr>
          <p:cNvSpPr/>
          <p:nvPr/>
        </p:nvSpPr>
        <p:spPr>
          <a:xfrm>
            <a:off x="6164722" y="3470823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5DC5A18-2CF0-4E99-A197-F0AE3BCA40D1}"/>
              </a:ext>
            </a:extLst>
          </p:cNvPr>
          <p:cNvSpPr/>
          <p:nvPr/>
        </p:nvSpPr>
        <p:spPr>
          <a:xfrm>
            <a:off x="7122194" y="3470822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a3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E1D7D1B-06D2-4E82-86B2-6D80B839BFF5}"/>
              </a:ext>
            </a:extLst>
          </p:cNvPr>
          <p:cNvGrpSpPr/>
          <p:nvPr/>
        </p:nvGrpSpPr>
        <p:grpSpPr>
          <a:xfrm>
            <a:off x="815010" y="3850672"/>
            <a:ext cx="6696472" cy="288231"/>
            <a:chOff x="831566" y="4503916"/>
            <a:chExt cx="6696472" cy="455706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723B74F-704C-447E-B89B-C7BDE6169E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66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096B4AC-57C3-4BC8-B5F3-2CF4B7557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096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5AB33C3-22AF-45CD-9020-0525264980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0630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A14FD5DA-79F1-411C-8329-C1D0951F72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160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09EA2F5-C414-4E8C-8E10-321CD2023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62BF7296-C716-440B-ADDB-53EB77F2D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9EB0FA9B-79A3-42EB-BC87-C019844BF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C6B76BE-A8BF-4881-AAF6-11D2DB5EAD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D74F768-BCEE-44AE-872C-AFBA4E32B1D0}"/>
              </a:ext>
            </a:extLst>
          </p:cNvPr>
          <p:cNvGrpSpPr/>
          <p:nvPr/>
        </p:nvGrpSpPr>
        <p:grpSpPr>
          <a:xfrm>
            <a:off x="4644888" y="3176741"/>
            <a:ext cx="2866594" cy="285560"/>
            <a:chOff x="4661444" y="4508139"/>
            <a:chExt cx="2866594" cy="451483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ABDC6718-ADF3-40CE-9F6D-61A897BEAD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61C4265F-5507-46EE-80C4-D2D38F7BF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3A51EBFE-8337-460A-BDF4-A9F093C9F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DF04797D-916C-4F96-BBD6-7E26C1A0B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3265AF9-5273-41E9-941B-A2FB992E3B9F}"/>
                  </a:ext>
                </a:extLst>
              </p:cNvPr>
              <p:cNvSpPr txBox="1"/>
              <p:nvPr/>
            </p:nvSpPr>
            <p:spPr>
              <a:xfrm>
                <a:off x="725163" y="6150499"/>
                <a:ext cx="280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3265AF9-5273-41E9-941B-A2FB992E3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63" y="6150499"/>
                <a:ext cx="280654" cy="276999"/>
              </a:xfrm>
              <a:prstGeom prst="rect">
                <a:avLst/>
              </a:prstGeom>
              <a:blipFill>
                <a:blip r:embed="rId11"/>
                <a:stretch>
                  <a:fillRect l="-19565" r="-6522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EFD53BC-CB79-4C07-93ED-9CE483C33DE0}"/>
                  </a:ext>
                </a:extLst>
              </p:cNvPr>
              <p:cNvSpPr txBox="1"/>
              <p:nvPr/>
            </p:nvSpPr>
            <p:spPr>
              <a:xfrm>
                <a:off x="1675267" y="6166481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EFD53BC-CB79-4C07-93ED-9CE483C33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267" y="6166481"/>
                <a:ext cx="285976" cy="276999"/>
              </a:xfrm>
              <a:prstGeom prst="rect">
                <a:avLst/>
              </a:prstGeom>
              <a:blipFill>
                <a:blip r:embed="rId12"/>
                <a:stretch>
                  <a:fillRect l="-19149" r="-6383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FC08C4-4D00-4F9F-A5B2-8FBAB1D88ABA}"/>
                  </a:ext>
                </a:extLst>
              </p:cNvPr>
              <p:cNvSpPr txBox="1"/>
              <p:nvPr/>
            </p:nvSpPr>
            <p:spPr>
              <a:xfrm>
                <a:off x="2626380" y="6156542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FC08C4-4D00-4F9F-A5B2-8FBAB1D88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380" y="6156542"/>
                <a:ext cx="285976" cy="276999"/>
              </a:xfrm>
              <a:prstGeom prst="rect">
                <a:avLst/>
              </a:prstGeom>
              <a:blipFill>
                <a:blip r:embed="rId13"/>
                <a:stretch>
                  <a:fillRect l="-19149" r="-6383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22CF63B-B469-447B-8763-8FB42531758D}"/>
                  </a:ext>
                </a:extLst>
              </p:cNvPr>
              <p:cNvSpPr txBox="1"/>
              <p:nvPr/>
            </p:nvSpPr>
            <p:spPr>
              <a:xfrm>
                <a:off x="3601359" y="6135355"/>
                <a:ext cx="284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22CF63B-B469-447B-8763-8FB425317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359" y="6135355"/>
                <a:ext cx="284245" cy="276999"/>
              </a:xfrm>
              <a:prstGeom prst="rect">
                <a:avLst/>
              </a:prstGeom>
              <a:blipFill>
                <a:blip r:embed="rId14"/>
                <a:stretch>
                  <a:fillRect l="-19565" r="-8696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AE4521-CCF2-4AD3-B19A-C2DA7BE419A0}"/>
                  </a:ext>
                </a:extLst>
              </p:cNvPr>
              <p:cNvSpPr txBox="1"/>
              <p:nvPr/>
            </p:nvSpPr>
            <p:spPr>
              <a:xfrm>
                <a:off x="4528761" y="6155889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AE4521-CCF2-4AD3-B19A-C2DA7BE41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761" y="6155889"/>
                <a:ext cx="285976" cy="276999"/>
              </a:xfrm>
              <a:prstGeom prst="rect">
                <a:avLst/>
              </a:prstGeom>
              <a:blipFill>
                <a:blip r:embed="rId15"/>
                <a:stretch>
                  <a:fillRect l="-19149" r="-8511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ED4B929-74FD-4B46-997B-52D91907B160}"/>
                  </a:ext>
                </a:extLst>
              </p:cNvPr>
              <p:cNvSpPr txBox="1"/>
              <p:nvPr/>
            </p:nvSpPr>
            <p:spPr>
              <a:xfrm>
                <a:off x="5476893" y="6162389"/>
                <a:ext cx="287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ED4B929-74FD-4B46-997B-52D91907B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93" y="6162389"/>
                <a:ext cx="287963" cy="276999"/>
              </a:xfrm>
              <a:prstGeom prst="rect">
                <a:avLst/>
              </a:prstGeom>
              <a:blipFill>
                <a:blip r:embed="rId16"/>
                <a:stretch>
                  <a:fillRect l="-10417" r="-625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8AFBA02-BAB8-4895-9952-F1095B3057B4}"/>
                  </a:ext>
                </a:extLst>
              </p:cNvPr>
              <p:cNvSpPr txBox="1"/>
              <p:nvPr/>
            </p:nvSpPr>
            <p:spPr>
              <a:xfrm>
                <a:off x="6436526" y="6160438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8AFBA02-BAB8-4895-9952-F1095B305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526" y="6160438"/>
                <a:ext cx="293285" cy="276999"/>
              </a:xfrm>
              <a:prstGeom prst="rect">
                <a:avLst/>
              </a:prstGeom>
              <a:blipFill>
                <a:blip r:embed="rId17"/>
                <a:stretch>
                  <a:fillRect l="-10417" r="-625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9C6D853-C039-43AA-81FA-77B10DE7E3F3}"/>
                  </a:ext>
                </a:extLst>
              </p:cNvPr>
              <p:cNvSpPr txBox="1"/>
              <p:nvPr/>
            </p:nvSpPr>
            <p:spPr>
              <a:xfrm>
                <a:off x="7426316" y="6159406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9C6D853-C039-43AA-81FA-77B10DE7E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316" y="6159406"/>
                <a:ext cx="293285" cy="276999"/>
              </a:xfrm>
              <a:prstGeom prst="rect">
                <a:avLst/>
              </a:prstGeom>
              <a:blipFill>
                <a:blip r:embed="rId18"/>
                <a:stretch>
                  <a:fillRect l="-10417" r="-8333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F674E8AB-B2B2-4B0E-9BBF-28B22EC415F8}"/>
              </a:ext>
            </a:extLst>
          </p:cNvPr>
          <p:cNvSpPr/>
          <p:nvPr/>
        </p:nvSpPr>
        <p:spPr>
          <a:xfrm>
            <a:off x="1005817" y="1311965"/>
            <a:ext cx="2128315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Language Model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CC115C8-C661-4C51-9A64-4DEE352A3757}"/>
              </a:ext>
            </a:extLst>
          </p:cNvPr>
          <p:cNvSpPr/>
          <p:nvPr/>
        </p:nvSpPr>
        <p:spPr>
          <a:xfrm>
            <a:off x="3681604" y="1311563"/>
            <a:ext cx="2128315" cy="384183"/>
          </a:xfrm>
          <a:prstGeom prst="rect">
            <a:avLst/>
          </a:prstGeom>
          <a:solidFill>
            <a:srgbClr val="B3711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Reward Model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5AA4F6A-56F7-40BF-A9D5-883728569770}"/>
              </a:ext>
            </a:extLst>
          </p:cNvPr>
          <p:cNvSpPr/>
          <p:nvPr/>
        </p:nvSpPr>
        <p:spPr>
          <a:xfrm>
            <a:off x="6406757" y="1293527"/>
            <a:ext cx="2128315" cy="38418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Value Function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74FB323-EC9C-485D-AEF6-F16316F1885F}"/>
              </a:ext>
            </a:extLst>
          </p:cNvPr>
          <p:cNvCxnSpPr/>
          <p:nvPr/>
        </p:nvCxnSpPr>
        <p:spPr>
          <a:xfrm flipH="1" flipV="1">
            <a:off x="1005817" y="1677710"/>
            <a:ext cx="3253899" cy="1781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856859E-A677-4EAD-BC9C-F2A08B548D7B}"/>
              </a:ext>
            </a:extLst>
          </p:cNvPr>
          <p:cNvCxnSpPr/>
          <p:nvPr/>
        </p:nvCxnSpPr>
        <p:spPr>
          <a:xfrm flipH="1" flipV="1">
            <a:off x="3084766" y="1689467"/>
            <a:ext cx="4832748" cy="1779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179B5A4-590E-442A-9316-DAF6CC7E360F}"/>
              </a:ext>
            </a:extLst>
          </p:cNvPr>
          <p:cNvCxnSpPr>
            <a:cxnSpLocks/>
          </p:cNvCxnSpPr>
          <p:nvPr/>
        </p:nvCxnSpPr>
        <p:spPr>
          <a:xfrm flipH="1" flipV="1">
            <a:off x="3681604" y="1687005"/>
            <a:ext cx="591337" cy="1793654"/>
          </a:xfrm>
          <a:prstGeom prst="line">
            <a:avLst/>
          </a:prstGeom>
          <a:ln>
            <a:solidFill>
              <a:srgbClr val="B371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52C618D-F0F5-4457-9610-D73A21953321}"/>
              </a:ext>
            </a:extLst>
          </p:cNvPr>
          <p:cNvCxnSpPr>
            <a:cxnSpLocks/>
          </p:cNvCxnSpPr>
          <p:nvPr/>
        </p:nvCxnSpPr>
        <p:spPr>
          <a:xfrm flipH="1" flipV="1">
            <a:off x="5835414" y="1703214"/>
            <a:ext cx="2082100" cy="1777445"/>
          </a:xfrm>
          <a:prstGeom prst="line">
            <a:avLst/>
          </a:prstGeom>
          <a:ln>
            <a:solidFill>
              <a:srgbClr val="B371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92F687C-F600-4471-B22F-8B64DCD8234F}"/>
              </a:ext>
            </a:extLst>
          </p:cNvPr>
          <p:cNvCxnSpPr>
            <a:cxnSpLocks/>
          </p:cNvCxnSpPr>
          <p:nvPr/>
        </p:nvCxnSpPr>
        <p:spPr>
          <a:xfrm flipV="1">
            <a:off x="4232045" y="1670948"/>
            <a:ext cx="2174712" cy="180484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385751-D451-404A-81AB-7E05AF0F1EEC}"/>
              </a:ext>
            </a:extLst>
          </p:cNvPr>
          <p:cNvCxnSpPr/>
          <p:nvPr/>
        </p:nvCxnSpPr>
        <p:spPr>
          <a:xfrm flipV="1">
            <a:off x="7933881" y="1636983"/>
            <a:ext cx="601191" cy="180889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97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86" grpId="0" animBg="1"/>
      <p:bldP spid="8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E632-E869-49A1-9CA0-DF1EB38E0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Reducing Variance: Advantage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92D6F-CDA6-4713-8638-07070BA0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138B5C-3012-4C82-994F-C73ECA9FB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94" y="1241667"/>
            <a:ext cx="9373412" cy="1432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A0691D-A88C-4BC1-993B-447D75AA5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165" y="3007333"/>
            <a:ext cx="2720576" cy="138696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85340F7-15E5-4BAB-BBC1-8F2FF573CA05}"/>
              </a:ext>
            </a:extLst>
          </p:cNvPr>
          <p:cNvGrpSpPr/>
          <p:nvPr/>
        </p:nvGrpSpPr>
        <p:grpSpPr>
          <a:xfrm>
            <a:off x="6930600" y="4487959"/>
            <a:ext cx="1682029" cy="1432684"/>
            <a:chOff x="1679291" y="3433765"/>
            <a:chExt cx="2808599" cy="23922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27C04639-EEB3-422D-B4EA-17E5CF22D62B}"/>
                    </a:ext>
                  </a:extLst>
                </p:cNvPr>
                <p:cNvSpPr/>
                <p:nvPr/>
              </p:nvSpPr>
              <p:spPr>
                <a:xfrm>
                  <a:off x="3083591" y="3433765"/>
                  <a:ext cx="461665" cy="46166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27C04639-EEB3-422D-B4EA-17E5CF22D6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3591" y="3433765"/>
                  <a:ext cx="461665" cy="461665"/>
                </a:xfrm>
                <a:prstGeom prst="ellipse">
                  <a:avLst/>
                </a:prstGeom>
                <a:blipFill>
                  <a:blip r:embed="rId4"/>
                  <a:stretch>
                    <a:fillRect l="-17021" b="-1458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24DA0D4-4989-4865-808C-74BFA534460F}"/>
                </a:ext>
              </a:extLst>
            </p:cNvPr>
            <p:cNvSpPr/>
            <p:nvPr/>
          </p:nvSpPr>
          <p:spPr>
            <a:xfrm>
              <a:off x="1679291" y="3702122"/>
              <a:ext cx="1404300" cy="2097156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968437-0EB3-4F54-A5E3-EF4C18C78F69}"/>
                </a:ext>
              </a:extLst>
            </p:cNvPr>
            <p:cNvSpPr/>
            <p:nvPr/>
          </p:nvSpPr>
          <p:spPr>
            <a:xfrm>
              <a:off x="2576693" y="3794888"/>
              <a:ext cx="556593" cy="1944756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DCD523F-FCC8-4684-93D9-75BC5650E385}"/>
                </a:ext>
              </a:extLst>
            </p:cNvPr>
            <p:cNvSpPr/>
            <p:nvPr/>
          </p:nvSpPr>
          <p:spPr>
            <a:xfrm>
              <a:off x="3083591" y="3887654"/>
              <a:ext cx="202095" cy="1851990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4A19815-0795-4335-9F30-0CE5C00109EB}"/>
                </a:ext>
              </a:extLst>
            </p:cNvPr>
            <p:cNvSpPr/>
            <p:nvPr/>
          </p:nvSpPr>
          <p:spPr>
            <a:xfrm flipH="1">
              <a:off x="3413311" y="3864461"/>
              <a:ext cx="477079" cy="1851990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26329-94DF-481F-8892-A97F477111A3}"/>
                </a:ext>
              </a:extLst>
            </p:cNvPr>
            <p:cNvSpPr/>
            <p:nvPr/>
          </p:nvSpPr>
          <p:spPr>
            <a:xfrm flipH="1">
              <a:off x="3522786" y="3728861"/>
              <a:ext cx="965104" cy="2097155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FA6C2C-45EA-4057-8040-FFC474F20BE4}"/>
              </a:ext>
            </a:extLst>
          </p:cNvPr>
          <p:cNvGrpSpPr/>
          <p:nvPr/>
        </p:nvGrpSpPr>
        <p:grpSpPr>
          <a:xfrm>
            <a:off x="10002893" y="4487959"/>
            <a:ext cx="1682029" cy="1432684"/>
            <a:chOff x="1679291" y="3433765"/>
            <a:chExt cx="2808599" cy="23922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F1E68E1C-16E8-4701-9A73-6AFD9F139649}"/>
                    </a:ext>
                  </a:extLst>
                </p:cNvPr>
                <p:cNvSpPr/>
                <p:nvPr/>
              </p:nvSpPr>
              <p:spPr>
                <a:xfrm>
                  <a:off x="3083591" y="3433765"/>
                  <a:ext cx="461665" cy="461665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F1E68E1C-16E8-4701-9A73-6AFD9F1396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3591" y="3433765"/>
                  <a:ext cx="461665" cy="461665"/>
                </a:xfrm>
                <a:prstGeom prst="ellipse">
                  <a:avLst/>
                </a:prstGeom>
                <a:blipFill>
                  <a:blip r:embed="rId5"/>
                  <a:stretch>
                    <a:fillRect l="-17021" b="-14583"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FBC5AB-8565-4A8A-A7FF-F2376C361219}"/>
                </a:ext>
              </a:extLst>
            </p:cNvPr>
            <p:cNvSpPr/>
            <p:nvPr/>
          </p:nvSpPr>
          <p:spPr>
            <a:xfrm>
              <a:off x="1679291" y="3702122"/>
              <a:ext cx="1404300" cy="2097156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6037AB-813F-47F6-B108-2FE2C2551996}"/>
                </a:ext>
              </a:extLst>
            </p:cNvPr>
            <p:cNvSpPr/>
            <p:nvPr/>
          </p:nvSpPr>
          <p:spPr>
            <a:xfrm>
              <a:off x="2576693" y="3794888"/>
              <a:ext cx="556593" cy="1944756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86ADAAA-4F37-4F0E-A4B8-782D61E9F8C0}"/>
                </a:ext>
              </a:extLst>
            </p:cNvPr>
            <p:cNvSpPr/>
            <p:nvPr/>
          </p:nvSpPr>
          <p:spPr>
            <a:xfrm>
              <a:off x="3083591" y="3887654"/>
              <a:ext cx="202095" cy="1851990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39EB2DB-37D3-4E23-A03C-11616ED8586E}"/>
                </a:ext>
              </a:extLst>
            </p:cNvPr>
            <p:cNvSpPr/>
            <p:nvPr/>
          </p:nvSpPr>
          <p:spPr>
            <a:xfrm flipH="1">
              <a:off x="3413311" y="3864461"/>
              <a:ext cx="477079" cy="1851990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BB0EDAF-1094-4D6E-95ED-C45644D944A3}"/>
                </a:ext>
              </a:extLst>
            </p:cNvPr>
            <p:cNvSpPr/>
            <p:nvPr/>
          </p:nvSpPr>
          <p:spPr>
            <a:xfrm flipH="1">
              <a:off x="3522786" y="3728861"/>
              <a:ext cx="965104" cy="2097155"/>
            </a:xfrm>
            <a:custGeom>
              <a:avLst/>
              <a:gdLst>
                <a:gd name="connsiteX0" fmla="*/ 1404300 w 1404300"/>
                <a:gd name="connsiteY0" fmla="*/ 0 h 2097156"/>
                <a:gd name="connsiteX1" fmla="*/ 778135 w 1404300"/>
                <a:gd name="connsiteY1" fmla="*/ 278296 h 2097156"/>
                <a:gd name="connsiteX2" fmla="*/ 957039 w 1404300"/>
                <a:gd name="connsiteY2" fmla="*/ 675861 h 2097156"/>
                <a:gd name="connsiteX3" fmla="*/ 181787 w 1404300"/>
                <a:gd name="connsiteY3" fmla="*/ 974035 h 2097156"/>
                <a:gd name="connsiteX4" fmla="*/ 509778 w 1404300"/>
                <a:gd name="connsiteY4" fmla="*/ 1391478 h 2097156"/>
                <a:gd name="connsiteX5" fmla="*/ 2882 w 1404300"/>
                <a:gd name="connsiteY5" fmla="*/ 1669774 h 2097156"/>
                <a:gd name="connsiteX6" fmla="*/ 340813 w 1404300"/>
                <a:gd name="connsiteY6" fmla="*/ 2097156 h 209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300" h="2097156">
                  <a:moveTo>
                    <a:pt x="1404300" y="0"/>
                  </a:moveTo>
                  <a:cubicBezTo>
                    <a:pt x="1128489" y="82826"/>
                    <a:pt x="852678" y="165653"/>
                    <a:pt x="778135" y="278296"/>
                  </a:cubicBezTo>
                  <a:cubicBezTo>
                    <a:pt x="703591" y="390940"/>
                    <a:pt x="1056430" y="559905"/>
                    <a:pt x="957039" y="675861"/>
                  </a:cubicBezTo>
                  <a:cubicBezTo>
                    <a:pt x="857648" y="791818"/>
                    <a:pt x="256330" y="854766"/>
                    <a:pt x="181787" y="974035"/>
                  </a:cubicBezTo>
                  <a:cubicBezTo>
                    <a:pt x="107244" y="1093304"/>
                    <a:pt x="539595" y="1275522"/>
                    <a:pt x="509778" y="1391478"/>
                  </a:cubicBezTo>
                  <a:cubicBezTo>
                    <a:pt x="479960" y="1507435"/>
                    <a:pt x="31043" y="1552161"/>
                    <a:pt x="2882" y="1669774"/>
                  </a:cubicBezTo>
                  <a:cubicBezTo>
                    <a:pt x="-25279" y="1787387"/>
                    <a:pt x="157767" y="1942271"/>
                    <a:pt x="340813" y="2097156"/>
                  </a:cubicBezTo>
                </a:path>
              </a:pathLst>
            </a:cu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2902CB4-3C8B-4F2F-9A2E-3007AD5DC664}"/>
                  </a:ext>
                </a:extLst>
              </p:cNvPr>
              <p:cNvSpPr/>
              <p:nvPr/>
            </p:nvSpPr>
            <p:spPr>
              <a:xfrm>
                <a:off x="9034670" y="3031435"/>
                <a:ext cx="397565" cy="397565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2902CB4-3C8B-4F2F-9A2E-3007AD5DC6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670" y="3031435"/>
                <a:ext cx="397565" cy="39756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70F1164-EA09-4391-A7AB-190445FCF89E}"/>
              </a:ext>
            </a:extLst>
          </p:cNvPr>
          <p:cNvCxnSpPr>
            <a:stCxn id="23" idx="3"/>
            <a:endCxn id="10" idx="7"/>
          </p:cNvCxnSpPr>
          <p:nvPr/>
        </p:nvCxnSpPr>
        <p:spPr>
          <a:xfrm flipH="1">
            <a:off x="8007609" y="3370778"/>
            <a:ext cx="1085283" cy="115767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90127BB-5915-4B45-A808-647ADFF99C8C}"/>
              </a:ext>
            </a:extLst>
          </p:cNvPr>
          <p:cNvCxnSpPr>
            <a:cxnSpLocks/>
            <a:stCxn id="23" idx="5"/>
            <a:endCxn id="17" idx="0"/>
          </p:cNvCxnSpPr>
          <p:nvPr/>
        </p:nvCxnSpPr>
        <p:spPr>
          <a:xfrm>
            <a:off x="9374013" y="3370778"/>
            <a:ext cx="1608137" cy="11171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7C8E5BE-6148-4668-821E-67ACABFF7CA9}"/>
              </a:ext>
            </a:extLst>
          </p:cNvPr>
          <p:cNvCxnSpPr/>
          <p:nvPr/>
        </p:nvCxnSpPr>
        <p:spPr>
          <a:xfrm>
            <a:off x="8816009" y="4745897"/>
            <a:ext cx="1186884" cy="0"/>
          </a:xfrm>
          <a:prstGeom prst="line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855E9B6-83A3-444C-802E-5ACA0AF62A17}"/>
                  </a:ext>
                </a:extLst>
              </p:cNvPr>
              <p:cNvSpPr txBox="1"/>
              <p:nvPr/>
            </p:nvSpPr>
            <p:spPr>
              <a:xfrm>
                <a:off x="8816009" y="3714249"/>
                <a:ext cx="991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855E9B6-83A3-444C-802E-5ACA0AF62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009" y="3714249"/>
                <a:ext cx="991938" cy="276999"/>
              </a:xfrm>
              <a:prstGeom prst="rect">
                <a:avLst/>
              </a:prstGeom>
              <a:blipFill>
                <a:blip r:embed="rId7"/>
                <a:stretch>
                  <a:fillRect l="-4908" r="-7975" b="-34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322F5B06-6CE7-4287-A4B8-2A8E9E1CA9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848" y="5056336"/>
            <a:ext cx="5654530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68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C8E7-C99C-4415-9DD2-B1FC29E17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Reducing Variance: Advantage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C5C3F-A81C-4A92-950A-2766E4CB0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0248D1-40E9-4D46-9F52-324C38D11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433" y="1161332"/>
            <a:ext cx="10303133" cy="1394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F15D03-9B61-41E4-B93B-0D30E317B60C}"/>
              </a:ext>
            </a:extLst>
          </p:cNvPr>
          <p:cNvSpPr txBox="1"/>
          <p:nvPr/>
        </p:nvSpPr>
        <p:spPr>
          <a:xfrm>
            <a:off x="8289235" y="2555913"/>
            <a:ext cx="2308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Advantage Function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B46C01-0C32-449C-B664-7AA0A4380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916" y="2990126"/>
            <a:ext cx="7604165" cy="1220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87CF2F-DAEC-49BC-AED7-A4D5C4592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080" y="4240262"/>
            <a:ext cx="4991533" cy="24995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D73B99-0455-441C-B583-D76A93E0E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66" y="4210445"/>
            <a:ext cx="2286198" cy="21795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7F7F23-FB0C-4AC1-8948-A5ABE82DA22C}"/>
                  </a:ext>
                </a:extLst>
              </p:cNvPr>
              <p:cNvSpPr txBox="1"/>
              <p:nvPr/>
            </p:nvSpPr>
            <p:spPr>
              <a:xfrm>
                <a:off x="2867830" y="4563128"/>
                <a:ext cx="4286250" cy="1737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advantage function tells us how better is to choose a particular action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in a state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over the average expectation we get by choosing randomly an action in the same state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7F7F23-FB0C-4AC1-8948-A5ABE82DA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830" y="4563128"/>
                <a:ext cx="4286250" cy="1737270"/>
              </a:xfrm>
              <a:prstGeom prst="rect">
                <a:avLst/>
              </a:prstGeom>
              <a:blipFill>
                <a:blip r:embed="rId6"/>
                <a:stretch>
                  <a:fillRect l="-1136" t="-1754" b="-38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259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A9222-C00A-41E9-A298-4DD379EC3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Estimate Advantage?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8261A-4845-4101-85DF-5E4663D3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5F3409-230A-44F7-9E88-F0A7E0D85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26" y="1234085"/>
            <a:ext cx="4765565" cy="515594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159AEE3-CB4B-4527-98BB-261525582112}"/>
              </a:ext>
            </a:extLst>
          </p:cNvPr>
          <p:cNvGrpSpPr/>
          <p:nvPr/>
        </p:nvGrpSpPr>
        <p:grpSpPr>
          <a:xfrm>
            <a:off x="7395016" y="743075"/>
            <a:ext cx="4253948" cy="972501"/>
            <a:chOff x="7395016" y="743075"/>
            <a:chExt cx="4253948" cy="972501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FD56BA2-A1B0-41F3-B5CD-E6B397D2A58C}"/>
                </a:ext>
              </a:extLst>
            </p:cNvPr>
            <p:cNvGrpSpPr/>
            <p:nvPr/>
          </p:nvGrpSpPr>
          <p:grpSpPr>
            <a:xfrm>
              <a:off x="7395016" y="1205321"/>
              <a:ext cx="4253948" cy="510255"/>
              <a:chOff x="7395016" y="1205321"/>
              <a:chExt cx="4253948" cy="510255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1A48ED9-BEBD-4FC3-8D94-5F7951C2AD27}"/>
                  </a:ext>
                </a:extLst>
              </p:cNvPr>
              <p:cNvGrpSpPr/>
              <p:nvPr/>
            </p:nvGrpSpPr>
            <p:grpSpPr>
              <a:xfrm>
                <a:off x="7395016" y="1347424"/>
                <a:ext cx="4253948" cy="368152"/>
                <a:chOff x="3747052" y="2414935"/>
                <a:chExt cx="6089975" cy="527048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84466B57-B266-470B-A10D-743D1CF51555}"/>
                    </a:ext>
                  </a:extLst>
                </p:cNvPr>
                <p:cNvSpPr/>
                <p:nvPr/>
              </p:nvSpPr>
              <p:spPr>
                <a:xfrm>
                  <a:off x="3747052" y="2445026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5C5CAEF5-58FC-486A-BCED-34C176AD98AF}"/>
                    </a:ext>
                  </a:extLst>
                </p:cNvPr>
                <p:cNvSpPr/>
                <p:nvPr/>
              </p:nvSpPr>
              <p:spPr>
                <a:xfrm>
                  <a:off x="4774096" y="2443392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6CCE6881-C3EE-4E62-92E9-8F9A725AEF28}"/>
                    </a:ext>
                  </a:extLst>
                </p:cNvPr>
                <p:cNvCxnSpPr>
                  <a:stCxn id="7" idx="6"/>
                  <a:endCxn id="8" idx="2"/>
                </p:cNvCxnSpPr>
                <p:nvPr/>
              </p:nvCxnSpPr>
              <p:spPr>
                <a:xfrm flipV="1">
                  <a:off x="4244009" y="2691871"/>
                  <a:ext cx="530087" cy="16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4F1D3F78-1038-4A12-9A96-90E79361E6E2}"/>
                    </a:ext>
                  </a:extLst>
                </p:cNvPr>
                <p:cNvSpPr/>
                <p:nvPr/>
              </p:nvSpPr>
              <p:spPr>
                <a:xfrm>
                  <a:off x="5801739" y="2431818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B7089A4D-838D-4DB0-8A29-ABFE9E929106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271652" y="2680297"/>
                  <a:ext cx="530087" cy="16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F56B0624-880F-4E33-8290-9FD53EF4E4E0}"/>
                    </a:ext>
                  </a:extLst>
                </p:cNvPr>
                <p:cNvSpPr/>
                <p:nvPr/>
              </p:nvSpPr>
              <p:spPr>
                <a:xfrm>
                  <a:off x="6828783" y="2431818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6F0473A3-4505-4EC9-9858-7B2F36C55AE4}"/>
                    </a:ext>
                  </a:extLst>
                </p:cNvPr>
                <p:cNvCxnSpPr>
                  <a:endCxn id="13" idx="2"/>
                </p:cNvCxnSpPr>
                <p:nvPr/>
              </p:nvCxnSpPr>
              <p:spPr>
                <a:xfrm flipV="1">
                  <a:off x="6298696" y="2680297"/>
                  <a:ext cx="530087" cy="16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6836BD1C-878E-4C26-BF0F-C4855BB24031}"/>
                    </a:ext>
                  </a:extLst>
                </p:cNvPr>
                <p:cNvSpPr/>
                <p:nvPr/>
              </p:nvSpPr>
              <p:spPr>
                <a:xfrm>
                  <a:off x="9340070" y="2414935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61A58B6A-830B-4CB9-9B3A-8323DF2D3F63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 flipV="1">
                  <a:off x="8809983" y="2663413"/>
                  <a:ext cx="530088" cy="163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D51CC1E-9671-4181-B4C0-905F0AD8BB97}"/>
                  </a:ext>
                </a:extLst>
              </p:cNvPr>
              <p:cNvCxnSpPr/>
              <p:nvPr/>
            </p:nvCxnSpPr>
            <p:spPr>
              <a:xfrm>
                <a:off x="10121652" y="1532783"/>
                <a:ext cx="606287" cy="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0ED9FB5-F130-4801-9105-BEDBB7927015}"/>
                  </a:ext>
                </a:extLst>
              </p:cNvPr>
              <p:cNvSpPr/>
              <p:nvPr/>
            </p:nvSpPr>
            <p:spPr>
              <a:xfrm>
                <a:off x="7543800" y="1205321"/>
                <a:ext cx="675409" cy="187061"/>
              </a:xfrm>
              <a:custGeom>
                <a:avLst/>
                <a:gdLst>
                  <a:gd name="connsiteX0" fmla="*/ 0 w 675409"/>
                  <a:gd name="connsiteY0" fmla="*/ 176670 h 187061"/>
                  <a:gd name="connsiteX1" fmla="*/ 342900 w 675409"/>
                  <a:gd name="connsiteY1" fmla="*/ 24 h 187061"/>
                  <a:gd name="connsiteX2" fmla="*/ 675409 w 675409"/>
                  <a:gd name="connsiteY2" fmla="*/ 187061 h 187061"/>
                  <a:gd name="connsiteX3" fmla="*/ 675409 w 675409"/>
                  <a:gd name="connsiteY3" fmla="*/ 187061 h 187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409" h="187061">
                    <a:moveTo>
                      <a:pt x="0" y="176670"/>
                    </a:moveTo>
                    <a:cubicBezTo>
                      <a:pt x="115166" y="87481"/>
                      <a:pt x="230332" y="-1708"/>
                      <a:pt x="342900" y="24"/>
                    </a:cubicBezTo>
                    <a:cubicBezTo>
                      <a:pt x="455468" y="1756"/>
                      <a:pt x="675409" y="187061"/>
                      <a:pt x="675409" y="187061"/>
                    </a:cubicBezTo>
                    <a:lnTo>
                      <a:pt x="675409" y="18706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7BE513F-3F69-4900-9957-C0E646AE6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90933" y="743075"/>
              <a:ext cx="862445" cy="862445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9C8980C-5119-4974-A713-8444D20CB38E}"/>
              </a:ext>
            </a:extLst>
          </p:cNvPr>
          <p:cNvGrpSpPr/>
          <p:nvPr/>
        </p:nvGrpSpPr>
        <p:grpSpPr>
          <a:xfrm>
            <a:off x="7420682" y="1654395"/>
            <a:ext cx="4253948" cy="1020619"/>
            <a:chOff x="7420682" y="1654395"/>
            <a:chExt cx="4253948" cy="1020619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F6A4DC7D-3F17-4FCA-86CA-113CE0C5B147}"/>
                </a:ext>
              </a:extLst>
            </p:cNvPr>
            <p:cNvGrpSpPr/>
            <p:nvPr/>
          </p:nvGrpSpPr>
          <p:grpSpPr>
            <a:xfrm>
              <a:off x="7420682" y="2129743"/>
              <a:ext cx="4253948" cy="545271"/>
              <a:chOff x="7420682" y="2129743"/>
              <a:chExt cx="4253948" cy="545271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63EDF5-D064-4D19-8BCE-ECED0041DC90}"/>
                  </a:ext>
                </a:extLst>
              </p:cNvPr>
              <p:cNvGrpSpPr/>
              <p:nvPr/>
            </p:nvGrpSpPr>
            <p:grpSpPr>
              <a:xfrm>
                <a:off x="7420682" y="2306862"/>
                <a:ext cx="4253948" cy="368152"/>
                <a:chOff x="3747052" y="2414935"/>
                <a:chExt cx="6089975" cy="527048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C93AE4E-32D6-47BD-B212-07CCAD924D3C}"/>
                    </a:ext>
                  </a:extLst>
                </p:cNvPr>
                <p:cNvSpPr/>
                <p:nvPr/>
              </p:nvSpPr>
              <p:spPr>
                <a:xfrm>
                  <a:off x="3747052" y="2445026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1B3D94BA-6684-474A-A9CF-667CBA658C19}"/>
                    </a:ext>
                  </a:extLst>
                </p:cNvPr>
                <p:cNvSpPr/>
                <p:nvPr/>
              </p:nvSpPr>
              <p:spPr>
                <a:xfrm>
                  <a:off x="4774096" y="2443392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CA1E2691-4866-4B90-B8A3-D3392A35FF8F}"/>
                    </a:ext>
                  </a:extLst>
                </p:cNvPr>
                <p:cNvCxnSpPr>
                  <a:stCxn id="25" idx="6"/>
                  <a:endCxn id="26" idx="2"/>
                </p:cNvCxnSpPr>
                <p:nvPr/>
              </p:nvCxnSpPr>
              <p:spPr>
                <a:xfrm flipV="1">
                  <a:off x="4244009" y="2691871"/>
                  <a:ext cx="530087" cy="16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A89FD9A9-8C3F-4898-B38D-E60A5AD454D1}"/>
                    </a:ext>
                  </a:extLst>
                </p:cNvPr>
                <p:cNvSpPr/>
                <p:nvPr/>
              </p:nvSpPr>
              <p:spPr>
                <a:xfrm>
                  <a:off x="5801739" y="2431818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112294CA-C0A0-4BD0-8E6C-22B093DD3400}"/>
                    </a:ext>
                  </a:extLst>
                </p:cNvPr>
                <p:cNvCxnSpPr>
                  <a:endCxn id="28" idx="2"/>
                </p:cNvCxnSpPr>
                <p:nvPr/>
              </p:nvCxnSpPr>
              <p:spPr>
                <a:xfrm flipV="1">
                  <a:off x="5271652" y="2680297"/>
                  <a:ext cx="530087" cy="16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F040D1C-AF40-47FB-9544-6964DDF0840E}"/>
                    </a:ext>
                  </a:extLst>
                </p:cNvPr>
                <p:cNvSpPr/>
                <p:nvPr/>
              </p:nvSpPr>
              <p:spPr>
                <a:xfrm>
                  <a:off x="6828783" y="2431818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F86716B7-92DF-42F2-A21A-7D36535DF8C4}"/>
                    </a:ext>
                  </a:extLst>
                </p:cNvPr>
                <p:cNvCxnSpPr>
                  <a:endCxn id="30" idx="2"/>
                </p:cNvCxnSpPr>
                <p:nvPr/>
              </p:nvCxnSpPr>
              <p:spPr>
                <a:xfrm flipV="1">
                  <a:off x="6298696" y="2680297"/>
                  <a:ext cx="530087" cy="16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DCC39722-4F21-4DB5-A0B8-33B71C20ADED}"/>
                    </a:ext>
                  </a:extLst>
                </p:cNvPr>
                <p:cNvSpPr/>
                <p:nvPr/>
              </p:nvSpPr>
              <p:spPr>
                <a:xfrm>
                  <a:off x="9340070" y="2414935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5CE1D3F3-5EAA-402D-BC16-82C5D9A45CEE}"/>
                    </a:ext>
                  </a:extLst>
                </p:cNvPr>
                <p:cNvCxnSpPr>
                  <a:endCxn id="32" idx="2"/>
                </p:cNvCxnSpPr>
                <p:nvPr/>
              </p:nvCxnSpPr>
              <p:spPr>
                <a:xfrm flipV="1">
                  <a:off x="8809983" y="2663413"/>
                  <a:ext cx="530088" cy="163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0877E29-B95C-4D1F-B15E-7E835AD4FE3F}"/>
                  </a:ext>
                </a:extLst>
              </p:cNvPr>
              <p:cNvCxnSpPr/>
              <p:nvPr/>
            </p:nvCxnSpPr>
            <p:spPr>
              <a:xfrm>
                <a:off x="10147318" y="2492221"/>
                <a:ext cx="606287" cy="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2262E8AF-C5DE-4D7E-ACCE-E013D5AD35F1}"/>
                  </a:ext>
                </a:extLst>
              </p:cNvPr>
              <p:cNvSpPr/>
              <p:nvPr/>
            </p:nvSpPr>
            <p:spPr>
              <a:xfrm>
                <a:off x="7569466" y="2164759"/>
                <a:ext cx="675409" cy="187061"/>
              </a:xfrm>
              <a:custGeom>
                <a:avLst/>
                <a:gdLst>
                  <a:gd name="connsiteX0" fmla="*/ 0 w 675409"/>
                  <a:gd name="connsiteY0" fmla="*/ 176670 h 187061"/>
                  <a:gd name="connsiteX1" fmla="*/ 342900 w 675409"/>
                  <a:gd name="connsiteY1" fmla="*/ 24 h 187061"/>
                  <a:gd name="connsiteX2" fmla="*/ 675409 w 675409"/>
                  <a:gd name="connsiteY2" fmla="*/ 187061 h 187061"/>
                  <a:gd name="connsiteX3" fmla="*/ 675409 w 675409"/>
                  <a:gd name="connsiteY3" fmla="*/ 187061 h 187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409" h="187061">
                    <a:moveTo>
                      <a:pt x="0" y="176670"/>
                    </a:moveTo>
                    <a:cubicBezTo>
                      <a:pt x="115166" y="87481"/>
                      <a:pt x="230332" y="-1708"/>
                      <a:pt x="342900" y="24"/>
                    </a:cubicBezTo>
                    <a:cubicBezTo>
                      <a:pt x="455468" y="1756"/>
                      <a:pt x="675409" y="187061"/>
                      <a:pt x="675409" y="187061"/>
                    </a:cubicBezTo>
                    <a:lnTo>
                      <a:pt x="675409" y="18706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8A97A7FC-177D-4803-B94F-42E537E36E00}"/>
                  </a:ext>
                </a:extLst>
              </p:cNvPr>
              <p:cNvSpPr/>
              <p:nvPr/>
            </p:nvSpPr>
            <p:spPr>
              <a:xfrm>
                <a:off x="8285989" y="2129743"/>
                <a:ext cx="675409" cy="187061"/>
              </a:xfrm>
              <a:custGeom>
                <a:avLst/>
                <a:gdLst>
                  <a:gd name="connsiteX0" fmla="*/ 0 w 675409"/>
                  <a:gd name="connsiteY0" fmla="*/ 176670 h 187061"/>
                  <a:gd name="connsiteX1" fmla="*/ 342900 w 675409"/>
                  <a:gd name="connsiteY1" fmla="*/ 24 h 187061"/>
                  <a:gd name="connsiteX2" fmla="*/ 675409 w 675409"/>
                  <a:gd name="connsiteY2" fmla="*/ 187061 h 187061"/>
                  <a:gd name="connsiteX3" fmla="*/ 675409 w 675409"/>
                  <a:gd name="connsiteY3" fmla="*/ 187061 h 187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409" h="187061">
                    <a:moveTo>
                      <a:pt x="0" y="176670"/>
                    </a:moveTo>
                    <a:cubicBezTo>
                      <a:pt x="115166" y="87481"/>
                      <a:pt x="230332" y="-1708"/>
                      <a:pt x="342900" y="24"/>
                    </a:cubicBezTo>
                    <a:cubicBezTo>
                      <a:pt x="455468" y="1756"/>
                      <a:pt x="675409" y="187061"/>
                      <a:pt x="675409" y="187061"/>
                    </a:cubicBezTo>
                    <a:lnTo>
                      <a:pt x="675409" y="18706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3AB82A2-17C4-4D78-B157-3384075D6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5149" y="1654395"/>
              <a:ext cx="862445" cy="862445"/>
            </a:xfrm>
            <a:prstGeom prst="rect">
              <a:avLst/>
            </a:prstGeom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2D980B0-583F-430E-98E6-00EAC0BFF8BB}"/>
              </a:ext>
            </a:extLst>
          </p:cNvPr>
          <p:cNvGrpSpPr/>
          <p:nvPr/>
        </p:nvGrpSpPr>
        <p:grpSpPr>
          <a:xfrm>
            <a:off x="7483899" y="2651524"/>
            <a:ext cx="4253948" cy="999151"/>
            <a:chOff x="7483899" y="2651524"/>
            <a:chExt cx="4253948" cy="999151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644BE340-0CD6-4FCA-A482-84EBFBBC4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77594" y="2651524"/>
              <a:ext cx="862445" cy="862445"/>
            </a:xfrm>
            <a:prstGeom prst="rect">
              <a:avLst/>
            </a:prstGeom>
          </p:spPr>
        </p:pic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A513AA5-708A-400E-8F59-4481C5C4C97E}"/>
                </a:ext>
              </a:extLst>
            </p:cNvPr>
            <p:cNvGrpSpPr/>
            <p:nvPr/>
          </p:nvGrpSpPr>
          <p:grpSpPr>
            <a:xfrm>
              <a:off x="7483899" y="3103041"/>
              <a:ext cx="4253948" cy="547634"/>
              <a:chOff x="7483899" y="3103041"/>
              <a:chExt cx="4253948" cy="547634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A1A00C1F-12AE-45BE-B962-CABD013764D8}"/>
                  </a:ext>
                </a:extLst>
              </p:cNvPr>
              <p:cNvGrpSpPr/>
              <p:nvPr/>
            </p:nvGrpSpPr>
            <p:grpSpPr>
              <a:xfrm>
                <a:off x="7483899" y="3282523"/>
                <a:ext cx="4253948" cy="368152"/>
                <a:chOff x="3747052" y="2414935"/>
                <a:chExt cx="6089975" cy="527048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70DC6168-F579-49A7-9482-77C379866827}"/>
                    </a:ext>
                  </a:extLst>
                </p:cNvPr>
                <p:cNvSpPr/>
                <p:nvPr/>
              </p:nvSpPr>
              <p:spPr>
                <a:xfrm>
                  <a:off x="3747052" y="2445026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19BE216F-660F-4584-904F-ECFABB0F4434}"/>
                    </a:ext>
                  </a:extLst>
                </p:cNvPr>
                <p:cNvSpPr/>
                <p:nvPr/>
              </p:nvSpPr>
              <p:spPr>
                <a:xfrm>
                  <a:off x="4774096" y="2443392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8DFC0314-10C4-43A9-9B46-2F267F263152}"/>
                    </a:ext>
                  </a:extLst>
                </p:cNvPr>
                <p:cNvCxnSpPr>
                  <a:stCxn id="39" idx="6"/>
                  <a:endCxn id="40" idx="2"/>
                </p:cNvCxnSpPr>
                <p:nvPr/>
              </p:nvCxnSpPr>
              <p:spPr>
                <a:xfrm flipV="1">
                  <a:off x="4244009" y="2691871"/>
                  <a:ext cx="530087" cy="16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BD439E47-E8FA-454D-8333-3AD61EB71225}"/>
                    </a:ext>
                  </a:extLst>
                </p:cNvPr>
                <p:cNvSpPr/>
                <p:nvPr/>
              </p:nvSpPr>
              <p:spPr>
                <a:xfrm>
                  <a:off x="5801739" y="2431818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44CBA775-0BF0-4480-8606-DC56F3BF71A8}"/>
                    </a:ext>
                  </a:extLst>
                </p:cNvPr>
                <p:cNvCxnSpPr>
                  <a:endCxn id="42" idx="2"/>
                </p:cNvCxnSpPr>
                <p:nvPr/>
              </p:nvCxnSpPr>
              <p:spPr>
                <a:xfrm flipV="1">
                  <a:off x="5271652" y="2680297"/>
                  <a:ext cx="530087" cy="16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271A4607-1102-4A3A-9530-214BC57A79D0}"/>
                    </a:ext>
                  </a:extLst>
                </p:cNvPr>
                <p:cNvSpPr/>
                <p:nvPr/>
              </p:nvSpPr>
              <p:spPr>
                <a:xfrm>
                  <a:off x="6828783" y="2431818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6D70552B-7AAA-4F17-A1D1-709097554A5A}"/>
                    </a:ext>
                  </a:extLst>
                </p:cNvPr>
                <p:cNvCxnSpPr>
                  <a:endCxn id="44" idx="2"/>
                </p:cNvCxnSpPr>
                <p:nvPr/>
              </p:nvCxnSpPr>
              <p:spPr>
                <a:xfrm flipV="1">
                  <a:off x="6298696" y="2680297"/>
                  <a:ext cx="530087" cy="16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FCF4A0F3-1538-4D15-98F6-2D7D8A9AD5D7}"/>
                    </a:ext>
                  </a:extLst>
                </p:cNvPr>
                <p:cNvSpPr/>
                <p:nvPr/>
              </p:nvSpPr>
              <p:spPr>
                <a:xfrm>
                  <a:off x="9340070" y="2414935"/>
                  <a:ext cx="496957" cy="49695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818D2D9A-B07D-4439-BFF3-836BDE27DBF0}"/>
                    </a:ext>
                  </a:extLst>
                </p:cNvPr>
                <p:cNvCxnSpPr>
                  <a:endCxn id="46" idx="2"/>
                </p:cNvCxnSpPr>
                <p:nvPr/>
              </p:nvCxnSpPr>
              <p:spPr>
                <a:xfrm flipV="1">
                  <a:off x="8809983" y="2663413"/>
                  <a:ext cx="530088" cy="163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2D4052F-F422-44D2-9CE8-8B62DB707856}"/>
                  </a:ext>
                </a:extLst>
              </p:cNvPr>
              <p:cNvCxnSpPr/>
              <p:nvPr/>
            </p:nvCxnSpPr>
            <p:spPr>
              <a:xfrm>
                <a:off x="10210535" y="3467882"/>
                <a:ext cx="606287" cy="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09954CC-A327-4BC5-B425-C3A9E9D56880}"/>
                  </a:ext>
                </a:extLst>
              </p:cNvPr>
              <p:cNvSpPr/>
              <p:nvPr/>
            </p:nvSpPr>
            <p:spPr>
              <a:xfrm>
                <a:off x="7632683" y="3140420"/>
                <a:ext cx="675409" cy="187061"/>
              </a:xfrm>
              <a:custGeom>
                <a:avLst/>
                <a:gdLst>
                  <a:gd name="connsiteX0" fmla="*/ 0 w 675409"/>
                  <a:gd name="connsiteY0" fmla="*/ 176670 h 187061"/>
                  <a:gd name="connsiteX1" fmla="*/ 342900 w 675409"/>
                  <a:gd name="connsiteY1" fmla="*/ 24 h 187061"/>
                  <a:gd name="connsiteX2" fmla="*/ 675409 w 675409"/>
                  <a:gd name="connsiteY2" fmla="*/ 187061 h 187061"/>
                  <a:gd name="connsiteX3" fmla="*/ 675409 w 675409"/>
                  <a:gd name="connsiteY3" fmla="*/ 187061 h 187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409" h="187061">
                    <a:moveTo>
                      <a:pt x="0" y="176670"/>
                    </a:moveTo>
                    <a:cubicBezTo>
                      <a:pt x="115166" y="87481"/>
                      <a:pt x="230332" y="-1708"/>
                      <a:pt x="342900" y="24"/>
                    </a:cubicBezTo>
                    <a:cubicBezTo>
                      <a:pt x="455468" y="1756"/>
                      <a:pt x="675409" y="187061"/>
                      <a:pt x="675409" y="187061"/>
                    </a:cubicBezTo>
                    <a:lnTo>
                      <a:pt x="675409" y="18706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2C7F169-B0EE-462B-BD7B-9137EDC4CF22}"/>
                  </a:ext>
                </a:extLst>
              </p:cNvPr>
              <p:cNvSpPr/>
              <p:nvPr/>
            </p:nvSpPr>
            <p:spPr>
              <a:xfrm>
                <a:off x="8349206" y="3105404"/>
                <a:ext cx="675409" cy="187061"/>
              </a:xfrm>
              <a:custGeom>
                <a:avLst/>
                <a:gdLst>
                  <a:gd name="connsiteX0" fmla="*/ 0 w 675409"/>
                  <a:gd name="connsiteY0" fmla="*/ 176670 h 187061"/>
                  <a:gd name="connsiteX1" fmla="*/ 342900 w 675409"/>
                  <a:gd name="connsiteY1" fmla="*/ 24 h 187061"/>
                  <a:gd name="connsiteX2" fmla="*/ 675409 w 675409"/>
                  <a:gd name="connsiteY2" fmla="*/ 187061 h 187061"/>
                  <a:gd name="connsiteX3" fmla="*/ 675409 w 675409"/>
                  <a:gd name="connsiteY3" fmla="*/ 187061 h 187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409" h="187061">
                    <a:moveTo>
                      <a:pt x="0" y="176670"/>
                    </a:moveTo>
                    <a:cubicBezTo>
                      <a:pt x="115166" y="87481"/>
                      <a:pt x="230332" y="-1708"/>
                      <a:pt x="342900" y="24"/>
                    </a:cubicBezTo>
                    <a:cubicBezTo>
                      <a:pt x="455468" y="1756"/>
                      <a:pt x="675409" y="187061"/>
                      <a:pt x="675409" y="187061"/>
                    </a:cubicBezTo>
                    <a:lnTo>
                      <a:pt x="675409" y="18706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8976B5B-7641-4533-8749-15BAEAC5D6F1}"/>
                  </a:ext>
                </a:extLst>
              </p:cNvPr>
              <p:cNvSpPr/>
              <p:nvPr/>
            </p:nvSpPr>
            <p:spPr>
              <a:xfrm>
                <a:off x="9041992" y="3103041"/>
                <a:ext cx="675409" cy="187061"/>
              </a:xfrm>
              <a:custGeom>
                <a:avLst/>
                <a:gdLst>
                  <a:gd name="connsiteX0" fmla="*/ 0 w 675409"/>
                  <a:gd name="connsiteY0" fmla="*/ 176670 h 187061"/>
                  <a:gd name="connsiteX1" fmla="*/ 342900 w 675409"/>
                  <a:gd name="connsiteY1" fmla="*/ 24 h 187061"/>
                  <a:gd name="connsiteX2" fmla="*/ 675409 w 675409"/>
                  <a:gd name="connsiteY2" fmla="*/ 187061 h 187061"/>
                  <a:gd name="connsiteX3" fmla="*/ 675409 w 675409"/>
                  <a:gd name="connsiteY3" fmla="*/ 187061 h 187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409" h="187061">
                    <a:moveTo>
                      <a:pt x="0" y="176670"/>
                    </a:moveTo>
                    <a:cubicBezTo>
                      <a:pt x="115166" y="87481"/>
                      <a:pt x="230332" y="-1708"/>
                      <a:pt x="342900" y="24"/>
                    </a:cubicBezTo>
                    <a:cubicBezTo>
                      <a:pt x="455468" y="1756"/>
                      <a:pt x="675409" y="187061"/>
                      <a:pt x="675409" y="187061"/>
                    </a:cubicBezTo>
                    <a:lnTo>
                      <a:pt x="675409" y="18706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852D42D5-DE8D-494A-9FA1-5C552FC79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922" y="2139768"/>
            <a:ext cx="6866215" cy="59441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03FFA4C-1A72-4F46-ABC5-12C0778C8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462" y="3152653"/>
            <a:ext cx="6096528" cy="41913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7D2AD3E2-C6E4-4664-A4E4-88DF3B84B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8568" y="3604410"/>
            <a:ext cx="2568163" cy="358171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DB4D6EA-258D-4629-BA7A-6744F7A42D3F}"/>
              </a:ext>
            </a:extLst>
          </p:cNvPr>
          <p:cNvSpPr txBox="1"/>
          <p:nvPr/>
        </p:nvSpPr>
        <p:spPr>
          <a:xfrm>
            <a:off x="439126" y="4324989"/>
            <a:ext cx="6774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If we stop too early, we will get a very </a:t>
            </a:r>
            <a:r>
              <a:rPr lang="en-US" sz="2400" dirty="0">
                <a:solidFill>
                  <a:srgbClr val="C00000"/>
                </a:solidFill>
              </a:rPr>
              <a:t>high bias</a:t>
            </a: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76CD4F-D8BD-4401-886A-86073FE1C16B}"/>
              </a:ext>
            </a:extLst>
          </p:cNvPr>
          <p:cNvSpPr txBox="1"/>
          <p:nvPr/>
        </p:nvSpPr>
        <p:spPr>
          <a:xfrm>
            <a:off x="440718" y="4977932"/>
            <a:ext cx="8312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If we stop after many terms, we will get </a:t>
            </a:r>
            <a:r>
              <a:rPr lang="en-US" sz="2400" dirty="0">
                <a:solidFill>
                  <a:srgbClr val="C00000"/>
                </a:solidFill>
              </a:rPr>
              <a:t>high variance</a:t>
            </a:r>
            <a:endParaRPr lang="en-IN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65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DE28-07D4-47A2-AC7B-C78545AEE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Generalized Advantage 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9CCC4-A9AB-4253-8264-72778FD89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BABBD3-B7D2-437B-A528-0D82D2EAA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553" y="1188694"/>
            <a:ext cx="4313294" cy="5944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427303-2EBA-4CAC-B35B-EDEEAC8C4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66" y="1842116"/>
            <a:ext cx="2636748" cy="4419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5188995-F9E4-4CFC-8FC0-C8A6735B1E8A}"/>
                  </a:ext>
                </a:extLst>
              </p:cNvPr>
              <p:cNvSpPr/>
              <p:nvPr/>
            </p:nvSpPr>
            <p:spPr>
              <a:xfrm>
                <a:off x="1999573" y="2725042"/>
                <a:ext cx="650109" cy="65010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5188995-F9E4-4CFC-8FC0-C8A6735B1E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573" y="2725042"/>
                <a:ext cx="650109" cy="65010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2BDB77B-0C23-49C5-AF90-CDF490304672}"/>
                  </a:ext>
                </a:extLst>
              </p:cNvPr>
              <p:cNvSpPr/>
              <p:nvPr/>
            </p:nvSpPr>
            <p:spPr>
              <a:xfrm>
                <a:off x="3575527" y="2725042"/>
                <a:ext cx="650109" cy="65010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2BDB77B-0C23-49C5-AF90-CDF4903046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527" y="2725042"/>
                <a:ext cx="650109" cy="65010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7B0F13-6851-4AE8-9F22-5B2A7C5E54A7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2649682" y="3050097"/>
            <a:ext cx="9258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8FFBA85-86D5-4CA8-8FE6-BF5A010E5A91}"/>
                  </a:ext>
                </a:extLst>
              </p:cNvPr>
              <p:cNvSpPr/>
              <p:nvPr/>
            </p:nvSpPr>
            <p:spPr>
              <a:xfrm>
                <a:off x="5148017" y="2739223"/>
                <a:ext cx="650109" cy="65010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8FFBA85-86D5-4CA8-8FE6-BF5A010E5A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17" y="2739223"/>
                <a:ext cx="650109" cy="65010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7EB206-97C5-4419-B5AA-0CC7205ADD71}"/>
              </a:ext>
            </a:extLst>
          </p:cNvPr>
          <p:cNvCxnSpPr>
            <a:endCxn id="15" idx="2"/>
          </p:cNvCxnSpPr>
          <p:nvPr/>
        </p:nvCxnSpPr>
        <p:spPr>
          <a:xfrm>
            <a:off x="4222172" y="3064278"/>
            <a:ext cx="9258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98A1414-40D0-4A7D-AAD8-EC3A5DE73CE1}"/>
                  </a:ext>
                </a:extLst>
              </p:cNvPr>
              <p:cNvSpPr/>
              <p:nvPr/>
            </p:nvSpPr>
            <p:spPr>
              <a:xfrm>
                <a:off x="6720507" y="2758109"/>
                <a:ext cx="650109" cy="65010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98A1414-40D0-4A7D-AAD8-EC3A5DE73C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507" y="2758109"/>
                <a:ext cx="650109" cy="65010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B55596F-D501-4FEB-8C8C-02D4E91D506E}"/>
              </a:ext>
            </a:extLst>
          </p:cNvPr>
          <p:cNvCxnSpPr>
            <a:endCxn id="17" idx="2"/>
          </p:cNvCxnSpPr>
          <p:nvPr/>
        </p:nvCxnSpPr>
        <p:spPr>
          <a:xfrm>
            <a:off x="5794662" y="3083164"/>
            <a:ext cx="9258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5811D5E-0F83-4F60-89A5-B7C9BD6F1C61}"/>
                  </a:ext>
                </a:extLst>
              </p:cNvPr>
              <p:cNvSpPr txBox="1"/>
              <p:nvPr/>
            </p:nvSpPr>
            <p:spPr>
              <a:xfrm>
                <a:off x="967611" y="3807903"/>
                <a:ext cx="3366370" cy="449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𝛾𝜆</m:t>
                      </m:r>
                      <m:sSubSup>
                        <m:sSub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5811D5E-0F83-4F60-89A5-B7C9BD6F1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11" y="3807903"/>
                <a:ext cx="3366370" cy="4490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E466473-EF4D-4CEC-9C1D-039ECC0DD2C2}"/>
                  </a:ext>
                </a:extLst>
              </p:cNvPr>
              <p:cNvSpPr txBox="1"/>
              <p:nvPr/>
            </p:nvSpPr>
            <p:spPr>
              <a:xfrm>
                <a:off x="854766" y="4449843"/>
                <a:ext cx="69955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𝛾𝜆</m:t>
                      </m:r>
                      <m:sSup>
                        <m:s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)−</m:t>
                      </m:r>
                      <m:sSup>
                        <m:s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E466473-EF4D-4CEC-9C1D-039ECC0DD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66" y="4449843"/>
                <a:ext cx="6995505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0D2951-9956-4081-B825-222B6AEE84A6}"/>
                  </a:ext>
                </a:extLst>
              </p:cNvPr>
              <p:cNvSpPr txBox="1"/>
              <p:nvPr/>
            </p:nvSpPr>
            <p:spPr>
              <a:xfrm>
                <a:off x="949073" y="5138849"/>
                <a:ext cx="4517712" cy="449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𝛾𝜆</m:t>
                      </m:r>
                      <m:sSubSup>
                        <m:sSub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𝛾𝜆𝛿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0D2951-9956-4081-B825-222B6AEE8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073" y="5138849"/>
                <a:ext cx="4517712" cy="4490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BF92DC-EFA3-43D4-8D43-C65CE4347C35}"/>
                  </a:ext>
                </a:extLst>
              </p:cNvPr>
              <p:cNvSpPr txBox="1"/>
              <p:nvPr/>
            </p:nvSpPr>
            <p:spPr>
              <a:xfrm>
                <a:off x="925679" y="5780789"/>
                <a:ext cx="456003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𝛾𝜆</m:t>
                      </m:r>
                      <m:sSup>
                        <m:s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)−</m:t>
                      </m:r>
                      <m:sSup>
                        <m:s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BF92DC-EFA3-43D4-8D43-C65CE4347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79" y="5780789"/>
                <a:ext cx="456003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80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7EFD-F450-4E13-8C09-E11534C9D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 Term in 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7AA59-6E6A-4D21-92BB-98898A9CB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Language model should be forced to choose tokens that will more likely to lead to </a:t>
            </a:r>
            <a:r>
              <a:rPr lang="en-US" dirty="0">
                <a:solidFill>
                  <a:srgbClr val="C00000"/>
                </a:solidFill>
              </a:rPr>
              <a:t>future tokens that comply with its reward model</a:t>
            </a:r>
          </a:p>
          <a:p>
            <a:pPr lvl="1"/>
            <a:r>
              <a:rPr lang="en-US" dirty="0"/>
              <a:t>Choosing the next token, given a prompt (state) that in expectation results in “better than average” rewards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33C12-B423-4F05-B7D3-286961D5B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43DDFE-A794-406A-ABAC-919015E68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472" y="4156010"/>
            <a:ext cx="7513996" cy="1191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0CFEBF-B578-4FFC-8988-BC7894DFA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257" y="5318627"/>
            <a:ext cx="3406435" cy="15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9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648D-0C6A-4419-A227-0752C6E8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Issue with Policy Gradient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7FD42-EDE5-4C94-A4B7-C515B1AA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2B97A1-1C1F-430C-8D9C-344BEC61C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646" y="1144454"/>
            <a:ext cx="7513996" cy="1191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967EA5-3265-4941-8F7A-F91150060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888" y="2651911"/>
            <a:ext cx="3444538" cy="51820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B371435-9845-4404-BE9F-D0DADBD27EEF}"/>
              </a:ext>
            </a:extLst>
          </p:cNvPr>
          <p:cNvSpPr/>
          <p:nvPr/>
        </p:nvSpPr>
        <p:spPr>
          <a:xfrm>
            <a:off x="3687417" y="1144454"/>
            <a:ext cx="815009" cy="1191243"/>
          </a:xfrm>
          <a:prstGeom prst="rect">
            <a:avLst/>
          </a:prstGeom>
          <a:solidFill>
            <a:schemeClr val="accent1">
              <a:alpha val="6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7C52E5D-6A27-4B3E-B567-82D4272AEF68}"/>
              </a:ext>
            </a:extLst>
          </p:cNvPr>
          <p:cNvSpPr/>
          <p:nvPr/>
        </p:nvSpPr>
        <p:spPr>
          <a:xfrm>
            <a:off x="3058795" y="2266122"/>
            <a:ext cx="857222" cy="1550504"/>
          </a:xfrm>
          <a:custGeom>
            <a:avLst/>
            <a:gdLst>
              <a:gd name="connsiteX0" fmla="*/ 857222 w 857222"/>
              <a:gd name="connsiteY0" fmla="*/ 0 h 1550504"/>
              <a:gd name="connsiteX1" fmla="*/ 2457 w 857222"/>
              <a:gd name="connsiteY1" fmla="*/ 586408 h 1550504"/>
              <a:gd name="connsiteX2" fmla="*/ 648501 w 857222"/>
              <a:gd name="connsiteY2" fmla="*/ 1550504 h 1550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7222" h="1550504">
                <a:moveTo>
                  <a:pt x="857222" y="0"/>
                </a:moveTo>
                <a:cubicBezTo>
                  <a:pt x="447233" y="163995"/>
                  <a:pt x="37244" y="327991"/>
                  <a:pt x="2457" y="586408"/>
                </a:cubicBezTo>
                <a:cubicBezTo>
                  <a:pt x="-32330" y="844825"/>
                  <a:pt x="308085" y="1197664"/>
                  <a:pt x="648501" y="155050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C9982-0585-4D44-8D90-16F8A3C29AA9}"/>
              </a:ext>
            </a:extLst>
          </p:cNvPr>
          <p:cNvSpPr txBox="1"/>
          <p:nvPr/>
        </p:nvSpPr>
        <p:spPr>
          <a:xfrm>
            <a:off x="2872409" y="3486330"/>
            <a:ext cx="6410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Sample trajectories from the policy network </a:t>
            </a:r>
            <a:r>
              <a:rPr lang="en-IN" sz="2400" dirty="0">
                <a:solidFill>
                  <a:srgbClr val="C00000"/>
                </a:solidFill>
              </a:rPr>
              <a:t>every time we update the parameters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570F3B-B8F9-4249-AB33-966BDF9B2399}"/>
              </a:ext>
            </a:extLst>
          </p:cNvPr>
          <p:cNvSpPr txBox="1"/>
          <p:nvPr/>
        </p:nvSpPr>
        <p:spPr>
          <a:xfrm>
            <a:off x="3687417" y="4938294"/>
            <a:ext cx="4929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>
                <a:solidFill>
                  <a:srgbClr val="FF0000"/>
                </a:solidFill>
              </a:rPr>
              <a:t>This can be very inefficient!!!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621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B000-F96F-449E-A1BB-68ADFCA7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Sampling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1270F-B805-4CAE-AB34-95800928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9758FE-FC5F-4223-9565-EFEFC1300A97}"/>
                  </a:ext>
                </a:extLst>
              </p:cNvPr>
              <p:cNvSpPr txBox="1"/>
              <p:nvPr/>
            </p:nvSpPr>
            <p:spPr>
              <a:xfrm>
                <a:off x="1639955" y="1091000"/>
                <a:ext cx="863710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Evaluate an expectation over distribution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solidFill>
                      <a:srgbClr val="C00000"/>
                    </a:solidFill>
                  </a:rPr>
                  <a:t> using samples taken from another distribution </a:t>
                </a:r>
                <a14:m>
                  <m:oMath xmlns:m="http://schemas.openxmlformats.org/officeDocument/2006/math">
                    <m:r>
                      <a:rPr lang="en-I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9758FE-FC5F-4223-9565-EFEFC1300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955" y="1091000"/>
                <a:ext cx="8637105" cy="830997"/>
              </a:xfrm>
              <a:prstGeom prst="rect">
                <a:avLst/>
              </a:prstGeom>
              <a:blipFill>
                <a:blip r:embed="rId2"/>
                <a:stretch>
                  <a:fillRect l="-1059" t="-5147" r="-1411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7FEAE3F-04DD-413B-B718-C69CB9D96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66" y="3389459"/>
            <a:ext cx="6451815" cy="10821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1B541C-DB00-4C13-923D-C695BE1B306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4766" y="4657554"/>
            <a:ext cx="10762499" cy="110944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CCD39A9-860D-4F2E-8E9B-54B25C530C30}"/>
              </a:ext>
            </a:extLst>
          </p:cNvPr>
          <p:cNvGrpSpPr/>
          <p:nvPr/>
        </p:nvGrpSpPr>
        <p:grpSpPr>
          <a:xfrm>
            <a:off x="2110935" y="2114661"/>
            <a:ext cx="6632157" cy="1082134"/>
            <a:chOff x="2110935" y="2114661"/>
            <a:chExt cx="6632157" cy="108213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A7ABE13-5756-4A74-8B30-F70118688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10935" y="2224590"/>
              <a:ext cx="3139712" cy="7468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F8DE052-5D27-4085-9344-B01E3F6C9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95759" y="2114661"/>
              <a:ext cx="3147333" cy="1082134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EA252F6-4AA5-4467-B053-2DC782131D47}"/>
                  </a:ext>
                </a:extLst>
              </p:cNvPr>
              <p:cNvSpPr txBox="1"/>
              <p:nvPr/>
            </p:nvSpPr>
            <p:spPr>
              <a:xfrm>
                <a:off x="7537144" y="3742508"/>
                <a:ext cx="34257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Trajectories sampled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EA252F6-4AA5-4467-B053-2DC782131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144" y="3742508"/>
                <a:ext cx="3425717" cy="369332"/>
              </a:xfrm>
              <a:prstGeom prst="rect">
                <a:avLst/>
              </a:prstGeom>
              <a:blipFill>
                <a:blip r:embed="rId7"/>
                <a:stretch>
                  <a:fillRect l="-1423" t="-819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A0DE44-C0BA-4A9E-ACAB-D685D4408AED}"/>
                  </a:ext>
                </a:extLst>
              </p:cNvPr>
              <p:cNvSpPr txBox="1"/>
              <p:nvPr/>
            </p:nvSpPr>
            <p:spPr>
              <a:xfrm>
                <a:off x="4677987" y="5939055"/>
                <a:ext cx="4297048" cy="394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Trajectories sampled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𝑂𝐹𝐹𝐿𝐼𝑁𝐸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A0DE44-C0BA-4A9E-ACAB-D685D4408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987" y="5939055"/>
                <a:ext cx="4297048" cy="394852"/>
              </a:xfrm>
              <a:prstGeom prst="rect">
                <a:avLst/>
              </a:prstGeom>
              <a:blipFill>
                <a:blip r:embed="rId8"/>
                <a:stretch>
                  <a:fillRect l="-1135" t="-6154" b="-184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07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4A3AD-8079-470E-8B4E-4EF0AF14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Off-Policy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2FEFB-C255-4C2E-A9E2-83AFE21C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F30B18-7AB5-45C3-869A-F085EFC76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685"/>
            <a:ext cx="11926957" cy="58494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8106BA-3A92-4B78-AEAA-F75F4D5FBC71}"/>
              </a:ext>
            </a:extLst>
          </p:cNvPr>
          <p:cNvSpPr txBox="1"/>
          <p:nvPr/>
        </p:nvSpPr>
        <p:spPr>
          <a:xfrm>
            <a:off x="96906" y="4833674"/>
            <a:ext cx="34712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 two copies of the policy.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Sample the initial trajectories and then save them in the memory.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Use the saved trajectories to update the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981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8D5C-3210-4580-A9FA-2E9C4D4B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Proximal Policy Optimization (PPO)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4BD19-5DE1-49BC-A0E0-E734D864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D0103C-396A-44C0-B26D-808DD45A7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74" y="1215679"/>
            <a:ext cx="9927078" cy="1358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7B0991-0B4D-4D0B-BEC8-11CB8CD62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249" y="2757232"/>
            <a:ext cx="5349891" cy="1358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86B86B-4E0B-4A94-A4B1-EA0D62C01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248" y="4298784"/>
            <a:ext cx="4863051" cy="10087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DD8BE0-6AE0-46B0-A2AE-A810A5C7E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248" y="5607906"/>
            <a:ext cx="5694424" cy="6338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F8A6BF-744F-433D-BD2D-D598CA4B6B33}"/>
              </a:ext>
            </a:extLst>
          </p:cNvPr>
          <p:cNvSpPr txBox="1"/>
          <p:nvPr/>
        </p:nvSpPr>
        <p:spPr>
          <a:xfrm>
            <a:off x="2445026" y="6122506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maximize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087236-6123-460D-B3D7-BC5E0E9E7C06}"/>
              </a:ext>
            </a:extLst>
          </p:cNvPr>
          <p:cNvSpPr txBox="1"/>
          <p:nvPr/>
        </p:nvSpPr>
        <p:spPr>
          <a:xfrm>
            <a:off x="3869634" y="612250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minimize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576E3A-8F00-4153-AB49-0FCA99272791}"/>
              </a:ext>
            </a:extLst>
          </p:cNvPr>
          <p:cNvSpPr txBox="1"/>
          <p:nvPr/>
        </p:nvSpPr>
        <p:spPr>
          <a:xfrm>
            <a:off x="5489215" y="6122506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maximize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1B04EC-52F7-42FE-B9D5-481CC0C2D131}"/>
              </a:ext>
            </a:extLst>
          </p:cNvPr>
          <p:cNvGrpSpPr/>
          <p:nvPr/>
        </p:nvGrpSpPr>
        <p:grpSpPr>
          <a:xfrm>
            <a:off x="2932556" y="2182111"/>
            <a:ext cx="8080971" cy="832322"/>
            <a:chOff x="2932556" y="2182111"/>
            <a:chExt cx="8080971" cy="832322"/>
          </a:xfrm>
        </p:grpSpPr>
        <p:sp>
          <p:nvSpPr>
            <p:cNvPr id="16" name="Left Brace 15">
              <a:extLst>
                <a:ext uri="{FF2B5EF4-FFF2-40B4-BE49-F238E27FC236}">
                  <a16:creationId xmlns:a16="http://schemas.microsoft.com/office/drawing/2014/main" id="{BB45D2C2-FD9D-4BEE-A30B-A51E3D87F8D6}"/>
                </a:ext>
              </a:extLst>
            </p:cNvPr>
            <p:cNvSpPr/>
            <p:nvPr/>
          </p:nvSpPr>
          <p:spPr>
            <a:xfrm rot="16200000">
              <a:off x="6685481" y="-1570814"/>
              <a:ext cx="575121" cy="8080971"/>
            </a:xfrm>
            <a:prstGeom prst="lef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28594EA-286C-4B9A-A5DB-BE6E9C7ADCB6}"/>
                    </a:ext>
                  </a:extLst>
                </p:cNvPr>
                <p:cNvSpPr txBox="1"/>
                <p:nvPr/>
              </p:nvSpPr>
              <p:spPr>
                <a:xfrm>
                  <a:off x="7477760" y="2586302"/>
                  <a:ext cx="2337115" cy="4281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2000" dirty="0"/>
                    <a:t>Expectation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a14:m>
                  <a:endParaRPr lang="en-IN" sz="2000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28594EA-286C-4B9A-A5DB-BE6E9C7ADC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7760" y="2586302"/>
                  <a:ext cx="2337115" cy="428131"/>
                </a:xfrm>
                <a:prstGeom prst="rect">
                  <a:avLst/>
                </a:prstGeom>
                <a:blipFill>
                  <a:blip r:embed="rId6"/>
                  <a:stretch>
                    <a:fillRect l="-2872" t="-5714" b="-2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8256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21473-B9A1-4A07-88A0-5103187F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Reward Hacking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18923-7804-4DE5-BCE0-A4B0996EF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Language model (our policy) may just learn to output whatever the reward model wants to see to maximize its return.</a:t>
            </a:r>
          </a:p>
          <a:p>
            <a:r>
              <a:rPr lang="en-US" dirty="0"/>
              <a:t>Language model to receive good rewards</a:t>
            </a:r>
          </a:p>
          <a:p>
            <a:r>
              <a:rPr lang="en-US" dirty="0"/>
              <a:t>We want the language model to output something that still looks like the training data</a:t>
            </a:r>
          </a:p>
          <a:p>
            <a:r>
              <a:rPr lang="en-US" dirty="0"/>
              <a:t>Penalize the (aligned) model if it deviated from the original model</a:t>
            </a:r>
          </a:p>
          <a:p>
            <a:pPr lvl="1"/>
            <a:r>
              <a:rPr lang="en-US" dirty="0"/>
              <a:t>KL divergence between two logit distributions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AB24-F431-4D70-BF6E-D0882D14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6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894F-DCEF-4D86-BA1D-E5619DB9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Reward Hacking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D5315-36A0-40D7-AC6B-603D6A41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43A25C-28F6-4257-A1B9-C032EBE3FAFC}"/>
              </a:ext>
            </a:extLst>
          </p:cNvPr>
          <p:cNvSpPr/>
          <p:nvPr/>
        </p:nvSpPr>
        <p:spPr>
          <a:xfrm>
            <a:off x="427383" y="6281526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BA1DDD-3801-4CCB-B63E-42F390AC4659}"/>
              </a:ext>
            </a:extLst>
          </p:cNvPr>
          <p:cNvSpPr/>
          <p:nvPr/>
        </p:nvSpPr>
        <p:spPr>
          <a:xfrm>
            <a:off x="1374920" y="6281525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AA6BB2-3993-4DC5-8803-A25115C003A6}"/>
              </a:ext>
            </a:extLst>
          </p:cNvPr>
          <p:cNvSpPr/>
          <p:nvPr/>
        </p:nvSpPr>
        <p:spPr>
          <a:xfrm>
            <a:off x="2322450" y="6287241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70A42-B0D1-4D6A-8F46-D60066762A8D}"/>
              </a:ext>
            </a:extLst>
          </p:cNvPr>
          <p:cNvSpPr/>
          <p:nvPr/>
        </p:nvSpPr>
        <p:spPr>
          <a:xfrm>
            <a:off x="3279922" y="6287240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1F14DF-BB8B-44EC-AD30-D13862063D4A}"/>
              </a:ext>
            </a:extLst>
          </p:cNvPr>
          <p:cNvSpPr/>
          <p:nvPr/>
        </p:nvSpPr>
        <p:spPr>
          <a:xfrm>
            <a:off x="4227452" y="6275811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6DFF28-9B36-4A93-BC53-C02147352295}"/>
              </a:ext>
            </a:extLst>
          </p:cNvPr>
          <p:cNvSpPr/>
          <p:nvPr/>
        </p:nvSpPr>
        <p:spPr>
          <a:xfrm>
            <a:off x="5184923" y="6275810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79D114-E99B-4EC6-BCAF-7556EDD546B7}"/>
              </a:ext>
            </a:extLst>
          </p:cNvPr>
          <p:cNvSpPr/>
          <p:nvPr/>
        </p:nvSpPr>
        <p:spPr>
          <a:xfrm>
            <a:off x="6132458" y="6281526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3958C3-C873-4941-B0C0-8AEFCC3D8A52}"/>
              </a:ext>
            </a:extLst>
          </p:cNvPr>
          <p:cNvSpPr/>
          <p:nvPr/>
        </p:nvSpPr>
        <p:spPr>
          <a:xfrm>
            <a:off x="7089930" y="6281525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8094F92-FED4-4CAA-837C-8279EA7409A8}"/>
                  </a:ext>
                </a:extLst>
              </p:cNvPr>
              <p:cNvSpPr/>
              <p:nvPr/>
            </p:nvSpPr>
            <p:spPr>
              <a:xfrm>
                <a:off x="427383" y="4959622"/>
                <a:ext cx="7474234" cy="87464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/>
                  <a:t>Language Model (Policy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2800" dirty="0"/>
                  <a:t>)</a:t>
                </a: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8094F92-FED4-4CAA-837C-8279EA7409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83" y="4959622"/>
                <a:ext cx="7474234" cy="8746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7DDC8C-1C7E-4783-8E93-893AC464233F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833227" y="5834266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66A92F2-BD8D-406E-B75E-FBB381C2BA41}"/>
              </a:ext>
            </a:extLst>
          </p:cNvPr>
          <p:cNvCxnSpPr>
            <a:cxnSpLocks/>
          </p:cNvCxnSpPr>
          <p:nvPr/>
        </p:nvCxnSpPr>
        <p:spPr>
          <a:xfrm flipV="1">
            <a:off x="1780757" y="5838489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82D23E-3239-4EDA-AD5A-8B6E11B3C601}"/>
              </a:ext>
            </a:extLst>
          </p:cNvPr>
          <p:cNvCxnSpPr>
            <a:cxnSpLocks/>
          </p:cNvCxnSpPr>
          <p:nvPr/>
        </p:nvCxnSpPr>
        <p:spPr>
          <a:xfrm flipV="1">
            <a:off x="2752291" y="5834266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128D51-5D5C-4D06-8DEF-E249C5A549A8}"/>
              </a:ext>
            </a:extLst>
          </p:cNvPr>
          <p:cNvCxnSpPr>
            <a:cxnSpLocks/>
          </p:cNvCxnSpPr>
          <p:nvPr/>
        </p:nvCxnSpPr>
        <p:spPr>
          <a:xfrm flipV="1">
            <a:off x="3699821" y="5838489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E917CD-B35D-44F9-8303-7DCA54214291}"/>
              </a:ext>
            </a:extLst>
          </p:cNvPr>
          <p:cNvCxnSpPr>
            <a:cxnSpLocks/>
          </p:cNvCxnSpPr>
          <p:nvPr/>
        </p:nvCxnSpPr>
        <p:spPr>
          <a:xfrm flipV="1">
            <a:off x="4663105" y="5838489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829E1F1-2C88-492C-B026-F9C4B0032949}"/>
              </a:ext>
            </a:extLst>
          </p:cNvPr>
          <p:cNvCxnSpPr>
            <a:cxnSpLocks/>
          </p:cNvCxnSpPr>
          <p:nvPr/>
        </p:nvCxnSpPr>
        <p:spPr>
          <a:xfrm flipV="1">
            <a:off x="5610635" y="5842712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A1E3E8-5BF3-4AFD-841E-70F8D4D8A5BD}"/>
              </a:ext>
            </a:extLst>
          </p:cNvPr>
          <p:cNvCxnSpPr>
            <a:cxnSpLocks/>
          </p:cNvCxnSpPr>
          <p:nvPr/>
        </p:nvCxnSpPr>
        <p:spPr>
          <a:xfrm flipV="1">
            <a:off x="6582169" y="5838489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3163F33-BF05-43DA-ADEC-361B1EF57BD7}"/>
              </a:ext>
            </a:extLst>
          </p:cNvPr>
          <p:cNvCxnSpPr>
            <a:cxnSpLocks/>
          </p:cNvCxnSpPr>
          <p:nvPr/>
        </p:nvCxnSpPr>
        <p:spPr>
          <a:xfrm flipV="1">
            <a:off x="7529699" y="5842712"/>
            <a:ext cx="0" cy="447260"/>
          </a:xfrm>
          <a:prstGeom prst="straightConnector1">
            <a:avLst/>
          </a:prstGeom>
          <a:ln w="41275">
            <a:solidFill>
              <a:srgbClr val="EA9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7C06CB1-C073-4117-BE2D-75EC9BFE0DB4}"/>
                  </a:ext>
                </a:extLst>
              </p:cNvPr>
              <p:cNvSpPr/>
              <p:nvPr/>
            </p:nvSpPr>
            <p:spPr>
              <a:xfrm>
                <a:off x="427383" y="4287070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7C06CB1-C073-4117-BE2D-75EC9BFE0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83" y="4287070"/>
                <a:ext cx="811687" cy="384183"/>
              </a:xfrm>
              <a:prstGeom prst="rect">
                <a:avLst/>
              </a:prstGeom>
              <a:blipFill>
                <a:blip r:embed="rId3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51AE7BC-A4A3-4BD7-9018-4F01683673EC}"/>
                  </a:ext>
                </a:extLst>
              </p:cNvPr>
              <p:cNvSpPr/>
              <p:nvPr/>
            </p:nvSpPr>
            <p:spPr>
              <a:xfrm>
                <a:off x="1374920" y="4287069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51AE7BC-A4A3-4BD7-9018-4F01683673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920" y="4287069"/>
                <a:ext cx="811687" cy="384183"/>
              </a:xfrm>
              <a:prstGeom prst="rect">
                <a:avLst/>
              </a:prstGeom>
              <a:blipFill>
                <a:blip r:embed="rId4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EA0627D-366C-40CB-AA42-2BEACC8C07BF}"/>
                  </a:ext>
                </a:extLst>
              </p:cNvPr>
              <p:cNvSpPr/>
              <p:nvPr/>
            </p:nvSpPr>
            <p:spPr>
              <a:xfrm>
                <a:off x="2322450" y="4292785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EA0627D-366C-40CB-AA42-2BEACC8C0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450" y="4292785"/>
                <a:ext cx="811687" cy="384183"/>
              </a:xfrm>
              <a:prstGeom prst="rect">
                <a:avLst/>
              </a:prstGeom>
              <a:blipFill>
                <a:blip r:embed="rId5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D2008A1-9DFF-43A9-8EBF-057E2FC8915B}"/>
                  </a:ext>
                </a:extLst>
              </p:cNvPr>
              <p:cNvSpPr/>
              <p:nvPr/>
            </p:nvSpPr>
            <p:spPr>
              <a:xfrm>
                <a:off x="3279922" y="4292784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D2008A1-9DFF-43A9-8EBF-057E2FC891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922" y="4292784"/>
                <a:ext cx="811687" cy="384183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5B48B3A-3655-45D4-B425-D9CE42CB0A27}"/>
                  </a:ext>
                </a:extLst>
              </p:cNvPr>
              <p:cNvSpPr/>
              <p:nvPr/>
            </p:nvSpPr>
            <p:spPr>
              <a:xfrm>
                <a:off x="4227452" y="4281355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5B48B3A-3655-45D4-B425-D9CE42CB0A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452" y="4281355"/>
                <a:ext cx="811687" cy="384183"/>
              </a:xfrm>
              <a:prstGeom prst="rect">
                <a:avLst/>
              </a:prstGeom>
              <a:blipFill>
                <a:blip r:embed="rId7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924FEC6-5239-44CD-8187-05D8CE223EF1}"/>
                  </a:ext>
                </a:extLst>
              </p:cNvPr>
              <p:cNvSpPr/>
              <p:nvPr/>
            </p:nvSpPr>
            <p:spPr>
              <a:xfrm>
                <a:off x="5184923" y="4281354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924FEC6-5239-44CD-8187-05D8CE223E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923" y="4281354"/>
                <a:ext cx="811687" cy="3841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88DF62F-A5A6-4910-8B3F-97C176117EF5}"/>
                  </a:ext>
                </a:extLst>
              </p:cNvPr>
              <p:cNvSpPr/>
              <p:nvPr/>
            </p:nvSpPr>
            <p:spPr>
              <a:xfrm>
                <a:off x="6132458" y="4287070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88DF62F-A5A6-4910-8B3F-97C176117E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458" y="4287070"/>
                <a:ext cx="811687" cy="3841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2BD9A59-EB17-47DB-BAC5-F864AD5A1742}"/>
                  </a:ext>
                </a:extLst>
              </p:cNvPr>
              <p:cNvSpPr/>
              <p:nvPr/>
            </p:nvSpPr>
            <p:spPr>
              <a:xfrm>
                <a:off x="7089930" y="4287069"/>
                <a:ext cx="811687" cy="3841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2BD9A59-EB17-47DB-BAC5-F864AD5A17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930" y="4287069"/>
                <a:ext cx="811687" cy="3841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02FB5A0A-8C79-4539-BE49-789EA56B9B39}"/>
              </a:ext>
            </a:extLst>
          </p:cNvPr>
          <p:cNvGrpSpPr/>
          <p:nvPr/>
        </p:nvGrpSpPr>
        <p:grpSpPr>
          <a:xfrm>
            <a:off x="831566" y="4671390"/>
            <a:ext cx="6696472" cy="288231"/>
            <a:chOff x="831566" y="4503916"/>
            <a:chExt cx="6696472" cy="455706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59A35BA-C416-4655-B145-FD09AC05E8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66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42FD52E-BD48-4889-8FA9-32752AEC14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096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4695652-466E-448A-85A8-87D9FCF1A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0630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2962306-A775-4A8F-8F18-153C70BF8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160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64632AF-89FE-4CC7-9B15-BC2C911352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47F53F1-4FE2-41D1-BB11-7F2073F0DC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D62BAB2-F2D4-4951-8591-64F6BD9789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B424769-7290-4F66-976B-00C7D6657A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9A7A396-BAE5-43C7-8859-29BF469C72A2}"/>
              </a:ext>
            </a:extLst>
          </p:cNvPr>
          <p:cNvSpPr/>
          <p:nvPr/>
        </p:nvSpPr>
        <p:spPr>
          <a:xfrm>
            <a:off x="4259716" y="3614193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p5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E924A8-CBFF-457D-B421-50F6FB12B906}"/>
              </a:ext>
            </a:extLst>
          </p:cNvPr>
          <p:cNvSpPr/>
          <p:nvPr/>
        </p:nvSpPr>
        <p:spPr>
          <a:xfrm>
            <a:off x="5217187" y="3614192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51FE322-3A20-4DFC-B126-879D4B0EAF49}"/>
              </a:ext>
            </a:extLst>
          </p:cNvPr>
          <p:cNvSpPr/>
          <p:nvPr/>
        </p:nvSpPr>
        <p:spPr>
          <a:xfrm>
            <a:off x="6164722" y="3619908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716E5D-3093-46D7-A533-34BD3358ACE2}"/>
              </a:ext>
            </a:extLst>
          </p:cNvPr>
          <p:cNvSpPr/>
          <p:nvPr/>
        </p:nvSpPr>
        <p:spPr>
          <a:xfrm>
            <a:off x="7122194" y="3619907"/>
            <a:ext cx="811687" cy="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LOGIT a3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8C39FFF-5AC1-4C7A-AC6A-3C638C05FAB3}"/>
              </a:ext>
            </a:extLst>
          </p:cNvPr>
          <p:cNvGrpSpPr/>
          <p:nvPr/>
        </p:nvGrpSpPr>
        <p:grpSpPr>
          <a:xfrm>
            <a:off x="815010" y="3999757"/>
            <a:ext cx="6696472" cy="288231"/>
            <a:chOff x="831566" y="4503916"/>
            <a:chExt cx="6696472" cy="455706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F10D7C0-1DCB-49DD-A84F-8729E588A6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66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1F94CF8-20BF-4FE5-954F-AE3461C25C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096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1999E14-B6F0-4BEB-A843-760933DB7B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0630" y="4503916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B939FB3-5C62-44AF-AB5F-66685FFCB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160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27C2212-B497-402A-A740-767471AC06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FBC3DF0-C7EC-433C-9DC0-65C525AD68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3EF6CE3-8AE8-42BD-9FB0-6E3D3E99EE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B043D99-D3BA-471A-A01F-67C3F833C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BE6E301-ED44-4317-8027-0C6D927FB7D5}"/>
              </a:ext>
            </a:extLst>
          </p:cNvPr>
          <p:cNvGrpSpPr/>
          <p:nvPr/>
        </p:nvGrpSpPr>
        <p:grpSpPr>
          <a:xfrm>
            <a:off x="4644888" y="3325826"/>
            <a:ext cx="2866594" cy="285560"/>
            <a:chOff x="4661444" y="4508139"/>
            <a:chExt cx="2866594" cy="451483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5145A428-1B0A-40FC-8E0E-04B0E911E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1444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2C0377D-1926-4A73-B5A2-A43528F29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974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03C5DAD-A43D-41CA-BFDA-5AE33CA630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0508" y="4508139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AC6B1E6-B526-45AF-A336-B88EBEF4BF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038" y="4512362"/>
              <a:ext cx="0" cy="447260"/>
            </a:xfrm>
            <a:prstGeom prst="straightConnector1">
              <a:avLst/>
            </a:prstGeom>
            <a:ln w="41275">
              <a:solidFill>
                <a:srgbClr val="EA9B2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26294D4-68A9-4D43-9307-0E4FF8692293}"/>
                  </a:ext>
                </a:extLst>
              </p:cNvPr>
              <p:cNvSpPr txBox="1"/>
              <p:nvPr/>
            </p:nvSpPr>
            <p:spPr>
              <a:xfrm>
                <a:off x="725163" y="6299584"/>
                <a:ext cx="280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26294D4-68A9-4D43-9307-0E4FF8692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63" y="6299584"/>
                <a:ext cx="280654" cy="276999"/>
              </a:xfrm>
              <a:prstGeom prst="rect">
                <a:avLst/>
              </a:prstGeom>
              <a:blipFill>
                <a:blip r:embed="rId11"/>
                <a:stretch>
                  <a:fillRect l="-19565" r="-6522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550CD36-D7F5-49DF-9545-D8FB4AFB037C}"/>
                  </a:ext>
                </a:extLst>
              </p:cNvPr>
              <p:cNvSpPr txBox="1"/>
              <p:nvPr/>
            </p:nvSpPr>
            <p:spPr>
              <a:xfrm>
                <a:off x="1675267" y="6315566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550CD36-D7F5-49DF-9545-D8FB4AFB0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267" y="6315566"/>
                <a:ext cx="285976" cy="276999"/>
              </a:xfrm>
              <a:prstGeom prst="rect">
                <a:avLst/>
              </a:prstGeom>
              <a:blipFill>
                <a:blip r:embed="rId12"/>
                <a:stretch>
                  <a:fillRect l="-19149" r="-6383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FFA9168-B544-45EC-A4F9-DECCA8C491EE}"/>
                  </a:ext>
                </a:extLst>
              </p:cNvPr>
              <p:cNvSpPr txBox="1"/>
              <p:nvPr/>
            </p:nvSpPr>
            <p:spPr>
              <a:xfrm>
                <a:off x="2626380" y="6305627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FFA9168-B544-45EC-A4F9-DECCA8C49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380" y="6305627"/>
                <a:ext cx="285976" cy="276999"/>
              </a:xfrm>
              <a:prstGeom prst="rect">
                <a:avLst/>
              </a:prstGeom>
              <a:blipFill>
                <a:blip r:embed="rId13"/>
                <a:stretch>
                  <a:fillRect l="-19149" r="-6383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838CB2B-E1F5-482A-AC68-7C1D7820659F}"/>
                  </a:ext>
                </a:extLst>
              </p:cNvPr>
              <p:cNvSpPr txBox="1"/>
              <p:nvPr/>
            </p:nvSpPr>
            <p:spPr>
              <a:xfrm>
                <a:off x="3601359" y="6284440"/>
                <a:ext cx="284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838CB2B-E1F5-482A-AC68-7C1D78206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359" y="6284440"/>
                <a:ext cx="284245" cy="276999"/>
              </a:xfrm>
              <a:prstGeom prst="rect">
                <a:avLst/>
              </a:prstGeom>
              <a:blipFill>
                <a:blip r:embed="rId14"/>
                <a:stretch>
                  <a:fillRect l="-19565" r="-8696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03663E8-2295-4F77-8C06-D13366920540}"/>
                  </a:ext>
                </a:extLst>
              </p:cNvPr>
              <p:cNvSpPr txBox="1"/>
              <p:nvPr/>
            </p:nvSpPr>
            <p:spPr>
              <a:xfrm>
                <a:off x="4528761" y="6304974"/>
                <a:ext cx="285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03663E8-2295-4F77-8C06-D13366920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761" y="6304974"/>
                <a:ext cx="285976" cy="276999"/>
              </a:xfrm>
              <a:prstGeom prst="rect">
                <a:avLst/>
              </a:prstGeom>
              <a:blipFill>
                <a:blip r:embed="rId15"/>
                <a:stretch>
                  <a:fillRect l="-19149" r="-8511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4218E9E-B88F-402D-AED6-C7979BA95B19}"/>
                  </a:ext>
                </a:extLst>
              </p:cNvPr>
              <p:cNvSpPr txBox="1"/>
              <p:nvPr/>
            </p:nvSpPr>
            <p:spPr>
              <a:xfrm>
                <a:off x="5476893" y="6311474"/>
                <a:ext cx="287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4218E9E-B88F-402D-AED6-C7979BA95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93" y="6311474"/>
                <a:ext cx="287963" cy="276999"/>
              </a:xfrm>
              <a:prstGeom prst="rect">
                <a:avLst/>
              </a:prstGeom>
              <a:blipFill>
                <a:blip r:embed="rId16"/>
                <a:stretch>
                  <a:fillRect l="-10417" r="-6250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0A5E07D-2598-42D4-8CF1-C640049595A9}"/>
                  </a:ext>
                </a:extLst>
              </p:cNvPr>
              <p:cNvSpPr txBox="1"/>
              <p:nvPr/>
            </p:nvSpPr>
            <p:spPr>
              <a:xfrm>
                <a:off x="6436526" y="6309523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0A5E07D-2598-42D4-8CF1-C64004959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526" y="6309523"/>
                <a:ext cx="293285" cy="276999"/>
              </a:xfrm>
              <a:prstGeom prst="rect">
                <a:avLst/>
              </a:prstGeom>
              <a:blipFill>
                <a:blip r:embed="rId17"/>
                <a:stretch>
                  <a:fillRect l="-10417" r="-625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BA6264A-8210-435B-8120-DB3E74DE2A64}"/>
                  </a:ext>
                </a:extLst>
              </p:cNvPr>
              <p:cNvSpPr txBox="1"/>
              <p:nvPr/>
            </p:nvSpPr>
            <p:spPr>
              <a:xfrm>
                <a:off x="7426316" y="6308491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BA6264A-8210-435B-8120-DB3E74DE2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316" y="6308491"/>
                <a:ext cx="293285" cy="276999"/>
              </a:xfrm>
              <a:prstGeom prst="rect">
                <a:avLst/>
              </a:prstGeom>
              <a:blipFill>
                <a:blip r:embed="rId18"/>
                <a:stretch>
                  <a:fillRect l="-10417" r="-8333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7E3BFD5-7C1D-4E0C-9B62-6DC5DC5FAD2F}"/>
                  </a:ext>
                </a:extLst>
              </p:cNvPr>
              <p:cNvSpPr txBox="1"/>
              <p:nvPr/>
            </p:nvSpPr>
            <p:spPr>
              <a:xfrm>
                <a:off x="3931785" y="3002396"/>
                <a:ext cx="1185798" cy="282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Reward (</a:t>
                </a:r>
                <a14:m>
                  <m:oMath xmlns:m="http://schemas.openxmlformats.org/officeDocument/2006/math"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1200" dirty="0"/>
                  <a:t>)</a:t>
                </a: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7E3BFD5-7C1D-4E0C-9B62-6DC5DC5FA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785" y="3002396"/>
                <a:ext cx="1185798" cy="282889"/>
              </a:xfrm>
              <a:prstGeom prst="rect">
                <a:avLst/>
              </a:prstGeom>
              <a:blipFill>
                <a:blip r:embed="rId19"/>
                <a:stretch>
                  <a:fillRect l="-515" t="-217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36AF6E3-FC23-4816-AC6D-E58B0FBF1FF6}"/>
                  </a:ext>
                </a:extLst>
              </p:cNvPr>
              <p:cNvSpPr txBox="1"/>
              <p:nvPr/>
            </p:nvSpPr>
            <p:spPr>
              <a:xfrm>
                <a:off x="4975571" y="3014376"/>
                <a:ext cx="1185798" cy="282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Reward (</a:t>
                </a:r>
                <a14:m>
                  <m:oMath xmlns:m="http://schemas.openxmlformats.org/officeDocument/2006/math"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1200" dirty="0"/>
                  <a:t>)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36AF6E3-FC23-4816-AC6D-E58B0FBF1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571" y="3014376"/>
                <a:ext cx="1185798" cy="282889"/>
              </a:xfrm>
              <a:prstGeom prst="rect">
                <a:avLst/>
              </a:prstGeom>
              <a:blipFill>
                <a:blip r:embed="rId20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C840F95-95E4-4E3E-8163-06072977FB96}"/>
                  </a:ext>
                </a:extLst>
              </p:cNvPr>
              <p:cNvSpPr txBox="1"/>
              <p:nvPr/>
            </p:nvSpPr>
            <p:spPr>
              <a:xfrm>
                <a:off x="6064326" y="3020083"/>
                <a:ext cx="1185798" cy="282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Reward (</a:t>
                </a:r>
                <a14:m>
                  <m:oMath xmlns:m="http://schemas.openxmlformats.org/officeDocument/2006/math"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IN" sz="1200" dirty="0"/>
                  <a:t>)</a:t>
                </a:r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C840F95-95E4-4E3E-8163-06072977F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326" y="3020083"/>
                <a:ext cx="1185798" cy="282889"/>
              </a:xfrm>
              <a:prstGeom prst="rect">
                <a:avLst/>
              </a:prstGeom>
              <a:blipFill>
                <a:blip r:embed="rId21"/>
                <a:stretch>
                  <a:fillRect l="-515" b="-127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B109F08-9D49-43A0-ADDF-B8FF4BBC05F7}"/>
                  </a:ext>
                </a:extLst>
              </p:cNvPr>
              <p:cNvSpPr txBox="1"/>
              <p:nvPr/>
            </p:nvSpPr>
            <p:spPr>
              <a:xfrm>
                <a:off x="7126702" y="3012335"/>
                <a:ext cx="1185798" cy="282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Reward (</a:t>
                </a:r>
                <a14:m>
                  <m:oMath xmlns:m="http://schemas.openxmlformats.org/officeDocument/2006/math"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IN" sz="1200" dirty="0"/>
                  <a:t>)</a:t>
                </a: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B109F08-9D49-43A0-ADDF-B8FF4BBC0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702" y="3012335"/>
                <a:ext cx="1185798" cy="282889"/>
              </a:xfrm>
              <a:prstGeom prst="rect">
                <a:avLst/>
              </a:prstGeom>
              <a:blipFill>
                <a:blip r:embed="rId22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AA99CF93-78EC-4399-9BD1-D593AF446DF5}"/>
              </a:ext>
            </a:extLst>
          </p:cNvPr>
          <p:cNvGrpSpPr/>
          <p:nvPr/>
        </p:nvGrpSpPr>
        <p:grpSpPr>
          <a:xfrm>
            <a:off x="427383" y="939166"/>
            <a:ext cx="7516440" cy="1509108"/>
            <a:chOff x="427383" y="939166"/>
            <a:chExt cx="7516440" cy="150910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09D4F820-B45E-437F-A6FB-787E3B358BFE}"/>
                    </a:ext>
                  </a:extLst>
                </p:cNvPr>
                <p:cNvSpPr/>
                <p:nvPr/>
              </p:nvSpPr>
              <p:spPr>
                <a:xfrm>
                  <a:off x="427383" y="939166"/>
                  <a:ext cx="7474234" cy="87464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800" dirty="0"/>
                    <a:t>Frozen Model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a14:m>
                  <a:r>
                    <a:rPr lang="en-IN" sz="2800" dirty="0"/>
                    <a:t>)</a:t>
                  </a:r>
                </a:p>
              </p:txBody>
            </p:sp>
          </mc:Choice>
          <mc:Fallback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09D4F820-B45E-437F-A6FB-787E3B358B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383" y="939166"/>
                  <a:ext cx="7474234" cy="87464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6DC8B20B-5D01-43CA-8A67-C47AB347C4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5561" y="1813810"/>
              <a:ext cx="0" cy="282889"/>
            </a:xfrm>
            <a:prstGeom prst="straightConnector1">
              <a:avLst/>
            </a:prstGeom>
            <a:ln w="41275">
              <a:solidFill>
                <a:srgbClr val="EA9B26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CF53796-A8E8-48C7-8B21-414D0A9E4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3091" y="1816481"/>
              <a:ext cx="0" cy="282889"/>
            </a:xfrm>
            <a:prstGeom prst="straightConnector1">
              <a:avLst/>
            </a:prstGeom>
            <a:ln w="41275">
              <a:solidFill>
                <a:srgbClr val="EA9B26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0F834688-DD08-4C90-B224-37CAD0380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4625" y="1813810"/>
              <a:ext cx="0" cy="282889"/>
            </a:xfrm>
            <a:prstGeom prst="straightConnector1">
              <a:avLst/>
            </a:prstGeom>
            <a:ln w="41275">
              <a:solidFill>
                <a:srgbClr val="EA9B26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AAD035D8-18B2-41AD-BB02-078F3FF761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2155" y="1816481"/>
              <a:ext cx="0" cy="282889"/>
            </a:xfrm>
            <a:prstGeom prst="straightConnector1">
              <a:avLst/>
            </a:prstGeom>
            <a:ln w="41275">
              <a:solidFill>
                <a:srgbClr val="EA9B26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2C7737A-BE09-4E46-8C17-9AB6D5073F0E}"/>
                </a:ext>
              </a:extLst>
            </p:cNvPr>
            <p:cNvSpPr/>
            <p:nvPr/>
          </p:nvSpPr>
          <p:spPr>
            <a:xfrm>
              <a:off x="4269658" y="2058376"/>
              <a:ext cx="811687" cy="3841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/>
                <a:t>LOGIT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AA6AD37-F492-4A06-B193-3900B89B4237}"/>
                </a:ext>
              </a:extLst>
            </p:cNvPr>
            <p:cNvSpPr/>
            <p:nvPr/>
          </p:nvSpPr>
          <p:spPr>
            <a:xfrm>
              <a:off x="5227129" y="2058375"/>
              <a:ext cx="811687" cy="3841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/>
                <a:t>LOGIT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8781ADA-D855-4685-B9BA-05FDB8529B63}"/>
                </a:ext>
              </a:extLst>
            </p:cNvPr>
            <p:cNvSpPr/>
            <p:nvPr/>
          </p:nvSpPr>
          <p:spPr>
            <a:xfrm>
              <a:off x="6174664" y="2064091"/>
              <a:ext cx="811687" cy="3841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LOGIT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BFB1875-4531-45F6-9A40-AFDD829E3223}"/>
                </a:ext>
              </a:extLst>
            </p:cNvPr>
            <p:cNvSpPr/>
            <p:nvPr/>
          </p:nvSpPr>
          <p:spPr>
            <a:xfrm>
              <a:off x="7132136" y="2064090"/>
              <a:ext cx="811687" cy="3841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LOGIT</a:t>
              </a:r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4AF1042E-6A0A-4CF0-9857-142D98500A21}"/>
              </a:ext>
            </a:extLst>
          </p:cNvPr>
          <p:cNvSpPr/>
          <p:nvPr/>
        </p:nvSpPr>
        <p:spPr>
          <a:xfrm>
            <a:off x="3931785" y="2574235"/>
            <a:ext cx="4380715" cy="394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KL Divergence</a:t>
            </a:r>
          </a:p>
        </p:txBody>
      </p:sp>
    </p:spTree>
    <p:extLst>
      <p:ext uri="{BB962C8B-B14F-4D97-AF65-F5344CB8AC3E}">
        <p14:creationId xmlns:p14="http://schemas.microsoft.com/office/powerpoint/2010/main" val="52329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990E3-A759-4832-B00C-AF60AEEF2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Revised PPO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923B7-1E16-4E7D-AC60-68492BDCB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6C5413-8BAF-45BA-80D0-4EFDB8DA6DC4}"/>
                  </a:ext>
                </a:extLst>
              </p:cNvPr>
              <p:cNvSpPr txBox="1"/>
              <p:nvPr/>
            </p:nvSpPr>
            <p:spPr>
              <a:xfrm>
                <a:off x="1178474" y="2787926"/>
                <a:ext cx="10381175" cy="978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𝑃𝑂𝐿𝐼𝐶𝑌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𝑜𝑙𝑑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(.|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)||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(.|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6C5413-8BAF-45BA-80D0-4EFDB8DA6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474" y="2787926"/>
                <a:ext cx="10381175" cy="9786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BF979F-7142-42B9-9777-CF982FBFEDC2}"/>
                  </a:ext>
                </a:extLst>
              </p:cNvPr>
              <p:cNvSpPr txBox="1"/>
              <p:nvPr/>
            </p:nvSpPr>
            <p:spPr>
              <a:xfrm>
                <a:off x="1298863" y="4453475"/>
                <a:ext cx="9351819" cy="534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(.|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)||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(.|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IN" sz="2400" dirty="0"/>
                  <a:t>: Reward hacking prevention loss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BF979F-7142-42B9-9777-CF982FBFE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863" y="4453475"/>
                <a:ext cx="9351819" cy="534570"/>
              </a:xfrm>
              <a:prstGeom prst="rect">
                <a:avLst/>
              </a:prstGeom>
              <a:blipFill>
                <a:blip r:embed="rId3"/>
                <a:stretch>
                  <a:fillRect l="-130" t="-8046" b="-137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F1914BE-31F5-4ADC-BE19-159D17C79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474" y="987081"/>
            <a:ext cx="9927078" cy="135855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622D16E-97B6-4AB2-954F-6032C14FA68C}"/>
              </a:ext>
            </a:extLst>
          </p:cNvPr>
          <p:cNvGrpSpPr/>
          <p:nvPr/>
        </p:nvGrpSpPr>
        <p:grpSpPr>
          <a:xfrm>
            <a:off x="2932556" y="1953513"/>
            <a:ext cx="8080971" cy="832322"/>
            <a:chOff x="2932556" y="2182111"/>
            <a:chExt cx="8080971" cy="832322"/>
          </a:xfrm>
        </p:grpSpPr>
        <p:sp>
          <p:nvSpPr>
            <p:cNvPr id="11" name="Left Brace 10">
              <a:extLst>
                <a:ext uri="{FF2B5EF4-FFF2-40B4-BE49-F238E27FC236}">
                  <a16:creationId xmlns:a16="http://schemas.microsoft.com/office/drawing/2014/main" id="{699D1B4F-AD38-4E0E-A59B-F17AC3D72332}"/>
                </a:ext>
              </a:extLst>
            </p:cNvPr>
            <p:cNvSpPr/>
            <p:nvPr/>
          </p:nvSpPr>
          <p:spPr>
            <a:xfrm rot="16200000">
              <a:off x="6685481" y="-1570814"/>
              <a:ext cx="575121" cy="8080971"/>
            </a:xfrm>
            <a:prstGeom prst="lef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B54107-A19E-454B-983D-86FA49008B77}"/>
                    </a:ext>
                  </a:extLst>
                </p:cNvPr>
                <p:cNvSpPr txBox="1"/>
                <p:nvPr/>
              </p:nvSpPr>
              <p:spPr>
                <a:xfrm>
                  <a:off x="7477760" y="2586302"/>
                  <a:ext cx="2337115" cy="4281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2000" dirty="0"/>
                    <a:t>Expectation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a14:m>
                  <a:endParaRPr lang="en-IN" sz="200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B54107-A19E-454B-983D-86FA49008B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7760" y="2586302"/>
                  <a:ext cx="2337115" cy="428131"/>
                </a:xfrm>
                <a:prstGeom prst="rect">
                  <a:avLst/>
                </a:prstGeom>
                <a:blipFill>
                  <a:blip r:embed="rId5"/>
                  <a:stretch>
                    <a:fillRect l="-2872" t="-7143" b="-2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3555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3C790-C6CA-4BA2-A10D-F66B6C5C0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PPO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865D5-1E4F-413D-BEB8-534333F9A0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A </a:t>
                </a:r>
                <a:r>
                  <a:rPr lang="en-US" dirty="0">
                    <a:solidFill>
                      <a:srgbClr val="C00000"/>
                    </a:solidFill>
                  </a:rPr>
                  <a:t>batch of prompts</a:t>
                </a:r>
                <a:r>
                  <a:rPr lang="en-US" dirty="0"/>
                  <a:t> is sampled</a:t>
                </a:r>
              </a:p>
              <a:p>
                <a:r>
                  <a:rPr lang="en-US" dirty="0"/>
                  <a:t>The current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generates responses </a:t>
                </a:r>
                <a:r>
                  <a:rPr lang="en-US" dirty="0"/>
                  <a:t>to these prompts.</a:t>
                </a:r>
              </a:p>
              <a:p>
                <a:r>
                  <a:rPr lang="en-US" dirty="0"/>
                  <a:t>For each generated token, both the current policy ​and the frozen reference policy compute their respective </a:t>
                </a:r>
                <a:r>
                  <a:rPr lang="en-US" dirty="0">
                    <a:solidFill>
                      <a:srgbClr val="C00000"/>
                    </a:solidFill>
                  </a:rPr>
                  <a:t>probability distributions (or logits) over the vocabulary</a:t>
                </a:r>
              </a:p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rgbClr val="C00000"/>
                    </a:solidFill>
                  </a:rPr>
                  <a:t>KL divergence</a:t>
                </a:r>
                <a:r>
                  <a:rPr lang="en-US" dirty="0"/>
                  <a:t> between these two distributions is calculated for each token</a:t>
                </a:r>
              </a:p>
              <a:p>
                <a:r>
                  <a:rPr lang="en-US" dirty="0"/>
                  <a:t>The per-token </a:t>
                </a:r>
                <a:r>
                  <a:rPr lang="en-US" dirty="0">
                    <a:solidFill>
                      <a:srgbClr val="C00000"/>
                    </a:solidFill>
                  </a:rPr>
                  <a:t>KL divergences are typically averaged </a:t>
                </a:r>
                <a:r>
                  <a:rPr lang="en-US" dirty="0"/>
                  <a:t>over the generated sequence and the batch.</a:t>
                </a:r>
              </a:p>
              <a:p>
                <a:r>
                  <a:rPr lang="en-US" dirty="0"/>
                  <a:t>This average KL divergence, scaled by β, is subtracted from the reward signal (or incorporated into the </a:t>
                </a:r>
                <a:r>
                  <a:rPr lang="en-US" dirty="0">
                    <a:solidFill>
                      <a:srgbClr val="C00000"/>
                    </a:solidFill>
                  </a:rPr>
                  <a:t>PPO loss calculation </a:t>
                </a:r>
                <a:r>
                  <a:rPr lang="en-US" dirty="0"/>
                  <a:t>alongside the policy and value loss terms).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865D5-1E4F-413D-BEB8-534333F9A0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0" r="-4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D0D9F-6A52-42D2-91DE-0DEA746E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1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1C2B32"/>
      </a:dk2>
      <a:lt2>
        <a:srgbClr val="E2E8E2"/>
      </a:lt2>
      <a:accent1>
        <a:srgbClr val="D838D6"/>
      </a:accent1>
      <a:accent2>
        <a:srgbClr val="8526C6"/>
      </a:accent2>
      <a:accent3>
        <a:srgbClr val="5538D8"/>
      </a:accent3>
      <a:accent4>
        <a:srgbClr val="264CC6"/>
      </a:accent4>
      <a:accent5>
        <a:srgbClr val="38A1D8"/>
      </a:accent5>
      <a:accent6>
        <a:srgbClr val="23B6AC"/>
      </a:accent6>
      <a:hlink>
        <a:srgbClr val="3F7D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90310</TotalTime>
  <Words>2171</Words>
  <Application>Microsoft Office PowerPoint</Application>
  <PresentationFormat>Widescreen</PresentationFormat>
  <Paragraphs>427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Avenir Next LT Pro</vt:lpstr>
      <vt:lpstr>Calibri</vt:lpstr>
      <vt:lpstr>Cambria Math</vt:lpstr>
      <vt:lpstr>Courier New</vt:lpstr>
      <vt:lpstr>Goudy Old Style</vt:lpstr>
      <vt:lpstr>Wingdings</vt:lpstr>
      <vt:lpstr>FrostyVTI</vt:lpstr>
      <vt:lpstr>LLM Alignment: Reinforcement Learning through Human Feedback</vt:lpstr>
      <vt:lpstr>Resources</vt:lpstr>
      <vt:lpstr>Language Model</vt:lpstr>
      <vt:lpstr>LLM: Generating Next Token</vt:lpstr>
      <vt:lpstr>AI Alignment</vt:lpstr>
      <vt:lpstr>AI Alignment (HHH)</vt:lpstr>
      <vt:lpstr>Why Reinforcement Learning?</vt:lpstr>
      <vt:lpstr>Why Reinforcement Learning?</vt:lpstr>
      <vt:lpstr>The RL Setup</vt:lpstr>
      <vt:lpstr>RL and Language Model</vt:lpstr>
      <vt:lpstr>Reward Model for Language Models</vt:lpstr>
      <vt:lpstr>Reward Model by Comparison</vt:lpstr>
      <vt:lpstr>Reward Model Architecture</vt:lpstr>
      <vt:lpstr>Reward Model: Loss Function</vt:lpstr>
      <vt:lpstr>RL: Trajectories</vt:lpstr>
      <vt:lpstr>RL: Trajectories</vt:lpstr>
      <vt:lpstr>Trajectories in Language Models</vt:lpstr>
      <vt:lpstr>Policy Gradient Optimization</vt:lpstr>
      <vt:lpstr>Policy Gradient Optimization</vt:lpstr>
      <vt:lpstr>Policy Gradient Optimization: REINFORCE</vt:lpstr>
      <vt:lpstr>Trajectories in LLM</vt:lpstr>
      <vt:lpstr>Trajectory Generation</vt:lpstr>
      <vt:lpstr>Reward Calculation</vt:lpstr>
      <vt:lpstr>Issues with Gradient Policy Optimization</vt:lpstr>
      <vt:lpstr>Reducing Variance: Influence of Future</vt:lpstr>
      <vt:lpstr>Reducing Variance: Baseline</vt:lpstr>
      <vt:lpstr>Estimating V^π (s)</vt:lpstr>
      <vt:lpstr>Overall Model Architecture</vt:lpstr>
      <vt:lpstr>Reducing Variance: Advantage Function</vt:lpstr>
      <vt:lpstr>Reducing Variance: Advantage Function</vt:lpstr>
      <vt:lpstr>How to Estimate Advantage?</vt:lpstr>
      <vt:lpstr>Generalized Advantage Estimation</vt:lpstr>
      <vt:lpstr>Advantage Term in LM</vt:lpstr>
      <vt:lpstr>Issue with Policy Gradient Optimization</vt:lpstr>
      <vt:lpstr>Importance Sampling</vt:lpstr>
      <vt:lpstr>Off-Policy Learning</vt:lpstr>
      <vt:lpstr>Proximal Policy Optimization (PPO) Loss</vt:lpstr>
      <vt:lpstr>Reward Hacking</vt:lpstr>
      <vt:lpstr>Reward Hacking</vt:lpstr>
      <vt:lpstr>Revised PPO Loss</vt:lpstr>
      <vt:lpstr>PPO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</dc:title>
  <dc:creator>Plaban Kumar Bhowmick</dc:creator>
  <cp:lastModifiedBy>Plaban Kumar Bhowmick</cp:lastModifiedBy>
  <cp:revision>1147</cp:revision>
  <dcterms:created xsi:type="dcterms:W3CDTF">2021-07-28T12:05:26Z</dcterms:created>
  <dcterms:modified xsi:type="dcterms:W3CDTF">2025-10-21T01:52:03Z</dcterms:modified>
</cp:coreProperties>
</file>