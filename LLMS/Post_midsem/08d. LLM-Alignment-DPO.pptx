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9"/>
  </p:notesMasterIdLst>
  <p:sldIdLst>
    <p:sldId id="258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9200"/>
    <a:srgbClr val="B37111"/>
    <a:srgbClr val="EA9B26"/>
    <a:srgbClr val="158D82"/>
    <a:srgbClr val="009900"/>
    <a:srgbClr val="8DD783"/>
    <a:srgbClr val="5E861C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vGa5Mba4c8" TargetMode="External"/><Relationship Id="rId2" Type="http://schemas.openxmlformats.org/officeDocument/2006/relationships/hyperlink" Target="https://arxiv.org/pdf/2305.1829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meronrwolfe.substack.com/p/direct-preference-optimizati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LLM Alignment: Direct Preference Optimization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026A-91D3-40CC-AD47-49597908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C141-3DC0-4037-9CFD-0EEEA9C7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Rafailov</a:t>
            </a:r>
            <a:r>
              <a:rPr lang="en-US" dirty="0"/>
              <a:t> et al., Direct Preference </a:t>
            </a:r>
            <a:r>
              <a:rPr lang="en-US" dirty="0" err="1"/>
              <a:t>Optimization:Your</a:t>
            </a:r>
            <a:r>
              <a:rPr lang="en-US" dirty="0"/>
              <a:t> Language Model is Secretly a Reward Model</a:t>
            </a:r>
          </a:p>
          <a:p>
            <a:pPr lvl="1"/>
            <a:r>
              <a:rPr lang="en-US" dirty="0">
                <a:hlinkClick r:id="rId2"/>
              </a:rPr>
              <a:t>https://arxiv.org/pdf/2305.18290</a:t>
            </a:r>
            <a:endParaRPr lang="en-US" dirty="0"/>
          </a:p>
          <a:p>
            <a:r>
              <a:rPr lang="en-US" dirty="0"/>
              <a:t>Umar Jamil </a:t>
            </a:r>
          </a:p>
          <a:p>
            <a:pPr lvl="1"/>
            <a:r>
              <a:rPr lang="en-US" dirty="0"/>
              <a:t>DPO: </a:t>
            </a:r>
            <a:r>
              <a:rPr lang="en-US" dirty="0">
                <a:hlinkClick r:id="rId3"/>
              </a:rPr>
              <a:t>https://www.youtube.com/watch?v=hvGa5Mba4c8</a:t>
            </a:r>
            <a:endParaRPr lang="en-US" dirty="0"/>
          </a:p>
          <a:p>
            <a:r>
              <a:rPr lang="en-US" dirty="0"/>
              <a:t>Cameron R Wolfe, Direct Preference Optimization (DPO)</a:t>
            </a:r>
          </a:p>
          <a:p>
            <a:pPr lvl="1"/>
            <a:r>
              <a:rPr lang="en-US" dirty="0">
                <a:hlinkClick r:id="rId4"/>
              </a:rPr>
              <a:t>https://cameronrwolfe.substack.com/p/direct-preference-optimization</a:t>
            </a:r>
            <a:endParaRPr lang="en-US" dirty="0"/>
          </a:p>
          <a:p>
            <a:r>
              <a:rPr lang="en-IN" dirty="0"/>
              <a:t>Haitham </a:t>
            </a:r>
            <a:r>
              <a:rPr lang="en-IN" dirty="0" err="1"/>
              <a:t>Bou</a:t>
            </a:r>
            <a:r>
              <a:rPr lang="en-IN" dirty="0"/>
              <a:t> Ammar, Deriving DPO Loss</a:t>
            </a:r>
          </a:p>
          <a:p>
            <a:pPr lvl="1"/>
            <a:r>
              <a:rPr lang="en-IN" dirty="0"/>
              <a:t>https://medium.com/@haitham.bouammar71/deriving-dpos-loss-f332776d6c04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D99F9-A4B6-4DD6-A0AF-549AB0FA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0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47D3-C865-44DD-8E1F-4AD2F146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 with PPO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10613-D1B3-4597-9246-DA4B3D594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0C03E-59EE-47F4-A9D7-B09FA683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290" y="1456053"/>
            <a:ext cx="8215072" cy="685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308884-CEA8-4E3E-8E26-9B512A650266}"/>
              </a:ext>
            </a:extLst>
          </p:cNvPr>
          <p:cNvSpPr txBox="1"/>
          <p:nvPr/>
        </p:nvSpPr>
        <p:spPr>
          <a:xfrm>
            <a:off x="2283515" y="2598003"/>
            <a:ext cx="84507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/>
              <a:t>Fit a reward model to a dataset of human preferences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RL to optimize a language model policy to produce responses assigned high </a:t>
            </a:r>
            <a:r>
              <a:rPr lang="en-US" sz="2400" dirty="0" err="1"/>
              <a:t>rewar</a:t>
            </a:r>
            <a:r>
              <a:rPr lang="en-IN" sz="2400" dirty="0"/>
              <a:t>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Addressing reward hacking not to drift excessively far from the original model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D180D-97DF-4483-A2B4-1A769BA32FA0}"/>
              </a:ext>
            </a:extLst>
          </p:cNvPr>
          <p:cNvSpPr txBox="1"/>
          <p:nvPr/>
        </p:nvSpPr>
        <p:spPr>
          <a:xfrm>
            <a:off x="2283515" y="4554999"/>
            <a:ext cx="84507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</a:rPr>
              <a:t>An indirect method to train many models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</a:rPr>
              <a:t>Policy (LM), Reward model, value function model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</a:rPr>
              <a:t>RL in general is difficult to train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FF0000"/>
                </a:solidFill>
              </a:rPr>
              <a:t>Unstable training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8D24C-358C-4C51-9BBC-DA37917913E1}"/>
              </a:ext>
            </a:extLst>
          </p:cNvPr>
          <p:cNvSpPr txBox="1"/>
          <p:nvPr/>
        </p:nvSpPr>
        <p:spPr>
          <a:xfrm>
            <a:off x="1690290" y="6170911"/>
            <a:ext cx="9401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Can we think of a direct method for alignment  training? </a:t>
            </a:r>
          </a:p>
        </p:txBody>
      </p:sp>
    </p:spTree>
    <p:extLst>
      <p:ext uri="{BB962C8B-B14F-4D97-AF65-F5344CB8AC3E}">
        <p14:creationId xmlns:p14="http://schemas.microsoft.com/office/powerpoint/2010/main" val="407002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DD76-BC9D-428B-8C8F-A2E8E15F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 Preference Optimization (DPO)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CFD0-FCB2-4641-9881-66FBD705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98393-FA37-480E-9DA7-31C889046C72}"/>
              </a:ext>
            </a:extLst>
          </p:cNvPr>
          <p:cNvSpPr txBox="1"/>
          <p:nvPr/>
        </p:nvSpPr>
        <p:spPr>
          <a:xfrm>
            <a:off x="1232453" y="1920240"/>
            <a:ext cx="7024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Direct preference alignment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A87A5-E188-4C49-8FFF-01150F9B99E4}"/>
              </a:ext>
            </a:extLst>
          </p:cNvPr>
          <p:cNvSpPr txBox="1"/>
          <p:nvPr/>
        </p:nvSpPr>
        <p:spPr>
          <a:xfrm>
            <a:off x="1232453" y="2750903"/>
            <a:ext cx="10658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Avoid: Preference data </a:t>
            </a:r>
            <a:r>
              <a:rPr lang="en-IN" sz="32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IN" sz="3200" dirty="0">
                <a:solidFill>
                  <a:srgbClr val="FF0000"/>
                </a:solidFill>
              </a:rPr>
              <a:t> Reward model </a:t>
            </a:r>
            <a:r>
              <a:rPr lang="en-IN" sz="3200" dirty="0">
                <a:solidFill>
                  <a:srgbClr val="FF0000"/>
                </a:solidFill>
                <a:sym typeface="Wingdings" panose="05000000000000000000" pitchFamily="2" charset="2"/>
              </a:rPr>
              <a:t> Policy model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5BBD7-C828-4163-BC9B-F6EB4C94C0B8}"/>
              </a:ext>
            </a:extLst>
          </p:cNvPr>
          <p:cNvSpPr txBox="1"/>
          <p:nvPr/>
        </p:nvSpPr>
        <p:spPr>
          <a:xfrm>
            <a:off x="1232453" y="3741584"/>
            <a:ext cx="7560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499200"/>
                </a:solidFill>
              </a:rPr>
              <a:t>Follow: Preference data </a:t>
            </a:r>
            <a:r>
              <a:rPr lang="en-IN" sz="3200" dirty="0">
                <a:solidFill>
                  <a:srgbClr val="499200"/>
                </a:solidFill>
                <a:sym typeface="Wingdings" panose="05000000000000000000" pitchFamily="2" charset="2"/>
              </a:rPr>
              <a:t></a:t>
            </a:r>
            <a:r>
              <a:rPr lang="en-IN" sz="3200" dirty="0">
                <a:solidFill>
                  <a:srgbClr val="499200"/>
                </a:solidFill>
              </a:rPr>
              <a:t> </a:t>
            </a:r>
            <a:r>
              <a:rPr lang="en-IN" sz="3200" dirty="0">
                <a:solidFill>
                  <a:srgbClr val="499200"/>
                </a:solidFill>
                <a:sym typeface="Wingdings" panose="05000000000000000000" pitchFamily="2" charset="2"/>
              </a:rPr>
              <a:t>Policy model</a:t>
            </a:r>
            <a:endParaRPr lang="en-IN" sz="3200" dirty="0">
              <a:solidFill>
                <a:srgbClr val="4992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964A8-F796-421E-8344-0DAC4DE5909F}"/>
              </a:ext>
            </a:extLst>
          </p:cNvPr>
          <p:cNvSpPr txBox="1"/>
          <p:nvPr/>
        </p:nvSpPr>
        <p:spPr>
          <a:xfrm>
            <a:off x="2637183" y="4439877"/>
            <a:ext cx="4890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499200"/>
                </a:solidFill>
              </a:rPr>
              <a:t>RL Free training workflow</a:t>
            </a:r>
          </a:p>
        </p:txBody>
      </p:sp>
    </p:spTree>
    <p:extLst>
      <p:ext uri="{BB962C8B-B14F-4D97-AF65-F5344CB8AC3E}">
        <p14:creationId xmlns:p14="http://schemas.microsoft.com/office/powerpoint/2010/main" val="400893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CE29-95A2-4FEE-B814-A679CECE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Bradley-Terry (BT) Preference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87C9D-135A-4A77-8DCC-BEAAA792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F725D-1ECC-4A74-AB0D-7C794715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61" y="1705130"/>
            <a:ext cx="9166722" cy="1360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30CAC-DD18-474C-BAB2-9A7863935992}"/>
                  </a:ext>
                </a:extLst>
              </p:cNvPr>
              <p:cNvSpPr txBox="1"/>
              <p:nvPr/>
            </p:nvSpPr>
            <p:spPr>
              <a:xfrm>
                <a:off x="770282" y="3486078"/>
                <a:ext cx="14973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30CAC-DD18-474C-BAB2-9A7863935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82" y="3486078"/>
                <a:ext cx="149739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6DB9C-2CA7-41F4-A80E-0CD4F78CF8B1}"/>
                  </a:ext>
                </a:extLst>
              </p:cNvPr>
              <p:cNvSpPr txBox="1"/>
              <p:nvPr/>
            </p:nvSpPr>
            <p:spPr>
              <a:xfrm>
                <a:off x="2512943" y="3486077"/>
                <a:ext cx="13936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36DB9C-2CA7-41F4-A80E-0CD4F78C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43" y="3486077"/>
                <a:ext cx="139365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FDD7757-050D-47D0-8063-858BBF2CE547}"/>
              </a:ext>
            </a:extLst>
          </p:cNvPr>
          <p:cNvSpPr txBox="1"/>
          <p:nvPr/>
        </p:nvSpPr>
        <p:spPr>
          <a:xfrm>
            <a:off x="347870" y="1120355"/>
            <a:ext cx="5943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Human Preference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3B8812-DF14-42D3-8BB1-906550087AA0}"/>
                  </a:ext>
                </a:extLst>
              </p:cNvPr>
              <p:cNvSpPr txBox="1"/>
              <p:nvPr/>
            </p:nvSpPr>
            <p:spPr>
              <a:xfrm>
                <a:off x="4166150" y="3336992"/>
                <a:ext cx="4099456" cy="896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IN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 ,</m:t>
                              </m:r>
                              <m:sSubSup>
                                <m:sSubSup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IN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I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I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3B8812-DF14-42D3-8BB1-906550087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150" y="3336992"/>
                <a:ext cx="4099456" cy="8969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88883C-D4E1-4AFF-B3CE-E3B2D23F38B9}"/>
                  </a:ext>
                </a:extLst>
              </p:cNvPr>
              <p:cNvSpPr txBox="1"/>
              <p:nvPr/>
            </p:nvSpPr>
            <p:spPr>
              <a:xfrm>
                <a:off x="8688540" y="3426677"/>
                <a:ext cx="1465658" cy="536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C88883C-D4E1-4AFF-B3CE-E3B2D23F3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540" y="3426677"/>
                <a:ext cx="1465658" cy="5362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262FDBA-CEA6-40E4-B2BF-123313AC7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078" y="4806353"/>
            <a:ext cx="9548687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A832-4344-4157-AB34-5712DB59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RL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1001-EB78-4AE4-826A-8FB9F80B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D6A9D3-C311-4959-9FC5-EF296B47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66" y="1673709"/>
            <a:ext cx="10812144" cy="341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568AD8-E671-4D72-AC3D-D49AE265B4CC}"/>
              </a:ext>
            </a:extLst>
          </p:cNvPr>
          <p:cNvSpPr txBox="1"/>
          <p:nvPr/>
        </p:nvSpPr>
        <p:spPr>
          <a:xfrm>
            <a:off x="1816804" y="6172934"/>
            <a:ext cx="8888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https://medium.com/@haitham.bouammar71/deriving-dpos-loss-f332776d6c04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CFB86-F965-4C22-BFA6-804CE6A10654}"/>
              </a:ext>
            </a:extLst>
          </p:cNvPr>
          <p:cNvSpPr txBox="1"/>
          <p:nvPr/>
        </p:nvSpPr>
        <p:spPr>
          <a:xfrm>
            <a:off x="3717235" y="5312025"/>
            <a:ext cx="4447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</a:rPr>
              <a:t>DPO: Eliminate reward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2CE18-F140-42F1-AC74-FBAF1426BCD2}"/>
              </a:ext>
            </a:extLst>
          </p:cNvPr>
          <p:cNvSpPr/>
          <p:nvPr/>
        </p:nvSpPr>
        <p:spPr>
          <a:xfrm>
            <a:off x="4731026" y="3458817"/>
            <a:ext cx="1550504" cy="586409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3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2060-3E2E-495B-9A7E-DCC6A191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484F9-E973-4EBF-B852-98C8A0A0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5D614-57A1-4B14-902E-CE69C6ADE9C2}"/>
              </a:ext>
            </a:extLst>
          </p:cNvPr>
          <p:cNvSpPr txBox="1"/>
          <p:nvPr/>
        </p:nvSpPr>
        <p:spPr>
          <a:xfrm>
            <a:off x="1311966" y="1181966"/>
            <a:ext cx="1008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LLM should always be a valid probability distribution</a:t>
            </a:r>
            <a:endParaRPr lang="en-IN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2CE7A9-95EF-4ADE-9BC3-675F0C67F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845" y="2040022"/>
            <a:ext cx="9185413" cy="455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30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BC2E-0C2A-436D-8A76-DF52E933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B4138-7F9A-437C-B09E-FD585078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0331E9-7FA6-4028-9988-3324BE47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17" y="2048911"/>
            <a:ext cx="9778966" cy="419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EC7245-CBB3-4127-953F-799608968ED7}"/>
              </a:ext>
            </a:extLst>
          </p:cNvPr>
          <p:cNvSpPr txBox="1"/>
          <p:nvPr/>
        </p:nvSpPr>
        <p:spPr>
          <a:xfrm>
            <a:off x="1311966" y="1181966"/>
            <a:ext cx="10088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Convert to unconstrained through </a:t>
            </a:r>
            <a:r>
              <a:rPr lang="en-US" sz="3200" dirty="0" err="1"/>
              <a:t>Lagrangian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31744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9775-5CD3-4350-9BC8-13D83A2D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FD77E-8EB3-47FD-A6B1-E537C32D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99195BF-BCE8-4E0B-979F-47C69A344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23" y="1314761"/>
            <a:ext cx="10810954" cy="422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56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AE60-61FD-4D4B-B8CC-8501C5266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6EAAB-0B8E-403E-8978-0ACBF563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C89621E-5409-4362-B305-37FEB6BFB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03" y="1010167"/>
            <a:ext cx="9980545" cy="500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54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1B5F-6E9C-4AEF-B82A-BBDC5768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25280-F4AE-4505-8B92-8845D00A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100860-4F07-44EC-A142-C221517F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09" y="1173439"/>
            <a:ext cx="10000940" cy="487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49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347A-29FB-4D20-AFD9-5B650837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425EF-2883-4BF8-A311-BB3E2F7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417CFE3-C475-4AEC-9FEB-CDE62B80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28" y="1319730"/>
            <a:ext cx="10785543" cy="421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656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A567-4503-4F6A-8249-2A1CCBCC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708D8-D92C-4EB9-9D34-4B9445AB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A2EF8E6-6B8E-4DCD-9283-6B19668A4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070" y="1234316"/>
            <a:ext cx="9819860" cy="487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262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BF6A-CFF9-45D6-8A06-03039947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1F0B9-61B8-4379-91CB-CE5778DD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307467F-D5C2-45C1-BAB0-54DDE8A59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91" y="1139687"/>
            <a:ext cx="9913202" cy="490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83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152D0-C96B-499E-A3ED-A1C91130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4E433-10C4-42AA-80B1-FF22B0CD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D2B093F-D486-484C-937C-56CFA64AD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65" y="1079637"/>
            <a:ext cx="10049031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65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7ABE-9841-4FE7-BDCF-1B994E3AA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34821-7552-4D4F-A057-33D218E9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86CA65B-D9DE-453B-9409-D47341835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2101380"/>
            <a:ext cx="10319786" cy="320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9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2FC0-D08D-4096-AE1D-F5868F96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4E8F7-A202-4640-96AF-298FFC81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132DA65E-4737-42F9-AA94-F06E5226D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249" y="4664145"/>
            <a:ext cx="708660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D2E58FB5-A47C-4968-B9C6-70F23BAFF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924" y="1255367"/>
            <a:ext cx="8738152" cy="284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918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F333-F5A5-49EA-8025-DB82787B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2B3B-5D3F-48FD-8F87-5E8A5E2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D2B4D12-6C09-430B-B3D8-34BCB2882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056" y="1146727"/>
            <a:ext cx="9673260" cy="4836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53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F333-F5A5-49EA-8025-DB82787B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2B3B-5D3F-48FD-8F87-5E8A5E2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27DB0E2-535F-4A53-98BF-1D745803C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169" y="1186277"/>
            <a:ext cx="8976549" cy="454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671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F333-F5A5-49EA-8025-DB82787B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2B3B-5D3F-48FD-8F87-5E8A5E2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8022278-646C-4492-9227-FEE68961E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82" y="1160808"/>
            <a:ext cx="8960816" cy="450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32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F333-F5A5-49EA-8025-DB82787B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Constrained Optimization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2B3B-5D3F-48FD-8F87-5E8A5E2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A9BEBC3-3CB0-47FC-A47A-8BC135659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917" y="1111112"/>
            <a:ext cx="9376027" cy="4713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094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F333-F5A5-49EA-8025-DB82787B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Deriving DPO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2B3B-5D3F-48FD-8F87-5E8A5E24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5DBBD-B5D0-40B2-A3AC-A6C149E0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36" y="1260395"/>
            <a:ext cx="7331075" cy="1196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6A5100-B3D1-47FD-8ABC-60A6093AF031}"/>
              </a:ext>
            </a:extLst>
          </p:cNvPr>
          <p:cNvSpPr txBox="1"/>
          <p:nvPr/>
        </p:nvSpPr>
        <p:spPr>
          <a:xfrm>
            <a:off x="854766" y="2593320"/>
            <a:ext cx="108881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It is still expensive to estimate the partition function Z(x)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5BAD97-2590-4F10-9DA0-5C94695E40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20894" y="4131522"/>
            <a:ext cx="7750212" cy="1272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A0B50A-C9DC-4E47-A153-A57DB3D9A5E5}"/>
              </a:ext>
            </a:extLst>
          </p:cNvPr>
          <p:cNvSpPr txBox="1"/>
          <p:nvPr/>
        </p:nvSpPr>
        <p:spPr>
          <a:xfrm>
            <a:off x="854766" y="3314576"/>
            <a:ext cx="4989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4">
                    <a:lumMod val="75000"/>
                  </a:schemeClr>
                </a:solidFill>
              </a:rPr>
              <a:t>Implicit reward function:</a:t>
            </a:r>
          </a:p>
        </p:txBody>
      </p:sp>
    </p:spTree>
    <p:extLst>
      <p:ext uri="{BB962C8B-B14F-4D97-AF65-F5344CB8AC3E}">
        <p14:creationId xmlns:p14="http://schemas.microsoft.com/office/powerpoint/2010/main" val="1782195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EE916-DBBC-4CC3-838E-A7C2788F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Deriving DPO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CDE31-82AC-4A05-A190-53BD4903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680733-CE3A-461D-9B89-405BD5FCE855}"/>
                  </a:ext>
                </a:extLst>
              </p:cNvPr>
              <p:cNvSpPr txBox="1"/>
              <p:nvPr/>
            </p:nvSpPr>
            <p:spPr>
              <a:xfrm>
                <a:off x="1575352" y="1478130"/>
                <a:ext cx="8659935" cy="14366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≻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f>
                                    <m:fPr>
                                      <m:ctrlP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IN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8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IN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680733-CE3A-461D-9B89-405BD5FCE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352" y="1478130"/>
                <a:ext cx="8659935" cy="14366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76B7-D11C-4D78-9783-02881988DD05}"/>
                  </a:ext>
                </a:extLst>
              </p:cNvPr>
              <p:cNvSpPr txBox="1"/>
              <p:nvPr/>
            </p:nvSpPr>
            <p:spPr>
              <a:xfrm>
                <a:off x="1575352" y="3429000"/>
                <a:ext cx="7704481" cy="9773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≻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f>
                            <m:f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576B7-D11C-4D78-9783-02881988D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352" y="3429000"/>
                <a:ext cx="7704481" cy="9773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70F714B-4F23-497B-BE76-CA7C59DC3A6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1647" y="4988592"/>
            <a:ext cx="10777159" cy="977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747805-D9A7-42D7-B77A-2A2F9421D536}"/>
              </a:ext>
            </a:extLst>
          </p:cNvPr>
          <p:cNvSpPr txBox="1"/>
          <p:nvPr/>
        </p:nvSpPr>
        <p:spPr>
          <a:xfrm>
            <a:off x="854766" y="892089"/>
            <a:ext cx="4989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4">
                    <a:lumMod val="75000"/>
                  </a:schemeClr>
                </a:solidFill>
              </a:rPr>
              <a:t>Change of variable:</a:t>
            </a:r>
          </a:p>
        </p:txBody>
      </p:sp>
    </p:spTree>
    <p:extLst>
      <p:ext uri="{BB962C8B-B14F-4D97-AF65-F5344CB8AC3E}">
        <p14:creationId xmlns:p14="http://schemas.microsoft.com/office/powerpoint/2010/main" val="1397258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1535-4512-4369-A89B-9DC3441B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Derivative of DPO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0D3E-9B7A-4900-9B43-2E4BEFD9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96435-A8DB-44D8-918F-C8EB93A4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252" y="1077650"/>
            <a:ext cx="6947123" cy="1112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6F0D1F-1AE2-45A9-A93C-EE9BF88CB208}"/>
                  </a:ext>
                </a:extLst>
              </p:cNvPr>
              <p:cNvSpPr txBox="1"/>
              <p:nvPr/>
            </p:nvSpPr>
            <p:spPr>
              <a:xfrm>
                <a:off x="2257641" y="1296474"/>
                <a:ext cx="51135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IN" sz="40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6F0D1F-1AE2-45A9-A93C-EE9BF88CB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641" y="1296474"/>
                <a:ext cx="51135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4C0EA5E2-D610-44CF-9F77-755AC9667B6D}"/>
              </a:ext>
            </a:extLst>
          </p:cNvPr>
          <p:cNvSpPr/>
          <p:nvPr/>
        </p:nvSpPr>
        <p:spPr>
          <a:xfrm rot="16200000">
            <a:off x="6521040" y="-230999"/>
            <a:ext cx="516835" cy="49676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24715B-9E8B-47F1-8C30-307889ADD961}"/>
                  </a:ext>
                </a:extLst>
              </p:cNvPr>
              <p:cNvSpPr txBox="1"/>
              <p:nvPr/>
            </p:nvSpPr>
            <p:spPr>
              <a:xfrm>
                <a:off x="2636777" y="2629296"/>
                <a:ext cx="890731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)) − </m:t>
                          </m:r>
                        </m:e>
                      </m:func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))  </m:t>
                          </m:r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24715B-9E8B-47F1-8C30-307889ADD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777" y="2629296"/>
                <a:ext cx="8907310" cy="398955"/>
              </a:xfrm>
              <a:prstGeom prst="rect">
                <a:avLst/>
              </a:prstGeom>
              <a:blipFill>
                <a:blip r:embed="rId4"/>
                <a:stretch>
                  <a:fillRect l="-753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1E2162-F239-45C4-8BF4-4353F211482F}"/>
                  </a:ext>
                </a:extLst>
              </p:cNvPr>
              <p:cNvSpPr txBox="1"/>
              <p:nvPr/>
            </p:nvSpPr>
            <p:spPr>
              <a:xfrm>
                <a:off x="2636777" y="3177746"/>
                <a:ext cx="9051068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)]  </m:t>
                          </m:r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1E2162-F239-45C4-8BF4-4353F2114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777" y="3177746"/>
                <a:ext cx="9051068" cy="398955"/>
              </a:xfrm>
              <a:prstGeom prst="rect">
                <a:avLst/>
              </a:prstGeom>
              <a:blipFill>
                <a:blip r:embed="rId5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36B119-2B41-48CB-9FB5-B4E60E8CE6CF}"/>
                  </a:ext>
                </a:extLst>
              </p:cNvPr>
              <p:cNvSpPr txBox="1"/>
              <p:nvPr/>
            </p:nvSpPr>
            <p:spPr>
              <a:xfrm>
                <a:off x="2781252" y="3820268"/>
                <a:ext cx="1948739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36B119-2B41-48CB-9FB5-B4E60E8CE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52" y="3820268"/>
                <a:ext cx="1948739" cy="398955"/>
              </a:xfrm>
              <a:prstGeom prst="rect">
                <a:avLst/>
              </a:prstGeom>
              <a:blipFill>
                <a:blip r:embed="rId6"/>
                <a:stretch>
                  <a:fillRect l="-1250" r="-2188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B793A-3C9F-49C9-A552-4DA72B4C02B9}"/>
                  </a:ext>
                </a:extLst>
              </p:cNvPr>
              <p:cNvSpPr txBox="1"/>
              <p:nvPr/>
            </p:nvSpPr>
            <p:spPr>
              <a:xfrm>
                <a:off x="2781252" y="4368718"/>
                <a:ext cx="24642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B793A-3C9F-49C9-A552-4DA72B4C0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52" y="4368718"/>
                <a:ext cx="2464264" cy="369332"/>
              </a:xfrm>
              <a:prstGeom prst="rect">
                <a:avLst/>
              </a:prstGeom>
              <a:blipFill>
                <a:blip r:embed="rId7"/>
                <a:stretch>
                  <a:fillRect l="-2228" r="-3960" b="-3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C250F6-E002-4836-9B4F-F2D013188534}"/>
                  </a:ext>
                </a:extLst>
              </p:cNvPr>
              <p:cNvSpPr txBox="1"/>
              <p:nvPr/>
            </p:nvSpPr>
            <p:spPr>
              <a:xfrm>
                <a:off x="2740125" y="4914855"/>
                <a:ext cx="74414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−1)[</m:t>
                      </m:r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C250F6-E002-4836-9B4F-F2D01318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125" y="4914855"/>
                <a:ext cx="7441460" cy="369332"/>
              </a:xfrm>
              <a:prstGeom prst="rect">
                <a:avLst/>
              </a:prstGeom>
              <a:blipFill>
                <a:blip r:embed="rId8"/>
                <a:stretch>
                  <a:fillRect l="-410" r="-983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572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1535-4512-4369-A89B-9DC3441B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Derivative of DPO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0D3E-9B7A-4900-9B43-2E4BEFD9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C250F6-E002-4836-9B4F-F2D013188534}"/>
                  </a:ext>
                </a:extLst>
              </p:cNvPr>
              <p:cNvSpPr txBox="1"/>
              <p:nvPr/>
            </p:nvSpPr>
            <p:spPr>
              <a:xfrm>
                <a:off x="2302803" y="1197620"/>
                <a:ext cx="74927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−1)[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C250F6-E002-4836-9B4F-F2D01318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803" y="1197620"/>
                <a:ext cx="7492757" cy="369332"/>
              </a:xfrm>
              <a:prstGeom prst="rect">
                <a:avLst/>
              </a:prstGeom>
              <a:blipFill>
                <a:blip r:embed="rId2"/>
                <a:stretch>
                  <a:fillRect l="-488" r="-976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90E2E6-B42D-4F78-B781-EBF677EBDD34}"/>
                  </a:ext>
                </a:extLst>
              </p:cNvPr>
              <p:cNvSpPr txBox="1"/>
              <p:nvPr/>
            </p:nvSpPr>
            <p:spPr>
              <a:xfrm>
                <a:off x="2442541" y="2662895"/>
                <a:ext cx="639334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 Extent to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is preferred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 </a:t>
                </a:r>
                <a:endParaRPr lang="en-IN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090E2E6-B42D-4F78-B781-EBF677EB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541" y="2662895"/>
                <a:ext cx="6393346" cy="461665"/>
              </a:xfrm>
              <a:prstGeom prst="rect">
                <a:avLst/>
              </a:prstGeom>
              <a:blipFill>
                <a:blip r:embed="rId3"/>
                <a:stretch>
                  <a:fillRect t="-10526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9A0287-C105-4047-BF9A-17B35B8BC6DC}"/>
                  </a:ext>
                </a:extLst>
              </p:cNvPr>
              <p:cNvSpPr txBox="1"/>
              <p:nvPr/>
            </p:nvSpPr>
            <p:spPr>
              <a:xfrm>
                <a:off x="2442541" y="3082977"/>
                <a:ext cx="904709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acc>
                    <m:r>
                      <a:rPr lang="en-IN" sz="24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 Model’s predicted probability that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is preferred </a:t>
                </a:r>
                <a:br>
                  <a:rPr lang="en-IN" sz="2400" dirty="0">
                    <a:sym typeface="Wingdings" panose="05000000000000000000" pitchFamily="2" charset="2"/>
                  </a:rPr>
                </a:br>
                <a:r>
                  <a:rPr lang="en-IN" sz="2400" dirty="0">
                    <a:sym typeface="Wingdings" panose="05000000000000000000" pitchFamily="2" charset="2"/>
                  </a:rPr>
                  <a:t>                   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 </a:t>
                </a:r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9A0287-C105-4047-BF9A-17B35B8BC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541" y="3082977"/>
                <a:ext cx="9047094" cy="830997"/>
              </a:xfrm>
              <a:prstGeom prst="rect">
                <a:avLst/>
              </a:prstGeom>
              <a:blipFill>
                <a:blip r:embed="rId4"/>
                <a:stretch>
                  <a:fillRect l="-202" t="-5882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7B29A7-6339-4778-AFB9-CF08EE7DC857}"/>
                  </a:ext>
                </a:extLst>
              </p:cNvPr>
              <p:cNvSpPr txBox="1"/>
              <p:nvPr/>
            </p:nvSpPr>
            <p:spPr>
              <a:xfrm>
                <a:off x="2302802" y="1873481"/>
                <a:ext cx="70414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acc>
                        <m:accPr>
                          <m:chr m:val="̂"/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−1)[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7B29A7-6339-4778-AFB9-CF08EE7DC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802" y="1873481"/>
                <a:ext cx="7041415" cy="369332"/>
              </a:xfrm>
              <a:prstGeom prst="rect">
                <a:avLst/>
              </a:prstGeom>
              <a:blipFill>
                <a:blip r:embed="rId5"/>
                <a:stretch>
                  <a:fillRect l="-519" t="-14754" r="-1039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A52E998-E7DE-4648-8B52-5A7EFE8555F1}"/>
                  </a:ext>
                </a:extLst>
              </p:cNvPr>
              <p:cNvSpPr txBox="1"/>
              <p:nvPr/>
            </p:nvSpPr>
            <p:spPr>
              <a:xfrm>
                <a:off x="2302802" y="4041665"/>
                <a:ext cx="904709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sym typeface="Wingdings" panose="05000000000000000000" pitchFamily="2" charset="2"/>
                  </a:rPr>
                  <a:t>Case1: Model preferred the winner 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acc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≈1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I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acc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≈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</a:t>
                </a:r>
                <a:br>
                  <a:rPr lang="en-IN" sz="2400" dirty="0">
                    <a:sym typeface="Wingdings" panose="05000000000000000000" pitchFamily="2" charset="2"/>
                  </a:rPr>
                </a:br>
                <a:r>
                  <a:rPr lang="en-IN" sz="2400" dirty="0">
                    <a:sym typeface="Wingdings" panose="05000000000000000000" pitchFamily="2" charset="2"/>
                  </a:rPr>
                  <a:t>              Small update</a:t>
                </a:r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A52E998-E7DE-4648-8B52-5A7EFE855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802" y="4041665"/>
                <a:ext cx="9047094" cy="830997"/>
              </a:xfrm>
              <a:prstGeom prst="rect">
                <a:avLst/>
              </a:prstGeom>
              <a:blipFill>
                <a:blip r:embed="rId6"/>
                <a:stretch>
                  <a:fillRect l="-1078" t="-5882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0DA34D-79BF-471C-9AF3-8E12363B1019}"/>
                  </a:ext>
                </a:extLst>
              </p:cNvPr>
              <p:cNvSpPr txBox="1"/>
              <p:nvPr/>
            </p:nvSpPr>
            <p:spPr>
              <a:xfrm>
                <a:off x="2302802" y="4931749"/>
                <a:ext cx="9047094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sym typeface="Wingdings" panose="05000000000000000000" pitchFamily="2" charset="2"/>
                  </a:rPr>
                  <a:t>Case2: Model preferred the loser 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acc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≈0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IN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</m:acc>
                    <m:r>
                      <a:rPr lang="en-I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−1&lt;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</a:t>
                </a:r>
                <a:br>
                  <a:rPr lang="en-IN" sz="2400" dirty="0">
                    <a:sym typeface="Wingdings" panose="05000000000000000000" pitchFamily="2" charset="2"/>
                  </a:rPr>
                </a:br>
                <a:r>
                  <a:rPr lang="en-IN" sz="2400" dirty="0">
                    <a:sym typeface="Wingdings" panose="05000000000000000000" pitchFamily="2" charset="2"/>
                  </a:rPr>
                  <a:t>              Large update</a:t>
                </a:r>
              </a:p>
              <a:p>
                <a:r>
                  <a:rPr lang="en-IN" sz="2400" dirty="0"/>
                  <a:t>             </a:t>
                </a:r>
                <a:r>
                  <a:rPr lang="en-IN" sz="2400" dirty="0">
                    <a:sym typeface="Wingdings" panose="05000000000000000000" pitchFamily="2" charset="2"/>
                  </a:rPr>
                  <a:t> Update increases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and/or decreases 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                   </m:t>
                    </m:r>
                    <m:func>
                      <m:func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e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IN" sz="2400" dirty="0">
                    <a:sym typeface="Wingdings" panose="05000000000000000000" pitchFamily="2" charset="2"/>
                  </a:rPr>
                  <a:t> </a:t>
                </a:r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0DA34D-79BF-471C-9AF3-8E12363B1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802" y="4931749"/>
                <a:ext cx="9047094" cy="1569660"/>
              </a:xfrm>
              <a:prstGeom prst="rect">
                <a:avLst/>
              </a:prstGeom>
              <a:blipFill>
                <a:blip r:embed="rId7"/>
                <a:stretch>
                  <a:fillRect l="-1078" t="-3101"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193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AC3CE-1529-4384-9D34-D165BB4E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145FD7E4-73F4-43AA-8112-DA581073D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68" y="-39600"/>
            <a:ext cx="10736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4B0D00-D736-4ADD-9C3A-19F9C5092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757" y="492925"/>
            <a:ext cx="4529721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7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5EB305-3132-418B-A471-53CA0D2C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54EA7C-C6AB-4C7F-9FB5-E1F72E94A755}"/>
              </a:ext>
            </a:extLst>
          </p:cNvPr>
          <p:cNvSpPr txBox="1">
            <a:spLocks/>
          </p:cNvSpPr>
          <p:nvPr/>
        </p:nvSpPr>
        <p:spPr>
          <a:xfrm>
            <a:off x="1972785" y="2872582"/>
            <a:ext cx="7499207" cy="11128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6000" dirty="0"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9862456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90603</TotalTime>
  <Words>528</Words>
  <Application>Microsoft Office PowerPoint</Application>
  <PresentationFormat>Widescreen</PresentationFormat>
  <Paragraphs>104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LLM Alignment: Direct Preference Optimization</vt:lpstr>
      <vt:lpstr>Resources</vt:lpstr>
      <vt:lpstr>Issues with PPO</vt:lpstr>
      <vt:lpstr>Direct Preference Optimization (DPO)</vt:lpstr>
      <vt:lpstr>Bradley-Terry (BT) Preference Model</vt:lpstr>
      <vt:lpstr>The RL Goal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Constrained Optimization Problem</vt:lpstr>
      <vt:lpstr>Deriving DPO Objective</vt:lpstr>
      <vt:lpstr>Deriving DPO Objective</vt:lpstr>
      <vt:lpstr>Derivative of DPO Loss</vt:lpstr>
      <vt:lpstr>Derivative of DPO Loss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1176</cp:revision>
  <dcterms:created xsi:type="dcterms:W3CDTF">2021-07-28T12:05:26Z</dcterms:created>
  <dcterms:modified xsi:type="dcterms:W3CDTF">2025-10-27T12:12:51Z</dcterms:modified>
</cp:coreProperties>
</file>