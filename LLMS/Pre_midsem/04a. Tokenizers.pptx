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notesMasterIdLst>
    <p:notesMasterId r:id="rId33"/>
  </p:notesMasterIdLst>
  <p:sldIdLst>
    <p:sldId id="258" r:id="rId2"/>
    <p:sldId id="401" r:id="rId3"/>
    <p:sldId id="403" r:id="rId4"/>
    <p:sldId id="404" r:id="rId5"/>
    <p:sldId id="416" r:id="rId6"/>
    <p:sldId id="417" r:id="rId7"/>
    <p:sldId id="259" r:id="rId8"/>
    <p:sldId id="418" r:id="rId9"/>
    <p:sldId id="419" r:id="rId10"/>
    <p:sldId id="422" r:id="rId11"/>
    <p:sldId id="421" r:id="rId12"/>
    <p:sldId id="423" r:id="rId13"/>
    <p:sldId id="426" r:id="rId14"/>
    <p:sldId id="441" r:id="rId15"/>
    <p:sldId id="425" r:id="rId16"/>
    <p:sldId id="442" r:id="rId17"/>
    <p:sldId id="427" r:id="rId18"/>
    <p:sldId id="428" r:id="rId19"/>
    <p:sldId id="429" r:id="rId20"/>
    <p:sldId id="443" r:id="rId21"/>
    <p:sldId id="430" r:id="rId22"/>
    <p:sldId id="431" r:id="rId23"/>
    <p:sldId id="432" r:id="rId24"/>
    <p:sldId id="433" r:id="rId25"/>
    <p:sldId id="434" r:id="rId26"/>
    <p:sldId id="435" r:id="rId27"/>
    <p:sldId id="436" r:id="rId28"/>
    <p:sldId id="438" r:id="rId29"/>
    <p:sldId id="439" r:id="rId30"/>
    <p:sldId id="440" r:id="rId31"/>
    <p:sldId id="437"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6273E75-30A8-491A-8FEF-FF03B370EBEA}">
          <p14:sldIdLst>
            <p14:sldId id="258"/>
            <p14:sldId id="401"/>
            <p14:sldId id="403"/>
            <p14:sldId id="404"/>
            <p14:sldId id="416"/>
            <p14:sldId id="417"/>
            <p14:sldId id="259"/>
            <p14:sldId id="418"/>
            <p14:sldId id="419"/>
            <p14:sldId id="422"/>
            <p14:sldId id="421"/>
            <p14:sldId id="423"/>
            <p14:sldId id="426"/>
            <p14:sldId id="441"/>
            <p14:sldId id="425"/>
            <p14:sldId id="442"/>
            <p14:sldId id="427"/>
            <p14:sldId id="428"/>
            <p14:sldId id="429"/>
            <p14:sldId id="443"/>
            <p14:sldId id="430"/>
            <p14:sldId id="431"/>
            <p14:sldId id="432"/>
            <p14:sldId id="433"/>
            <p14:sldId id="434"/>
            <p14:sldId id="435"/>
            <p14:sldId id="436"/>
            <p14:sldId id="438"/>
            <p14:sldId id="439"/>
            <p14:sldId id="440"/>
            <p14:sldId id="43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37111"/>
    <a:srgbClr val="158D82"/>
    <a:srgbClr val="009900"/>
    <a:srgbClr val="8DD783"/>
    <a:srgbClr val="EA9B26"/>
    <a:srgbClr val="5E861C"/>
    <a:srgbClr val="499200"/>
    <a:srgbClr val="F9DE6B"/>
    <a:srgbClr val="F1BE7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526" autoAdjust="0"/>
    <p:restoredTop sz="94660"/>
  </p:normalViewPr>
  <p:slideViewPr>
    <p:cSldViewPr snapToGrid="0">
      <p:cViewPr varScale="1">
        <p:scale>
          <a:sx n="85" d="100"/>
          <a:sy n="85" d="100"/>
        </p:scale>
        <p:origin x="293"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A72402-DDD5-4AA4-B67D-84D287CD135A}" type="datetimeFigureOut">
              <a:rPr lang="en-US" smtClean="0"/>
              <a:t>9/17/2025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73684B-A4BC-40E1-95BF-E6FD95234C04}" type="slidenum">
              <a:rPr lang="en-US" smtClean="0"/>
              <a:t>‹#›</a:t>
            </a:fld>
            <a:endParaRPr lang="en-US"/>
          </a:p>
        </p:txBody>
      </p:sp>
    </p:spTree>
    <p:extLst>
      <p:ext uri="{BB962C8B-B14F-4D97-AF65-F5344CB8AC3E}">
        <p14:creationId xmlns:p14="http://schemas.microsoft.com/office/powerpoint/2010/main" val="348404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E73684B-A4BC-40E1-95BF-E6FD95234C04}" type="slidenum">
              <a:rPr lang="en-US" smtClean="0"/>
              <a:t>13</a:t>
            </a:fld>
            <a:endParaRPr lang="en-US"/>
          </a:p>
        </p:txBody>
      </p:sp>
    </p:spTree>
    <p:extLst>
      <p:ext uri="{BB962C8B-B14F-4D97-AF65-F5344CB8AC3E}">
        <p14:creationId xmlns:p14="http://schemas.microsoft.com/office/powerpoint/2010/main" val="23704658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A1826-1B3E-4E2E-8D6C-93BCEAA3D6C6}"/>
              </a:ext>
            </a:extLst>
          </p:cNvPr>
          <p:cNvSpPr>
            <a:spLocks noGrp="1"/>
          </p:cNvSpPr>
          <p:nvPr>
            <p:ph type="ctrTitle"/>
          </p:nvPr>
        </p:nvSpPr>
        <p:spPr>
          <a:xfrm>
            <a:off x="1659836" y="1096965"/>
            <a:ext cx="8567530" cy="2085696"/>
          </a:xfrm>
        </p:spPr>
        <p:txBody>
          <a:bodyPr anchor="b">
            <a:normAutofit/>
          </a:bodyPr>
          <a:lstStyle>
            <a:lvl1pPr algn="ctr">
              <a:defRPr sz="4800" b="1">
                <a:solidFill>
                  <a:schemeClr val="accent4">
                    <a:lumMod val="75000"/>
                  </a:schemeClr>
                </a:solidFill>
              </a:defRPr>
            </a:lvl1pPr>
          </a:lstStyle>
          <a:p>
            <a:r>
              <a:rPr lang="en-US" dirty="0"/>
              <a:t>Click to edit Master title style</a:t>
            </a:r>
          </a:p>
        </p:txBody>
      </p:sp>
      <p:sp>
        <p:nvSpPr>
          <p:cNvPr id="3" name="Subtitle 2">
            <a:extLst>
              <a:ext uri="{FF2B5EF4-FFF2-40B4-BE49-F238E27FC236}">
                <a16:creationId xmlns:a16="http://schemas.microsoft.com/office/drawing/2014/main" id="{AAB5F0CE-1714-4650-9690-5676C06349A0}"/>
              </a:ext>
            </a:extLst>
          </p:cNvPr>
          <p:cNvSpPr>
            <a:spLocks noGrp="1"/>
          </p:cNvSpPr>
          <p:nvPr>
            <p:ph type="subTitle" idx="1"/>
          </p:nvPr>
        </p:nvSpPr>
        <p:spPr>
          <a:xfrm>
            <a:off x="3216000" y="3945771"/>
            <a:ext cx="5760000" cy="1832730"/>
          </a:xfrm>
        </p:spPr>
        <p:txBody>
          <a:bodyPr>
            <a:normAutofit/>
          </a:bodyPr>
          <a:lstStyle>
            <a:lvl1pPr marL="0" indent="0" algn="ctr">
              <a:lnSpc>
                <a:spcPct val="125000"/>
              </a:lnSpc>
              <a:buNone/>
              <a:defRPr sz="2400" i="0" spc="50" baseline="0">
                <a:solidFill>
                  <a:schemeClr val="accent5">
                    <a:lumMod val="50000"/>
                    <a:alpha val="6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cxnSp>
        <p:nvCxnSpPr>
          <p:cNvPr id="7" name="Straight Connector 6">
            <a:extLst>
              <a:ext uri="{FF2B5EF4-FFF2-40B4-BE49-F238E27FC236}">
                <a16:creationId xmlns:a16="http://schemas.microsoft.com/office/drawing/2014/main" id="{AE0C0B2A-3FD1-4235-A16E-0ED1E028A93E}"/>
              </a:ext>
            </a:extLst>
          </p:cNvPr>
          <p:cNvCxnSpPr>
            <a:cxnSpLocks/>
          </p:cNvCxnSpPr>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9494E066-0146-46E9-BAF1-C33240ABA294}"/>
              </a:ext>
            </a:extLst>
          </p:cNvPr>
          <p:cNvGrpSpPr/>
          <p:nvPr/>
        </p:nvGrpSpPr>
        <p:grpSpPr>
          <a:xfrm rot="2700000">
            <a:off x="10127693" y="4178240"/>
            <a:ext cx="633413" cy="1862138"/>
            <a:chOff x="5959192" y="333389"/>
            <a:chExt cx="633413" cy="1862138"/>
          </a:xfrm>
        </p:grpSpPr>
        <p:grpSp>
          <p:nvGrpSpPr>
            <p:cNvPr id="9" name="Group 8">
              <a:extLst>
                <a:ext uri="{FF2B5EF4-FFF2-40B4-BE49-F238E27FC236}">
                  <a16:creationId xmlns:a16="http://schemas.microsoft.com/office/drawing/2014/main" id="{B02BD80B-C499-4DAC-9580-575B04F8658F}"/>
                </a:ext>
              </a:extLst>
            </p:cNvPr>
            <p:cNvGrpSpPr/>
            <p:nvPr/>
          </p:nvGrpSpPr>
          <p:grpSpPr>
            <a:xfrm>
              <a:off x="5959192" y="333389"/>
              <a:ext cx="633413" cy="1419225"/>
              <a:chOff x="5959192" y="333389"/>
              <a:chExt cx="633413" cy="1419225"/>
            </a:xfrm>
          </p:grpSpPr>
          <p:sp>
            <p:nvSpPr>
              <p:cNvPr id="11" name="Freeform 68">
                <a:extLst>
                  <a:ext uri="{FF2B5EF4-FFF2-40B4-BE49-F238E27FC236}">
                    <a16:creationId xmlns:a16="http://schemas.microsoft.com/office/drawing/2014/main" id="{CCF069F3-858C-4C67-90C2-46017C3D4CEB}"/>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9">
                <a:extLst>
                  <a:ext uri="{FF2B5EF4-FFF2-40B4-BE49-F238E27FC236}">
                    <a16:creationId xmlns:a16="http://schemas.microsoft.com/office/drawing/2014/main" id="{8A1FFA52-DFA8-4A81-8A85-50BE13257F51}"/>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0" name="Line 70">
              <a:extLst>
                <a:ext uri="{FF2B5EF4-FFF2-40B4-BE49-F238E27FC236}">
                  <a16:creationId xmlns:a16="http://schemas.microsoft.com/office/drawing/2014/main" id="{BAEDA471-60CB-4A0C-B9AD-B2B3C51EA2F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4" name="TextBox 3">
            <a:extLst>
              <a:ext uri="{FF2B5EF4-FFF2-40B4-BE49-F238E27FC236}">
                <a16:creationId xmlns:a16="http://schemas.microsoft.com/office/drawing/2014/main" id="{AD0C487A-D036-4525-9F6D-E5DCC81B692F}"/>
              </a:ext>
            </a:extLst>
          </p:cNvPr>
          <p:cNvSpPr txBox="1"/>
          <p:nvPr userDrawn="1"/>
        </p:nvSpPr>
        <p:spPr>
          <a:xfrm>
            <a:off x="1735490" y="849093"/>
            <a:ext cx="8406882" cy="523220"/>
          </a:xfrm>
          <a:prstGeom prst="rect">
            <a:avLst/>
          </a:prstGeom>
          <a:noFill/>
        </p:spPr>
        <p:txBody>
          <a:bodyPr wrap="square" rtlCol="0">
            <a:spAutoFit/>
          </a:bodyPr>
          <a:lstStyle/>
          <a:p>
            <a:pPr algn="ctr"/>
            <a:r>
              <a:rPr lang="en-IN" sz="2800" dirty="0">
                <a:solidFill>
                  <a:schemeClr val="accent5">
                    <a:lumMod val="50000"/>
                  </a:schemeClr>
                </a:solidFill>
              </a:rPr>
              <a:t>Foundation of Large Language Models (FLLM)</a:t>
            </a:r>
          </a:p>
        </p:txBody>
      </p:sp>
    </p:spTree>
    <p:extLst>
      <p:ext uri="{BB962C8B-B14F-4D97-AF65-F5344CB8AC3E}">
        <p14:creationId xmlns:p14="http://schemas.microsoft.com/office/powerpoint/2010/main" val="1088301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32E59-6597-437B-B2F8-E2DD1F86A8F8}"/>
              </a:ext>
            </a:extLst>
          </p:cNvPr>
          <p:cNvSpPr>
            <a:spLocks noGrp="1"/>
          </p:cNvSpPr>
          <p:nvPr>
            <p:ph type="title"/>
          </p:nvPr>
        </p:nvSpPr>
        <p:spPr>
          <a:xfrm>
            <a:off x="854766" y="-204151"/>
            <a:ext cx="10545418" cy="1112836"/>
          </a:xfrm>
        </p:spPr>
        <p:txBody>
          <a:bodyPr>
            <a:normAutofit/>
          </a:bodyPr>
          <a:lstStyle>
            <a:lvl1pPr>
              <a:defRPr sz="4800">
                <a:solidFill>
                  <a:srgbClr val="002060"/>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70E3BC1D-912E-4012-84AC-A509C9EF4F4E}"/>
              </a:ext>
            </a:extLst>
          </p:cNvPr>
          <p:cNvSpPr>
            <a:spLocks noGrp="1"/>
          </p:cNvSpPr>
          <p:nvPr>
            <p:ph idx="1"/>
          </p:nvPr>
        </p:nvSpPr>
        <p:spPr>
          <a:xfrm>
            <a:off x="854766" y="1097280"/>
            <a:ext cx="10545418" cy="5180971"/>
          </a:xfrm>
        </p:spPr>
        <p:txBody>
          <a:bodyPr/>
          <a:lstStyle>
            <a:lvl1pPr marL="360000" indent="-360000">
              <a:buClr>
                <a:schemeClr val="tx1"/>
              </a:buClr>
              <a:buFont typeface="Courier New" panose="02070309020205020404" pitchFamily="49" charset="0"/>
              <a:buChar char="o"/>
              <a:defRPr sz="2800">
                <a:solidFill>
                  <a:schemeClr val="accent2">
                    <a:lumMod val="50000"/>
                  </a:schemeClr>
                </a:solidFill>
              </a:defRPr>
            </a:lvl1pPr>
            <a:lvl2pPr marL="702900" indent="-342900">
              <a:buClr>
                <a:schemeClr val="tx1"/>
              </a:buClr>
              <a:buFont typeface="Courier New" panose="02070309020205020404" pitchFamily="49" charset="0"/>
              <a:buChar char="o"/>
              <a:defRPr sz="2400" i="0">
                <a:solidFill>
                  <a:schemeClr val="tx1"/>
                </a:solidFill>
              </a:defRPr>
            </a:lvl2pPr>
            <a:lvl3pPr marL="1080000" indent="-360000">
              <a:buClr>
                <a:schemeClr val="tx1"/>
              </a:buClr>
              <a:buFont typeface="Courier New" panose="02070309020205020404" pitchFamily="49" charset="0"/>
              <a:buChar char="o"/>
              <a:defRPr>
                <a:solidFill>
                  <a:schemeClr val="tx1"/>
                </a:solidFill>
              </a:defRPr>
            </a:lvl3pPr>
            <a:lvl4pPr marL="1422900" indent="-342900">
              <a:buClr>
                <a:schemeClr val="bg1"/>
              </a:buClr>
              <a:buFont typeface="Courier New" panose="02070309020205020404" pitchFamily="49" charset="0"/>
              <a:buChar char="o"/>
              <a:defRPr>
                <a:solidFill>
                  <a:schemeClr val="tx1"/>
                </a:solidFill>
              </a:defRPr>
            </a:lvl4pPr>
            <a:lvl5pPr marL="1800000" indent="-360000">
              <a:buFont typeface="Courier New" panose="02070309020205020404" pitchFamily="49" charset="0"/>
              <a:buChar char="o"/>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977110C-4AA3-4101-B3BD-140B90AF99C9}"/>
              </a:ext>
            </a:extLst>
          </p:cNvPr>
          <p:cNvSpPr>
            <a:spLocks noGrp="1"/>
          </p:cNvSpPr>
          <p:nvPr>
            <p:ph type="dt" sz="half" idx="10"/>
          </p:nvPr>
        </p:nvSpPr>
        <p:spPr/>
        <p:txBody>
          <a:bodyPr/>
          <a:lstStyle/>
          <a:p>
            <a:fld id="{D99AD2D9-F7AD-4090-8323-69FDB659688A}" type="datetime1">
              <a:rPr lang="en-US" smtClean="0"/>
              <a:t>9/17/2025</a:t>
            </a:fld>
            <a:endParaRPr lang="en-US"/>
          </a:p>
        </p:txBody>
      </p:sp>
      <p:sp>
        <p:nvSpPr>
          <p:cNvPr id="5" name="Footer Placeholder 4">
            <a:extLst>
              <a:ext uri="{FF2B5EF4-FFF2-40B4-BE49-F238E27FC236}">
                <a16:creationId xmlns:a16="http://schemas.microsoft.com/office/drawing/2014/main" id="{4C50F189-4D8E-4DE6-8295-CF92FA8BFDEF}"/>
              </a:ext>
            </a:extLst>
          </p:cNvPr>
          <p:cNvSpPr>
            <a:spLocks noGrp="1"/>
          </p:cNvSpPr>
          <p:nvPr>
            <p:ph type="ftr" sz="quarter" idx="11"/>
          </p:nvPr>
        </p:nvSpPr>
        <p:spPr/>
        <p:txBody>
          <a:bodyPr/>
          <a:lstStyle>
            <a:lvl1pPr>
              <a:defRPr sz="1400"/>
            </a:lvl1pPr>
          </a:lstStyle>
          <a:p>
            <a:pPr>
              <a:defRPr/>
            </a:pPr>
            <a:r>
              <a:rPr lang="en-US" dirty="0">
                <a:solidFill>
                  <a:srgbClr val="000000">
                    <a:alpha val="60000"/>
                  </a:srgbClr>
                </a:solidFill>
              </a:rPr>
              <a:t>Indian Oil Training on AI and ML</a:t>
            </a:r>
          </a:p>
        </p:txBody>
      </p:sp>
      <p:sp>
        <p:nvSpPr>
          <p:cNvPr id="6" name="Slide Number Placeholder 5">
            <a:extLst>
              <a:ext uri="{FF2B5EF4-FFF2-40B4-BE49-F238E27FC236}">
                <a16:creationId xmlns:a16="http://schemas.microsoft.com/office/drawing/2014/main" id="{575F33EC-1ACF-4D46-AEA5-A20802210B75}"/>
              </a:ext>
            </a:extLst>
          </p:cNvPr>
          <p:cNvSpPr>
            <a:spLocks noGrp="1"/>
          </p:cNvSpPr>
          <p:nvPr>
            <p:ph type="sldNum" sz="quarter" idx="12"/>
          </p:nvPr>
        </p:nvSpPr>
        <p:spPr/>
        <p:txBody>
          <a:bodyPr/>
          <a:lstStyle/>
          <a:p>
            <a:fld id="{FF2BD96E-3838-45D2-9031-D3AF67C920A5}" type="slidenum">
              <a:rPr lang="en-US" smtClean="0"/>
              <a:t>‹#›</a:t>
            </a:fld>
            <a:endParaRPr lang="en-US"/>
          </a:p>
        </p:txBody>
      </p:sp>
      <p:cxnSp>
        <p:nvCxnSpPr>
          <p:cNvPr id="8" name="Straight Connector 7">
            <a:extLst>
              <a:ext uri="{FF2B5EF4-FFF2-40B4-BE49-F238E27FC236}">
                <a16:creationId xmlns:a16="http://schemas.microsoft.com/office/drawing/2014/main" id="{2258E440-80E3-4674-868F-16E3FD812262}"/>
              </a:ext>
            </a:extLst>
          </p:cNvPr>
          <p:cNvCxnSpPr/>
          <p:nvPr userDrawn="1"/>
        </p:nvCxnSpPr>
        <p:spPr>
          <a:xfrm>
            <a:off x="932873" y="868045"/>
            <a:ext cx="5421745" cy="0"/>
          </a:xfrm>
          <a:prstGeom prst="line">
            <a:avLst/>
          </a:prstGeom>
          <a:ln w="31750" cmpd="dbl">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5940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45267-19A7-4A3D-9658-AD3F78DD35CB}"/>
              </a:ext>
            </a:extLst>
          </p:cNvPr>
          <p:cNvSpPr>
            <a:spLocks noGrp="1"/>
          </p:cNvSpPr>
          <p:nvPr>
            <p:ph type="title"/>
          </p:nvPr>
        </p:nvSpPr>
        <p:spPr>
          <a:xfrm>
            <a:off x="990000" y="2305800"/>
            <a:ext cx="4636800" cy="2246400"/>
          </a:xfrm>
        </p:spPr>
        <p:txBody>
          <a:bodyPr anchor="ctr">
            <a:normAutofit/>
          </a:bodyPr>
          <a:lstStyle>
            <a:lvl1pPr algn="ct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5F17554-5672-499F-BEB9-AB069E6D15F2}"/>
              </a:ext>
            </a:extLst>
          </p:cNvPr>
          <p:cNvSpPr>
            <a:spLocks noGrp="1"/>
          </p:cNvSpPr>
          <p:nvPr>
            <p:ph type="body" idx="1"/>
          </p:nvPr>
        </p:nvSpPr>
        <p:spPr>
          <a:xfrm>
            <a:off x="6565250" y="2305800"/>
            <a:ext cx="4636800" cy="2246400"/>
          </a:xfrm>
        </p:spPr>
        <p:txBody>
          <a:bodyPr anchor="ctr">
            <a:normAutofit/>
          </a:bodyPr>
          <a:lstStyle>
            <a:lvl1pPr marL="0" indent="0" algn="ctr">
              <a:lnSpc>
                <a:spcPct val="125000"/>
              </a:lnSpc>
              <a:buNone/>
              <a:defRPr sz="2400" i="1">
                <a:solidFill>
                  <a:schemeClr val="tx1">
                    <a:alpha val="6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CBA3C6-C279-46AA-B4EE-5F861D83D2AC}"/>
              </a:ext>
            </a:extLst>
          </p:cNvPr>
          <p:cNvSpPr>
            <a:spLocks noGrp="1"/>
          </p:cNvSpPr>
          <p:nvPr>
            <p:ph type="dt" sz="half" idx="10"/>
          </p:nvPr>
        </p:nvSpPr>
        <p:spPr/>
        <p:txBody>
          <a:bodyPr/>
          <a:lstStyle/>
          <a:p>
            <a:fld id="{DEDD6A91-04C7-45D4-9087-121C19C353FF}" type="datetime1">
              <a:rPr lang="en-US" smtClean="0"/>
              <a:t>9/17/2025</a:t>
            </a:fld>
            <a:endParaRPr lang="en-US" dirty="0"/>
          </a:p>
        </p:txBody>
      </p:sp>
      <p:sp>
        <p:nvSpPr>
          <p:cNvPr id="5" name="Footer Placeholder 4">
            <a:extLst>
              <a:ext uri="{FF2B5EF4-FFF2-40B4-BE49-F238E27FC236}">
                <a16:creationId xmlns:a16="http://schemas.microsoft.com/office/drawing/2014/main" id="{F04C125B-DDB9-4F4E-B9E9-A747E648FC92}"/>
              </a:ext>
            </a:extLst>
          </p:cNvPr>
          <p:cNvSpPr>
            <a:spLocks noGrp="1"/>
          </p:cNvSpPr>
          <p:nvPr>
            <p:ph type="ftr" sz="quarter" idx="11"/>
          </p:nvPr>
        </p:nvSpPr>
        <p:spPr/>
        <p:txBody>
          <a:bodyPr/>
          <a:lstStyle/>
          <a:p>
            <a:r>
              <a:rPr lang="en-US"/>
              <a:t>Indian Oil Training on AI and ML</a:t>
            </a:r>
          </a:p>
        </p:txBody>
      </p:sp>
      <p:sp>
        <p:nvSpPr>
          <p:cNvPr id="6" name="Slide Number Placeholder 5">
            <a:extLst>
              <a:ext uri="{FF2B5EF4-FFF2-40B4-BE49-F238E27FC236}">
                <a16:creationId xmlns:a16="http://schemas.microsoft.com/office/drawing/2014/main" id="{A83D465E-E86B-42A8-B18A-9046E40D63D6}"/>
              </a:ext>
            </a:extLst>
          </p:cNvPr>
          <p:cNvSpPr>
            <a:spLocks noGrp="1"/>
          </p:cNvSpPr>
          <p:nvPr>
            <p:ph type="sldNum" sz="quarter" idx="12"/>
          </p:nvPr>
        </p:nvSpPr>
        <p:spPr/>
        <p:txBody>
          <a:bodyPr/>
          <a:lstStyle/>
          <a:p>
            <a:fld id="{FF2BD96E-3838-45D2-9031-D3AF67C920A5}" type="slidenum">
              <a:rPr lang="en-US" smtClean="0"/>
              <a:t>‹#›</a:t>
            </a:fld>
            <a:endParaRPr lang="en-US"/>
          </a:p>
        </p:txBody>
      </p:sp>
      <p:sp>
        <p:nvSpPr>
          <p:cNvPr id="7" name="Oval 6">
            <a:extLst>
              <a:ext uri="{FF2B5EF4-FFF2-40B4-BE49-F238E27FC236}">
                <a16:creationId xmlns:a16="http://schemas.microsoft.com/office/drawing/2014/main" id="{6681007E-0E57-40DB-9A98-D04E0A05937B}"/>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8" name="Group 7">
            <a:extLst>
              <a:ext uri="{FF2B5EF4-FFF2-40B4-BE49-F238E27FC236}">
                <a16:creationId xmlns:a16="http://schemas.microsoft.com/office/drawing/2014/main" id="{4C2D7ED2-BAE3-470E-9EFF-F2A49EDD9767}"/>
              </a:ext>
            </a:extLst>
          </p:cNvPr>
          <p:cNvGrpSpPr/>
          <p:nvPr/>
        </p:nvGrpSpPr>
        <p:grpSpPr>
          <a:xfrm rot="10800000">
            <a:off x="1079500" y="952167"/>
            <a:ext cx="641184" cy="1069728"/>
            <a:chOff x="6484111" y="2967038"/>
            <a:chExt cx="641184" cy="1069728"/>
          </a:xfrm>
        </p:grpSpPr>
        <p:grpSp>
          <p:nvGrpSpPr>
            <p:cNvPr id="9" name="Group 8">
              <a:extLst>
                <a:ext uri="{FF2B5EF4-FFF2-40B4-BE49-F238E27FC236}">
                  <a16:creationId xmlns:a16="http://schemas.microsoft.com/office/drawing/2014/main" id="{15B14D1A-9E1B-41C3-96AA-A5C40C4F9B3A}"/>
                </a:ext>
              </a:extLst>
            </p:cNvPr>
            <p:cNvGrpSpPr/>
            <p:nvPr/>
          </p:nvGrpSpPr>
          <p:grpSpPr>
            <a:xfrm>
              <a:off x="6808136" y="2967038"/>
              <a:ext cx="317159" cy="932400"/>
              <a:chOff x="6808136" y="2967038"/>
              <a:chExt cx="317159" cy="932400"/>
            </a:xfrm>
          </p:grpSpPr>
          <p:sp>
            <p:nvSpPr>
              <p:cNvPr id="14" name="Freeform 68">
                <a:extLst>
                  <a:ext uri="{FF2B5EF4-FFF2-40B4-BE49-F238E27FC236}">
                    <a16:creationId xmlns:a16="http://schemas.microsoft.com/office/drawing/2014/main" id="{00EC83EC-04A6-4533-80A5-B1817F1FB35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BF61FF24-9074-4265-ACF4-1AEC3621B76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Line 70">
                <a:extLst>
                  <a:ext uri="{FF2B5EF4-FFF2-40B4-BE49-F238E27FC236}">
                    <a16:creationId xmlns:a16="http://schemas.microsoft.com/office/drawing/2014/main" id="{8D31D9FF-672B-4C5E-B4B2-DD86A124413F}"/>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0" name="Group 9">
              <a:extLst>
                <a:ext uri="{FF2B5EF4-FFF2-40B4-BE49-F238E27FC236}">
                  <a16:creationId xmlns:a16="http://schemas.microsoft.com/office/drawing/2014/main" id="{8991EBFD-EBD5-48CE-9178-AF5B6F50D416}"/>
                </a:ext>
              </a:extLst>
            </p:cNvPr>
            <p:cNvGrpSpPr/>
            <p:nvPr/>
          </p:nvGrpSpPr>
          <p:grpSpPr>
            <a:xfrm rot="18900000" flipH="1">
              <a:off x="6484111" y="3104366"/>
              <a:ext cx="317159" cy="932400"/>
              <a:chOff x="6808136" y="2967038"/>
              <a:chExt cx="317159" cy="932400"/>
            </a:xfrm>
          </p:grpSpPr>
          <p:sp>
            <p:nvSpPr>
              <p:cNvPr id="11" name="Freeform 68">
                <a:extLst>
                  <a:ext uri="{FF2B5EF4-FFF2-40B4-BE49-F238E27FC236}">
                    <a16:creationId xmlns:a16="http://schemas.microsoft.com/office/drawing/2014/main" id="{1B45F046-3129-4A30-9402-44BA590CD1B6}"/>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9">
                <a:extLst>
                  <a:ext uri="{FF2B5EF4-FFF2-40B4-BE49-F238E27FC236}">
                    <a16:creationId xmlns:a16="http://schemas.microsoft.com/office/drawing/2014/main" id="{24589F32-BB2E-46B1-BAB5-75EA779C7A25}"/>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Line 70">
                <a:extLst>
                  <a:ext uri="{FF2B5EF4-FFF2-40B4-BE49-F238E27FC236}">
                    <a16:creationId xmlns:a16="http://schemas.microsoft.com/office/drawing/2014/main" id="{0BD46CA5-AE89-4413-AB8D-347179D8813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cxnSp>
        <p:nvCxnSpPr>
          <p:cNvPr id="17" name="Straight Connector 16">
            <a:extLst>
              <a:ext uri="{FF2B5EF4-FFF2-40B4-BE49-F238E27FC236}">
                <a16:creationId xmlns:a16="http://schemas.microsoft.com/office/drawing/2014/main" id="{4043A360-3214-4DB8-BD85-C6AE48D02D3A}"/>
              </a:ext>
            </a:extLst>
          </p:cNvPr>
          <p:cNvCxnSpPr>
            <a:cxnSpLocks/>
          </p:cNvCxnSpPr>
          <p:nvPr/>
        </p:nvCxnSpPr>
        <p:spPr>
          <a:xfrm rot="16200000" flipH="1">
            <a:off x="5826000" y="342900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425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4AEE3-6C7B-402E-B26D-1D079D78D307}"/>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1101641-6BDA-433D-9393-1DDACE06701C}"/>
              </a:ext>
            </a:extLst>
          </p:cNvPr>
          <p:cNvSpPr>
            <a:spLocks noGrp="1"/>
          </p:cNvSpPr>
          <p:nvPr>
            <p:ph sz="half" idx="1"/>
          </p:nvPr>
        </p:nvSpPr>
        <p:spPr>
          <a:xfrm>
            <a:off x="989400"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B8F8D2A-A489-488D-B1E1-23F36D3E95C7}"/>
              </a:ext>
            </a:extLst>
          </p:cNvPr>
          <p:cNvSpPr>
            <a:spLocks noGrp="1"/>
          </p:cNvSpPr>
          <p:nvPr>
            <p:ph sz="half" idx="2"/>
          </p:nvPr>
        </p:nvSpPr>
        <p:spPr>
          <a:xfrm>
            <a:off x="6274202"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1CA242E8-AEEF-4BBD-94E9-86F89D69522C}"/>
              </a:ext>
            </a:extLst>
          </p:cNvPr>
          <p:cNvSpPr>
            <a:spLocks noGrp="1"/>
          </p:cNvSpPr>
          <p:nvPr>
            <p:ph type="dt" sz="half" idx="10"/>
          </p:nvPr>
        </p:nvSpPr>
        <p:spPr/>
        <p:txBody>
          <a:bodyPr/>
          <a:lstStyle/>
          <a:p>
            <a:fld id="{24136ECD-DB2B-4198-8745-6CEA2F3C0822}" type="datetime1">
              <a:rPr lang="en-US" smtClean="0"/>
              <a:t>9/17/2025</a:t>
            </a:fld>
            <a:endParaRPr lang="en-US"/>
          </a:p>
        </p:txBody>
      </p:sp>
      <p:sp>
        <p:nvSpPr>
          <p:cNvPr id="6" name="Footer Placeholder 5">
            <a:extLst>
              <a:ext uri="{FF2B5EF4-FFF2-40B4-BE49-F238E27FC236}">
                <a16:creationId xmlns:a16="http://schemas.microsoft.com/office/drawing/2014/main" id="{BD58D2CA-06C9-412D-A5D6-F97DDBBB03DB}"/>
              </a:ext>
            </a:extLst>
          </p:cNvPr>
          <p:cNvSpPr>
            <a:spLocks noGrp="1"/>
          </p:cNvSpPr>
          <p:nvPr>
            <p:ph type="ftr" sz="quarter" idx="11"/>
          </p:nvPr>
        </p:nvSpPr>
        <p:spPr/>
        <p:txBody>
          <a:bodyPr/>
          <a:lstStyle/>
          <a:p>
            <a:r>
              <a:rPr lang="en-US"/>
              <a:t>Indian Oil Training on AI and ML</a:t>
            </a:r>
          </a:p>
        </p:txBody>
      </p:sp>
      <p:sp>
        <p:nvSpPr>
          <p:cNvPr id="7" name="Slide Number Placeholder 6">
            <a:extLst>
              <a:ext uri="{FF2B5EF4-FFF2-40B4-BE49-F238E27FC236}">
                <a16:creationId xmlns:a16="http://schemas.microsoft.com/office/drawing/2014/main" id="{021A80D9-E04B-47BF-80DA-01E68346A51C}"/>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507041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42251-8A4B-463E-982B-C657C3810F36}"/>
              </a:ext>
            </a:extLst>
          </p:cNvPr>
          <p:cNvSpPr>
            <a:spLocks noGrp="1"/>
          </p:cNvSpPr>
          <p:nvPr>
            <p:ph type="title"/>
          </p:nvPr>
        </p:nvSpPr>
        <p:spPr>
          <a:xfrm>
            <a:off x="989400" y="395289"/>
            <a:ext cx="10213200" cy="111283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74D5E-AC0B-46BF-8840-61CC89C3B6BE}"/>
              </a:ext>
            </a:extLst>
          </p:cNvPr>
          <p:cNvSpPr>
            <a:spLocks noGrp="1"/>
          </p:cNvSpPr>
          <p:nvPr>
            <p:ph type="body" idx="1"/>
          </p:nvPr>
        </p:nvSpPr>
        <p:spPr>
          <a:xfrm>
            <a:off x="989399" y="1736732"/>
            <a:ext cx="4928400" cy="661912"/>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1A0738-7A90-4A35-AB98-9656D6187286}"/>
              </a:ext>
            </a:extLst>
          </p:cNvPr>
          <p:cNvSpPr>
            <a:spLocks noGrp="1"/>
          </p:cNvSpPr>
          <p:nvPr>
            <p:ph sz="half" idx="2"/>
          </p:nvPr>
        </p:nvSpPr>
        <p:spPr>
          <a:xfrm>
            <a:off x="989400" y="2431256"/>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DADFE01-1BA7-4288-9355-8B2B508BE582}"/>
              </a:ext>
            </a:extLst>
          </p:cNvPr>
          <p:cNvSpPr>
            <a:spLocks noGrp="1"/>
          </p:cNvSpPr>
          <p:nvPr>
            <p:ph type="body" sz="quarter" idx="3"/>
          </p:nvPr>
        </p:nvSpPr>
        <p:spPr>
          <a:xfrm>
            <a:off x="6274200" y="1736732"/>
            <a:ext cx="4928400" cy="662400"/>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D49F77-6C55-47AC-B1AE-5D9906DBD7F6}"/>
              </a:ext>
            </a:extLst>
          </p:cNvPr>
          <p:cNvSpPr>
            <a:spLocks noGrp="1"/>
          </p:cNvSpPr>
          <p:nvPr>
            <p:ph sz="quarter" idx="4"/>
          </p:nvPr>
        </p:nvSpPr>
        <p:spPr>
          <a:xfrm>
            <a:off x="6274200" y="2431257"/>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1D8EF53-AF86-47E8-83DC-8C419847A639}"/>
              </a:ext>
            </a:extLst>
          </p:cNvPr>
          <p:cNvSpPr>
            <a:spLocks noGrp="1"/>
          </p:cNvSpPr>
          <p:nvPr>
            <p:ph type="dt" sz="half" idx="10"/>
          </p:nvPr>
        </p:nvSpPr>
        <p:spPr/>
        <p:txBody>
          <a:bodyPr/>
          <a:lstStyle/>
          <a:p>
            <a:fld id="{F9A1F276-F6D2-4C3B-83D9-A8E9277B1FF0}" type="datetime1">
              <a:rPr lang="en-US" smtClean="0"/>
              <a:t>9/17/2025</a:t>
            </a:fld>
            <a:endParaRPr lang="en-US"/>
          </a:p>
        </p:txBody>
      </p:sp>
      <p:sp>
        <p:nvSpPr>
          <p:cNvPr id="8" name="Footer Placeholder 7">
            <a:extLst>
              <a:ext uri="{FF2B5EF4-FFF2-40B4-BE49-F238E27FC236}">
                <a16:creationId xmlns:a16="http://schemas.microsoft.com/office/drawing/2014/main" id="{5C01D653-ED9A-46D3-A97F-B5FA1DAE6CA9}"/>
              </a:ext>
            </a:extLst>
          </p:cNvPr>
          <p:cNvSpPr>
            <a:spLocks noGrp="1"/>
          </p:cNvSpPr>
          <p:nvPr>
            <p:ph type="ftr" sz="quarter" idx="11"/>
          </p:nvPr>
        </p:nvSpPr>
        <p:spPr/>
        <p:txBody>
          <a:bodyPr/>
          <a:lstStyle/>
          <a:p>
            <a:r>
              <a:rPr lang="en-US"/>
              <a:t>Indian Oil Training on AI and ML</a:t>
            </a:r>
          </a:p>
        </p:txBody>
      </p:sp>
      <p:sp>
        <p:nvSpPr>
          <p:cNvPr id="9" name="Slide Number Placeholder 8">
            <a:extLst>
              <a:ext uri="{FF2B5EF4-FFF2-40B4-BE49-F238E27FC236}">
                <a16:creationId xmlns:a16="http://schemas.microsoft.com/office/drawing/2014/main" id="{CC5B9B66-64EA-4022-BD96-ECF2A80CE2F0}"/>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2824996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EFFE053-BB16-4940-B248-2D496BB29975}"/>
              </a:ext>
            </a:extLst>
          </p:cNvPr>
          <p:cNvSpPr>
            <a:spLocks noGrp="1"/>
          </p:cNvSpPr>
          <p:nvPr>
            <p:ph type="dt" sz="half" idx="10"/>
          </p:nvPr>
        </p:nvSpPr>
        <p:spPr/>
        <p:txBody>
          <a:bodyPr/>
          <a:lstStyle/>
          <a:p>
            <a:fld id="{0B144810-0FCB-4241-A651-4B8D99F21832}" type="datetime1">
              <a:rPr lang="en-US" smtClean="0"/>
              <a:t>9/17/2025</a:t>
            </a:fld>
            <a:endParaRPr lang="en-US"/>
          </a:p>
        </p:txBody>
      </p:sp>
      <p:sp>
        <p:nvSpPr>
          <p:cNvPr id="4" name="Footer Placeholder 3">
            <a:extLst>
              <a:ext uri="{FF2B5EF4-FFF2-40B4-BE49-F238E27FC236}">
                <a16:creationId xmlns:a16="http://schemas.microsoft.com/office/drawing/2014/main" id="{31FBD80C-6CA1-42DB-B732-4807A27DA8C7}"/>
              </a:ext>
            </a:extLst>
          </p:cNvPr>
          <p:cNvSpPr>
            <a:spLocks noGrp="1"/>
          </p:cNvSpPr>
          <p:nvPr>
            <p:ph type="ftr" sz="quarter" idx="11"/>
          </p:nvPr>
        </p:nvSpPr>
        <p:spPr/>
        <p:txBody>
          <a:bodyPr/>
          <a:lstStyle/>
          <a:p>
            <a:r>
              <a:rPr lang="en-US"/>
              <a:t>Indian Oil Training on AI and ML</a:t>
            </a:r>
          </a:p>
        </p:txBody>
      </p:sp>
      <p:sp>
        <p:nvSpPr>
          <p:cNvPr id="5" name="Slide Number Placeholder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1788944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46A27C-9BDA-43B3-96EA-C145EA7F04DE}"/>
              </a:ext>
            </a:extLst>
          </p:cNvPr>
          <p:cNvSpPr>
            <a:spLocks noGrp="1"/>
          </p:cNvSpPr>
          <p:nvPr>
            <p:ph type="dt" sz="half" idx="10"/>
          </p:nvPr>
        </p:nvSpPr>
        <p:spPr/>
        <p:txBody>
          <a:bodyPr/>
          <a:lstStyle/>
          <a:p>
            <a:fld id="{AE7A8D27-2A9C-4196-B09C-838D8BF30909}" type="datetime1">
              <a:rPr lang="en-US" smtClean="0"/>
              <a:t>9/17/2025</a:t>
            </a:fld>
            <a:endParaRPr lang="en-US"/>
          </a:p>
        </p:txBody>
      </p:sp>
      <p:sp>
        <p:nvSpPr>
          <p:cNvPr id="3" name="Footer Placeholder 2">
            <a:extLst>
              <a:ext uri="{FF2B5EF4-FFF2-40B4-BE49-F238E27FC236}">
                <a16:creationId xmlns:a16="http://schemas.microsoft.com/office/drawing/2014/main" id="{791FBD5E-AA17-42F1-8615-49F2664DD46F}"/>
              </a:ext>
            </a:extLst>
          </p:cNvPr>
          <p:cNvSpPr>
            <a:spLocks noGrp="1"/>
          </p:cNvSpPr>
          <p:nvPr>
            <p:ph type="ftr" sz="quarter" idx="11"/>
          </p:nvPr>
        </p:nvSpPr>
        <p:spPr/>
        <p:txBody>
          <a:bodyPr/>
          <a:lstStyle/>
          <a:p>
            <a:r>
              <a:rPr lang="en-US"/>
              <a:t>Indian Oil Training on AI and ML</a:t>
            </a:r>
          </a:p>
        </p:txBody>
      </p:sp>
      <p:sp>
        <p:nvSpPr>
          <p:cNvPr id="4" name="Slide Number Placeholder 3">
            <a:extLst>
              <a:ext uri="{FF2B5EF4-FFF2-40B4-BE49-F238E27FC236}">
                <a16:creationId xmlns:a16="http://schemas.microsoft.com/office/drawing/2014/main" id="{AE57A2D5-EBE5-43DD-8CF2-8B90801A0DF5}"/>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2343861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451E1-40E1-4ED2-A9E3-6376E774AD27}"/>
              </a:ext>
            </a:extLst>
          </p:cNvPr>
          <p:cNvSpPr>
            <a:spLocks noGrp="1"/>
          </p:cNvSpPr>
          <p:nvPr>
            <p:ph type="title"/>
          </p:nvPr>
        </p:nvSpPr>
        <p:spPr>
          <a:xfrm>
            <a:off x="990001" y="955674"/>
            <a:ext cx="3531600" cy="1384995"/>
          </a:xfrm>
        </p:spPr>
        <p:txBody>
          <a:bodyPr anchor="b">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9BAAE5E-AD83-40D4-8BDB-6B25250247AA}"/>
              </a:ext>
            </a:extLst>
          </p:cNvPr>
          <p:cNvSpPr>
            <a:spLocks noGrp="1"/>
          </p:cNvSpPr>
          <p:nvPr>
            <p:ph idx="1"/>
          </p:nvPr>
        </p:nvSpPr>
        <p:spPr>
          <a:xfrm>
            <a:off x="5444850" y="882651"/>
            <a:ext cx="5760000" cy="489584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4D4DF8E2-A28B-4889-AD9E-1D733FEA2E0C}"/>
              </a:ext>
            </a:extLst>
          </p:cNvPr>
          <p:cNvSpPr>
            <a:spLocks noGrp="1"/>
          </p:cNvSpPr>
          <p:nvPr>
            <p:ph type="body" sz="half" idx="2"/>
          </p:nvPr>
        </p:nvSpPr>
        <p:spPr>
          <a:xfrm>
            <a:off x="989401" y="2584759"/>
            <a:ext cx="3531600" cy="3193741"/>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2EF812-B775-468C-84D9-4394CC19F298}"/>
              </a:ext>
            </a:extLst>
          </p:cNvPr>
          <p:cNvSpPr>
            <a:spLocks noGrp="1"/>
          </p:cNvSpPr>
          <p:nvPr>
            <p:ph type="dt" sz="half" idx="10"/>
          </p:nvPr>
        </p:nvSpPr>
        <p:spPr/>
        <p:txBody>
          <a:bodyPr/>
          <a:lstStyle/>
          <a:p>
            <a:fld id="{816B5E76-D563-42EE-9948-2365439E33CD}" type="datetime1">
              <a:rPr lang="en-US" smtClean="0"/>
              <a:t>9/17/2025</a:t>
            </a:fld>
            <a:endParaRPr lang="en-US"/>
          </a:p>
        </p:txBody>
      </p:sp>
      <p:sp>
        <p:nvSpPr>
          <p:cNvPr id="6" name="Footer Placeholder 5">
            <a:extLst>
              <a:ext uri="{FF2B5EF4-FFF2-40B4-BE49-F238E27FC236}">
                <a16:creationId xmlns:a16="http://schemas.microsoft.com/office/drawing/2014/main" id="{9DE1DEB3-5237-467C-A5B6-EDA7F366EB60}"/>
              </a:ext>
            </a:extLst>
          </p:cNvPr>
          <p:cNvSpPr>
            <a:spLocks noGrp="1"/>
          </p:cNvSpPr>
          <p:nvPr>
            <p:ph type="ftr" sz="quarter" idx="11"/>
          </p:nvPr>
        </p:nvSpPr>
        <p:spPr/>
        <p:txBody>
          <a:bodyPr/>
          <a:lstStyle/>
          <a:p>
            <a:r>
              <a:rPr lang="en-US"/>
              <a:t>Indian Oil Training on AI and ML</a:t>
            </a:r>
          </a:p>
        </p:txBody>
      </p:sp>
      <p:sp>
        <p:nvSpPr>
          <p:cNvPr id="7" name="Slide Number Placeholder 6">
            <a:extLst>
              <a:ext uri="{FF2B5EF4-FFF2-40B4-BE49-F238E27FC236}">
                <a16:creationId xmlns:a16="http://schemas.microsoft.com/office/drawing/2014/main" id="{41877A6B-440F-4D7B-92DA-1B964D029F12}"/>
              </a:ext>
            </a:extLst>
          </p:cNvPr>
          <p:cNvSpPr>
            <a:spLocks noGrp="1"/>
          </p:cNvSpPr>
          <p:nvPr>
            <p:ph type="sldNum" sz="quarter" idx="12"/>
          </p:nvPr>
        </p:nvSpPr>
        <p:spPr/>
        <p:txBody>
          <a:bodyPr/>
          <a:lstStyle/>
          <a:p>
            <a:fld id="{FF2BD96E-3838-45D2-9031-D3AF67C920A5}" type="slidenum">
              <a:rPr lang="en-US" smtClean="0"/>
              <a:t>‹#›</a:t>
            </a:fld>
            <a:endParaRPr lang="en-US"/>
          </a:p>
        </p:txBody>
      </p:sp>
      <p:cxnSp>
        <p:nvCxnSpPr>
          <p:cNvPr id="10" name="Straight Connector 9">
            <a:extLst>
              <a:ext uri="{FF2B5EF4-FFF2-40B4-BE49-F238E27FC236}">
                <a16:creationId xmlns:a16="http://schemas.microsoft.com/office/drawing/2014/main" id="{DC89B2F1-1E32-44DB-B50E-BEA1896CAD81}"/>
              </a:ext>
              <a:ext uri="{C183D7F6-B498-43B3-948B-1728B52AA6E4}">
                <adec:decorative xmlns:adec="http://schemas.microsoft.com/office/drawing/2017/decorative" val="0"/>
              </a:ext>
            </a:extLst>
          </p:cNvPr>
          <p:cNvCxnSpPr>
            <a:cxnSpLocks/>
          </p:cNvCxnSpPr>
          <p:nvPr/>
        </p:nvCxnSpPr>
        <p:spPr>
          <a:xfrm>
            <a:off x="4979988"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2495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6B204-119E-45DB-A177-995FF5D9B4E5}"/>
              </a:ext>
            </a:extLst>
          </p:cNvPr>
          <p:cNvSpPr>
            <a:spLocks noGrp="1"/>
          </p:cNvSpPr>
          <p:nvPr>
            <p:ph type="title"/>
          </p:nvPr>
        </p:nvSpPr>
        <p:spPr>
          <a:xfrm>
            <a:off x="990000" y="955456"/>
            <a:ext cx="3531600" cy="1384995"/>
          </a:xfrm>
        </p:spPr>
        <p:txBody>
          <a:bodyPr anchor="b" anchorCtr="0">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CD3036-53A8-4361-AAAC-D8072EB470FE}"/>
              </a:ext>
            </a:extLst>
          </p:cNvPr>
          <p:cNvSpPr>
            <a:spLocks noGrp="1"/>
          </p:cNvSpPr>
          <p:nvPr>
            <p:ph type="pic" idx="1"/>
          </p:nvPr>
        </p:nvSpPr>
        <p:spPr>
          <a:xfrm>
            <a:off x="5537200" y="540001"/>
            <a:ext cx="6115050" cy="52385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D0FCFCD5-820E-47D9-9A60-57680C4C9405}"/>
              </a:ext>
            </a:extLst>
          </p:cNvPr>
          <p:cNvSpPr>
            <a:spLocks noGrp="1"/>
          </p:cNvSpPr>
          <p:nvPr>
            <p:ph type="body" sz="half" idx="2"/>
          </p:nvPr>
        </p:nvSpPr>
        <p:spPr>
          <a:xfrm>
            <a:off x="990000" y="2584758"/>
            <a:ext cx="3531600" cy="3284229"/>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2446C3-A62E-4690-9098-53D59C4C33E0}"/>
              </a:ext>
            </a:extLst>
          </p:cNvPr>
          <p:cNvSpPr>
            <a:spLocks noGrp="1"/>
          </p:cNvSpPr>
          <p:nvPr>
            <p:ph type="dt" sz="half" idx="10"/>
          </p:nvPr>
        </p:nvSpPr>
        <p:spPr/>
        <p:txBody>
          <a:bodyPr/>
          <a:lstStyle/>
          <a:p>
            <a:fld id="{88D82BC2-0DF5-492E-9C7C-8D63BA3AC45F}" type="datetime1">
              <a:rPr lang="en-US" smtClean="0"/>
              <a:t>9/17/2025</a:t>
            </a:fld>
            <a:endParaRPr lang="en-US"/>
          </a:p>
        </p:txBody>
      </p:sp>
      <p:sp>
        <p:nvSpPr>
          <p:cNvPr id="6" name="Footer Placeholder 5">
            <a:extLst>
              <a:ext uri="{FF2B5EF4-FFF2-40B4-BE49-F238E27FC236}">
                <a16:creationId xmlns:a16="http://schemas.microsoft.com/office/drawing/2014/main" id="{40A6C8B8-EA3D-45E5-950A-B6F1EA0B4782}"/>
              </a:ext>
            </a:extLst>
          </p:cNvPr>
          <p:cNvSpPr>
            <a:spLocks noGrp="1"/>
          </p:cNvSpPr>
          <p:nvPr>
            <p:ph type="ftr" sz="quarter" idx="11"/>
          </p:nvPr>
        </p:nvSpPr>
        <p:spPr/>
        <p:txBody>
          <a:bodyPr/>
          <a:lstStyle/>
          <a:p>
            <a:r>
              <a:rPr lang="en-US"/>
              <a:t>Indian Oil Training on AI and ML</a:t>
            </a:r>
          </a:p>
        </p:txBody>
      </p:sp>
      <p:sp>
        <p:nvSpPr>
          <p:cNvPr id="7" name="Slide Number Placeholder 6">
            <a:extLst>
              <a:ext uri="{FF2B5EF4-FFF2-40B4-BE49-F238E27FC236}">
                <a16:creationId xmlns:a16="http://schemas.microsoft.com/office/drawing/2014/main" id="{A72ACAB7-ADBF-42E5-A214-232BA9EFB3B6}"/>
              </a:ext>
            </a:extLst>
          </p:cNvPr>
          <p:cNvSpPr>
            <a:spLocks noGrp="1"/>
          </p:cNvSpPr>
          <p:nvPr>
            <p:ph type="sldNum" sz="quarter" idx="12"/>
          </p:nvPr>
        </p:nvSpPr>
        <p:spPr/>
        <p:txBody>
          <a:bodyPr/>
          <a:lstStyle/>
          <a:p>
            <a:fld id="{FF2BD96E-3838-45D2-9031-D3AF67C920A5}" type="slidenum">
              <a:rPr lang="en-US" smtClean="0"/>
              <a:t>‹#›</a:t>
            </a:fld>
            <a:endParaRPr lang="en-US"/>
          </a:p>
        </p:txBody>
      </p:sp>
      <p:cxnSp>
        <p:nvCxnSpPr>
          <p:cNvPr id="9" name="Straight Connector 8">
            <a:extLst>
              <a:ext uri="{FF2B5EF4-FFF2-40B4-BE49-F238E27FC236}">
                <a16:creationId xmlns:a16="http://schemas.microsoft.com/office/drawing/2014/main" id="{D0E80DA6-B971-46B7-B0D3-8581AE0B6ACB}"/>
              </a:ext>
              <a:ext uri="{C183D7F6-B498-43B3-948B-1728B52AA6E4}">
                <adec:decorative xmlns:adec="http://schemas.microsoft.com/office/drawing/2017/decorative" val="0"/>
              </a:ext>
            </a:extLst>
          </p:cNvPr>
          <p:cNvCxnSpPr>
            <a:cxnSpLocks/>
          </p:cNvCxnSpPr>
          <p:nvPr/>
        </p:nvCxnSpPr>
        <p:spPr>
          <a:xfrm>
            <a:off x="4979988"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29241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FB6D0-92CA-4910-AE77-E238F4C89D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913172-A138-4DD4-A5B1-58BA625078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3897B9-E4AD-469B-A60D-9A1A4BD1980A}"/>
              </a:ext>
            </a:extLst>
          </p:cNvPr>
          <p:cNvSpPr>
            <a:spLocks noGrp="1"/>
          </p:cNvSpPr>
          <p:nvPr>
            <p:ph type="dt" sz="half" idx="10"/>
          </p:nvPr>
        </p:nvSpPr>
        <p:spPr/>
        <p:txBody>
          <a:bodyPr/>
          <a:lstStyle/>
          <a:p>
            <a:fld id="{FFBEAFBA-9CA5-497C-A599-8887284A64DF}" type="datetime1">
              <a:rPr lang="en-US" smtClean="0"/>
              <a:t>9/17/2025</a:t>
            </a:fld>
            <a:endParaRPr lang="en-US"/>
          </a:p>
        </p:txBody>
      </p:sp>
      <p:sp>
        <p:nvSpPr>
          <p:cNvPr id="5" name="Footer Placeholder 4">
            <a:extLst>
              <a:ext uri="{FF2B5EF4-FFF2-40B4-BE49-F238E27FC236}">
                <a16:creationId xmlns:a16="http://schemas.microsoft.com/office/drawing/2014/main" id="{31C5E1B0-48D6-4F99-9955-39958BA969EC}"/>
              </a:ext>
            </a:extLst>
          </p:cNvPr>
          <p:cNvSpPr>
            <a:spLocks noGrp="1"/>
          </p:cNvSpPr>
          <p:nvPr>
            <p:ph type="ftr" sz="quarter" idx="11"/>
          </p:nvPr>
        </p:nvSpPr>
        <p:spPr/>
        <p:txBody>
          <a:bodyPr/>
          <a:lstStyle/>
          <a:p>
            <a:r>
              <a:rPr lang="en-US"/>
              <a:t>Indian Oil Training on AI and ML</a:t>
            </a:r>
          </a:p>
        </p:txBody>
      </p:sp>
      <p:sp>
        <p:nvSpPr>
          <p:cNvPr id="6" name="Slide Number Placeholder 5">
            <a:extLst>
              <a:ext uri="{FF2B5EF4-FFF2-40B4-BE49-F238E27FC236}">
                <a16:creationId xmlns:a16="http://schemas.microsoft.com/office/drawing/2014/main" id="{F59F49DA-55D4-4E36-AEB9-A0E99E31A87E}"/>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2723891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FEBC7C-C5C1-4A79-A195-B35701C289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D34A74-3328-469B-ABCA-96F2FE3687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AE19AB-5637-455E-89C3-B41702C202D4}"/>
              </a:ext>
            </a:extLst>
          </p:cNvPr>
          <p:cNvSpPr>
            <a:spLocks noGrp="1"/>
          </p:cNvSpPr>
          <p:nvPr>
            <p:ph type="dt" sz="half" idx="10"/>
          </p:nvPr>
        </p:nvSpPr>
        <p:spPr/>
        <p:txBody>
          <a:bodyPr/>
          <a:lstStyle/>
          <a:p>
            <a:fld id="{CDB20096-4C40-41C9-B943-16BE4B47DC99}" type="datetime1">
              <a:rPr lang="en-US" smtClean="0"/>
              <a:t>9/17/2025</a:t>
            </a:fld>
            <a:endParaRPr lang="en-US"/>
          </a:p>
        </p:txBody>
      </p:sp>
      <p:sp>
        <p:nvSpPr>
          <p:cNvPr id="5" name="Footer Placeholder 4">
            <a:extLst>
              <a:ext uri="{FF2B5EF4-FFF2-40B4-BE49-F238E27FC236}">
                <a16:creationId xmlns:a16="http://schemas.microsoft.com/office/drawing/2014/main" id="{A364F2A3-EBEE-4F42-BAC2-A482F00E6747}"/>
              </a:ext>
            </a:extLst>
          </p:cNvPr>
          <p:cNvSpPr>
            <a:spLocks noGrp="1"/>
          </p:cNvSpPr>
          <p:nvPr>
            <p:ph type="ftr" sz="quarter" idx="11"/>
          </p:nvPr>
        </p:nvSpPr>
        <p:spPr/>
        <p:txBody>
          <a:bodyPr/>
          <a:lstStyle/>
          <a:p>
            <a:r>
              <a:rPr lang="en-US"/>
              <a:t>Indian Oil Training on AI and ML</a:t>
            </a:r>
          </a:p>
        </p:txBody>
      </p:sp>
      <p:sp>
        <p:nvSpPr>
          <p:cNvPr id="6" name="Slide Number Placeholder 5">
            <a:extLst>
              <a:ext uri="{FF2B5EF4-FFF2-40B4-BE49-F238E27FC236}">
                <a16:creationId xmlns:a16="http://schemas.microsoft.com/office/drawing/2014/main" id="{BBFE1C27-1A43-4B0B-88D0-0C5FE1DBE161}"/>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1596917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2DDA7E-8449-42D1-93BD-4E96C1BFC18D}"/>
              </a:ext>
            </a:extLst>
          </p:cNvPr>
          <p:cNvSpPr>
            <a:spLocks noGrp="1"/>
          </p:cNvSpPr>
          <p:nvPr>
            <p:ph type="title"/>
          </p:nvPr>
        </p:nvSpPr>
        <p:spPr>
          <a:xfrm>
            <a:off x="989400" y="395289"/>
            <a:ext cx="10213200" cy="1112836"/>
          </a:xfrm>
          <a:prstGeom prst="rect">
            <a:avLst/>
          </a:prstGeom>
        </p:spPr>
        <p:txBody>
          <a:bodyPr vert="horz" lIns="91440" tIns="45720" rIns="91440" bIns="45720" rtlCol="0" anchor="b" anchorCtr="0">
            <a:normAutofit/>
          </a:bodyPr>
          <a:lstStyle/>
          <a:p>
            <a:r>
              <a:rPr lang="en-US" dirty="0"/>
              <a:t>Click to edit Master title style</a:t>
            </a:r>
          </a:p>
        </p:txBody>
      </p:sp>
      <p:sp>
        <p:nvSpPr>
          <p:cNvPr id="3" name="Text Placeholder 2">
            <a:extLst>
              <a:ext uri="{FF2B5EF4-FFF2-40B4-BE49-F238E27FC236}">
                <a16:creationId xmlns:a16="http://schemas.microsoft.com/office/drawing/2014/main" id="{1172EB64-DBC0-4012-830E-9166670D17C5}"/>
              </a:ext>
            </a:extLst>
          </p:cNvPr>
          <p:cNvSpPr>
            <a:spLocks noGrp="1"/>
          </p:cNvSpPr>
          <p:nvPr>
            <p:ph type="body" idx="1"/>
          </p:nvPr>
        </p:nvSpPr>
        <p:spPr>
          <a:xfrm>
            <a:off x="989400" y="1685925"/>
            <a:ext cx="10213200" cy="404019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749A3E9-8704-4E26-A519-8215B3E943F5}"/>
              </a:ext>
            </a:extLst>
          </p:cNvPr>
          <p:cNvSpPr>
            <a:spLocks noGrp="1"/>
          </p:cNvSpPr>
          <p:nvPr>
            <p:ph type="dt" sz="half" idx="2"/>
          </p:nvPr>
        </p:nvSpPr>
        <p:spPr>
          <a:xfrm>
            <a:off x="450000" y="6357168"/>
            <a:ext cx="1760150"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j-lt"/>
              </a:defRPr>
            </a:lvl1pPr>
          </a:lstStyle>
          <a:p>
            <a:fld id="{41F2C999-D4D9-45B8-A4A0-E7CFE0933EC5}" type="datetime1">
              <a:rPr lang="en-US" smtClean="0"/>
              <a:t>9/17/2025</a:t>
            </a:fld>
            <a:endParaRPr lang="en-US" dirty="0"/>
          </a:p>
        </p:txBody>
      </p:sp>
      <p:sp>
        <p:nvSpPr>
          <p:cNvPr id="5" name="Footer Placeholder 4">
            <a:extLst>
              <a:ext uri="{FF2B5EF4-FFF2-40B4-BE49-F238E27FC236}">
                <a16:creationId xmlns:a16="http://schemas.microsoft.com/office/drawing/2014/main" id="{C8590E32-87A0-44C2-A299-D45FAB146E08}"/>
              </a:ext>
            </a:extLst>
          </p:cNvPr>
          <p:cNvSpPr>
            <a:spLocks noGrp="1"/>
          </p:cNvSpPr>
          <p:nvPr>
            <p:ph type="ftr" sz="quarter" idx="3"/>
          </p:nvPr>
        </p:nvSpPr>
        <p:spPr>
          <a:xfrm>
            <a:off x="2754312" y="6357600"/>
            <a:ext cx="6683376" cy="460800"/>
          </a:xfrm>
          <a:prstGeom prst="rect">
            <a:avLst/>
          </a:prstGeom>
        </p:spPr>
        <p:txBody>
          <a:bodyPr vert="horz" lIns="91440" tIns="45720" rIns="91440" bIns="45720" rtlCol="0" anchor="ctr"/>
          <a:lstStyle>
            <a:lvl1pPr algn="ctr">
              <a:defRPr sz="1000" cap="all" spc="300" baseline="0">
                <a:solidFill>
                  <a:schemeClr val="tx1">
                    <a:alpha val="60000"/>
                  </a:schemeClr>
                </a:solidFill>
                <a:latin typeface="+mj-lt"/>
              </a:defRPr>
            </a:lvl1pPr>
          </a:lstStyle>
          <a:p>
            <a:r>
              <a:rPr lang="en-US"/>
              <a:t>Indian Oil Training on AI and ML</a:t>
            </a:r>
            <a:endParaRPr lang="en-US" dirty="0"/>
          </a:p>
        </p:txBody>
      </p:sp>
      <p:sp>
        <p:nvSpPr>
          <p:cNvPr id="6" name="Slide Number Placeholder 5">
            <a:extLst>
              <a:ext uri="{FF2B5EF4-FFF2-40B4-BE49-F238E27FC236}">
                <a16:creationId xmlns:a16="http://schemas.microsoft.com/office/drawing/2014/main" id="{BE1C1A41-01A7-44E2-965B-ACFD4F2806FC}"/>
              </a:ext>
            </a:extLst>
          </p:cNvPr>
          <p:cNvSpPr>
            <a:spLocks noGrp="1"/>
          </p:cNvSpPr>
          <p:nvPr>
            <p:ph type="sldNum" sz="quarter" idx="4"/>
          </p:nvPr>
        </p:nvSpPr>
        <p:spPr>
          <a:xfrm>
            <a:off x="9982800" y="6357600"/>
            <a:ext cx="1760150"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j-lt"/>
              </a:defRPr>
            </a:lvl1pPr>
          </a:lstStyle>
          <a:p>
            <a:fld id="{FF2BD96E-3838-45D2-9031-D3AF67C920A5}" type="slidenum">
              <a:rPr lang="en-US" smtClean="0"/>
              <a:pPr/>
              <a:t>‹#›</a:t>
            </a:fld>
            <a:endParaRPr lang="en-US" dirty="0"/>
          </a:p>
        </p:txBody>
      </p:sp>
    </p:spTree>
    <p:extLst>
      <p:ext uri="{BB962C8B-B14F-4D97-AF65-F5344CB8AC3E}">
        <p14:creationId xmlns:p14="http://schemas.microsoft.com/office/powerpoint/2010/main" val="1773660264"/>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74" r:id="rId5"/>
    <p:sldLayoutId id="2147483679" r:id="rId6"/>
    <p:sldLayoutId id="2147483675" r:id="rId7"/>
    <p:sldLayoutId id="2147483676" r:id="rId8"/>
    <p:sldLayoutId id="2147483677" r:id="rId9"/>
    <p:sldLayoutId id="2147483678" r:id="rId10"/>
    <p:sldLayoutId id="2147483680" r:id="rId11"/>
  </p:sldLayoutIdLst>
  <p:hf hdr="0" ftr="0" dt="0"/>
  <p:txStyles>
    <p:titleStyle>
      <a:lvl1pPr algn="l" defTabSz="914400" rtl="0" eaLnBrk="1" latinLnBrk="0" hangingPunct="1">
        <a:lnSpc>
          <a:spcPct val="100000"/>
        </a:lnSpc>
        <a:spcBef>
          <a:spcPct val="0"/>
        </a:spcBef>
        <a:buNone/>
        <a:defRPr sz="3200" kern="1200" cap="none" spc="0" baseline="0">
          <a:solidFill>
            <a:schemeClr val="bg1"/>
          </a:solidFill>
          <a:latin typeface="+mj-lt"/>
          <a:ea typeface="+mj-ea"/>
          <a:cs typeface="+mj-cs"/>
        </a:defRPr>
      </a:lvl1pPr>
    </p:titleStyle>
    <p:bodyStyle>
      <a:lvl1pPr marL="360000" indent="-360000" algn="l" defTabSz="914400" rtl="0" eaLnBrk="1" latinLnBrk="0" hangingPunct="1">
        <a:lnSpc>
          <a:spcPct val="150000"/>
        </a:lnSpc>
        <a:spcBef>
          <a:spcPts val="1000"/>
        </a:spcBef>
        <a:buClr>
          <a:schemeClr val="accent3"/>
        </a:buClr>
        <a:buFont typeface="Courier New" panose="02070309020205020404" pitchFamily="49" charset="0"/>
        <a:buChar char="o"/>
        <a:defRPr sz="2000" kern="1200" spc="50">
          <a:solidFill>
            <a:schemeClr val="bg1">
              <a:alpha val="60000"/>
            </a:schemeClr>
          </a:solidFill>
          <a:latin typeface="+mn-lt"/>
          <a:ea typeface="+mn-ea"/>
          <a:cs typeface="+mn-cs"/>
        </a:defRPr>
      </a:lvl1pPr>
      <a:lvl2pPr marL="360000" indent="0" algn="l" defTabSz="914400" rtl="0" eaLnBrk="1" latinLnBrk="0" hangingPunct="1">
        <a:lnSpc>
          <a:spcPct val="150000"/>
        </a:lnSpc>
        <a:spcBef>
          <a:spcPts val="500"/>
        </a:spcBef>
        <a:buFontTx/>
        <a:buNone/>
        <a:defRPr sz="2000" b="0" i="1" kern="1200" spc="50" baseline="0">
          <a:solidFill>
            <a:schemeClr val="bg1">
              <a:alpha val="60000"/>
            </a:schemeClr>
          </a:solidFill>
          <a:latin typeface="+mn-lt"/>
          <a:ea typeface="+mn-ea"/>
          <a:cs typeface="+mn-cs"/>
        </a:defRPr>
      </a:lvl2pPr>
      <a:lvl3pPr marL="108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bg1">
              <a:alpha val="60000"/>
            </a:schemeClr>
          </a:solidFill>
          <a:latin typeface="+mn-lt"/>
          <a:ea typeface="+mn-ea"/>
          <a:cs typeface="+mn-cs"/>
        </a:defRPr>
      </a:lvl3pPr>
      <a:lvl4pPr marL="1422900" indent="-342900" algn="l" defTabSz="914400" rtl="0" eaLnBrk="1" latinLnBrk="0" hangingPunct="1">
        <a:lnSpc>
          <a:spcPct val="150000"/>
        </a:lnSpc>
        <a:spcBef>
          <a:spcPts val="500"/>
        </a:spcBef>
        <a:buClr>
          <a:schemeClr val="accent3"/>
        </a:buClr>
        <a:buFont typeface="Arial" panose="020B0604020202020204" pitchFamily="34" charset="0"/>
        <a:buChar char="•"/>
        <a:defRPr sz="2000" b="0" i="1" kern="1200" spc="50" baseline="0">
          <a:solidFill>
            <a:schemeClr val="bg1">
              <a:alpha val="60000"/>
            </a:schemeClr>
          </a:solidFill>
          <a:latin typeface="+mn-lt"/>
          <a:ea typeface="+mn-ea"/>
          <a:cs typeface="+mn-cs"/>
        </a:defRPr>
      </a:lvl4pPr>
      <a:lvl5pPr marL="180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bg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4.png"/><Relationship Id="rId2" Type="http://schemas.openxmlformats.org/officeDocument/2006/relationships/hyperlink" Target="https://arxiv.org/pdf/2004.03720" TargetMode="Externa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hyperlink" Target="https://everdark.github.io/k9/notebooks/ml/natural_language_understanding/subword_units/subword_units.nb.html#12_probablistic_subword_segmentation" TargetMode="External"/><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hyperlink" Target="https://arxiv.org/abs/1804.10959" TargetMode="External"/><Relationship Id="rId5" Type="http://schemas.openxmlformats.org/officeDocument/2006/relationships/image" Target="../media/image140.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23.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22.png"/><Relationship Id="rId2" Type="http://schemas.openxmlformats.org/officeDocument/2006/relationships/image" Target="../media/image150.png"/><Relationship Id="rId1" Type="http://schemas.openxmlformats.org/officeDocument/2006/relationships/slideLayout" Target="../slideLayouts/slideLayout2.xml"/><Relationship Id="rId11" Type="http://schemas.openxmlformats.org/officeDocument/2006/relationships/image" Target="../media/image20.png"/><Relationship Id="rId10" Type="http://schemas.openxmlformats.org/officeDocument/2006/relationships/image" Target="../media/image19.png"/><Relationship Id="rId9"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57210-9334-4A18-A6C0-80B658DD84D4}"/>
              </a:ext>
            </a:extLst>
          </p:cNvPr>
          <p:cNvSpPr>
            <a:spLocks noGrp="1"/>
          </p:cNvSpPr>
          <p:nvPr>
            <p:ph type="ctrTitle"/>
          </p:nvPr>
        </p:nvSpPr>
        <p:spPr/>
        <p:txBody>
          <a:bodyPr/>
          <a:lstStyle/>
          <a:p>
            <a:r>
              <a:rPr lang="en-US" dirty="0"/>
              <a:t>Input Tokenizers</a:t>
            </a:r>
            <a:endParaRPr lang="en-IN" dirty="0"/>
          </a:p>
        </p:txBody>
      </p:sp>
      <p:sp>
        <p:nvSpPr>
          <p:cNvPr id="3" name="Subtitle 2">
            <a:extLst>
              <a:ext uri="{FF2B5EF4-FFF2-40B4-BE49-F238E27FC236}">
                <a16:creationId xmlns:a16="http://schemas.microsoft.com/office/drawing/2014/main" id="{EF15A4C8-F94D-4F5D-B4F9-50868922493C}"/>
              </a:ext>
            </a:extLst>
          </p:cNvPr>
          <p:cNvSpPr>
            <a:spLocks noGrp="1"/>
          </p:cNvSpPr>
          <p:nvPr>
            <p:ph type="subTitle" idx="1"/>
          </p:nvPr>
        </p:nvSpPr>
        <p:spPr/>
        <p:txBody>
          <a:bodyPr/>
          <a:lstStyle/>
          <a:p>
            <a:r>
              <a:rPr lang="en-IN" dirty="0"/>
              <a:t>Plaban Kumar Bhowmick</a:t>
            </a:r>
          </a:p>
          <a:p>
            <a:r>
              <a:rPr lang="en-IN" dirty="0"/>
              <a:t>Department of AI</a:t>
            </a:r>
          </a:p>
          <a:p>
            <a:r>
              <a:rPr lang="en-IN" dirty="0"/>
              <a:t>plaban@ai.iitkgp.ac.in</a:t>
            </a:r>
          </a:p>
        </p:txBody>
      </p:sp>
      <p:sp>
        <p:nvSpPr>
          <p:cNvPr id="6" name="Slide Number Placeholder 5">
            <a:extLst>
              <a:ext uri="{FF2B5EF4-FFF2-40B4-BE49-F238E27FC236}">
                <a16:creationId xmlns:a16="http://schemas.microsoft.com/office/drawing/2014/main" id="{2DF6D040-688E-4CDE-B3E0-268C6E0DA1A4}"/>
              </a:ext>
            </a:extLst>
          </p:cNvPr>
          <p:cNvSpPr>
            <a:spLocks noGrp="1"/>
          </p:cNvSpPr>
          <p:nvPr>
            <p:ph type="sldNum" sz="quarter" idx="4294967295"/>
          </p:nvPr>
        </p:nvSpPr>
        <p:spPr>
          <a:xfrm>
            <a:off x="9982800" y="6357600"/>
            <a:ext cx="1760150" cy="460800"/>
          </a:xfrm>
        </p:spPr>
        <p:txBody>
          <a:bodyPr/>
          <a:lstStyle/>
          <a:p>
            <a:fld id="{FF2BD96E-3838-45D2-9031-D3AF67C920A5}" type="slidenum">
              <a:rPr lang="en-US" smtClean="0"/>
              <a:t>1</a:t>
            </a:fld>
            <a:endParaRPr lang="en-US"/>
          </a:p>
        </p:txBody>
      </p:sp>
    </p:spTree>
    <p:extLst>
      <p:ext uri="{BB962C8B-B14F-4D97-AF65-F5344CB8AC3E}">
        <p14:creationId xmlns:p14="http://schemas.microsoft.com/office/powerpoint/2010/main" val="3681731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26D84-F30B-4E48-B062-7081C669F162}"/>
              </a:ext>
            </a:extLst>
          </p:cNvPr>
          <p:cNvSpPr>
            <a:spLocks noGrp="1"/>
          </p:cNvSpPr>
          <p:nvPr>
            <p:ph type="title"/>
          </p:nvPr>
        </p:nvSpPr>
        <p:spPr/>
        <p:txBody>
          <a:bodyPr/>
          <a:lstStyle/>
          <a:p>
            <a:r>
              <a:rPr lang="en-IN" dirty="0"/>
              <a:t>Input Tokens: Many Words are Rare</a:t>
            </a:r>
          </a:p>
        </p:txBody>
      </p:sp>
      <p:sp>
        <p:nvSpPr>
          <p:cNvPr id="3" name="Content Placeholder 2">
            <a:extLst>
              <a:ext uri="{FF2B5EF4-FFF2-40B4-BE49-F238E27FC236}">
                <a16:creationId xmlns:a16="http://schemas.microsoft.com/office/drawing/2014/main" id="{509F4D75-FB30-4D7F-8F2E-79AA8EE9E77B}"/>
              </a:ext>
            </a:extLst>
          </p:cNvPr>
          <p:cNvSpPr>
            <a:spLocks noGrp="1"/>
          </p:cNvSpPr>
          <p:nvPr>
            <p:ph idx="1"/>
          </p:nvPr>
        </p:nvSpPr>
        <p:spPr/>
        <p:txBody>
          <a:bodyPr/>
          <a:lstStyle/>
          <a:p>
            <a:r>
              <a:rPr lang="en-US" dirty="0"/>
              <a:t>We assume a fixed vocab of tens of thousands of words, built from the training set.</a:t>
            </a:r>
          </a:p>
          <a:p>
            <a:r>
              <a:rPr lang="en-US" dirty="0"/>
              <a:t>All novel words seen at test time are mapped to a single </a:t>
            </a:r>
            <a:r>
              <a:rPr lang="en-US" dirty="0">
                <a:solidFill>
                  <a:srgbClr val="FF0000"/>
                </a:solidFill>
              </a:rPr>
              <a:t>[UNK]</a:t>
            </a:r>
            <a:endParaRPr lang="en-IN" dirty="0">
              <a:solidFill>
                <a:srgbClr val="FF0000"/>
              </a:solidFill>
            </a:endParaRPr>
          </a:p>
        </p:txBody>
      </p:sp>
      <p:sp>
        <p:nvSpPr>
          <p:cNvPr id="6" name="Slide Number Placeholder 5">
            <a:extLst>
              <a:ext uri="{FF2B5EF4-FFF2-40B4-BE49-F238E27FC236}">
                <a16:creationId xmlns:a16="http://schemas.microsoft.com/office/drawing/2014/main" id="{4113E0E8-AF07-4C4D-BED0-85F692416AB2}"/>
              </a:ext>
            </a:extLst>
          </p:cNvPr>
          <p:cNvSpPr>
            <a:spLocks noGrp="1"/>
          </p:cNvSpPr>
          <p:nvPr>
            <p:ph type="sldNum" sz="quarter" idx="12"/>
          </p:nvPr>
        </p:nvSpPr>
        <p:spPr/>
        <p:txBody>
          <a:bodyPr/>
          <a:lstStyle/>
          <a:p>
            <a:fld id="{FF2BD96E-3838-45D2-9031-D3AF67C920A5}" type="slidenum">
              <a:rPr lang="en-US" smtClean="0"/>
              <a:t>2</a:t>
            </a:fld>
            <a:endParaRPr lang="en-US"/>
          </a:p>
        </p:txBody>
      </p:sp>
      <p:pic>
        <p:nvPicPr>
          <p:cNvPr id="8" name="Picture 7">
            <a:extLst>
              <a:ext uri="{FF2B5EF4-FFF2-40B4-BE49-F238E27FC236}">
                <a16:creationId xmlns:a16="http://schemas.microsoft.com/office/drawing/2014/main" id="{EFE81DC4-CA61-4175-844E-8E1B9412E6CA}"/>
              </a:ext>
            </a:extLst>
          </p:cNvPr>
          <p:cNvPicPr>
            <a:picLocks noChangeAspect="1"/>
          </p:cNvPicPr>
          <p:nvPr/>
        </p:nvPicPr>
        <p:blipFill>
          <a:blip r:embed="rId2"/>
          <a:stretch>
            <a:fillRect/>
          </a:stretch>
        </p:blipFill>
        <p:spPr>
          <a:xfrm>
            <a:off x="2578360" y="3687765"/>
            <a:ext cx="8009314" cy="2438611"/>
          </a:xfrm>
          <a:prstGeom prst="rect">
            <a:avLst/>
          </a:prstGeom>
        </p:spPr>
      </p:pic>
    </p:spTree>
    <p:extLst>
      <p:ext uri="{BB962C8B-B14F-4D97-AF65-F5344CB8AC3E}">
        <p14:creationId xmlns:p14="http://schemas.microsoft.com/office/powerpoint/2010/main" val="2259785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B8A71-8E91-422D-95B1-F0B4A34F35EB}"/>
              </a:ext>
            </a:extLst>
          </p:cNvPr>
          <p:cNvSpPr>
            <a:spLocks noGrp="1"/>
          </p:cNvSpPr>
          <p:nvPr>
            <p:ph type="title"/>
          </p:nvPr>
        </p:nvSpPr>
        <p:spPr/>
        <p:txBody>
          <a:bodyPr/>
          <a:lstStyle/>
          <a:p>
            <a:r>
              <a:rPr lang="en-IN" dirty="0"/>
              <a:t>Input Tokens: Sub-Word</a:t>
            </a:r>
          </a:p>
        </p:txBody>
      </p:sp>
      <p:sp>
        <p:nvSpPr>
          <p:cNvPr id="3" name="Content Placeholder 2">
            <a:extLst>
              <a:ext uri="{FF2B5EF4-FFF2-40B4-BE49-F238E27FC236}">
                <a16:creationId xmlns:a16="http://schemas.microsoft.com/office/drawing/2014/main" id="{9B4690D9-F0EA-4CB6-A648-A1B1F81E8ECE}"/>
              </a:ext>
            </a:extLst>
          </p:cNvPr>
          <p:cNvSpPr>
            <a:spLocks noGrp="1"/>
          </p:cNvSpPr>
          <p:nvPr>
            <p:ph idx="1"/>
          </p:nvPr>
        </p:nvSpPr>
        <p:spPr/>
        <p:txBody>
          <a:bodyPr>
            <a:normAutofit fontScale="77500" lnSpcReduction="20000"/>
          </a:bodyPr>
          <a:lstStyle/>
          <a:p>
            <a:r>
              <a:rPr lang="en-US" dirty="0"/>
              <a:t>The dominant modern paradigm is to learn a </a:t>
            </a:r>
            <a:r>
              <a:rPr lang="en-US" dirty="0">
                <a:solidFill>
                  <a:srgbClr val="C00000"/>
                </a:solidFill>
              </a:rPr>
              <a:t>vocabulary of parts of words </a:t>
            </a:r>
            <a:r>
              <a:rPr lang="en-US" dirty="0"/>
              <a:t>(</a:t>
            </a:r>
            <a:r>
              <a:rPr lang="en-US" dirty="0" err="1"/>
              <a:t>subword</a:t>
            </a:r>
            <a:r>
              <a:rPr lang="en-US" dirty="0"/>
              <a:t> tokens)</a:t>
            </a:r>
          </a:p>
          <a:p>
            <a:r>
              <a:rPr lang="en-US" dirty="0"/>
              <a:t>At training and testing time, each </a:t>
            </a:r>
            <a:r>
              <a:rPr lang="en-US" dirty="0">
                <a:solidFill>
                  <a:srgbClr val="C00000"/>
                </a:solidFill>
              </a:rPr>
              <a:t>word is split </a:t>
            </a:r>
            <a:r>
              <a:rPr lang="en-US" dirty="0"/>
              <a:t>into a sequence of known </a:t>
            </a:r>
            <a:r>
              <a:rPr lang="en-US" dirty="0" err="1"/>
              <a:t>subwords</a:t>
            </a:r>
            <a:endParaRPr lang="en-US" dirty="0"/>
          </a:p>
          <a:p>
            <a:pPr lvl="1"/>
            <a:r>
              <a:rPr lang="en-IN" dirty="0"/>
              <a:t>Byte-pair encoding</a:t>
            </a:r>
          </a:p>
          <a:p>
            <a:r>
              <a:rPr lang="en-US" dirty="0"/>
              <a:t>Common words end up being a part of the </a:t>
            </a:r>
            <a:r>
              <a:rPr lang="en-US" dirty="0" err="1"/>
              <a:t>subword</a:t>
            </a:r>
            <a:r>
              <a:rPr lang="en-US" dirty="0"/>
              <a:t> vocabulary</a:t>
            </a:r>
            <a:endParaRPr lang="en-IN" dirty="0"/>
          </a:p>
          <a:p>
            <a:r>
              <a:rPr lang="en-US" dirty="0"/>
              <a:t>Rarer words are split into (sometimes intuitive, sometimes not) components.</a:t>
            </a:r>
          </a:p>
          <a:p>
            <a:r>
              <a:rPr lang="en-US" dirty="0"/>
              <a:t>In the worst case, words are split into as many </a:t>
            </a:r>
            <a:r>
              <a:rPr lang="en-US" dirty="0" err="1"/>
              <a:t>subwords</a:t>
            </a:r>
            <a:r>
              <a:rPr lang="en-US" dirty="0"/>
              <a:t> as they have characters.</a:t>
            </a:r>
            <a:endParaRPr lang="en-IN" dirty="0"/>
          </a:p>
        </p:txBody>
      </p:sp>
      <p:sp>
        <p:nvSpPr>
          <p:cNvPr id="6" name="Slide Number Placeholder 5">
            <a:extLst>
              <a:ext uri="{FF2B5EF4-FFF2-40B4-BE49-F238E27FC236}">
                <a16:creationId xmlns:a16="http://schemas.microsoft.com/office/drawing/2014/main" id="{609D7420-4F33-4FFE-B68D-2236675105B2}"/>
              </a:ext>
            </a:extLst>
          </p:cNvPr>
          <p:cNvSpPr>
            <a:spLocks noGrp="1"/>
          </p:cNvSpPr>
          <p:nvPr>
            <p:ph type="sldNum" sz="quarter" idx="12"/>
          </p:nvPr>
        </p:nvSpPr>
        <p:spPr/>
        <p:txBody>
          <a:bodyPr/>
          <a:lstStyle/>
          <a:p>
            <a:fld id="{FF2BD96E-3838-45D2-9031-D3AF67C920A5}" type="slidenum">
              <a:rPr lang="en-US" smtClean="0"/>
              <a:t>3</a:t>
            </a:fld>
            <a:endParaRPr lang="en-US"/>
          </a:p>
        </p:txBody>
      </p:sp>
    </p:spTree>
    <p:extLst>
      <p:ext uri="{BB962C8B-B14F-4D97-AF65-F5344CB8AC3E}">
        <p14:creationId xmlns:p14="http://schemas.microsoft.com/office/powerpoint/2010/main" val="2829884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214B6-0AF7-4A33-BA1F-ADF14EDC0023}"/>
              </a:ext>
            </a:extLst>
          </p:cNvPr>
          <p:cNvSpPr>
            <a:spLocks noGrp="1"/>
          </p:cNvSpPr>
          <p:nvPr>
            <p:ph type="title"/>
          </p:nvPr>
        </p:nvSpPr>
        <p:spPr/>
        <p:txBody>
          <a:bodyPr/>
          <a:lstStyle/>
          <a:p>
            <a:r>
              <a:rPr lang="en-IN" dirty="0"/>
              <a:t>Input Tokens: Sub-Word</a:t>
            </a:r>
          </a:p>
        </p:txBody>
      </p:sp>
      <p:sp>
        <p:nvSpPr>
          <p:cNvPr id="6" name="Slide Number Placeholder 5">
            <a:extLst>
              <a:ext uri="{FF2B5EF4-FFF2-40B4-BE49-F238E27FC236}">
                <a16:creationId xmlns:a16="http://schemas.microsoft.com/office/drawing/2014/main" id="{70199C7D-7F44-49E3-8859-7778385108C6}"/>
              </a:ext>
            </a:extLst>
          </p:cNvPr>
          <p:cNvSpPr>
            <a:spLocks noGrp="1"/>
          </p:cNvSpPr>
          <p:nvPr>
            <p:ph type="sldNum" sz="quarter" idx="12"/>
          </p:nvPr>
        </p:nvSpPr>
        <p:spPr/>
        <p:txBody>
          <a:bodyPr/>
          <a:lstStyle/>
          <a:p>
            <a:fld id="{FF2BD96E-3838-45D2-9031-D3AF67C920A5}" type="slidenum">
              <a:rPr lang="en-US" smtClean="0"/>
              <a:t>4</a:t>
            </a:fld>
            <a:endParaRPr lang="en-US"/>
          </a:p>
        </p:txBody>
      </p:sp>
      <p:pic>
        <p:nvPicPr>
          <p:cNvPr id="8" name="Picture 7">
            <a:extLst>
              <a:ext uri="{FF2B5EF4-FFF2-40B4-BE49-F238E27FC236}">
                <a16:creationId xmlns:a16="http://schemas.microsoft.com/office/drawing/2014/main" id="{D0DBDDAC-3688-4BD9-8E9C-9E808DCAB022}"/>
              </a:ext>
            </a:extLst>
          </p:cNvPr>
          <p:cNvPicPr>
            <a:picLocks noChangeAspect="1"/>
          </p:cNvPicPr>
          <p:nvPr/>
        </p:nvPicPr>
        <p:blipFill>
          <a:blip r:embed="rId2"/>
          <a:stretch>
            <a:fillRect/>
          </a:stretch>
        </p:blipFill>
        <p:spPr>
          <a:xfrm>
            <a:off x="1124666" y="2087231"/>
            <a:ext cx="10093674" cy="2915752"/>
          </a:xfrm>
          <a:prstGeom prst="rect">
            <a:avLst/>
          </a:prstGeom>
        </p:spPr>
      </p:pic>
    </p:spTree>
    <p:extLst>
      <p:ext uri="{BB962C8B-B14F-4D97-AF65-F5344CB8AC3E}">
        <p14:creationId xmlns:p14="http://schemas.microsoft.com/office/powerpoint/2010/main" val="62751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73CDF-91D1-4B23-A9CE-276ECD332AA8}"/>
              </a:ext>
            </a:extLst>
          </p:cNvPr>
          <p:cNvSpPr>
            <a:spLocks noGrp="1"/>
          </p:cNvSpPr>
          <p:nvPr>
            <p:ph type="title"/>
          </p:nvPr>
        </p:nvSpPr>
        <p:spPr/>
        <p:txBody>
          <a:bodyPr/>
          <a:lstStyle/>
          <a:p>
            <a:r>
              <a:rPr lang="en-IN" dirty="0"/>
              <a:t>Tokenization Strategies</a:t>
            </a:r>
          </a:p>
        </p:txBody>
      </p:sp>
      <p:sp>
        <p:nvSpPr>
          <p:cNvPr id="3" name="Content Placeholder 2">
            <a:extLst>
              <a:ext uri="{FF2B5EF4-FFF2-40B4-BE49-F238E27FC236}">
                <a16:creationId xmlns:a16="http://schemas.microsoft.com/office/drawing/2014/main" id="{A8BB291C-8749-4AD1-86FB-804F7E776E42}"/>
              </a:ext>
            </a:extLst>
          </p:cNvPr>
          <p:cNvSpPr>
            <a:spLocks noGrp="1"/>
          </p:cNvSpPr>
          <p:nvPr>
            <p:ph idx="1"/>
          </p:nvPr>
        </p:nvSpPr>
        <p:spPr/>
        <p:txBody>
          <a:bodyPr>
            <a:normAutofit fontScale="92500"/>
          </a:bodyPr>
          <a:lstStyle/>
          <a:p>
            <a:r>
              <a:rPr lang="en-IN" dirty="0"/>
              <a:t>Commonly used tokenizers</a:t>
            </a:r>
          </a:p>
          <a:p>
            <a:pPr lvl="1"/>
            <a:r>
              <a:rPr lang="en-IN" dirty="0"/>
              <a:t>Byte Pair Encoding (BPE) tokenizer</a:t>
            </a:r>
          </a:p>
          <a:p>
            <a:pPr lvl="1"/>
            <a:r>
              <a:rPr lang="en-IN" dirty="0" err="1"/>
              <a:t>Wordpiece</a:t>
            </a:r>
            <a:r>
              <a:rPr lang="en-IN" dirty="0"/>
              <a:t> Tokenizer</a:t>
            </a:r>
          </a:p>
          <a:p>
            <a:pPr lvl="1"/>
            <a:r>
              <a:rPr lang="en-IN" dirty="0" err="1"/>
              <a:t>SentencePiece</a:t>
            </a:r>
            <a:r>
              <a:rPr lang="en-IN" dirty="0"/>
              <a:t> Tokenizer</a:t>
            </a:r>
          </a:p>
          <a:p>
            <a:r>
              <a:rPr lang="en-IN" dirty="0"/>
              <a:t>General steps</a:t>
            </a:r>
          </a:p>
          <a:p>
            <a:pPr lvl="1"/>
            <a:r>
              <a:rPr lang="en-IN" dirty="0"/>
              <a:t>Step 1: Use a corpora to train the tokenizer (i.e., segmentation rules)</a:t>
            </a:r>
          </a:p>
          <a:p>
            <a:pPr lvl="1"/>
            <a:r>
              <a:rPr lang="en-IN" dirty="0"/>
              <a:t>Step 2: Use the learned segmentation rules to tokenize any test input</a:t>
            </a:r>
          </a:p>
        </p:txBody>
      </p:sp>
      <p:sp>
        <p:nvSpPr>
          <p:cNvPr id="6" name="Slide Number Placeholder 5">
            <a:extLst>
              <a:ext uri="{FF2B5EF4-FFF2-40B4-BE49-F238E27FC236}">
                <a16:creationId xmlns:a16="http://schemas.microsoft.com/office/drawing/2014/main" id="{11D860DF-662F-441E-BBA1-70FCA56B9E4B}"/>
              </a:ext>
            </a:extLst>
          </p:cNvPr>
          <p:cNvSpPr>
            <a:spLocks noGrp="1"/>
          </p:cNvSpPr>
          <p:nvPr>
            <p:ph type="sldNum" sz="quarter" idx="12"/>
          </p:nvPr>
        </p:nvSpPr>
        <p:spPr/>
        <p:txBody>
          <a:bodyPr/>
          <a:lstStyle/>
          <a:p>
            <a:fld id="{FF2BD96E-3838-45D2-9031-D3AF67C920A5}" type="slidenum">
              <a:rPr lang="en-US" smtClean="0"/>
              <a:t>5</a:t>
            </a:fld>
            <a:endParaRPr lang="en-US"/>
          </a:p>
        </p:txBody>
      </p:sp>
    </p:spTree>
    <p:extLst>
      <p:ext uri="{BB962C8B-B14F-4D97-AF65-F5344CB8AC3E}">
        <p14:creationId xmlns:p14="http://schemas.microsoft.com/office/powerpoint/2010/main" val="2039434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8C243-EA3A-405E-89C3-3E201C39B707}"/>
              </a:ext>
            </a:extLst>
          </p:cNvPr>
          <p:cNvSpPr>
            <a:spLocks noGrp="1"/>
          </p:cNvSpPr>
          <p:nvPr>
            <p:ph type="title"/>
          </p:nvPr>
        </p:nvSpPr>
        <p:spPr/>
        <p:txBody>
          <a:bodyPr/>
          <a:lstStyle/>
          <a:p>
            <a:r>
              <a:rPr lang="en-IN" dirty="0"/>
              <a:t>Byte Pair Encoding (BPE)</a:t>
            </a:r>
          </a:p>
        </p:txBody>
      </p:sp>
      <p:sp>
        <p:nvSpPr>
          <p:cNvPr id="4" name="Slide Number Placeholder 3">
            <a:extLst>
              <a:ext uri="{FF2B5EF4-FFF2-40B4-BE49-F238E27FC236}">
                <a16:creationId xmlns:a16="http://schemas.microsoft.com/office/drawing/2014/main" id="{A53DDDA7-20F4-4DAF-9F64-EDB679654E5F}"/>
              </a:ext>
            </a:extLst>
          </p:cNvPr>
          <p:cNvSpPr>
            <a:spLocks noGrp="1"/>
          </p:cNvSpPr>
          <p:nvPr>
            <p:ph type="sldNum" sz="quarter" idx="12"/>
          </p:nvPr>
        </p:nvSpPr>
        <p:spPr/>
        <p:txBody>
          <a:bodyPr/>
          <a:lstStyle/>
          <a:p>
            <a:fld id="{FF2BD96E-3838-45D2-9031-D3AF67C920A5}" type="slidenum">
              <a:rPr lang="en-US" smtClean="0"/>
              <a:t>6</a:t>
            </a:fld>
            <a:endParaRPr lang="en-US"/>
          </a:p>
        </p:txBody>
      </p:sp>
      <p:pic>
        <p:nvPicPr>
          <p:cNvPr id="1026" name="Picture 2" descr="The C Users Journal : Free Download, Borrow, and Streaming : Internet  Archive">
            <a:extLst>
              <a:ext uri="{FF2B5EF4-FFF2-40B4-BE49-F238E27FC236}">
                <a16:creationId xmlns:a16="http://schemas.microsoft.com/office/drawing/2014/main" id="{5E892691-4F52-48CE-8DE3-D4F32D28A6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780" y="1451662"/>
            <a:ext cx="3137329" cy="409595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17AB3B3-6B52-4834-8C15-AED851D08E49}"/>
              </a:ext>
            </a:extLst>
          </p:cNvPr>
          <p:cNvSpPr txBox="1"/>
          <p:nvPr/>
        </p:nvSpPr>
        <p:spPr>
          <a:xfrm>
            <a:off x="387627" y="5721264"/>
            <a:ext cx="4202432" cy="369332"/>
          </a:xfrm>
          <a:prstGeom prst="rect">
            <a:avLst/>
          </a:prstGeom>
          <a:noFill/>
        </p:spPr>
        <p:txBody>
          <a:bodyPr wrap="none" rtlCol="0">
            <a:spAutoFit/>
          </a:bodyPr>
          <a:lstStyle/>
          <a:p>
            <a:r>
              <a:rPr lang="en-IN" dirty="0"/>
              <a:t>A new algorithm for data compression</a:t>
            </a:r>
          </a:p>
        </p:txBody>
      </p:sp>
      <p:sp>
        <p:nvSpPr>
          <p:cNvPr id="7" name="TextBox 6">
            <a:extLst>
              <a:ext uri="{FF2B5EF4-FFF2-40B4-BE49-F238E27FC236}">
                <a16:creationId xmlns:a16="http://schemas.microsoft.com/office/drawing/2014/main" id="{450172C8-0661-435E-A709-8282A4D8D1C6}"/>
              </a:ext>
            </a:extLst>
          </p:cNvPr>
          <p:cNvSpPr txBox="1"/>
          <p:nvPr/>
        </p:nvSpPr>
        <p:spPr>
          <a:xfrm>
            <a:off x="5716412" y="1266996"/>
            <a:ext cx="1410964" cy="369332"/>
          </a:xfrm>
          <a:prstGeom prst="rect">
            <a:avLst/>
          </a:prstGeom>
          <a:noFill/>
        </p:spPr>
        <p:txBody>
          <a:bodyPr wrap="none" rtlCol="0">
            <a:spAutoFit/>
          </a:bodyPr>
          <a:lstStyle/>
          <a:p>
            <a:r>
              <a:rPr lang="en-IN" dirty="0"/>
              <a:t>Philip Gage</a:t>
            </a:r>
          </a:p>
        </p:txBody>
      </p:sp>
      <p:sp>
        <p:nvSpPr>
          <p:cNvPr id="8" name="TextBox 7">
            <a:extLst>
              <a:ext uri="{FF2B5EF4-FFF2-40B4-BE49-F238E27FC236}">
                <a16:creationId xmlns:a16="http://schemas.microsoft.com/office/drawing/2014/main" id="{5AAD824E-0906-4F70-9C10-0C70B8B9B965}"/>
              </a:ext>
            </a:extLst>
          </p:cNvPr>
          <p:cNvSpPr txBox="1"/>
          <p:nvPr/>
        </p:nvSpPr>
        <p:spPr>
          <a:xfrm>
            <a:off x="5451368" y="1818498"/>
            <a:ext cx="2081019" cy="461665"/>
          </a:xfrm>
          <a:prstGeom prst="rect">
            <a:avLst/>
          </a:prstGeom>
          <a:noFill/>
        </p:spPr>
        <p:txBody>
          <a:bodyPr wrap="none" rtlCol="0">
            <a:spAutoFit/>
          </a:bodyPr>
          <a:lstStyle/>
          <a:p>
            <a:r>
              <a:rPr lang="en-IN" sz="2400" dirty="0" err="1"/>
              <a:t>aaabdaaabac</a:t>
            </a:r>
            <a:endParaRPr lang="en-IN" sz="2400" dirty="0"/>
          </a:p>
        </p:txBody>
      </p:sp>
      <p:graphicFrame>
        <p:nvGraphicFramePr>
          <p:cNvPr id="6" name="Table 8">
            <a:extLst>
              <a:ext uri="{FF2B5EF4-FFF2-40B4-BE49-F238E27FC236}">
                <a16:creationId xmlns:a16="http://schemas.microsoft.com/office/drawing/2014/main" id="{947417C6-7779-44B3-A68A-4CEAC586B0E6}"/>
              </a:ext>
            </a:extLst>
          </p:cNvPr>
          <p:cNvGraphicFramePr>
            <a:graphicFrameLocks noGrp="1"/>
          </p:cNvGraphicFramePr>
          <p:nvPr>
            <p:extLst>
              <p:ext uri="{D42A27DB-BD31-4B8C-83A1-F6EECF244321}">
                <p14:modId xmlns:p14="http://schemas.microsoft.com/office/powerpoint/2010/main" val="2371191123"/>
              </p:ext>
            </p:extLst>
          </p:nvPr>
        </p:nvGraphicFramePr>
        <p:xfrm>
          <a:off x="9034669" y="1636328"/>
          <a:ext cx="2708282" cy="1854200"/>
        </p:xfrm>
        <a:graphic>
          <a:graphicData uri="http://schemas.openxmlformats.org/drawingml/2006/table">
            <a:tbl>
              <a:tblPr firstRow="1" bandRow="1">
                <a:tableStyleId>{5940675A-B579-460E-94D1-54222C63F5DA}</a:tableStyleId>
              </a:tblPr>
              <a:tblGrid>
                <a:gridCol w="1354141">
                  <a:extLst>
                    <a:ext uri="{9D8B030D-6E8A-4147-A177-3AD203B41FA5}">
                      <a16:colId xmlns:a16="http://schemas.microsoft.com/office/drawing/2014/main" val="2146095153"/>
                    </a:ext>
                  </a:extLst>
                </a:gridCol>
                <a:gridCol w="1354141">
                  <a:extLst>
                    <a:ext uri="{9D8B030D-6E8A-4147-A177-3AD203B41FA5}">
                      <a16:colId xmlns:a16="http://schemas.microsoft.com/office/drawing/2014/main" val="2961087291"/>
                    </a:ext>
                  </a:extLst>
                </a:gridCol>
              </a:tblGrid>
              <a:tr h="370840">
                <a:tc>
                  <a:txBody>
                    <a:bodyPr/>
                    <a:lstStyle/>
                    <a:p>
                      <a:r>
                        <a:rPr lang="en-IN" dirty="0"/>
                        <a:t>Symbol</a:t>
                      </a:r>
                    </a:p>
                  </a:txBody>
                  <a:tcPr/>
                </a:tc>
                <a:tc>
                  <a:txBody>
                    <a:bodyPr/>
                    <a:lstStyle/>
                    <a:p>
                      <a:r>
                        <a:rPr lang="en-IN" dirty="0"/>
                        <a:t>Represents </a:t>
                      </a:r>
                    </a:p>
                  </a:txBody>
                  <a:tcPr/>
                </a:tc>
                <a:extLst>
                  <a:ext uri="{0D108BD9-81ED-4DB2-BD59-A6C34878D82A}">
                    <a16:rowId xmlns:a16="http://schemas.microsoft.com/office/drawing/2014/main" val="4174863463"/>
                  </a:ext>
                </a:extLst>
              </a:tr>
              <a:tr h="370840">
                <a:tc>
                  <a:txBody>
                    <a:bodyPr/>
                    <a:lstStyle/>
                    <a:p>
                      <a:pPr algn="ctr"/>
                      <a:r>
                        <a:rPr lang="en-IN" dirty="0"/>
                        <a:t>a</a:t>
                      </a:r>
                    </a:p>
                  </a:txBody>
                  <a:tcPr/>
                </a:tc>
                <a:tc>
                  <a:txBody>
                    <a:bodyPr/>
                    <a:lstStyle/>
                    <a:p>
                      <a:pPr algn="ctr"/>
                      <a:r>
                        <a:rPr lang="en-IN" dirty="0"/>
                        <a:t>a</a:t>
                      </a:r>
                    </a:p>
                  </a:txBody>
                  <a:tcPr/>
                </a:tc>
                <a:extLst>
                  <a:ext uri="{0D108BD9-81ED-4DB2-BD59-A6C34878D82A}">
                    <a16:rowId xmlns:a16="http://schemas.microsoft.com/office/drawing/2014/main" val="366554238"/>
                  </a:ext>
                </a:extLst>
              </a:tr>
              <a:tr h="370840">
                <a:tc>
                  <a:txBody>
                    <a:bodyPr/>
                    <a:lstStyle/>
                    <a:p>
                      <a:pPr algn="ctr"/>
                      <a:r>
                        <a:rPr lang="en-IN" dirty="0"/>
                        <a:t>b</a:t>
                      </a:r>
                    </a:p>
                  </a:txBody>
                  <a:tcPr/>
                </a:tc>
                <a:tc>
                  <a:txBody>
                    <a:bodyPr/>
                    <a:lstStyle/>
                    <a:p>
                      <a:pPr algn="ctr"/>
                      <a:r>
                        <a:rPr lang="en-IN" dirty="0"/>
                        <a:t>b</a:t>
                      </a:r>
                    </a:p>
                  </a:txBody>
                  <a:tcPr/>
                </a:tc>
                <a:extLst>
                  <a:ext uri="{0D108BD9-81ED-4DB2-BD59-A6C34878D82A}">
                    <a16:rowId xmlns:a16="http://schemas.microsoft.com/office/drawing/2014/main" val="395081695"/>
                  </a:ext>
                </a:extLst>
              </a:tr>
              <a:tr h="370840">
                <a:tc>
                  <a:txBody>
                    <a:bodyPr/>
                    <a:lstStyle/>
                    <a:p>
                      <a:pPr algn="ctr"/>
                      <a:r>
                        <a:rPr lang="en-IN" dirty="0"/>
                        <a:t>c</a:t>
                      </a:r>
                    </a:p>
                  </a:txBody>
                  <a:tcPr/>
                </a:tc>
                <a:tc>
                  <a:txBody>
                    <a:bodyPr/>
                    <a:lstStyle/>
                    <a:p>
                      <a:pPr algn="ctr"/>
                      <a:r>
                        <a:rPr lang="en-IN" dirty="0"/>
                        <a:t>c</a:t>
                      </a:r>
                    </a:p>
                  </a:txBody>
                  <a:tcPr/>
                </a:tc>
                <a:extLst>
                  <a:ext uri="{0D108BD9-81ED-4DB2-BD59-A6C34878D82A}">
                    <a16:rowId xmlns:a16="http://schemas.microsoft.com/office/drawing/2014/main" val="3921677694"/>
                  </a:ext>
                </a:extLst>
              </a:tr>
              <a:tr h="370840">
                <a:tc>
                  <a:txBody>
                    <a:bodyPr/>
                    <a:lstStyle/>
                    <a:p>
                      <a:pPr algn="ctr"/>
                      <a:r>
                        <a:rPr lang="en-IN" dirty="0"/>
                        <a:t>d</a:t>
                      </a:r>
                    </a:p>
                  </a:txBody>
                  <a:tcPr/>
                </a:tc>
                <a:tc>
                  <a:txBody>
                    <a:bodyPr/>
                    <a:lstStyle/>
                    <a:p>
                      <a:pPr algn="ctr"/>
                      <a:r>
                        <a:rPr lang="en-IN" dirty="0"/>
                        <a:t>d</a:t>
                      </a:r>
                    </a:p>
                  </a:txBody>
                  <a:tcPr/>
                </a:tc>
                <a:extLst>
                  <a:ext uri="{0D108BD9-81ED-4DB2-BD59-A6C34878D82A}">
                    <a16:rowId xmlns:a16="http://schemas.microsoft.com/office/drawing/2014/main" val="1817258073"/>
                  </a:ext>
                </a:extLst>
              </a:tr>
            </a:tbl>
          </a:graphicData>
        </a:graphic>
      </p:graphicFrame>
      <p:sp>
        <p:nvSpPr>
          <p:cNvPr id="11" name="TextBox 10">
            <a:extLst>
              <a:ext uri="{FF2B5EF4-FFF2-40B4-BE49-F238E27FC236}">
                <a16:creationId xmlns:a16="http://schemas.microsoft.com/office/drawing/2014/main" id="{5F884680-A56E-4383-AC0D-76CF4A40869B}"/>
              </a:ext>
            </a:extLst>
          </p:cNvPr>
          <p:cNvSpPr txBox="1"/>
          <p:nvPr/>
        </p:nvSpPr>
        <p:spPr>
          <a:xfrm>
            <a:off x="9524581" y="1178925"/>
            <a:ext cx="1463537" cy="369332"/>
          </a:xfrm>
          <a:prstGeom prst="rect">
            <a:avLst/>
          </a:prstGeom>
          <a:noFill/>
        </p:spPr>
        <p:txBody>
          <a:bodyPr wrap="square">
            <a:spAutoFit/>
          </a:bodyPr>
          <a:lstStyle/>
          <a:p>
            <a:r>
              <a:rPr lang="en-IN" dirty="0"/>
              <a:t>Vocabulary</a:t>
            </a:r>
          </a:p>
        </p:txBody>
      </p:sp>
      <p:sp>
        <p:nvSpPr>
          <p:cNvPr id="10" name="Rectangle: Rounded Corners 9">
            <a:extLst>
              <a:ext uri="{FF2B5EF4-FFF2-40B4-BE49-F238E27FC236}">
                <a16:creationId xmlns:a16="http://schemas.microsoft.com/office/drawing/2014/main" id="{105E5DE2-3570-458A-8B89-D68399F0CC71}"/>
              </a:ext>
            </a:extLst>
          </p:cNvPr>
          <p:cNvSpPr/>
          <p:nvPr/>
        </p:nvSpPr>
        <p:spPr>
          <a:xfrm>
            <a:off x="5544402" y="1977887"/>
            <a:ext cx="329624" cy="218661"/>
          </a:xfrm>
          <a:prstGeom prst="roundRect">
            <a:avLst/>
          </a:prstGeom>
          <a:solidFill>
            <a:schemeClr val="accent1">
              <a:alpha val="2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5EF3A80B-BAB0-4351-85D2-206FA4D92DA6}"/>
              </a:ext>
            </a:extLst>
          </p:cNvPr>
          <p:cNvSpPr/>
          <p:nvPr/>
        </p:nvSpPr>
        <p:spPr>
          <a:xfrm>
            <a:off x="6421894" y="1959877"/>
            <a:ext cx="329624" cy="218661"/>
          </a:xfrm>
          <a:prstGeom prst="roundRect">
            <a:avLst/>
          </a:prstGeom>
          <a:solidFill>
            <a:schemeClr val="accent1">
              <a:alpha val="2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traight Arrow Connector 14">
            <a:extLst>
              <a:ext uri="{FF2B5EF4-FFF2-40B4-BE49-F238E27FC236}">
                <a16:creationId xmlns:a16="http://schemas.microsoft.com/office/drawing/2014/main" id="{D9AA9A3F-13AF-4D53-8B5A-F72EB2CD371E}"/>
              </a:ext>
            </a:extLst>
          </p:cNvPr>
          <p:cNvCxnSpPr>
            <a:cxnSpLocks/>
          </p:cNvCxnSpPr>
          <p:nvPr/>
        </p:nvCxnSpPr>
        <p:spPr>
          <a:xfrm flipH="1">
            <a:off x="6487796" y="2249662"/>
            <a:ext cx="4082" cy="423272"/>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7" name="Table 8">
            <a:extLst>
              <a:ext uri="{FF2B5EF4-FFF2-40B4-BE49-F238E27FC236}">
                <a16:creationId xmlns:a16="http://schemas.microsoft.com/office/drawing/2014/main" id="{511486D3-4F6C-43FC-89C7-433F9A1462B4}"/>
              </a:ext>
            </a:extLst>
          </p:cNvPr>
          <p:cNvGraphicFramePr>
            <a:graphicFrameLocks noGrp="1"/>
          </p:cNvGraphicFramePr>
          <p:nvPr>
            <p:extLst>
              <p:ext uri="{D42A27DB-BD31-4B8C-83A1-F6EECF244321}">
                <p14:modId xmlns:p14="http://schemas.microsoft.com/office/powerpoint/2010/main" val="499195863"/>
              </p:ext>
            </p:extLst>
          </p:nvPr>
        </p:nvGraphicFramePr>
        <p:xfrm>
          <a:off x="9034669" y="3489701"/>
          <a:ext cx="2708282" cy="370840"/>
        </p:xfrm>
        <a:graphic>
          <a:graphicData uri="http://schemas.openxmlformats.org/drawingml/2006/table">
            <a:tbl>
              <a:tblPr firstRow="1" bandRow="1">
                <a:tableStyleId>{5940675A-B579-460E-94D1-54222C63F5DA}</a:tableStyleId>
              </a:tblPr>
              <a:tblGrid>
                <a:gridCol w="1354141">
                  <a:extLst>
                    <a:ext uri="{9D8B030D-6E8A-4147-A177-3AD203B41FA5}">
                      <a16:colId xmlns:a16="http://schemas.microsoft.com/office/drawing/2014/main" val="2146095153"/>
                    </a:ext>
                  </a:extLst>
                </a:gridCol>
                <a:gridCol w="1354141">
                  <a:extLst>
                    <a:ext uri="{9D8B030D-6E8A-4147-A177-3AD203B41FA5}">
                      <a16:colId xmlns:a16="http://schemas.microsoft.com/office/drawing/2014/main" val="2961087291"/>
                    </a:ext>
                  </a:extLst>
                </a:gridCol>
              </a:tblGrid>
              <a:tr h="370840">
                <a:tc>
                  <a:txBody>
                    <a:bodyPr/>
                    <a:lstStyle/>
                    <a:p>
                      <a:pPr algn="ctr"/>
                      <a:r>
                        <a:rPr lang="en-IN" dirty="0"/>
                        <a:t>Z</a:t>
                      </a:r>
                    </a:p>
                  </a:txBody>
                  <a:tcPr/>
                </a:tc>
                <a:tc>
                  <a:txBody>
                    <a:bodyPr/>
                    <a:lstStyle/>
                    <a:p>
                      <a:pPr algn="ctr"/>
                      <a:r>
                        <a:rPr lang="en-IN" dirty="0"/>
                        <a:t>aa</a:t>
                      </a:r>
                    </a:p>
                  </a:txBody>
                  <a:tcPr/>
                </a:tc>
                <a:extLst>
                  <a:ext uri="{0D108BD9-81ED-4DB2-BD59-A6C34878D82A}">
                    <a16:rowId xmlns:a16="http://schemas.microsoft.com/office/drawing/2014/main" val="4174863463"/>
                  </a:ext>
                </a:extLst>
              </a:tr>
            </a:tbl>
          </a:graphicData>
        </a:graphic>
      </p:graphicFrame>
      <p:sp>
        <p:nvSpPr>
          <p:cNvPr id="18" name="TextBox 17">
            <a:extLst>
              <a:ext uri="{FF2B5EF4-FFF2-40B4-BE49-F238E27FC236}">
                <a16:creationId xmlns:a16="http://schemas.microsoft.com/office/drawing/2014/main" id="{7D3376B1-4925-4E44-A880-B12C56F9C7B9}"/>
              </a:ext>
            </a:extLst>
          </p:cNvPr>
          <p:cNvSpPr txBox="1"/>
          <p:nvPr/>
        </p:nvSpPr>
        <p:spPr>
          <a:xfrm>
            <a:off x="5642666" y="2681922"/>
            <a:ext cx="1765676" cy="461665"/>
          </a:xfrm>
          <a:prstGeom prst="rect">
            <a:avLst/>
          </a:prstGeom>
          <a:noFill/>
        </p:spPr>
        <p:txBody>
          <a:bodyPr wrap="none" rtlCol="0">
            <a:spAutoFit/>
          </a:bodyPr>
          <a:lstStyle/>
          <a:p>
            <a:r>
              <a:rPr lang="en-IN" sz="2400" dirty="0" err="1"/>
              <a:t>ZabdZabac</a:t>
            </a:r>
            <a:endParaRPr lang="en-IN" sz="2400" dirty="0"/>
          </a:p>
        </p:txBody>
      </p:sp>
      <p:sp>
        <p:nvSpPr>
          <p:cNvPr id="21" name="Rectangle: Rounded Corners 20">
            <a:extLst>
              <a:ext uri="{FF2B5EF4-FFF2-40B4-BE49-F238E27FC236}">
                <a16:creationId xmlns:a16="http://schemas.microsoft.com/office/drawing/2014/main" id="{32025218-93A4-4181-A5F7-4DA1E404E6D6}"/>
              </a:ext>
            </a:extLst>
          </p:cNvPr>
          <p:cNvSpPr/>
          <p:nvPr/>
        </p:nvSpPr>
        <p:spPr>
          <a:xfrm>
            <a:off x="6633345" y="2748332"/>
            <a:ext cx="329624" cy="276335"/>
          </a:xfrm>
          <a:prstGeom prst="roundRect">
            <a:avLst/>
          </a:prstGeom>
          <a:solidFill>
            <a:schemeClr val="accent1">
              <a:alpha val="2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Rounded Corners 21">
            <a:extLst>
              <a:ext uri="{FF2B5EF4-FFF2-40B4-BE49-F238E27FC236}">
                <a16:creationId xmlns:a16="http://schemas.microsoft.com/office/drawing/2014/main" id="{7F7BD818-5325-43F9-9A5F-7693F838E410}"/>
              </a:ext>
            </a:extLst>
          </p:cNvPr>
          <p:cNvSpPr/>
          <p:nvPr/>
        </p:nvSpPr>
        <p:spPr>
          <a:xfrm>
            <a:off x="5898105" y="2758271"/>
            <a:ext cx="329624" cy="276335"/>
          </a:xfrm>
          <a:prstGeom prst="roundRect">
            <a:avLst/>
          </a:prstGeom>
          <a:solidFill>
            <a:schemeClr val="accent1">
              <a:alpha val="2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BFE53ED6-016F-44B9-9C31-A9AA4914E0AE}"/>
              </a:ext>
            </a:extLst>
          </p:cNvPr>
          <p:cNvSpPr txBox="1"/>
          <p:nvPr/>
        </p:nvSpPr>
        <p:spPr>
          <a:xfrm>
            <a:off x="5852538" y="3486332"/>
            <a:ext cx="1368516" cy="461665"/>
          </a:xfrm>
          <a:prstGeom prst="rect">
            <a:avLst/>
          </a:prstGeom>
          <a:noFill/>
        </p:spPr>
        <p:txBody>
          <a:bodyPr wrap="none" rtlCol="0">
            <a:spAutoFit/>
          </a:bodyPr>
          <a:lstStyle/>
          <a:p>
            <a:r>
              <a:rPr lang="en-IN" sz="2400" dirty="0" err="1"/>
              <a:t>ZYdZYac</a:t>
            </a:r>
            <a:endParaRPr lang="en-IN" sz="2400" dirty="0"/>
          </a:p>
        </p:txBody>
      </p:sp>
      <p:cxnSp>
        <p:nvCxnSpPr>
          <p:cNvPr id="24" name="Straight Arrow Connector 23">
            <a:extLst>
              <a:ext uri="{FF2B5EF4-FFF2-40B4-BE49-F238E27FC236}">
                <a16:creationId xmlns:a16="http://schemas.microsoft.com/office/drawing/2014/main" id="{28FB4CF3-0079-4AF8-BA82-56EC16B466B8}"/>
              </a:ext>
            </a:extLst>
          </p:cNvPr>
          <p:cNvCxnSpPr>
            <a:cxnSpLocks/>
          </p:cNvCxnSpPr>
          <p:nvPr/>
        </p:nvCxnSpPr>
        <p:spPr>
          <a:xfrm flipH="1">
            <a:off x="6525504" y="3143587"/>
            <a:ext cx="4082" cy="423272"/>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5" name="Table 8">
            <a:extLst>
              <a:ext uri="{FF2B5EF4-FFF2-40B4-BE49-F238E27FC236}">
                <a16:creationId xmlns:a16="http://schemas.microsoft.com/office/drawing/2014/main" id="{77852AD3-953B-4077-9BC3-39B8A0967181}"/>
              </a:ext>
            </a:extLst>
          </p:cNvPr>
          <p:cNvGraphicFramePr>
            <a:graphicFrameLocks noGrp="1"/>
          </p:cNvGraphicFramePr>
          <p:nvPr>
            <p:extLst>
              <p:ext uri="{D42A27DB-BD31-4B8C-83A1-F6EECF244321}">
                <p14:modId xmlns:p14="http://schemas.microsoft.com/office/powerpoint/2010/main" val="2016027713"/>
              </p:ext>
            </p:extLst>
          </p:nvPr>
        </p:nvGraphicFramePr>
        <p:xfrm>
          <a:off x="9034669" y="3856412"/>
          <a:ext cx="2708282" cy="370840"/>
        </p:xfrm>
        <a:graphic>
          <a:graphicData uri="http://schemas.openxmlformats.org/drawingml/2006/table">
            <a:tbl>
              <a:tblPr firstRow="1" bandRow="1">
                <a:tableStyleId>{5940675A-B579-460E-94D1-54222C63F5DA}</a:tableStyleId>
              </a:tblPr>
              <a:tblGrid>
                <a:gridCol w="1354141">
                  <a:extLst>
                    <a:ext uri="{9D8B030D-6E8A-4147-A177-3AD203B41FA5}">
                      <a16:colId xmlns:a16="http://schemas.microsoft.com/office/drawing/2014/main" val="2146095153"/>
                    </a:ext>
                  </a:extLst>
                </a:gridCol>
                <a:gridCol w="1354141">
                  <a:extLst>
                    <a:ext uri="{9D8B030D-6E8A-4147-A177-3AD203B41FA5}">
                      <a16:colId xmlns:a16="http://schemas.microsoft.com/office/drawing/2014/main" val="2961087291"/>
                    </a:ext>
                  </a:extLst>
                </a:gridCol>
              </a:tblGrid>
              <a:tr h="370840">
                <a:tc>
                  <a:txBody>
                    <a:bodyPr/>
                    <a:lstStyle/>
                    <a:p>
                      <a:pPr algn="ctr"/>
                      <a:r>
                        <a:rPr lang="en-IN" dirty="0"/>
                        <a:t>Y</a:t>
                      </a:r>
                    </a:p>
                  </a:txBody>
                  <a:tcPr/>
                </a:tc>
                <a:tc>
                  <a:txBody>
                    <a:bodyPr/>
                    <a:lstStyle/>
                    <a:p>
                      <a:pPr algn="ctr"/>
                      <a:r>
                        <a:rPr lang="en-IN" dirty="0"/>
                        <a:t>ab</a:t>
                      </a:r>
                    </a:p>
                  </a:txBody>
                  <a:tcPr/>
                </a:tc>
                <a:extLst>
                  <a:ext uri="{0D108BD9-81ED-4DB2-BD59-A6C34878D82A}">
                    <a16:rowId xmlns:a16="http://schemas.microsoft.com/office/drawing/2014/main" val="4174863463"/>
                  </a:ext>
                </a:extLst>
              </a:tr>
            </a:tbl>
          </a:graphicData>
        </a:graphic>
      </p:graphicFrame>
      <p:sp>
        <p:nvSpPr>
          <p:cNvPr id="26" name="Rectangle: Rounded Corners 25">
            <a:extLst>
              <a:ext uri="{FF2B5EF4-FFF2-40B4-BE49-F238E27FC236}">
                <a16:creationId xmlns:a16="http://schemas.microsoft.com/office/drawing/2014/main" id="{44647452-CB8B-4AF7-84CD-FA9F1E5DAFAB}"/>
              </a:ext>
            </a:extLst>
          </p:cNvPr>
          <p:cNvSpPr/>
          <p:nvPr/>
        </p:nvSpPr>
        <p:spPr>
          <a:xfrm>
            <a:off x="6475698" y="3561259"/>
            <a:ext cx="329624" cy="276335"/>
          </a:xfrm>
          <a:prstGeom prst="roundRect">
            <a:avLst/>
          </a:prstGeom>
          <a:solidFill>
            <a:schemeClr val="accent1">
              <a:alpha val="2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Rounded Corners 26">
            <a:extLst>
              <a:ext uri="{FF2B5EF4-FFF2-40B4-BE49-F238E27FC236}">
                <a16:creationId xmlns:a16="http://schemas.microsoft.com/office/drawing/2014/main" id="{993ADD43-3E55-4AE7-93DA-94E5432A59A0}"/>
              </a:ext>
            </a:extLst>
          </p:cNvPr>
          <p:cNvSpPr/>
          <p:nvPr/>
        </p:nvSpPr>
        <p:spPr>
          <a:xfrm>
            <a:off x="5939238" y="3571198"/>
            <a:ext cx="329624" cy="276335"/>
          </a:xfrm>
          <a:prstGeom prst="roundRect">
            <a:avLst/>
          </a:prstGeom>
          <a:solidFill>
            <a:schemeClr val="accent1">
              <a:alpha val="2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extBox 27">
            <a:extLst>
              <a:ext uri="{FF2B5EF4-FFF2-40B4-BE49-F238E27FC236}">
                <a16:creationId xmlns:a16="http://schemas.microsoft.com/office/drawing/2014/main" id="{9FFBACA0-51F5-4DCB-9B50-F4B4F3961D51}"/>
              </a:ext>
            </a:extLst>
          </p:cNvPr>
          <p:cNvSpPr txBox="1"/>
          <p:nvPr/>
        </p:nvSpPr>
        <p:spPr>
          <a:xfrm>
            <a:off x="5941989" y="4245871"/>
            <a:ext cx="1096198" cy="461665"/>
          </a:xfrm>
          <a:prstGeom prst="rect">
            <a:avLst/>
          </a:prstGeom>
          <a:noFill/>
        </p:spPr>
        <p:txBody>
          <a:bodyPr wrap="none" rtlCol="0">
            <a:spAutoFit/>
          </a:bodyPr>
          <a:lstStyle/>
          <a:p>
            <a:r>
              <a:rPr lang="en-IN" sz="2400" dirty="0" err="1"/>
              <a:t>XdXac</a:t>
            </a:r>
            <a:endParaRPr lang="en-IN" sz="2400" dirty="0"/>
          </a:p>
        </p:txBody>
      </p:sp>
      <p:cxnSp>
        <p:nvCxnSpPr>
          <p:cNvPr id="29" name="Straight Arrow Connector 28">
            <a:extLst>
              <a:ext uri="{FF2B5EF4-FFF2-40B4-BE49-F238E27FC236}">
                <a16:creationId xmlns:a16="http://schemas.microsoft.com/office/drawing/2014/main" id="{062E1180-8BFF-402B-9980-5C035BBCD4BA}"/>
              </a:ext>
            </a:extLst>
          </p:cNvPr>
          <p:cNvCxnSpPr>
            <a:cxnSpLocks/>
          </p:cNvCxnSpPr>
          <p:nvPr/>
        </p:nvCxnSpPr>
        <p:spPr>
          <a:xfrm flipH="1">
            <a:off x="6525504" y="3903126"/>
            <a:ext cx="4082" cy="423272"/>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e 8">
            <a:extLst>
              <a:ext uri="{FF2B5EF4-FFF2-40B4-BE49-F238E27FC236}">
                <a16:creationId xmlns:a16="http://schemas.microsoft.com/office/drawing/2014/main" id="{021B6E4A-120E-4098-B604-BB6055EFB726}"/>
              </a:ext>
            </a:extLst>
          </p:cNvPr>
          <p:cNvGraphicFramePr>
            <a:graphicFrameLocks noGrp="1"/>
          </p:cNvGraphicFramePr>
          <p:nvPr>
            <p:extLst>
              <p:ext uri="{D42A27DB-BD31-4B8C-83A1-F6EECF244321}">
                <p14:modId xmlns:p14="http://schemas.microsoft.com/office/powerpoint/2010/main" val="1205198192"/>
              </p:ext>
            </p:extLst>
          </p:nvPr>
        </p:nvGraphicFramePr>
        <p:xfrm>
          <a:off x="9032146" y="4226425"/>
          <a:ext cx="2708282" cy="370840"/>
        </p:xfrm>
        <a:graphic>
          <a:graphicData uri="http://schemas.openxmlformats.org/drawingml/2006/table">
            <a:tbl>
              <a:tblPr firstRow="1" bandRow="1">
                <a:tableStyleId>{5940675A-B579-460E-94D1-54222C63F5DA}</a:tableStyleId>
              </a:tblPr>
              <a:tblGrid>
                <a:gridCol w="1354141">
                  <a:extLst>
                    <a:ext uri="{9D8B030D-6E8A-4147-A177-3AD203B41FA5}">
                      <a16:colId xmlns:a16="http://schemas.microsoft.com/office/drawing/2014/main" val="2146095153"/>
                    </a:ext>
                  </a:extLst>
                </a:gridCol>
                <a:gridCol w="1354141">
                  <a:extLst>
                    <a:ext uri="{9D8B030D-6E8A-4147-A177-3AD203B41FA5}">
                      <a16:colId xmlns:a16="http://schemas.microsoft.com/office/drawing/2014/main" val="2961087291"/>
                    </a:ext>
                  </a:extLst>
                </a:gridCol>
              </a:tblGrid>
              <a:tr h="370840">
                <a:tc>
                  <a:txBody>
                    <a:bodyPr/>
                    <a:lstStyle/>
                    <a:p>
                      <a:pPr algn="ctr"/>
                      <a:r>
                        <a:rPr lang="en-IN" dirty="0"/>
                        <a:t>X</a:t>
                      </a:r>
                    </a:p>
                  </a:txBody>
                  <a:tcPr/>
                </a:tc>
                <a:tc>
                  <a:txBody>
                    <a:bodyPr/>
                    <a:lstStyle/>
                    <a:p>
                      <a:pPr algn="ctr"/>
                      <a:r>
                        <a:rPr lang="en-IN" dirty="0"/>
                        <a:t>ZY</a:t>
                      </a:r>
                    </a:p>
                  </a:txBody>
                  <a:tcPr/>
                </a:tc>
                <a:extLst>
                  <a:ext uri="{0D108BD9-81ED-4DB2-BD59-A6C34878D82A}">
                    <a16:rowId xmlns:a16="http://schemas.microsoft.com/office/drawing/2014/main" val="4174863463"/>
                  </a:ext>
                </a:extLst>
              </a:tr>
            </a:tbl>
          </a:graphicData>
        </a:graphic>
      </p:graphicFrame>
    </p:spTree>
    <p:extLst>
      <p:ext uri="{BB962C8B-B14F-4D97-AF65-F5344CB8AC3E}">
        <p14:creationId xmlns:p14="http://schemas.microsoft.com/office/powerpoint/2010/main" val="71433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1" grpId="0"/>
      <p:bldP spid="10" grpId="0" animBg="1"/>
      <p:bldP spid="13" grpId="0" animBg="1"/>
      <p:bldP spid="18" grpId="0"/>
      <p:bldP spid="21" grpId="0" animBg="1"/>
      <p:bldP spid="22" grpId="0" animBg="1"/>
      <p:bldP spid="23" grpId="0"/>
      <p:bldP spid="26" grpId="0" animBg="1"/>
      <p:bldP spid="27" grpId="0" animBg="1"/>
      <p:bldP spid="2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8632F-D999-4DC7-9DBB-BF60F235FF6B}"/>
              </a:ext>
            </a:extLst>
          </p:cNvPr>
          <p:cNvSpPr>
            <a:spLocks noGrp="1"/>
          </p:cNvSpPr>
          <p:nvPr>
            <p:ph type="title"/>
          </p:nvPr>
        </p:nvSpPr>
        <p:spPr/>
        <p:txBody>
          <a:bodyPr>
            <a:normAutofit/>
          </a:bodyPr>
          <a:lstStyle/>
          <a:p>
            <a:r>
              <a:rPr lang="en-IN" dirty="0"/>
              <a:t>Byte Pair Encoding (BPE): Training</a:t>
            </a:r>
          </a:p>
        </p:txBody>
      </p:sp>
      <p:sp>
        <p:nvSpPr>
          <p:cNvPr id="4" name="Slide Number Placeholder 3">
            <a:extLst>
              <a:ext uri="{FF2B5EF4-FFF2-40B4-BE49-F238E27FC236}">
                <a16:creationId xmlns:a16="http://schemas.microsoft.com/office/drawing/2014/main" id="{D6E23233-1F1B-409F-B03F-87F5EBBE9111}"/>
              </a:ext>
            </a:extLst>
          </p:cNvPr>
          <p:cNvSpPr>
            <a:spLocks noGrp="1"/>
          </p:cNvSpPr>
          <p:nvPr>
            <p:ph type="sldNum" sz="quarter" idx="12"/>
          </p:nvPr>
        </p:nvSpPr>
        <p:spPr/>
        <p:txBody>
          <a:bodyPr/>
          <a:lstStyle/>
          <a:p>
            <a:fld id="{FF2BD96E-3838-45D2-9031-D3AF67C920A5}" type="slidenum">
              <a:rPr lang="en-US" smtClean="0"/>
              <a:t>7</a:t>
            </a:fld>
            <a:endParaRPr lang="en-US"/>
          </a:p>
        </p:txBody>
      </p:sp>
      <p:sp>
        <p:nvSpPr>
          <p:cNvPr id="5" name="TextBox 4">
            <a:extLst>
              <a:ext uri="{FF2B5EF4-FFF2-40B4-BE49-F238E27FC236}">
                <a16:creationId xmlns:a16="http://schemas.microsoft.com/office/drawing/2014/main" id="{8948AC8F-2893-4A57-A00D-1785AA0934D2}"/>
              </a:ext>
            </a:extLst>
          </p:cNvPr>
          <p:cNvSpPr txBox="1"/>
          <p:nvPr/>
        </p:nvSpPr>
        <p:spPr>
          <a:xfrm>
            <a:off x="4691270" y="1033669"/>
            <a:ext cx="1941814" cy="461665"/>
          </a:xfrm>
          <a:prstGeom prst="rect">
            <a:avLst/>
          </a:prstGeom>
          <a:noFill/>
        </p:spPr>
        <p:txBody>
          <a:bodyPr wrap="none" rtlCol="0">
            <a:spAutoFit/>
          </a:bodyPr>
          <a:lstStyle/>
          <a:p>
            <a:r>
              <a:rPr lang="en-IN" sz="2400" dirty="0">
                <a:solidFill>
                  <a:srgbClr val="C00000"/>
                </a:solidFill>
              </a:rPr>
              <a:t>Tokenization</a:t>
            </a:r>
          </a:p>
        </p:txBody>
      </p:sp>
      <p:sp>
        <p:nvSpPr>
          <p:cNvPr id="6" name="TextBox 5">
            <a:extLst>
              <a:ext uri="{FF2B5EF4-FFF2-40B4-BE49-F238E27FC236}">
                <a16:creationId xmlns:a16="http://schemas.microsoft.com/office/drawing/2014/main" id="{E2A5AEA3-8D4B-4C29-9D8F-41D24785B559}"/>
              </a:ext>
            </a:extLst>
          </p:cNvPr>
          <p:cNvSpPr txBox="1"/>
          <p:nvPr/>
        </p:nvSpPr>
        <p:spPr>
          <a:xfrm>
            <a:off x="854766" y="1603512"/>
            <a:ext cx="5324471" cy="400110"/>
          </a:xfrm>
          <a:prstGeom prst="rect">
            <a:avLst/>
          </a:prstGeom>
          <a:noFill/>
        </p:spPr>
        <p:txBody>
          <a:bodyPr wrap="none" rtlCol="0">
            <a:spAutoFit/>
          </a:bodyPr>
          <a:lstStyle/>
          <a:p>
            <a:r>
              <a:rPr lang="en-IN" sz="2000" dirty="0">
                <a:solidFill>
                  <a:srgbClr val="0070C0"/>
                </a:solidFill>
              </a:rPr>
              <a:t>Pat </a:t>
            </a:r>
            <a:r>
              <a:rPr lang="en-IN" sz="2000" dirty="0" err="1">
                <a:solidFill>
                  <a:srgbClr val="0070C0"/>
                </a:solidFill>
              </a:rPr>
              <a:t>pat</a:t>
            </a:r>
            <a:r>
              <a:rPr lang="en-IN" sz="2000" dirty="0">
                <a:solidFill>
                  <a:srgbClr val="0070C0"/>
                </a:solidFill>
              </a:rPr>
              <a:t> cat sat on mat cat sat on mat with pat</a:t>
            </a:r>
          </a:p>
        </p:txBody>
      </p:sp>
      <p:sp>
        <p:nvSpPr>
          <p:cNvPr id="7" name="TextBox 6">
            <a:extLst>
              <a:ext uri="{FF2B5EF4-FFF2-40B4-BE49-F238E27FC236}">
                <a16:creationId xmlns:a16="http://schemas.microsoft.com/office/drawing/2014/main" id="{412D13C3-BBBC-4D01-B3AB-D69C403C5FB1}"/>
              </a:ext>
            </a:extLst>
          </p:cNvPr>
          <p:cNvSpPr txBox="1"/>
          <p:nvPr/>
        </p:nvSpPr>
        <p:spPr>
          <a:xfrm>
            <a:off x="854765" y="1988689"/>
            <a:ext cx="8453853" cy="400110"/>
          </a:xfrm>
          <a:prstGeom prst="rect">
            <a:avLst/>
          </a:prstGeom>
          <a:noFill/>
        </p:spPr>
        <p:txBody>
          <a:bodyPr wrap="none" rtlCol="0">
            <a:spAutoFit/>
          </a:bodyPr>
          <a:lstStyle/>
          <a:p>
            <a:r>
              <a:rPr lang="en-IN" sz="2000" dirty="0"/>
              <a:t>Convert text to lowercase. Replace whitespace with a special symbol ␣</a:t>
            </a:r>
          </a:p>
        </p:txBody>
      </p:sp>
      <p:sp>
        <p:nvSpPr>
          <p:cNvPr id="9" name="TextBox 8">
            <a:extLst>
              <a:ext uri="{FF2B5EF4-FFF2-40B4-BE49-F238E27FC236}">
                <a16:creationId xmlns:a16="http://schemas.microsoft.com/office/drawing/2014/main" id="{DC2467EE-F414-46AB-A185-DA219087AC06}"/>
              </a:ext>
            </a:extLst>
          </p:cNvPr>
          <p:cNvSpPr txBox="1"/>
          <p:nvPr/>
        </p:nvSpPr>
        <p:spPr>
          <a:xfrm>
            <a:off x="1120637" y="2464853"/>
            <a:ext cx="10070824" cy="369332"/>
          </a:xfrm>
          <a:prstGeom prst="rect">
            <a:avLst/>
          </a:prstGeom>
          <a:noFill/>
        </p:spPr>
        <p:txBody>
          <a:bodyPr wrap="square">
            <a:spAutoFit/>
          </a:bodyPr>
          <a:lstStyle/>
          <a:p>
            <a:r>
              <a:rPr lang="en-IN" dirty="0"/>
              <a:t>[pat␣], [pat␣], [cat␣], [sat␣], [on␣], [mat␣], [cat␣], [sat␣], [on␣], [mat␣], [with␣], [pat␣]</a:t>
            </a:r>
          </a:p>
        </p:txBody>
      </p:sp>
      <p:sp>
        <p:nvSpPr>
          <p:cNvPr id="11" name="TextBox 10">
            <a:extLst>
              <a:ext uri="{FF2B5EF4-FFF2-40B4-BE49-F238E27FC236}">
                <a16:creationId xmlns:a16="http://schemas.microsoft.com/office/drawing/2014/main" id="{8BB50924-F8BF-4FA6-AD91-88379A9F7B43}"/>
              </a:ext>
            </a:extLst>
          </p:cNvPr>
          <p:cNvSpPr txBox="1"/>
          <p:nvPr/>
        </p:nvSpPr>
        <p:spPr>
          <a:xfrm>
            <a:off x="854765" y="3088220"/>
            <a:ext cx="9859618" cy="400110"/>
          </a:xfrm>
          <a:prstGeom prst="rect">
            <a:avLst/>
          </a:prstGeom>
          <a:noFill/>
        </p:spPr>
        <p:txBody>
          <a:bodyPr wrap="square">
            <a:spAutoFit/>
          </a:bodyPr>
          <a:lstStyle/>
          <a:p>
            <a:r>
              <a:rPr lang="en-US" sz="2000" dirty="0"/>
              <a:t>Tokenize at every character boundary. Build vocabulary with each unique character</a:t>
            </a:r>
            <a:endParaRPr lang="en-IN" sz="2000" dirty="0"/>
          </a:p>
        </p:txBody>
      </p:sp>
      <p:sp>
        <p:nvSpPr>
          <p:cNvPr id="13" name="TextBox 12">
            <a:extLst>
              <a:ext uri="{FF2B5EF4-FFF2-40B4-BE49-F238E27FC236}">
                <a16:creationId xmlns:a16="http://schemas.microsoft.com/office/drawing/2014/main" id="{F01C88EB-06AB-4971-A016-F64ED4FF082F}"/>
              </a:ext>
            </a:extLst>
          </p:cNvPr>
          <p:cNvSpPr txBox="1"/>
          <p:nvPr/>
        </p:nvSpPr>
        <p:spPr>
          <a:xfrm>
            <a:off x="1408870" y="3928688"/>
            <a:ext cx="8131055" cy="1015663"/>
          </a:xfrm>
          <a:prstGeom prst="rect">
            <a:avLst/>
          </a:prstGeom>
          <a:noFill/>
        </p:spPr>
        <p:txBody>
          <a:bodyPr wrap="square">
            <a:spAutoFit/>
          </a:bodyPr>
          <a:lstStyle/>
          <a:p>
            <a:r>
              <a:rPr lang="en-IN" sz="2000" dirty="0"/>
              <a:t>[['p', 'a', 't', '␣'], ['p', 'a', 't', '␣'], ['c', 'a', 't', '␣'], ['s', 'a', 't', '␣'],</a:t>
            </a:r>
          </a:p>
          <a:p>
            <a:r>
              <a:rPr lang="en-IN" sz="2000" dirty="0"/>
              <a:t> ['o', 'n', '␣'], ['m', 'a', 't', '␣'], ['c', 'a', 't', '␣'], ['s', 'a', 't', '␣'], </a:t>
            </a:r>
          </a:p>
          <a:p>
            <a:r>
              <a:rPr lang="en-IN" sz="2000" dirty="0"/>
              <a:t> ['o', 'n', '␣'], ['m', 'a', 't', '␣'], ['w', '</a:t>
            </a:r>
            <a:r>
              <a:rPr lang="en-IN" sz="2000" dirty="0" err="1"/>
              <a:t>i</a:t>
            </a:r>
            <a:r>
              <a:rPr lang="en-IN" sz="2000" dirty="0"/>
              <a:t>', 't', 'h', '␣'], ['p', 'a', 't', '␣']]</a:t>
            </a:r>
          </a:p>
        </p:txBody>
      </p:sp>
      <p:sp>
        <p:nvSpPr>
          <p:cNvPr id="15" name="TextBox 14">
            <a:extLst>
              <a:ext uri="{FF2B5EF4-FFF2-40B4-BE49-F238E27FC236}">
                <a16:creationId xmlns:a16="http://schemas.microsoft.com/office/drawing/2014/main" id="{60062FE1-434F-4CDE-826A-DB3ECA29496E}"/>
              </a:ext>
            </a:extLst>
          </p:cNvPr>
          <p:cNvSpPr txBox="1"/>
          <p:nvPr/>
        </p:nvSpPr>
        <p:spPr>
          <a:xfrm>
            <a:off x="854765" y="3498456"/>
            <a:ext cx="2510604" cy="400110"/>
          </a:xfrm>
          <a:prstGeom prst="rect">
            <a:avLst/>
          </a:prstGeom>
          <a:noFill/>
        </p:spPr>
        <p:txBody>
          <a:bodyPr wrap="square">
            <a:spAutoFit/>
          </a:bodyPr>
          <a:lstStyle/>
          <a:p>
            <a:r>
              <a:rPr lang="en-IN" sz="2000" dirty="0"/>
              <a:t>INITIAL TOKENS:</a:t>
            </a:r>
          </a:p>
        </p:txBody>
      </p:sp>
      <p:sp>
        <p:nvSpPr>
          <p:cNvPr id="17" name="TextBox 16">
            <a:extLst>
              <a:ext uri="{FF2B5EF4-FFF2-40B4-BE49-F238E27FC236}">
                <a16:creationId xmlns:a16="http://schemas.microsoft.com/office/drawing/2014/main" id="{240ABD2A-D7B1-4B88-8728-FA8A81788660}"/>
              </a:ext>
            </a:extLst>
          </p:cNvPr>
          <p:cNvSpPr txBox="1"/>
          <p:nvPr/>
        </p:nvSpPr>
        <p:spPr>
          <a:xfrm>
            <a:off x="854765" y="5113961"/>
            <a:ext cx="2397482" cy="369332"/>
          </a:xfrm>
          <a:prstGeom prst="rect">
            <a:avLst/>
          </a:prstGeom>
          <a:noFill/>
        </p:spPr>
        <p:txBody>
          <a:bodyPr wrap="square">
            <a:spAutoFit/>
          </a:bodyPr>
          <a:lstStyle/>
          <a:p>
            <a:r>
              <a:rPr lang="en-IN" dirty="0"/>
              <a:t>INITIAL VOCAB:</a:t>
            </a:r>
          </a:p>
        </p:txBody>
      </p:sp>
      <p:sp>
        <p:nvSpPr>
          <p:cNvPr id="19" name="TextBox 18">
            <a:extLst>
              <a:ext uri="{FF2B5EF4-FFF2-40B4-BE49-F238E27FC236}">
                <a16:creationId xmlns:a16="http://schemas.microsoft.com/office/drawing/2014/main" id="{3420B55B-0655-47D0-9024-F81BB7A89AC3}"/>
              </a:ext>
            </a:extLst>
          </p:cNvPr>
          <p:cNvSpPr txBox="1"/>
          <p:nvPr/>
        </p:nvSpPr>
        <p:spPr>
          <a:xfrm>
            <a:off x="1319419" y="5503053"/>
            <a:ext cx="4859818" cy="369332"/>
          </a:xfrm>
          <a:prstGeom prst="rect">
            <a:avLst/>
          </a:prstGeom>
          <a:noFill/>
        </p:spPr>
        <p:txBody>
          <a:bodyPr wrap="square">
            <a:spAutoFit/>
          </a:bodyPr>
          <a:lstStyle/>
          <a:p>
            <a:r>
              <a:rPr lang="en-IN" dirty="0"/>
              <a:t>['a', 'c', 'h', '</a:t>
            </a:r>
            <a:r>
              <a:rPr lang="en-IN" dirty="0" err="1"/>
              <a:t>i</a:t>
            </a:r>
            <a:r>
              <a:rPr lang="en-IN" dirty="0"/>
              <a:t>', 'm', 'n', 'o', 'p', 's', 't', 'w', '␣']</a:t>
            </a:r>
          </a:p>
        </p:txBody>
      </p:sp>
    </p:spTree>
    <p:extLst>
      <p:ext uri="{BB962C8B-B14F-4D97-AF65-F5344CB8AC3E}">
        <p14:creationId xmlns:p14="http://schemas.microsoft.com/office/powerpoint/2010/main" val="4071249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1" grpId="0"/>
      <p:bldP spid="13" grpId="0"/>
      <p:bldP spid="15" grpId="0"/>
      <p:bldP spid="17" grpId="0"/>
      <p:bldP spid="1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7A79E-2B11-42AB-8EB5-F4BF8F137EA7}"/>
              </a:ext>
            </a:extLst>
          </p:cNvPr>
          <p:cNvSpPr>
            <a:spLocks noGrp="1"/>
          </p:cNvSpPr>
          <p:nvPr>
            <p:ph type="title"/>
          </p:nvPr>
        </p:nvSpPr>
        <p:spPr/>
        <p:txBody>
          <a:bodyPr/>
          <a:lstStyle/>
          <a:p>
            <a:r>
              <a:rPr lang="en-IN" dirty="0"/>
              <a:t>Byte Pair Encoding (BPE)</a:t>
            </a:r>
          </a:p>
        </p:txBody>
      </p:sp>
      <p:sp>
        <p:nvSpPr>
          <p:cNvPr id="4" name="Slide Number Placeholder 3">
            <a:extLst>
              <a:ext uri="{FF2B5EF4-FFF2-40B4-BE49-F238E27FC236}">
                <a16:creationId xmlns:a16="http://schemas.microsoft.com/office/drawing/2014/main" id="{BA9A3280-0B5C-426A-9B38-AD51C142C662}"/>
              </a:ext>
            </a:extLst>
          </p:cNvPr>
          <p:cNvSpPr>
            <a:spLocks noGrp="1"/>
          </p:cNvSpPr>
          <p:nvPr>
            <p:ph type="sldNum" sz="quarter" idx="12"/>
          </p:nvPr>
        </p:nvSpPr>
        <p:spPr/>
        <p:txBody>
          <a:bodyPr/>
          <a:lstStyle/>
          <a:p>
            <a:fld id="{FF2BD96E-3838-45D2-9031-D3AF67C920A5}" type="slidenum">
              <a:rPr lang="en-US" smtClean="0"/>
              <a:t>8</a:t>
            </a:fld>
            <a:endParaRPr lang="en-US"/>
          </a:p>
        </p:txBody>
      </p:sp>
      <p:graphicFrame>
        <p:nvGraphicFramePr>
          <p:cNvPr id="5" name="Table 20">
            <a:extLst>
              <a:ext uri="{FF2B5EF4-FFF2-40B4-BE49-F238E27FC236}">
                <a16:creationId xmlns:a16="http://schemas.microsoft.com/office/drawing/2014/main" id="{00192F12-167F-42A5-92C8-DFD6A7BE3C54}"/>
              </a:ext>
            </a:extLst>
          </p:cNvPr>
          <p:cNvGraphicFramePr>
            <a:graphicFrameLocks noGrp="1"/>
          </p:cNvGraphicFramePr>
          <p:nvPr>
            <p:extLst>
              <p:ext uri="{D42A27DB-BD31-4B8C-83A1-F6EECF244321}">
                <p14:modId xmlns:p14="http://schemas.microsoft.com/office/powerpoint/2010/main" val="1390342821"/>
              </p:ext>
            </p:extLst>
          </p:nvPr>
        </p:nvGraphicFramePr>
        <p:xfrm>
          <a:off x="7786756" y="1087416"/>
          <a:ext cx="2609574" cy="4820920"/>
        </p:xfrm>
        <a:graphic>
          <a:graphicData uri="http://schemas.openxmlformats.org/drawingml/2006/table">
            <a:tbl>
              <a:tblPr firstRow="1" bandRow="1">
                <a:tableStyleId>{5940675A-B579-460E-94D1-54222C63F5DA}</a:tableStyleId>
              </a:tblPr>
              <a:tblGrid>
                <a:gridCol w="1307548">
                  <a:extLst>
                    <a:ext uri="{9D8B030D-6E8A-4147-A177-3AD203B41FA5}">
                      <a16:colId xmlns:a16="http://schemas.microsoft.com/office/drawing/2014/main" val="2606537423"/>
                    </a:ext>
                  </a:extLst>
                </a:gridCol>
                <a:gridCol w="1302026">
                  <a:extLst>
                    <a:ext uri="{9D8B030D-6E8A-4147-A177-3AD203B41FA5}">
                      <a16:colId xmlns:a16="http://schemas.microsoft.com/office/drawing/2014/main" val="1993236031"/>
                    </a:ext>
                  </a:extLst>
                </a:gridCol>
              </a:tblGrid>
              <a:tr h="370840">
                <a:tc>
                  <a:txBody>
                    <a:bodyPr/>
                    <a:lstStyle/>
                    <a:p>
                      <a:r>
                        <a:rPr lang="en-IN" dirty="0"/>
                        <a:t>Token</a:t>
                      </a:r>
                    </a:p>
                  </a:txBody>
                  <a:tcPr/>
                </a:tc>
                <a:tc>
                  <a:txBody>
                    <a:bodyPr/>
                    <a:lstStyle/>
                    <a:p>
                      <a:r>
                        <a:rPr lang="en-IN" dirty="0"/>
                        <a:t>Frequency</a:t>
                      </a:r>
                    </a:p>
                  </a:txBody>
                  <a:tcPr/>
                </a:tc>
                <a:extLst>
                  <a:ext uri="{0D108BD9-81ED-4DB2-BD59-A6C34878D82A}">
                    <a16:rowId xmlns:a16="http://schemas.microsoft.com/office/drawing/2014/main" val="3800187281"/>
                  </a:ext>
                </a:extLst>
              </a:tr>
              <a:tr h="370840">
                <a:tc>
                  <a:txBody>
                    <a:bodyPr/>
                    <a:lstStyle/>
                    <a:p>
                      <a:pPr algn="ctr"/>
                      <a:r>
                        <a:rPr lang="en-IN" dirty="0"/>
                        <a:t>a</a:t>
                      </a:r>
                    </a:p>
                  </a:txBody>
                  <a:tcPr/>
                </a:tc>
                <a:tc>
                  <a:txBody>
                    <a:bodyPr/>
                    <a:lstStyle/>
                    <a:p>
                      <a:pPr algn="ctr"/>
                      <a:r>
                        <a:rPr lang="en-IN" dirty="0"/>
                        <a:t>9</a:t>
                      </a:r>
                    </a:p>
                  </a:txBody>
                  <a:tcPr/>
                </a:tc>
                <a:extLst>
                  <a:ext uri="{0D108BD9-81ED-4DB2-BD59-A6C34878D82A}">
                    <a16:rowId xmlns:a16="http://schemas.microsoft.com/office/drawing/2014/main" val="2383089832"/>
                  </a:ext>
                </a:extLst>
              </a:tr>
              <a:tr h="370840">
                <a:tc>
                  <a:txBody>
                    <a:bodyPr/>
                    <a:lstStyle/>
                    <a:p>
                      <a:pPr algn="ctr"/>
                      <a:r>
                        <a:rPr lang="en-IN" dirty="0"/>
                        <a:t>c</a:t>
                      </a:r>
                    </a:p>
                  </a:txBody>
                  <a:tcPr/>
                </a:tc>
                <a:tc>
                  <a:txBody>
                    <a:bodyPr/>
                    <a:lstStyle/>
                    <a:p>
                      <a:pPr algn="ctr"/>
                      <a:r>
                        <a:rPr lang="en-IN" dirty="0"/>
                        <a:t>2</a:t>
                      </a:r>
                    </a:p>
                  </a:txBody>
                  <a:tcPr/>
                </a:tc>
                <a:extLst>
                  <a:ext uri="{0D108BD9-81ED-4DB2-BD59-A6C34878D82A}">
                    <a16:rowId xmlns:a16="http://schemas.microsoft.com/office/drawing/2014/main" val="948174216"/>
                  </a:ext>
                </a:extLst>
              </a:tr>
              <a:tr h="370840">
                <a:tc>
                  <a:txBody>
                    <a:bodyPr/>
                    <a:lstStyle/>
                    <a:p>
                      <a:pPr algn="ctr"/>
                      <a:r>
                        <a:rPr lang="en-IN" dirty="0"/>
                        <a:t>h</a:t>
                      </a:r>
                    </a:p>
                  </a:txBody>
                  <a:tcPr/>
                </a:tc>
                <a:tc>
                  <a:txBody>
                    <a:bodyPr/>
                    <a:lstStyle/>
                    <a:p>
                      <a:pPr algn="ctr"/>
                      <a:r>
                        <a:rPr lang="en-IN" dirty="0"/>
                        <a:t>1</a:t>
                      </a:r>
                    </a:p>
                  </a:txBody>
                  <a:tcPr/>
                </a:tc>
                <a:extLst>
                  <a:ext uri="{0D108BD9-81ED-4DB2-BD59-A6C34878D82A}">
                    <a16:rowId xmlns:a16="http://schemas.microsoft.com/office/drawing/2014/main" val="2997842419"/>
                  </a:ext>
                </a:extLst>
              </a:tr>
              <a:tr h="370840">
                <a:tc>
                  <a:txBody>
                    <a:bodyPr/>
                    <a:lstStyle/>
                    <a:p>
                      <a:pPr algn="ctr"/>
                      <a:r>
                        <a:rPr lang="en-IN" dirty="0" err="1"/>
                        <a:t>i</a:t>
                      </a:r>
                      <a:endParaRPr lang="en-IN" dirty="0"/>
                    </a:p>
                  </a:txBody>
                  <a:tcPr/>
                </a:tc>
                <a:tc>
                  <a:txBody>
                    <a:bodyPr/>
                    <a:lstStyle/>
                    <a:p>
                      <a:pPr algn="ctr"/>
                      <a:r>
                        <a:rPr lang="en-IN" dirty="0"/>
                        <a:t>1</a:t>
                      </a:r>
                    </a:p>
                  </a:txBody>
                  <a:tcPr/>
                </a:tc>
                <a:extLst>
                  <a:ext uri="{0D108BD9-81ED-4DB2-BD59-A6C34878D82A}">
                    <a16:rowId xmlns:a16="http://schemas.microsoft.com/office/drawing/2014/main" val="2650249721"/>
                  </a:ext>
                </a:extLst>
              </a:tr>
              <a:tr h="370840">
                <a:tc>
                  <a:txBody>
                    <a:bodyPr/>
                    <a:lstStyle/>
                    <a:p>
                      <a:pPr algn="ctr"/>
                      <a:r>
                        <a:rPr lang="en-IN" dirty="0"/>
                        <a:t>m</a:t>
                      </a:r>
                    </a:p>
                  </a:txBody>
                  <a:tcPr/>
                </a:tc>
                <a:tc>
                  <a:txBody>
                    <a:bodyPr/>
                    <a:lstStyle/>
                    <a:p>
                      <a:pPr algn="ctr"/>
                      <a:r>
                        <a:rPr lang="en-IN" dirty="0"/>
                        <a:t>2</a:t>
                      </a:r>
                    </a:p>
                  </a:txBody>
                  <a:tcPr/>
                </a:tc>
                <a:extLst>
                  <a:ext uri="{0D108BD9-81ED-4DB2-BD59-A6C34878D82A}">
                    <a16:rowId xmlns:a16="http://schemas.microsoft.com/office/drawing/2014/main" val="3507577262"/>
                  </a:ext>
                </a:extLst>
              </a:tr>
              <a:tr h="370840">
                <a:tc>
                  <a:txBody>
                    <a:bodyPr/>
                    <a:lstStyle/>
                    <a:p>
                      <a:pPr algn="ctr"/>
                      <a:r>
                        <a:rPr lang="en-IN" dirty="0"/>
                        <a:t>n</a:t>
                      </a:r>
                    </a:p>
                  </a:txBody>
                  <a:tcPr/>
                </a:tc>
                <a:tc>
                  <a:txBody>
                    <a:bodyPr/>
                    <a:lstStyle/>
                    <a:p>
                      <a:pPr algn="ctr"/>
                      <a:r>
                        <a:rPr lang="en-IN" dirty="0"/>
                        <a:t>2</a:t>
                      </a:r>
                    </a:p>
                  </a:txBody>
                  <a:tcPr/>
                </a:tc>
                <a:extLst>
                  <a:ext uri="{0D108BD9-81ED-4DB2-BD59-A6C34878D82A}">
                    <a16:rowId xmlns:a16="http://schemas.microsoft.com/office/drawing/2014/main" val="3323913156"/>
                  </a:ext>
                </a:extLst>
              </a:tr>
              <a:tr h="370840">
                <a:tc>
                  <a:txBody>
                    <a:bodyPr/>
                    <a:lstStyle/>
                    <a:p>
                      <a:pPr algn="ctr"/>
                      <a:r>
                        <a:rPr lang="en-IN" dirty="0"/>
                        <a:t>o</a:t>
                      </a:r>
                    </a:p>
                  </a:txBody>
                  <a:tcPr/>
                </a:tc>
                <a:tc>
                  <a:txBody>
                    <a:bodyPr/>
                    <a:lstStyle/>
                    <a:p>
                      <a:pPr algn="ctr"/>
                      <a:r>
                        <a:rPr lang="en-IN" dirty="0"/>
                        <a:t>2</a:t>
                      </a:r>
                    </a:p>
                  </a:txBody>
                  <a:tcPr/>
                </a:tc>
                <a:extLst>
                  <a:ext uri="{0D108BD9-81ED-4DB2-BD59-A6C34878D82A}">
                    <a16:rowId xmlns:a16="http://schemas.microsoft.com/office/drawing/2014/main" val="3493800237"/>
                  </a:ext>
                </a:extLst>
              </a:tr>
              <a:tr h="370840">
                <a:tc>
                  <a:txBody>
                    <a:bodyPr/>
                    <a:lstStyle/>
                    <a:p>
                      <a:pPr algn="ctr"/>
                      <a:r>
                        <a:rPr lang="en-IN" dirty="0"/>
                        <a:t>p</a:t>
                      </a:r>
                    </a:p>
                  </a:txBody>
                  <a:tcPr/>
                </a:tc>
                <a:tc>
                  <a:txBody>
                    <a:bodyPr/>
                    <a:lstStyle/>
                    <a:p>
                      <a:pPr algn="ctr"/>
                      <a:r>
                        <a:rPr lang="en-IN" dirty="0"/>
                        <a:t>3</a:t>
                      </a:r>
                    </a:p>
                  </a:txBody>
                  <a:tcPr/>
                </a:tc>
                <a:extLst>
                  <a:ext uri="{0D108BD9-81ED-4DB2-BD59-A6C34878D82A}">
                    <a16:rowId xmlns:a16="http://schemas.microsoft.com/office/drawing/2014/main" val="138254936"/>
                  </a:ext>
                </a:extLst>
              </a:tr>
              <a:tr h="370840">
                <a:tc>
                  <a:txBody>
                    <a:bodyPr/>
                    <a:lstStyle/>
                    <a:p>
                      <a:pPr algn="ctr"/>
                      <a:r>
                        <a:rPr lang="en-IN" dirty="0"/>
                        <a:t>s</a:t>
                      </a:r>
                    </a:p>
                  </a:txBody>
                  <a:tcPr/>
                </a:tc>
                <a:tc>
                  <a:txBody>
                    <a:bodyPr/>
                    <a:lstStyle/>
                    <a:p>
                      <a:pPr algn="ctr"/>
                      <a:r>
                        <a:rPr lang="en-IN" dirty="0"/>
                        <a:t>2</a:t>
                      </a:r>
                    </a:p>
                  </a:txBody>
                  <a:tcPr/>
                </a:tc>
                <a:extLst>
                  <a:ext uri="{0D108BD9-81ED-4DB2-BD59-A6C34878D82A}">
                    <a16:rowId xmlns:a16="http://schemas.microsoft.com/office/drawing/2014/main" val="3513394123"/>
                  </a:ext>
                </a:extLst>
              </a:tr>
              <a:tr h="370840">
                <a:tc>
                  <a:txBody>
                    <a:bodyPr/>
                    <a:lstStyle/>
                    <a:p>
                      <a:pPr algn="ctr"/>
                      <a:r>
                        <a:rPr lang="en-IN" dirty="0"/>
                        <a:t>w</a:t>
                      </a:r>
                    </a:p>
                  </a:txBody>
                  <a:tcPr/>
                </a:tc>
                <a:tc>
                  <a:txBody>
                    <a:bodyPr/>
                    <a:lstStyle/>
                    <a:p>
                      <a:pPr algn="ctr"/>
                      <a:r>
                        <a:rPr lang="en-IN" dirty="0"/>
                        <a:t>1</a:t>
                      </a:r>
                    </a:p>
                  </a:txBody>
                  <a:tcPr/>
                </a:tc>
                <a:extLst>
                  <a:ext uri="{0D108BD9-81ED-4DB2-BD59-A6C34878D82A}">
                    <a16:rowId xmlns:a16="http://schemas.microsoft.com/office/drawing/2014/main" val="3577659322"/>
                  </a:ext>
                </a:extLst>
              </a:tr>
              <a:tr h="370840">
                <a:tc>
                  <a:txBody>
                    <a:bodyPr/>
                    <a:lstStyle/>
                    <a:p>
                      <a:pPr algn="ctr"/>
                      <a:r>
                        <a:rPr lang="en-IN" dirty="0"/>
                        <a:t>t</a:t>
                      </a:r>
                    </a:p>
                  </a:txBody>
                  <a:tcPr/>
                </a:tc>
                <a:tc>
                  <a:txBody>
                    <a:bodyPr/>
                    <a:lstStyle/>
                    <a:p>
                      <a:pPr algn="ctr"/>
                      <a:r>
                        <a:rPr lang="en-IN" dirty="0"/>
                        <a:t>10</a:t>
                      </a:r>
                    </a:p>
                  </a:txBody>
                  <a:tcPr/>
                </a:tc>
                <a:extLst>
                  <a:ext uri="{0D108BD9-81ED-4DB2-BD59-A6C34878D82A}">
                    <a16:rowId xmlns:a16="http://schemas.microsoft.com/office/drawing/2014/main" val="2150499092"/>
                  </a:ext>
                </a:extLst>
              </a:tr>
              <a:tr h="370840">
                <a:tc>
                  <a:txBody>
                    <a:bodyPr/>
                    <a:lstStyle/>
                    <a:p>
                      <a:pPr algn="ctr"/>
                      <a:r>
                        <a:rPr lang="en-IN" dirty="0"/>
                        <a:t>␣</a:t>
                      </a:r>
                    </a:p>
                  </a:txBody>
                  <a:tcPr/>
                </a:tc>
                <a:tc>
                  <a:txBody>
                    <a:bodyPr/>
                    <a:lstStyle/>
                    <a:p>
                      <a:pPr algn="ctr"/>
                      <a:r>
                        <a:rPr lang="en-IN" dirty="0"/>
                        <a:t>12</a:t>
                      </a:r>
                    </a:p>
                  </a:txBody>
                  <a:tcPr/>
                </a:tc>
                <a:extLst>
                  <a:ext uri="{0D108BD9-81ED-4DB2-BD59-A6C34878D82A}">
                    <a16:rowId xmlns:a16="http://schemas.microsoft.com/office/drawing/2014/main" val="3513143497"/>
                  </a:ext>
                </a:extLst>
              </a:tr>
            </a:tbl>
          </a:graphicData>
        </a:graphic>
      </p:graphicFrame>
      <p:sp>
        <p:nvSpPr>
          <p:cNvPr id="6" name="TextBox 5">
            <a:extLst>
              <a:ext uri="{FF2B5EF4-FFF2-40B4-BE49-F238E27FC236}">
                <a16:creationId xmlns:a16="http://schemas.microsoft.com/office/drawing/2014/main" id="{E7F208CA-FB4F-43FF-9D80-1E6565C429F0}"/>
              </a:ext>
            </a:extLst>
          </p:cNvPr>
          <p:cNvSpPr txBox="1"/>
          <p:nvPr/>
        </p:nvSpPr>
        <p:spPr>
          <a:xfrm>
            <a:off x="535432" y="1938014"/>
            <a:ext cx="6097656" cy="369332"/>
          </a:xfrm>
          <a:prstGeom prst="rect">
            <a:avLst/>
          </a:prstGeom>
          <a:noFill/>
        </p:spPr>
        <p:txBody>
          <a:bodyPr wrap="square">
            <a:spAutoFit/>
          </a:bodyPr>
          <a:lstStyle/>
          <a:p>
            <a:r>
              <a:rPr lang="en-IN" dirty="0"/>
              <a:t>INITIAL TOKENS:</a:t>
            </a:r>
          </a:p>
        </p:txBody>
      </p:sp>
      <p:sp>
        <p:nvSpPr>
          <p:cNvPr id="7" name="TextBox 6">
            <a:extLst>
              <a:ext uri="{FF2B5EF4-FFF2-40B4-BE49-F238E27FC236}">
                <a16:creationId xmlns:a16="http://schemas.microsoft.com/office/drawing/2014/main" id="{3797E832-7459-4C9A-990E-7BA020E2EB03}"/>
              </a:ext>
            </a:extLst>
          </p:cNvPr>
          <p:cNvSpPr txBox="1"/>
          <p:nvPr/>
        </p:nvSpPr>
        <p:spPr>
          <a:xfrm>
            <a:off x="535432" y="3393262"/>
            <a:ext cx="6097656" cy="369332"/>
          </a:xfrm>
          <a:prstGeom prst="rect">
            <a:avLst/>
          </a:prstGeom>
          <a:noFill/>
        </p:spPr>
        <p:txBody>
          <a:bodyPr wrap="square">
            <a:spAutoFit/>
          </a:bodyPr>
          <a:lstStyle/>
          <a:p>
            <a:r>
              <a:rPr lang="en-IN" dirty="0"/>
              <a:t>INITIAL VOCAB:</a:t>
            </a:r>
          </a:p>
        </p:txBody>
      </p:sp>
      <p:sp>
        <p:nvSpPr>
          <p:cNvPr id="8" name="TextBox 7">
            <a:extLst>
              <a:ext uri="{FF2B5EF4-FFF2-40B4-BE49-F238E27FC236}">
                <a16:creationId xmlns:a16="http://schemas.microsoft.com/office/drawing/2014/main" id="{3E68BEF1-2290-4161-8BBA-9C2D6E90A5A9}"/>
              </a:ext>
            </a:extLst>
          </p:cNvPr>
          <p:cNvSpPr txBox="1"/>
          <p:nvPr/>
        </p:nvSpPr>
        <p:spPr>
          <a:xfrm>
            <a:off x="1000086" y="3782354"/>
            <a:ext cx="6097656" cy="369332"/>
          </a:xfrm>
          <a:prstGeom prst="rect">
            <a:avLst/>
          </a:prstGeom>
          <a:noFill/>
        </p:spPr>
        <p:txBody>
          <a:bodyPr wrap="square">
            <a:spAutoFit/>
          </a:bodyPr>
          <a:lstStyle/>
          <a:p>
            <a:r>
              <a:rPr lang="en-IN" dirty="0"/>
              <a:t>['a', 'c', 'h', '</a:t>
            </a:r>
            <a:r>
              <a:rPr lang="en-IN" dirty="0" err="1"/>
              <a:t>i</a:t>
            </a:r>
            <a:r>
              <a:rPr lang="en-IN" dirty="0"/>
              <a:t>', 'm', 'n', 'o', 'p', 's', 't', 'w', '␣']</a:t>
            </a:r>
          </a:p>
        </p:txBody>
      </p:sp>
      <p:sp>
        <p:nvSpPr>
          <p:cNvPr id="9" name="TextBox 8">
            <a:extLst>
              <a:ext uri="{FF2B5EF4-FFF2-40B4-BE49-F238E27FC236}">
                <a16:creationId xmlns:a16="http://schemas.microsoft.com/office/drawing/2014/main" id="{6B789222-16B9-44A6-BCAA-A00BAF72FC45}"/>
              </a:ext>
            </a:extLst>
          </p:cNvPr>
          <p:cNvSpPr txBox="1"/>
          <p:nvPr/>
        </p:nvSpPr>
        <p:spPr>
          <a:xfrm>
            <a:off x="711850" y="2388639"/>
            <a:ext cx="7074906" cy="923330"/>
          </a:xfrm>
          <a:prstGeom prst="rect">
            <a:avLst/>
          </a:prstGeom>
          <a:noFill/>
        </p:spPr>
        <p:txBody>
          <a:bodyPr wrap="square">
            <a:spAutoFit/>
          </a:bodyPr>
          <a:lstStyle/>
          <a:p>
            <a:r>
              <a:rPr lang="en-IN" dirty="0"/>
              <a:t>[['p', 'a', 't', '␣'], ['p', 'a', 't', '␣'], ['c', 'a', 't', '␣'], ['s', 'a', 't', '␣'],</a:t>
            </a:r>
          </a:p>
          <a:p>
            <a:r>
              <a:rPr lang="en-IN" dirty="0"/>
              <a:t> ['o', 'n', '␣'], ['m', 'a', 't', '␣'], ['c', 'a', 't', '␣'], ['s', 'a', 't', '␣'], </a:t>
            </a:r>
          </a:p>
          <a:p>
            <a:r>
              <a:rPr lang="en-IN" dirty="0"/>
              <a:t> ['o', 'n', '␣'], ['m', 'a', 't', '␣'], ['w', '</a:t>
            </a:r>
            <a:r>
              <a:rPr lang="en-IN" dirty="0" err="1"/>
              <a:t>i</a:t>
            </a:r>
            <a:r>
              <a:rPr lang="en-IN" dirty="0"/>
              <a:t>', 't', 'h', '␣'], ['p', 'a', 't', '␣']]</a:t>
            </a:r>
          </a:p>
        </p:txBody>
      </p:sp>
    </p:spTree>
    <p:extLst>
      <p:ext uri="{BB962C8B-B14F-4D97-AF65-F5344CB8AC3E}">
        <p14:creationId xmlns:p14="http://schemas.microsoft.com/office/powerpoint/2010/main" val="3652516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DF12E-2C3B-4DE4-BBEA-3E7915E4FF93}"/>
              </a:ext>
            </a:extLst>
          </p:cNvPr>
          <p:cNvSpPr>
            <a:spLocks noGrp="1"/>
          </p:cNvSpPr>
          <p:nvPr>
            <p:ph type="title"/>
          </p:nvPr>
        </p:nvSpPr>
        <p:spPr/>
        <p:txBody>
          <a:bodyPr>
            <a:normAutofit/>
          </a:bodyPr>
          <a:lstStyle/>
          <a:p>
            <a:r>
              <a:rPr lang="en-IN" dirty="0"/>
              <a:t>Byte Pair Encoding (BPE): Training</a:t>
            </a:r>
          </a:p>
        </p:txBody>
      </p:sp>
      <p:sp>
        <p:nvSpPr>
          <p:cNvPr id="4" name="Slide Number Placeholder 3">
            <a:extLst>
              <a:ext uri="{FF2B5EF4-FFF2-40B4-BE49-F238E27FC236}">
                <a16:creationId xmlns:a16="http://schemas.microsoft.com/office/drawing/2014/main" id="{EFD2B0A5-6F84-41AA-AFBB-57953663381C}"/>
              </a:ext>
            </a:extLst>
          </p:cNvPr>
          <p:cNvSpPr>
            <a:spLocks noGrp="1"/>
          </p:cNvSpPr>
          <p:nvPr>
            <p:ph type="sldNum" sz="quarter" idx="12"/>
          </p:nvPr>
        </p:nvSpPr>
        <p:spPr/>
        <p:txBody>
          <a:bodyPr/>
          <a:lstStyle/>
          <a:p>
            <a:fld id="{FF2BD96E-3838-45D2-9031-D3AF67C920A5}" type="slidenum">
              <a:rPr lang="en-US" smtClean="0"/>
              <a:t>9</a:t>
            </a:fld>
            <a:endParaRPr lang="en-US"/>
          </a:p>
        </p:txBody>
      </p:sp>
      <p:sp>
        <p:nvSpPr>
          <p:cNvPr id="5" name="TextBox 4">
            <a:extLst>
              <a:ext uri="{FF2B5EF4-FFF2-40B4-BE49-F238E27FC236}">
                <a16:creationId xmlns:a16="http://schemas.microsoft.com/office/drawing/2014/main" id="{0A54B822-A8C8-4E13-A204-30549139F2D7}"/>
              </a:ext>
            </a:extLst>
          </p:cNvPr>
          <p:cNvSpPr txBox="1"/>
          <p:nvPr/>
        </p:nvSpPr>
        <p:spPr>
          <a:xfrm>
            <a:off x="4134678" y="1033669"/>
            <a:ext cx="2629694" cy="461665"/>
          </a:xfrm>
          <a:prstGeom prst="rect">
            <a:avLst/>
          </a:prstGeom>
          <a:noFill/>
        </p:spPr>
        <p:txBody>
          <a:bodyPr wrap="none" rtlCol="0">
            <a:spAutoFit/>
          </a:bodyPr>
          <a:lstStyle/>
          <a:p>
            <a:r>
              <a:rPr lang="en-IN" sz="2400" dirty="0">
                <a:solidFill>
                  <a:srgbClr val="C00000"/>
                </a:solidFill>
              </a:rPr>
              <a:t>Merge Operation</a:t>
            </a:r>
          </a:p>
        </p:txBody>
      </p:sp>
      <p:sp>
        <p:nvSpPr>
          <p:cNvPr id="7" name="TextBox 6">
            <a:extLst>
              <a:ext uri="{FF2B5EF4-FFF2-40B4-BE49-F238E27FC236}">
                <a16:creationId xmlns:a16="http://schemas.microsoft.com/office/drawing/2014/main" id="{EDB3E6D1-DEED-4616-825D-D104812F310A}"/>
              </a:ext>
            </a:extLst>
          </p:cNvPr>
          <p:cNvSpPr txBox="1"/>
          <p:nvPr/>
        </p:nvSpPr>
        <p:spPr>
          <a:xfrm>
            <a:off x="666716" y="1620318"/>
            <a:ext cx="7244832" cy="923330"/>
          </a:xfrm>
          <a:prstGeom prst="rect">
            <a:avLst/>
          </a:prstGeom>
          <a:noFill/>
        </p:spPr>
        <p:txBody>
          <a:bodyPr wrap="square">
            <a:spAutoFit/>
          </a:bodyPr>
          <a:lstStyle/>
          <a:p>
            <a:r>
              <a:rPr lang="en-IN" dirty="0"/>
              <a:t>TOKENS: [[p, a, t, ␣], [p, a, t, ␣], [c, a, t, ␣], [s, a, t, ␣], [o, n, ␣], </a:t>
            </a:r>
          </a:p>
          <a:p>
            <a:r>
              <a:rPr lang="en-IN" dirty="0"/>
              <a:t>                   [m, a, t, ␣], [c, a, t, ␣], [s, a, t, ␣], [o, n, ␣], </a:t>
            </a:r>
          </a:p>
          <a:p>
            <a:r>
              <a:rPr lang="en-IN" dirty="0"/>
              <a:t>                   [m, a, t, ␣], [w, </a:t>
            </a:r>
            <a:r>
              <a:rPr lang="en-IN" dirty="0" err="1"/>
              <a:t>i</a:t>
            </a:r>
            <a:r>
              <a:rPr lang="en-IN" dirty="0"/>
              <a:t>, t, h, ␣], [p, a, t, ␣]]</a:t>
            </a:r>
          </a:p>
        </p:txBody>
      </p:sp>
      <p:sp>
        <p:nvSpPr>
          <p:cNvPr id="9" name="TextBox 8">
            <a:extLst>
              <a:ext uri="{FF2B5EF4-FFF2-40B4-BE49-F238E27FC236}">
                <a16:creationId xmlns:a16="http://schemas.microsoft.com/office/drawing/2014/main" id="{3A996DC2-E88B-4F12-A367-B23060960666}"/>
              </a:ext>
            </a:extLst>
          </p:cNvPr>
          <p:cNvSpPr txBox="1"/>
          <p:nvPr/>
        </p:nvSpPr>
        <p:spPr>
          <a:xfrm>
            <a:off x="666716" y="2480502"/>
            <a:ext cx="4243214" cy="369332"/>
          </a:xfrm>
          <a:prstGeom prst="rect">
            <a:avLst/>
          </a:prstGeom>
          <a:noFill/>
        </p:spPr>
        <p:txBody>
          <a:bodyPr wrap="square">
            <a:spAutoFit/>
          </a:bodyPr>
          <a:lstStyle/>
          <a:p>
            <a:r>
              <a:rPr lang="en-IN" dirty="0"/>
              <a:t>VOCAB: [a, c, h, </a:t>
            </a:r>
            <a:r>
              <a:rPr lang="en-IN" dirty="0" err="1"/>
              <a:t>i</a:t>
            </a:r>
            <a:r>
              <a:rPr lang="en-IN" dirty="0"/>
              <a:t>, m, n, o, p, s, t, w, ␣]</a:t>
            </a:r>
          </a:p>
        </p:txBody>
      </p:sp>
      <p:sp>
        <p:nvSpPr>
          <p:cNvPr id="11" name="TextBox 10">
            <a:extLst>
              <a:ext uri="{FF2B5EF4-FFF2-40B4-BE49-F238E27FC236}">
                <a16:creationId xmlns:a16="http://schemas.microsoft.com/office/drawing/2014/main" id="{5FCF4FC2-0B87-4661-A1B6-E9118CF93F10}"/>
              </a:ext>
            </a:extLst>
          </p:cNvPr>
          <p:cNvSpPr txBox="1"/>
          <p:nvPr/>
        </p:nvSpPr>
        <p:spPr>
          <a:xfrm>
            <a:off x="666716" y="2972995"/>
            <a:ext cx="6906902" cy="646331"/>
          </a:xfrm>
          <a:prstGeom prst="rect">
            <a:avLst/>
          </a:prstGeom>
          <a:noFill/>
        </p:spPr>
        <p:txBody>
          <a:bodyPr wrap="square">
            <a:spAutoFit/>
          </a:bodyPr>
          <a:lstStyle/>
          <a:p>
            <a:r>
              <a:rPr lang="en-IN" dirty="0"/>
              <a:t>PAIRS: (</a:t>
            </a:r>
            <a:r>
              <a:rPr lang="en-IN" dirty="0" err="1"/>
              <a:t>p,a</a:t>
            </a:r>
            <a:r>
              <a:rPr lang="en-IN" dirty="0"/>
              <a:t>)=3 | (</a:t>
            </a:r>
            <a:r>
              <a:rPr lang="en-IN" dirty="0" err="1"/>
              <a:t>a,t</a:t>
            </a:r>
            <a:r>
              <a:rPr lang="en-IN" dirty="0"/>
              <a:t>)=9 | (t,␣)=9 | (</a:t>
            </a:r>
            <a:r>
              <a:rPr lang="en-IN" dirty="0" err="1"/>
              <a:t>c,a</a:t>
            </a:r>
            <a:r>
              <a:rPr lang="en-IN" dirty="0"/>
              <a:t>)=2 | (</a:t>
            </a:r>
            <a:r>
              <a:rPr lang="en-IN" dirty="0" err="1"/>
              <a:t>s,a</a:t>
            </a:r>
            <a:r>
              <a:rPr lang="en-IN" dirty="0"/>
              <a:t>)=2 | (</a:t>
            </a:r>
            <a:r>
              <a:rPr lang="en-IN" dirty="0" err="1"/>
              <a:t>o,n</a:t>
            </a:r>
            <a:r>
              <a:rPr lang="en-IN" dirty="0"/>
              <a:t>)=2 | (n,␣)=2 | (</a:t>
            </a:r>
            <a:r>
              <a:rPr lang="en-IN" dirty="0" err="1"/>
              <a:t>m,a</a:t>
            </a:r>
            <a:r>
              <a:rPr lang="en-IN" dirty="0"/>
              <a:t>)=2 | (</a:t>
            </a:r>
            <a:r>
              <a:rPr lang="en-IN" dirty="0" err="1"/>
              <a:t>w,i</a:t>
            </a:r>
            <a:r>
              <a:rPr lang="en-IN" dirty="0"/>
              <a:t>)=1 | (</a:t>
            </a:r>
            <a:r>
              <a:rPr lang="en-IN" dirty="0" err="1"/>
              <a:t>i,t</a:t>
            </a:r>
            <a:r>
              <a:rPr lang="en-IN" dirty="0"/>
              <a:t>)=1 | (</a:t>
            </a:r>
            <a:r>
              <a:rPr lang="en-IN" dirty="0" err="1"/>
              <a:t>t,h</a:t>
            </a:r>
            <a:r>
              <a:rPr lang="en-IN" dirty="0"/>
              <a:t>)=1 | (h,␣)=1</a:t>
            </a:r>
          </a:p>
        </p:txBody>
      </p:sp>
      <p:sp>
        <p:nvSpPr>
          <p:cNvPr id="13" name="TextBox 12">
            <a:extLst>
              <a:ext uri="{FF2B5EF4-FFF2-40B4-BE49-F238E27FC236}">
                <a16:creationId xmlns:a16="http://schemas.microsoft.com/office/drawing/2014/main" id="{D2E149AA-8338-41C0-BCE3-5FABFB5A0CB4}"/>
              </a:ext>
            </a:extLst>
          </p:cNvPr>
          <p:cNvSpPr txBox="1"/>
          <p:nvPr/>
        </p:nvSpPr>
        <p:spPr>
          <a:xfrm>
            <a:off x="666716" y="3742484"/>
            <a:ext cx="7016232" cy="646331"/>
          </a:xfrm>
          <a:prstGeom prst="rect">
            <a:avLst/>
          </a:prstGeom>
          <a:noFill/>
        </p:spPr>
        <p:txBody>
          <a:bodyPr wrap="square">
            <a:spAutoFit/>
          </a:bodyPr>
          <a:lstStyle/>
          <a:p>
            <a:r>
              <a:rPr lang="en-IN" dirty="0"/>
              <a:t>SORTED: (</a:t>
            </a:r>
            <a:r>
              <a:rPr lang="en-IN" dirty="0" err="1"/>
              <a:t>a,t</a:t>
            </a:r>
            <a:r>
              <a:rPr lang="en-IN" dirty="0"/>
              <a:t>)=9 | (t,␣)=9 | (</a:t>
            </a:r>
            <a:r>
              <a:rPr lang="en-IN" dirty="0" err="1"/>
              <a:t>p,a</a:t>
            </a:r>
            <a:r>
              <a:rPr lang="en-IN" dirty="0"/>
              <a:t>)=3 | (</a:t>
            </a:r>
            <a:r>
              <a:rPr lang="en-IN" dirty="0" err="1"/>
              <a:t>c,a</a:t>
            </a:r>
            <a:r>
              <a:rPr lang="en-IN" dirty="0"/>
              <a:t>)=2 | (</a:t>
            </a:r>
            <a:r>
              <a:rPr lang="en-IN" dirty="0" err="1"/>
              <a:t>s,a</a:t>
            </a:r>
            <a:r>
              <a:rPr lang="en-IN" dirty="0"/>
              <a:t>)=2 | (</a:t>
            </a:r>
            <a:r>
              <a:rPr lang="en-IN" dirty="0" err="1"/>
              <a:t>o,n</a:t>
            </a:r>
            <a:r>
              <a:rPr lang="en-IN" dirty="0"/>
              <a:t>)=2 |    </a:t>
            </a:r>
            <a:br>
              <a:rPr lang="en-IN" dirty="0"/>
            </a:br>
            <a:r>
              <a:rPr lang="en-IN" dirty="0"/>
              <a:t>                  (n,␣)=2 | (</a:t>
            </a:r>
            <a:r>
              <a:rPr lang="en-IN" dirty="0" err="1"/>
              <a:t>m,a</a:t>
            </a:r>
            <a:r>
              <a:rPr lang="en-IN" dirty="0"/>
              <a:t>)=2 | (</a:t>
            </a:r>
            <a:r>
              <a:rPr lang="en-IN" dirty="0" err="1"/>
              <a:t>w,i</a:t>
            </a:r>
            <a:r>
              <a:rPr lang="en-IN" dirty="0"/>
              <a:t>)=1 | (</a:t>
            </a:r>
            <a:r>
              <a:rPr lang="en-IN" dirty="0" err="1"/>
              <a:t>i,t</a:t>
            </a:r>
            <a:r>
              <a:rPr lang="en-IN" dirty="0"/>
              <a:t>)=1 | (</a:t>
            </a:r>
            <a:r>
              <a:rPr lang="en-IN" dirty="0" err="1"/>
              <a:t>t,h</a:t>
            </a:r>
            <a:r>
              <a:rPr lang="en-IN" dirty="0"/>
              <a:t>)=1 | (h,␣)=1</a:t>
            </a:r>
          </a:p>
        </p:txBody>
      </p:sp>
      <p:sp>
        <p:nvSpPr>
          <p:cNvPr id="15" name="TextBox 14">
            <a:extLst>
              <a:ext uri="{FF2B5EF4-FFF2-40B4-BE49-F238E27FC236}">
                <a16:creationId xmlns:a16="http://schemas.microsoft.com/office/drawing/2014/main" id="{6AE5CD4B-AD2A-4E61-AA32-59BFE93D97EE}"/>
              </a:ext>
            </a:extLst>
          </p:cNvPr>
          <p:cNvSpPr txBox="1"/>
          <p:nvPr/>
        </p:nvSpPr>
        <p:spPr>
          <a:xfrm>
            <a:off x="666716" y="4463071"/>
            <a:ext cx="2155997" cy="369332"/>
          </a:xfrm>
          <a:prstGeom prst="rect">
            <a:avLst/>
          </a:prstGeom>
          <a:noFill/>
        </p:spPr>
        <p:txBody>
          <a:bodyPr wrap="square">
            <a:spAutoFit/>
          </a:bodyPr>
          <a:lstStyle/>
          <a:p>
            <a:r>
              <a:rPr lang="en-IN" dirty="0"/>
              <a:t>MERGE: (</a:t>
            </a:r>
            <a:r>
              <a:rPr lang="en-IN" dirty="0" err="1"/>
              <a:t>a,t</a:t>
            </a:r>
            <a:r>
              <a:rPr lang="en-IN" dirty="0"/>
              <a:t>) → at</a:t>
            </a:r>
          </a:p>
        </p:txBody>
      </p:sp>
      <p:sp>
        <p:nvSpPr>
          <p:cNvPr id="17" name="TextBox 16">
            <a:extLst>
              <a:ext uri="{FF2B5EF4-FFF2-40B4-BE49-F238E27FC236}">
                <a16:creationId xmlns:a16="http://schemas.microsoft.com/office/drawing/2014/main" id="{13F5D43C-5C32-4D43-A658-B1CD6F4E599F}"/>
              </a:ext>
            </a:extLst>
          </p:cNvPr>
          <p:cNvSpPr txBox="1"/>
          <p:nvPr/>
        </p:nvSpPr>
        <p:spPr>
          <a:xfrm>
            <a:off x="666716" y="4874464"/>
            <a:ext cx="6676764" cy="923330"/>
          </a:xfrm>
          <a:prstGeom prst="rect">
            <a:avLst/>
          </a:prstGeom>
          <a:noFill/>
        </p:spPr>
        <p:txBody>
          <a:bodyPr wrap="square">
            <a:spAutoFit/>
          </a:bodyPr>
          <a:lstStyle/>
          <a:p>
            <a:r>
              <a:rPr lang="en-IN" dirty="0">
                <a:solidFill>
                  <a:srgbClr val="0070C0"/>
                </a:solidFill>
              </a:rPr>
              <a:t>UPDATED TOKS: [[p, at, ␣], [p, at, ␣], [c, at, ␣], [s, at, ␣], </a:t>
            </a:r>
          </a:p>
          <a:p>
            <a:r>
              <a:rPr lang="en-IN" dirty="0">
                <a:solidFill>
                  <a:srgbClr val="0070C0"/>
                </a:solidFill>
              </a:rPr>
              <a:t>                                 [o, n, ␣], [m, at, ␣], [c, at, ␣], [s, at, ␣], </a:t>
            </a:r>
          </a:p>
          <a:p>
            <a:r>
              <a:rPr lang="en-IN" dirty="0">
                <a:solidFill>
                  <a:srgbClr val="0070C0"/>
                </a:solidFill>
              </a:rPr>
              <a:t>                                 [o, n, ␣], [m, at, ␣], [w, </a:t>
            </a:r>
            <a:r>
              <a:rPr lang="en-IN" dirty="0" err="1">
                <a:solidFill>
                  <a:srgbClr val="0070C0"/>
                </a:solidFill>
              </a:rPr>
              <a:t>i</a:t>
            </a:r>
            <a:r>
              <a:rPr lang="en-IN" dirty="0">
                <a:solidFill>
                  <a:srgbClr val="0070C0"/>
                </a:solidFill>
              </a:rPr>
              <a:t>, t, h, ␣], [p, at, ␣]]</a:t>
            </a:r>
          </a:p>
        </p:txBody>
      </p:sp>
      <p:graphicFrame>
        <p:nvGraphicFramePr>
          <p:cNvPr id="18" name="Table 20">
            <a:extLst>
              <a:ext uri="{FF2B5EF4-FFF2-40B4-BE49-F238E27FC236}">
                <a16:creationId xmlns:a16="http://schemas.microsoft.com/office/drawing/2014/main" id="{CFC42CCA-7FCB-457D-8615-7554851A9A95}"/>
              </a:ext>
            </a:extLst>
          </p:cNvPr>
          <p:cNvGraphicFramePr>
            <a:graphicFrameLocks noGrp="1"/>
          </p:cNvGraphicFramePr>
          <p:nvPr>
            <p:extLst>
              <p:ext uri="{D42A27DB-BD31-4B8C-83A1-F6EECF244321}">
                <p14:modId xmlns:p14="http://schemas.microsoft.com/office/powerpoint/2010/main" val="347044506"/>
              </p:ext>
            </p:extLst>
          </p:nvPr>
        </p:nvGraphicFramePr>
        <p:xfrm>
          <a:off x="8368748" y="1222682"/>
          <a:ext cx="1868555" cy="3840480"/>
        </p:xfrm>
        <a:graphic>
          <a:graphicData uri="http://schemas.openxmlformats.org/drawingml/2006/table">
            <a:tbl>
              <a:tblPr firstRow="1" bandRow="1">
                <a:tableStyleId>{5940675A-B579-460E-94D1-54222C63F5DA}</a:tableStyleId>
              </a:tblPr>
              <a:tblGrid>
                <a:gridCol w="705678">
                  <a:extLst>
                    <a:ext uri="{9D8B030D-6E8A-4147-A177-3AD203B41FA5}">
                      <a16:colId xmlns:a16="http://schemas.microsoft.com/office/drawing/2014/main" val="2606537423"/>
                    </a:ext>
                  </a:extLst>
                </a:gridCol>
                <a:gridCol w="1162877">
                  <a:extLst>
                    <a:ext uri="{9D8B030D-6E8A-4147-A177-3AD203B41FA5}">
                      <a16:colId xmlns:a16="http://schemas.microsoft.com/office/drawing/2014/main" val="1993236031"/>
                    </a:ext>
                  </a:extLst>
                </a:gridCol>
              </a:tblGrid>
              <a:tr h="271385">
                <a:tc>
                  <a:txBody>
                    <a:bodyPr/>
                    <a:lstStyle/>
                    <a:p>
                      <a:r>
                        <a:rPr lang="en-IN" sz="1200" dirty="0"/>
                        <a:t>Token</a:t>
                      </a:r>
                    </a:p>
                  </a:txBody>
                  <a:tcPr/>
                </a:tc>
                <a:tc>
                  <a:txBody>
                    <a:bodyPr/>
                    <a:lstStyle/>
                    <a:p>
                      <a:r>
                        <a:rPr lang="en-IN" sz="1200" dirty="0"/>
                        <a:t>Frequency</a:t>
                      </a:r>
                    </a:p>
                  </a:txBody>
                  <a:tcPr/>
                </a:tc>
                <a:extLst>
                  <a:ext uri="{0D108BD9-81ED-4DB2-BD59-A6C34878D82A}">
                    <a16:rowId xmlns:a16="http://schemas.microsoft.com/office/drawing/2014/main" val="3800187281"/>
                  </a:ext>
                </a:extLst>
              </a:tr>
              <a:tr h="271385">
                <a:tc>
                  <a:txBody>
                    <a:bodyPr/>
                    <a:lstStyle/>
                    <a:p>
                      <a:pPr algn="ctr"/>
                      <a:r>
                        <a:rPr lang="en-IN" sz="1200" dirty="0"/>
                        <a:t>a</a:t>
                      </a:r>
                    </a:p>
                  </a:txBody>
                  <a:tcPr/>
                </a:tc>
                <a:tc>
                  <a:txBody>
                    <a:bodyPr/>
                    <a:lstStyle/>
                    <a:p>
                      <a:pPr algn="ctr"/>
                      <a:r>
                        <a:rPr lang="en-IN" sz="1200" dirty="0"/>
                        <a:t>9</a:t>
                      </a:r>
                    </a:p>
                  </a:txBody>
                  <a:tcPr/>
                </a:tc>
                <a:extLst>
                  <a:ext uri="{0D108BD9-81ED-4DB2-BD59-A6C34878D82A}">
                    <a16:rowId xmlns:a16="http://schemas.microsoft.com/office/drawing/2014/main" val="2383089832"/>
                  </a:ext>
                </a:extLst>
              </a:tr>
              <a:tr h="271385">
                <a:tc>
                  <a:txBody>
                    <a:bodyPr/>
                    <a:lstStyle/>
                    <a:p>
                      <a:pPr algn="ctr"/>
                      <a:r>
                        <a:rPr lang="en-IN" sz="1200" dirty="0"/>
                        <a:t>c</a:t>
                      </a:r>
                    </a:p>
                  </a:txBody>
                  <a:tcPr/>
                </a:tc>
                <a:tc>
                  <a:txBody>
                    <a:bodyPr/>
                    <a:lstStyle/>
                    <a:p>
                      <a:pPr algn="ctr"/>
                      <a:r>
                        <a:rPr lang="en-IN" sz="1200" dirty="0"/>
                        <a:t>2</a:t>
                      </a:r>
                    </a:p>
                  </a:txBody>
                  <a:tcPr/>
                </a:tc>
                <a:extLst>
                  <a:ext uri="{0D108BD9-81ED-4DB2-BD59-A6C34878D82A}">
                    <a16:rowId xmlns:a16="http://schemas.microsoft.com/office/drawing/2014/main" val="948174216"/>
                  </a:ext>
                </a:extLst>
              </a:tr>
              <a:tr h="271385">
                <a:tc>
                  <a:txBody>
                    <a:bodyPr/>
                    <a:lstStyle/>
                    <a:p>
                      <a:pPr algn="ctr"/>
                      <a:r>
                        <a:rPr lang="en-IN" sz="1200" dirty="0"/>
                        <a:t>h</a:t>
                      </a:r>
                    </a:p>
                  </a:txBody>
                  <a:tcPr/>
                </a:tc>
                <a:tc>
                  <a:txBody>
                    <a:bodyPr/>
                    <a:lstStyle/>
                    <a:p>
                      <a:pPr algn="ctr"/>
                      <a:r>
                        <a:rPr lang="en-IN" sz="1200" dirty="0"/>
                        <a:t>1</a:t>
                      </a:r>
                    </a:p>
                  </a:txBody>
                  <a:tcPr/>
                </a:tc>
                <a:extLst>
                  <a:ext uri="{0D108BD9-81ED-4DB2-BD59-A6C34878D82A}">
                    <a16:rowId xmlns:a16="http://schemas.microsoft.com/office/drawing/2014/main" val="2997842419"/>
                  </a:ext>
                </a:extLst>
              </a:tr>
              <a:tr h="271385">
                <a:tc>
                  <a:txBody>
                    <a:bodyPr/>
                    <a:lstStyle/>
                    <a:p>
                      <a:pPr algn="ctr"/>
                      <a:r>
                        <a:rPr lang="en-IN" sz="1200" dirty="0" err="1"/>
                        <a:t>i</a:t>
                      </a:r>
                      <a:endParaRPr lang="en-IN" sz="1200" dirty="0"/>
                    </a:p>
                  </a:txBody>
                  <a:tcPr/>
                </a:tc>
                <a:tc>
                  <a:txBody>
                    <a:bodyPr/>
                    <a:lstStyle/>
                    <a:p>
                      <a:pPr algn="ctr"/>
                      <a:r>
                        <a:rPr lang="en-IN" sz="1200" dirty="0"/>
                        <a:t>1</a:t>
                      </a:r>
                    </a:p>
                  </a:txBody>
                  <a:tcPr/>
                </a:tc>
                <a:extLst>
                  <a:ext uri="{0D108BD9-81ED-4DB2-BD59-A6C34878D82A}">
                    <a16:rowId xmlns:a16="http://schemas.microsoft.com/office/drawing/2014/main" val="2650249721"/>
                  </a:ext>
                </a:extLst>
              </a:tr>
              <a:tr h="271385">
                <a:tc>
                  <a:txBody>
                    <a:bodyPr/>
                    <a:lstStyle/>
                    <a:p>
                      <a:pPr algn="ctr"/>
                      <a:r>
                        <a:rPr lang="en-IN" sz="1200" dirty="0"/>
                        <a:t>m</a:t>
                      </a:r>
                    </a:p>
                  </a:txBody>
                  <a:tcPr/>
                </a:tc>
                <a:tc>
                  <a:txBody>
                    <a:bodyPr/>
                    <a:lstStyle/>
                    <a:p>
                      <a:pPr algn="ctr"/>
                      <a:r>
                        <a:rPr lang="en-IN" sz="1200" dirty="0"/>
                        <a:t>2</a:t>
                      </a:r>
                    </a:p>
                  </a:txBody>
                  <a:tcPr/>
                </a:tc>
                <a:extLst>
                  <a:ext uri="{0D108BD9-81ED-4DB2-BD59-A6C34878D82A}">
                    <a16:rowId xmlns:a16="http://schemas.microsoft.com/office/drawing/2014/main" val="3507577262"/>
                  </a:ext>
                </a:extLst>
              </a:tr>
              <a:tr h="271385">
                <a:tc>
                  <a:txBody>
                    <a:bodyPr/>
                    <a:lstStyle/>
                    <a:p>
                      <a:pPr algn="ctr"/>
                      <a:r>
                        <a:rPr lang="en-IN" sz="1200" dirty="0"/>
                        <a:t>n</a:t>
                      </a:r>
                    </a:p>
                  </a:txBody>
                  <a:tcPr/>
                </a:tc>
                <a:tc>
                  <a:txBody>
                    <a:bodyPr/>
                    <a:lstStyle/>
                    <a:p>
                      <a:pPr algn="ctr"/>
                      <a:r>
                        <a:rPr lang="en-IN" sz="1200" dirty="0"/>
                        <a:t>2</a:t>
                      </a:r>
                    </a:p>
                  </a:txBody>
                  <a:tcPr/>
                </a:tc>
                <a:extLst>
                  <a:ext uri="{0D108BD9-81ED-4DB2-BD59-A6C34878D82A}">
                    <a16:rowId xmlns:a16="http://schemas.microsoft.com/office/drawing/2014/main" val="3323913156"/>
                  </a:ext>
                </a:extLst>
              </a:tr>
              <a:tr h="271385">
                <a:tc>
                  <a:txBody>
                    <a:bodyPr/>
                    <a:lstStyle/>
                    <a:p>
                      <a:pPr algn="ctr"/>
                      <a:r>
                        <a:rPr lang="en-IN" sz="1200" dirty="0"/>
                        <a:t>o</a:t>
                      </a:r>
                    </a:p>
                  </a:txBody>
                  <a:tcPr/>
                </a:tc>
                <a:tc>
                  <a:txBody>
                    <a:bodyPr/>
                    <a:lstStyle/>
                    <a:p>
                      <a:pPr algn="ctr"/>
                      <a:r>
                        <a:rPr lang="en-IN" sz="1200" dirty="0"/>
                        <a:t>2</a:t>
                      </a:r>
                    </a:p>
                  </a:txBody>
                  <a:tcPr/>
                </a:tc>
                <a:extLst>
                  <a:ext uri="{0D108BD9-81ED-4DB2-BD59-A6C34878D82A}">
                    <a16:rowId xmlns:a16="http://schemas.microsoft.com/office/drawing/2014/main" val="3493800237"/>
                  </a:ext>
                </a:extLst>
              </a:tr>
              <a:tr h="271385">
                <a:tc>
                  <a:txBody>
                    <a:bodyPr/>
                    <a:lstStyle/>
                    <a:p>
                      <a:pPr algn="ctr"/>
                      <a:r>
                        <a:rPr lang="en-IN" sz="1200" dirty="0"/>
                        <a:t>p</a:t>
                      </a:r>
                    </a:p>
                  </a:txBody>
                  <a:tcPr/>
                </a:tc>
                <a:tc>
                  <a:txBody>
                    <a:bodyPr/>
                    <a:lstStyle/>
                    <a:p>
                      <a:pPr algn="ctr"/>
                      <a:r>
                        <a:rPr lang="en-IN" sz="1200" dirty="0"/>
                        <a:t>3</a:t>
                      </a:r>
                    </a:p>
                  </a:txBody>
                  <a:tcPr/>
                </a:tc>
                <a:extLst>
                  <a:ext uri="{0D108BD9-81ED-4DB2-BD59-A6C34878D82A}">
                    <a16:rowId xmlns:a16="http://schemas.microsoft.com/office/drawing/2014/main" val="138254936"/>
                  </a:ext>
                </a:extLst>
              </a:tr>
              <a:tr h="271385">
                <a:tc>
                  <a:txBody>
                    <a:bodyPr/>
                    <a:lstStyle/>
                    <a:p>
                      <a:pPr algn="ctr"/>
                      <a:r>
                        <a:rPr lang="en-IN" sz="1200" dirty="0"/>
                        <a:t>s</a:t>
                      </a:r>
                    </a:p>
                  </a:txBody>
                  <a:tcPr/>
                </a:tc>
                <a:tc>
                  <a:txBody>
                    <a:bodyPr/>
                    <a:lstStyle/>
                    <a:p>
                      <a:pPr algn="ctr"/>
                      <a:r>
                        <a:rPr lang="en-IN" sz="1200" dirty="0"/>
                        <a:t>2</a:t>
                      </a:r>
                    </a:p>
                  </a:txBody>
                  <a:tcPr/>
                </a:tc>
                <a:extLst>
                  <a:ext uri="{0D108BD9-81ED-4DB2-BD59-A6C34878D82A}">
                    <a16:rowId xmlns:a16="http://schemas.microsoft.com/office/drawing/2014/main" val="3513394123"/>
                  </a:ext>
                </a:extLst>
              </a:tr>
              <a:tr h="271385">
                <a:tc>
                  <a:txBody>
                    <a:bodyPr/>
                    <a:lstStyle/>
                    <a:p>
                      <a:pPr algn="ctr"/>
                      <a:r>
                        <a:rPr lang="en-IN" sz="1200" dirty="0"/>
                        <a:t>w</a:t>
                      </a:r>
                    </a:p>
                  </a:txBody>
                  <a:tcPr/>
                </a:tc>
                <a:tc>
                  <a:txBody>
                    <a:bodyPr/>
                    <a:lstStyle/>
                    <a:p>
                      <a:pPr algn="ctr"/>
                      <a:r>
                        <a:rPr lang="en-IN" sz="1200" dirty="0"/>
                        <a:t>1</a:t>
                      </a:r>
                    </a:p>
                  </a:txBody>
                  <a:tcPr/>
                </a:tc>
                <a:extLst>
                  <a:ext uri="{0D108BD9-81ED-4DB2-BD59-A6C34878D82A}">
                    <a16:rowId xmlns:a16="http://schemas.microsoft.com/office/drawing/2014/main" val="3577659322"/>
                  </a:ext>
                </a:extLst>
              </a:tr>
              <a:tr h="271385">
                <a:tc>
                  <a:txBody>
                    <a:bodyPr/>
                    <a:lstStyle/>
                    <a:p>
                      <a:pPr algn="ctr"/>
                      <a:r>
                        <a:rPr lang="en-IN" sz="1200" dirty="0"/>
                        <a:t>t</a:t>
                      </a:r>
                    </a:p>
                  </a:txBody>
                  <a:tcPr/>
                </a:tc>
                <a:tc>
                  <a:txBody>
                    <a:bodyPr/>
                    <a:lstStyle/>
                    <a:p>
                      <a:pPr algn="ctr"/>
                      <a:r>
                        <a:rPr lang="en-IN" sz="1200" dirty="0"/>
                        <a:t>10</a:t>
                      </a:r>
                    </a:p>
                  </a:txBody>
                  <a:tcPr/>
                </a:tc>
                <a:extLst>
                  <a:ext uri="{0D108BD9-81ED-4DB2-BD59-A6C34878D82A}">
                    <a16:rowId xmlns:a16="http://schemas.microsoft.com/office/drawing/2014/main" val="2150499092"/>
                  </a:ext>
                </a:extLst>
              </a:tr>
              <a:tr h="271385">
                <a:tc>
                  <a:txBody>
                    <a:bodyPr/>
                    <a:lstStyle/>
                    <a:p>
                      <a:pPr algn="ctr"/>
                      <a:r>
                        <a:rPr lang="en-IN" sz="1200" dirty="0"/>
                        <a:t>␣</a:t>
                      </a:r>
                    </a:p>
                  </a:txBody>
                  <a:tcPr/>
                </a:tc>
                <a:tc>
                  <a:txBody>
                    <a:bodyPr/>
                    <a:lstStyle/>
                    <a:p>
                      <a:pPr algn="ctr"/>
                      <a:r>
                        <a:rPr lang="en-IN" sz="1200" dirty="0"/>
                        <a:t>12</a:t>
                      </a:r>
                    </a:p>
                  </a:txBody>
                  <a:tcPr/>
                </a:tc>
                <a:extLst>
                  <a:ext uri="{0D108BD9-81ED-4DB2-BD59-A6C34878D82A}">
                    <a16:rowId xmlns:a16="http://schemas.microsoft.com/office/drawing/2014/main" val="3513143497"/>
                  </a:ext>
                </a:extLst>
              </a:tr>
              <a:tr h="271385">
                <a:tc>
                  <a:txBody>
                    <a:bodyPr/>
                    <a:lstStyle/>
                    <a:p>
                      <a:pPr algn="ctr"/>
                      <a:r>
                        <a:rPr lang="en-IN" sz="1200" dirty="0"/>
                        <a:t>at</a:t>
                      </a:r>
                    </a:p>
                  </a:txBody>
                  <a:tcPr/>
                </a:tc>
                <a:tc>
                  <a:txBody>
                    <a:bodyPr/>
                    <a:lstStyle/>
                    <a:p>
                      <a:pPr algn="ctr"/>
                      <a:r>
                        <a:rPr lang="en-IN" sz="1200" dirty="0"/>
                        <a:t>9</a:t>
                      </a:r>
                    </a:p>
                  </a:txBody>
                  <a:tcPr/>
                </a:tc>
                <a:extLst>
                  <a:ext uri="{0D108BD9-81ED-4DB2-BD59-A6C34878D82A}">
                    <a16:rowId xmlns:a16="http://schemas.microsoft.com/office/drawing/2014/main" val="513657350"/>
                  </a:ext>
                </a:extLst>
              </a:tr>
            </a:tbl>
          </a:graphicData>
        </a:graphic>
      </p:graphicFrame>
      <p:sp>
        <p:nvSpPr>
          <p:cNvPr id="20" name="TextBox 19">
            <a:extLst>
              <a:ext uri="{FF2B5EF4-FFF2-40B4-BE49-F238E27FC236}">
                <a16:creationId xmlns:a16="http://schemas.microsoft.com/office/drawing/2014/main" id="{1065E985-8C0B-4478-A7DD-63EC61313621}"/>
              </a:ext>
            </a:extLst>
          </p:cNvPr>
          <p:cNvSpPr txBox="1"/>
          <p:nvPr/>
        </p:nvSpPr>
        <p:spPr>
          <a:xfrm>
            <a:off x="639850" y="1225890"/>
            <a:ext cx="3540200" cy="461665"/>
          </a:xfrm>
          <a:prstGeom prst="rect">
            <a:avLst/>
          </a:prstGeom>
          <a:noFill/>
        </p:spPr>
        <p:txBody>
          <a:bodyPr wrap="none" rtlCol="0">
            <a:spAutoFit/>
          </a:bodyPr>
          <a:lstStyle/>
          <a:p>
            <a:r>
              <a:rPr lang="en-IN" sz="2400" dirty="0">
                <a:solidFill>
                  <a:srgbClr val="002060"/>
                </a:solidFill>
              </a:rPr>
              <a:t>Merge 1, </a:t>
            </a:r>
            <a:r>
              <a:rPr lang="en-IN" dirty="0">
                <a:solidFill>
                  <a:srgbClr val="002060"/>
                </a:solidFill>
              </a:rPr>
              <a:t>for getting bigrams</a:t>
            </a:r>
          </a:p>
        </p:txBody>
      </p:sp>
      <p:sp>
        <p:nvSpPr>
          <p:cNvPr id="16" name="TextBox 15">
            <a:extLst>
              <a:ext uri="{FF2B5EF4-FFF2-40B4-BE49-F238E27FC236}">
                <a16:creationId xmlns:a16="http://schemas.microsoft.com/office/drawing/2014/main" id="{D1C08106-9540-460E-8762-3A95A2E8A5FD}"/>
              </a:ext>
            </a:extLst>
          </p:cNvPr>
          <p:cNvSpPr txBox="1"/>
          <p:nvPr/>
        </p:nvSpPr>
        <p:spPr>
          <a:xfrm>
            <a:off x="639849" y="5889262"/>
            <a:ext cx="6124523" cy="369332"/>
          </a:xfrm>
          <a:prstGeom prst="rect">
            <a:avLst/>
          </a:prstGeom>
          <a:noFill/>
        </p:spPr>
        <p:txBody>
          <a:bodyPr wrap="square">
            <a:spAutoFit/>
          </a:bodyPr>
          <a:lstStyle/>
          <a:p>
            <a:r>
              <a:rPr lang="en-IN" dirty="0">
                <a:solidFill>
                  <a:srgbClr val="00B050"/>
                </a:solidFill>
              </a:rPr>
              <a:t>UPDATED VOCAB: [a, c, c, h, </a:t>
            </a:r>
            <a:r>
              <a:rPr lang="en-IN" dirty="0" err="1">
                <a:solidFill>
                  <a:srgbClr val="00B050"/>
                </a:solidFill>
              </a:rPr>
              <a:t>i</a:t>
            </a:r>
            <a:r>
              <a:rPr lang="en-IN" dirty="0">
                <a:solidFill>
                  <a:srgbClr val="00B050"/>
                </a:solidFill>
              </a:rPr>
              <a:t>, m, n, o, p, s, t, w, ␣, at]</a:t>
            </a:r>
          </a:p>
        </p:txBody>
      </p:sp>
      <p:sp>
        <p:nvSpPr>
          <p:cNvPr id="21" name="TextBox 20">
            <a:extLst>
              <a:ext uri="{FF2B5EF4-FFF2-40B4-BE49-F238E27FC236}">
                <a16:creationId xmlns:a16="http://schemas.microsoft.com/office/drawing/2014/main" id="{D7ACF377-3876-47A9-BDF6-3F5FCED81976}"/>
              </a:ext>
            </a:extLst>
          </p:cNvPr>
          <p:cNvSpPr txBox="1"/>
          <p:nvPr/>
        </p:nvSpPr>
        <p:spPr>
          <a:xfrm>
            <a:off x="666716" y="6376366"/>
            <a:ext cx="3066298" cy="369332"/>
          </a:xfrm>
          <a:prstGeom prst="rect">
            <a:avLst/>
          </a:prstGeom>
          <a:noFill/>
        </p:spPr>
        <p:txBody>
          <a:bodyPr wrap="square">
            <a:spAutoFit/>
          </a:bodyPr>
          <a:lstStyle/>
          <a:p>
            <a:r>
              <a:rPr lang="en-IN" dirty="0">
                <a:solidFill>
                  <a:schemeClr val="accent1">
                    <a:lumMod val="50000"/>
                  </a:schemeClr>
                </a:solidFill>
              </a:rPr>
              <a:t>MERGE RULES: [(</a:t>
            </a:r>
            <a:r>
              <a:rPr lang="en-IN" dirty="0" err="1">
                <a:solidFill>
                  <a:schemeClr val="accent1">
                    <a:lumMod val="50000"/>
                  </a:schemeClr>
                </a:solidFill>
              </a:rPr>
              <a:t>a,t</a:t>
            </a:r>
            <a:r>
              <a:rPr lang="en-IN" dirty="0">
                <a:solidFill>
                  <a:schemeClr val="accent1">
                    <a:lumMod val="50000"/>
                  </a:schemeClr>
                </a:solidFill>
              </a:rPr>
              <a:t>) → at]</a:t>
            </a:r>
          </a:p>
        </p:txBody>
      </p:sp>
      <p:sp>
        <p:nvSpPr>
          <p:cNvPr id="3" name="TextBox 2">
            <a:extLst>
              <a:ext uri="{FF2B5EF4-FFF2-40B4-BE49-F238E27FC236}">
                <a16:creationId xmlns:a16="http://schemas.microsoft.com/office/drawing/2014/main" id="{08C3DAD6-75D5-1134-5260-455407CE7D02}"/>
              </a:ext>
            </a:extLst>
          </p:cNvPr>
          <p:cNvSpPr txBox="1"/>
          <p:nvPr/>
        </p:nvSpPr>
        <p:spPr>
          <a:xfrm>
            <a:off x="7682948" y="5414682"/>
            <a:ext cx="4399470" cy="646331"/>
          </a:xfrm>
          <a:prstGeom prst="rect">
            <a:avLst/>
          </a:prstGeom>
          <a:noFill/>
        </p:spPr>
        <p:txBody>
          <a:bodyPr wrap="square" rtlCol="0">
            <a:spAutoFit/>
          </a:bodyPr>
          <a:lstStyle/>
          <a:p>
            <a:r>
              <a:rPr lang="en-US" dirty="0"/>
              <a:t>Whenever we are  taking merge decision, we add that item in the vocab</a:t>
            </a:r>
          </a:p>
        </p:txBody>
      </p:sp>
    </p:spTree>
    <p:extLst>
      <p:ext uri="{BB962C8B-B14F-4D97-AF65-F5344CB8AC3E}">
        <p14:creationId xmlns:p14="http://schemas.microsoft.com/office/powerpoint/2010/main" val="2120124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6" grpId="0"/>
      <p:bldP spid="2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51F29-45C3-4C26-ACE2-13EC1BDCD163}"/>
              </a:ext>
            </a:extLst>
          </p:cNvPr>
          <p:cNvSpPr>
            <a:spLocks noGrp="1"/>
          </p:cNvSpPr>
          <p:nvPr>
            <p:ph type="title"/>
          </p:nvPr>
        </p:nvSpPr>
        <p:spPr/>
        <p:txBody>
          <a:bodyPr/>
          <a:lstStyle/>
          <a:p>
            <a:r>
              <a:rPr lang="en-IN" dirty="0"/>
              <a:t>Byte Pair Encoding (BPE): Training</a:t>
            </a:r>
          </a:p>
        </p:txBody>
      </p:sp>
      <p:sp>
        <p:nvSpPr>
          <p:cNvPr id="4" name="Slide Number Placeholder 3">
            <a:extLst>
              <a:ext uri="{FF2B5EF4-FFF2-40B4-BE49-F238E27FC236}">
                <a16:creationId xmlns:a16="http://schemas.microsoft.com/office/drawing/2014/main" id="{15B39F5E-EE04-4FA5-9185-45F032530C16}"/>
              </a:ext>
            </a:extLst>
          </p:cNvPr>
          <p:cNvSpPr>
            <a:spLocks noGrp="1"/>
          </p:cNvSpPr>
          <p:nvPr>
            <p:ph type="sldNum" sz="quarter" idx="12"/>
          </p:nvPr>
        </p:nvSpPr>
        <p:spPr/>
        <p:txBody>
          <a:bodyPr/>
          <a:lstStyle/>
          <a:p>
            <a:fld id="{FF2BD96E-3838-45D2-9031-D3AF67C920A5}" type="slidenum">
              <a:rPr lang="en-US" smtClean="0"/>
              <a:t>10</a:t>
            </a:fld>
            <a:endParaRPr lang="en-US"/>
          </a:p>
        </p:txBody>
      </p:sp>
      <p:sp>
        <p:nvSpPr>
          <p:cNvPr id="5" name="TextBox 4">
            <a:extLst>
              <a:ext uri="{FF2B5EF4-FFF2-40B4-BE49-F238E27FC236}">
                <a16:creationId xmlns:a16="http://schemas.microsoft.com/office/drawing/2014/main" id="{089C4E37-B26E-4162-81A3-AE6D58F97C22}"/>
              </a:ext>
            </a:extLst>
          </p:cNvPr>
          <p:cNvSpPr txBox="1"/>
          <p:nvPr/>
        </p:nvSpPr>
        <p:spPr>
          <a:xfrm>
            <a:off x="719363" y="1183626"/>
            <a:ext cx="4227568" cy="461665"/>
          </a:xfrm>
          <a:prstGeom prst="rect">
            <a:avLst/>
          </a:prstGeom>
          <a:noFill/>
        </p:spPr>
        <p:txBody>
          <a:bodyPr wrap="none" rtlCol="0">
            <a:spAutoFit/>
          </a:bodyPr>
          <a:lstStyle/>
          <a:p>
            <a:r>
              <a:rPr lang="en-IN" sz="2400" dirty="0">
                <a:solidFill>
                  <a:srgbClr val="002060"/>
                </a:solidFill>
              </a:rPr>
              <a:t>Merge 2, for getting trigrams</a:t>
            </a:r>
          </a:p>
        </p:txBody>
      </p:sp>
      <p:sp>
        <p:nvSpPr>
          <p:cNvPr id="7" name="TextBox 6">
            <a:extLst>
              <a:ext uri="{FF2B5EF4-FFF2-40B4-BE49-F238E27FC236}">
                <a16:creationId xmlns:a16="http://schemas.microsoft.com/office/drawing/2014/main" id="{42CCBBA8-CAC4-42F3-8FE4-33C1E2039F78}"/>
              </a:ext>
            </a:extLst>
          </p:cNvPr>
          <p:cNvSpPr txBox="1"/>
          <p:nvPr/>
        </p:nvSpPr>
        <p:spPr>
          <a:xfrm>
            <a:off x="979004" y="1704056"/>
            <a:ext cx="10296941" cy="3970318"/>
          </a:xfrm>
          <a:prstGeom prst="rect">
            <a:avLst/>
          </a:prstGeom>
          <a:noFill/>
        </p:spPr>
        <p:txBody>
          <a:bodyPr wrap="square">
            <a:spAutoFit/>
          </a:bodyPr>
          <a:lstStyle/>
          <a:p>
            <a:r>
              <a:rPr lang="en-IN" dirty="0"/>
              <a:t>PAIRS: (p, at)=3 | (at, ␣)=9 | (c, at)=2 | (s, at)=2 | (o, n)=2 | (n, ␣)=2 | (m, at)=2 | (w, </a:t>
            </a:r>
            <a:r>
              <a:rPr lang="en-IN" dirty="0" err="1"/>
              <a:t>i</a:t>
            </a:r>
            <a:r>
              <a:rPr lang="en-IN" dirty="0"/>
              <a:t>)=1 | </a:t>
            </a:r>
          </a:p>
          <a:p>
            <a:r>
              <a:rPr lang="en-IN" dirty="0"/>
              <a:t>             (</a:t>
            </a:r>
            <a:r>
              <a:rPr lang="en-IN" dirty="0" err="1"/>
              <a:t>i</a:t>
            </a:r>
            <a:r>
              <a:rPr lang="en-IN" dirty="0"/>
              <a:t>, t)=1 | (t, h)=1 | (h, ␣)=1</a:t>
            </a:r>
          </a:p>
          <a:p>
            <a:endParaRPr lang="en-IN" dirty="0"/>
          </a:p>
          <a:p>
            <a:r>
              <a:rPr lang="en-IN" dirty="0"/>
              <a:t>SORTED: (at, ␣)=9 | (p, at)=3 | (c, at)=2 | (s, at)=2 | (o, n)=2 | (n, ␣)=2 | (m, at)=2 | </a:t>
            </a:r>
          </a:p>
          <a:p>
            <a:r>
              <a:rPr lang="en-IN" dirty="0"/>
              <a:t>                  (w, </a:t>
            </a:r>
            <a:r>
              <a:rPr lang="en-IN" dirty="0" err="1"/>
              <a:t>i</a:t>
            </a:r>
            <a:r>
              <a:rPr lang="en-IN" dirty="0"/>
              <a:t>)=1 | (</a:t>
            </a:r>
            <a:r>
              <a:rPr lang="en-IN" dirty="0" err="1"/>
              <a:t>i</a:t>
            </a:r>
            <a:r>
              <a:rPr lang="en-IN" dirty="0"/>
              <a:t>, t)=1 | (t, h)=1 | (h, ␣)=1</a:t>
            </a:r>
          </a:p>
          <a:p>
            <a:endParaRPr lang="en-IN" dirty="0"/>
          </a:p>
          <a:p>
            <a:r>
              <a:rPr lang="en-IN" dirty="0"/>
              <a:t>MERGE: (at, ␣) → at␣</a:t>
            </a:r>
          </a:p>
          <a:p>
            <a:endParaRPr lang="en-IN" dirty="0"/>
          </a:p>
          <a:p>
            <a:r>
              <a:rPr lang="en-IN" dirty="0">
                <a:solidFill>
                  <a:srgbClr val="0070C0"/>
                </a:solidFill>
              </a:rPr>
              <a:t>UPDATED TOKS: [[p, at␣], [p, at␣], [c, at␣], [s, at␣], [o, n, ␣], [m, at␣], [c, at␣], [s, at␣], </a:t>
            </a:r>
          </a:p>
          <a:p>
            <a:r>
              <a:rPr lang="en-IN" dirty="0">
                <a:solidFill>
                  <a:srgbClr val="0070C0"/>
                </a:solidFill>
              </a:rPr>
              <a:t>                                 [o, n, ␣], [m, at␣], [w, </a:t>
            </a:r>
            <a:r>
              <a:rPr lang="en-IN" dirty="0" err="1">
                <a:solidFill>
                  <a:srgbClr val="0070C0"/>
                </a:solidFill>
              </a:rPr>
              <a:t>i</a:t>
            </a:r>
            <a:r>
              <a:rPr lang="en-IN" dirty="0">
                <a:solidFill>
                  <a:srgbClr val="0070C0"/>
                </a:solidFill>
              </a:rPr>
              <a:t>, t, h, ␣], [p, at␣]]</a:t>
            </a:r>
          </a:p>
          <a:p>
            <a:endParaRPr lang="en-IN" dirty="0"/>
          </a:p>
          <a:p>
            <a:r>
              <a:rPr lang="en-IN" dirty="0">
                <a:solidFill>
                  <a:srgbClr val="00B050"/>
                </a:solidFill>
              </a:rPr>
              <a:t>UPDATED VOCAB: [a, at, at␣, c, h, </a:t>
            </a:r>
            <a:r>
              <a:rPr lang="en-IN" dirty="0" err="1">
                <a:solidFill>
                  <a:srgbClr val="00B050"/>
                </a:solidFill>
              </a:rPr>
              <a:t>i</a:t>
            </a:r>
            <a:r>
              <a:rPr lang="en-IN" dirty="0">
                <a:solidFill>
                  <a:srgbClr val="00B050"/>
                </a:solidFill>
              </a:rPr>
              <a:t>, m, n, o, p, s, t, w, ␣]</a:t>
            </a:r>
          </a:p>
          <a:p>
            <a:endParaRPr lang="en-IN" dirty="0"/>
          </a:p>
          <a:p>
            <a:r>
              <a:rPr lang="en-IN" dirty="0">
                <a:solidFill>
                  <a:schemeClr val="accent1">
                    <a:lumMod val="50000"/>
                  </a:schemeClr>
                </a:solidFill>
              </a:rPr>
              <a:t>MERGE RULES: [(a, t) → at, (at, ␣) → at␣]</a:t>
            </a:r>
          </a:p>
        </p:txBody>
      </p:sp>
      <p:sp>
        <p:nvSpPr>
          <p:cNvPr id="3" name="TextBox 2">
            <a:extLst>
              <a:ext uri="{FF2B5EF4-FFF2-40B4-BE49-F238E27FC236}">
                <a16:creationId xmlns:a16="http://schemas.microsoft.com/office/drawing/2014/main" id="{ED81A302-C510-596B-44AD-74F5963207B4}"/>
              </a:ext>
            </a:extLst>
          </p:cNvPr>
          <p:cNvSpPr txBox="1"/>
          <p:nvPr/>
        </p:nvSpPr>
        <p:spPr>
          <a:xfrm>
            <a:off x="5423647" y="5289176"/>
            <a:ext cx="6768353" cy="276999"/>
          </a:xfrm>
          <a:prstGeom prst="rect">
            <a:avLst/>
          </a:prstGeom>
          <a:noFill/>
        </p:spPr>
        <p:txBody>
          <a:bodyPr wrap="square" rtlCol="0">
            <a:spAutoFit/>
          </a:bodyPr>
          <a:lstStyle/>
          <a:p>
            <a:r>
              <a:rPr lang="en-US" sz="1200" dirty="0"/>
              <a:t>We first insert unigrams in the vocabulary, then bigrams, and then trigrams and so on </a:t>
            </a:r>
          </a:p>
        </p:txBody>
      </p:sp>
    </p:spTree>
    <p:extLst>
      <p:ext uri="{BB962C8B-B14F-4D97-AF65-F5344CB8AC3E}">
        <p14:creationId xmlns:p14="http://schemas.microsoft.com/office/powerpoint/2010/main" val="1980165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fade">
                                      <p:cBhvr>
                                        <p:cTn id="10" dur="500"/>
                                        <p:tgtEl>
                                          <p:spTgt spid="7">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animEffect transition="in" filter="fade">
                                      <p:cBhvr>
                                        <p:cTn id="15" dur="500"/>
                                        <p:tgtEl>
                                          <p:spTgt spid="7">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7">
                                            <p:txEl>
                                              <p:pRg st="4" end="4"/>
                                            </p:txEl>
                                          </p:spTgt>
                                        </p:tgtEl>
                                        <p:attrNameLst>
                                          <p:attrName>style.visibility</p:attrName>
                                        </p:attrNameLst>
                                      </p:cBhvr>
                                      <p:to>
                                        <p:strVal val="visible"/>
                                      </p:to>
                                    </p:set>
                                    <p:animEffect transition="in" filter="fade">
                                      <p:cBhvr>
                                        <p:cTn id="18" dur="500"/>
                                        <p:tgtEl>
                                          <p:spTgt spid="7">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animEffect transition="in" filter="fade">
                                      <p:cBhvr>
                                        <p:cTn id="23" dur="500"/>
                                        <p:tgtEl>
                                          <p:spTgt spid="7">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7">
                                            <p:txEl>
                                              <p:pRg st="8" end="8"/>
                                            </p:txEl>
                                          </p:spTgt>
                                        </p:tgtEl>
                                        <p:attrNameLst>
                                          <p:attrName>style.visibility</p:attrName>
                                        </p:attrNameLst>
                                      </p:cBhvr>
                                      <p:to>
                                        <p:strVal val="visible"/>
                                      </p:to>
                                    </p:set>
                                    <p:animEffect transition="in" filter="fade">
                                      <p:cBhvr>
                                        <p:cTn id="28" dur="500"/>
                                        <p:tgtEl>
                                          <p:spTgt spid="7">
                                            <p:txEl>
                                              <p:pRg st="8" end="8"/>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7">
                                            <p:txEl>
                                              <p:pRg st="9" end="9"/>
                                            </p:txEl>
                                          </p:spTgt>
                                        </p:tgtEl>
                                        <p:attrNameLst>
                                          <p:attrName>style.visibility</p:attrName>
                                        </p:attrNameLst>
                                      </p:cBhvr>
                                      <p:to>
                                        <p:strVal val="visible"/>
                                      </p:to>
                                    </p:set>
                                    <p:animEffect transition="in" filter="fade">
                                      <p:cBhvr>
                                        <p:cTn id="31" dur="500"/>
                                        <p:tgtEl>
                                          <p:spTgt spid="7">
                                            <p:txEl>
                                              <p:pRg st="9" end="9"/>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7">
                                            <p:txEl>
                                              <p:pRg st="11" end="11"/>
                                            </p:txEl>
                                          </p:spTgt>
                                        </p:tgtEl>
                                        <p:attrNameLst>
                                          <p:attrName>style.visibility</p:attrName>
                                        </p:attrNameLst>
                                      </p:cBhvr>
                                      <p:to>
                                        <p:strVal val="visible"/>
                                      </p:to>
                                    </p:set>
                                    <p:animEffect transition="in" filter="fade">
                                      <p:cBhvr>
                                        <p:cTn id="36" dur="500"/>
                                        <p:tgtEl>
                                          <p:spTgt spid="7">
                                            <p:txEl>
                                              <p:pRg st="11" end="1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7">
                                            <p:txEl>
                                              <p:pRg st="13" end="13"/>
                                            </p:txEl>
                                          </p:spTgt>
                                        </p:tgtEl>
                                        <p:attrNameLst>
                                          <p:attrName>style.visibility</p:attrName>
                                        </p:attrNameLst>
                                      </p:cBhvr>
                                      <p:to>
                                        <p:strVal val="visible"/>
                                      </p:to>
                                    </p:set>
                                    <p:animEffect transition="in" filter="fade">
                                      <p:cBhvr>
                                        <p:cTn id="41" dur="500"/>
                                        <p:tgtEl>
                                          <p:spTgt spid="7">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D87BC-C6F7-470B-A471-CA59CAE12066}"/>
              </a:ext>
            </a:extLst>
          </p:cNvPr>
          <p:cNvSpPr>
            <a:spLocks noGrp="1"/>
          </p:cNvSpPr>
          <p:nvPr>
            <p:ph type="title"/>
          </p:nvPr>
        </p:nvSpPr>
        <p:spPr/>
        <p:txBody>
          <a:bodyPr/>
          <a:lstStyle/>
          <a:p>
            <a:r>
              <a:rPr lang="en-IN" dirty="0"/>
              <a:t>Byte Pair Encoding (BPE): Training</a:t>
            </a:r>
          </a:p>
        </p:txBody>
      </p:sp>
      <p:sp>
        <p:nvSpPr>
          <p:cNvPr id="4" name="Slide Number Placeholder 3">
            <a:extLst>
              <a:ext uri="{FF2B5EF4-FFF2-40B4-BE49-F238E27FC236}">
                <a16:creationId xmlns:a16="http://schemas.microsoft.com/office/drawing/2014/main" id="{55505A15-A6F2-431B-B5DB-530711A8C929}"/>
              </a:ext>
            </a:extLst>
          </p:cNvPr>
          <p:cNvSpPr>
            <a:spLocks noGrp="1"/>
          </p:cNvSpPr>
          <p:nvPr>
            <p:ph type="sldNum" sz="quarter" idx="12"/>
          </p:nvPr>
        </p:nvSpPr>
        <p:spPr/>
        <p:txBody>
          <a:bodyPr/>
          <a:lstStyle/>
          <a:p>
            <a:fld id="{FF2BD96E-3838-45D2-9031-D3AF67C920A5}" type="slidenum">
              <a:rPr lang="en-US" smtClean="0"/>
              <a:t>11</a:t>
            </a:fld>
            <a:endParaRPr lang="en-US"/>
          </a:p>
        </p:txBody>
      </p:sp>
      <p:sp>
        <p:nvSpPr>
          <p:cNvPr id="8" name="TextBox 7">
            <a:extLst>
              <a:ext uri="{FF2B5EF4-FFF2-40B4-BE49-F238E27FC236}">
                <a16:creationId xmlns:a16="http://schemas.microsoft.com/office/drawing/2014/main" id="{5F3D4409-508F-42A1-B581-448E4CEE3252}"/>
              </a:ext>
            </a:extLst>
          </p:cNvPr>
          <p:cNvSpPr txBox="1"/>
          <p:nvPr/>
        </p:nvSpPr>
        <p:spPr>
          <a:xfrm>
            <a:off x="823291" y="1647983"/>
            <a:ext cx="10545418" cy="3970318"/>
          </a:xfrm>
          <a:prstGeom prst="rect">
            <a:avLst/>
          </a:prstGeom>
          <a:noFill/>
        </p:spPr>
        <p:txBody>
          <a:bodyPr wrap="square">
            <a:spAutoFit/>
          </a:bodyPr>
          <a:lstStyle/>
          <a:p>
            <a:r>
              <a:rPr lang="en-IN" dirty="0"/>
              <a:t>PAIRS: (p, at␣)=3 | (c, at␣)=2 | (s, at␣)=2 | (o, n)=2 | (n, ␣)=2 | (m, at␣)=2 | (w, </a:t>
            </a:r>
            <a:r>
              <a:rPr lang="en-IN" dirty="0" err="1"/>
              <a:t>i</a:t>
            </a:r>
            <a:r>
              <a:rPr lang="en-IN" dirty="0"/>
              <a:t>)=1 | (</a:t>
            </a:r>
            <a:r>
              <a:rPr lang="en-IN" dirty="0" err="1"/>
              <a:t>i</a:t>
            </a:r>
            <a:r>
              <a:rPr lang="en-IN" dirty="0"/>
              <a:t>, t)=1 | </a:t>
            </a:r>
            <a:br>
              <a:rPr lang="en-IN" dirty="0"/>
            </a:br>
            <a:r>
              <a:rPr lang="en-IN" dirty="0"/>
              <a:t>             (t, h)=1 | (h, ␣)=1</a:t>
            </a:r>
          </a:p>
          <a:p>
            <a:endParaRPr lang="en-IN" dirty="0"/>
          </a:p>
          <a:p>
            <a:r>
              <a:rPr lang="en-IN" dirty="0"/>
              <a:t>SORTED: (p, at␣)=3 | (c, at␣)=2 | (s, at␣)=2 | (o, n)=2 | (n, ␣)=2 | (m, at␣)=2 | (w, </a:t>
            </a:r>
            <a:r>
              <a:rPr lang="en-IN" dirty="0" err="1"/>
              <a:t>i</a:t>
            </a:r>
            <a:r>
              <a:rPr lang="en-IN" dirty="0"/>
              <a:t>)=1 | (</a:t>
            </a:r>
            <a:r>
              <a:rPr lang="en-IN" dirty="0" err="1"/>
              <a:t>i</a:t>
            </a:r>
            <a:r>
              <a:rPr lang="en-IN" dirty="0"/>
              <a:t>, t)=1 | </a:t>
            </a:r>
          </a:p>
          <a:p>
            <a:r>
              <a:rPr lang="en-IN" dirty="0"/>
              <a:t>                  (t, h)=1 | (h, ␣)=1</a:t>
            </a:r>
          </a:p>
          <a:p>
            <a:endParaRPr lang="en-IN" dirty="0"/>
          </a:p>
          <a:p>
            <a:r>
              <a:rPr lang="en-IN" dirty="0"/>
              <a:t>MERGE: (p, at␣) → pat␣</a:t>
            </a:r>
          </a:p>
          <a:p>
            <a:endParaRPr lang="en-IN" dirty="0"/>
          </a:p>
          <a:p>
            <a:r>
              <a:rPr lang="en-IN" dirty="0">
                <a:solidFill>
                  <a:srgbClr val="0070C0"/>
                </a:solidFill>
              </a:rPr>
              <a:t>UPDATED TOKS: [[pat␣], [c, at␣], [s, at␣], [o, n, ␣], [m, at␣], [c, at␣], [s, at␣], [o, n, ␣], </a:t>
            </a:r>
          </a:p>
          <a:p>
            <a:r>
              <a:rPr lang="en-IN" dirty="0">
                <a:solidFill>
                  <a:srgbClr val="0070C0"/>
                </a:solidFill>
              </a:rPr>
              <a:t>                                 [m, at␣], [w, </a:t>
            </a:r>
            <a:r>
              <a:rPr lang="en-IN" dirty="0" err="1">
                <a:solidFill>
                  <a:srgbClr val="0070C0"/>
                </a:solidFill>
              </a:rPr>
              <a:t>i</a:t>
            </a:r>
            <a:r>
              <a:rPr lang="en-IN" dirty="0">
                <a:solidFill>
                  <a:srgbClr val="0070C0"/>
                </a:solidFill>
              </a:rPr>
              <a:t>, t, h, ␣], [pat␣]]</a:t>
            </a:r>
          </a:p>
          <a:p>
            <a:endParaRPr lang="en-IN" dirty="0"/>
          </a:p>
          <a:p>
            <a:r>
              <a:rPr lang="en-IN" dirty="0">
                <a:solidFill>
                  <a:srgbClr val="00B050"/>
                </a:solidFill>
              </a:rPr>
              <a:t>UPDATED VOCAB: [a, at, at␣, c, h, </a:t>
            </a:r>
            <a:r>
              <a:rPr lang="en-IN" dirty="0" err="1">
                <a:solidFill>
                  <a:srgbClr val="00B050"/>
                </a:solidFill>
              </a:rPr>
              <a:t>i</a:t>
            </a:r>
            <a:r>
              <a:rPr lang="en-IN" dirty="0">
                <a:solidFill>
                  <a:srgbClr val="00B050"/>
                </a:solidFill>
              </a:rPr>
              <a:t>, m, n, o, p, pat␣, s, t, w, ␣]</a:t>
            </a:r>
          </a:p>
          <a:p>
            <a:endParaRPr lang="en-IN" dirty="0"/>
          </a:p>
          <a:p>
            <a:r>
              <a:rPr lang="en-IN" dirty="0">
                <a:solidFill>
                  <a:schemeClr val="accent1">
                    <a:lumMod val="50000"/>
                  </a:schemeClr>
                </a:solidFill>
              </a:rPr>
              <a:t>MERGE RULES: [(a, t) → at, (at, ␣) → at␣, (p, at␣) → pat␣]</a:t>
            </a:r>
          </a:p>
        </p:txBody>
      </p:sp>
      <p:sp>
        <p:nvSpPr>
          <p:cNvPr id="9" name="TextBox 8">
            <a:extLst>
              <a:ext uri="{FF2B5EF4-FFF2-40B4-BE49-F238E27FC236}">
                <a16:creationId xmlns:a16="http://schemas.microsoft.com/office/drawing/2014/main" id="{856DBD05-B587-4E79-8278-DFCA1EB1F81D}"/>
              </a:ext>
            </a:extLst>
          </p:cNvPr>
          <p:cNvSpPr txBox="1"/>
          <p:nvPr/>
        </p:nvSpPr>
        <p:spPr>
          <a:xfrm>
            <a:off x="719363" y="1183626"/>
            <a:ext cx="1363707" cy="461665"/>
          </a:xfrm>
          <a:prstGeom prst="rect">
            <a:avLst/>
          </a:prstGeom>
          <a:noFill/>
        </p:spPr>
        <p:txBody>
          <a:bodyPr wrap="none" rtlCol="0">
            <a:spAutoFit/>
          </a:bodyPr>
          <a:lstStyle/>
          <a:p>
            <a:r>
              <a:rPr lang="en-IN" sz="2400" dirty="0">
                <a:solidFill>
                  <a:srgbClr val="002060"/>
                </a:solidFill>
              </a:rPr>
              <a:t>Merge 3</a:t>
            </a:r>
          </a:p>
        </p:txBody>
      </p:sp>
    </p:spTree>
    <p:extLst>
      <p:ext uri="{BB962C8B-B14F-4D97-AF65-F5344CB8AC3E}">
        <p14:creationId xmlns:p14="http://schemas.microsoft.com/office/powerpoint/2010/main" val="3219436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500"/>
                                        <p:tgtEl>
                                          <p:spTgt spid="8">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animEffect transition="in" filter="fade">
                                      <p:cBhvr>
                                        <p:cTn id="15" dur="500"/>
                                        <p:tgtEl>
                                          <p:spTgt spid="8">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
                                            <p:txEl>
                                              <p:pRg st="5" end="5"/>
                                            </p:txEl>
                                          </p:spTgt>
                                        </p:tgtEl>
                                        <p:attrNameLst>
                                          <p:attrName>style.visibility</p:attrName>
                                        </p:attrNameLst>
                                      </p:cBhvr>
                                      <p:to>
                                        <p:strVal val="visible"/>
                                      </p:to>
                                    </p:set>
                                    <p:animEffect transition="in" filter="fade">
                                      <p:cBhvr>
                                        <p:cTn id="20" dur="500"/>
                                        <p:tgtEl>
                                          <p:spTgt spid="8">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xEl>
                                              <p:pRg st="7" end="7"/>
                                            </p:txEl>
                                          </p:spTgt>
                                        </p:tgtEl>
                                        <p:attrNameLst>
                                          <p:attrName>style.visibility</p:attrName>
                                        </p:attrNameLst>
                                      </p:cBhvr>
                                      <p:to>
                                        <p:strVal val="visible"/>
                                      </p:to>
                                    </p:set>
                                    <p:animEffect transition="in" filter="fade">
                                      <p:cBhvr>
                                        <p:cTn id="25" dur="500"/>
                                        <p:tgtEl>
                                          <p:spTgt spid="8">
                                            <p:txEl>
                                              <p:pRg st="7" end="7"/>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8">
                                            <p:txEl>
                                              <p:pRg st="8" end="8"/>
                                            </p:txEl>
                                          </p:spTgt>
                                        </p:tgtEl>
                                        <p:attrNameLst>
                                          <p:attrName>style.visibility</p:attrName>
                                        </p:attrNameLst>
                                      </p:cBhvr>
                                      <p:to>
                                        <p:strVal val="visible"/>
                                      </p:to>
                                    </p:set>
                                    <p:animEffect transition="in" filter="fade">
                                      <p:cBhvr>
                                        <p:cTn id="28" dur="500"/>
                                        <p:tgtEl>
                                          <p:spTgt spid="8">
                                            <p:txEl>
                                              <p:pRg st="8" end="8"/>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8">
                                            <p:txEl>
                                              <p:pRg st="10" end="10"/>
                                            </p:txEl>
                                          </p:spTgt>
                                        </p:tgtEl>
                                        <p:attrNameLst>
                                          <p:attrName>style.visibility</p:attrName>
                                        </p:attrNameLst>
                                      </p:cBhvr>
                                      <p:to>
                                        <p:strVal val="visible"/>
                                      </p:to>
                                    </p:set>
                                    <p:animEffect transition="in" filter="fade">
                                      <p:cBhvr>
                                        <p:cTn id="33" dur="500"/>
                                        <p:tgtEl>
                                          <p:spTgt spid="8">
                                            <p:txEl>
                                              <p:pRg st="10" end="1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8">
                                            <p:txEl>
                                              <p:pRg st="12" end="12"/>
                                            </p:txEl>
                                          </p:spTgt>
                                        </p:tgtEl>
                                        <p:attrNameLst>
                                          <p:attrName>style.visibility</p:attrName>
                                        </p:attrNameLst>
                                      </p:cBhvr>
                                      <p:to>
                                        <p:strVal val="visible"/>
                                      </p:to>
                                    </p:set>
                                    <p:animEffect transition="in" filter="fade">
                                      <p:cBhvr>
                                        <p:cTn id="38" dur="500"/>
                                        <p:tgtEl>
                                          <p:spTgt spid="8">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254C0-190D-4D04-A820-BF9B638327E8}"/>
              </a:ext>
            </a:extLst>
          </p:cNvPr>
          <p:cNvSpPr>
            <a:spLocks noGrp="1"/>
          </p:cNvSpPr>
          <p:nvPr>
            <p:ph type="title"/>
          </p:nvPr>
        </p:nvSpPr>
        <p:spPr/>
        <p:txBody>
          <a:bodyPr/>
          <a:lstStyle/>
          <a:p>
            <a:r>
              <a:rPr lang="en-IN" dirty="0"/>
              <a:t>Byte Pair Encoding (BPE): Training</a:t>
            </a:r>
          </a:p>
        </p:txBody>
      </p:sp>
      <p:sp>
        <p:nvSpPr>
          <p:cNvPr id="4" name="Slide Number Placeholder 3">
            <a:extLst>
              <a:ext uri="{FF2B5EF4-FFF2-40B4-BE49-F238E27FC236}">
                <a16:creationId xmlns:a16="http://schemas.microsoft.com/office/drawing/2014/main" id="{13C11CC2-5A3F-477C-AEA2-F60F58806F71}"/>
              </a:ext>
            </a:extLst>
          </p:cNvPr>
          <p:cNvSpPr>
            <a:spLocks noGrp="1"/>
          </p:cNvSpPr>
          <p:nvPr>
            <p:ph type="sldNum" sz="quarter" idx="12"/>
          </p:nvPr>
        </p:nvSpPr>
        <p:spPr/>
        <p:txBody>
          <a:bodyPr/>
          <a:lstStyle/>
          <a:p>
            <a:fld id="{FF2BD96E-3838-45D2-9031-D3AF67C920A5}" type="slidenum">
              <a:rPr lang="en-US" smtClean="0"/>
              <a:t>12</a:t>
            </a:fld>
            <a:endParaRPr lang="en-US"/>
          </a:p>
        </p:txBody>
      </p:sp>
      <p:sp>
        <p:nvSpPr>
          <p:cNvPr id="7" name="TextBox 6">
            <a:extLst>
              <a:ext uri="{FF2B5EF4-FFF2-40B4-BE49-F238E27FC236}">
                <a16:creationId xmlns:a16="http://schemas.microsoft.com/office/drawing/2014/main" id="{3DD356EC-EFCF-40EA-996E-5FB0F2703423}"/>
              </a:ext>
            </a:extLst>
          </p:cNvPr>
          <p:cNvSpPr txBox="1"/>
          <p:nvPr/>
        </p:nvSpPr>
        <p:spPr>
          <a:xfrm>
            <a:off x="719363" y="1183626"/>
            <a:ext cx="1541640" cy="461665"/>
          </a:xfrm>
          <a:prstGeom prst="rect">
            <a:avLst/>
          </a:prstGeom>
          <a:noFill/>
        </p:spPr>
        <p:txBody>
          <a:bodyPr wrap="none" rtlCol="0">
            <a:spAutoFit/>
          </a:bodyPr>
          <a:lstStyle/>
          <a:p>
            <a:r>
              <a:rPr lang="en-IN" sz="2400" dirty="0">
                <a:solidFill>
                  <a:srgbClr val="002060"/>
                </a:solidFill>
              </a:rPr>
              <a:t>Merge 12</a:t>
            </a:r>
          </a:p>
        </p:txBody>
      </p:sp>
      <p:sp>
        <p:nvSpPr>
          <p:cNvPr id="8" name="TextBox 7">
            <a:extLst>
              <a:ext uri="{FF2B5EF4-FFF2-40B4-BE49-F238E27FC236}">
                <a16:creationId xmlns:a16="http://schemas.microsoft.com/office/drawing/2014/main" id="{688F4E7F-D51B-442B-A886-BFDA11A90E3C}"/>
              </a:ext>
            </a:extLst>
          </p:cNvPr>
          <p:cNvSpPr txBox="1"/>
          <p:nvPr/>
        </p:nvSpPr>
        <p:spPr>
          <a:xfrm>
            <a:off x="719363" y="1920232"/>
            <a:ext cx="6097656" cy="3970318"/>
          </a:xfrm>
          <a:prstGeom prst="rect">
            <a:avLst/>
          </a:prstGeom>
          <a:noFill/>
        </p:spPr>
        <p:txBody>
          <a:bodyPr wrap="square">
            <a:spAutoFit/>
          </a:bodyPr>
          <a:lstStyle/>
          <a:p>
            <a:r>
              <a:rPr lang="en-IN" dirty="0"/>
              <a:t>PAIRS: (with, ␣)=1  </a:t>
            </a:r>
          </a:p>
          <a:p>
            <a:r>
              <a:rPr lang="en-IN" dirty="0"/>
              <a:t>SORTED: (with, ␣)=1</a:t>
            </a:r>
          </a:p>
          <a:p>
            <a:endParaRPr lang="en-IN" dirty="0"/>
          </a:p>
          <a:p>
            <a:r>
              <a:rPr lang="en-IN" dirty="0"/>
              <a:t>MERGE: (with, ␣) → with␣</a:t>
            </a:r>
          </a:p>
          <a:p>
            <a:endParaRPr lang="en-IN" dirty="0"/>
          </a:p>
          <a:p>
            <a:r>
              <a:rPr lang="en-IN" dirty="0">
                <a:solidFill>
                  <a:srgbClr val="0070C0"/>
                </a:solidFill>
              </a:rPr>
              <a:t>UPDATED TOKS: </a:t>
            </a:r>
          </a:p>
          <a:p>
            <a:r>
              <a:rPr lang="en-IN" dirty="0">
                <a:solidFill>
                  <a:srgbClr val="0070C0"/>
                </a:solidFill>
              </a:rPr>
              <a:t>[[pat␣], [pat␣], [cat␣], [sat␣], [on␣], [mat␣], [cat␣], [sat␣], [on␣], [mat␣], [with␣], [pat␣]]</a:t>
            </a:r>
          </a:p>
          <a:p>
            <a:endParaRPr lang="en-IN" dirty="0"/>
          </a:p>
          <a:p>
            <a:r>
              <a:rPr lang="en-IN" dirty="0">
                <a:solidFill>
                  <a:srgbClr val="00B050"/>
                </a:solidFill>
              </a:rPr>
              <a:t>UPDATED VOCAB: </a:t>
            </a:r>
          </a:p>
          <a:p>
            <a:r>
              <a:rPr lang="en-IN" dirty="0">
                <a:solidFill>
                  <a:srgbClr val="00B050"/>
                </a:solidFill>
              </a:rPr>
              <a:t>[a, at, at␣, c, cat␣, h, </a:t>
            </a:r>
            <a:r>
              <a:rPr lang="en-IN" dirty="0" err="1">
                <a:solidFill>
                  <a:srgbClr val="00B050"/>
                </a:solidFill>
              </a:rPr>
              <a:t>i</a:t>
            </a:r>
            <a:r>
              <a:rPr lang="en-IN" dirty="0">
                <a:solidFill>
                  <a:srgbClr val="00B050"/>
                </a:solidFill>
              </a:rPr>
              <a:t>, m, mat␣, n, o, on, on␣, p, pat␣, s, sat␣, t, w, </a:t>
            </a:r>
            <a:r>
              <a:rPr lang="en-IN" dirty="0" err="1">
                <a:solidFill>
                  <a:srgbClr val="00B050"/>
                </a:solidFill>
              </a:rPr>
              <a:t>wi</a:t>
            </a:r>
            <a:r>
              <a:rPr lang="en-IN" dirty="0">
                <a:solidFill>
                  <a:srgbClr val="00B050"/>
                </a:solidFill>
              </a:rPr>
              <a:t>, wit, with, with␣, ␣]</a:t>
            </a:r>
          </a:p>
          <a:p>
            <a:endParaRPr lang="en-IN" dirty="0"/>
          </a:p>
          <a:p>
            <a:endParaRPr lang="en-IN" dirty="0"/>
          </a:p>
        </p:txBody>
      </p:sp>
      <p:sp>
        <p:nvSpPr>
          <p:cNvPr id="9" name="TextBox 8">
            <a:extLst>
              <a:ext uri="{FF2B5EF4-FFF2-40B4-BE49-F238E27FC236}">
                <a16:creationId xmlns:a16="http://schemas.microsoft.com/office/drawing/2014/main" id="{FF09355B-2658-4F33-9019-4291B3E1D1CA}"/>
              </a:ext>
            </a:extLst>
          </p:cNvPr>
          <p:cNvSpPr txBox="1"/>
          <p:nvPr/>
        </p:nvSpPr>
        <p:spPr>
          <a:xfrm>
            <a:off x="8100787" y="1582340"/>
            <a:ext cx="3371850" cy="3693319"/>
          </a:xfrm>
          <a:prstGeom prst="rect">
            <a:avLst/>
          </a:prstGeom>
          <a:noFill/>
        </p:spPr>
        <p:txBody>
          <a:bodyPr wrap="square">
            <a:spAutoFit/>
          </a:bodyPr>
          <a:lstStyle/>
          <a:p>
            <a:r>
              <a:rPr lang="en-IN" dirty="0">
                <a:solidFill>
                  <a:schemeClr val="accent1">
                    <a:lumMod val="50000"/>
                  </a:schemeClr>
                </a:solidFill>
              </a:rPr>
              <a:t>MERGE RULES: </a:t>
            </a:r>
          </a:p>
          <a:p>
            <a:r>
              <a:rPr lang="en-IN" dirty="0">
                <a:solidFill>
                  <a:schemeClr val="accent1">
                    <a:lumMod val="50000"/>
                  </a:schemeClr>
                </a:solidFill>
              </a:rPr>
              <a:t>[(a, t) → at, </a:t>
            </a:r>
          </a:p>
          <a:p>
            <a:r>
              <a:rPr lang="en-IN" dirty="0">
                <a:solidFill>
                  <a:schemeClr val="accent1">
                    <a:lumMod val="50000"/>
                  </a:schemeClr>
                </a:solidFill>
              </a:rPr>
              <a:t>(at, ␣) → at␣, </a:t>
            </a:r>
          </a:p>
          <a:p>
            <a:r>
              <a:rPr lang="en-IN" dirty="0">
                <a:solidFill>
                  <a:schemeClr val="accent1">
                    <a:lumMod val="50000"/>
                  </a:schemeClr>
                </a:solidFill>
              </a:rPr>
              <a:t>(p, at␣) → pat␣, </a:t>
            </a:r>
          </a:p>
          <a:p>
            <a:r>
              <a:rPr lang="en-IN" dirty="0">
                <a:solidFill>
                  <a:schemeClr val="accent1">
                    <a:lumMod val="50000"/>
                  </a:schemeClr>
                </a:solidFill>
              </a:rPr>
              <a:t>(c, at␣) → cat␣, </a:t>
            </a:r>
          </a:p>
          <a:p>
            <a:r>
              <a:rPr lang="en-IN" dirty="0">
                <a:solidFill>
                  <a:schemeClr val="accent1">
                    <a:lumMod val="50000"/>
                  </a:schemeClr>
                </a:solidFill>
              </a:rPr>
              <a:t>(s, at␣) → sat␣, </a:t>
            </a:r>
          </a:p>
          <a:p>
            <a:r>
              <a:rPr lang="en-IN" dirty="0">
                <a:solidFill>
                  <a:schemeClr val="accent1">
                    <a:lumMod val="50000"/>
                  </a:schemeClr>
                </a:solidFill>
              </a:rPr>
              <a:t>(o, n) → on, </a:t>
            </a:r>
          </a:p>
          <a:p>
            <a:r>
              <a:rPr lang="en-IN" dirty="0">
                <a:solidFill>
                  <a:schemeClr val="accent1">
                    <a:lumMod val="50000"/>
                  </a:schemeClr>
                </a:solidFill>
              </a:rPr>
              <a:t>(on, ␣) → on␣, </a:t>
            </a:r>
          </a:p>
          <a:p>
            <a:r>
              <a:rPr lang="en-IN" dirty="0">
                <a:solidFill>
                  <a:schemeClr val="accent1">
                    <a:lumMod val="50000"/>
                  </a:schemeClr>
                </a:solidFill>
              </a:rPr>
              <a:t>(m, at␣) → mat␣, </a:t>
            </a:r>
          </a:p>
          <a:p>
            <a:r>
              <a:rPr lang="en-IN" dirty="0">
                <a:solidFill>
                  <a:schemeClr val="accent1">
                    <a:lumMod val="50000"/>
                  </a:schemeClr>
                </a:solidFill>
              </a:rPr>
              <a:t>(w, </a:t>
            </a:r>
            <a:r>
              <a:rPr lang="en-IN" dirty="0" err="1">
                <a:solidFill>
                  <a:schemeClr val="accent1">
                    <a:lumMod val="50000"/>
                  </a:schemeClr>
                </a:solidFill>
              </a:rPr>
              <a:t>i</a:t>
            </a:r>
            <a:r>
              <a:rPr lang="en-IN" dirty="0">
                <a:solidFill>
                  <a:schemeClr val="accent1">
                    <a:lumMod val="50000"/>
                  </a:schemeClr>
                </a:solidFill>
              </a:rPr>
              <a:t>) → </a:t>
            </a:r>
            <a:r>
              <a:rPr lang="en-IN" dirty="0" err="1">
                <a:solidFill>
                  <a:schemeClr val="accent1">
                    <a:lumMod val="50000"/>
                  </a:schemeClr>
                </a:solidFill>
              </a:rPr>
              <a:t>wi</a:t>
            </a:r>
            <a:r>
              <a:rPr lang="en-IN" dirty="0">
                <a:solidFill>
                  <a:schemeClr val="accent1">
                    <a:lumMod val="50000"/>
                  </a:schemeClr>
                </a:solidFill>
              </a:rPr>
              <a:t>, </a:t>
            </a:r>
          </a:p>
          <a:p>
            <a:r>
              <a:rPr lang="en-IN" dirty="0">
                <a:solidFill>
                  <a:schemeClr val="accent1">
                    <a:lumMod val="50000"/>
                  </a:schemeClr>
                </a:solidFill>
              </a:rPr>
              <a:t>(</a:t>
            </a:r>
            <a:r>
              <a:rPr lang="en-IN" dirty="0" err="1">
                <a:solidFill>
                  <a:schemeClr val="accent1">
                    <a:lumMod val="50000"/>
                  </a:schemeClr>
                </a:solidFill>
              </a:rPr>
              <a:t>wi</a:t>
            </a:r>
            <a:r>
              <a:rPr lang="en-IN" dirty="0">
                <a:solidFill>
                  <a:schemeClr val="accent1">
                    <a:lumMod val="50000"/>
                  </a:schemeClr>
                </a:solidFill>
              </a:rPr>
              <a:t>, t) → wit, </a:t>
            </a:r>
          </a:p>
          <a:p>
            <a:r>
              <a:rPr lang="en-IN" dirty="0">
                <a:solidFill>
                  <a:schemeClr val="accent1">
                    <a:lumMod val="50000"/>
                  </a:schemeClr>
                </a:solidFill>
              </a:rPr>
              <a:t>(wit, h) → with, </a:t>
            </a:r>
          </a:p>
          <a:p>
            <a:r>
              <a:rPr lang="en-IN" dirty="0">
                <a:solidFill>
                  <a:schemeClr val="accent1">
                    <a:lumMod val="50000"/>
                  </a:schemeClr>
                </a:solidFill>
              </a:rPr>
              <a:t>(with, ␣) → with␣]</a:t>
            </a:r>
          </a:p>
        </p:txBody>
      </p:sp>
      <p:sp>
        <p:nvSpPr>
          <p:cNvPr id="3" name="TextBox 2">
            <a:extLst>
              <a:ext uri="{FF2B5EF4-FFF2-40B4-BE49-F238E27FC236}">
                <a16:creationId xmlns:a16="http://schemas.microsoft.com/office/drawing/2014/main" id="{7BB1B507-9B85-FCD2-54F8-1EE099216EAE}"/>
              </a:ext>
            </a:extLst>
          </p:cNvPr>
          <p:cNvSpPr txBox="1"/>
          <p:nvPr/>
        </p:nvSpPr>
        <p:spPr>
          <a:xfrm>
            <a:off x="322729" y="5890550"/>
            <a:ext cx="10545418" cy="369332"/>
          </a:xfrm>
          <a:prstGeom prst="rect">
            <a:avLst/>
          </a:prstGeom>
          <a:noFill/>
        </p:spPr>
        <p:txBody>
          <a:bodyPr wrap="square" rtlCol="0">
            <a:spAutoFit/>
          </a:bodyPr>
          <a:lstStyle/>
          <a:p>
            <a:r>
              <a:rPr lang="en-US" dirty="0"/>
              <a:t>We stop when the longest possible length of token has been achieved.</a:t>
            </a:r>
          </a:p>
        </p:txBody>
      </p:sp>
    </p:spTree>
    <p:extLst>
      <p:ext uri="{BB962C8B-B14F-4D97-AF65-F5344CB8AC3E}">
        <p14:creationId xmlns:p14="http://schemas.microsoft.com/office/powerpoint/2010/main" val="662317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9E9BD-D59C-4456-9009-8CBD0BCDD298}"/>
              </a:ext>
            </a:extLst>
          </p:cNvPr>
          <p:cNvSpPr>
            <a:spLocks noGrp="1"/>
          </p:cNvSpPr>
          <p:nvPr>
            <p:ph type="title"/>
          </p:nvPr>
        </p:nvSpPr>
        <p:spPr/>
        <p:txBody>
          <a:bodyPr/>
          <a:lstStyle/>
          <a:p>
            <a:r>
              <a:rPr lang="en-IN" dirty="0"/>
              <a:t>Byte Pair Encoding (BPE): Inference</a:t>
            </a:r>
          </a:p>
        </p:txBody>
      </p:sp>
      <p:sp>
        <p:nvSpPr>
          <p:cNvPr id="4" name="Slide Number Placeholder 3">
            <a:extLst>
              <a:ext uri="{FF2B5EF4-FFF2-40B4-BE49-F238E27FC236}">
                <a16:creationId xmlns:a16="http://schemas.microsoft.com/office/drawing/2014/main" id="{30828CAC-6AF5-457E-9698-F2A6FD7259B4}"/>
              </a:ext>
            </a:extLst>
          </p:cNvPr>
          <p:cNvSpPr>
            <a:spLocks noGrp="1"/>
          </p:cNvSpPr>
          <p:nvPr>
            <p:ph type="sldNum" sz="quarter" idx="12"/>
          </p:nvPr>
        </p:nvSpPr>
        <p:spPr/>
        <p:txBody>
          <a:bodyPr/>
          <a:lstStyle/>
          <a:p>
            <a:fld id="{FF2BD96E-3838-45D2-9031-D3AF67C920A5}" type="slidenum">
              <a:rPr lang="en-US" smtClean="0"/>
              <a:t>13</a:t>
            </a:fld>
            <a:endParaRPr lang="en-US"/>
          </a:p>
        </p:txBody>
      </p:sp>
      <p:sp>
        <p:nvSpPr>
          <p:cNvPr id="6" name="TextBox 5">
            <a:extLst>
              <a:ext uri="{FF2B5EF4-FFF2-40B4-BE49-F238E27FC236}">
                <a16:creationId xmlns:a16="http://schemas.microsoft.com/office/drawing/2014/main" id="{DBC19E57-A90D-47DB-A9C5-762D948358F6}"/>
              </a:ext>
            </a:extLst>
          </p:cNvPr>
          <p:cNvSpPr txBox="1"/>
          <p:nvPr/>
        </p:nvSpPr>
        <p:spPr>
          <a:xfrm>
            <a:off x="854764" y="1092788"/>
            <a:ext cx="10614991" cy="646331"/>
          </a:xfrm>
          <a:prstGeom prst="rect">
            <a:avLst/>
          </a:prstGeom>
          <a:noFill/>
        </p:spPr>
        <p:txBody>
          <a:bodyPr wrap="square">
            <a:spAutoFit/>
          </a:bodyPr>
          <a:lstStyle/>
          <a:p>
            <a:r>
              <a:rPr lang="en-IN" dirty="0"/>
              <a:t>UPDATED VOCAB: </a:t>
            </a:r>
          </a:p>
          <a:p>
            <a:r>
              <a:rPr lang="en-IN" dirty="0"/>
              <a:t>[a, at, at␣, c, cat␣, h, </a:t>
            </a:r>
            <a:r>
              <a:rPr lang="en-IN" dirty="0" err="1"/>
              <a:t>i</a:t>
            </a:r>
            <a:r>
              <a:rPr lang="en-IN" dirty="0"/>
              <a:t>, m, mat␣, n, o, on, on␣, p, pat␣, s, sat␣, t, w, </a:t>
            </a:r>
            <a:r>
              <a:rPr lang="en-IN" dirty="0" err="1"/>
              <a:t>wi</a:t>
            </a:r>
            <a:r>
              <a:rPr lang="en-IN" dirty="0"/>
              <a:t>, wit, with, with␣, ␣]</a:t>
            </a:r>
          </a:p>
        </p:txBody>
      </p:sp>
      <p:sp>
        <p:nvSpPr>
          <p:cNvPr id="7" name="TextBox 6">
            <a:extLst>
              <a:ext uri="{FF2B5EF4-FFF2-40B4-BE49-F238E27FC236}">
                <a16:creationId xmlns:a16="http://schemas.microsoft.com/office/drawing/2014/main" id="{AF470018-1427-421F-B105-EE53F4FB291D}"/>
              </a:ext>
            </a:extLst>
          </p:cNvPr>
          <p:cNvSpPr txBox="1"/>
          <p:nvPr/>
        </p:nvSpPr>
        <p:spPr>
          <a:xfrm>
            <a:off x="854764" y="1923223"/>
            <a:ext cx="3371850" cy="3693319"/>
          </a:xfrm>
          <a:prstGeom prst="rect">
            <a:avLst/>
          </a:prstGeom>
          <a:noFill/>
        </p:spPr>
        <p:txBody>
          <a:bodyPr wrap="square">
            <a:spAutoFit/>
          </a:bodyPr>
          <a:lstStyle/>
          <a:p>
            <a:r>
              <a:rPr lang="en-IN" dirty="0"/>
              <a:t>MERGE RULES: </a:t>
            </a:r>
          </a:p>
          <a:p>
            <a:r>
              <a:rPr lang="en-IN" dirty="0"/>
              <a:t>[(a, t) → at], </a:t>
            </a:r>
          </a:p>
          <a:p>
            <a:r>
              <a:rPr lang="en-IN" dirty="0"/>
              <a:t>[(at, ␣) → at␣], </a:t>
            </a:r>
          </a:p>
          <a:p>
            <a:r>
              <a:rPr lang="en-IN" dirty="0"/>
              <a:t>[(p, at␣) → pat␣], </a:t>
            </a:r>
          </a:p>
          <a:p>
            <a:r>
              <a:rPr lang="en-IN" dirty="0"/>
              <a:t>[(c, at␣) → cat␣], </a:t>
            </a:r>
          </a:p>
          <a:p>
            <a:r>
              <a:rPr lang="en-IN" dirty="0"/>
              <a:t>[(s, at␣) → sat␣], </a:t>
            </a:r>
          </a:p>
          <a:p>
            <a:r>
              <a:rPr lang="en-IN" dirty="0"/>
              <a:t>[(o, n) → on], </a:t>
            </a:r>
          </a:p>
          <a:p>
            <a:r>
              <a:rPr lang="en-IN" dirty="0"/>
              <a:t>[(on, ␣) → on␣], </a:t>
            </a:r>
          </a:p>
          <a:p>
            <a:r>
              <a:rPr lang="en-IN" dirty="0"/>
              <a:t>[(m, at␣) → mat␣], </a:t>
            </a:r>
          </a:p>
          <a:p>
            <a:r>
              <a:rPr lang="en-IN" dirty="0"/>
              <a:t>[(w, </a:t>
            </a:r>
            <a:r>
              <a:rPr lang="en-IN" dirty="0" err="1"/>
              <a:t>i</a:t>
            </a:r>
            <a:r>
              <a:rPr lang="en-IN" dirty="0"/>
              <a:t>) → </a:t>
            </a:r>
            <a:r>
              <a:rPr lang="en-IN" dirty="0" err="1"/>
              <a:t>wi</a:t>
            </a:r>
            <a:r>
              <a:rPr lang="en-IN" dirty="0"/>
              <a:t>], </a:t>
            </a:r>
          </a:p>
          <a:p>
            <a:r>
              <a:rPr lang="en-IN" dirty="0"/>
              <a:t>[(</a:t>
            </a:r>
            <a:r>
              <a:rPr lang="en-IN" dirty="0" err="1"/>
              <a:t>wi</a:t>
            </a:r>
            <a:r>
              <a:rPr lang="en-IN" dirty="0"/>
              <a:t>, t) → wit], </a:t>
            </a:r>
          </a:p>
          <a:p>
            <a:r>
              <a:rPr lang="en-IN" dirty="0"/>
              <a:t>[(wit, h) → with], </a:t>
            </a:r>
          </a:p>
          <a:p>
            <a:r>
              <a:rPr lang="en-IN" dirty="0"/>
              <a:t>[(with, ␣) → with␣]</a:t>
            </a:r>
          </a:p>
        </p:txBody>
      </p:sp>
      <p:sp>
        <p:nvSpPr>
          <p:cNvPr id="9" name="TextBox 8">
            <a:extLst>
              <a:ext uri="{FF2B5EF4-FFF2-40B4-BE49-F238E27FC236}">
                <a16:creationId xmlns:a16="http://schemas.microsoft.com/office/drawing/2014/main" id="{4EA8D706-C4B2-4676-895E-8C5570BF236A}"/>
              </a:ext>
            </a:extLst>
          </p:cNvPr>
          <p:cNvSpPr txBox="1"/>
          <p:nvPr/>
        </p:nvSpPr>
        <p:spPr>
          <a:xfrm>
            <a:off x="3396697" y="1930235"/>
            <a:ext cx="2884833" cy="3139321"/>
          </a:xfrm>
          <a:prstGeom prst="rect">
            <a:avLst/>
          </a:prstGeom>
          <a:noFill/>
        </p:spPr>
        <p:txBody>
          <a:bodyPr wrap="square">
            <a:spAutoFit/>
          </a:bodyPr>
          <a:lstStyle/>
          <a:p>
            <a:r>
              <a:rPr lang="en-IN" b="1" u="sng" dirty="0">
                <a:solidFill>
                  <a:srgbClr val="C00000"/>
                </a:solidFill>
              </a:rPr>
              <a:t>WORD: pat␣  </a:t>
            </a:r>
          </a:p>
          <a:p>
            <a:r>
              <a:rPr lang="en-IN" dirty="0"/>
              <a:t>TOKENS: [p, a, t, ␣]  </a:t>
            </a:r>
          </a:p>
          <a:p>
            <a:r>
              <a:rPr lang="en-IN" dirty="0"/>
              <a:t>PAIRS: (p, a) | (a, t) | (t, ␣)</a:t>
            </a:r>
          </a:p>
          <a:p>
            <a:endParaRPr lang="en-IN" dirty="0"/>
          </a:p>
          <a:p>
            <a:r>
              <a:rPr lang="en-IN" dirty="0"/>
              <a:t>MERGE 1: [p, at, ␣]  </a:t>
            </a:r>
          </a:p>
          <a:p>
            <a:r>
              <a:rPr lang="en-IN" dirty="0"/>
              <a:t>PAIRS: (p, at) | (at, ␣)</a:t>
            </a:r>
          </a:p>
          <a:p>
            <a:endParaRPr lang="en-IN" dirty="0"/>
          </a:p>
          <a:p>
            <a:r>
              <a:rPr lang="en-IN" dirty="0"/>
              <a:t>MERGE 2: [p, at␣]  </a:t>
            </a:r>
          </a:p>
          <a:p>
            <a:r>
              <a:rPr lang="en-IN" dirty="0"/>
              <a:t>PAIRS: (p, at␣)</a:t>
            </a:r>
          </a:p>
          <a:p>
            <a:endParaRPr lang="en-IN" dirty="0"/>
          </a:p>
          <a:p>
            <a:r>
              <a:rPr lang="en-IN" dirty="0"/>
              <a:t>MERGE 3: pat␣</a:t>
            </a:r>
          </a:p>
        </p:txBody>
      </p:sp>
      <p:sp>
        <p:nvSpPr>
          <p:cNvPr id="10" name="TextBox 9">
            <a:extLst>
              <a:ext uri="{FF2B5EF4-FFF2-40B4-BE49-F238E27FC236}">
                <a16:creationId xmlns:a16="http://schemas.microsoft.com/office/drawing/2014/main" id="{6977EA81-AA73-405A-9442-61B7625AFFF6}"/>
              </a:ext>
            </a:extLst>
          </p:cNvPr>
          <p:cNvSpPr txBox="1"/>
          <p:nvPr/>
        </p:nvSpPr>
        <p:spPr>
          <a:xfrm>
            <a:off x="6162259" y="1976499"/>
            <a:ext cx="2884833" cy="2585323"/>
          </a:xfrm>
          <a:prstGeom prst="rect">
            <a:avLst/>
          </a:prstGeom>
          <a:noFill/>
        </p:spPr>
        <p:txBody>
          <a:bodyPr wrap="square">
            <a:spAutoFit/>
          </a:bodyPr>
          <a:lstStyle/>
          <a:p>
            <a:r>
              <a:rPr lang="en-IN" b="1" u="sng" dirty="0">
                <a:solidFill>
                  <a:srgbClr val="C00000"/>
                </a:solidFill>
              </a:rPr>
              <a:t>WORD: patio␣  </a:t>
            </a:r>
          </a:p>
          <a:p>
            <a:r>
              <a:rPr lang="en-IN" dirty="0"/>
              <a:t>TOKENS: [p, a, t, </a:t>
            </a:r>
            <a:r>
              <a:rPr lang="en-IN" dirty="0" err="1"/>
              <a:t>i</a:t>
            </a:r>
            <a:r>
              <a:rPr lang="en-IN" dirty="0"/>
              <a:t>, o, ␣]  </a:t>
            </a:r>
          </a:p>
          <a:p>
            <a:r>
              <a:rPr lang="en-IN" dirty="0"/>
              <a:t>PAIRS: (p, a) | (a, t) | </a:t>
            </a:r>
          </a:p>
          <a:p>
            <a:r>
              <a:rPr lang="en-IN" dirty="0"/>
              <a:t>             (t, </a:t>
            </a:r>
            <a:r>
              <a:rPr lang="en-IN" dirty="0" err="1"/>
              <a:t>i</a:t>
            </a:r>
            <a:r>
              <a:rPr lang="en-IN" dirty="0"/>
              <a:t>) | (</a:t>
            </a:r>
            <a:r>
              <a:rPr lang="en-IN" dirty="0" err="1"/>
              <a:t>i,o</a:t>
            </a:r>
            <a:r>
              <a:rPr lang="en-IN" dirty="0"/>
              <a:t>) | (o, ␣)</a:t>
            </a:r>
          </a:p>
          <a:p>
            <a:endParaRPr lang="en-IN" dirty="0"/>
          </a:p>
          <a:p>
            <a:r>
              <a:rPr lang="en-IN" dirty="0"/>
              <a:t>MERGE 1: [p, at, </a:t>
            </a:r>
            <a:r>
              <a:rPr lang="en-IN" dirty="0" err="1"/>
              <a:t>i</a:t>
            </a:r>
            <a:r>
              <a:rPr lang="en-IN" dirty="0"/>
              <a:t>, o, ␣]  </a:t>
            </a:r>
          </a:p>
          <a:p>
            <a:r>
              <a:rPr lang="en-IN" dirty="0"/>
              <a:t>PAIRS: (p, at) | (at, </a:t>
            </a:r>
            <a:r>
              <a:rPr lang="en-IN" dirty="0" err="1"/>
              <a:t>i</a:t>
            </a:r>
            <a:r>
              <a:rPr lang="en-IN" dirty="0"/>
              <a:t>) | (</a:t>
            </a:r>
            <a:r>
              <a:rPr lang="en-IN" dirty="0" err="1"/>
              <a:t>i,o</a:t>
            </a:r>
            <a:r>
              <a:rPr lang="en-IN" dirty="0"/>
              <a:t>) |</a:t>
            </a:r>
          </a:p>
          <a:p>
            <a:r>
              <a:rPr lang="en-IN" dirty="0"/>
              <a:t>             (o, ␣)</a:t>
            </a:r>
          </a:p>
          <a:p>
            <a:r>
              <a:rPr lang="en-IN" dirty="0"/>
              <a:t>TOK: [p, at, </a:t>
            </a:r>
            <a:r>
              <a:rPr lang="en-IN" dirty="0" err="1"/>
              <a:t>i</a:t>
            </a:r>
            <a:r>
              <a:rPr lang="en-IN" dirty="0"/>
              <a:t>, o, ␣] </a:t>
            </a:r>
          </a:p>
        </p:txBody>
      </p:sp>
      <p:sp>
        <p:nvSpPr>
          <p:cNvPr id="12" name="TextBox 11">
            <a:extLst>
              <a:ext uri="{FF2B5EF4-FFF2-40B4-BE49-F238E27FC236}">
                <a16:creationId xmlns:a16="http://schemas.microsoft.com/office/drawing/2014/main" id="{97F05B8A-1A4E-4E87-975B-B7DC2014AF6C}"/>
              </a:ext>
            </a:extLst>
          </p:cNvPr>
          <p:cNvSpPr txBox="1"/>
          <p:nvPr/>
        </p:nvSpPr>
        <p:spPr>
          <a:xfrm>
            <a:off x="9047092" y="1972917"/>
            <a:ext cx="2884833" cy="3693319"/>
          </a:xfrm>
          <a:prstGeom prst="rect">
            <a:avLst/>
          </a:prstGeom>
          <a:noFill/>
        </p:spPr>
        <p:txBody>
          <a:bodyPr wrap="square">
            <a:spAutoFit/>
          </a:bodyPr>
          <a:lstStyle/>
          <a:p>
            <a:r>
              <a:rPr lang="en-IN" b="1" u="sng" dirty="0">
                <a:solidFill>
                  <a:srgbClr val="C00000"/>
                </a:solidFill>
              </a:rPr>
              <a:t>WORD: </a:t>
            </a:r>
            <a:r>
              <a:rPr lang="en-IN" b="1" u="sng" dirty="0" err="1">
                <a:solidFill>
                  <a:srgbClr val="C00000"/>
                </a:solidFill>
              </a:rPr>
              <a:t>paty</a:t>
            </a:r>
            <a:r>
              <a:rPr lang="en-IN" b="1" u="sng" dirty="0">
                <a:solidFill>
                  <a:srgbClr val="C00000"/>
                </a:solidFill>
              </a:rPr>
              <a:t>␣  </a:t>
            </a:r>
          </a:p>
          <a:p>
            <a:r>
              <a:rPr lang="en-IN" dirty="0"/>
              <a:t>TOKENS: [p, a, t, y, ␣]  </a:t>
            </a:r>
          </a:p>
          <a:p>
            <a:r>
              <a:rPr lang="en-IN" dirty="0"/>
              <a:t>PAIRS: (p, a) | (a, t) | </a:t>
            </a:r>
          </a:p>
          <a:p>
            <a:r>
              <a:rPr lang="en-IN" dirty="0"/>
              <a:t>             (t, y) | (y, ␣)</a:t>
            </a:r>
          </a:p>
          <a:p>
            <a:endParaRPr lang="en-IN" dirty="0"/>
          </a:p>
          <a:p>
            <a:r>
              <a:rPr lang="en-IN" dirty="0"/>
              <a:t>MERGE 1: [p, at, y, ␣]  </a:t>
            </a:r>
          </a:p>
          <a:p>
            <a:r>
              <a:rPr lang="en-IN" dirty="0"/>
              <a:t>PAIRS: (p, at) | (at, y) |</a:t>
            </a:r>
          </a:p>
          <a:p>
            <a:r>
              <a:rPr lang="en-IN" dirty="0"/>
              <a:t>             (y, ␣)</a:t>
            </a:r>
          </a:p>
          <a:p>
            <a:endParaRPr lang="en-IN" dirty="0"/>
          </a:p>
          <a:p>
            <a:r>
              <a:rPr lang="en-IN" dirty="0"/>
              <a:t>TOK: [p, at, y, ␣] </a:t>
            </a:r>
          </a:p>
          <a:p>
            <a:r>
              <a:rPr lang="en-IN" dirty="0"/>
              <a:t>TOK: [p, at, </a:t>
            </a:r>
            <a:r>
              <a:rPr lang="en-IN" dirty="0">
                <a:solidFill>
                  <a:srgbClr val="FF0000"/>
                </a:solidFill>
              </a:rPr>
              <a:t>[UNK]</a:t>
            </a:r>
            <a:r>
              <a:rPr lang="en-IN" dirty="0"/>
              <a:t>, ␣] </a:t>
            </a:r>
          </a:p>
          <a:p>
            <a:endParaRPr lang="en-IN" dirty="0"/>
          </a:p>
          <a:p>
            <a:endParaRPr lang="en-IN" dirty="0"/>
          </a:p>
        </p:txBody>
      </p:sp>
      <p:sp>
        <p:nvSpPr>
          <p:cNvPr id="14" name="TextBox 13">
            <a:extLst>
              <a:ext uri="{FF2B5EF4-FFF2-40B4-BE49-F238E27FC236}">
                <a16:creationId xmlns:a16="http://schemas.microsoft.com/office/drawing/2014/main" id="{C7E6723D-106B-41C2-9BD8-79D5DF32D15E}"/>
              </a:ext>
            </a:extLst>
          </p:cNvPr>
          <p:cNvSpPr txBox="1"/>
          <p:nvPr/>
        </p:nvSpPr>
        <p:spPr>
          <a:xfrm>
            <a:off x="3396697" y="5580546"/>
            <a:ext cx="3355000" cy="461665"/>
          </a:xfrm>
          <a:prstGeom prst="rect">
            <a:avLst/>
          </a:prstGeom>
          <a:noFill/>
        </p:spPr>
        <p:txBody>
          <a:bodyPr wrap="square" rtlCol="0">
            <a:spAutoFit/>
          </a:bodyPr>
          <a:lstStyle/>
          <a:p>
            <a:r>
              <a:rPr lang="en-IN" sz="2400" dirty="0">
                <a:solidFill>
                  <a:srgbClr val="C00000"/>
                </a:solidFill>
              </a:rPr>
              <a:t>Why do we need ‘␣’ ?    </a:t>
            </a:r>
          </a:p>
        </p:txBody>
      </p:sp>
      <p:sp>
        <p:nvSpPr>
          <p:cNvPr id="15" name="TextBox 14">
            <a:extLst>
              <a:ext uri="{FF2B5EF4-FFF2-40B4-BE49-F238E27FC236}">
                <a16:creationId xmlns:a16="http://schemas.microsoft.com/office/drawing/2014/main" id="{567CA889-0810-4CC4-A3FD-512D870D4A2A}"/>
              </a:ext>
            </a:extLst>
          </p:cNvPr>
          <p:cNvSpPr txBox="1"/>
          <p:nvPr/>
        </p:nvSpPr>
        <p:spPr>
          <a:xfrm>
            <a:off x="6751697" y="5569407"/>
            <a:ext cx="2756332" cy="461665"/>
          </a:xfrm>
          <a:prstGeom prst="rect">
            <a:avLst/>
          </a:prstGeom>
          <a:noFill/>
        </p:spPr>
        <p:txBody>
          <a:bodyPr wrap="none" rtlCol="0">
            <a:spAutoFit/>
          </a:bodyPr>
          <a:lstStyle/>
          <a:p>
            <a:r>
              <a:rPr lang="en-IN" sz="2400" dirty="0" err="1">
                <a:solidFill>
                  <a:srgbClr val="158D82"/>
                </a:solidFill>
              </a:rPr>
              <a:t>est</a:t>
            </a:r>
            <a:r>
              <a:rPr lang="en-IN" sz="2400" dirty="0" err="1">
                <a:solidFill>
                  <a:srgbClr val="C00000"/>
                </a:solidFill>
              </a:rPr>
              <a:t>onia</a:t>
            </a:r>
            <a:r>
              <a:rPr lang="en-IN" sz="2400" dirty="0">
                <a:solidFill>
                  <a:srgbClr val="C00000"/>
                </a:solidFill>
              </a:rPr>
              <a:t> vs. high</a:t>
            </a:r>
            <a:r>
              <a:rPr lang="en-IN" sz="2400" dirty="0">
                <a:solidFill>
                  <a:srgbClr val="158D82"/>
                </a:solidFill>
              </a:rPr>
              <a:t>est</a:t>
            </a:r>
          </a:p>
        </p:txBody>
      </p:sp>
      <p:sp>
        <p:nvSpPr>
          <p:cNvPr id="16" name="TextBox 15">
            <a:extLst>
              <a:ext uri="{FF2B5EF4-FFF2-40B4-BE49-F238E27FC236}">
                <a16:creationId xmlns:a16="http://schemas.microsoft.com/office/drawing/2014/main" id="{47DB63B8-06CC-4198-B845-72867D385026}"/>
              </a:ext>
            </a:extLst>
          </p:cNvPr>
          <p:cNvSpPr txBox="1"/>
          <p:nvPr/>
        </p:nvSpPr>
        <p:spPr>
          <a:xfrm>
            <a:off x="3406376" y="6091536"/>
            <a:ext cx="4193136" cy="461665"/>
          </a:xfrm>
          <a:prstGeom prst="rect">
            <a:avLst/>
          </a:prstGeom>
          <a:noFill/>
        </p:spPr>
        <p:txBody>
          <a:bodyPr wrap="none" rtlCol="0">
            <a:spAutoFit/>
          </a:bodyPr>
          <a:lstStyle/>
          <a:p>
            <a:r>
              <a:rPr lang="en-IN" sz="2400" dirty="0">
                <a:solidFill>
                  <a:srgbClr val="C00000"/>
                </a:solidFill>
              </a:rPr>
              <a:t>How do we get rid of [UNK]?</a:t>
            </a:r>
          </a:p>
        </p:txBody>
      </p:sp>
      <p:sp>
        <p:nvSpPr>
          <p:cNvPr id="17" name="TextBox 16">
            <a:extLst>
              <a:ext uri="{FF2B5EF4-FFF2-40B4-BE49-F238E27FC236}">
                <a16:creationId xmlns:a16="http://schemas.microsoft.com/office/drawing/2014/main" id="{9777581E-1857-4D57-A61F-2D2C88D3506A}"/>
              </a:ext>
            </a:extLst>
          </p:cNvPr>
          <p:cNvSpPr txBox="1"/>
          <p:nvPr/>
        </p:nvSpPr>
        <p:spPr>
          <a:xfrm>
            <a:off x="7537929" y="6071713"/>
            <a:ext cx="3282502" cy="461665"/>
          </a:xfrm>
          <a:prstGeom prst="rect">
            <a:avLst/>
          </a:prstGeom>
          <a:noFill/>
        </p:spPr>
        <p:txBody>
          <a:bodyPr wrap="none" rtlCol="0">
            <a:spAutoFit/>
          </a:bodyPr>
          <a:lstStyle/>
          <a:p>
            <a:r>
              <a:rPr lang="en-IN" sz="2400" dirty="0">
                <a:solidFill>
                  <a:srgbClr val="0070C0"/>
                </a:solidFill>
              </a:rPr>
              <a:t>Byte-Level BPE (BBPE)</a:t>
            </a:r>
          </a:p>
        </p:txBody>
      </p:sp>
      <p:sp>
        <p:nvSpPr>
          <p:cNvPr id="3" name="TextBox 2">
            <a:extLst>
              <a:ext uri="{FF2B5EF4-FFF2-40B4-BE49-F238E27FC236}">
                <a16:creationId xmlns:a16="http://schemas.microsoft.com/office/drawing/2014/main" id="{7E2467CF-E473-5A48-724A-27F6AB5D8B56}"/>
              </a:ext>
            </a:extLst>
          </p:cNvPr>
          <p:cNvSpPr txBox="1"/>
          <p:nvPr/>
        </p:nvSpPr>
        <p:spPr>
          <a:xfrm>
            <a:off x="2927162" y="5089379"/>
            <a:ext cx="3594847" cy="461665"/>
          </a:xfrm>
          <a:prstGeom prst="rect">
            <a:avLst/>
          </a:prstGeom>
          <a:noFill/>
        </p:spPr>
        <p:txBody>
          <a:bodyPr wrap="square" rtlCol="0">
            <a:spAutoFit/>
          </a:bodyPr>
          <a:lstStyle/>
          <a:p>
            <a:r>
              <a:rPr lang="en-US" sz="1200" dirty="0">
                <a:highlight>
                  <a:srgbClr val="FFFF00"/>
                </a:highlight>
              </a:rPr>
              <a:t>In the corpora, [ pat_  ]is a very frequent thing, so there is no need to break that..  </a:t>
            </a:r>
          </a:p>
        </p:txBody>
      </p:sp>
      <p:sp>
        <p:nvSpPr>
          <p:cNvPr id="5" name="TextBox 4">
            <a:extLst>
              <a:ext uri="{FF2B5EF4-FFF2-40B4-BE49-F238E27FC236}">
                <a16:creationId xmlns:a16="http://schemas.microsoft.com/office/drawing/2014/main" id="{34B4848E-703F-BE8F-EE38-38246ED5FD32}"/>
              </a:ext>
            </a:extLst>
          </p:cNvPr>
          <p:cNvSpPr txBox="1"/>
          <p:nvPr/>
        </p:nvSpPr>
        <p:spPr>
          <a:xfrm>
            <a:off x="5396753" y="4502435"/>
            <a:ext cx="3650339" cy="646331"/>
          </a:xfrm>
          <a:prstGeom prst="rect">
            <a:avLst/>
          </a:prstGeom>
          <a:noFill/>
        </p:spPr>
        <p:txBody>
          <a:bodyPr wrap="square" rtlCol="0">
            <a:spAutoFit/>
          </a:bodyPr>
          <a:lstStyle/>
          <a:p>
            <a:r>
              <a:rPr lang="en-US" sz="900" dirty="0">
                <a:highlight>
                  <a:srgbClr val="FFFF00"/>
                </a:highlight>
              </a:rPr>
              <a:t>[ Patio_ ] isn’t there in the training data. So, we either would have used it as UNK since it doesn’t appear in vocab, or we can break it down into  </a:t>
            </a:r>
            <a:r>
              <a:rPr lang="en-US" sz="900" dirty="0" err="1">
                <a:highlight>
                  <a:srgbClr val="FFFF00"/>
                </a:highlight>
              </a:rPr>
              <a:t>subwords</a:t>
            </a:r>
            <a:r>
              <a:rPr lang="en-US" sz="900" dirty="0">
                <a:highlight>
                  <a:srgbClr val="FFFF00"/>
                </a:highlight>
              </a:rPr>
              <a:t> to match some </a:t>
            </a:r>
            <a:r>
              <a:rPr lang="en-US" sz="900" dirty="0" err="1">
                <a:highlight>
                  <a:srgbClr val="FFFF00"/>
                </a:highlight>
              </a:rPr>
              <a:t>subwords</a:t>
            </a:r>
            <a:r>
              <a:rPr lang="en-US" sz="900" dirty="0">
                <a:highlight>
                  <a:srgbClr val="FFFF00"/>
                </a:highlight>
              </a:rPr>
              <a:t> with the vocabulary and get our final tokenization  </a:t>
            </a:r>
          </a:p>
        </p:txBody>
      </p:sp>
      <p:sp>
        <p:nvSpPr>
          <p:cNvPr id="8" name="TextBox 7">
            <a:extLst>
              <a:ext uri="{FF2B5EF4-FFF2-40B4-BE49-F238E27FC236}">
                <a16:creationId xmlns:a16="http://schemas.microsoft.com/office/drawing/2014/main" id="{3AF04848-2153-4A82-3900-9EDEA6955395}"/>
              </a:ext>
            </a:extLst>
          </p:cNvPr>
          <p:cNvSpPr txBox="1"/>
          <p:nvPr/>
        </p:nvSpPr>
        <p:spPr>
          <a:xfrm>
            <a:off x="8982635" y="5148766"/>
            <a:ext cx="3050477" cy="430887"/>
          </a:xfrm>
          <a:prstGeom prst="rect">
            <a:avLst/>
          </a:prstGeom>
          <a:noFill/>
        </p:spPr>
        <p:txBody>
          <a:bodyPr wrap="square" rtlCol="0">
            <a:spAutoFit/>
          </a:bodyPr>
          <a:lstStyle/>
          <a:p>
            <a:r>
              <a:rPr lang="en-US" sz="1100" dirty="0">
                <a:highlight>
                  <a:srgbClr val="FFFF00"/>
                </a:highlight>
              </a:rPr>
              <a:t>Since, ‘y’ isn’t there in vocabulary so we have to replace it with [UNK] token</a:t>
            </a:r>
          </a:p>
        </p:txBody>
      </p:sp>
    </p:spTree>
    <p:extLst>
      <p:ext uri="{BB962C8B-B14F-4D97-AF65-F5344CB8AC3E}">
        <p14:creationId xmlns:p14="http://schemas.microsoft.com/office/powerpoint/2010/main" val="1134900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animEffect transition="in" filter="fade">
                                      <p:cBhvr>
                                        <p:cTn id="15" dur="500"/>
                                        <p:tgtEl>
                                          <p:spTgt spid="9">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
                                            <p:txEl>
                                              <p:pRg st="4" end="4"/>
                                            </p:txEl>
                                          </p:spTgt>
                                        </p:tgtEl>
                                        <p:attrNameLst>
                                          <p:attrName>style.visibility</p:attrName>
                                        </p:attrNameLst>
                                      </p:cBhvr>
                                      <p:to>
                                        <p:strVal val="visible"/>
                                      </p:to>
                                    </p:set>
                                    <p:animEffect transition="in" filter="fade">
                                      <p:cBhvr>
                                        <p:cTn id="20" dur="500"/>
                                        <p:tgtEl>
                                          <p:spTgt spid="9">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9">
                                            <p:txEl>
                                              <p:pRg st="5" end="5"/>
                                            </p:txEl>
                                          </p:spTgt>
                                        </p:tgtEl>
                                        <p:attrNameLst>
                                          <p:attrName>style.visibility</p:attrName>
                                        </p:attrNameLst>
                                      </p:cBhvr>
                                      <p:to>
                                        <p:strVal val="visible"/>
                                      </p:to>
                                    </p:set>
                                    <p:animEffect transition="in" filter="fade">
                                      <p:cBhvr>
                                        <p:cTn id="23" dur="500"/>
                                        <p:tgtEl>
                                          <p:spTgt spid="9">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9">
                                            <p:txEl>
                                              <p:pRg st="7" end="7"/>
                                            </p:txEl>
                                          </p:spTgt>
                                        </p:tgtEl>
                                        <p:attrNameLst>
                                          <p:attrName>style.visibility</p:attrName>
                                        </p:attrNameLst>
                                      </p:cBhvr>
                                      <p:to>
                                        <p:strVal val="visible"/>
                                      </p:to>
                                    </p:set>
                                    <p:animEffect transition="in" filter="fade">
                                      <p:cBhvr>
                                        <p:cTn id="28" dur="500"/>
                                        <p:tgtEl>
                                          <p:spTgt spid="9">
                                            <p:txEl>
                                              <p:pRg st="7" end="7"/>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9">
                                            <p:txEl>
                                              <p:pRg st="8" end="8"/>
                                            </p:txEl>
                                          </p:spTgt>
                                        </p:tgtEl>
                                        <p:attrNameLst>
                                          <p:attrName>style.visibility</p:attrName>
                                        </p:attrNameLst>
                                      </p:cBhvr>
                                      <p:to>
                                        <p:strVal val="visible"/>
                                      </p:to>
                                    </p:set>
                                    <p:animEffect transition="in" filter="fade">
                                      <p:cBhvr>
                                        <p:cTn id="31" dur="500"/>
                                        <p:tgtEl>
                                          <p:spTgt spid="9">
                                            <p:txEl>
                                              <p:pRg st="8" end="8"/>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9">
                                            <p:txEl>
                                              <p:pRg st="10" end="10"/>
                                            </p:txEl>
                                          </p:spTgt>
                                        </p:tgtEl>
                                        <p:attrNameLst>
                                          <p:attrName>style.visibility</p:attrName>
                                        </p:attrNameLst>
                                      </p:cBhvr>
                                      <p:to>
                                        <p:strVal val="visible"/>
                                      </p:to>
                                    </p:set>
                                    <p:animEffect transition="in" filter="fade">
                                      <p:cBhvr>
                                        <p:cTn id="36" dur="500"/>
                                        <p:tgtEl>
                                          <p:spTgt spid="9">
                                            <p:txEl>
                                              <p:pRg st="10" end="1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0">
                                            <p:txEl>
                                              <p:pRg st="0" end="0"/>
                                            </p:txEl>
                                          </p:spTgt>
                                        </p:tgtEl>
                                        <p:attrNameLst>
                                          <p:attrName>style.visibility</p:attrName>
                                        </p:attrNameLst>
                                      </p:cBhvr>
                                      <p:to>
                                        <p:strVal val="visible"/>
                                      </p:to>
                                    </p:set>
                                    <p:animEffect transition="in" filter="fade">
                                      <p:cBhvr>
                                        <p:cTn id="41" dur="500"/>
                                        <p:tgtEl>
                                          <p:spTgt spid="10">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0">
                                            <p:txEl>
                                              <p:pRg st="1" end="1"/>
                                            </p:txEl>
                                          </p:spTgt>
                                        </p:tgtEl>
                                        <p:attrNameLst>
                                          <p:attrName>style.visibility</p:attrName>
                                        </p:attrNameLst>
                                      </p:cBhvr>
                                      <p:to>
                                        <p:strVal val="visible"/>
                                      </p:to>
                                    </p:set>
                                    <p:animEffect transition="in" filter="fade">
                                      <p:cBhvr>
                                        <p:cTn id="46" dur="500"/>
                                        <p:tgtEl>
                                          <p:spTgt spid="10">
                                            <p:txEl>
                                              <p:pRg st="1" end="1"/>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10">
                                            <p:txEl>
                                              <p:pRg st="2" end="2"/>
                                            </p:txEl>
                                          </p:spTgt>
                                        </p:tgtEl>
                                        <p:attrNameLst>
                                          <p:attrName>style.visibility</p:attrName>
                                        </p:attrNameLst>
                                      </p:cBhvr>
                                      <p:to>
                                        <p:strVal val="visible"/>
                                      </p:to>
                                    </p:set>
                                    <p:animEffect transition="in" filter="fade">
                                      <p:cBhvr>
                                        <p:cTn id="49" dur="500"/>
                                        <p:tgtEl>
                                          <p:spTgt spid="10">
                                            <p:txEl>
                                              <p:pRg st="2" end="2"/>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10">
                                            <p:txEl>
                                              <p:pRg st="3" end="3"/>
                                            </p:txEl>
                                          </p:spTgt>
                                        </p:tgtEl>
                                        <p:attrNameLst>
                                          <p:attrName>style.visibility</p:attrName>
                                        </p:attrNameLst>
                                      </p:cBhvr>
                                      <p:to>
                                        <p:strVal val="visible"/>
                                      </p:to>
                                    </p:set>
                                    <p:animEffect transition="in" filter="fade">
                                      <p:cBhvr>
                                        <p:cTn id="52" dur="500"/>
                                        <p:tgtEl>
                                          <p:spTgt spid="10">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0">
                                            <p:txEl>
                                              <p:pRg st="5" end="5"/>
                                            </p:txEl>
                                          </p:spTgt>
                                        </p:tgtEl>
                                        <p:attrNameLst>
                                          <p:attrName>style.visibility</p:attrName>
                                        </p:attrNameLst>
                                      </p:cBhvr>
                                      <p:to>
                                        <p:strVal val="visible"/>
                                      </p:to>
                                    </p:set>
                                    <p:animEffect transition="in" filter="fade">
                                      <p:cBhvr>
                                        <p:cTn id="57" dur="500"/>
                                        <p:tgtEl>
                                          <p:spTgt spid="10">
                                            <p:txEl>
                                              <p:pRg st="5" end="5"/>
                                            </p:txEl>
                                          </p:spTgt>
                                        </p:tgtEl>
                                      </p:cBhvr>
                                    </p:animEffect>
                                  </p:childTnLst>
                                </p:cTn>
                              </p:par>
                              <p:par>
                                <p:cTn id="58" presetID="10" presetClass="entr" presetSubtype="0" fill="hold" nodeType="withEffect">
                                  <p:stCondLst>
                                    <p:cond delay="0"/>
                                  </p:stCondLst>
                                  <p:childTnLst>
                                    <p:set>
                                      <p:cBhvr>
                                        <p:cTn id="59" dur="1" fill="hold">
                                          <p:stCondLst>
                                            <p:cond delay="0"/>
                                          </p:stCondLst>
                                        </p:cTn>
                                        <p:tgtEl>
                                          <p:spTgt spid="10">
                                            <p:txEl>
                                              <p:pRg st="6" end="6"/>
                                            </p:txEl>
                                          </p:spTgt>
                                        </p:tgtEl>
                                        <p:attrNameLst>
                                          <p:attrName>style.visibility</p:attrName>
                                        </p:attrNameLst>
                                      </p:cBhvr>
                                      <p:to>
                                        <p:strVal val="visible"/>
                                      </p:to>
                                    </p:set>
                                    <p:animEffect transition="in" filter="fade">
                                      <p:cBhvr>
                                        <p:cTn id="60" dur="500"/>
                                        <p:tgtEl>
                                          <p:spTgt spid="10">
                                            <p:txEl>
                                              <p:pRg st="6" end="6"/>
                                            </p:txEl>
                                          </p:spTgt>
                                        </p:tgtEl>
                                      </p:cBhvr>
                                    </p:animEffect>
                                  </p:childTnLst>
                                </p:cTn>
                              </p:par>
                              <p:par>
                                <p:cTn id="61" presetID="10" presetClass="entr" presetSubtype="0" fill="hold" nodeType="withEffect">
                                  <p:stCondLst>
                                    <p:cond delay="0"/>
                                  </p:stCondLst>
                                  <p:childTnLst>
                                    <p:set>
                                      <p:cBhvr>
                                        <p:cTn id="62" dur="1" fill="hold">
                                          <p:stCondLst>
                                            <p:cond delay="0"/>
                                          </p:stCondLst>
                                        </p:cTn>
                                        <p:tgtEl>
                                          <p:spTgt spid="10">
                                            <p:txEl>
                                              <p:pRg st="7" end="7"/>
                                            </p:txEl>
                                          </p:spTgt>
                                        </p:tgtEl>
                                        <p:attrNameLst>
                                          <p:attrName>style.visibility</p:attrName>
                                        </p:attrNameLst>
                                      </p:cBhvr>
                                      <p:to>
                                        <p:strVal val="visible"/>
                                      </p:to>
                                    </p:set>
                                    <p:animEffect transition="in" filter="fade">
                                      <p:cBhvr>
                                        <p:cTn id="63" dur="500"/>
                                        <p:tgtEl>
                                          <p:spTgt spid="10">
                                            <p:txEl>
                                              <p:pRg st="7" end="7"/>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10">
                                            <p:txEl>
                                              <p:pRg st="8" end="8"/>
                                            </p:txEl>
                                          </p:spTgt>
                                        </p:tgtEl>
                                        <p:attrNameLst>
                                          <p:attrName>style.visibility</p:attrName>
                                        </p:attrNameLst>
                                      </p:cBhvr>
                                      <p:to>
                                        <p:strVal val="visible"/>
                                      </p:to>
                                    </p:set>
                                    <p:animEffect transition="in" filter="fade">
                                      <p:cBhvr>
                                        <p:cTn id="68" dur="500"/>
                                        <p:tgtEl>
                                          <p:spTgt spid="10">
                                            <p:txEl>
                                              <p:pRg st="8" end="8"/>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12">
                                            <p:txEl>
                                              <p:pRg st="0" end="0"/>
                                            </p:txEl>
                                          </p:spTgt>
                                        </p:tgtEl>
                                        <p:attrNameLst>
                                          <p:attrName>style.visibility</p:attrName>
                                        </p:attrNameLst>
                                      </p:cBhvr>
                                      <p:to>
                                        <p:strVal val="visible"/>
                                      </p:to>
                                    </p:set>
                                    <p:animEffect transition="in" filter="fade">
                                      <p:cBhvr>
                                        <p:cTn id="73" dur="500"/>
                                        <p:tgtEl>
                                          <p:spTgt spid="12">
                                            <p:txEl>
                                              <p:pRg st="0" end="0"/>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12">
                                            <p:txEl>
                                              <p:pRg st="1" end="1"/>
                                            </p:txEl>
                                          </p:spTgt>
                                        </p:tgtEl>
                                        <p:attrNameLst>
                                          <p:attrName>style.visibility</p:attrName>
                                        </p:attrNameLst>
                                      </p:cBhvr>
                                      <p:to>
                                        <p:strVal val="visible"/>
                                      </p:to>
                                    </p:set>
                                    <p:animEffect transition="in" filter="fade">
                                      <p:cBhvr>
                                        <p:cTn id="78" dur="500"/>
                                        <p:tgtEl>
                                          <p:spTgt spid="12">
                                            <p:txEl>
                                              <p:pRg st="1" end="1"/>
                                            </p:txEl>
                                          </p:spTgt>
                                        </p:tgtEl>
                                      </p:cBhvr>
                                    </p:animEffect>
                                  </p:childTnLst>
                                </p:cTn>
                              </p:par>
                              <p:par>
                                <p:cTn id="79" presetID="10" presetClass="entr" presetSubtype="0" fill="hold" nodeType="withEffect">
                                  <p:stCondLst>
                                    <p:cond delay="0"/>
                                  </p:stCondLst>
                                  <p:childTnLst>
                                    <p:set>
                                      <p:cBhvr>
                                        <p:cTn id="80" dur="1" fill="hold">
                                          <p:stCondLst>
                                            <p:cond delay="0"/>
                                          </p:stCondLst>
                                        </p:cTn>
                                        <p:tgtEl>
                                          <p:spTgt spid="12">
                                            <p:txEl>
                                              <p:pRg st="2" end="2"/>
                                            </p:txEl>
                                          </p:spTgt>
                                        </p:tgtEl>
                                        <p:attrNameLst>
                                          <p:attrName>style.visibility</p:attrName>
                                        </p:attrNameLst>
                                      </p:cBhvr>
                                      <p:to>
                                        <p:strVal val="visible"/>
                                      </p:to>
                                    </p:set>
                                    <p:animEffect transition="in" filter="fade">
                                      <p:cBhvr>
                                        <p:cTn id="81" dur="500"/>
                                        <p:tgtEl>
                                          <p:spTgt spid="12">
                                            <p:txEl>
                                              <p:pRg st="2" end="2"/>
                                            </p:txEl>
                                          </p:spTgt>
                                        </p:tgtEl>
                                      </p:cBhvr>
                                    </p:animEffect>
                                  </p:childTnLst>
                                </p:cTn>
                              </p:par>
                              <p:par>
                                <p:cTn id="82" presetID="10" presetClass="entr" presetSubtype="0" fill="hold" nodeType="withEffect">
                                  <p:stCondLst>
                                    <p:cond delay="0"/>
                                  </p:stCondLst>
                                  <p:childTnLst>
                                    <p:set>
                                      <p:cBhvr>
                                        <p:cTn id="83" dur="1" fill="hold">
                                          <p:stCondLst>
                                            <p:cond delay="0"/>
                                          </p:stCondLst>
                                        </p:cTn>
                                        <p:tgtEl>
                                          <p:spTgt spid="12">
                                            <p:txEl>
                                              <p:pRg st="3" end="3"/>
                                            </p:txEl>
                                          </p:spTgt>
                                        </p:tgtEl>
                                        <p:attrNameLst>
                                          <p:attrName>style.visibility</p:attrName>
                                        </p:attrNameLst>
                                      </p:cBhvr>
                                      <p:to>
                                        <p:strVal val="visible"/>
                                      </p:to>
                                    </p:set>
                                    <p:animEffect transition="in" filter="fade">
                                      <p:cBhvr>
                                        <p:cTn id="84" dur="500"/>
                                        <p:tgtEl>
                                          <p:spTgt spid="12">
                                            <p:txEl>
                                              <p:pRg st="3" end="3"/>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12">
                                            <p:txEl>
                                              <p:pRg st="5" end="5"/>
                                            </p:txEl>
                                          </p:spTgt>
                                        </p:tgtEl>
                                        <p:attrNameLst>
                                          <p:attrName>style.visibility</p:attrName>
                                        </p:attrNameLst>
                                      </p:cBhvr>
                                      <p:to>
                                        <p:strVal val="visible"/>
                                      </p:to>
                                    </p:set>
                                    <p:animEffect transition="in" filter="fade">
                                      <p:cBhvr>
                                        <p:cTn id="89" dur="500"/>
                                        <p:tgtEl>
                                          <p:spTgt spid="12">
                                            <p:txEl>
                                              <p:pRg st="5" end="5"/>
                                            </p:txEl>
                                          </p:spTgt>
                                        </p:tgtEl>
                                      </p:cBhvr>
                                    </p:animEffect>
                                  </p:childTnLst>
                                </p:cTn>
                              </p:par>
                              <p:par>
                                <p:cTn id="90" presetID="10" presetClass="entr" presetSubtype="0" fill="hold" nodeType="withEffect">
                                  <p:stCondLst>
                                    <p:cond delay="0"/>
                                  </p:stCondLst>
                                  <p:childTnLst>
                                    <p:set>
                                      <p:cBhvr>
                                        <p:cTn id="91" dur="1" fill="hold">
                                          <p:stCondLst>
                                            <p:cond delay="0"/>
                                          </p:stCondLst>
                                        </p:cTn>
                                        <p:tgtEl>
                                          <p:spTgt spid="12">
                                            <p:txEl>
                                              <p:pRg st="6" end="6"/>
                                            </p:txEl>
                                          </p:spTgt>
                                        </p:tgtEl>
                                        <p:attrNameLst>
                                          <p:attrName>style.visibility</p:attrName>
                                        </p:attrNameLst>
                                      </p:cBhvr>
                                      <p:to>
                                        <p:strVal val="visible"/>
                                      </p:to>
                                    </p:set>
                                    <p:animEffect transition="in" filter="fade">
                                      <p:cBhvr>
                                        <p:cTn id="92" dur="500"/>
                                        <p:tgtEl>
                                          <p:spTgt spid="12">
                                            <p:txEl>
                                              <p:pRg st="6" end="6"/>
                                            </p:txEl>
                                          </p:spTgt>
                                        </p:tgtEl>
                                      </p:cBhvr>
                                    </p:animEffect>
                                  </p:childTnLst>
                                </p:cTn>
                              </p:par>
                              <p:par>
                                <p:cTn id="93" presetID="10" presetClass="entr" presetSubtype="0" fill="hold" nodeType="withEffect">
                                  <p:stCondLst>
                                    <p:cond delay="0"/>
                                  </p:stCondLst>
                                  <p:childTnLst>
                                    <p:set>
                                      <p:cBhvr>
                                        <p:cTn id="94" dur="1" fill="hold">
                                          <p:stCondLst>
                                            <p:cond delay="0"/>
                                          </p:stCondLst>
                                        </p:cTn>
                                        <p:tgtEl>
                                          <p:spTgt spid="12">
                                            <p:txEl>
                                              <p:pRg st="7" end="7"/>
                                            </p:txEl>
                                          </p:spTgt>
                                        </p:tgtEl>
                                        <p:attrNameLst>
                                          <p:attrName>style.visibility</p:attrName>
                                        </p:attrNameLst>
                                      </p:cBhvr>
                                      <p:to>
                                        <p:strVal val="visible"/>
                                      </p:to>
                                    </p:set>
                                    <p:animEffect transition="in" filter="fade">
                                      <p:cBhvr>
                                        <p:cTn id="95" dur="500"/>
                                        <p:tgtEl>
                                          <p:spTgt spid="12">
                                            <p:txEl>
                                              <p:pRg st="7" end="7"/>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nodeType="clickEffect">
                                  <p:stCondLst>
                                    <p:cond delay="0"/>
                                  </p:stCondLst>
                                  <p:childTnLst>
                                    <p:set>
                                      <p:cBhvr>
                                        <p:cTn id="99" dur="1" fill="hold">
                                          <p:stCondLst>
                                            <p:cond delay="0"/>
                                          </p:stCondLst>
                                        </p:cTn>
                                        <p:tgtEl>
                                          <p:spTgt spid="12">
                                            <p:txEl>
                                              <p:pRg st="9" end="9"/>
                                            </p:txEl>
                                          </p:spTgt>
                                        </p:tgtEl>
                                        <p:attrNameLst>
                                          <p:attrName>style.visibility</p:attrName>
                                        </p:attrNameLst>
                                      </p:cBhvr>
                                      <p:to>
                                        <p:strVal val="visible"/>
                                      </p:to>
                                    </p:set>
                                    <p:animEffect transition="in" filter="fade">
                                      <p:cBhvr>
                                        <p:cTn id="100" dur="500"/>
                                        <p:tgtEl>
                                          <p:spTgt spid="12">
                                            <p:txEl>
                                              <p:pRg st="9" end="9"/>
                                            </p:txEl>
                                          </p:spTgt>
                                        </p:tgtEl>
                                      </p:cBhvr>
                                    </p:animEffect>
                                  </p:childTnLst>
                                </p:cTn>
                              </p:par>
                              <p:par>
                                <p:cTn id="101" presetID="10" presetClass="entr" presetSubtype="0" fill="hold" nodeType="withEffect">
                                  <p:stCondLst>
                                    <p:cond delay="0"/>
                                  </p:stCondLst>
                                  <p:childTnLst>
                                    <p:set>
                                      <p:cBhvr>
                                        <p:cTn id="102" dur="1" fill="hold">
                                          <p:stCondLst>
                                            <p:cond delay="0"/>
                                          </p:stCondLst>
                                        </p:cTn>
                                        <p:tgtEl>
                                          <p:spTgt spid="12">
                                            <p:txEl>
                                              <p:pRg st="10" end="10"/>
                                            </p:txEl>
                                          </p:spTgt>
                                        </p:tgtEl>
                                        <p:attrNameLst>
                                          <p:attrName>style.visibility</p:attrName>
                                        </p:attrNameLst>
                                      </p:cBhvr>
                                      <p:to>
                                        <p:strVal val="visible"/>
                                      </p:to>
                                    </p:set>
                                    <p:animEffect transition="in" filter="fade">
                                      <p:cBhvr>
                                        <p:cTn id="103" dur="500"/>
                                        <p:tgtEl>
                                          <p:spTgt spid="12">
                                            <p:txEl>
                                              <p:pRg st="10" end="10"/>
                                            </p:txEl>
                                          </p:spTgt>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grpId="0" nodeType="clickEffect">
                                  <p:stCondLst>
                                    <p:cond delay="0"/>
                                  </p:stCondLst>
                                  <p:childTnLst>
                                    <p:set>
                                      <p:cBhvr>
                                        <p:cTn id="107" dur="1" fill="hold">
                                          <p:stCondLst>
                                            <p:cond delay="0"/>
                                          </p:stCondLst>
                                        </p:cTn>
                                        <p:tgtEl>
                                          <p:spTgt spid="14"/>
                                        </p:tgtEl>
                                        <p:attrNameLst>
                                          <p:attrName>style.visibility</p:attrName>
                                        </p:attrNameLst>
                                      </p:cBhvr>
                                      <p:to>
                                        <p:strVal val="visible"/>
                                      </p:to>
                                    </p:set>
                                    <p:animEffect transition="in" filter="fade">
                                      <p:cBhvr>
                                        <p:cTn id="108" dur="500"/>
                                        <p:tgtEl>
                                          <p:spTgt spid="14"/>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grpId="0" nodeType="clickEffect">
                                  <p:stCondLst>
                                    <p:cond delay="0"/>
                                  </p:stCondLst>
                                  <p:childTnLst>
                                    <p:set>
                                      <p:cBhvr>
                                        <p:cTn id="112" dur="1" fill="hold">
                                          <p:stCondLst>
                                            <p:cond delay="0"/>
                                          </p:stCondLst>
                                        </p:cTn>
                                        <p:tgtEl>
                                          <p:spTgt spid="15"/>
                                        </p:tgtEl>
                                        <p:attrNameLst>
                                          <p:attrName>style.visibility</p:attrName>
                                        </p:attrNameLst>
                                      </p:cBhvr>
                                      <p:to>
                                        <p:strVal val="visible"/>
                                      </p:to>
                                    </p:set>
                                    <p:animEffect transition="in" filter="fade">
                                      <p:cBhvr>
                                        <p:cTn id="113" dur="500"/>
                                        <p:tgtEl>
                                          <p:spTgt spid="15"/>
                                        </p:tgtEl>
                                      </p:cBhvr>
                                    </p:animEffect>
                                  </p:childTnLst>
                                </p:cTn>
                              </p:par>
                            </p:childTnLst>
                          </p:cTn>
                        </p:par>
                      </p:childTnLst>
                    </p:cTn>
                  </p:par>
                  <p:par>
                    <p:cTn id="114" fill="hold">
                      <p:stCondLst>
                        <p:cond delay="indefinite"/>
                      </p:stCondLst>
                      <p:childTnLst>
                        <p:par>
                          <p:cTn id="115" fill="hold">
                            <p:stCondLst>
                              <p:cond delay="0"/>
                            </p:stCondLst>
                            <p:childTnLst>
                              <p:par>
                                <p:cTn id="116" presetID="10" presetClass="entr" presetSubtype="0" fill="hold" grpId="0" nodeType="clickEffect">
                                  <p:stCondLst>
                                    <p:cond delay="0"/>
                                  </p:stCondLst>
                                  <p:childTnLst>
                                    <p:set>
                                      <p:cBhvr>
                                        <p:cTn id="117" dur="1" fill="hold">
                                          <p:stCondLst>
                                            <p:cond delay="0"/>
                                          </p:stCondLst>
                                        </p:cTn>
                                        <p:tgtEl>
                                          <p:spTgt spid="16"/>
                                        </p:tgtEl>
                                        <p:attrNameLst>
                                          <p:attrName>style.visibility</p:attrName>
                                        </p:attrNameLst>
                                      </p:cBhvr>
                                      <p:to>
                                        <p:strVal val="visible"/>
                                      </p:to>
                                    </p:set>
                                    <p:animEffect transition="in" filter="fade">
                                      <p:cBhvr>
                                        <p:cTn id="118" dur="500"/>
                                        <p:tgtEl>
                                          <p:spTgt spid="16"/>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grpId="0" nodeType="clickEffect">
                                  <p:stCondLst>
                                    <p:cond delay="0"/>
                                  </p:stCondLst>
                                  <p:childTnLst>
                                    <p:set>
                                      <p:cBhvr>
                                        <p:cTn id="122" dur="1" fill="hold">
                                          <p:stCondLst>
                                            <p:cond delay="0"/>
                                          </p:stCondLst>
                                        </p:cTn>
                                        <p:tgtEl>
                                          <p:spTgt spid="17"/>
                                        </p:tgtEl>
                                        <p:attrNameLst>
                                          <p:attrName>style.visibility</p:attrName>
                                        </p:attrNameLst>
                                      </p:cBhvr>
                                      <p:to>
                                        <p:strVal val="visible"/>
                                      </p:to>
                                    </p:set>
                                    <p:animEffect transition="in" filter="fade">
                                      <p:cBhvr>
                                        <p:cTn id="12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8CF380-E205-964D-874B-34A44B602F16}"/>
              </a:ext>
            </a:extLst>
          </p:cNvPr>
          <p:cNvSpPr>
            <a:spLocks noGrp="1"/>
          </p:cNvSpPr>
          <p:nvPr>
            <p:ph type="sldNum" sz="quarter" idx="12"/>
          </p:nvPr>
        </p:nvSpPr>
        <p:spPr/>
        <p:txBody>
          <a:bodyPr/>
          <a:lstStyle/>
          <a:p>
            <a:fld id="{FF2BD96E-3838-45D2-9031-D3AF67C920A5}" type="slidenum">
              <a:rPr lang="en-US" smtClean="0"/>
              <a:t>14</a:t>
            </a:fld>
            <a:endParaRPr lang="en-US"/>
          </a:p>
        </p:txBody>
      </p:sp>
      <p:sp>
        <p:nvSpPr>
          <p:cNvPr id="3" name="TextBox 2">
            <a:extLst>
              <a:ext uri="{FF2B5EF4-FFF2-40B4-BE49-F238E27FC236}">
                <a16:creationId xmlns:a16="http://schemas.microsoft.com/office/drawing/2014/main" id="{AE07433B-8C9B-61B9-0298-6D0F021194BD}"/>
              </a:ext>
            </a:extLst>
          </p:cNvPr>
          <p:cNvSpPr txBox="1"/>
          <p:nvPr/>
        </p:nvSpPr>
        <p:spPr>
          <a:xfrm>
            <a:off x="860611" y="1156447"/>
            <a:ext cx="11035553" cy="3970318"/>
          </a:xfrm>
          <a:prstGeom prst="rect">
            <a:avLst/>
          </a:prstGeom>
          <a:noFill/>
        </p:spPr>
        <p:txBody>
          <a:bodyPr wrap="square" rtlCol="0">
            <a:spAutoFit/>
          </a:bodyPr>
          <a:lstStyle/>
          <a:p>
            <a:r>
              <a:rPr lang="en-US" dirty="0"/>
              <a:t>With BPE, we have a risk of getting a [ UNK ] token, </a:t>
            </a:r>
          </a:p>
          <a:p>
            <a:r>
              <a:rPr lang="en-US" dirty="0"/>
              <a:t>Simple solution: include all characters of the known Alphabet system to be included in your vocabulary. </a:t>
            </a:r>
          </a:p>
          <a:p>
            <a:endParaRPr lang="en-US" dirty="0"/>
          </a:p>
          <a:p>
            <a:r>
              <a:rPr lang="en-US" dirty="0"/>
              <a:t>Why we need that dash token ? </a:t>
            </a:r>
          </a:p>
          <a:p>
            <a:pPr marL="285750" indent="-285750">
              <a:buFont typeface="Wingdings" panose="05000000000000000000" pitchFamily="2" charset="2"/>
              <a:buChar char="è"/>
            </a:pPr>
            <a:r>
              <a:rPr lang="en-US" dirty="0"/>
              <a:t> Let’s say we have : </a:t>
            </a:r>
          </a:p>
          <a:p>
            <a:r>
              <a:rPr lang="en-US" dirty="0"/>
              <a:t>           </a:t>
            </a:r>
            <a:r>
              <a:rPr lang="en-IN" dirty="0" err="1">
                <a:solidFill>
                  <a:srgbClr val="158D82"/>
                </a:solidFill>
              </a:rPr>
              <a:t>est</a:t>
            </a:r>
            <a:r>
              <a:rPr lang="en-IN" dirty="0" err="1">
                <a:solidFill>
                  <a:srgbClr val="C00000"/>
                </a:solidFill>
              </a:rPr>
              <a:t>onia</a:t>
            </a:r>
            <a:r>
              <a:rPr lang="en-IN" dirty="0">
                <a:solidFill>
                  <a:srgbClr val="C00000"/>
                </a:solidFill>
              </a:rPr>
              <a:t> vs. high</a:t>
            </a:r>
            <a:r>
              <a:rPr lang="en-IN" dirty="0">
                <a:solidFill>
                  <a:srgbClr val="158D82"/>
                </a:solidFill>
              </a:rPr>
              <a:t>est</a:t>
            </a:r>
          </a:p>
          <a:p>
            <a:endParaRPr lang="en-US" dirty="0"/>
          </a:p>
          <a:p>
            <a:r>
              <a:rPr lang="en-US" dirty="0"/>
              <a:t>In the word highest , </a:t>
            </a:r>
            <a:r>
              <a:rPr lang="en-US" dirty="0" err="1"/>
              <a:t>est</a:t>
            </a:r>
            <a:r>
              <a:rPr lang="en-US" dirty="0"/>
              <a:t> acts like suffix, and after suffix we have a blank / suffix always ends with blank.</a:t>
            </a:r>
          </a:p>
          <a:p>
            <a:endParaRPr lang="en-US" dirty="0"/>
          </a:p>
          <a:p>
            <a:r>
              <a:rPr lang="en-US" dirty="0"/>
              <a:t>So, ‘</a:t>
            </a:r>
            <a:r>
              <a:rPr lang="en-US" dirty="0" err="1"/>
              <a:t>est</a:t>
            </a:r>
            <a:r>
              <a:rPr lang="en-US" dirty="0"/>
              <a:t>’ of ‘</a:t>
            </a:r>
            <a:r>
              <a:rPr lang="en-US" dirty="0" err="1"/>
              <a:t>estonia</a:t>
            </a:r>
            <a:r>
              <a:rPr lang="en-US" dirty="0"/>
              <a:t>’  is represented as ‘</a:t>
            </a:r>
            <a:r>
              <a:rPr lang="en-US" dirty="0" err="1"/>
              <a:t>est</a:t>
            </a:r>
            <a:r>
              <a:rPr lang="en-US" dirty="0"/>
              <a:t>’ , since here ‘</a:t>
            </a:r>
            <a:r>
              <a:rPr lang="en-US" dirty="0" err="1"/>
              <a:t>est</a:t>
            </a:r>
            <a:r>
              <a:rPr lang="en-US" dirty="0"/>
              <a:t>’ is prefix </a:t>
            </a:r>
          </a:p>
          <a:p>
            <a:endParaRPr lang="en-US" dirty="0"/>
          </a:p>
          <a:p>
            <a:r>
              <a:rPr lang="en-US" dirty="0"/>
              <a:t>And ‘</a:t>
            </a:r>
            <a:r>
              <a:rPr lang="en-US" dirty="0" err="1"/>
              <a:t>est</a:t>
            </a:r>
            <a:r>
              <a:rPr lang="en-US" dirty="0"/>
              <a:t>’ of ‘highest’ is represented as ‘</a:t>
            </a:r>
            <a:r>
              <a:rPr lang="en-US" dirty="0" err="1"/>
              <a:t>est</a:t>
            </a:r>
            <a:r>
              <a:rPr lang="en-US" b="1" dirty="0"/>
              <a:t>_</a:t>
            </a:r>
            <a:r>
              <a:rPr lang="en-US" dirty="0"/>
              <a:t>’ , since here ‘</a:t>
            </a:r>
            <a:r>
              <a:rPr lang="en-US" dirty="0" err="1"/>
              <a:t>est</a:t>
            </a:r>
            <a:r>
              <a:rPr lang="en-US" dirty="0"/>
              <a:t>’ is suffix and suffix always ends with blank.</a:t>
            </a:r>
          </a:p>
          <a:p>
            <a:endParaRPr lang="en-US" dirty="0"/>
          </a:p>
          <a:p>
            <a:r>
              <a:rPr lang="en-US" dirty="0"/>
              <a:t>BPE doesn’t care about linguistics; we can break a word at any point of time  based on frequency.</a:t>
            </a:r>
          </a:p>
        </p:txBody>
      </p:sp>
    </p:spTree>
    <p:extLst>
      <p:ext uri="{BB962C8B-B14F-4D97-AF65-F5344CB8AC3E}">
        <p14:creationId xmlns:p14="http://schemas.microsoft.com/office/powerpoint/2010/main" val="18407047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EE659-38AF-4BE7-8FFD-989DC44E4261}"/>
              </a:ext>
            </a:extLst>
          </p:cNvPr>
          <p:cNvSpPr>
            <a:spLocks noGrp="1"/>
          </p:cNvSpPr>
          <p:nvPr>
            <p:ph type="title"/>
          </p:nvPr>
        </p:nvSpPr>
        <p:spPr/>
        <p:txBody>
          <a:bodyPr/>
          <a:lstStyle/>
          <a:p>
            <a:r>
              <a:rPr lang="en-IN" dirty="0" err="1"/>
              <a:t>Word_Piece</a:t>
            </a:r>
            <a:r>
              <a:rPr lang="en-IN" dirty="0"/>
              <a:t> Tokenizer</a:t>
            </a:r>
          </a:p>
        </p:txBody>
      </p:sp>
      <p:sp>
        <p:nvSpPr>
          <p:cNvPr id="4" name="Slide Number Placeholder 3">
            <a:extLst>
              <a:ext uri="{FF2B5EF4-FFF2-40B4-BE49-F238E27FC236}">
                <a16:creationId xmlns:a16="http://schemas.microsoft.com/office/drawing/2014/main" id="{D64451E9-04BF-4FA3-B534-9B9CB186F362}"/>
              </a:ext>
            </a:extLst>
          </p:cNvPr>
          <p:cNvSpPr>
            <a:spLocks noGrp="1"/>
          </p:cNvSpPr>
          <p:nvPr>
            <p:ph type="sldNum" sz="quarter" idx="12"/>
          </p:nvPr>
        </p:nvSpPr>
        <p:spPr/>
        <p:txBody>
          <a:bodyPr/>
          <a:lstStyle/>
          <a:p>
            <a:fld id="{FF2BD96E-3838-45D2-9031-D3AF67C920A5}" type="slidenum">
              <a:rPr lang="en-US" smtClean="0"/>
              <a:t>15</a:t>
            </a:fld>
            <a:endParaRPr lang="en-US"/>
          </a:p>
        </p:txBody>
      </p:sp>
      <p:graphicFrame>
        <p:nvGraphicFramePr>
          <p:cNvPr id="5" name="Table 20">
            <a:extLst>
              <a:ext uri="{FF2B5EF4-FFF2-40B4-BE49-F238E27FC236}">
                <a16:creationId xmlns:a16="http://schemas.microsoft.com/office/drawing/2014/main" id="{05505A17-4D04-4476-B461-5E31048E2562}"/>
              </a:ext>
            </a:extLst>
          </p:cNvPr>
          <p:cNvGraphicFramePr>
            <a:graphicFrameLocks noGrp="1"/>
          </p:cNvGraphicFramePr>
          <p:nvPr>
            <p:extLst>
              <p:ext uri="{D42A27DB-BD31-4B8C-83A1-F6EECF244321}">
                <p14:modId xmlns:p14="http://schemas.microsoft.com/office/powerpoint/2010/main" val="1609293771"/>
              </p:ext>
            </p:extLst>
          </p:nvPr>
        </p:nvGraphicFramePr>
        <p:xfrm>
          <a:off x="9874395" y="1310609"/>
          <a:ext cx="1868555" cy="3840480"/>
        </p:xfrm>
        <a:graphic>
          <a:graphicData uri="http://schemas.openxmlformats.org/drawingml/2006/table">
            <a:tbl>
              <a:tblPr firstRow="1" bandRow="1">
                <a:tableStyleId>{5940675A-B579-460E-94D1-54222C63F5DA}</a:tableStyleId>
              </a:tblPr>
              <a:tblGrid>
                <a:gridCol w="705678">
                  <a:extLst>
                    <a:ext uri="{9D8B030D-6E8A-4147-A177-3AD203B41FA5}">
                      <a16:colId xmlns:a16="http://schemas.microsoft.com/office/drawing/2014/main" val="2606537423"/>
                    </a:ext>
                  </a:extLst>
                </a:gridCol>
                <a:gridCol w="1162877">
                  <a:extLst>
                    <a:ext uri="{9D8B030D-6E8A-4147-A177-3AD203B41FA5}">
                      <a16:colId xmlns:a16="http://schemas.microsoft.com/office/drawing/2014/main" val="1993236031"/>
                    </a:ext>
                  </a:extLst>
                </a:gridCol>
              </a:tblGrid>
              <a:tr h="271385">
                <a:tc>
                  <a:txBody>
                    <a:bodyPr/>
                    <a:lstStyle/>
                    <a:p>
                      <a:r>
                        <a:rPr lang="en-IN" sz="1200" dirty="0"/>
                        <a:t>Token</a:t>
                      </a:r>
                    </a:p>
                  </a:txBody>
                  <a:tcPr/>
                </a:tc>
                <a:tc>
                  <a:txBody>
                    <a:bodyPr/>
                    <a:lstStyle/>
                    <a:p>
                      <a:r>
                        <a:rPr lang="en-IN" sz="1200" dirty="0"/>
                        <a:t>Frequency</a:t>
                      </a:r>
                    </a:p>
                  </a:txBody>
                  <a:tcPr/>
                </a:tc>
                <a:extLst>
                  <a:ext uri="{0D108BD9-81ED-4DB2-BD59-A6C34878D82A}">
                    <a16:rowId xmlns:a16="http://schemas.microsoft.com/office/drawing/2014/main" val="3800187281"/>
                  </a:ext>
                </a:extLst>
              </a:tr>
              <a:tr h="271385">
                <a:tc>
                  <a:txBody>
                    <a:bodyPr/>
                    <a:lstStyle/>
                    <a:p>
                      <a:pPr algn="ctr"/>
                      <a:r>
                        <a:rPr lang="en-IN" sz="1200" dirty="0"/>
                        <a:t>a</a:t>
                      </a:r>
                    </a:p>
                  </a:txBody>
                  <a:tcPr/>
                </a:tc>
                <a:tc>
                  <a:txBody>
                    <a:bodyPr/>
                    <a:lstStyle/>
                    <a:p>
                      <a:pPr algn="ctr"/>
                      <a:r>
                        <a:rPr lang="en-IN" sz="1200" dirty="0"/>
                        <a:t>9</a:t>
                      </a:r>
                    </a:p>
                  </a:txBody>
                  <a:tcPr/>
                </a:tc>
                <a:extLst>
                  <a:ext uri="{0D108BD9-81ED-4DB2-BD59-A6C34878D82A}">
                    <a16:rowId xmlns:a16="http://schemas.microsoft.com/office/drawing/2014/main" val="2383089832"/>
                  </a:ext>
                </a:extLst>
              </a:tr>
              <a:tr h="271385">
                <a:tc>
                  <a:txBody>
                    <a:bodyPr/>
                    <a:lstStyle/>
                    <a:p>
                      <a:pPr algn="ctr"/>
                      <a:r>
                        <a:rPr lang="en-IN" sz="1200" dirty="0"/>
                        <a:t>c</a:t>
                      </a:r>
                    </a:p>
                  </a:txBody>
                  <a:tcPr/>
                </a:tc>
                <a:tc>
                  <a:txBody>
                    <a:bodyPr/>
                    <a:lstStyle/>
                    <a:p>
                      <a:pPr algn="ctr"/>
                      <a:r>
                        <a:rPr lang="en-IN" sz="1200" dirty="0"/>
                        <a:t>2</a:t>
                      </a:r>
                    </a:p>
                  </a:txBody>
                  <a:tcPr/>
                </a:tc>
                <a:extLst>
                  <a:ext uri="{0D108BD9-81ED-4DB2-BD59-A6C34878D82A}">
                    <a16:rowId xmlns:a16="http://schemas.microsoft.com/office/drawing/2014/main" val="948174216"/>
                  </a:ext>
                </a:extLst>
              </a:tr>
              <a:tr h="271385">
                <a:tc>
                  <a:txBody>
                    <a:bodyPr/>
                    <a:lstStyle/>
                    <a:p>
                      <a:pPr algn="ctr"/>
                      <a:r>
                        <a:rPr lang="en-IN" sz="1200" dirty="0"/>
                        <a:t>h</a:t>
                      </a:r>
                    </a:p>
                  </a:txBody>
                  <a:tcPr/>
                </a:tc>
                <a:tc>
                  <a:txBody>
                    <a:bodyPr/>
                    <a:lstStyle/>
                    <a:p>
                      <a:pPr algn="ctr"/>
                      <a:r>
                        <a:rPr lang="en-IN" sz="1200" dirty="0"/>
                        <a:t>1</a:t>
                      </a:r>
                    </a:p>
                  </a:txBody>
                  <a:tcPr/>
                </a:tc>
                <a:extLst>
                  <a:ext uri="{0D108BD9-81ED-4DB2-BD59-A6C34878D82A}">
                    <a16:rowId xmlns:a16="http://schemas.microsoft.com/office/drawing/2014/main" val="2997842419"/>
                  </a:ext>
                </a:extLst>
              </a:tr>
              <a:tr h="271385">
                <a:tc>
                  <a:txBody>
                    <a:bodyPr/>
                    <a:lstStyle/>
                    <a:p>
                      <a:pPr algn="ctr"/>
                      <a:r>
                        <a:rPr lang="en-IN" sz="1200" dirty="0" err="1"/>
                        <a:t>i</a:t>
                      </a:r>
                      <a:endParaRPr lang="en-IN" sz="1200" dirty="0"/>
                    </a:p>
                  </a:txBody>
                  <a:tcPr/>
                </a:tc>
                <a:tc>
                  <a:txBody>
                    <a:bodyPr/>
                    <a:lstStyle/>
                    <a:p>
                      <a:pPr algn="ctr"/>
                      <a:r>
                        <a:rPr lang="en-IN" sz="1200" dirty="0"/>
                        <a:t>1</a:t>
                      </a:r>
                    </a:p>
                  </a:txBody>
                  <a:tcPr/>
                </a:tc>
                <a:extLst>
                  <a:ext uri="{0D108BD9-81ED-4DB2-BD59-A6C34878D82A}">
                    <a16:rowId xmlns:a16="http://schemas.microsoft.com/office/drawing/2014/main" val="2650249721"/>
                  </a:ext>
                </a:extLst>
              </a:tr>
              <a:tr h="271385">
                <a:tc>
                  <a:txBody>
                    <a:bodyPr/>
                    <a:lstStyle/>
                    <a:p>
                      <a:pPr algn="ctr"/>
                      <a:r>
                        <a:rPr lang="en-IN" sz="1200" dirty="0"/>
                        <a:t>m</a:t>
                      </a:r>
                    </a:p>
                  </a:txBody>
                  <a:tcPr/>
                </a:tc>
                <a:tc>
                  <a:txBody>
                    <a:bodyPr/>
                    <a:lstStyle/>
                    <a:p>
                      <a:pPr algn="ctr"/>
                      <a:r>
                        <a:rPr lang="en-IN" sz="1200" dirty="0"/>
                        <a:t>2</a:t>
                      </a:r>
                    </a:p>
                  </a:txBody>
                  <a:tcPr/>
                </a:tc>
                <a:extLst>
                  <a:ext uri="{0D108BD9-81ED-4DB2-BD59-A6C34878D82A}">
                    <a16:rowId xmlns:a16="http://schemas.microsoft.com/office/drawing/2014/main" val="3507577262"/>
                  </a:ext>
                </a:extLst>
              </a:tr>
              <a:tr h="271385">
                <a:tc>
                  <a:txBody>
                    <a:bodyPr/>
                    <a:lstStyle/>
                    <a:p>
                      <a:pPr algn="ctr"/>
                      <a:r>
                        <a:rPr lang="en-IN" sz="1200" dirty="0"/>
                        <a:t>n</a:t>
                      </a:r>
                    </a:p>
                  </a:txBody>
                  <a:tcPr/>
                </a:tc>
                <a:tc>
                  <a:txBody>
                    <a:bodyPr/>
                    <a:lstStyle/>
                    <a:p>
                      <a:pPr algn="ctr"/>
                      <a:r>
                        <a:rPr lang="en-IN" sz="1200" dirty="0"/>
                        <a:t>2</a:t>
                      </a:r>
                    </a:p>
                  </a:txBody>
                  <a:tcPr/>
                </a:tc>
                <a:extLst>
                  <a:ext uri="{0D108BD9-81ED-4DB2-BD59-A6C34878D82A}">
                    <a16:rowId xmlns:a16="http://schemas.microsoft.com/office/drawing/2014/main" val="3323913156"/>
                  </a:ext>
                </a:extLst>
              </a:tr>
              <a:tr h="271385">
                <a:tc>
                  <a:txBody>
                    <a:bodyPr/>
                    <a:lstStyle/>
                    <a:p>
                      <a:pPr algn="ctr"/>
                      <a:r>
                        <a:rPr lang="en-IN" sz="1200" dirty="0"/>
                        <a:t>o</a:t>
                      </a:r>
                    </a:p>
                  </a:txBody>
                  <a:tcPr/>
                </a:tc>
                <a:tc>
                  <a:txBody>
                    <a:bodyPr/>
                    <a:lstStyle/>
                    <a:p>
                      <a:pPr algn="ctr"/>
                      <a:r>
                        <a:rPr lang="en-IN" sz="1200" dirty="0"/>
                        <a:t>2</a:t>
                      </a:r>
                    </a:p>
                  </a:txBody>
                  <a:tcPr/>
                </a:tc>
                <a:extLst>
                  <a:ext uri="{0D108BD9-81ED-4DB2-BD59-A6C34878D82A}">
                    <a16:rowId xmlns:a16="http://schemas.microsoft.com/office/drawing/2014/main" val="3493800237"/>
                  </a:ext>
                </a:extLst>
              </a:tr>
              <a:tr h="271385">
                <a:tc>
                  <a:txBody>
                    <a:bodyPr/>
                    <a:lstStyle/>
                    <a:p>
                      <a:pPr algn="ctr"/>
                      <a:r>
                        <a:rPr lang="en-IN" sz="1200" dirty="0"/>
                        <a:t>p</a:t>
                      </a:r>
                    </a:p>
                  </a:txBody>
                  <a:tcPr/>
                </a:tc>
                <a:tc>
                  <a:txBody>
                    <a:bodyPr/>
                    <a:lstStyle/>
                    <a:p>
                      <a:pPr algn="ctr"/>
                      <a:r>
                        <a:rPr lang="en-IN" sz="1200" dirty="0"/>
                        <a:t>3</a:t>
                      </a:r>
                    </a:p>
                  </a:txBody>
                  <a:tcPr/>
                </a:tc>
                <a:extLst>
                  <a:ext uri="{0D108BD9-81ED-4DB2-BD59-A6C34878D82A}">
                    <a16:rowId xmlns:a16="http://schemas.microsoft.com/office/drawing/2014/main" val="138254936"/>
                  </a:ext>
                </a:extLst>
              </a:tr>
              <a:tr h="271385">
                <a:tc>
                  <a:txBody>
                    <a:bodyPr/>
                    <a:lstStyle/>
                    <a:p>
                      <a:pPr algn="ctr"/>
                      <a:r>
                        <a:rPr lang="en-IN" sz="1200" dirty="0"/>
                        <a:t>s</a:t>
                      </a:r>
                    </a:p>
                  </a:txBody>
                  <a:tcPr/>
                </a:tc>
                <a:tc>
                  <a:txBody>
                    <a:bodyPr/>
                    <a:lstStyle/>
                    <a:p>
                      <a:pPr algn="ctr"/>
                      <a:r>
                        <a:rPr lang="en-IN" sz="1200" dirty="0"/>
                        <a:t>2</a:t>
                      </a:r>
                    </a:p>
                  </a:txBody>
                  <a:tcPr/>
                </a:tc>
                <a:extLst>
                  <a:ext uri="{0D108BD9-81ED-4DB2-BD59-A6C34878D82A}">
                    <a16:rowId xmlns:a16="http://schemas.microsoft.com/office/drawing/2014/main" val="3513394123"/>
                  </a:ext>
                </a:extLst>
              </a:tr>
              <a:tr h="271385">
                <a:tc>
                  <a:txBody>
                    <a:bodyPr/>
                    <a:lstStyle/>
                    <a:p>
                      <a:pPr algn="ctr"/>
                      <a:r>
                        <a:rPr lang="en-IN" sz="1200" dirty="0"/>
                        <a:t>w</a:t>
                      </a:r>
                    </a:p>
                  </a:txBody>
                  <a:tcPr/>
                </a:tc>
                <a:tc>
                  <a:txBody>
                    <a:bodyPr/>
                    <a:lstStyle/>
                    <a:p>
                      <a:pPr algn="ctr"/>
                      <a:r>
                        <a:rPr lang="en-IN" sz="1200" dirty="0"/>
                        <a:t>1</a:t>
                      </a:r>
                    </a:p>
                  </a:txBody>
                  <a:tcPr/>
                </a:tc>
                <a:extLst>
                  <a:ext uri="{0D108BD9-81ED-4DB2-BD59-A6C34878D82A}">
                    <a16:rowId xmlns:a16="http://schemas.microsoft.com/office/drawing/2014/main" val="3577659322"/>
                  </a:ext>
                </a:extLst>
              </a:tr>
              <a:tr h="271385">
                <a:tc>
                  <a:txBody>
                    <a:bodyPr/>
                    <a:lstStyle/>
                    <a:p>
                      <a:pPr algn="ctr"/>
                      <a:r>
                        <a:rPr lang="en-IN" sz="1200" dirty="0"/>
                        <a:t>t</a:t>
                      </a:r>
                    </a:p>
                  </a:txBody>
                  <a:tcPr/>
                </a:tc>
                <a:tc>
                  <a:txBody>
                    <a:bodyPr/>
                    <a:lstStyle/>
                    <a:p>
                      <a:pPr algn="ctr"/>
                      <a:r>
                        <a:rPr lang="en-IN" sz="1200" dirty="0"/>
                        <a:t>10</a:t>
                      </a:r>
                    </a:p>
                  </a:txBody>
                  <a:tcPr/>
                </a:tc>
                <a:extLst>
                  <a:ext uri="{0D108BD9-81ED-4DB2-BD59-A6C34878D82A}">
                    <a16:rowId xmlns:a16="http://schemas.microsoft.com/office/drawing/2014/main" val="2150499092"/>
                  </a:ext>
                </a:extLst>
              </a:tr>
              <a:tr h="271385">
                <a:tc>
                  <a:txBody>
                    <a:bodyPr/>
                    <a:lstStyle/>
                    <a:p>
                      <a:pPr algn="ctr"/>
                      <a:r>
                        <a:rPr lang="en-IN" sz="1200" dirty="0"/>
                        <a:t>␣</a:t>
                      </a:r>
                    </a:p>
                  </a:txBody>
                  <a:tcPr/>
                </a:tc>
                <a:tc>
                  <a:txBody>
                    <a:bodyPr/>
                    <a:lstStyle/>
                    <a:p>
                      <a:pPr algn="ctr"/>
                      <a:r>
                        <a:rPr lang="en-IN" sz="1200" dirty="0"/>
                        <a:t>12</a:t>
                      </a:r>
                    </a:p>
                  </a:txBody>
                  <a:tcPr/>
                </a:tc>
                <a:extLst>
                  <a:ext uri="{0D108BD9-81ED-4DB2-BD59-A6C34878D82A}">
                    <a16:rowId xmlns:a16="http://schemas.microsoft.com/office/drawing/2014/main" val="3513143497"/>
                  </a:ext>
                </a:extLst>
              </a:tr>
              <a:tr h="271385">
                <a:tc>
                  <a:txBody>
                    <a:bodyPr/>
                    <a:lstStyle/>
                    <a:p>
                      <a:pPr algn="ctr"/>
                      <a:r>
                        <a:rPr lang="en-IN" sz="1200" dirty="0"/>
                        <a:t>at</a:t>
                      </a:r>
                    </a:p>
                  </a:txBody>
                  <a:tcPr/>
                </a:tc>
                <a:tc>
                  <a:txBody>
                    <a:bodyPr/>
                    <a:lstStyle/>
                    <a:p>
                      <a:pPr algn="ctr"/>
                      <a:r>
                        <a:rPr lang="en-IN" sz="1200" dirty="0"/>
                        <a:t>9</a:t>
                      </a:r>
                    </a:p>
                  </a:txBody>
                  <a:tcPr/>
                </a:tc>
                <a:extLst>
                  <a:ext uri="{0D108BD9-81ED-4DB2-BD59-A6C34878D82A}">
                    <a16:rowId xmlns:a16="http://schemas.microsoft.com/office/drawing/2014/main" val="513657350"/>
                  </a:ext>
                </a:extLst>
              </a:tr>
            </a:tbl>
          </a:graphicData>
        </a:graphic>
      </p:graphicFrame>
      <p:sp>
        <p:nvSpPr>
          <p:cNvPr id="6" name="TextBox 5">
            <a:extLst>
              <a:ext uri="{FF2B5EF4-FFF2-40B4-BE49-F238E27FC236}">
                <a16:creationId xmlns:a16="http://schemas.microsoft.com/office/drawing/2014/main" id="{6787785C-E14B-431B-B848-628937368D45}"/>
              </a:ext>
            </a:extLst>
          </p:cNvPr>
          <p:cNvSpPr txBox="1"/>
          <p:nvPr/>
        </p:nvSpPr>
        <p:spPr>
          <a:xfrm>
            <a:off x="915708" y="2771457"/>
            <a:ext cx="6906902" cy="646331"/>
          </a:xfrm>
          <a:prstGeom prst="rect">
            <a:avLst/>
          </a:prstGeom>
          <a:noFill/>
        </p:spPr>
        <p:txBody>
          <a:bodyPr wrap="square">
            <a:spAutoFit/>
          </a:bodyPr>
          <a:lstStyle/>
          <a:p>
            <a:r>
              <a:rPr lang="en-IN" dirty="0"/>
              <a:t>PAIRS: (</a:t>
            </a:r>
            <a:r>
              <a:rPr lang="en-IN" dirty="0" err="1"/>
              <a:t>p,a</a:t>
            </a:r>
            <a:r>
              <a:rPr lang="en-IN" dirty="0"/>
              <a:t>)=3 | (</a:t>
            </a:r>
            <a:r>
              <a:rPr lang="en-IN" dirty="0" err="1"/>
              <a:t>a,t</a:t>
            </a:r>
            <a:r>
              <a:rPr lang="en-IN" dirty="0"/>
              <a:t>)=9 | (t,␣)=9 | (</a:t>
            </a:r>
            <a:r>
              <a:rPr lang="en-IN" dirty="0" err="1"/>
              <a:t>c,a</a:t>
            </a:r>
            <a:r>
              <a:rPr lang="en-IN" dirty="0"/>
              <a:t>)=2 | (</a:t>
            </a:r>
            <a:r>
              <a:rPr lang="en-IN" dirty="0" err="1"/>
              <a:t>s,a</a:t>
            </a:r>
            <a:r>
              <a:rPr lang="en-IN" dirty="0"/>
              <a:t>)=2 | (</a:t>
            </a:r>
            <a:r>
              <a:rPr lang="en-IN" dirty="0" err="1"/>
              <a:t>o,n</a:t>
            </a:r>
            <a:r>
              <a:rPr lang="en-IN" dirty="0"/>
              <a:t>)=2 | (n,␣)=2 | (</a:t>
            </a:r>
            <a:r>
              <a:rPr lang="en-IN" dirty="0" err="1"/>
              <a:t>m,a</a:t>
            </a:r>
            <a:r>
              <a:rPr lang="en-IN" dirty="0"/>
              <a:t>)=2 | (</a:t>
            </a:r>
            <a:r>
              <a:rPr lang="en-IN" dirty="0" err="1"/>
              <a:t>w,i</a:t>
            </a:r>
            <a:r>
              <a:rPr lang="en-IN" dirty="0"/>
              <a:t>)=1 | (</a:t>
            </a:r>
            <a:r>
              <a:rPr lang="en-IN" dirty="0" err="1"/>
              <a:t>i,t</a:t>
            </a:r>
            <a:r>
              <a:rPr lang="en-IN" dirty="0"/>
              <a:t>)=1 | (</a:t>
            </a:r>
            <a:r>
              <a:rPr lang="en-IN" dirty="0" err="1"/>
              <a:t>t,h</a:t>
            </a:r>
            <a:r>
              <a:rPr lang="en-IN" dirty="0"/>
              <a:t>)=1 | (h,␣)=1</a:t>
            </a:r>
          </a:p>
        </p:txBody>
      </p:sp>
      <p:sp>
        <p:nvSpPr>
          <p:cNvPr id="7" name="TextBox 6">
            <a:extLst>
              <a:ext uri="{FF2B5EF4-FFF2-40B4-BE49-F238E27FC236}">
                <a16:creationId xmlns:a16="http://schemas.microsoft.com/office/drawing/2014/main" id="{A074D97F-F419-4EFE-8F65-FA24D365DDAF}"/>
              </a:ext>
            </a:extLst>
          </p:cNvPr>
          <p:cNvSpPr txBox="1"/>
          <p:nvPr/>
        </p:nvSpPr>
        <p:spPr>
          <a:xfrm>
            <a:off x="854766" y="1023902"/>
            <a:ext cx="2736647" cy="369332"/>
          </a:xfrm>
          <a:prstGeom prst="rect">
            <a:avLst/>
          </a:prstGeom>
          <a:noFill/>
        </p:spPr>
        <p:txBody>
          <a:bodyPr wrap="none" rtlCol="0">
            <a:spAutoFit/>
          </a:bodyPr>
          <a:lstStyle/>
          <a:p>
            <a:r>
              <a:rPr lang="en-IN" dirty="0"/>
              <a:t>Similar algorithm as BPE</a:t>
            </a:r>
          </a:p>
        </p:txBody>
      </p:sp>
      <p:sp>
        <p:nvSpPr>
          <p:cNvPr id="8" name="TextBox 7">
            <a:extLst>
              <a:ext uri="{FF2B5EF4-FFF2-40B4-BE49-F238E27FC236}">
                <a16:creationId xmlns:a16="http://schemas.microsoft.com/office/drawing/2014/main" id="{47EA0CC5-4502-4A2F-8B69-E208A6F1FF51}"/>
              </a:ext>
            </a:extLst>
          </p:cNvPr>
          <p:cNvSpPr txBox="1"/>
          <p:nvPr/>
        </p:nvSpPr>
        <p:spPr>
          <a:xfrm>
            <a:off x="854765" y="1393234"/>
            <a:ext cx="5825954" cy="369332"/>
          </a:xfrm>
          <a:prstGeom prst="rect">
            <a:avLst/>
          </a:prstGeom>
          <a:noFill/>
        </p:spPr>
        <p:txBody>
          <a:bodyPr wrap="none" rtlCol="0">
            <a:spAutoFit/>
          </a:bodyPr>
          <a:lstStyle/>
          <a:p>
            <a:r>
              <a:rPr lang="en-IN" dirty="0"/>
              <a:t>Scoring a pair during merge step is different than BPE</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AA0A935-3264-4DB3-A9A0-BE00AF5739E0}"/>
                  </a:ext>
                </a:extLst>
              </p:cNvPr>
              <p:cNvSpPr txBox="1"/>
              <p:nvPr/>
            </p:nvSpPr>
            <p:spPr>
              <a:xfrm>
                <a:off x="1700258" y="2038658"/>
                <a:ext cx="3291414" cy="576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𝑠𝑐𝑜𝑟𝑒</m:t>
                      </m:r>
                      <m:d>
                        <m:dPr>
                          <m:ctrlPr>
                            <a:rPr lang="en-IN" b="0" i="1" smtClean="0">
                              <a:latin typeface="Cambria Math" panose="02040503050406030204" pitchFamily="18" charset="0"/>
                            </a:rPr>
                          </m:ctrlPr>
                        </m:dPr>
                        <m:e>
                          <m:r>
                            <a:rPr lang="en-IN" b="0" i="1" smtClean="0">
                              <a:latin typeface="Cambria Math" panose="02040503050406030204" pitchFamily="18" charset="0"/>
                            </a:rPr>
                            <m:t>𝑎</m:t>
                          </m:r>
                          <m:r>
                            <a:rPr lang="en-IN" b="0" i="1" smtClean="0">
                              <a:latin typeface="Cambria Math" panose="02040503050406030204" pitchFamily="18" charset="0"/>
                            </a:rPr>
                            <m:t>,</m:t>
                          </m:r>
                          <m:r>
                            <a:rPr lang="en-IN" b="0" i="1" smtClean="0">
                              <a:latin typeface="Cambria Math" panose="02040503050406030204" pitchFamily="18" charset="0"/>
                            </a:rPr>
                            <m:t>𝑏</m:t>
                          </m:r>
                        </m:e>
                      </m:d>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𝑓𝑟𝑒𝑞</m:t>
                          </m:r>
                          <m:r>
                            <a:rPr lang="en-IN" b="0" i="1" smtClean="0">
                              <a:latin typeface="Cambria Math" panose="02040503050406030204" pitchFamily="18" charset="0"/>
                            </a:rPr>
                            <m:t>(</m:t>
                          </m:r>
                          <m:r>
                            <a:rPr lang="en-IN" b="0" i="1" smtClean="0">
                              <a:latin typeface="Cambria Math" panose="02040503050406030204" pitchFamily="18" charset="0"/>
                            </a:rPr>
                            <m:t>𝑎𝑏</m:t>
                          </m:r>
                          <m:r>
                            <a:rPr lang="en-IN" b="0" i="1" smtClean="0">
                              <a:latin typeface="Cambria Math" panose="02040503050406030204" pitchFamily="18" charset="0"/>
                            </a:rPr>
                            <m:t>)</m:t>
                          </m:r>
                        </m:num>
                        <m:den>
                          <m:r>
                            <a:rPr lang="en-IN" b="0" i="1" smtClean="0">
                              <a:latin typeface="Cambria Math" panose="02040503050406030204" pitchFamily="18" charset="0"/>
                            </a:rPr>
                            <m:t>𝑓𝑟𝑒𝑞</m:t>
                          </m:r>
                          <m:d>
                            <m:dPr>
                              <m:ctrlPr>
                                <a:rPr lang="en-IN" b="0" i="1" smtClean="0">
                                  <a:latin typeface="Cambria Math" panose="02040503050406030204" pitchFamily="18" charset="0"/>
                                </a:rPr>
                              </m:ctrlPr>
                            </m:dPr>
                            <m:e>
                              <m:r>
                                <a:rPr lang="en-IN" b="0" i="1" smtClean="0">
                                  <a:latin typeface="Cambria Math" panose="02040503050406030204" pitchFamily="18" charset="0"/>
                                </a:rPr>
                                <m:t>𝑎</m:t>
                              </m:r>
                            </m:e>
                          </m:d>
                          <m:r>
                            <a:rPr lang="en-IN" b="0" i="1" smtClean="0">
                              <a:latin typeface="Cambria Math" panose="02040503050406030204" pitchFamily="18" charset="0"/>
                            </a:rPr>
                            <m:t>∗</m:t>
                          </m:r>
                          <m:r>
                            <a:rPr lang="en-IN" b="0" i="1" smtClean="0">
                              <a:latin typeface="Cambria Math" panose="02040503050406030204" pitchFamily="18" charset="0"/>
                            </a:rPr>
                            <m:t>𝑓𝑟𝑒𝑞</m:t>
                          </m:r>
                          <m:r>
                            <a:rPr lang="en-IN" b="0" i="1" smtClean="0">
                              <a:latin typeface="Cambria Math" panose="02040503050406030204" pitchFamily="18" charset="0"/>
                            </a:rPr>
                            <m:t>(</m:t>
                          </m:r>
                          <m:r>
                            <a:rPr lang="en-IN" b="0" i="1" smtClean="0">
                              <a:latin typeface="Cambria Math" panose="02040503050406030204" pitchFamily="18" charset="0"/>
                            </a:rPr>
                            <m:t>𝑏</m:t>
                          </m:r>
                          <m:r>
                            <a:rPr lang="en-IN" b="0" i="1" smtClean="0">
                              <a:latin typeface="Cambria Math" panose="02040503050406030204" pitchFamily="18" charset="0"/>
                            </a:rPr>
                            <m:t>)</m:t>
                          </m:r>
                        </m:den>
                      </m:f>
                    </m:oMath>
                  </m:oMathPara>
                </a14:m>
                <a:endParaRPr lang="en-IN" dirty="0"/>
              </a:p>
            </p:txBody>
          </p:sp>
        </mc:Choice>
        <mc:Fallback xmlns="">
          <p:sp>
            <p:nvSpPr>
              <p:cNvPr id="9" name="TextBox 8">
                <a:extLst>
                  <a:ext uri="{FF2B5EF4-FFF2-40B4-BE49-F238E27FC236}">
                    <a16:creationId xmlns:a16="http://schemas.microsoft.com/office/drawing/2014/main" id="{9AA0A935-3264-4DB3-A9A0-BE00AF5739E0}"/>
                  </a:ext>
                </a:extLst>
              </p:cNvPr>
              <p:cNvSpPr txBox="1">
                <a:spLocks noRot="1" noChangeAspect="1" noMove="1" noResize="1" noEditPoints="1" noAdjustHandles="1" noChangeArrowheads="1" noChangeShapeType="1" noTextEdit="1"/>
              </p:cNvSpPr>
              <p:nvPr/>
            </p:nvSpPr>
            <p:spPr>
              <a:xfrm>
                <a:off x="1700258" y="2038658"/>
                <a:ext cx="3291414" cy="576761"/>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ABD52AA-97D7-4275-8338-35223B8E5163}"/>
                  </a:ext>
                </a:extLst>
              </p:cNvPr>
              <p:cNvSpPr txBox="1"/>
              <p:nvPr/>
            </p:nvSpPr>
            <p:spPr>
              <a:xfrm>
                <a:off x="915708" y="3548766"/>
                <a:ext cx="4578946" cy="5934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𝑠𝑐𝑜𝑟𝑒</m:t>
                      </m:r>
                      <m:d>
                        <m:dPr>
                          <m:ctrlPr>
                            <a:rPr lang="en-IN" b="0" i="1" smtClean="0">
                              <a:latin typeface="Cambria Math" panose="02040503050406030204" pitchFamily="18" charset="0"/>
                            </a:rPr>
                          </m:ctrlPr>
                        </m:dPr>
                        <m:e>
                          <m:r>
                            <a:rPr lang="en-IN" b="0" i="1" smtClean="0">
                              <a:latin typeface="Cambria Math" panose="02040503050406030204" pitchFamily="18" charset="0"/>
                            </a:rPr>
                            <m:t>𝑝</m:t>
                          </m:r>
                          <m:r>
                            <a:rPr lang="en-IN" b="0" i="1" smtClean="0">
                              <a:latin typeface="Cambria Math" panose="02040503050406030204" pitchFamily="18" charset="0"/>
                            </a:rPr>
                            <m:t>,</m:t>
                          </m:r>
                          <m:r>
                            <a:rPr lang="en-IN" b="0" i="1" smtClean="0">
                              <a:latin typeface="Cambria Math" panose="02040503050406030204" pitchFamily="18" charset="0"/>
                            </a:rPr>
                            <m:t>𝑎</m:t>
                          </m:r>
                        </m:e>
                      </m:d>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𝑓𝑟𝑒𝑞</m:t>
                          </m:r>
                          <m:r>
                            <a:rPr lang="en-IN" b="0" i="1" smtClean="0">
                              <a:latin typeface="Cambria Math" panose="02040503050406030204" pitchFamily="18" charset="0"/>
                            </a:rPr>
                            <m:t>(</m:t>
                          </m:r>
                          <m:r>
                            <a:rPr lang="en-IN" b="0" i="1" smtClean="0">
                              <a:latin typeface="Cambria Math" panose="02040503050406030204" pitchFamily="18" charset="0"/>
                            </a:rPr>
                            <m:t>𝑝𝑎</m:t>
                          </m:r>
                          <m:r>
                            <a:rPr lang="en-IN" b="0" i="1" smtClean="0">
                              <a:latin typeface="Cambria Math" panose="02040503050406030204" pitchFamily="18" charset="0"/>
                            </a:rPr>
                            <m:t>)</m:t>
                          </m:r>
                        </m:num>
                        <m:den>
                          <m:r>
                            <a:rPr lang="en-IN" b="0" i="1" smtClean="0">
                              <a:latin typeface="Cambria Math" panose="02040503050406030204" pitchFamily="18" charset="0"/>
                            </a:rPr>
                            <m:t>𝑓𝑟𝑒𝑞</m:t>
                          </m:r>
                          <m:d>
                            <m:dPr>
                              <m:ctrlPr>
                                <a:rPr lang="en-IN" b="0" i="1" smtClean="0">
                                  <a:latin typeface="Cambria Math" panose="02040503050406030204" pitchFamily="18" charset="0"/>
                                </a:rPr>
                              </m:ctrlPr>
                            </m:dPr>
                            <m:e>
                              <m:r>
                                <a:rPr lang="en-IN" b="0" i="1" smtClean="0">
                                  <a:latin typeface="Cambria Math" panose="02040503050406030204" pitchFamily="18" charset="0"/>
                                </a:rPr>
                                <m:t>𝑝</m:t>
                              </m:r>
                            </m:e>
                          </m:d>
                          <m:r>
                            <a:rPr lang="en-IN" b="0" i="1" smtClean="0">
                              <a:latin typeface="Cambria Math" panose="02040503050406030204" pitchFamily="18" charset="0"/>
                            </a:rPr>
                            <m:t>∗</m:t>
                          </m:r>
                          <m:r>
                            <a:rPr lang="en-IN" b="0" i="1" smtClean="0">
                              <a:latin typeface="Cambria Math" panose="02040503050406030204" pitchFamily="18" charset="0"/>
                            </a:rPr>
                            <m:t>𝑓𝑟𝑒𝑞</m:t>
                          </m:r>
                          <m:r>
                            <a:rPr lang="en-IN" b="0" i="1" smtClean="0">
                              <a:latin typeface="Cambria Math" panose="02040503050406030204" pitchFamily="18" charset="0"/>
                            </a:rPr>
                            <m:t>(</m:t>
                          </m:r>
                          <m:r>
                            <a:rPr lang="en-IN" b="0" i="1" smtClean="0">
                              <a:latin typeface="Cambria Math" panose="02040503050406030204" pitchFamily="18" charset="0"/>
                            </a:rPr>
                            <m:t>𝑎</m:t>
                          </m:r>
                          <m:r>
                            <a:rPr lang="en-IN" b="0" i="1" smtClean="0">
                              <a:latin typeface="Cambria Math" panose="02040503050406030204" pitchFamily="18" charset="0"/>
                            </a:rPr>
                            <m:t>)</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3</m:t>
                          </m:r>
                        </m:num>
                        <m:den>
                          <m:r>
                            <a:rPr lang="en-IN" b="0" i="1" smtClean="0">
                              <a:latin typeface="Cambria Math" panose="02040503050406030204" pitchFamily="18" charset="0"/>
                            </a:rPr>
                            <m:t>3∗9</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9</m:t>
                          </m:r>
                        </m:den>
                      </m:f>
                    </m:oMath>
                  </m:oMathPara>
                </a14:m>
                <a:endParaRPr lang="en-IN" dirty="0"/>
              </a:p>
            </p:txBody>
          </p:sp>
        </mc:Choice>
        <mc:Fallback xmlns="">
          <p:sp>
            <p:nvSpPr>
              <p:cNvPr id="10" name="TextBox 9">
                <a:extLst>
                  <a:ext uri="{FF2B5EF4-FFF2-40B4-BE49-F238E27FC236}">
                    <a16:creationId xmlns:a16="http://schemas.microsoft.com/office/drawing/2014/main" id="{9ABD52AA-97D7-4275-8338-35223B8E5163}"/>
                  </a:ext>
                </a:extLst>
              </p:cNvPr>
              <p:cNvSpPr txBox="1">
                <a:spLocks noRot="1" noChangeAspect="1" noMove="1" noResize="1" noEditPoints="1" noAdjustHandles="1" noChangeArrowheads="1" noChangeShapeType="1" noTextEdit="1"/>
              </p:cNvSpPr>
              <p:nvPr/>
            </p:nvSpPr>
            <p:spPr>
              <a:xfrm>
                <a:off x="915708" y="3548766"/>
                <a:ext cx="4578946" cy="593432"/>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BBB3805-4044-42EF-A880-19D83BDB6B03}"/>
                  </a:ext>
                </a:extLst>
              </p:cNvPr>
              <p:cNvSpPr txBox="1"/>
              <p:nvPr/>
            </p:nvSpPr>
            <p:spPr>
              <a:xfrm>
                <a:off x="854765" y="4358263"/>
                <a:ext cx="4639090" cy="576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𝑠𝑐𝑜𝑟𝑒</m:t>
                      </m:r>
                      <m:d>
                        <m:dPr>
                          <m:ctrlPr>
                            <a:rPr lang="en-IN" b="0" i="1" smtClean="0">
                              <a:latin typeface="Cambria Math" panose="02040503050406030204" pitchFamily="18" charset="0"/>
                            </a:rPr>
                          </m:ctrlPr>
                        </m:dPr>
                        <m:e>
                          <m:r>
                            <a:rPr lang="en-IN" b="0" i="1" smtClean="0">
                              <a:latin typeface="Cambria Math" panose="02040503050406030204" pitchFamily="18" charset="0"/>
                            </a:rPr>
                            <m:t>𝑎</m:t>
                          </m:r>
                          <m:r>
                            <a:rPr lang="en-IN" b="0" i="1" smtClean="0">
                              <a:latin typeface="Cambria Math" panose="02040503050406030204" pitchFamily="18" charset="0"/>
                            </a:rPr>
                            <m:t>,</m:t>
                          </m:r>
                          <m:r>
                            <a:rPr lang="en-IN" b="0" i="1" smtClean="0">
                              <a:latin typeface="Cambria Math" panose="02040503050406030204" pitchFamily="18" charset="0"/>
                            </a:rPr>
                            <m:t>𝑡</m:t>
                          </m:r>
                        </m:e>
                      </m:d>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𝑓𝑟𝑒𝑞</m:t>
                          </m:r>
                          <m:r>
                            <a:rPr lang="en-IN" b="0" i="1" smtClean="0">
                              <a:latin typeface="Cambria Math" panose="02040503050406030204" pitchFamily="18" charset="0"/>
                            </a:rPr>
                            <m:t>(</m:t>
                          </m:r>
                          <m:r>
                            <a:rPr lang="en-IN" b="0" i="1" smtClean="0">
                              <a:latin typeface="Cambria Math" panose="02040503050406030204" pitchFamily="18" charset="0"/>
                            </a:rPr>
                            <m:t>𝑎𝑡</m:t>
                          </m:r>
                          <m:r>
                            <a:rPr lang="en-IN" b="0" i="1" smtClean="0">
                              <a:latin typeface="Cambria Math" panose="02040503050406030204" pitchFamily="18" charset="0"/>
                            </a:rPr>
                            <m:t>)</m:t>
                          </m:r>
                        </m:num>
                        <m:den>
                          <m:r>
                            <a:rPr lang="en-IN" b="0" i="1" smtClean="0">
                              <a:latin typeface="Cambria Math" panose="02040503050406030204" pitchFamily="18" charset="0"/>
                            </a:rPr>
                            <m:t>𝑓𝑟𝑒𝑞</m:t>
                          </m:r>
                          <m:d>
                            <m:dPr>
                              <m:ctrlPr>
                                <a:rPr lang="en-IN" b="0" i="1" smtClean="0">
                                  <a:latin typeface="Cambria Math" panose="02040503050406030204" pitchFamily="18" charset="0"/>
                                </a:rPr>
                              </m:ctrlPr>
                            </m:dPr>
                            <m:e>
                              <m:r>
                                <a:rPr lang="en-IN" b="0" i="1" smtClean="0">
                                  <a:latin typeface="Cambria Math" panose="02040503050406030204" pitchFamily="18" charset="0"/>
                                </a:rPr>
                                <m:t>𝑎</m:t>
                              </m:r>
                            </m:e>
                          </m:d>
                          <m:r>
                            <a:rPr lang="en-IN" b="0" i="1" smtClean="0">
                              <a:latin typeface="Cambria Math" panose="02040503050406030204" pitchFamily="18" charset="0"/>
                            </a:rPr>
                            <m:t>∗</m:t>
                          </m:r>
                          <m:r>
                            <a:rPr lang="en-IN" b="0" i="1" smtClean="0">
                              <a:latin typeface="Cambria Math" panose="02040503050406030204" pitchFamily="18" charset="0"/>
                            </a:rPr>
                            <m:t>𝑓𝑟𝑒𝑞</m:t>
                          </m:r>
                          <m:r>
                            <a:rPr lang="en-IN" b="0" i="1" smtClean="0">
                              <a:latin typeface="Cambria Math" panose="02040503050406030204" pitchFamily="18" charset="0"/>
                            </a:rPr>
                            <m:t>(</m:t>
                          </m:r>
                          <m:r>
                            <a:rPr lang="en-IN" b="0" i="1" smtClean="0">
                              <a:latin typeface="Cambria Math" panose="02040503050406030204" pitchFamily="18" charset="0"/>
                            </a:rPr>
                            <m:t>𝑡</m:t>
                          </m:r>
                          <m:r>
                            <a:rPr lang="en-IN" b="0" i="1" smtClean="0">
                              <a:latin typeface="Cambria Math" panose="02040503050406030204" pitchFamily="18" charset="0"/>
                            </a:rPr>
                            <m:t>)</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9</m:t>
                          </m:r>
                        </m:num>
                        <m:den>
                          <m:r>
                            <a:rPr lang="en-IN" b="0" i="1" smtClean="0">
                              <a:latin typeface="Cambria Math" panose="02040503050406030204" pitchFamily="18" charset="0"/>
                            </a:rPr>
                            <m:t>9∗10</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10</m:t>
                          </m:r>
                        </m:den>
                      </m:f>
                    </m:oMath>
                  </m:oMathPara>
                </a14:m>
                <a:endParaRPr lang="en-IN" dirty="0"/>
              </a:p>
            </p:txBody>
          </p:sp>
        </mc:Choice>
        <mc:Fallback xmlns="">
          <p:sp>
            <p:nvSpPr>
              <p:cNvPr id="11" name="TextBox 10">
                <a:extLst>
                  <a:ext uri="{FF2B5EF4-FFF2-40B4-BE49-F238E27FC236}">
                    <a16:creationId xmlns:a16="http://schemas.microsoft.com/office/drawing/2014/main" id="{DBBB3805-4044-42EF-A880-19D83BDB6B03}"/>
                  </a:ext>
                </a:extLst>
              </p:cNvPr>
              <p:cNvSpPr txBox="1">
                <a:spLocks noRot="1" noChangeAspect="1" noMove="1" noResize="1" noEditPoints="1" noAdjustHandles="1" noChangeArrowheads="1" noChangeShapeType="1" noTextEdit="1"/>
              </p:cNvSpPr>
              <p:nvPr/>
            </p:nvSpPr>
            <p:spPr>
              <a:xfrm>
                <a:off x="854765" y="4358263"/>
                <a:ext cx="4639090" cy="576761"/>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A1FA66F-A79C-4AA1-AF17-B2E09919BDF4}"/>
                  </a:ext>
                </a:extLst>
              </p:cNvPr>
              <p:cNvSpPr txBox="1"/>
              <p:nvPr/>
            </p:nvSpPr>
            <p:spPr>
              <a:xfrm>
                <a:off x="765314" y="5151089"/>
                <a:ext cx="4777782" cy="576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𝑠𝑐𝑜𝑟𝑒</m:t>
                      </m:r>
                      <m:d>
                        <m:dPr>
                          <m:ctrlPr>
                            <a:rPr lang="en-IN" b="0" i="1" smtClean="0">
                              <a:latin typeface="Cambria Math" panose="02040503050406030204" pitchFamily="18" charset="0"/>
                            </a:rPr>
                          </m:ctrlPr>
                        </m:dPr>
                        <m:e>
                          <m:r>
                            <a:rPr lang="en-IN" b="0" i="1" smtClean="0">
                              <a:latin typeface="Cambria Math" panose="02040503050406030204" pitchFamily="18" charset="0"/>
                            </a:rPr>
                            <m:t>𝑐</m:t>
                          </m:r>
                          <m:r>
                            <a:rPr lang="en-IN" b="0" i="1" smtClean="0">
                              <a:latin typeface="Cambria Math" panose="02040503050406030204" pitchFamily="18" charset="0"/>
                            </a:rPr>
                            <m:t>,</m:t>
                          </m:r>
                          <m:r>
                            <a:rPr lang="en-IN" b="0" i="1" smtClean="0">
                              <a:latin typeface="Cambria Math" panose="02040503050406030204" pitchFamily="18" charset="0"/>
                            </a:rPr>
                            <m:t>𝑎</m:t>
                          </m:r>
                        </m:e>
                      </m:d>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𝑓𝑟𝑒𝑞</m:t>
                          </m:r>
                          <m:r>
                            <a:rPr lang="en-IN" b="0" i="1" smtClean="0">
                              <a:latin typeface="Cambria Math" panose="02040503050406030204" pitchFamily="18" charset="0"/>
                            </a:rPr>
                            <m:t>(2)</m:t>
                          </m:r>
                        </m:num>
                        <m:den>
                          <m:r>
                            <a:rPr lang="en-IN" b="0" i="1" smtClean="0">
                              <a:latin typeface="Cambria Math" panose="02040503050406030204" pitchFamily="18" charset="0"/>
                            </a:rPr>
                            <m:t>𝑓𝑟𝑒𝑞</m:t>
                          </m:r>
                          <m:d>
                            <m:dPr>
                              <m:ctrlPr>
                                <a:rPr lang="en-IN" b="0" i="1" smtClean="0">
                                  <a:latin typeface="Cambria Math" panose="02040503050406030204" pitchFamily="18" charset="0"/>
                                </a:rPr>
                              </m:ctrlPr>
                            </m:dPr>
                            <m:e>
                              <m:r>
                                <a:rPr lang="en-IN" b="0" i="1" smtClean="0">
                                  <a:latin typeface="Cambria Math" panose="02040503050406030204" pitchFamily="18" charset="0"/>
                                </a:rPr>
                                <m:t>2</m:t>
                              </m:r>
                            </m:e>
                          </m:d>
                          <m:r>
                            <a:rPr lang="en-IN" b="0" i="1" smtClean="0">
                              <a:latin typeface="Cambria Math" panose="02040503050406030204" pitchFamily="18" charset="0"/>
                            </a:rPr>
                            <m:t>∗</m:t>
                          </m:r>
                          <m:r>
                            <a:rPr lang="en-IN" b="0" i="1" smtClean="0">
                              <a:latin typeface="Cambria Math" panose="02040503050406030204" pitchFamily="18" charset="0"/>
                            </a:rPr>
                            <m:t>𝑓𝑟𝑒𝑞</m:t>
                          </m:r>
                          <m:r>
                            <a:rPr lang="en-IN" b="0" i="1" smtClean="0">
                              <a:latin typeface="Cambria Math" panose="02040503050406030204" pitchFamily="18" charset="0"/>
                            </a:rPr>
                            <m:t>(9)</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9</m:t>
                          </m:r>
                        </m:num>
                        <m:den>
                          <m:r>
                            <a:rPr lang="en-IN" b="0" i="1" smtClean="0">
                              <a:latin typeface="Cambria Math" panose="02040503050406030204" pitchFamily="18" charset="0"/>
                            </a:rPr>
                            <m:t>9∗10</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9</m:t>
                          </m:r>
                        </m:den>
                      </m:f>
                    </m:oMath>
                  </m:oMathPara>
                </a14:m>
                <a:endParaRPr lang="en-IN" dirty="0"/>
              </a:p>
            </p:txBody>
          </p:sp>
        </mc:Choice>
        <mc:Fallback xmlns="">
          <p:sp>
            <p:nvSpPr>
              <p:cNvPr id="12" name="TextBox 11">
                <a:extLst>
                  <a:ext uri="{FF2B5EF4-FFF2-40B4-BE49-F238E27FC236}">
                    <a16:creationId xmlns:a16="http://schemas.microsoft.com/office/drawing/2014/main" id="{3A1FA66F-A79C-4AA1-AF17-B2E09919BDF4}"/>
                  </a:ext>
                </a:extLst>
              </p:cNvPr>
              <p:cNvSpPr txBox="1">
                <a:spLocks noRot="1" noChangeAspect="1" noMove="1" noResize="1" noEditPoints="1" noAdjustHandles="1" noChangeArrowheads="1" noChangeShapeType="1" noTextEdit="1"/>
              </p:cNvSpPr>
              <p:nvPr/>
            </p:nvSpPr>
            <p:spPr>
              <a:xfrm>
                <a:off x="765314" y="5151089"/>
                <a:ext cx="4777782" cy="576761"/>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B89DE4E-74DF-4E70-AC37-BD9B57459BDB}"/>
                  </a:ext>
                </a:extLst>
              </p:cNvPr>
              <p:cNvSpPr txBox="1"/>
              <p:nvPr/>
            </p:nvSpPr>
            <p:spPr>
              <a:xfrm>
                <a:off x="785419" y="5875499"/>
                <a:ext cx="4609339" cy="576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b="0" i="1" smtClean="0">
                          <a:solidFill>
                            <a:srgbClr val="158D82"/>
                          </a:solidFill>
                          <a:latin typeface="Cambria Math" panose="02040503050406030204" pitchFamily="18" charset="0"/>
                        </a:rPr>
                        <m:t>𝑠𝑐𝑜𝑟𝑒</m:t>
                      </m:r>
                      <m:d>
                        <m:dPr>
                          <m:ctrlPr>
                            <a:rPr lang="en-IN" b="0" i="1" smtClean="0">
                              <a:solidFill>
                                <a:srgbClr val="158D82"/>
                              </a:solidFill>
                              <a:latin typeface="Cambria Math" panose="02040503050406030204" pitchFamily="18" charset="0"/>
                            </a:rPr>
                          </m:ctrlPr>
                        </m:dPr>
                        <m:e>
                          <m:r>
                            <a:rPr lang="en-IN" b="0" i="1" smtClean="0">
                              <a:solidFill>
                                <a:srgbClr val="158D82"/>
                              </a:solidFill>
                              <a:latin typeface="Cambria Math" panose="02040503050406030204" pitchFamily="18" charset="0"/>
                            </a:rPr>
                            <m:t>𝑤</m:t>
                          </m:r>
                          <m:r>
                            <a:rPr lang="en-IN" b="0" i="1" smtClean="0">
                              <a:solidFill>
                                <a:srgbClr val="158D82"/>
                              </a:solidFill>
                              <a:latin typeface="Cambria Math" panose="02040503050406030204" pitchFamily="18" charset="0"/>
                            </a:rPr>
                            <m:t>,</m:t>
                          </m:r>
                          <m:r>
                            <a:rPr lang="en-IN" b="0" i="1" smtClean="0">
                              <a:solidFill>
                                <a:srgbClr val="158D82"/>
                              </a:solidFill>
                              <a:latin typeface="Cambria Math" panose="02040503050406030204" pitchFamily="18" charset="0"/>
                            </a:rPr>
                            <m:t>𝑖</m:t>
                          </m:r>
                        </m:e>
                      </m:d>
                      <m:r>
                        <a:rPr lang="en-IN" b="0" i="1" smtClean="0">
                          <a:solidFill>
                            <a:srgbClr val="158D82"/>
                          </a:solidFill>
                          <a:latin typeface="Cambria Math" panose="02040503050406030204" pitchFamily="18" charset="0"/>
                        </a:rPr>
                        <m:t>=</m:t>
                      </m:r>
                      <m:f>
                        <m:fPr>
                          <m:ctrlPr>
                            <a:rPr lang="en-IN" b="0" i="1" smtClean="0">
                              <a:solidFill>
                                <a:srgbClr val="158D82"/>
                              </a:solidFill>
                              <a:latin typeface="Cambria Math" panose="02040503050406030204" pitchFamily="18" charset="0"/>
                            </a:rPr>
                          </m:ctrlPr>
                        </m:fPr>
                        <m:num>
                          <m:r>
                            <a:rPr lang="en-IN" b="0" i="1" smtClean="0">
                              <a:solidFill>
                                <a:srgbClr val="158D82"/>
                              </a:solidFill>
                              <a:latin typeface="Cambria Math" panose="02040503050406030204" pitchFamily="18" charset="0"/>
                            </a:rPr>
                            <m:t>𝑓𝑟𝑒𝑞</m:t>
                          </m:r>
                          <m:r>
                            <a:rPr lang="en-IN" b="0" i="1" smtClean="0">
                              <a:solidFill>
                                <a:srgbClr val="158D82"/>
                              </a:solidFill>
                              <a:latin typeface="Cambria Math" panose="02040503050406030204" pitchFamily="18" charset="0"/>
                            </a:rPr>
                            <m:t>(</m:t>
                          </m:r>
                          <m:r>
                            <a:rPr lang="en-IN" b="0" i="1" smtClean="0">
                              <a:solidFill>
                                <a:srgbClr val="158D82"/>
                              </a:solidFill>
                              <a:latin typeface="Cambria Math" panose="02040503050406030204" pitchFamily="18" charset="0"/>
                            </a:rPr>
                            <m:t>𝑤𝑖</m:t>
                          </m:r>
                          <m:r>
                            <a:rPr lang="en-IN" b="0" i="1" smtClean="0">
                              <a:solidFill>
                                <a:srgbClr val="158D82"/>
                              </a:solidFill>
                              <a:latin typeface="Cambria Math" panose="02040503050406030204" pitchFamily="18" charset="0"/>
                            </a:rPr>
                            <m:t>)</m:t>
                          </m:r>
                        </m:num>
                        <m:den>
                          <m:r>
                            <a:rPr lang="en-IN" b="0" i="1" smtClean="0">
                              <a:solidFill>
                                <a:srgbClr val="158D82"/>
                              </a:solidFill>
                              <a:latin typeface="Cambria Math" panose="02040503050406030204" pitchFamily="18" charset="0"/>
                            </a:rPr>
                            <m:t>𝑓𝑟𝑒𝑞</m:t>
                          </m:r>
                          <m:d>
                            <m:dPr>
                              <m:ctrlPr>
                                <a:rPr lang="en-IN" b="0" i="1" smtClean="0">
                                  <a:solidFill>
                                    <a:srgbClr val="158D82"/>
                                  </a:solidFill>
                                  <a:latin typeface="Cambria Math" panose="02040503050406030204" pitchFamily="18" charset="0"/>
                                </a:rPr>
                              </m:ctrlPr>
                            </m:dPr>
                            <m:e>
                              <m:r>
                                <a:rPr lang="en-IN" b="0" i="1" smtClean="0">
                                  <a:solidFill>
                                    <a:srgbClr val="158D82"/>
                                  </a:solidFill>
                                  <a:latin typeface="Cambria Math" panose="02040503050406030204" pitchFamily="18" charset="0"/>
                                </a:rPr>
                                <m:t>𝑤</m:t>
                              </m:r>
                            </m:e>
                          </m:d>
                          <m:r>
                            <a:rPr lang="en-IN" b="0" i="1" smtClean="0">
                              <a:solidFill>
                                <a:srgbClr val="158D82"/>
                              </a:solidFill>
                              <a:latin typeface="Cambria Math" panose="02040503050406030204" pitchFamily="18" charset="0"/>
                            </a:rPr>
                            <m:t>∗</m:t>
                          </m:r>
                          <m:r>
                            <a:rPr lang="en-IN" b="0" i="1" smtClean="0">
                              <a:solidFill>
                                <a:srgbClr val="158D82"/>
                              </a:solidFill>
                              <a:latin typeface="Cambria Math" panose="02040503050406030204" pitchFamily="18" charset="0"/>
                            </a:rPr>
                            <m:t>𝑓𝑟𝑒𝑞</m:t>
                          </m:r>
                          <m:r>
                            <a:rPr lang="en-IN" b="0" i="1" smtClean="0">
                              <a:solidFill>
                                <a:srgbClr val="158D82"/>
                              </a:solidFill>
                              <a:latin typeface="Cambria Math" panose="02040503050406030204" pitchFamily="18" charset="0"/>
                            </a:rPr>
                            <m:t>(</m:t>
                          </m:r>
                          <m:r>
                            <a:rPr lang="en-IN" b="0" i="1" smtClean="0">
                              <a:solidFill>
                                <a:srgbClr val="158D82"/>
                              </a:solidFill>
                              <a:latin typeface="Cambria Math" panose="02040503050406030204" pitchFamily="18" charset="0"/>
                            </a:rPr>
                            <m:t>𝑖</m:t>
                          </m:r>
                          <m:r>
                            <a:rPr lang="en-IN" b="0" i="1" smtClean="0">
                              <a:solidFill>
                                <a:srgbClr val="158D82"/>
                              </a:solidFill>
                              <a:latin typeface="Cambria Math" panose="02040503050406030204" pitchFamily="18" charset="0"/>
                            </a:rPr>
                            <m:t>)</m:t>
                          </m:r>
                        </m:den>
                      </m:f>
                      <m:r>
                        <a:rPr lang="en-IN" b="0" i="1" smtClean="0">
                          <a:solidFill>
                            <a:srgbClr val="158D82"/>
                          </a:solidFill>
                          <a:latin typeface="Cambria Math" panose="02040503050406030204" pitchFamily="18" charset="0"/>
                        </a:rPr>
                        <m:t>=</m:t>
                      </m:r>
                      <m:f>
                        <m:fPr>
                          <m:ctrlPr>
                            <a:rPr lang="en-IN" b="0" i="1" smtClean="0">
                              <a:solidFill>
                                <a:srgbClr val="158D82"/>
                              </a:solidFill>
                              <a:latin typeface="Cambria Math" panose="02040503050406030204" pitchFamily="18" charset="0"/>
                            </a:rPr>
                          </m:ctrlPr>
                        </m:fPr>
                        <m:num>
                          <m:r>
                            <a:rPr lang="en-IN" b="0" i="1" smtClean="0">
                              <a:solidFill>
                                <a:srgbClr val="158D82"/>
                              </a:solidFill>
                              <a:latin typeface="Cambria Math" panose="02040503050406030204" pitchFamily="18" charset="0"/>
                            </a:rPr>
                            <m:t>1</m:t>
                          </m:r>
                        </m:num>
                        <m:den>
                          <m:r>
                            <a:rPr lang="en-IN" b="0" i="1" smtClean="0">
                              <a:solidFill>
                                <a:srgbClr val="158D82"/>
                              </a:solidFill>
                              <a:latin typeface="Cambria Math" panose="02040503050406030204" pitchFamily="18" charset="0"/>
                            </a:rPr>
                            <m:t>1∗1</m:t>
                          </m:r>
                        </m:den>
                      </m:f>
                      <m:r>
                        <a:rPr lang="en-IN" b="0" i="1" smtClean="0">
                          <a:solidFill>
                            <a:srgbClr val="158D82"/>
                          </a:solidFill>
                          <a:latin typeface="Cambria Math" panose="02040503050406030204" pitchFamily="18" charset="0"/>
                        </a:rPr>
                        <m:t>=1</m:t>
                      </m:r>
                    </m:oMath>
                  </m:oMathPara>
                </a14:m>
                <a:endParaRPr lang="en-IN" dirty="0">
                  <a:solidFill>
                    <a:srgbClr val="158D82"/>
                  </a:solidFill>
                </a:endParaRPr>
              </a:p>
            </p:txBody>
          </p:sp>
        </mc:Choice>
        <mc:Fallback xmlns="">
          <p:sp>
            <p:nvSpPr>
              <p:cNvPr id="13" name="TextBox 12">
                <a:extLst>
                  <a:ext uri="{FF2B5EF4-FFF2-40B4-BE49-F238E27FC236}">
                    <a16:creationId xmlns:a16="http://schemas.microsoft.com/office/drawing/2014/main" id="{DB89DE4E-74DF-4E70-AC37-BD9B57459BDB}"/>
                  </a:ext>
                </a:extLst>
              </p:cNvPr>
              <p:cNvSpPr txBox="1">
                <a:spLocks noRot="1" noChangeAspect="1" noMove="1" noResize="1" noEditPoints="1" noAdjustHandles="1" noChangeArrowheads="1" noChangeShapeType="1" noTextEdit="1"/>
              </p:cNvSpPr>
              <p:nvPr/>
            </p:nvSpPr>
            <p:spPr>
              <a:xfrm>
                <a:off x="785419" y="5875499"/>
                <a:ext cx="4609339" cy="576761"/>
              </a:xfrm>
              <a:prstGeom prst="rect">
                <a:avLst/>
              </a:prstGeom>
              <a:blipFill>
                <a:blip r:embed="rId6"/>
                <a:stretch>
                  <a:fillRect/>
                </a:stretch>
              </a:blipFill>
            </p:spPr>
            <p:txBody>
              <a:bodyPr/>
              <a:lstStyle/>
              <a:p>
                <a:r>
                  <a:rPr lang="en-IN">
                    <a:noFill/>
                  </a:rPr>
                  <a:t> </a:t>
                </a:r>
              </a:p>
            </p:txBody>
          </p:sp>
        </mc:Fallback>
      </mc:AlternateContent>
      <p:sp>
        <p:nvSpPr>
          <p:cNvPr id="16" name="TextBox 15">
            <a:extLst>
              <a:ext uri="{FF2B5EF4-FFF2-40B4-BE49-F238E27FC236}">
                <a16:creationId xmlns:a16="http://schemas.microsoft.com/office/drawing/2014/main" id="{66B3B539-9B65-4567-91A8-5DE1AE5C9EB4}"/>
              </a:ext>
            </a:extLst>
          </p:cNvPr>
          <p:cNvSpPr txBox="1"/>
          <p:nvPr/>
        </p:nvSpPr>
        <p:spPr>
          <a:xfrm>
            <a:off x="6127475" y="5690833"/>
            <a:ext cx="6206986" cy="369332"/>
          </a:xfrm>
          <a:prstGeom prst="rect">
            <a:avLst/>
          </a:prstGeom>
          <a:noFill/>
        </p:spPr>
        <p:txBody>
          <a:bodyPr wrap="square">
            <a:spAutoFit/>
          </a:bodyPr>
          <a:lstStyle/>
          <a:p>
            <a:r>
              <a:rPr lang="en-IN" dirty="0"/>
              <a:t>Hugging </a:t>
            </a:r>
            <a:r>
              <a:rPr lang="en-IN" dirty="0">
                <a:sym typeface="Wingdings" panose="05000000000000000000" pitchFamily="2" charset="2"/>
              </a:rPr>
              <a:t> ['</a:t>
            </a:r>
            <a:r>
              <a:rPr lang="en-IN" dirty="0" err="1">
                <a:sym typeface="Wingdings" panose="05000000000000000000" pitchFamily="2" charset="2"/>
              </a:rPr>
              <a:t>Hugg</a:t>
            </a:r>
            <a:r>
              <a:rPr lang="en-IN" dirty="0">
                <a:sym typeface="Wingdings" panose="05000000000000000000" pitchFamily="2" charset="2"/>
              </a:rPr>
              <a:t>', '##</a:t>
            </a:r>
            <a:r>
              <a:rPr lang="en-IN" dirty="0" err="1">
                <a:sym typeface="Wingdings" panose="05000000000000000000" pitchFamily="2" charset="2"/>
              </a:rPr>
              <a:t>i</a:t>
            </a:r>
            <a:r>
              <a:rPr lang="en-IN" dirty="0">
                <a:sym typeface="Wingdings" panose="05000000000000000000" pitchFamily="2" charset="2"/>
              </a:rPr>
              <a:t>', '##n', '##g']</a:t>
            </a:r>
            <a:endParaRPr lang="en-IN" dirty="0"/>
          </a:p>
        </p:txBody>
      </p:sp>
      <p:sp>
        <p:nvSpPr>
          <p:cNvPr id="19" name="TextBox 18">
            <a:extLst>
              <a:ext uri="{FF2B5EF4-FFF2-40B4-BE49-F238E27FC236}">
                <a16:creationId xmlns:a16="http://schemas.microsoft.com/office/drawing/2014/main" id="{89667F3B-9E44-410E-BF0A-9FF1706ED7FD}"/>
              </a:ext>
            </a:extLst>
          </p:cNvPr>
          <p:cNvSpPr txBox="1"/>
          <p:nvPr/>
        </p:nvSpPr>
        <p:spPr>
          <a:xfrm>
            <a:off x="3345966" y="6450509"/>
            <a:ext cx="6811826" cy="369332"/>
          </a:xfrm>
          <a:prstGeom prst="rect">
            <a:avLst/>
          </a:prstGeom>
          <a:noFill/>
        </p:spPr>
        <p:txBody>
          <a:bodyPr wrap="square">
            <a:spAutoFit/>
          </a:bodyPr>
          <a:lstStyle/>
          <a:p>
            <a:r>
              <a:rPr lang="en-IN" dirty="0"/>
              <a:t>https://huggingface.co/learn/llm-course/en/chapter6/6?fw=pt</a:t>
            </a:r>
          </a:p>
        </p:txBody>
      </p:sp>
      <p:sp>
        <p:nvSpPr>
          <p:cNvPr id="3" name="TextBox 2">
            <a:extLst>
              <a:ext uri="{FF2B5EF4-FFF2-40B4-BE49-F238E27FC236}">
                <a16:creationId xmlns:a16="http://schemas.microsoft.com/office/drawing/2014/main" id="{710B99F1-2B7C-61DE-97A5-9842C66AB85D}"/>
              </a:ext>
            </a:extLst>
          </p:cNvPr>
          <p:cNvSpPr txBox="1"/>
          <p:nvPr/>
        </p:nvSpPr>
        <p:spPr>
          <a:xfrm>
            <a:off x="5493854" y="6060165"/>
            <a:ext cx="6698145" cy="276999"/>
          </a:xfrm>
          <a:prstGeom prst="rect">
            <a:avLst/>
          </a:prstGeom>
          <a:noFill/>
        </p:spPr>
        <p:txBody>
          <a:bodyPr wrap="square" rtlCol="0">
            <a:spAutoFit/>
          </a:bodyPr>
          <a:lstStyle/>
          <a:p>
            <a:r>
              <a:rPr lang="en-US" sz="1200" dirty="0">
                <a:highlight>
                  <a:srgbClr val="FFFF00"/>
                </a:highlight>
              </a:rPr>
              <a:t>They use ‘#’, to designate that,  ‘##</a:t>
            </a:r>
            <a:r>
              <a:rPr lang="en-US" sz="1200" dirty="0" err="1">
                <a:highlight>
                  <a:srgbClr val="FFFF00"/>
                </a:highlight>
              </a:rPr>
              <a:t>i</a:t>
            </a:r>
            <a:r>
              <a:rPr lang="en-US" sz="1200" dirty="0">
                <a:highlight>
                  <a:srgbClr val="FFFF00"/>
                </a:highlight>
              </a:rPr>
              <a:t>’ is the token that is inside the main word. </a:t>
            </a:r>
          </a:p>
        </p:txBody>
      </p:sp>
      <p:sp>
        <p:nvSpPr>
          <p:cNvPr id="14" name="TextBox 13">
            <a:extLst>
              <a:ext uri="{FF2B5EF4-FFF2-40B4-BE49-F238E27FC236}">
                <a16:creationId xmlns:a16="http://schemas.microsoft.com/office/drawing/2014/main" id="{FA0FA87E-366E-B12B-2497-F4498132DDC3}"/>
              </a:ext>
            </a:extLst>
          </p:cNvPr>
          <p:cNvSpPr txBox="1"/>
          <p:nvPr/>
        </p:nvSpPr>
        <p:spPr>
          <a:xfrm>
            <a:off x="5070066" y="1849160"/>
            <a:ext cx="2989584" cy="830997"/>
          </a:xfrm>
          <a:prstGeom prst="rect">
            <a:avLst/>
          </a:prstGeom>
          <a:noFill/>
        </p:spPr>
        <p:txBody>
          <a:bodyPr wrap="square" rtlCol="0">
            <a:spAutoFit/>
          </a:bodyPr>
          <a:lstStyle/>
          <a:p>
            <a:r>
              <a:rPr lang="en-US" sz="1200" dirty="0">
                <a:highlight>
                  <a:srgbClr val="FFFF00"/>
                </a:highlight>
              </a:rPr>
              <a:t>This is some kind of normalization of frequency value. This is what we call as Mutual Information, how mutually ‘a’ and ‘b’ are dependent on each other.</a:t>
            </a:r>
          </a:p>
        </p:txBody>
      </p:sp>
      <p:sp>
        <p:nvSpPr>
          <p:cNvPr id="15" name="TextBox 14">
            <a:extLst>
              <a:ext uri="{FF2B5EF4-FFF2-40B4-BE49-F238E27FC236}">
                <a16:creationId xmlns:a16="http://schemas.microsoft.com/office/drawing/2014/main" id="{3C559DE5-B58E-6014-BA15-6B8752AB1966}"/>
              </a:ext>
            </a:extLst>
          </p:cNvPr>
          <p:cNvSpPr txBox="1"/>
          <p:nvPr/>
        </p:nvSpPr>
        <p:spPr>
          <a:xfrm>
            <a:off x="5513797" y="3548766"/>
            <a:ext cx="4360598" cy="830997"/>
          </a:xfrm>
          <a:prstGeom prst="rect">
            <a:avLst/>
          </a:prstGeom>
          <a:noFill/>
        </p:spPr>
        <p:txBody>
          <a:bodyPr wrap="square" rtlCol="0">
            <a:spAutoFit/>
          </a:bodyPr>
          <a:lstStyle/>
          <a:p>
            <a:r>
              <a:rPr lang="en-US" sz="1200" dirty="0">
                <a:highlight>
                  <a:srgbClr val="FFFF00"/>
                </a:highlight>
              </a:rPr>
              <a:t>Earlier, we were using un-normalized frequency, but now we are using a normalized frequency, and there is a chance that we may get different kind of segmentation rules than what we derived in BPE.   </a:t>
            </a:r>
          </a:p>
        </p:txBody>
      </p:sp>
    </p:spTree>
    <p:extLst>
      <p:ext uri="{BB962C8B-B14F-4D97-AF65-F5344CB8AC3E}">
        <p14:creationId xmlns:p14="http://schemas.microsoft.com/office/powerpoint/2010/main" val="471605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CB5698-57DE-67E6-E284-BEF718D8BDF1}"/>
              </a:ext>
            </a:extLst>
          </p:cNvPr>
          <p:cNvSpPr>
            <a:spLocks noGrp="1"/>
          </p:cNvSpPr>
          <p:nvPr>
            <p:ph type="sldNum" sz="quarter" idx="12"/>
          </p:nvPr>
        </p:nvSpPr>
        <p:spPr/>
        <p:txBody>
          <a:bodyPr/>
          <a:lstStyle/>
          <a:p>
            <a:fld id="{FF2BD96E-3838-45D2-9031-D3AF67C920A5}" type="slidenum">
              <a:rPr lang="en-US" smtClean="0"/>
              <a:t>16</a:t>
            </a:fld>
            <a:endParaRPr lang="en-US"/>
          </a:p>
        </p:txBody>
      </p:sp>
      <p:pic>
        <p:nvPicPr>
          <p:cNvPr id="4" name="Picture 3">
            <a:extLst>
              <a:ext uri="{FF2B5EF4-FFF2-40B4-BE49-F238E27FC236}">
                <a16:creationId xmlns:a16="http://schemas.microsoft.com/office/drawing/2014/main" id="{5DAEF94B-AFFE-B539-BFC7-3E324CD7A924}"/>
              </a:ext>
            </a:extLst>
          </p:cNvPr>
          <p:cNvPicPr>
            <a:picLocks noChangeAspect="1"/>
          </p:cNvPicPr>
          <p:nvPr/>
        </p:nvPicPr>
        <p:blipFill>
          <a:blip r:embed="rId2"/>
          <a:stretch>
            <a:fillRect/>
          </a:stretch>
        </p:blipFill>
        <p:spPr>
          <a:xfrm>
            <a:off x="894624" y="928338"/>
            <a:ext cx="10402752" cy="5001323"/>
          </a:xfrm>
          <a:prstGeom prst="rect">
            <a:avLst/>
          </a:prstGeom>
        </p:spPr>
      </p:pic>
    </p:spTree>
    <p:extLst>
      <p:ext uri="{BB962C8B-B14F-4D97-AF65-F5344CB8AC3E}">
        <p14:creationId xmlns:p14="http://schemas.microsoft.com/office/powerpoint/2010/main" val="20950492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3C6BA-50AB-468A-8CBC-5813CB92654C}"/>
              </a:ext>
            </a:extLst>
          </p:cNvPr>
          <p:cNvSpPr>
            <a:spLocks noGrp="1"/>
          </p:cNvSpPr>
          <p:nvPr>
            <p:ph type="title"/>
          </p:nvPr>
        </p:nvSpPr>
        <p:spPr>
          <a:xfrm>
            <a:off x="627529" y="-204151"/>
            <a:ext cx="10772655" cy="1082692"/>
          </a:xfrm>
        </p:spPr>
        <p:txBody>
          <a:bodyPr/>
          <a:lstStyle/>
          <a:p>
            <a:r>
              <a:rPr lang="en-IN" dirty="0" err="1"/>
              <a:t>Sentence_Piece</a:t>
            </a:r>
            <a:r>
              <a:rPr lang="en-IN" dirty="0"/>
              <a:t> Tokenizer</a:t>
            </a:r>
          </a:p>
        </p:txBody>
      </p:sp>
      <p:sp>
        <p:nvSpPr>
          <p:cNvPr id="4" name="Slide Number Placeholder 3">
            <a:extLst>
              <a:ext uri="{FF2B5EF4-FFF2-40B4-BE49-F238E27FC236}">
                <a16:creationId xmlns:a16="http://schemas.microsoft.com/office/drawing/2014/main" id="{B774D937-4D13-4D34-91B9-25967BB787A2}"/>
              </a:ext>
            </a:extLst>
          </p:cNvPr>
          <p:cNvSpPr>
            <a:spLocks noGrp="1"/>
          </p:cNvSpPr>
          <p:nvPr>
            <p:ph type="sldNum" sz="quarter" idx="12"/>
          </p:nvPr>
        </p:nvSpPr>
        <p:spPr/>
        <p:txBody>
          <a:bodyPr/>
          <a:lstStyle/>
          <a:p>
            <a:fld id="{FF2BD96E-3838-45D2-9031-D3AF67C920A5}" type="slidenum">
              <a:rPr lang="en-US" smtClean="0"/>
              <a:t>17</a:t>
            </a:fld>
            <a:endParaRPr lang="en-US"/>
          </a:p>
        </p:txBody>
      </p:sp>
      <p:sp>
        <p:nvSpPr>
          <p:cNvPr id="8" name="TextBox 7">
            <a:extLst>
              <a:ext uri="{FF2B5EF4-FFF2-40B4-BE49-F238E27FC236}">
                <a16:creationId xmlns:a16="http://schemas.microsoft.com/office/drawing/2014/main" id="{CA1A9C67-AEE7-4BD3-B9EC-60A7CCA510DA}"/>
              </a:ext>
            </a:extLst>
          </p:cNvPr>
          <p:cNvSpPr txBox="1"/>
          <p:nvPr/>
        </p:nvSpPr>
        <p:spPr>
          <a:xfrm>
            <a:off x="2591627" y="6357600"/>
            <a:ext cx="7635737" cy="276999"/>
          </a:xfrm>
          <a:prstGeom prst="rect">
            <a:avLst/>
          </a:prstGeom>
          <a:noFill/>
        </p:spPr>
        <p:txBody>
          <a:bodyPr wrap="square">
            <a:spAutoFit/>
          </a:bodyPr>
          <a:lstStyle/>
          <a:p>
            <a:r>
              <a:rPr lang="en-IN" sz="1200" dirty="0"/>
              <a:t>Bostrom and Durrett, </a:t>
            </a:r>
            <a:r>
              <a:rPr lang="en-US" sz="1200" dirty="0">
                <a:hlinkClick r:id="rId2"/>
              </a:rPr>
              <a:t>Byte Pair Encoding is Suboptimal for Language Model Pretraining</a:t>
            </a:r>
            <a:endParaRPr lang="en-IN" sz="1200" dirty="0"/>
          </a:p>
        </p:txBody>
      </p:sp>
      <p:pic>
        <p:nvPicPr>
          <p:cNvPr id="10" name="Picture 9">
            <a:extLst>
              <a:ext uri="{FF2B5EF4-FFF2-40B4-BE49-F238E27FC236}">
                <a16:creationId xmlns:a16="http://schemas.microsoft.com/office/drawing/2014/main" id="{A904DF83-1695-41F8-9ED9-981F831EEE37}"/>
              </a:ext>
            </a:extLst>
          </p:cNvPr>
          <p:cNvPicPr>
            <a:picLocks noChangeAspect="1"/>
          </p:cNvPicPr>
          <p:nvPr/>
        </p:nvPicPr>
        <p:blipFill>
          <a:blip r:embed="rId3"/>
          <a:stretch>
            <a:fillRect/>
          </a:stretch>
        </p:blipFill>
        <p:spPr>
          <a:xfrm>
            <a:off x="854766" y="1422668"/>
            <a:ext cx="3913227" cy="3765558"/>
          </a:xfrm>
          <a:prstGeom prst="rect">
            <a:avLst/>
          </a:prstGeom>
        </p:spPr>
      </p:pic>
      <p:sp>
        <p:nvSpPr>
          <p:cNvPr id="11" name="TextBox 10">
            <a:extLst>
              <a:ext uri="{FF2B5EF4-FFF2-40B4-BE49-F238E27FC236}">
                <a16:creationId xmlns:a16="http://schemas.microsoft.com/office/drawing/2014/main" id="{F17B28DF-45A2-428A-8CC1-A97BB0902CBF}"/>
              </a:ext>
            </a:extLst>
          </p:cNvPr>
          <p:cNvSpPr txBox="1"/>
          <p:nvPr/>
        </p:nvSpPr>
        <p:spPr>
          <a:xfrm>
            <a:off x="5367130" y="1530626"/>
            <a:ext cx="6492803" cy="923330"/>
          </a:xfrm>
          <a:prstGeom prst="rect">
            <a:avLst/>
          </a:prstGeom>
          <a:noFill/>
        </p:spPr>
        <p:txBody>
          <a:bodyPr wrap="none" rtlCol="0">
            <a:spAutoFit/>
          </a:bodyPr>
          <a:lstStyle/>
          <a:p>
            <a:pPr marL="285750" indent="-285750">
              <a:buFont typeface="Arial" panose="020B0604020202020204" pitchFamily="34" charset="0"/>
              <a:buChar char="•"/>
            </a:pPr>
            <a:r>
              <a:rPr lang="en-IN" dirty="0"/>
              <a:t>BPE and </a:t>
            </a:r>
            <a:r>
              <a:rPr lang="en-IN" dirty="0" err="1"/>
              <a:t>Word_Piece</a:t>
            </a:r>
            <a:r>
              <a:rPr lang="en-IN" dirty="0"/>
              <a:t> tokenizers follow a greedy approach</a:t>
            </a:r>
          </a:p>
          <a:p>
            <a:pPr marL="742950" lvl="1" indent="-285750">
              <a:buFont typeface="Arial" panose="020B0604020202020204" pitchFamily="34" charset="0"/>
              <a:buChar char="•"/>
            </a:pPr>
            <a:r>
              <a:rPr lang="en-IN" dirty="0">
                <a:solidFill>
                  <a:srgbClr val="FF0000"/>
                </a:solidFill>
              </a:rPr>
              <a:t>Suboptimal</a:t>
            </a:r>
            <a:r>
              <a:rPr lang="en-IN" dirty="0"/>
              <a:t> tokenization</a:t>
            </a:r>
          </a:p>
          <a:p>
            <a:pPr marL="742950" lvl="1" indent="-285750">
              <a:buFont typeface="Arial" panose="020B0604020202020204" pitchFamily="34" charset="0"/>
              <a:buChar char="•"/>
            </a:pPr>
            <a:r>
              <a:rPr lang="en-IN" dirty="0"/>
              <a:t>Quite often </a:t>
            </a:r>
            <a:r>
              <a:rPr lang="en-IN" dirty="0">
                <a:solidFill>
                  <a:srgbClr val="FF0000"/>
                </a:solidFill>
              </a:rPr>
              <a:t>meaningless</a:t>
            </a:r>
          </a:p>
        </p:txBody>
      </p:sp>
      <p:pic>
        <p:nvPicPr>
          <p:cNvPr id="13" name="Picture 12">
            <a:extLst>
              <a:ext uri="{FF2B5EF4-FFF2-40B4-BE49-F238E27FC236}">
                <a16:creationId xmlns:a16="http://schemas.microsoft.com/office/drawing/2014/main" id="{E4A60FB6-DA84-435A-949A-56564A24B517}"/>
              </a:ext>
            </a:extLst>
          </p:cNvPr>
          <p:cNvPicPr>
            <a:picLocks noChangeAspect="1"/>
          </p:cNvPicPr>
          <p:nvPr/>
        </p:nvPicPr>
        <p:blipFill>
          <a:blip r:embed="rId4"/>
          <a:stretch>
            <a:fillRect/>
          </a:stretch>
        </p:blipFill>
        <p:spPr>
          <a:xfrm>
            <a:off x="5657798" y="2512958"/>
            <a:ext cx="2591025" cy="823031"/>
          </a:xfrm>
          <a:prstGeom prst="rect">
            <a:avLst/>
          </a:prstGeom>
        </p:spPr>
      </p:pic>
      <p:pic>
        <p:nvPicPr>
          <p:cNvPr id="15" name="Picture 14">
            <a:extLst>
              <a:ext uri="{FF2B5EF4-FFF2-40B4-BE49-F238E27FC236}">
                <a16:creationId xmlns:a16="http://schemas.microsoft.com/office/drawing/2014/main" id="{62CC9A23-D438-4AFA-81B5-84E85E5F49B8}"/>
              </a:ext>
            </a:extLst>
          </p:cNvPr>
          <p:cNvPicPr>
            <a:picLocks noChangeAspect="1"/>
          </p:cNvPicPr>
          <p:nvPr/>
        </p:nvPicPr>
        <p:blipFill>
          <a:blip r:embed="rId5"/>
          <a:stretch>
            <a:fillRect/>
          </a:stretch>
        </p:blipFill>
        <p:spPr>
          <a:xfrm>
            <a:off x="8692865" y="2604406"/>
            <a:ext cx="2644369" cy="731583"/>
          </a:xfrm>
          <a:prstGeom prst="rect">
            <a:avLst/>
          </a:prstGeom>
        </p:spPr>
      </p:pic>
      <p:pic>
        <p:nvPicPr>
          <p:cNvPr id="17" name="Picture 16">
            <a:extLst>
              <a:ext uri="{FF2B5EF4-FFF2-40B4-BE49-F238E27FC236}">
                <a16:creationId xmlns:a16="http://schemas.microsoft.com/office/drawing/2014/main" id="{2BFA7FAF-13CB-490C-AA3A-4A65C54DF730}"/>
              </a:ext>
            </a:extLst>
          </p:cNvPr>
          <p:cNvPicPr>
            <a:picLocks noChangeAspect="1"/>
          </p:cNvPicPr>
          <p:nvPr/>
        </p:nvPicPr>
        <p:blipFill>
          <a:blip r:embed="rId6"/>
          <a:stretch>
            <a:fillRect/>
          </a:stretch>
        </p:blipFill>
        <p:spPr>
          <a:xfrm>
            <a:off x="6978216" y="3560024"/>
            <a:ext cx="3429297" cy="807790"/>
          </a:xfrm>
          <a:prstGeom prst="rect">
            <a:avLst/>
          </a:prstGeom>
        </p:spPr>
      </p:pic>
      <p:pic>
        <p:nvPicPr>
          <p:cNvPr id="19" name="Picture 18">
            <a:extLst>
              <a:ext uri="{FF2B5EF4-FFF2-40B4-BE49-F238E27FC236}">
                <a16:creationId xmlns:a16="http://schemas.microsoft.com/office/drawing/2014/main" id="{2F3D868D-18E3-491F-858A-28078213AAC6}"/>
              </a:ext>
            </a:extLst>
          </p:cNvPr>
          <p:cNvPicPr>
            <a:picLocks noChangeAspect="1"/>
          </p:cNvPicPr>
          <p:nvPr/>
        </p:nvPicPr>
        <p:blipFill>
          <a:blip r:embed="rId7"/>
          <a:stretch>
            <a:fillRect/>
          </a:stretch>
        </p:blipFill>
        <p:spPr>
          <a:xfrm>
            <a:off x="6902370" y="4566004"/>
            <a:ext cx="2872989" cy="647756"/>
          </a:xfrm>
          <a:prstGeom prst="rect">
            <a:avLst/>
          </a:prstGeom>
        </p:spPr>
      </p:pic>
      <p:sp>
        <p:nvSpPr>
          <p:cNvPr id="20" name="TextBox 19">
            <a:extLst>
              <a:ext uri="{FF2B5EF4-FFF2-40B4-BE49-F238E27FC236}">
                <a16:creationId xmlns:a16="http://schemas.microsoft.com/office/drawing/2014/main" id="{AAA2BB81-CFB5-405C-B9DF-E50C881EE815}"/>
              </a:ext>
            </a:extLst>
          </p:cNvPr>
          <p:cNvSpPr txBox="1"/>
          <p:nvPr/>
        </p:nvSpPr>
        <p:spPr>
          <a:xfrm>
            <a:off x="5657798" y="5434270"/>
            <a:ext cx="6677725" cy="923330"/>
          </a:xfrm>
          <a:prstGeom prst="rect">
            <a:avLst/>
          </a:prstGeom>
          <a:noFill/>
        </p:spPr>
        <p:txBody>
          <a:bodyPr wrap="none" rtlCol="0">
            <a:spAutoFit/>
          </a:bodyPr>
          <a:lstStyle/>
          <a:p>
            <a:r>
              <a:rPr lang="en-IN" dirty="0">
                <a:solidFill>
                  <a:srgbClr val="FF0000"/>
                </a:solidFill>
              </a:rPr>
              <a:t>The problem: BPE or Word-Piece do not judge to what extent </a:t>
            </a:r>
          </a:p>
          <a:p>
            <a:r>
              <a:rPr lang="en-IN" dirty="0">
                <a:solidFill>
                  <a:srgbClr val="FF0000"/>
                </a:solidFill>
              </a:rPr>
              <a:t>                          the new vocabulary represents the training </a:t>
            </a:r>
          </a:p>
          <a:p>
            <a:r>
              <a:rPr lang="en-IN" dirty="0">
                <a:solidFill>
                  <a:srgbClr val="FF0000"/>
                </a:solidFill>
              </a:rPr>
              <a:t>                          corpora</a:t>
            </a:r>
          </a:p>
        </p:txBody>
      </p:sp>
      <p:sp>
        <p:nvSpPr>
          <p:cNvPr id="3" name="TextBox 2">
            <a:extLst>
              <a:ext uri="{FF2B5EF4-FFF2-40B4-BE49-F238E27FC236}">
                <a16:creationId xmlns:a16="http://schemas.microsoft.com/office/drawing/2014/main" id="{179EA2CD-6DA9-B1A7-E374-B3DDDC4E47CB}"/>
              </a:ext>
            </a:extLst>
          </p:cNvPr>
          <p:cNvSpPr txBox="1"/>
          <p:nvPr/>
        </p:nvSpPr>
        <p:spPr>
          <a:xfrm>
            <a:off x="7048001" y="36440"/>
            <a:ext cx="5213784" cy="430887"/>
          </a:xfrm>
          <a:prstGeom prst="rect">
            <a:avLst/>
          </a:prstGeom>
          <a:noFill/>
        </p:spPr>
        <p:txBody>
          <a:bodyPr wrap="square" rtlCol="0">
            <a:spAutoFit/>
          </a:bodyPr>
          <a:lstStyle/>
          <a:p>
            <a:r>
              <a:rPr lang="en-US" sz="1100" dirty="0"/>
              <a:t>Our target is to get the vocabulary size of ‘k’, and we try to find out the most frequent bigrams. </a:t>
            </a:r>
          </a:p>
        </p:txBody>
      </p:sp>
      <p:sp>
        <p:nvSpPr>
          <p:cNvPr id="5" name="TextBox 4">
            <a:extLst>
              <a:ext uri="{FF2B5EF4-FFF2-40B4-BE49-F238E27FC236}">
                <a16:creationId xmlns:a16="http://schemas.microsoft.com/office/drawing/2014/main" id="{573BD15F-A568-CA52-178F-0FD5DB4FFD8F}"/>
              </a:ext>
            </a:extLst>
          </p:cNvPr>
          <p:cNvSpPr txBox="1"/>
          <p:nvPr/>
        </p:nvSpPr>
        <p:spPr>
          <a:xfrm>
            <a:off x="5367130" y="3335989"/>
            <a:ext cx="6098729" cy="261610"/>
          </a:xfrm>
          <a:prstGeom prst="rect">
            <a:avLst/>
          </a:prstGeom>
          <a:noFill/>
        </p:spPr>
        <p:txBody>
          <a:bodyPr wrap="square" rtlCol="0">
            <a:spAutoFit/>
          </a:bodyPr>
          <a:lstStyle/>
          <a:p>
            <a:r>
              <a:rPr lang="en-US" sz="1100" dirty="0"/>
              <a:t>Ideally, it should come up with uni. LM tokenization, but BPE gives illogical tokenization </a:t>
            </a:r>
          </a:p>
        </p:txBody>
      </p:sp>
    </p:spTree>
    <p:extLst>
      <p:ext uri="{BB962C8B-B14F-4D97-AF65-F5344CB8AC3E}">
        <p14:creationId xmlns:p14="http://schemas.microsoft.com/office/powerpoint/2010/main" val="4225992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9A59A-21D7-4A89-AEA7-E5D33F561606}"/>
              </a:ext>
            </a:extLst>
          </p:cNvPr>
          <p:cNvSpPr>
            <a:spLocks noGrp="1"/>
          </p:cNvSpPr>
          <p:nvPr>
            <p:ph type="title"/>
          </p:nvPr>
        </p:nvSpPr>
        <p:spPr/>
        <p:txBody>
          <a:bodyPr/>
          <a:lstStyle/>
          <a:p>
            <a:r>
              <a:rPr lang="en-IN" dirty="0" err="1"/>
              <a:t>SentencePiece</a:t>
            </a:r>
            <a:r>
              <a:rPr lang="en-IN" dirty="0"/>
              <a:t> Tokenizer: Idea</a:t>
            </a:r>
          </a:p>
        </p:txBody>
      </p:sp>
      <p:sp>
        <p:nvSpPr>
          <p:cNvPr id="4" name="Slide Number Placeholder 3">
            <a:extLst>
              <a:ext uri="{FF2B5EF4-FFF2-40B4-BE49-F238E27FC236}">
                <a16:creationId xmlns:a16="http://schemas.microsoft.com/office/drawing/2014/main" id="{57AD9756-AA0D-4C65-8F57-8865FD7E9EAB}"/>
              </a:ext>
            </a:extLst>
          </p:cNvPr>
          <p:cNvSpPr>
            <a:spLocks noGrp="1"/>
          </p:cNvSpPr>
          <p:nvPr>
            <p:ph type="sldNum" sz="quarter" idx="12"/>
          </p:nvPr>
        </p:nvSpPr>
        <p:spPr/>
        <p:txBody>
          <a:bodyPr/>
          <a:lstStyle/>
          <a:p>
            <a:fld id="{FF2BD96E-3838-45D2-9031-D3AF67C920A5}" type="slidenum">
              <a:rPr lang="en-US" smtClean="0"/>
              <a:t>18</a:t>
            </a:fld>
            <a:endParaRPr lang="en-US"/>
          </a:p>
        </p:txBody>
      </p:sp>
      <p:sp>
        <p:nvSpPr>
          <p:cNvPr id="5" name="Rectangle 4">
            <a:extLst>
              <a:ext uri="{FF2B5EF4-FFF2-40B4-BE49-F238E27FC236}">
                <a16:creationId xmlns:a16="http://schemas.microsoft.com/office/drawing/2014/main" id="{398CA43F-7DD6-4EC3-9834-C7E69806B16D}"/>
              </a:ext>
            </a:extLst>
          </p:cNvPr>
          <p:cNvSpPr/>
          <p:nvPr/>
        </p:nvSpPr>
        <p:spPr>
          <a:xfrm>
            <a:off x="1461053" y="1480930"/>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07BB5AB4-D6EF-4BE1-A651-F91B0C71F402}"/>
              </a:ext>
            </a:extLst>
          </p:cNvPr>
          <p:cNvSpPr/>
          <p:nvPr/>
        </p:nvSpPr>
        <p:spPr>
          <a:xfrm>
            <a:off x="1832111" y="1484245"/>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5398546E-304E-444F-9667-0DF76C75E0E9}"/>
              </a:ext>
            </a:extLst>
          </p:cNvPr>
          <p:cNvSpPr/>
          <p:nvPr/>
        </p:nvSpPr>
        <p:spPr>
          <a:xfrm>
            <a:off x="2232986" y="1477621"/>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05EE6321-D9B6-4F4D-A2B1-B97EC2CB6391}"/>
              </a:ext>
            </a:extLst>
          </p:cNvPr>
          <p:cNvSpPr/>
          <p:nvPr/>
        </p:nvSpPr>
        <p:spPr>
          <a:xfrm>
            <a:off x="2640482" y="1484245"/>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EA19595B-64B5-499C-A1A6-8D710FD2A1A5}"/>
              </a:ext>
            </a:extLst>
          </p:cNvPr>
          <p:cNvSpPr/>
          <p:nvPr/>
        </p:nvSpPr>
        <p:spPr>
          <a:xfrm>
            <a:off x="3011540" y="1487560"/>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E1B5E973-2A94-491A-92A1-054950056E61}"/>
              </a:ext>
            </a:extLst>
          </p:cNvPr>
          <p:cNvSpPr/>
          <p:nvPr/>
        </p:nvSpPr>
        <p:spPr>
          <a:xfrm>
            <a:off x="3412415" y="1480936"/>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D7A98EA5-8BFE-4C42-9B93-6DCCB0663BF2}"/>
              </a:ext>
            </a:extLst>
          </p:cNvPr>
          <p:cNvSpPr/>
          <p:nvPr/>
        </p:nvSpPr>
        <p:spPr>
          <a:xfrm>
            <a:off x="1461053" y="1911626"/>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F255DA35-77A0-401B-86F9-1DDF0DAF4098}"/>
              </a:ext>
            </a:extLst>
          </p:cNvPr>
          <p:cNvSpPr/>
          <p:nvPr/>
        </p:nvSpPr>
        <p:spPr>
          <a:xfrm>
            <a:off x="1832111" y="1914941"/>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03DEF056-61F6-46AF-9340-3241320B7749}"/>
              </a:ext>
            </a:extLst>
          </p:cNvPr>
          <p:cNvSpPr/>
          <p:nvPr/>
        </p:nvSpPr>
        <p:spPr>
          <a:xfrm>
            <a:off x="2232986" y="1908317"/>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D62CD240-8560-4EEE-8FAF-C7C4F0EFDAD2}"/>
              </a:ext>
            </a:extLst>
          </p:cNvPr>
          <p:cNvSpPr/>
          <p:nvPr/>
        </p:nvSpPr>
        <p:spPr>
          <a:xfrm>
            <a:off x="2640482" y="1914941"/>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D242145B-EACE-4C7E-8C09-BDBF1D3DC883}"/>
              </a:ext>
            </a:extLst>
          </p:cNvPr>
          <p:cNvSpPr/>
          <p:nvPr/>
        </p:nvSpPr>
        <p:spPr>
          <a:xfrm>
            <a:off x="3011540" y="1918256"/>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A0C49D05-85C8-4A02-9E7F-442CD3E65793}"/>
              </a:ext>
            </a:extLst>
          </p:cNvPr>
          <p:cNvSpPr/>
          <p:nvPr/>
        </p:nvSpPr>
        <p:spPr>
          <a:xfrm>
            <a:off x="3412415" y="1911632"/>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E8E287A2-7397-4C55-9E97-DFDED69C5CEE}"/>
              </a:ext>
            </a:extLst>
          </p:cNvPr>
          <p:cNvSpPr/>
          <p:nvPr/>
        </p:nvSpPr>
        <p:spPr>
          <a:xfrm>
            <a:off x="1461053" y="2350504"/>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BA6A1EC5-B192-425F-88FE-6263069A52BC}"/>
              </a:ext>
            </a:extLst>
          </p:cNvPr>
          <p:cNvSpPr/>
          <p:nvPr/>
        </p:nvSpPr>
        <p:spPr>
          <a:xfrm>
            <a:off x="1832111" y="2353819"/>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78F4DB0E-3EDF-4B9A-8E7F-F319E2114948}"/>
              </a:ext>
            </a:extLst>
          </p:cNvPr>
          <p:cNvSpPr/>
          <p:nvPr/>
        </p:nvSpPr>
        <p:spPr>
          <a:xfrm>
            <a:off x="2232986" y="2357134"/>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F1CA9FCF-84B5-4D6E-9EAD-4CC762012C4D}"/>
              </a:ext>
            </a:extLst>
          </p:cNvPr>
          <p:cNvSpPr/>
          <p:nvPr/>
        </p:nvSpPr>
        <p:spPr>
          <a:xfrm>
            <a:off x="2640482" y="2353819"/>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894C21B8-0D89-47C2-A9DF-92BAFCDB27A9}"/>
              </a:ext>
            </a:extLst>
          </p:cNvPr>
          <p:cNvSpPr/>
          <p:nvPr/>
        </p:nvSpPr>
        <p:spPr>
          <a:xfrm>
            <a:off x="3011540" y="2357134"/>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903417DC-3C9C-426D-9118-A3809EAD69FD}"/>
              </a:ext>
            </a:extLst>
          </p:cNvPr>
          <p:cNvSpPr/>
          <p:nvPr/>
        </p:nvSpPr>
        <p:spPr>
          <a:xfrm>
            <a:off x="3412415" y="2350510"/>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a:extLst>
              <a:ext uri="{FF2B5EF4-FFF2-40B4-BE49-F238E27FC236}">
                <a16:creationId xmlns:a16="http://schemas.microsoft.com/office/drawing/2014/main" id="{5D054FFF-4FC1-4D8E-AA82-10A36D930C42}"/>
              </a:ext>
            </a:extLst>
          </p:cNvPr>
          <p:cNvSpPr/>
          <p:nvPr/>
        </p:nvSpPr>
        <p:spPr>
          <a:xfrm>
            <a:off x="1461053" y="2781200"/>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a:extLst>
              <a:ext uri="{FF2B5EF4-FFF2-40B4-BE49-F238E27FC236}">
                <a16:creationId xmlns:a16="http://schemas.microsoft.com/office/drawing/2014/main" id="{6AB8037A-9081-4F34-A705-515B4A986C72}"/>
              </a:ext>
            </a:extLst>
          </p:cNvPr>
          <p:cNvSpPr/>
          <p:nvPr/>
        </p:nvSpPr>
        <p:spPr>
          <a:xfrm>
            <a:off x="1832111" y="2784515"/>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74AEC5B8-4EEC-47F9-AC94-BBC39F02167B}"/>
              </a:ext>
            </a:extLst>
          </p:cNvPr>
          <p:cNvSpPr/>
          <p:nvPr/>
        </p:nvSpPr>
        <p:spPr>
          <a:xfrm>
            <a:off x="2232986" y="2777891"/>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52E0BABD-993E-404B-AE21-84DFFEC89715}"/>
              </a:ext>
            </a:extLst>
          </p:cNvPr>
          <p:cNvSpPr/>
          <p:nvPr/>
        </p:nvSpPr>
        <p:spPr>
          <a:xfrm>
            <a:off x="2640482" y="2784515"/>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a:extLst>
              <a:ext uri="{FF2B5EF4-FFF2-40B4-BE49-F238E27FC236}">
                <a16:creationId xmlns:a16="http://schemas.microsoft.com/office/drawing/2014/main" id="{FC442B3F-CF2E-4C6E-A493-BF3536C5F3B6}"/>
              </a:ext>
            </a:extLst>
          </p:cNvPr>
          <p:cNvSpPr/>
          <p:nvPr/>
        </p:nvSpPr>
        <p:spPr>
          <a:xfrm>
            <a:off x="3011540" y="2787830"/>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27">
            <a:extLst>
              <a:ext uri="{FF2B5EF4-FFF2-40B4-BE49-F238E27FC236}">
                <a16:creationId xmlns:a16="http://schemas.microsoft.com/office/drawing/2014/main" id="{B93A7054-1363-4373-83C4-B295886C44CF}"/>
              </a:ext>
            </a:extLst>
          </p:cNvPr>
          <p:cNvSpPr/>
          <p:nvPr/>
        </p:nvSpPr>
        <p:spPr>
          <a:xfrm>
            <a:off x="3412415" y="2781206"/>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Rectangle 28">
            <a:extLst>
              <a:ext uri="{FF2B5EF4-FFF2-40B4-BE49-F238E27FC236}">
                <a16:creationId xmlns:a16="http://schemas.microsoft.com/office/drawing/2014/main" id="{24818EC2-CAA0-4E61-87DB-413FD86B9DA5}"/>
              </a:ext>
            </a:extLst>
          </p:cNvPr>
          <p:cNvSpPr/>
          <p:nvPr/>
        </p:nvSpPr>
        <p:spPr>
          <a:xfrm>
            <a:off x="1464346" y="3229496"/>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Rectangle 29">
            <a:extLst>
              <a:ext uri="{FF2B5EF4-FFF2-40B4-BE49-F238E27FC236}">
                <a16:creationId xmlns:a16="http://schemas.microsoft.com/office/drawing/2014/main" id="{4579E63E-7FEA-4B38-BAB1-79BE258C7C61}"/>
              </a:ext>
            </a:extLst>
          </p:cNvPr>
          <p:cNvSpPr/>
          <p:nvPr/>
        </p:nvSpPr>
        <p:spPr>
          <a:xfrm>
            <a:off x="1835404" y="3232811"/>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Rectangle 30">
            <a:extLst>
              <a:ext uri="{FF2B5EF4-FFF2-40B4-BE49-F238E27FC236}">
                <a16:creationId xmlns:a16="http://schemas.microsoft.com/office/drawing/2014/main" id="{676BA908-B545-4553-B5F8-3ADFDFF16C69}"/>
              </a:ext>
            </a:extLst>
          </p:cNvPr>
          <p:cNvSpPr/>
          <p:nvPr/>
        </p:nvSpPr>
        <p:spPr>
          <a:xfrm>
            <a:off x="2236279" y="3226187"/>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Rectangle 31">
            <a:extLst>
              <a:ext uri="{FF2B5EF4-FFF2-40B4-BE49-F238E27FC236}">
                <a16:creationId xmlns:a16="http://schemas.microsoft.com/office/drawing/2014/main" id="{EE47AEEE-02AF-4D7A-8109-7B007418BDC8}"/>
              </a:ext>
            </a:extLst>
          </p:cNvPr>
          <p:cNvSpPr/>
          <p:nvPr/>
        </p:nvSpPr>
        <p:spPr>
          <a:xfrm>
            <a:off x="2643775" y="3232811"/>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Rectangle 32">
            <a:extLst>
              <a:ext uri="{FF2B5EF4-FFF2-40B4-BE49-F238E27FC236}">
                <a16:creationId xmlns:a16="http://schemas.microsoft.com/office/drawing/2014/main" id="{CB30B3D7-ABD8-4F70-8C0F-F93ADD17F3E2}"/>
              </a:ext>
            </a:extLst>
          </p:cNvPr>
          <p:cNvSpPr/>
          <p:nvPr/>
        </p:nvSpPr>
        <p:spPr>
          <a:xfrm>
            <a:off x="3014833" y="3236126"/>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Rectangle 33">
            <a:extLst>
              <a:ext uri="{FF2B5EF4-FFF2-40B4-BE49-F238E27FC236}">
                <a16:creationId xmlns:a16="http://schemas.microsoft.com/office/drawing/2014/main" id="{14863C49-FDB1-433B-9E90-353E7607AA0E}"/>
              </a:ext>
            </a:extLst>
          </p:cNvPr>
          <p:cNvSpPr/>
          <p:nvPr/>
        </p:nvSpPr>
        <p:spPr>
          <a:xfrm>
            <a:off x="3415708" y="3229502"/>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Rectangle 34">
            <a:extLst>
              <a:ext uri="{FF2B5EF4-FFF2-40B4-BE49-F238E27FC236}">
                <a16:creationId xmlns:a16="http://schemas.microsoft.com/office/drawing/2014/main" id="{8B0253FD-01DD-48AD-B9FE-0C3F82F94FF4}"/>
              </a:ext>
            </a:extLst>
          </p:cNvPr>
          <p:cNvSpPr/>
          <p:nvPr/>
        </p:nvSpPr>
        <p:spPr>
          <a:xfrm>
            <a:off x="1464346" y="3660192"/>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35">
            <a:extLst>
              <a:ext uri="{FF2B5EF4-FFF2-40B4-BE49-F238E27FC236}">
                <a16:creationId xmlns:a16="http://schemas.microsoft.com/office/drawing/2014/main" id="{A610EBDC-0003-4EF7-8C20-C8EF9957C41D}"/>
              </a:ext>
            </a:extLst>
          </p:cNvPr>
          <p:cNvSpPr/>
          <p:nvPr/>
        </p:nvSpPr>
        <p:spPr>
          <a:xfrm>
            <a:off x="1835404" y="3663507"/>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36">
            <a:extLst>
              <a:ext uri="{FF2B5EF4-FFF2-40B4-BE49-F238E27FC236}">
                <a16:creationId xmlns:a16="http://schemas.microsoft.com/office/drawing/2014/main" id="{3C0AEF3A-4A44-4C7E-870C-4DCEBDB08451}"/>
              </a:ext>
            </a:extLst>
          </p:cNvPr>
          <p:cNvSpPr/>
          <p:nvPr/>
        </p:nvSpPr>
        <p:spPr>
          <a:xfrm>
            <a:off x="2236279" y="3656883"/>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37">
            <a:extLst>
              <a:ext uri="{FF2B5EF4-FFF2-40B4-BE49-F238E27FC236}">
                <a16:creationId xmlns:a16="http://schemas.microsoft.com/office/drawing/2014/main" id="{55B7B239-1EBA-4FCE-92A7-A7B8784B2872}"/>
              </a:ext>
            </a:extLst>
          </p:cNvPr>
          <p:cNvSpPr/>
          <p:nvPr/>
        </p:nvSpPr>
        <p:spPr>
          <a:xfrm>
            <a:off x="2643775" y="3663507"/>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Rectangle 38">
            <a:extLst>
              <a:ext uri="{FF2B5EF4-FFF2-40B4-BE49-F238E27FC236}">
                <a16:creationId xmlns:a16="http://schemas.microsoft.com/office/drawing/2014/main" id="{B2DB54AB-BD64-4EF5-B7D0-06BE0A4A8880}"/>
              </a:ext>
            </a:extLst>
          </p:cNvPr>
          <p:cNvSpPr/>
          <p:nvPr/>
        </p:nvSpPr>
        <p:spPr>
          <a:xfrm>
            <a:off x="3014833" y="3666822"/>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Rectangle 39">
            <a:extLst>
              <a:ext uri="{FF2B5EF4-FFF2-40B4-BE49-F238E27FC236}">
                <a16:creationId xmlns:a16="http://schemas.microsoft.com/office/drawing/2014/main" id="{349745F4-1C68-4FE6-8393-7841E7478738}"/>
              </a:ext>
            </a:extLst>
          </p:cNvPr>
          <p:cNvSpPr/>
          <p:nvPr/>
        </p:nvSpPr>
        <p:spPr>
          <a:xfrm>
            <a:off x="3415708" y="3660198"/>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Rectangle 40">
            <a:extLst>
              <a:ext uri="{FF2B5EF4-FFF2-40B4-BE49-F238E27FC236}">
                <a16:creationId xmlns:a16="http://schemas.microsoft.com/office/drawing/2014/main" id="{14EE9143-04E8-4AB9-8761-D952DFA66D08}"/>
              </a:ext>
            </a:extLst>
          </p:cNvPr>
          <p:cNvSpPr/>
          <p:nvPr/>
        </p:nvSpPr>
        <p:spPr>
          <a:xfrm>
            <a:off x="1464346" y="4099070"/>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Rectangle 41">
            <a:extLst>
              <a:ext uri="{FF2B5EF4-FFF2-40B4-BE49-F238E27FC236}">
                <a16:creationId xmlns:a16="http://schemas.microsoft.com/office/drawing/2014/main" id="{E90160BF-C9E2-4EBA-8965-9721557E990D}"/>
              </a:ext>
            </a:extLst>
          </p:cNvPr>
          <p:cNvSpPr/>
          <p:nvPr/>
        </p:nvSpPr>
        <p:spPr>
          <a:xfrm>
            <a:off x="1835404" y="4102385"/>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Rectangle 42">
            <a:extLst>
              <a:ext uri="{FF2B5EF4-FFF2-40B4-BE49-F238E27FC236}">
                <a16:creationId xmlns:a16="http://schemas.microsoft.com/office/drawing/2014/main" id="{A40A7D36-CEFB-4134-B2BD-48C7E8CD8198}"/>
              </a:ext>
            </a:extLst>
          </p:cNvPr>
          <p:cNvSpPr/>
          <p:nvPr/>
        </p:nvSpPr>
        <p:spPr>
          <a:xfrm>
            <a:off x="2236279" y="4105700"/>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Rectangle 43">
            <a:extLst>
              <a:ext uri="{FF2B5EF4-FFF2-40B4-BE49-F238E27FC236}">
                <a16:creationId xmlns:a16="http://schemas.microsoft.com/office/drawing/2014/main" id="{12635228-1BF9-4991-A87F-15A816AD58D7}"/>
              </a:ext>
            </a:extLst>
          </p:cNvPr>
          <p:cNvSpPr/>
          <p:nvPr/>
        </p:nvSpPr>
        <p:spPr>
          <a:xfrm>
            <a:off x="2643775" y="4102385"/>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Rectangle 44">
            <a:extLst>
              <a:ext uri="{FF2B5EF4-FFF2-40B4-BE49-F238E27FC236}">
                <a16:creationId xmlns:a16="http://schemas.microsoft.com/office/drawing/2014/main" id="{C967F024-26F9-447C-966C-47EFAF76B289}"/>
              </a:ext>
            </a:extLst>
          </p:cNvPr>
          <p:cNvSpPr/>
          <p:nvPr/>
        </p:nvSpPr>
        <p:spPr>
          <a:xfrm>
            <a:off x="3014833" y="4105700"/>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Rectangle 45">
            <a:extLst>
              <a:ext uri="{FF2B5EF4-FFF2-40B4-BE49-F238E27FC236}">
                <a16:creationId xmlns:a16="http://schemas.microsoft.com/office/drawing/2014/main" id="{8870D12E-F45F-4437-A426-911ADECA3FA2}"/>
              </a:ext>
            </a:extLst>
          </p:cNvPr>
          <p:cNvSpPr/>
          <p:nvPr/>
        </p:nvSpPr>
        <p:spPr>
          <a:xfrm>
            <a:off x="3415708" y="4099076"/>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Rectangle 46">
            <a:extLst>
              <a:ext uri="{FF2B5EF4-FFF2-40B4-BE49-F238E27FC236}">
                <a16:creationId xmlns:a16="http://schemas.microsoft.com/office/drawing/2014/main" id="{2D2CB6D5-B4AC-4E62-91EC-B94890CA3FDC}"/>
              </a:ext>
            </a:extLst>
          </p:cNvPr>
          <p:cNvSpPr/>
          <p:nvPr/>
        </p:nvSpPr>
        <p:spPr>
          <a:xfrm>
            <a:off x="1464346" y="4529766"/>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Rectangle 47">
            <a:extLst>
              <a:ext uri="{FF2B5EF4-FFF2-40B4-BE49-F238E27FC236}">
                <a16:creationId xmlns:a16="http://schemas.microsoft.com/office/drawing/2014/main" id="{BF0746DA-A172-43CB-A7B8-ABF5CAFE6511}"/>
              </a:ext>
            </a:extLst>
          </p:cNvPr>
          <p:cNvSpPr/>
          <p:nvPr/>
        </p:nvSpPr>
        <p:spPr>
          <a:xfrm>
            <a:off x="1835404" y="4533081"/>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Rectangle 48">
            <a:extLst>
              <a:ext uri="{FF2B5EF4-FFF2-40B4-BE49-F238E27FC236}">
                <a16:creationId xmlns:a16="http://schemas.microsoft.com/office/drawing/2014/main" id="{77C4F72D-B448-4A9F-9950-164AF5D03DC9}"/>
              </a:ext>
            </a:extLst>
          </p:cNvPr>
          <p:cNvSpPr/>
          <p:nvPr/>
        </p:nvSpPr>
        <p:spPr>
          <a:xfrm>
            <a:off x="2236279" y="4526457"/>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Rectangle 49">
            <a:extLst>
              <a:ext uri="{FF2B5EF4-FFF2-40B4-BE49-F238E27FC236}">
                <a16:creationId xmlns:a16="http://schemas.microsoft.com/office/drawing/2014/main" id="{3C94A884-EC3A-487E-8099-4F212FFB01EA}"/>
              </a:ext>
            </a:extLst>
          </p:cNvPr>
          <p:cNvSpPr/>
          <p:nvPr/>
        </p:nvSpPr>
        <p:spPr>
          <a:xfrm>
            <a:off x="2643775" y="4533081"/>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Rectangle 50">
            <a:extLst>
              <a:ext uri="{FF2B5EF4-FFF2-40B4-BE49-F238E27FC236}">
                <a16:creationId xmlns:a16="http://schemas.microsoft.com/office/drawing/2014/main" id="{3E4F1A67-AFA8-4888-91A5-664BA25592B1}"/>
              </a:ext>
            </a:extLst>
          </p:cNvPr>
          <p:cNvSpPr/>
          <p:nvPr/>
        </p:nvSpPr>
        <p:spPr>
          <a:xfrm>
            <a:off x="3014833" y="4536396"/>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Rectangle 51">
            <a:extLst>
              <a:ext uri="{FF2B5EF4-FFF2-40B4-BE49-F238E27FC236}">
                <a16:creationId xmlns:a16="http://schemas.microsoft.com/office/drawing/2014/main" id="{CF7D6FD8-BFFF-40A2-B35E-BD380B3CF34B}"/>
              </a:ext>
            </a:extLst>
          </p:cNvPr>
          <p:cNvSpPr/>
          <p:nvPr/>
        </p:nvSpPr>
        <p:spPr>
          <a:xfrm>
            <a:off x="3415708" y="4529772"/>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Rectangle 52">
            <a:extLst>
              <a:ext uri="{FF2B5EF4-FFF2-40B4-BE49-F238E27FC236}">
                <a16:creationId xmlns:a16="http://schemas.microsoft.com/office/drawing/2014/main" id="{7AE60ECC-97F6-461F-A1D9-A0AD02D73BA4}"/>
              </a:ext>
            </a:extLst>
          </p:cNvPr>
          <p:cNvSpPr/>
          <p:nvPr/>
        </p:nvSpPr>
        <p:spPr>
          <a:xfrm>
            <a:off x="4542132" y="1728564"/>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4" name="Rectangle 53">
            <a:extLst>
              <a:ext uri="{FF2B5EF4-FFF2-40B4-BE49-F238E27FC236}">
                <a16:creationId xmlns:a16="http://schemas.microsoft.com/office/drawing/2014/main" id="{D8E72039-CB24-4B9D-811C-1C2D86010A25}"/>
              </a:ext>
            </a:extLst>
          </p:cNvPr>
          <p:cNvSpPr/>
          <p:nvPr/>
        </p:nvSpPr>
        <p:spPr>
          <a:xfrm>
            <a:off x="4913190" y="1731879"/>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Rectangle 54">
            <a:extLst>
              <a:ext uri="{FF2B5EF4-FFF2-40B4-BE49-F238E27FC236}">
                <a16:creationId xmlns:a16="http://schemas.microsoft.com/office/drawing/2014/main" id="{E27449BB-36C4-41B4-A741-B7B4965FCA9A}"/>
              </a:ext>
            </a:extLst>
          </p:cNvPr>
          <p:cNvSpPr/>
          <p:nvPr/>
        </p:nvSpPr>
        <p:spPr>
          <a:xfrm>
            <a:off x="5314065" y="1725255"/>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ectangle 55">
            <a:extLst>
              <a:ext uri="{FF2B5EF4-FFF2-40B4-BE49-F238E27FC236}">
                <a16:creationId xmlns:a16="http://schemas.microsoft.com/office/drawing/2014/main" id="{1C7D4807-D1E6-4632-B57B-FDFA7F4E7307}"/>
              </a:ext>
            </a:extLst>
          </p:cNvPr>
          <p:cNvSpPr/>
          <p:nvPr/>
        </p:nvSpPr>
        <p:spPr>
          <a:xfrm>
            <a:off x="5721561" y="1731879"/>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ectangle 56">
            <a:extLst>
              <a:ext uri="{FF2B5EF4-FFF2-40B4-BE49-F238E27FC236}">
                <a16:creationId xmlns:a16="http://schemas.microsoft.com/office/drawing/2014/main" id="{7AB888F9-9A94-4A82-8084-0CEF3667E927}"/>
              </a:ext>
            </a:extLst>
          </p:cNvPr>
          <p:cNvSpPr/>
          <p:nvPr/>
        </p:nvSpPr>
        <p:spPr>
          <a:xfrm>
            <a:off x="6092619" y="1735194"/>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57">
            <a:extLst>
              <a:ext uri="{FF2B5EF4-FFF2-40B4-BE49-F238E27FC236}">
                <a16:creationId xmlns:a16="http://schemas.microsoft.com/office/drawing/2014/main" id="{4685E427-8EE3-4C5D-8932-C634381DB182}"/>
              </a:ext>
            </a:extLst>
          </p:cNvPr>
          <p:cNvSpPr/>
          <p:nvPr/>
        </p:nvSpPr>
        <p:spPr>
          <a:xfrm>
            <a:off x="6493494" y="1728570"/>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Rectangle 58">
            <a:extLst>
              <a:ext uri="{FF2B5EF4-FFF2-40B4-BE49-F238E27FC236}">
                <a16:creationId xmlns:a16="http://schemas.microsoft.com/office/drawing/2014/main" id="{2E97C813-2F8F-4AEB-A425-B724D83390CD}"/>
              </a:ext>
            </a:extLst>
          </p:cNvPr>
          <p:cNvSpPr/>
          <p:nvPr/>
        </p:nvSpPr>
        <p:spPr>
          <a:xfrm>
            <a:off x="4542132" y="2159260"/>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Rectangle 59">
            <a:extLst>
              <a:ext uri="{FF2B5EF4-FFF2-40B4-BE49-F238E27FC236}">
                <a16:creationId xmlns:a16="http://schemas.microsoft.com/office/drawing/2014/main" id="{8C5F1BE5-6583-4D58-9317-C3BAEA77BA0E}"/>
              </a:ext>
            </a:extLst>
          </p:cNvPr>
          <p:cNvSpPr/>
          <p:nvPr/>
        </p:nvSpPr>
        <p:spPr>
          <a:xfrm>
            <a:off x="4913190" y="2162575"/>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Rectangle 60">
            <a:extLst>
              <a:ext uri="{FF2B5EF4-FFF2-40B4-BE49-F238E27FC236}">
                <a16:creationId xmlns:a16="http://schemas.microsoft.com/office/drawing/2014/main" id="{1DE5C267-F67B-4F4D-A24A-42CF520A0358}"/>
              </a:ext>
            </a:extLst>
          </p:cNvPr>
          <p:cNvSpPr/>
          <p:nvPr/>
        </p:nvSpPr>
        <p:spPr>
          <a:xfrm>
            <a:off x="5314065" y="2155951"/>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2" name="Rectangle 61">
            <a:extLst>
              <a:ext uri="{FF2B5EF4-FFF2-40B4-BE49-F238E27FC236}">
                <a16:creationId xmlns:a16="http://schemas.microsoft.com/office/drawing/2014/main" id="{D4CFBAA2-FBA4-4B97-8064-24664D97A977}"/>
              </a:ext>
            </a:extLst>
          </p:cNvPr>
          <p:cNvSpPr/>
          <p:nvPr/>
        </p:nvSpPr>
        <p:spPr>
          <a:xfrm>
            <a:off x="5721561" y="2162575"/>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Rectangle 62">
            <a:extLst>
              <a:ext uri="{FF2B5EF4-FFF2-40B4-BE49-F238E27FC236}">
                <a16:creationId xmlns:a16="http://schemas.microsoft.com/office/drawing/2014/main" id="{3532466C-E6C4-41C8-96D3-F90EC62BB2A8}"/>
              </a:ext>
            </a:extLst>
          </p:cNvPr>
          <p:cNvSpPr/>
          <p:nvPr/>
        </p:nvSpPr>
        <p:spPr>
          <a:xfrm>
            <a:off x="6092619" y="2165890"/>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4" name="Rectangle 63">
            <a:extLst>
              <a:ext uri="{FF2B5EF4-FFF2-40B4-BE49-F238E27FC236}">
                <a16:creationId xmlns:a16="http://schemas.microsoft.com/office/drawing/2014/main" id="{7F3C04E1-1C73-4E0C-974A-95E60BE18A0E}"/>
              </a:ext>
            </a:extLst>
          </p:cNvPr>
          <p:cNvSpPr/>
          <p:nvPr/>
        </p:nvSpPr>
        <p:spPr>
          <a:xfrm>
            <a:off x="6493494" y="2159266"/>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5" name="Rectangle 64">
            <a:extLst>
              <a:ext uri="{FF2B5EF4-FFF2-40B4-BE49-F238E27FC236}">
                <a16:creationId xmlns:a16="http://schemas.microsoft.com/office/drawing/2014/main" id="{087FAD1F-E546-4373-A04C-BCB2A0583E42}"/>
              </a:ext>
            </a:extLst>
          </p:cNvPr>
          <p:cNvSpPr/>
          <p:nvPr/>
        </p:nvSpPr>
        <p:spPr>
          <a:xfrm>
            <a:off x="4542132" y="2598138"/>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6" name="Rectangle 65">
            <a:extLst>
              <a:ext uri="{FF2B5EF4-FFF2-40B4-BE49-F238E27FC236}">
                <a16:creationId xmlns:a16="http://schemas.microsoft.com/office/drawing/2014/main" id="{58DBD687-5328-4334-BA71-C415FD313AB1}"/>
              </a:ext>
            </a:extLst>
          </p:cNvPr>
          <p:cNvSpPr/>
          <p:nvPr/>
        </p:nvSpPr>
        <p:spPr>
          <a:xfrm>
            <a:off x="4913190" y="2601453"/>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Rectangle 66">
            <a:extLst>
              <a:ext uri="{FF2B5EF4-FFF2-40B4-BE49-F238E27FC236}">
                <a16:creationId xmlns:a16="http://schemas.microsoft.com/office/drawing/2014/main" id="{A1715EA1-ADB3-456E-97B9-35C31452BE60}"/>
              </a:ext>
            </a:extLst>
          </p:cNvPr>
          <p:cNvSpPr/>
          <p:nvPr/>
        </p:nvSpPr>
        <p:spPr>
          <a:xfrm>
            <a:off x="5314065" y="2604768"/>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8" name="Rectangle 67">
            <a:extLst>
              <a:ext uri="{FF2B5EF4-FFF2-40B4-BE49-F238E27FC236}">
                <a16:creationId xmlns:a16="http://schemas.microsoft.com/office/drawing/2014/main" id="{66D4F9CF-B8AC-4AD5-B951-4111D619ABA3}"/>
              </a:ext>
            </a:extLst>
          </p:cNvPr>
          <p:cNvSpPr/>
          <p:nvPr/>
        </p:nvSpPr>
        <p:spPr>
          <a:xfrm>
            <a:off x="5721561" y="2601453"/>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9" name="Rectangle 68">
            <a:extLst>
              <a:ext uri="{FF2B5EF4-FFF2-40B4-BE49-F238E27FC236}">
                <a16:creationId xmlns:a16="http://schemas.microsoft.com/office/drawing/2014/main" id="{DB8941B5-9445-4011-A42A-A39101721138}"/>
              </a:ext>
            </a:extLst>
          </p:cNvPr>
          <p:cNvSpPr/>
          <p:nvPr/>
        </p:nvSpPr>
        <p:spPr>
          <a:xfrm>
            <a:off x="6092619" y="2604768"/>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0" name="Rectangle 69">
            <a:extLst>
              <a:ext uri="{FF2B5EF4-FFF2-40B4-BE49-F238E27FC236}">
                <a16:creationId xmlns:a16="http://schemas.microsoft.com/office/drawing/2014/main" id="{3AD1F087-CDF1-4D51-AD83-C79586071838}"/>
              </a:ext>
            </a:extLst>
          </p:cNvPr>
          <p:cNvSpPr/>
          <p:nvPr/>
        </p:nvSpPr>
        <p:spPr>
          <a:xfrm>
            <a:off x="6493494" y="2598144"/>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1" name="Rectangle 70">
            <a:extLst>
              <a:ext uri="{FF2B5EF4-FFF2-40B4-BE49-F238E27FC236}">
                <a16:creationId xmlns:a16="http://schemas.microsoft.com/office/drawing/2014/main" id="{4A55DAFC-2852-4094-AC0D-F35F0C83B9D1}"/>
              </a:ext>
            </a:extLst>
          </p:cNvPr>
          <p:cNvSpPr/>
          <p:nvPr/>
        </p:nvSpPr>
        <p:spPr>
          <a:xfrm>
            <a:off x="4542132" y="3028834"/>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2" name="Rectangle 71">
            <a:extLst>
              <a:ext uri="{FF2B5EF4-FFF2-40B4-BE49-F238E27FC236}">
                <a16:creationId xmlns:a16="http://schemas.microsoft.com/office/drawing/2014/main" id="{119A273A-F6E4-4976-A501-9585D47790CB}"/>
              </a:ext>
            </a:extLst>
          </p:cNvPr>
          <p:cNvSpPr/>
          <p:nvPr/>
        </p:nvSpPr>
        <p:spPr>
          <a:xfrm>
            <a:off x="4913190" y="3032149"/>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3" name="Rectangle 72">
            <a:extLst>
              <a:ext uri="{FF2B5EF4-FFF2-40B4-BE49-F238E27FC236}">
                <a16:creationId xmlns:a16="http://schemas.microsoft.com/office/drawing/2014/main" id="{131BF981-FDBE-41D1-B7CE-B06FBB846322}"/>
              </a:ext>
            </a:extLst>
          </p:cNvPr>
          <p:cNvSpPr/>
          <p:nvPr/>
        </p:nvSpPr>
        <p:spPr>
          <a:xfrm>
            <a:off x="5314065" y="3025525"/>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4" name="Rectangle 73">
            <a:extLst>
              <a:ext uri="{FF2B5EF4-FFF2-40B4-BE49-F238E27FC236}">
                <a16:creationId xmlns:a16="http://schemas.microsoft.com/office/drawing/2014/main" id="{4CFBAE45-6B58-442C-8D11-382C2EDE255F}"/>
              </a:ext>
            </a:extLst>
          </p:cNvPr>
          <p:cNvSpPr/>
          <p:nvPr/>
        </p:nvSpPr>
        <p:spPr>
          <a:xfrm>
            <a:off x="5721561" y="3032149"/>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5" name="Rectangle 74">
            <a:extLst>
              <a:ext uri="{FF2B5EF4-FFF2-40B4-BE49-F238E27FC236}">
                <a16:creationId xmlns:a16="http://schemas.microsoft.com/office/drawing/2014/main" id="{86227DAA-9159-43D3-B3CB-B1A188B2DAE0}"/>
              </a:ext>
            </a:extLst>
          </p:cNvPr>
          <p:cNvSpPr/>
          <p:nvPr/>
        </p:nvSpPr>
        <p:spPr>
          <a:xfrm>
            <a:off x="6092619" y="3035464"/>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Rectangle 75">
            <a:extLst>
              <a:ext uri="{FF2B5EF4-FFF2-40B4-BE49-F238E27FC236}">
                <a16:creationId xmlns:a16="http://schemas.microsoft.com/office/drawing/2014/main" id="{95C0F4E1-12C0-4C6F-997D-A1F036138169}"/>
              </a:ext>
            </a:extLst>
          </p:cNvPr>
          <p:cNvSpPr/>
          <p:nvPr/>
        </p:nvSpPr>
        <p:spPr>
          <a:xfrm>
            <a:off x="6493494" y="3028840"/>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Rectangle 76">
            <a:extLst>
              <a:ext uri="{FF2B5EF4-FFF2-40B4-BE49-F238E27FC236}">
                <a16:creationId xmlns:a16="http://schemas.microsoft.com/office/drawing/2014/main" id="{065008C6-5224-4FAD-96F3-76AA8F4B3F5B}"/>
              </a:ext>
            </a:extLst>
          </p:cNvPr>
          <p:cNvSpPr/>
          <p:nvPr/>
        </p:nvSpPr>
        <p:spPr>
          <a:xfrm>
            <a:off x="4545425" y="3477130"/>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Rectangle 77">
            <a:extLst>
              <a:ext uri="{FF2B5EF4-FFF2-40B4-BE49-F238E27FC236}">
                <a16:creationId xmlns:a16="http://schemas.microsoft.com/office/drawing/2014/main" id="{84CB0FBC-5BB7-47D4-B9AD-54A9F359C65B}"/>
              </a:ext>
            </a:extLst>
          </p:cNvPr>
          <p:cNvSpPr/>
          <p:nvPr/>
        </p:nvSpPr>
        <p:spPr>
          <a:xfrm>
            <a:off x="4916483" y="3480445"/>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Rectangle 78">
            <a:extLst>
              <a:ext uri="{FF2B5EF4-FFF2-40B4-BE49-F238E27FC236}">
                <a16:creationId xmlns:a16="http://schemas.microsoft.com/office/drawing/2014/main" id="{39551133-8A06-4E05-A906-A6DB9426FF09}"/>
              </a:ext>
            </a:extLst>
          </p:cNvPr>
          <p:cNvSpPr/>
          <p:nvPr/>
        </p:nvSpPr>
        <p:spPr>
          <a:xfrm>
            <a:off x="5317358" y="3473821"/>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Rectangle 79">
            <a:extLst>
              <a:ext uri="{FF2B5EF4-FFF2-40B4-BE49-F238E27FC236}">
                <a16:creationId xmlns:a16="http://schemas.microsoft.com/office/drawing/2014/main" id="{5E37837A-1A40-49CF-8B94-F8AA81BCEEAC}"/>
              </a:ext>
            </a:extLst>
          </p:cNvPr>
          <p:cNvSpPr/>
          <p:nvPr/>
        </p:nvSpPr>
        <p:spPr>
          <a:xfrm>
            <a:off x="5724854" y="3480445"/>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Rectangle 80">
            <a:extLst>
              <a:ext uri="{FF2B5EF4-FFF2-40B4-BE49-F238E27FC236}">
                <a16:creationId xmlns:a16="http://schemas.microsoft.com/office/drawing/2014/main" id="{31E8C334-D1F4-412A-B0A7-63C0751C2BB2}"/>
              </a:ext>
            </a:extLst>
          </p:cNvPr>
          <p:cNvSpPr/>
          <p:nvPr/>
        </p:nvSpPr>
        <p:spPr>
          <a:xfrm>
            <a:off x="6095912" y="3483760"/>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2" name="Rectangle 81">
            <a:extLst>
              <a:ext uri="{FF2B5EF4-FFF2-40B4-BE49-F238E27FC236}">
                <a16:creationId xmlns:a16="http://schemas.microsoft.com/office/drawing/2014/main" id="{8EDAC10B-D408-4451-8C90-FC8E7F44244A}"/>
              </a:ext>
            </a:extLst>
          </p:cNvPr>
          <p:cNvSpPr/>
          <p:nvPr/>
        </p:nvSpPr>
        <p:spPr>
          <a:xfrm>
            <a:off x="6496787" y="3477136"/>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Rectangle 82">
            <a:extLst>
              <a:ext uri="{FF2B5EF4-FFF2-40B4-BE49-F238E27FC236}">
                <a16:creationId xmlns:a16="http://schemas.microsoft.com/office/drawing/2014/main" id="{841FB4F4-039B-484E-BF30-85DB54C84F7E}"/>
              </a:ext>
            </a:extLst>
          </p:cNvPr>
          <p:cNvSpPr/>
          <p:nvPr/>
        </p:nvSpPr>
        <p:spPr>
          <a:xfrm>
            <a:off x="4545425" y="3907826"/>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4" name="Rectangle 83">
            <a:extLst>
              <a:ext uri="{FF2B5EF4-FFF2-40B4-BE49-F238E27FC236}">
                <a16:creationId xmlns:a16="http://schemas.microsoft.com/office/drawing/2014/main" id="{31431ECB-C5E5-4A93-A452-FCAF31C39336}"/>
              </a:ext>
            </a:extLst>
          </p:cNvPr>
          <p:cNvSpPr/>
          <p:nvPr/>
        </p:nvSpPr>
        <p:spPr>
          <a:xfrm>
            <a:off x="4916483" y="3911141"/>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5" name="Rectangle 84">
            <a:extLst>
              <a:ext uri="{FF2B5EF4-FFF2-40B4-BE49-F238E27FC236}">
                <a16:creationId xmlns:a16="http://schemas.microsoft.com/office/drawing/2014/main" id="{745A8D3E-166E-472A-97EC-D43EB8CCC73B}"/>
              </a:ext>
            </a:extLst>
          </p:cNvPr>
          <p:cNvSpPr/>
          <p:nvPr/>
        </p:nvSpPr>
        <p:spPr>
          <a:xfrm>
            <a:off x="5317358" y="3904517"/>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6" name="Rectangle 85">
            <a:extLst>
              <a:ext uri="{FF2B5EF4-FFF2-40B4-BE49-F238E27FC236}">
                <a16:creationId xmlns:a16="http://schemas.microsoft.com/office/drawing/2014/main" id="{BEE28748-2BBB-4C87-9783-69498F9316D8}"/>
              </a:ext>
            </a:extLst>
          </p:cNvPr>
          <p:cNvSpPr/>
          <p:nvPr/>
        </p:nvSpPr>
        <p:spPr>
          <a:xfrm>
            <a:off x="5724854" y="3911141"/>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7" name="Rectangle 86">
            <a:extLst>
              <a:ext uri="{FF2B5EF4-FFF2-40B4-BE49-F238E27FC236}">
                <a16:creationId xmlns:a16="http://schemas.microsoft.com/office/drawing/2014/main" id="{9A1A808D-B135-47EE-997D-012466688E1F}"/>
              </a:ext>
            </a:extLst>
          </p:cNvPr>
          <p:cNvSpPr/>
          <p:nvPr/>
        </p:nvSpPr>
        <p:spPr>
          <a:xfrm>
            <a:off x="6095912" y="3914456"/>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8" name="Rectangle 87">
            <a:extLst>
              <a:ext uri="{FF2B5EF4-FFF2-40B4-BE49-F238E27FC236}">
                <a16:creationId xmlns:a16="http://schemas.microsoft.com/office/drawing/2014/main" id="{D3DCC83E-1239-401D-B871-D724E3DC8D56}"/>
              </a:ext>
            </a:extLst>
          </p:cNvPr>
          <p:cNvSpPr/>
          <p:nvPr/>
        </p:nvSpPr>
        <p:spPr>
          <a:xfrm>
            <a:off x="6496787" y="3907832"/>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9" name="Rectangle 88">
            <a:extLst>
              <a:ext uri="{FF2B5EF4-FFF2-40B4-BE49-F238E27FC236}">
                <a16:creationId xmlns:a16="http://schemas.microsoft.com/office/drawing/2014/main" id="{D1391CA9-4ED4-47EC-8F5E-DBEDE9827BC8}"/>
              </a:ext>
            </a:extLst>
          </p:cNvPr>
          <p:cNvSpPr/>
          <p:nvPr/>
        </p:nvSpPr>
        <p:spPr>
          <a:xfrm>
            <a:off x="4545425" y="4346704"/>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0" name="Rectangle 89">
            <a:extLst>
              <a:ext uri="{FF2B5EF4-FFF2-40B4-BE49-F238E27FC236}">
                <a16:creationId xmlns:a16="http://schemas.microsoft.com/office/drawing/2014/main" id="{570EDC60-C6C8-4DAC-8A4B-EC3D3A357402}"/>
              </a:ext>
            </a:extLst>
          </p:cNvPr>
          <p:cNvSpPr/>
          <p:nvPr/>
        </p:nvSpPr>
        <p:spPr>
          <a:xfrm>
            <a:off x="4916483" y="4350019"/>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1" name="Rectangle 90">
            <a:extLst>
              <a:ext uri="{FF2B5EF4-FFF2-40B4-BE49-F238E27FC236}">
                <a16:creationId xmlns:a16="http://schemas.microsoft.com/office/drawing/2014/main" id="{867297BD-551D-4233-949C-1CE6396390AC}"/>
              </a:ext>
            </a:extLst>
          </p:cNvPr>
          <p:cNvSpPr/>
          <p:nvPr/>
        </p:nvSpPr>
        <p:spPr>
          <a:xfrm>
            <a:off x="5317358" y="4353334"/>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2" name="Rectangle 91">
            <a:extLst>
              <a:ext uri="{FF2B5EF4-FFF2-40B4-BE49-F238E27FC236}">
                <a16:creationId xmlns:a16="http://schemas.microsoft.com/office/drawing/2014/main" id="{43D0E56E-E112-47BF-B60B-9F5046A948CF}"/>
              </a:ext>
            </a:extLst>
          </p:cNvPr>
          <p:cNvSpPr/>
          <p:nvPr/>
        </p:nvSpPr>
        <p:spPr>
          <a:xfrm>
            <a:off x="5724854" y="4350019"/>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3" name="Rectangle 92">
            <a:extLst>
              <a:ext uri="{FF2B5EF4-FFF2-40B4-BE49-F238E27FC236}">
                <a16:creationId xmlns:a16="http://schemas.microsoft.com/office/drawing/2014/main" id="{E47B274F-3CB6-4039-BEF7-78998FA0EFAA}"/>
              </a:ext>
            </a:extLst>
          </p:cNvPr>
          <p:cNvSpPr/>
          <p:nvPr/>
        </p:nvSpPr>
        <p:spPr>
          <a:xfrm>
            <a:off x="6095912" y="4353334"/>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4" name="Rectangle 93">
            <a:extLst>
              <a:ext uri="{FF2B5EF4-FFF2-40B4-BE49-F238E27FC236}">
                <a16:creationId xmlns:a16="http://schemas.microsoft.com/office/drawing/2014/main" id="{BF66F968-940F-4766-A10D-4334821A72D2}"/>
              </a:ext>
            </a:extLst>
          </p:cNvPr>
          <p:cNvSpPr/>
          <p:nvPr/>
        </p:nvSpPr>
        <p:spPr>
          <a:xfrm>
            <a:off x="6496787" y="4346710"/>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1" name="Rectangle 100">
            <a:extLst>
              <a:ext uri="{FF2B5EF4-FFF2-40B4-BE49-F238E27FC236}">
                <a16:creationId xmlns:a16="http://schemas.microsoft.com/office/drawing/2014/main" id="{CC50883E-43E8-49F8-A3EB-498F5690AD8C}"/>
              </a:ext>
            </a:extLst>
          </p:cNvPr>
          <p:cNvSpPr/>
          <p:nvPr/>
        </p:nvSpPr>
        <p:spPr>
          <a:xfrm>
            <a:off x="3405778" y="1474610"/>
            <a:ext cx="298174" cy="317207"/>
          </a:xfrm>
          <a:prstGeom prst="rect">
            <a:avLst/>
          </a:prstGeom>
          <a:solidFill>
            <a:schemeClr val="bg1">
              <a:lumMod val="85000"/>
            </a:schemeClr>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2" name="Rectangle 101">
            <a:extLst>
              <a:ext uri="{FF2B5EF4-FFF2-40B4-BE49-F238E27FC236}">
                <a16:creationId xmlns:a16="http://schemas.microsoft.com/office/drawing/2014/main" id="{DBD52DF3-11C0-4C1A-9ADF-B6CA5A45C6AF}"/>
              </a:ext>
            </a:extLst>
          </p:cNvPr>
          <p:cNvSpPr/>
          <p:nvPr/>
        </p:nvSpPr>
        <p:spPr>
          <a:xfrm>
            <a:off x="1825487" y="2367073"/>
            <a:ext cx="298174" cy="317207"/>
          </a:xfrm>
          <a:prstGeom prst="rect">
            <a:avLst/>
          </a:prstGeom>
          <a:solidFill>
            <a:schemeClr val="bg1">
              <a:lumMod val="85000"/>
            </a:schemeClr>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3" name="Rectangle 102">
            <a:extLst>
              <a:ext uri="{FF2B5EF4-FFF2-40B4-BE49-F238E27FC236}">
                <a16:creationId xmlns:a16="http://schemas.microsoft.com/office/drawing/2014/main" id="{13A63CA0-28A4-4410-AABE-400911498D6E}"/>
              </a:ext>
            </a:extLst>
          </p:cNvPr>
          <p:cNvSpPr/>
          <p:nvPr/>
        </p:nvSpPr>
        <p:spPr>
          <a:xfrm>
            <a:off x="2633858" y="2367073"/>
            <a:ext cx="298174" cy="317207"/>
          </a:xfrm>
          <a:prstGeom prst="rect">
            <a:avLst/>
          </a:prstGeom>
          <a:solidFill>
            <a:schemeClr val="bg1">
              <a:lumMod val="85000"/>
            </a:schemeClr>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 name="Rectangle 103">
            <a:extLst>
              <a:ext uri="{FF2B5EF4-FFF2-40B4-BE49-F238E27FC236}">
                <a16:creationId xmlns:a16="http://schemas.microsoft.com/office/drawing/2014/main" id="{2138F8A7-957A-40EE-9805-C636CCBE69D7}"/>
              </a:ext>
            </a:extLst>
          </p:cNvPr>
          <p:cNvSpPr/>
          <p:nvPr/>
        </p:nvSpPr>
        <p:spPr>
          <a:xfrm>
            <a:off x="3008209" y="3249380"/>
            <a:ext cx="298174" cy="317207"/>
          </a:xfrm>
          <a:prstGeom prst="rect">
            <a:avLst/>
          </a:prstGeom>
          <a:solidFill>
            <a:schemeClr val="bg1">
              <a:lumMod val="85000"/>
            </a:schemeClr>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5" name="Rectangle 104">
            <a:extLst>
              <a:ext uri="{FF2B5EF4-FFF2-40B4-BE49-F238E27FC236}">
                <a16:creationId xmlns:a16="http://schemas.microsoft.com/office/drawing/2014/main" id="{252FA5FE-5358-4CC4-A0DC-DF39AB87B787}"/>
              </a:ext>
            </a:extLst>
          </p:cNvPr>
          <p:cNvSpPr/>
          <p:nvPr/>
        </p:nvSpPr>
        <p:spPr>
          <a:xfrm>
            <a:off x="1828780" y="4115639"/>
            <a:ext cx="298174" cy="317207"/>
          </a:xfrm>
          <a:prstGeom prst="rect">
            <a:avLst/>
          </a:prstGeom>
          <a:solidFill>
            <a:schemeClr val="bg1">
              <a:lumMod val="85000"/>
            </a:schemeClr>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6" name="Rectangle 105">
            <a:extLst>
              <a:ext uri="{FF2B5EF4-FFF2-40B4-BE49-F238E27FC236}">
                <a16:creationId xmlns:a16="http://schemas.microsoft.com/office/drawing/2014/main" id="{5DBFAE3E-25C7-461C-B868-364571D50CD9}"/>
              </a:ext>
            </a:extLst>
          </p:cNvPr>
          <p:cNvSpPr/>
          <p:nvPr/>
        </p:nvSpPr>
        <p:spPr>
          <a:xfrm>
            <a:off x="3409084" y="4543026"/>
            <a:ext cx="298174" cy="317207"/>
          </a:xfrm>
          <a:prstGeom prst="rect">
            <a:avLst/>
          </a:prstGeom>
          <a:solidFill>
            <a:schemeClr val="bg1">
              <a:lumMod val="85000"/>
            </a:schemeClr>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 name="Rectangle 112">
            <a:extLst>
              <a:ext uri="{FF2B5EF4-FFF2-40B4-BE49-F238E27FC236}">
                <a16:creationId xmlns:a16="http://schemas.microsoft.com/office/drawing/2014/main" id="{A5D30F92-5252-4FC1-9D36-FD365F56200F}"/>
              </a:ext>
            </a:extLst>
          </p:cNvPr>
          <p:cNvSpPr/>
          <p:nvPr/>
        </p:nvSpPr>
        <p:spPr>
          <a:xfrm>
            <a:off x="6476931" y="1718631"/>
            <a:ext cx="298174" cy="317207"/>
          </a:xfrm>
          <a:prstGeom prst="rect">
            <a:avLst/>
          </a:prstGeom>
          <a:solidFill>
            <a:schemeClr val="bg1">
              <a:lumMod val="85000"/>
            </a:schemeClr>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4" name="Rectangle 113">
            <a:extLst>
              <a:ext uri="{FF2B5EF4-FFF2-40B4-BE49-F238E27FC236}">
                <a16:creationId xmlns:a16="http://schemas.microsoft.com/office/drawing/2014/main" id="{0FFD8FA8-FA4D-44C2-96FB-800E656C84DF}"/>
              </a:ext>
            </a:extLst>
          </p:cNvPr>
          <p:cNvSpPr/>
          <p:nvPr/>
        </p:nvSpPr>
        <p:spPr>
          <a:xfrm>
            <a:off x="5297502" y="2146012"/>
            <a:ext cx="298174" cy="317207"/>
          </a:xfrm>
          <a:prstGeom prst="rect">
            <a:avLst/>
          </a:prstGeom>
          <a:solidFill>
            <a:schemeClr val="bg1">
              <a:lumMod val="85000"/>
            </a:schemeClr>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5" name="Rectangle 114">
            <a:extLst>
              <a:ext uri="{FF2B5EF4-FFF2-40B4-BE49-F238E27FC236}">
                <a16:creationId xmlns:a16="http://schemas.microsoft.com/office/drawing/2014/main" id="{EEB5BD4D-E567-49A3-9A9C-A37BBD2D4B68}"/>
              </a:ext>
            </a:extLst>
          </p:cNvPr>
          <p:cNvSpPr/>
          <p:nvPr/>
        </p:nvSpPr>
        <p:spPr>
          <a:xfrm>
            <a:off x="4525569" y="3018895"/>
            <a:ext cx="298174" cy="317207"/>
          </a:xfrm>
          <a:prstGeom prst="rect">
            <a:avLst/>
          </a:prstGeom>
          <a:solidFill>
            <a:schemeClr val="bg1">
              <a:lumMod val="85000"/>
            </a:schemeClr>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6" name="Rectangle 115">
            <a:extLst>
              <a:ext uri="{FF2B5EF4-FFF2-40B4-BE49-F238E27FC236}">
                <a16:creationId xmlns:a16="http://schemas.microsoft.com/office/drawing/2014/main" id="{869734EC-DA58-400C-B97B-2BA0D2A7502C}"/>
              </a:ext>
            </a:extLst>
          </p:cNvPr>
          <p:cNvSpPr/>
          <p:nvPr/>
        </p:nvSpPr>
        <p:spPr>
          <a:xfrm>
            <a:off x="6476931" y="3018901"/>
            <a:ext cx="298174" cy="317207"/>
          </a:xfrm>
          <a:prstGeom prst="rect">
            <a:avLst/>
          </a:prstGeom>
          <a:solidFill>
            <a:schemeClr val="bg1">
              <a:lumMod val="85000"/>
            </a:schemeClr>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7" name="Rectangle 116">
            <a:extLst>
              <a:ext uri="{FF2B5EF4-FFF2-40B4-BE49-F238E27FC236}">
                <a16:creationId xmlns:a16="http://schemas.microsoft.com/office/drawing/2014/main" id="{D93B9236-2B14-4E82-BF88-060F08DF92D4}"/>
              </a:ext>
            </a:extLst>
          </p:cNvPr>
          <p:cNvSpPr/>
          <p:nvPr/>
        </p:nvSpPr>
        <p:spPr>
          <a:xfrm>
            <a:off x="5300795" y="4343395"/>
            <a:ext cx="298174" cy="317207"/>
          </a:xfrm>
          <a:prstGeom prst="rect">
            <a:avLst/>
          </a:prstGeom>
          <a:solidFill>
            <a:schemeClr val="bg1">
              <a:lumMod val="85000"/>
            </a:schemeClr>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8" name="Rectangle 117">
            <a:extLst>
              <a:ext uri="{FF2B5EF4-FFF2-40B4-BE49-F238E27FC236}">
                <a16:creationId xmlns:a16="http://schemas.microsoft.com/office/drawing/2014/main" id="{B9D5F9D3-4343-4118-9BA3-BE05929DF8FE}"/>
              </a:ext>
            </a:extLst>
          </p:cNvPr>
          <p:cNvSpPr/>
          <p:nvPr/>
        </p:nvSpPr>
        <p:spPr>
          <a:xfrm>
            <a:off x="6079349" y="4343395"/>
            <a:ext cx="298174" cy="317207"/>
          </a:xfrm>
          <a:prstGeom prst="rect">
            <a:avLst/>
          </a:prstGeom>
          <a:solidFill>
            <a:schemeClr val="bg1">
              <a:lumMod val="85000"/>
            </a:schemeClr>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0" name="TextBox 119">
            <a:extLst>
              <a:ext uri="{FF2B5EF4-FFF2-40B4-BE49-F238E27FC236}">
                <a16:creationId xmlns:a16="http://schemas.microsoft.com/office/drawing/2014/main" id="{68971177-F0B6-4955-9A4A-40A87234CCC8}"/>
              </a:ext>
            </a:extLst>
          </p:cNvPr>
          <p:cNvSpPr txBox="1"/>
          <p:nvPr/>
        </p:nvSpPr>
        <p:spPr>
          <a:xfrm>
            <a:off x="1067936" y="944326"/>
            <a:ext cx="7497117" cy="369332"/>
          </a:xfrm>
          <a:prstGeom prst="rect">
            <a:avLst/>
          </a:prstGeom>
          <a:noFill/>
        </p:spPr>
        <p:txBody>
          <a:bodyPr wrap="none" rtlCol="0">
            <a:spAutoFit/>
          </a:bodyPr>
          <a:lstStyle/>
          <a:p>
            <a:r>
              <a:rPr lang="en-IN" dirty="0"/>
              <a:t>Start with a large vocabulary [will contain all characters, bi-grams, etc.]</a:t>
            </a:r>
          </a:p>
        </p:txBody>
      </p:sp>
      <p:sp>
        <p:nvSpPr>
          <p:cNvPr id="121" name="TextBox 120">
            <a:extLst>
              <a:ext uri="{FF2B5EF4-FFF2-40B4-BE49-F238E27FC236}">
                <a16:creationId xmlns:a16="http://schemas.microsoft.com/office/drawing/2014/main" id="{9A66FA4E-62F6-4E47-9B43-5D1CD3E6ADA7}"/>
              </a:ext>
            </a:extLst>
          </p:cNvPr>
          <p:cNvSpPr txBox="1"/>
          <p:nvPr/>
        </p:nvSpPr>
        <p:spPr>
          <a:xfrm>
            <a:off x="773507" y="5064177"/>
            <a:ext cx="2448491" cy="369332"/>
          </a:xfrm>
          <a:prstGeom prst="rect">
            <a:avLst/>
          </a:prstGeom>
          <a:noFill/>
        </p:spPr>
        <p:txBody>
          <a:bodyPr wrap="none" rtlCol="0">
            <a:spAutoFit/>
          </a:bodyPr>
          <a:lstStyle/>
          <a:p>
            <a:r>
              <a:rPr lang="en-IN" dirty="0"/>
              <a:t>Remove some entries</a:t>
            </a:r>
          </a:p>
        </p:txBody>
      </p:sp>
      <p:sp>
        <p:nvSpPr>
          <p:cNvPr id="122" name="TextBox 121">
            <a:extLst>
              <a:ext uri="{FF2B5EF4-FFF2-40B4-BE49-F238E27FC236}">
                <a16:creationId xmlns:a16="http://schemas.microsoft.com/office/drawing/2014/main" id="{38C8640A-BAD7-4E3F-93EF-BBA03E504BF6}"/>
              </a:ext>
            </a:extLst>
          </p:cNvPr>
          <p:cNvSpPr txBox="1"/>
          <p:nvPr/>
        </p:nvSpPr>
        <p:spPr>
          <a:xfrm>
            <a:off x="780131" y="5443862"/>
            <a:ext cx="3642857" cy="923330"/>
          </a:xfrm>
          <a:prstGeom prst="rect">
            <a:avLst/>
          </a:prstGeom>
          <a:noFill/>
        </p:spPr>
        <p:txBody>
          <a:bodyPr wrap="none" rtlCol="0">
            <a:spAutoFit/>
          </a:bodyPr>
          <a:lstStyle/>
          <a:p>
            <a:r>
              <a:rPr lang="en-IN" dirty="0"/>
              <a:t>Check whether the reduced </a:t>
            </a:r>
          </a:p>
          <a:p>
            <a:r>
              <a:rPr lang="en-IN" dirty="0"/>
              <a:t>vocabulary represents the </a:t>
            </a:r>
          </a:p>
          <a:p>
            <a:r>
              <a:rPr lang="en-IN" dirty="0"/>
              <a:t>training data more appropriately</a:t>
            </a:r>
          </a:p>
        </p:txBody>
      </p:sp>
      <p:sp>
        <p:nvSpPr>
          <p:cNvPr id="123" name="TextBox 122">
            <a:extLst>
              <a:ext uri="{FF2B5EF4-FFF2-40B4-BE49-F238E27FC236}">
                <a16:creationId xmlns:a16="http://schemas.microsoft.com/office/drawing/2014/main" id="{24851F81-A66B-4AD0-B024-F515830D059A}"/>
              </a:ext>
            </a:extLst>
          </p:cNvPr>
          <p:cNvSpPr txBox="1"/>
          <p:nvPr/>
        </p:nvSpPr>
        <p:spPr>
          <a:xfrm>
            <a:off x="4584068" y="5090799"/>
            <a:ext cx="2074992" cy="369332"/>
          </a:xfrm>
          <a:prstGeom prst="rect">
            <a:avLst/>
          </a:prstGeom>
          <a:noFill/>
        </p:spPr>
        <p:txBody>
          <a:bodyPr wrap="none" rtlCol="0">
            <a:spAutoFit/>
          </a:bodyPr>
          <a:lstStyle/>
          <a:p>
            <a:r>
              <a:rPr lang="en-IN" dirty="0"/>
              <a:t>Reduce the vocab</a:t>
            </a:r>
          </a:p>
        </p:txBody>
      </p:sp>
      <p:sp>
        <p:nvSpPr>
          <p:cNvPr id="124" name="TextBox 123">
            <a:extLst>
              <a:ext uri="{FF2B5EF4-FFF2-40B4-BE49-F238E27FC236}">
                <a16:creationId xmlns:a16="http://schemas.microsoft.com/office/drawing/2014/main" id="{A06DB722-5D27-4362-9BFD-AA34CC9D8435}"/>
              </a:ext>
            </a:extLst>
          </p:cNvPr>
          <p:cNvSpPr txBox="1"/>
          <p:nvPr/>
        </p:nvSpPr>
        <p:spPr>
          <a:xfrm>
            <a:off x="7628645" y="4788689"/>
            <a:ext cx="2904000" cy="369332"/>
          </a:xfrm>
          <a:prstGeom prst="rect">
            <a:avLst/>
          </a:prstGeom>
          <a:noFill/>
        </p:spPr>
        <p:txBody>
          <a:bodyPr wrap="none" rtlCol="0">
            <a:spAutoFit/>
          </a:bodyPr>
          <a:lstStyle/>
          <a:p>
            <a:r>
              <a:rPr lang="en-IN" dirty="0"/>
              <a:t>Repeat the reduction step</a:t>
            </a:r>
          </a:p>
        </p:txBody>
      </p:sp>
      <p:sp>
        <p:nvSpPr>
          <p:cNvPr id="125" name="Rectangle 124">
            <a:extLst>
              <a:ext uri="{FF2B5EF4-FFF2-40B4-BE49-F238E27FC236}">
                <a16:creationId xmlns:a16="http://schemas.microsoft.com/office/drawing/2014/main" id="{21ABBEE3-252B-4329-9888-BE9088E249C8}"/>
              </a:ext>
            </a:extLst>
          </p:cNvPr>
          <p:cNvSpPr/>
          <p:nvPr/>
        </p:nvSpPr>
        <p:spPr>
          <a:xfrm>
            <a:off x="9055042" y="2680438"/>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6" name="Rectangle 125">
            <a:extLst>
              <a:ext uri="{FF2B5EF4-FFF2-40B4-BE49-F238E27FC236}">
                <a16:creationId xmlns:a16="http://schemas.microsoft.com/office/drawing/2014/main" id="{2EB4ACDB-1CBE-44EE-9EF5-F90CA6819754}"/>
              </a:ext>
            </a:extLst>
          </p:cNvPr>
          <p:cNvSpPr/>
          <p:nvPr/>
        </p:nvSpPr>
        <p:spPr>
          <a:xfrm>
            <a:off x="9426100" y="2683753"/>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7" name="Rectangle 126">
            <a:extLst>
              <a:ext uri="{FF2B5EF4-FFF2-40B4-BE49-F238E27FC236}">
                <a16:creationId xmlns:a16="http://schemas.microsoft.com/office/drawing/2014/main" id="{A45B44DD-9946-411E-A089-FE120EDE9FE3}"/>
              </a:ext>
            </a:extLst>
          </p:cNvPr>
          <p:cNvSpPr/>
          <p:nvPr/>
        </p:nvSpPr>
        <p:spPr>
          <a:xfrm>
            <a:off x="9826975" y="2677129"/>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8" name="Rectangle 127">
            <a:extLst>
              <a:ext uri="{FF2B5EF4-FFF2-40B4-BE49-F238E27FC236}">
                <a16:creationId xmlns:a16="http://schemas.microsoft.com/office/drawing/2014/main" id="{A580076D-F2BD-43E9-A519-DD4054A86573}"/>
              </a:ext>
            </a:extLst>
          </p:cNvPr>
          <p:cNvSpPr/>
          <p:nvPr/>
        </p:nvSpPr>
        <p:spPr>
          <a:xfrm>
            <a:off x="10234471" y="2683753"/>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9" name="Rectangle 128">
            <a:extLst>
              <a:ext uri="{FF2B5EF4-FFF2-40B4-BE49-F238E27FC236}">
                <a16:creationId xmlns:a16="http://schemas.microsoft.com/office/drawing/2014/main" id="{4FE54ECE-1A6D-4CA5-AE8E-D49A97DDCA6C}"/>
              </a:ext>
            </a:extLst>
          </p:cNvPr>
          <p:cNvSpPr/>
          <p:nvPr/>
        </p:nvSpPr>
        <p:spPr>
          <a:xfrm>
            <a:off x="10605529" y="2687068"/>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0" name="Rectangle 129">
            <a:extLst>
              <a:ext uri="{FF2B5EF4-FFF2-40B4-BE49-F238E27FC236}">
                <a16:creationId xmlns:a16="http://schemas.microsoft.com/office/drawing/2014/main" id="{1E35A113-CFFC-431D-B254-74410B2FD155}"/>
              </a:ext>
            </a:extLst>
          </p:cNvPr>
          <p:cNvSpPr/>
          <p:nvPr/>
        </p:nvSpPr>
        <p:spPr>
          <a:xfrm>
            <a:off x="11006404" y="2680444"/>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1" name="Rectangle 130">
            <a:extLst>
              <a:ext uri="{FF2B5EF4-FFF2-40B4-BE49-F238E27FC236}">
                <a16:creationId xmlns:a16="http://schemas.microsoft.com/office/drawing/2014/main" id="{BA2BF516-CDE1-4DC4-AADC-4F37000FDEED}"/>
              </a:ext>
            </a:extLst>
          </p:cNvPr>
          <p:cNvSpPr/>
          <p:nvPr/>
        </p:nvSpPr>
        <p:spPr>
          <a:xfrm>
            <a:off x="9055042" y="3111134"/>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2" name="Rectangle 131">
            <a:extLst>
              <a:ext uri="{FF2B5EF4-FFF2-40B4-BE49-F238E27FC236}">
                <a16:creationId xmlns:a16="http://schemas.microsoft.com/office/drawing/2014/main" id="{E89107EA-B76F-48F4-89DF-355DD9D2FF26}"/>
              </a:ext>
            </a:extLst>
          </p:cNvPr>
          <p:cNvSpPr/>
          <p:nvPr/>
        </p:nvSpPr>
        <p:spPr>
          <a:xfrm>
            <a:off x="9426100" y="3114449"/>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3" name="Rectangle 132">
            <a:extLst>
              <a:ext uri="{FF2B5EF4-FFF2-40B4-BE49-F238E27FC236}">
                <a16:creationId xmlns:a16="http://schemas.microsoft.com/office/drawing/2014/main" id="{0CA246F2-0358-4159-880F-777C355A2A5D}"/>
              </a:ext>
            </a:extLst>
          </p:cNvPr>
          <p:cNvSpPr/>
          <p:nvPr/>
        </p:nvSpPr>
        <p:spPr>
          <a:xfrm>
            <a:off x="9826975" y="3107825"/>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4" name="Rectangle 133">
            <a:extLst>
              <a:ext uri="{FF2B5EF4-FFF2-40B4-BE49-F238E27FC236}">
                <a16:creationId xmlns:a16="http://schemas.microsoft.com/office/drawing/2014/main" id="{D65B26CE-9FD6-4703-A6B2-4B083AE25DC5}"/>
              </a:ext>
            </a:extLst>
          </p:cNvPr>
          <p:cNvSpPr/>
          <p:nvPr/>
        </p:nvSpPr>
        <p:spPr>
          <a:xfrm>
            <a:off x="10234471" y="3114449"/>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5" name="Rectangle 134">
            <a:extLst>
              <a:ext uri="{FF2B5EF4-FFF2-40B4-BE49-F238E27FC236}">
                <a16:creationId xmlns:a16="http://schemas.microsoft.com/office/drawing/2014/main" id="{3CB390C3-C12F-45F1-AD77-0302DFADD29E}"/>
              </a:ext>
            </a:extLst>
          </p:cNvPr>
          <p:cNvSpPr/>
          <p:nvPr/>
        </p:nvSpPr>
        <p:spPr>
          <a:xfrm>
            <a:off x="10605529" y="3117764"/>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6" name="Rectangle 135">
            <a:extLst>
              <a:ext uri="{FF2B5EF4-FFF2-40B4-BE49-F238E27FC236}">
                <a16:creationId xmlns:a16="http://schemas.microsoft.com/office/drawing/2014/main" id="{08AE86D5-C561-43A6-BB3A-B45DFCC54278}"/>
              </a:ext>
            </a:extLst>
          </p:cNvPr>
          <p:cNvSpPr/>
          <p:nvPr/>
        </p:nvSpPr>
        <p:spPr>
          <a:xfrm>
            <a:off x="11006404" y="3111140"/>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7" name="Rectangle 136">
            <a:extLst>
              <a:ext uri="{FF2B5EF4-FFF2-40B4-BE49-F238E27FC236}">
                <a16:creationId xmlns:a16="http://schemas.microsoft.com/office/drawing/2014/main" id="{5370B309-E544-4740-9451-D7A1947D6B77}"/>
              </a:ext>
            </a:extLst>
          </p:cNvPr>
          <p:cNvSpPr/>
          <p:nvPr/>
        </p:nvSpPr>
        <p:spPr>
          <a:xfrm>
            <a:off x="9055042" y="3550012"/>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8" name="Rectangle 137">
            <a:extLst>
              <a:ext uri="{FF2B5EF4-FFF2-40B4-BE49-F238E27FC236}">
                <a16:creationId xmlns:a16="http://schemas.microsoft.com/office/drawing/2014/main" id="{5983862C-EE09-4D5F-BA93-D1ADFDA9193B}"/>
              </a:ext>
            </a:extLst>
          </p:cNvPr>
          <p:cNvSpPr/>
          <p:nvPr/>
        </p:nvSpPr>
        <p:spPr>
          <a:xfrm>
            <a:off x="9426100" y="3553327"/>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9" name="Rectangle 138">
            <a:extLst>
              <a:ext uri="{FF2B5EF4-FFF2-40B4-BE49-F238E27FC236}">
                <a16:creationId xmlns:a16="http://schemas.microsoft.com/office/drawing/2014/main" id="{81CAD50A-7942-43DF-9314-6DC6A535F625}"/>
              </a:ext>
            </a:extLst>
          </p:cNvPr>
          <p:cNvSpPr/>
          <p:nvPr/>
        </p:nvSpPr>
        <p:spPr>
          <a:xfrm>
            <a:off x="9826975" y="3556642"/>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0" name="Rectangle 139">
            <a:extLst>
              <a:ext uri="{FF2B5EF4-FFF2-40B4-BE49-F238E27FC236}">
                <a16:creationId xmlns:a16="http://schemas.microsoft.com/office/drawing/2014/main" id="{6F3A9D6E-EDDB-4EDC-8666-4B6018292B8D}"/>
              </a:ext>
            </a:extLst>
          </p:cNvPr>
          <p:cNvSpPr/>
          <p:nvPr/>
        </p:nvSpPr>
        <p:spPr>
          <a:xfrm>
            <a:off x="10234471" y="3553327"/>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1" name="Rectangle 140">
            <a:extLst>
              <a:ext uri="{FF2B5EF4-FFF2-40B4-BE49-F238E27FC236}">
                <a16:creationId xmlns:a16="http://schemas.microsoft.com/office/drawing/2014/main" id="{C35EA28C-15A1-4424-BA75-E8F8FEFF138D}"/>
              </a:ext>
            </a:extLst>
          </p:cNvPr>
          <p:cNvSpPr/>
          <p:nvPr/>
        </p:nvSpPr>
        <p:spPr>
          <a:xfrm>
            <a:off x="10605529" y="3556642"/>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2" name="Rectangle 141">
            <a:extLst>
              <a:ext uri="{FF2B5EF4-FFF2-40B4-BE49-F238E27FC236}">
                <a16:creationId xmlns:a16="http://schemas.microsoft.com/office/drawing/2014/main" id="{2A5DFF2F-BDC6-4531-A47D-FFF7C8EF799A}"/>
              </a:ext>
            </a:extLst>
          </p:cNvPr>
          <p:cNvSpPr/>
          <p:nvPr/>
        </p:nvSpPr>
        <p:spPr>
          <a:xfrm>
            <a:off x="11006404" y="3550018"/>
            <a:ext cx="298174" cy="317207"/>
          </a:xfrm>
          <a:prstGeom prst="rect">
            <a:avLst/>
          </a:prstGeom>
          <a:solidFill>
            <a:srgbClr val="FFC000"/>
          </a:solidFill>
          <a:ln>
            <a:solidFill>
              <a:srgbClr val="B371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4" name="Straight Connector 173">
            <a:extLst>
              <a:ext uri="{FF2B5EF4-FFF2-40B4-BE49-F238E27FC236}">
                <a16:creationId xmlns:a16="http://schemas.microsoft.com/office/drawing/2014/main" id="{D457C9C3-BA72-4440-AD91-8BA584672F89}"/>
              </a:ext>
            </a:extLst>
          </p:cNvPr>
          <p:cNvCxnSpPr/>
          <p:nvPr/>
        </p:nvCxnSpPr>
        <p:spPr>
          <a:xfrm>
            <a:off x="7394713" y="3336102"/>
            <a:ext cx="1053548" cy="0"/>
          </a:xfrm>
          <a:prstGeom prst="line">
            <a:avLst/>
          </a:prstGeom>
          <a:ln w="31750">
            <a:prstDash val="sysDot"/>
          </a:ln>
        </p:spPr>
        <p:style>
          <a:lnRef idx="1">
            <a:schemeClr val="dk1"/>
          </a:lnRef>
          <a:fillRef idx="0">
            <a:schemeClr val="dk1"/>
          </a:fillRef>
          <a:effectRef idx="0">
            <a:schemeClr val="dk1"/>
          </a:effectRef>
          <a:fontRef idx="minor">
            <a:schemeClr val="tx1"/>
          </a:fontRef>
        </p:style>
      </p:cxnSp>
      <p:sp>
        <p:nvSpPr>
          <p:cNvPr id="175" name="TextBox 174">
            <a:extLst>
              <a:ext uri="{FF2B5EF4-FFF2-40B4-BE49-F238E27FC236}">
                <a16:creationId xmlns:a16="http://schemas.microsoft.com/office/drawing/2014/main" id="{A2709165-AEE1-416F-B20E-5A181BE47C0F}"/>
              </a:ext>
            </a:extLst>
          </p:cNvPr>
          <p:cNvSpPr txBox="1"/>
          <p:nvPr/>
        </p:nvSpPr>
        <p:spPr>
          <a:xfrm>
            <a:off x="4213028" y="5630773"/>
            <a:ext cx="7879208" cy="400110"/>
          </a:xfrm>
          <a:prstGeom prst="rect">
            <a:avLst/>
          </a:prstGeom>
          <a:noFill/>
        </p:spPr>
        <p:txBody>
          <a:bodyPr wrap="none" rtlCol="0">
            <a:spAutoFit/>
          </a:bodyPr>
          <a:lstStyle/>
          <a:p>
            <a:r>
              <a:rPr lang="en-IN" sz="2000" dirty="0">
                <a:solidFill>
                  <a:srgbClr val="C00000"/>
                </a:solidFill>
              </a:rPr>
              <a:t>To what extent, does a vocabulary represent a given training data?</a:t>
            </a:r>
          </a:p>
        </p:txBody>
      </p:sp>
    </p:spTree>
    <p:extLst>
      <p:ext uri="{BB962C8B-B14F-4D97-AF65-F5344CB8AC3E}">
        <p14:creationId xmlns:p14="http://schemas.microsoft.com/office/powerpoint/2010/main" val="1886524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6"/>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7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7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80"/>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1"/>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82"/>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83"/>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84"/>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85"/>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86"/>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87"/>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88"/>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89"/>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90"/>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91"/>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92"/>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93"/>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94"/>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113"/>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14"/>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15"/>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16"/>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17"/>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18"/>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123"/>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124"/>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125"/>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26"/>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127"/>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28"/>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129"/>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30"/>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31"/>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132"/>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133"/>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134"/>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135"/>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136"/>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137"/>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138"/>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139"/>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140"/>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141"/>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142"/>
                                        </p:tgtEl>
                                        <p:attrNameLst>
                                          <p:attrName>style.visibility</p:attrName>
                                        </p:attrNameLst>
                                      </p:cBhvr>
                                      <p:to>
                                        <p:strVal val="visible"/>
                                      </p:to>
                                    </p:set>
                                  </p:childTnLst>
                                </p:cTn>
                              </p:par>
                              <p:par>
                                <p:cTn id="171" presetID="1" presetClass="entr" presetSubtype="0" fill="hold" nodeType="withEffect">
                                  <p:stCondLst>
                                    <p:cond delay="0"/>
                                  </p:stCondLst>
                                  <p:childTnLst>
                                    <p:set>
                                      <p:cBhvr>
                                        <p:cTn id="172" dur="1" fill="hold">
                                          <p:stCondLst>
                                            <p:cond delay="0"/>
                                          </p:stCondLst>
                                        </p:cTn>
                                        <p:tgtEl>
                                          <p:spTgt spid="174"/>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grpId="0" nodeType="clickEffect">
                                  <p:stCondLst>
                                    <p:cond delay="0"/>
                                  </p:stCondLst>
                                  <p:childTnLst>
                                    <p:set>
                                      <p:cBhvr>
                                        <p:cTn id="176" dur="1" fill="hold">
                                          <p:stCondLst>
                                            <p:cond delay="0"/>
                                          </p:stCondLst>
                                        </p:cTn>
                                        <p:tgtEl>
                                          <p:spTgt spid="1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101" grpId="0" animBg="1"/>
      <p:bldP spid="102" grpId="0" animBg="1"/>
      <p:bldP spid="103" grpId="0" animBg="1"/>
      <p:bldP spid="104" grpId="0" animBg="1"/>
      <p:bldP spid="105" grpId="0" animBg="1"/>
      <p:bldP spid="106" grpId="0" animBg="1"/>
      <p:bldP spid="113" grpId="0" animBg="1"/>
      <p:bldP spid="114" grpId="0" animBg="1"/>
      <p:bldP spid="115" grpId="0" animBg="1"/>
      <p:bldP spid="116" grpId="0" animBg="1"/>
      <p:bldP spid="117" grpId="0" animBg="1"/>
      <p:bldP spid="118" grpId="0" animBg="1"/>
      <p:bldP spid="121" grpId="0"/>
      <p:bldP spid="122" grpId="0"/>
      <p:bldP spid="123" grpId="0"/>
      <p:bldP spid="124" grpId="0"/>
      <p:bldP spid="125" grpId="0" animBg="1"/>
      <p:bldP spid="126" grpId="0" animBg="1"/>
      <p:bldP spid="127" grpId="0" animBg="1"/>
      <p:bldP spid="128" grpId="0" animBg="1"/>
      <p:bldP spid="129" grpId="0" animBg="1"/>
      <p:bldP spid="130" grpId="0" animBg="1"/>
      <p:bldP spid="131" grpId="0" animBg="1"/>
      <p:bldP spid="132" grpId="0" animBg="1"/>
      <p:bldP spid="133" grpId="0" animBg="1"/>
      <p:bldP spid="134" grpId="0" animBg="1"/>
      <p:bldP spid="135" grpId="0" animBg="1"/>
      <p:bldP spid="136" grpId="0" animBg="1"/>
      <p:bldP spid="137" grpId="0" animBg="1"/>
      <p:bldP spid="138" grpId="0" animBg="1"/>
      <p:bldP spid="139" grpId="0" animBg="1"/>
      <p:bldP spid="140" grpId="0" animBg="1"/>
      <p:bldP spid="141" grpId="0" animBg="1"/>
      <p:bldP spid="142" grpId="0" animBg="1"/>
      <p:bldP spid="17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1712B-0D88-4CCC-A8C0-F2C3173CB91E}"/>
              </a:ext>
            </a:extLst>
          </p:cNvPr>
          <p:cNvSpPr>
            <a:spLocks noGrp="1"/>
          </p:cNvSpPr>
          <p:nvPr>
            <p:ph type="title"/>
          </p:nvPr>
        </p:nvSpPr>
        <p:spPr/>
        <p:txBody>
          <a:bodyPr/>
          <a:lstStyle/>
          <a:p>
            <a:r>
              <a:rPr lang="en-IN" dirty="0" err="1"/>
              <a:t>SentencePiece</a:t>
            </a:r>
            <a:r>
              <a:rPr lang="en-IN" dirty="0"/>
              <a:t>: Unigram Tokenizer</a:t>
            </a:r>
          </a:p>
        </p:txBody>
      </p:sp>
      <p:sp>
        <p:nvSpPr>
          <p:cNvPr id="4" name="Slide Number Placeholder 3">
            <a:extLst>
              <a:ext uri="{FF2B5EF4-FFF2-40B4-BE49-F238E27FC236}">
                <a16:creationId xmlns:a16="http://schemas.microsoft.com/office/drawing/2014/main" id="{010804F8-B22E-4ACF-B321-FD1EF97A15D1}"/>
              </a:ext>
            </a:extLst>
          </p:cNvPr>
          <p:cNvSpPr>
            <a:spLocks noGrp="1"/>
          </p:cNvSpPr>
          <p:nvPr>
            <p:ph type="sldNum" sz="quarter" idx="12"/>
          </p:nvPr>
        </p:nvSpPr>
        <p:spPr/>
        <p:txBody>
          <a:bodyPr/>
          <a:lstStyle/>
          <a:p>
            <a:fld id="{FF2BD96E-3838-45D2-9031-D3AF67C920A5}" type="slidenum">
              <a:rPr lang="en-US" smtClean="0"/>
              <a:t>19</a:t>
            </a:fld>
            <a:endParaRPr lang="en-US"/>
          </a:p>
        </p:txBody>
      </p:sp>
      <p:sp>
        <p:nvSpPr>
          <p:cNvPr id="5" name="TextBox 4">
            <a:extLst>
              <a:ext uri="{FF2B5EF4-FFF2-40B4-BE49-F238E27FC236}">
                <a16:creationId xmlns:a16="http://schemas.microsoft.com/office/drawing/2014/main" id="{984BB8AA-1680-4A0F-B2FA-F564AB365309}"/>
              </a:ext>
            </a:extLst>
          </p:cNvPr>
          <p:cNvSpPr txBox="1"/>
          <p:nvPr/>
        </p:nvSpPr>
        <p:spPr>
          <a:xfrm>
            <a:off x="1368300" y="908685"/>
            <a:ext cx="9434955" cy="461665"/>
          </a:xfrm>
          <a:prstGeom prst="rect">
            <a:avLst/>
          </a:prstGeom>
          <a:noFill/>
        </p:spPr>
        <p:txBody>
          <a:bodyPr wrap="none" rtlCol="0">
            <a:spAutoFit/>
          </a:bodyPr>
          <a:lstStyle/>
          <a:p>
            <a:r>
              <a:rPr lang="en-IN" sz="2400" dirty="0">
                <a:solidFill>
                  <a:srgbClr val="0070C0"/>
                </a:solidFill>
              </a:rPr>
              <a:t>To what extent, does a vocabulary represent a given training data?</a:t>
            </a:r>
          </a:p>
        </p:txBody>
      </p:sp>
      <p:sp>
        <p:nvSpPr>
          <p:cNvPr id="6" name="TextBox 5">
            <a:extLst>
              <a:ext uri="{FF2B5EF4-FFF2-40B4-BE49-F238E27FC236}">
                <a16:creationId xmlns:a16="http://schemas.microsoft.com/office/drawing/2014/main" id="{6FCF815B-A50B-4A81-B369-FE1284F5C07D}"/>
              </a:ext>
            </a:extLst>
          </p:cNvPr>
          <p:cNvSpPr txBox="1"/>
          <p:nvPr/>
        </p:nvSpPr>
        <p:spPr>
          <a:xfrm>
            <a:off x="997006" y="2102127"/>
            <a:ext cx="3809826" cy="400110"/>
          </a:xfrm>
          <a:prstGeom prst="rect">
            <a:avLst/>
          </a:prstGeom>
          <a:noFill/>
        </p:spPr>
        <p:txBody>
          <a:bodyPr wrap="none" rtlCol="0">
            <a:spAutoFit/>
          </a:bodyPr>
          <a:lstStyle/>
          <a:p>
            <a:r>
              <a:rPr lang="en-IN" sz="2000" dirty="0">
                <a:solidFill>
                  <a:srgbClr val="C00000"/>
                </a:solidFill>
              </a:rPr>
              <a:t>Probabilistic Language Model: </a:t>
            </a:r>
          </a:p>
        </p:txBody>
      </p:sp>
      <p:sp>
        <p:nvSpPr>
          <p:cNvPr id="7" name="TextBox 6">
            <a:extLst>
              <a:ext uri="{FF2B5EF4-FFF2-40B4-BE49-F238E27FC236}">
                <a16:creationId xmlns:a16="http://schemas.microsoft.com/office/drawing/2014/main" id="{58C68380-3CEE-4FC1-9A2C-66EB139D6E57}"/>
              </a:ext>
            </a:extLst>
          </p:cNvPr>
          <p:cNvSpPr txBox="1"/>
          <p:nvPr/>
        </p:nvSpPr>
        <p:spPr>
          <a:xfrm>
            <a:off x="2103592" y="1462106"/>
            <a:ext cx="7361118" cy="400110"/>
          </a:xfrm>
          <a:prstGeom prst="rect">
            <a:avLst/>
          </a:prstGeom>
          <a:noFill/>
        </p:spPr>
        <p:txBody>
          <a:bodyPr wrap="none" rtlCol="0">
            <a:spAutoFit/>
          </a:bodyPr>
          <a:lstStyle/>
          <a:p>
            <a:r>
              <a:rPr lang="en-IN" sz="2000" dirty="0"/>
              <a:t>What is the </a:t>
            </a:r>
            <a:r>
              <a:rPr lang="en-IN" sz="2000" dirty="0">
                <a:solidFill>
                  <a:srgbClr val="C00000"/>
                </a:solidFill>
              </a:rPr>
              <a:t>likelihood</a:t>
            </a:r>
            <a:r>
              <a:rPr lang="en-IN" sz="2000" dirty="0"/>
              <a:t> of the training data given a vocabulary?</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4D135ED-8029-4ECF-B36F-4E7542DC26CF}"/>
                  </a:ext>
                </a:extLst>
              </p:cNvPr>
              <p:cNvSpPr txBox="1"/>
              <p:nvPr/>
            </p:nvSpPr>
            <p:spPr>
              <a:xfrm>
                <a:off x="1856633" y="2603648"/>
                <a:ext cx="791101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𝑃</m:t>
                      </m:r>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r>
                            <a:rPr lang="en-IN" b="0" i="1" smtClean="0">
                              <a:latin typeface="Cambria Math" panose="02040503050406030204" pitchFamily="18" charset="0"/>
                            </a:rPr>
                            <m:t>, ….,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𝑁</m:t>
                              </m:r>
                            </m:sub>
                          </m:sSub>
                        </m:e>
                      </m:d>
                      <m:r>
                        <a:rPr lang="en-IN" b="0" i="1" smtClean="0">
                          <a:latin typeface="Cambria Math" panose="02040503050406030204" pitchFamily="18" charset="0"/>
                        </a:rPr>
                        <m:t>=</m:t>
                      </m:r>
                      <m:r>
                        <a:rPr lang="en-IN" b="0" i="1" smtClean="0">
                          <a:latin typeface="Cambria Math" panose="02040503050406030204" pitchFamily="18" charset="0"/>
                        </a:rPr>
                        <m:t>𝑃</m:t>
                      </m:r>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e>
                      </m:d>
                      <m:r>
                        <a:rPr lang="en-IN" b="0" i="1" smtClean="0">
                          <a:latin typeface="Cambria Math" panose="02040503050406030204" pitchFamily="18" charset="0"/>
                        </a:rPr>
                        <m:t>×</m:t>
                      </m:r>
                      <m:r>
                        <a:rPr lang="en-IN" b="0" i="1" smtClean="0">
                          <a:latin typeface="Cambria Math" panose="02040503050406030204" pitchFamily="18" charset="0"/>
                        </a:rPr>
                        <m:t>𝑃</m:t>
                      </m:r>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e>
                        <m:e>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e>
                      </m:d>
                      <m:r>
                        <a:rPr lang="en-IN" b="0" i="1" smtClean="0">
                          <a:latin typeface="Cambria Math" panose="02040503050406030204" pitchFamily="18" charset="0"/>
                        </a:rPr>
                        <m:t>×</m:t>
                      </m:r>
                      <m:r>
                        <a:rPr lang="en-IN" b="0" i="1" smtClean="0">
                          <a:latin typeface="Cambria Math" panose="02040503050406030204" pitchFamily="18" charset="0"/>
                        </a:rPr>
                        <m:t>𝑃</m:t>
                      </m:r>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3</m:t>
                              </m:r>
                            </m:sub>
                          </m:sSub>
                        </m:e>
                        <m:e>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e>
                      </m:d>
                      <m:r>
                        <a:rPr lang="en-IN" b="0" i="1" smtClean="0">
                          <a:latin typeface="Cambria Math" panose="02040503050406030204" pitchFamily="18" charset="0"/>
                        </a:rPr>
                        <m:t>×…×</m:t>
                      </m:r>
                      <m:r>
                        <a:rPr lang="en-IN" b="0" i="1" smtClean="0">
                          <a:latin typeface="Cambria Math" panose="02040503050406030204" pitchFamily="18" charset="0"/>
                        </a:rPr>
                        <m:t>𝑃</m:t>
                      </m:r>
                      <m:d>
                        <m:dPr>
                          <m:endChr m:val="|"/>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𝑁</m:t>
                              </m:r>
                            </m:sub>
                          </m:sSub>
                        </m:e>
                      </m:d>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𝑁</m:t>
                          </m:r>
                          <m:r>
                            <a:rPr lang="en-IN" b="0" i="1" smtClean="0">
                              <a:latin typeface="Cambria Math" panose="02040503050406030204" pitchFamily="18" charset="0"/>
                            </a:rPr>
                            <m:t>−1</m:t>
                          </m:r>
                        </m:sub>
                      </m:sSub>
                      <m:r>
                        <a:rPr lang="en-IN" b="0" i="1" smtClean="0">
                          <a:latin typeface="Cambria Math" panose="02040503050406030204" pitchFamily="18" charset="0"/>
                        </a:rPr>
                        <m:t>)</m:t>
                      </m:r>
                    </m:oMath>
                  </m:oMathPara>
                </a14:m>
                <a:endParaRPr lang="en-IN" dirty="0"/>
              </a:p>
            </p:txBody>
          </p:sp>
        </mc:Choice>
        <mc:Fallback xmlns="">
          <p:sp>
            <p:nvSpPr>
              <p:cNvPr id="8" name="TextBox 7">
                <a:extLst>
                  <a:ext uri="{FF2B5EF4-FFF2-40B4-BE49-F238E27FC236}">
                    <a16:creationId xmlns:a16="http://schemas.microsoft.com/office/drawing/2014/main" id="{94D135ED-8029-4ECF-B36F-4E7542DC26CF}"/>
                  </a:ext>
                </a:extLst>
              </p:cNvPr>
              <p:cNvSpPr txBox="1">
                <a:spLocks noRot="1" noChangeAspect="1" noMove="1" noResize="1" noEditPoints="1" noAdjustHandles="1" noChangeArrowheads="1" noChangeShapeType="1" noTextEdit="1"/>
              </p:cNvSpPr>
              <p:nvPr/>
            </p:nvSpPr>
            <p:spPr>
              <a:xfrm>
                <a:off x="1856633" y="2603648"/>
                <a:ext cx="7911012" cy="276999"/>
              </a:xfrm>
              <a:prstGeom prst="rect">
                <a:avLst/>
              </a:prstGeom>
              <a:blipFill>
                <a:blip r:embed="rId2"/>
                <a:stretch>
                  <a:fillRect l="-231" r="-694" b="-34783"/>
                </a:stretch>
              </a:blipFill>
            </p:spPr>
            <p:txBody>
              <a:bodyPr/>
              <a:lstStyle/>
              <a:p>
                <a:r>
                  <a:rPr lang="en-IN">
                    <a:noFill/>
                  </a:rPr>
                  <a:t> </a:t>
                </a:r>
              </a:p>
            </p:txBody>
          </p:sp>
        </mc:Fallback>
      </mc:AlternateContent>
      <p:sp>
        <p:nvSpPr>
          <p:cNvPr id="9" name="TextBox 8">
            <a:extLst>
              <a:ext uri="{FF2B5EF4-FFF2-40B4-BE49-F238E27FC236}">
                <a16:creationId xmlns:a16="http://schemas.microsoft.com/office/drawing/2014/main" id="{D1F8F144-6BBA-4118-83E6-F1A37E85C6E1}"/>
              </a:ext>
            </a:extLst>
          </p:cNvPr>
          <p:cNvSpPr txBox="1"/>
          <p:nvPr/>
        </p:nvSpPr>
        <p:spPr>
          <a:xfrm>
            <a:off x="997006" y="3388252"/>
            <a:ext cx="3393942" cy="400110"/>
          </a:xfrm>
          <a:prstGeom prst="rect">
            <a:avLst/>
          </a:prstGeom>
          <a:noFill/>
        </p:spPr>
        <p:txBody>
          <a:bodyPr wrap="none" rtlCol="0">
            <a:spAutoFit/>
          </a:bodyPr>
          <a:lstStyle/>
          <a:p>
            <a:r>
              <a:rPr lang="en-IN" sz="2000" dirty="0">
                <a:solidFill>
                  <a:srgbClr val="C00000"/>
                </a:solidFill>
              </a:rPr>
              <a:t>Unigram Language Model: </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B560CEC-0143-408E-B2FC-8B2CC2615354}"/>
                  </a:ext>
                </a:extLst>
              </p:cNvPr>
              <p:cNvSpPr txBox="1"/>
              <p:nvPr/>
            </p:nvSpPr>
            <p:spPr>
              <a:xfrm>
                <a:off x="1828645" y="3977354"/>
                <a:ext cx="556030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𝑃</m:t>
                      </m:r>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r>
                            <a:rPr lang="en-IN" b="0" i="1" smtClean="0">
                              <a:latin typeface="Cambria Math" panose="02040503050406030204" pitchFamily="18" charset="0"/>
                            </a:rPr>
                            <m:t>, ….,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𝑁</m:t>
                              </m:r>
                            </m:sub>
                          </m:sSub>
                        </m:e>
                      </m:d>
                      <m:r>
                        <a:rPr lang="en-IN" b="0" i="1" smtClean="0">
                          <a:latin typeface="Cambria Math" panose="02040503050406030204" pitchFamily="18" charset="0"/>
                        </a:rPr>
                        <m:t>=</m:t>
                      </m:r>
                      <m:r>
                        <a:rPr lang="en-IN" b="0" i="1" smtClean="0">
                          <a:latin typeface="Cambria Math" panose="02040503050406030204" pitchFamily="18" charset="0"/>
                        </a:rPr>
                        <m:t>𝑃</m:t>
                      </m:r>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e>
                      </m:d>
                      <m:r>
                        <a:rPr lang="en-IN" b="0" i="1" smtClean="0">
                          <a:latin typeface="Cambria Math" panose="02040503050406030204" pitchFamily="18" charset="0"/>
                        </a:rPr>
                        <m:t>×</m:t>
                      </m:r>
                      <m:r>
                        <a:rPr lang="en-IN" b="0" i="1" smtClean="0">
                          <a:latin typeface="Cambria Math" panose="02040503050406030204" pitchFamily="18" charset="0"/>
                        </a:rPr>
                        <m:t>𝑃</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r>
                        <a:rPr lang="en-IN" b="0" i="1" smtClean="0">
                          <a:latin typeface="Cambria Math" panose="02040503050406030204" pitchFamily="18" charset="0"/>
                        </a:rPr>
                        <m:t>)×</m:t>
                      </m:r>
                      <m:r>
                        <a:rPr lang="en-IN" b="0" i="1" smtClean="0">
                          <a:latin typeface="Cambria Math" panose="02040503050406030204" pitchFamily="18" charset="0"/>
                        </a:rPr>
                        <m:t>𝑃</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3</m:t>
                          </m:r>
                        </m:sub>
                      </m:sSub>
                      <m:r>
                        <a:rPr lang="en-IN" b="0" i="1" smtClean="0">
                          <a:latin typeface="Cambria Math" panose="02040503050406030204" pitchFamily="18" charset="0"/>
                        </a:rPr>
                        <m:t>)×…×</m:t>
                      </m:r>
                      <m:r>
                        <a:rPr lang="en-IN" b="0" i="1" smtClean="0">
                          <a:latin typeface="Cambria Math" panose="02040503050406030204" pitchFamily="18" charset="0"/>
                        </a:rPr>
                        <m:t>𝑃</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𝑁</m:t>
                          </m:r>
                        </m:sub>
                      </m:sSub>
                      <m:r>
                        <a:rPr lang="en-IN" b="0" i="1" smtClean="0">
                          <a:latin typeface="Cambria Math" panose="02040503050406030204" pitchFamily="18" charset="0"/>
                        </a:rPr>
                        <m:t>)</m:t>
                      </m:r>
                    </m:oMath>
                  </m:oMathPara>
                </a14:m>
                <a:endParaRPr lang="en-IN" dirty="0"/>
              </a:p>
            </p:txBody>
          </p:sp>
        </mc:Choice>
        <mc:Fallback xmlns="">
          <p:sp>
            <p:nvSpPr>
              <p:cNvPr id="10" name="TextBox 9">
                <a:extLst>
                  <a:ext uri="{FF2B5EF4-FFF2-40B4-BE49-F238E27FC236}">
                    <a16:creationId xmlns:a16="http://schemas.microsoft.com/office/drawing/2014/main" id="{4B560CEC-0143-408E-B2FC-8B2CC2615354}"/>
                  </a:ext>
                </a:extLst>
              </p:cNvPr>
              <p:cNvSpPr txBox="1">
                <a:spLocks noRot="1" noChangeAspect="1" noMove="1" noResize="1" noEditPoints="1" noAdjustHandles="1" noChangeArrowheads="1" noChangeShapeType="1" noTextEdit="1"/>
              </p:cNvSpPr>
              <p:nvPr/>
            </p:nvSpPr>
            <p:spPr>
              <a:xfrm>
                <a:off x="1828645" y="3977354"/>
                <a:ext cx="5560305" cy="276999"/>
              </a:xfrm>
              <a:prstGeom prst="rect">
                <a:avLst/>
              </a:prstGeom>
              <a:blipFill>
                <a:blip r:embed="rId3"/>
                <a:stretch>
                  <a:fillRect l="-219" r="-768" b="-3478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50BE44D-5097-4D7C-9442-82CB490AB056}"/>
                  </a:ext>
                </a:extLst>
              </p:cNvPr>
              <p:cNvSpPr txBox="1"/>
              <p:nvPr/>
            </p:nvSpPr>
            <p:spPr>
              <a:xfrm>
                <a:off x="1755316" y="4472245"/>
                <a:ext cx="4372159" cy="369332"/>
              </a:xfrm>
              <a:prstGeom prst="rect">
                <a:avLst/>
              </a:prstGeom>
              <a:noFill/>
            </p:spPr>
            <p:txBody>
              <a:bodyPr wrap="none" rtlCol="0">
                <a:spAutoFit/>
              </a:bodyPr>
              <a:lstStyle/>
              <a:p>
                <a:r>
                  <a:rPr lang="en-IN" dirty="0"/>
                  <a:t>For a given sequence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r>
                      <a:rPr lang="en-IN" b="0" i="1" smtClean="0">
                        <a:latin typeface="Cambria Math" panose="02040503050406030204" pitchFamily="18" charset="0"/>
                      </a:rPr>
                      <m:t>, ….,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𝑁</m:t>
                        </m:r>
                      </m:sub>
                    </m:sSub>
                    <m:r>
                      <a:rPr lang="en-IN" b="0" i="1" smtClean="0">
                        <a:latin typeface="Cambria Math" panose="02040503050406030204" pitchFamily="18" charset="0"/>
                      </a:rPr>
                      <m:t> </m:t>
                    </m:r>
                  </m:oMath>
                </a14:m>
                <a:r>
                  <a:rPr lang="en-IN" dirty="0"/>
                  <a:t>: </a:t>
                </a:r>
              </a:p>
            </p:txBody>
          </p:sp>
        </mc:Choice>
        <mc:Fallback xmlns="">
          <p:sp>
            <p:nvSpPr>
              <p:cNvPr id="11" name="TextBox 10">
                <a:extLst>
                  <a:ext uri="{FF2B5EF4-FFF2-40B4-BE49-F238E27FC236}">
                    <a16:creationId xmlns:a16="http://schemas.microsoft.com/office/drawing/2014/main" id="{B50BE44D-5097-4D7C-9442-82CB490AB056}"/>
                  </a:ext>
                </a:extLst>
              </p:cNvPr>
              <p:cNvSpPr txBox="1">
                <a:spLocks noRot="1" noChangeAspect="1" noMove="1" noResize="1" noEditPoints="1" noAdjustHandles="1" noChangeArrowheads="1" noChangeShapeType="1" noTextEdit="1"/>
              </p:cNvSpPr>
              <p:nvPr/>
            </p:nvSpPr>
            <p:spPr>
              <a:xfrm>
                <a:off x="1755316" y="4472245"/>
                <a:ext cx="4372159" cy="369332"/>
              </a:xfrm>
              <a:prstGeom prst="rect">
                <a:avLst/>
              </a:prstGeom>
              <a:blipFill>
                <a:blip r:embed="rId4"/>
                <a:stretch>
                  <a:fillRect l="-1255" t="-8333" r="-139" b="-28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E07D1E9-18D9-40CA-82F5-8ACA59DAF091}"/>
                  </a:ext>
                </a:extLst>
              </p:cNvPr>
              <p:cNvSpPr txBox="1"/>
              <p:nvPr/>
            </p:nvSpPr>
            <p:spPr>
              <a:xfrm>
                <a:off x="1856633" y="4784031"/>
                <a:ext cx="6096000" cy="9003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𝑃</m:t>
                      </m:r>
                      <m:d>
                        <m:dPr>
                          <m:ctrlPr>
                            <a:rPr lang="en-IN" b="0" i="1" smtClean="0">
                              <a:latin typeface="Cambria Math" panose="02040503050406030204" pitchFamily="18" charset="0"/>
                            </a:rPr>
                          </m:ctrlPr>
                        </m:dPr>
                        <m:e>
                          <m:r>
                            <a:rPr lang="en-IN" b="0" i="1" smtClean="0">
                              <a:latin typeface="Cambria Math" panose="02040503050406030204" pitchFamily="18" charset="0"/>
                            </a:rPr>
                            <m:t>𝑥</m:t>
                          </m:r>
                        </m:e>
                      </m:d>
                      <m:r>
                        <a:rPr lang="en-IN" b="0" i="1" smtClean="0">
                          <a:latin typeface="Cambria Math" panose="02040503050406030204" pitchFamily="18" charset="0"/>
                        </a:rPr>
                        <m:t>=</m:t>
                      </m:r>
                      <m:nary>
                        <m:naryPr>
                          <m:chr m:val="∏"/>
                          <m:ctrlPr>
                            <a:rPr lang="en-IN" b="0" i="1" smtClean="0">
                              <a:latin typeface="Cambria Math" panose="02040503050406030204" pitchFamily="18" charset="0"/>
                            </a:rPr>
                          </m:ctrlPr>
                        </m:naryPr>
                        <m:sub>
                          <m:r>
                            <m:rPr>
                              <m:brk m:alnAt="23"/>
                            </m:rPr>
                            <a:rPr lang="en-IN" b="0" i="1" smtClean="0">
                              <a:latin typeface="Cambria Math" panose="02040503050406030204" pitchFamily="18" charset="0"/>
                            </a:rPr>
                            <m:t>𝑖</m:t>
                          </m:r>
                          <m:r>
                            <a:rPr lang="en-IN" b="0" i="1" smtClean="0">
                              <a:latin typeface="Cambria Math" panose="02040503050406030204" pitchFamily="18" charset="0"/>
                            </a:rPr>
                            <m:t>=1</m:t>
                          </m:r>
                        </m:sub>
                        <m:sup>
                          <m:r>
                            <a:rPr lang="en-IN" b="0" i="1" smtClean="0">
                              <a:latin typeface="Cambria Math" panose="02040503050406030204" pitchFamily="18" charset="0"/>
                            </a:rPr>
                            <m:t>𝑁</m:t>
                          </m:r>
                        </m:sup>
                        <m:e>
                          <m:r>
                            <a:rPr lang="en-IN" b="0" i="1" smtClean="0">
                              <a:latin typeface="Cambria Math" panose="02040503050406030204" pitchFamily="18" charset="0"/>
                            </a:rPr>
                            <m:t>𝑃</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𝑖</m:t>
                              </m:r>
                            </m:sub>
                          </m:sSub>
                          <m:r>
                            <a:rPr lang="en-IN" b="0" i="1" smtClean="0">
                              <a:latin typeface="Cambria Math" panose="02040503050406030204" pitchFamily="18" charset="0"/>
                            </a:rPr>
                            <m:t>)</m:t>
                          </m:r>
                        </m:e>
                      </m:nary>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m:t>
                          </m:r>
                        </m:e>
                        <m:sub>
                          <m:r>
                            <a:rPr lang="en-IN" b="0" i="1" smtClean="0">
                              <a:latin typeface="Cambria Math" panose="02040503050406030204" pitchFamily="18" charset="0"/>
                            </a:rPr>
                            <m:t>𝑖</m:t>
                          </m:r>
                        </m:sub>
                      </m:sSub>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𝑖</m:t>
                          </m:r>
                        </m:sub>
                      </m:sSub>
                      <m:r>
                        <a:rPr lang="en-IN" b="0" i="1" smtClean="0">
                          <a:latin typeface="Cambria Math" panose="02040503050406030204" pitchFamily="18" charset="0"/>
                        </a:rPr>
                        <m:t>∈</m:t>
                      </m:r>
                      <m:r>
                        <a:rPr lang="en-IN" b="0" i="1" smtClean="0">
                          <a:latin typeface="Cambria Math" panose="02040503050406030204" pitchFamily="18" charset="0"/>
                          <a:ea typeface="Cambria Math" panose="02040503050406030204" pitchFamily="18" charset="0"/>
                        </a:rPr>
                        <m:t>𝒱</m:t>
                      </m:r>
                      <m:r>
                        <a:rPr lang="en-IN" b="0" i="1" smtClean="0">
                          <a:latin typeface="Cambria Math" panose="02040503050406030204" pitchFamily="18" charset="0"/>
                          <a:ea typeface="Cambria Math" panose="02040503050406030204" pitchFamily="18" charset="0"/>
                        </a:rPr>
                        <m:t>, </m:t>
                      </m:r>
                      <m:nary>
                        <m:naryPr>
                          <m:chr m:val="∑"/>
                          <m:supHide m:val="on"/>
                          <m:ctrlPr>
                            <a:rPr lang="en-IN" b="0" i="1" smtClean="0">
                              <a:latin typeface="Cambria Math" panose="02040503050406030204" pitchFamily="18" charset="0"/>
                              <a:ea typeface="Cambria Math" panose="02040503050406030204" pitchFamily="18" charset="0"/>
                            </a:rPr>
                          </m:ctrlPr>
                        </m:naryPr>
                        <m:sub>
                          <m:r>
                            <m:rPr>
                              <m:brk m:alnAt="7"/>
                            </m:rPr>
                            <a:rPr lang="en-IN" b="0" i="1" smtClean="0">
                              <a:latin typeface="Cambria Math" panose="02040503050406030204" pitchFamily="18" charset="0"/>
                              <a:ea typeface="Cambria Math" panose="02040503050406030204" pitchFamily="18" charset="0"/>
                            </a:rPr>
                            <m:t>𝑥</m:t>
                          </m:r>
                          <m:r>
                            <a:rPr lang="en-IN" i="1">
                              <a:latin typeface="Cambria Math" panose="02040503050406030204" pitchFamily="18" charset="0"/>
                              <a:ea typeface="Cambria Math" panose="02040503050406030204" pitchFamily="18" charset="0"/>
                            </a:rPr>
                            <m:t>∈</m:t>
                          </m:r>
                          <m:r>
                            <a:rPr lang="en-IN" i="1">
                              <a:latin typeface="Cambria Math" panose="02040503050406030204" pitchFamily="18" charset="0"/>
                              <a:ea typeface="Cambria Math" panose="02040503050406030204" pitchFamily="18" charset="0"/>
                            </a:rPr>
                            <m:t>𝒱</m:t>
                          </m:r>
                        </m:sub>
                        <m:sup/>
                        <m:e>
                          <m:r>
                            <a:rPr lang="en-IN" b="0" i="1" smtClean="0">
                              <a:latin typeface="Cambria Math" panose="02040503050406030204" pitchFamily="18" charset="0"/>
                              <a:ea typeface="Cambria Math" panose="02040503050406030204" pitchFamily="18" charset="0"/>
                            </a:rPr>
                            <m:t>𝑃</m:t>
                          </m:r>
                          <m:d>
                            <m:dPr>
                              <m:ctrlPr>
                                <a:rPr lang="en-IN" b="0" i="1" smtClean="0">
                                  <a:latin typeface="Cambria Math" panose="02040503050406030204" pitchFamily="18" charset="0"/>
                                  <a:ea typeface="Cambria Math" panose="02040503050406030204" pitchFamily="18" charset="0"/>
                                </a:rPr>
                              </m:ctrlPr>
                            </m:dPr>
                            <m:e>
                              <m:r>
                                <a:rPr lang="en-IN" b="0" i="1" smtClean="0">
                                  <a:latin typeface="Cambria Math" panose="02040503050406030204" pitchFamily="18" charset="0"/>
                                  <a:ea typeface="Cambria Math" panose="02040503050406030204" pitchFamily="18" charset="0"/>
                                </a:rPr>
                                <m:t>𝑥</m:t>
                              </m:r>
                            </m:e>
                          </m:d>
                          <m:r>
                            <a:rPr lang="en-IN" b="0" i="1" smtClean="0">
                              <a:latin typeface="Cambria Math" panose="02040503050406030204" pitchFamily="18" charset="0"/>
                              <a:ea typeface="Cambria Math" panose="02040503050406030204" pitchFamily="18" charset="0"/>
                            </a:rPr>
                            <m:t>=1</m:t>
                          </m:r>
                        </m:e>
                      </m:nary>
                    </m:oMath>
                  </m:oMathPara>
                </a14:m>
                <a:endParaRPr lang="en-IN" dirty="0"/>
              </a:p>
            </p:txBody>
          </p:sp>
        </mc:Choice>
        <mc:Fallback xmlns="">
          <p:sp>
            <p:nvSpPr>
              <p:cNvPr id="13" name="TextBox 12">
                <a:extLst>
                  <a:ext uri="{FF2B5EF4-FFF2-40B4-BE49-F238E27FC236}">
                    <a16:creationId xmlns:a16="http://schemas.microsoft.com/office/drawing/2014/main" id="{0E07D1E9-18D9-40CA-82F5-8ACA59DAF091}"/>
                  </a:ext>
                </a:extLst>
              </p:cNvPr>
              <p:cNvSpPr txBox="1">
                <a:spLocks noRot="1" noChangeAspect="1" noMove="1" noResize="1" noEditPoints="1" noAdjustHandles="1" noChangeArrowheads="1" noChangeShapeType="1" noTextEdit="1"/>
              </p:cNvSpPr>
              <p:nvPr/>
            </p:nvSpPr>
            <p:spPr>
              <a:xfrm>
                <a:off x="1856633" y="4784031"/>
                <a:ext cx="6096000" cy="900375"/>
              </a:xfrm>
              <a:prstGeom prst="rect">
                <a:avLst/>
              </a:prstGeom>
              <a:blipFill>
                <a:blip r:embed="rId5"/>
                <a:stretch>
                  <a:fillRect/>
                </a:stretch>
              </a:blipFill>
            </p:spPr>
            <p:txBody>
              <a:bodyPr/>
              <a:lstStyle/>
              <a:p>
                <a:r>
                  <a:rPr lang="en-IN">
                    <a:noFill/>
                  </a:rPr>
                  <a:t> </a:t>
                </a:r>
              </a:p>
            </p:txBody>
          </p:sp>
        </mc:Fallback>
      </mc:AlternateContent>
      <p:sp>
        <p:nvSpPr>
          <p:cNvPr id="15" name="TextBox 14">
            <a:extLst>
              <a:ext uri="{FF2B5EF4-FFF2-40B4-BE49-F238E27FC236}">
                <a16:creationId xmlns:a16="http://schemas.microsoft.com/office/drawing/2014/main" id="{F05640A5-FEA9-4224-BAA4-21D4D34673ED}"/>
              </a:ext>
            </a:extLst>
          </p:cNvPr>
          <p:cNvSpPr txBox="1"/>
          <p:nvPr/>
        </p:nvSpPr>
        <p:spPr>
          <a:xfrm>
            <a:off x="973391" y="5949315"/>
            <a:ext cx="9621520" cy="276999"/>
          </a:xfrm>
          <a:prstGeom prst="rect">
            <a:avLst/>
          </a:prstGeom>
          <a:noFill/>
        </p:spPr>
        <p:txBody>
          <a:bodyPr wrap="square">
            <a:spAutoFit/>
          </a:bodyPr>
          <a:lstStyle/>
          <a:p>
            <a:r>
              <a:rPr lang="en-IN" sz="1200" dirty="0"/>
              <a:t>Kudo, </a:t>
            </a:r>
            <a:r>
              <a:rPr lang="en-US" sz="1200" dirty="0">
                <a:hlinkClick r:id="rId6"/>
              </a:rPr>
              <a:t>Subword Regularization: Improving Neural Network Translation Models with Multiple Subword Candidates</a:t>
            </a:r>
            <a:r>
              <a:rPr lang="en-US" sz="1200" dirty="0"/>
              <a:t> (Section 3) </a:t>
            </a:r>
            <a:endParaRPr lang="en-IN" sz="1200" dirty="0"/>
          </a:p>
        </p:txBody>
      </p:sp>
      <p:sp>
        <p:nvSpPr>
          <p:cNvPr id="18" name="TextBox 17">
            <a:extLst>
              <a:ext uri="{FF2B5EF4-FFF2-40B4-BE49-F238E27FC236}">
                <a16:creationId xmlns:a16="http://schemas.microsoft.com/office/drawing/2014/main" id="{61D9443D-E5B9-4CCF-B752-D7A91730E518}"/>
              </a:ext>
            </a:extLst>
          </p:cNvPr>
          <p:cNvSpPr txBox="1"/>
          <p:nvPr/>
        </p:nvSpPr>
        <p:spPr>
          <a:xfrm>
            <a:off x="997006" y="6393660"/>
            <a:ext cx="6096000" cy="276999"/>
          </a:xfrm>
          <a:prstGeom prst="rect">
            <a:avLst/>
          </a:prstGeom>
          <a:noFill/>
        </p:spPr>
        <p:txBody>
          <a:bodyPr wrap="square">
            <a:spAutoFit/>
          </a:bodyPr>
          <a:lstStyle/>
          <a:p>
            <a:r>
              <a:rPr lang="en-IN" sz="1200" b="0" i="0" dirty="0">
                <a:solidFill>
                  <a:srgbClr val="444444"/>
                </a:solidFill>
                <a:effectLst/>
                <a:latin typeface="Roboto" panose="02000000000000000000" pitchFamily="2" charset="0"/>
              </a:rPr>
              <a:t>Chung, </a:t>
            </a:r>
            <a:r>
              <a:rPr lang="en-IN" sz="1200" b="0" i="0" dirty="0">
                <a:solidFill>
                  <a:srgbClr val="444444"/>
                </a:solidFill>
                <a:effectLst/>
                <a:latin typeface="Roboto" panose="02000000000000000000" pitchFamily="2" charset="0"/>
                <a:hlinkClick r:id="rId7"/>
              </a:rPr>
              <a:t>Segmentation for Natural Language </a:t>
            </a:r>
            <a:r>
              <a:rPr lang="en-IN" sz="1200" b="0" i="0" dirty="0" err="1">
                <a:solidFill>
                  <a:srgbClr val="444444"/>
                </a:solidFill>
                <a:effectLst/>
                <a:latin typeface="Roboto" panose="02000000000000000000" pitchFamily="2" charset="0"/>
                <a:hlinkClick r:id="rId7"/>
              </a:rPr>
              <a:t>Modeling</a:t>
            </a:r>
            <a:endParaRPr lang="en-IN" sz="1200" b="0" i="0" dirty="0">
              <a:solidFill>
                <a:srgbClr val="444444"/>
              </a:solidFill>
              <a:effectLst/>
              <a:latin typeface="Roboto" panose="02000000000000000000" pitchFamily="2" charset="0"/>
            </a:endParaRPr>
          </a:p>
        </p:txBody>
      </p:sp>
      <p:sp>
        <p:nvSpPr>
          <p:cNvPr id="3" name="TextBox 2">
            <a:extLst>
              <a:ext uri="{FF2B5EF4-FFF2-40B4-BE49-F238E27FC236}">
                <a16:creationId xmlns:a16="http://schemas.microsoft.com/office/drawing/2014/main" id="{402B2A2D-521A-CEE4-587D-6BC353BE3C22}"/>
              </a:ext>
            </a:extLst>
          </p:cNvPr>
          <p:cNvSpPr txBox="1"/>
          <p:nvPr/>
        </p:nvSpPr>
        <p:spPr>
          <a:xfrm>
            <a:off x="7093005" y="4925250"/>
            <a:ext cx="4955559" cy="276999"/>
          </a:xfrm>
          <a:prstGeom prst="rect">
            <a:avLst/>
          </a:prstGeom>
          <a:noFill/>
        </p:spPr>
        <p:txBody>
          <a:bodyPr wrap="square" rtlCol="0">
            <a:spAutoFit/>
          </a:bodyPr>
          <a:lstStyle/>
          <a:p>
            <a:r>
              <a:rPr lang="en-US" sz="1200" dirty="0"/>
              <a:t>Should prob(</a:t>
            </a:r>
            <a:r>
              <a:rPr lang="en-US" sz="1200" dirty="0" err="1"/>
              <a:t>sequence,x</a:t>
            </a:r>
            <a:r>
              <a:rPr lang="en-US" sz="1200" dirty="0"/>
              <a:t>) be = 1 ?</a:t>
            </a:r>
          </a:p>
        </p:txBody>
      </p:sp>
      <p:sp>
        <p:nvSpPr>
          <p:cNvPr id="12" name="TextBox 11">
            <a:extLst>
              <a:ext uri="{FF2B5EF4-FFF2-40B4-BE49-F238E27FC236}">
                <a16:creationId xmlns:a16="http://schemas.microsoft.com/office/drawing/2014/main" id="{C3E97FBE-75E9-372E-E03A-BDF9B62C2C21}"/>
              </a:ext>
            </a:extLst>
          </p:cNvPr>
          <p:cNvSpPr txBox="1"/>
          <p:nvPr/>
        </p:nvSpPr>
        <p:spPr>
          <a:xfrm>
            <a:off x="7388950" y="3908612"/>
            <a:ext cx="4955559" cy="430887"/>
          </a:xfrm>
          <a:prstGeom prst="rect">
            <a:avLst/>
          </a:prstGeom>
          <a:noFill/>
        </p:spPr>
        <p:txBody>
          <a:bodyPr wrap="square" rtlCol="0">
            <a:spAutoFit/>
          </a:bodyPr>
          <a:lstStyle/>
          <a:p>
            <a:r>
              <a:rPr lang="en-US" sz="1100" dirty="0"/>
              <a:t>We use an unigram LM based on the assumption that tokens are independent</a:t>
            </a:r>
          </a:p>
        </p:txBody>
      </p:sp>
    </p:spTree>
    <p:extLst>
      <p:ext uri="{BB962C8B-B14F-4D97-AF65-F5344CB8AC3E}">
        <p14:creationId xmlns:p14="http://schemas.microsoft.com/office/powerpoint/2010/main" val="2355131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06A1B3-AB03-ADA3-5991-45529CFCED88}"/>
              </a:ext>
            </a:extLst>
          </p:cNvPr>
          <p:cNvSpPr>
            <a:spLocks noGrp="1"/>
          </p:cNvSpPr>
          <p:nvPr>
            <p:ph type="sldNum" sz="quarter" idx="12"/>
          </p:nvPr>
        </p:nvSpPr>
        <p:spPr/>
        <p:txBody>
          <a:bodyPr/>
          <a:lstStyle/>
          <a:p>
            <a:fld id="{FF2BD96E-3838-45D2-9031-D3AF67C920A5}" type="slidenum">
              <a:rPr lang="en-US" smtClean="0"/>
              <a:t>20</a:t>
            </a:fld>
            <a:endParaRPr lang="en-US"/>
          </a:p>
        </p:txBody>
      </p:sp>
      <p:pic>
        <p:nvPicPr>
          <p:cNvPr id="4" name="Picture 3">
            <a:extLst>
              <a:ext uri="{FF2B5EF4-FFF2-40B4-BE49-F238E27FC236}">
                <a16:creationId xmlns:a16="http://schemas.microsoft.com/office/drawing/2014/main" id="{A001084F-4552-40A6-BCCD-9F834C8D3DB2}"/>
              </a:ext>
            </a:extLst>
          </p:cNvPr>
          <p:cNvPicPr>
            <a:picLocks noChangeAspect="1"/>
          </p:cNvPicPr>
          <p:nvPr/>
        </p:nvPicPr>
        <p:blipFill>
          <a:blip r:embed="rId2"/>
          <a:stretch>
            <a:fillRect/>
          </a:stretch>
        </p:blipFill>
        <p:spPr>
          <a:xfrm>
            <a:off x="1232809" y="2724051"/>
            <a:ext cx="9726382" cy="1409897"/>
          </a:xfrm>
          <a:prstGeom prst="rect">
            <a:avLst/>
          </a:prstGeom>
        </p:spPr>
      </p:pic>
    </p:spTree>
    <p:extLst>
      <p:ext uri="{BB962C8B-B14F-4D97-AF65-F5344CB8AC3E}">
        <p14:creationId xmlns:p14="http://schemas.microsoft.com/office/powerpoint/2010/main" val="9067259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52A03-FB03-4BE4-A9CB-7F21A72C793A}"/>
              </a:ext>
            </a:extLst>
          </p:cNvPr>
          <p:cNvSpPr>
            <a:spLocks noGrp="1"/>
          </p:cNvSpPr>
          <p:nvPr>
            <p:ph type="title"/>
          </p:nvPr>
        </p:nvSpPr>
        <p:spPr/>
        <p:txBody>
          <a:bodyPr/>
          <a:lstStyle/>
          <a:p>
            <a:r>
              <a:rPr lang="en-IN" dirty="0" err="1"/>
              <a:t>SentencePiece</a:t>
            </a:r>
            <a:r>
              <a:rPr lang="en-IN" dirty="0"/>
              <a:t>: Unigram Tokenizer</a:t>
            </a:r>
          </a:p>
        </p:txBody>
      </p:sp>
      <p:sp>
        <p:nvSpPr>
          <p:cNvPr id="4" name="Slide Number Placeholder 3">
            <a:extLst>
              <a:ext uri="{FF2B5EF4-FFF2-40B4-BE49-F238E27FC236}">
                <a16:creationId xmlns:a16="http://schemas.microsoft.com/office/drawing/2014/main" id="{CF9B9F38-5163-42B0-91F1-C4C39473FFA7}"/>
              </a:ext>
            </a:extLst>
          </p:cNvPr>
          <p:cNvSpPr>
            <a:spLocks noGrp="1"/>
          </p:cNvSpPr>
          <p:nvPr>
            <p:ph type="sldNum" sz="quarter" idx="12"/>
          </p:nvPr>
        </p:nvSpPr>
        <p:spPr/>
        <p:txBody>
          <a:bodyPr/>
          <a:lstStyle/>
          <a:p>
            <a:fld id="{FF2BD96E-3838-45D2-9031-D3AF67C920A5}" type="slidenum">
              <a:rPr lang="en-US" smtClean="0"/>
              <a:t>21</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FE9C29C-4D63-49CD-8761-A84876E6AE43}"/>
                  </a:ext>
                </a:extLst>
              </p:cNvPr>
              <p:cNvSpPr txBox="1"/>
              <p:nvPr/>
            </p:nvSpPr>
            <p:spPr>
              <a:xfrm>
                <a:off x="1400142" y="1119598"/>
                <a:ext cx="9919254" cy="461665"/>
              </a:xfrm>
              <a:prstGeom prst="rect">
                <a:avLst/>
              </a:prstGeom>
              <a:noFill/>
            </p:spPr>
            <p:txBody>
              <a:bodyPr wrap="none" rtlCol="0">
                <a:spAutoFit/>
              </a:bodyPr>
              <a:lstStyle/>
              <a:p>
                <a:r>
                  <a:rPr lang="en-IN" sz="2400" dirty="0">
                    <a:solidFill>
                      <a:srgbClr val="0070C0"/>
                    </a:solidFill>
                  </a:rPr>
                  <a:t>What is the likelihood of the training data </a:t>
                </a:r>
                <a14:m>
                  <m:oMath xmlns:m="http://schemas.openxmlformats.org/officeDocument/2006/math">
                    <m:r>
                      <a:rPr lang="en-IN" sz="2400" b="0" i="1" smtClean="0">
                        <a:solidFill>
                          <a:srgbClr val="0070C0"/>
                        </a:solidFill>
                        <a:latin typeface="Cambria Math" panose="02040503050406030204" pitchFamily="18" charset="0"/>
                      </a:rPr>
                      <m:t>(</m:t>
                    </m:r>
                    <m:r>
                      <a:rPr lang="en-IN" sz="2400" b="0" i="1" smtClean="0">
                        <a:solidFill>
                          <a:srgbClr val="0070C0"/>
                        </a:solidFill>
                        <a:latin typeface="Cambria Math" panose="02040503050406030204" pitchFamily="18" charset="0"/>
                      </a:rPr>
                      <m:t>𝐷</m:t>
                    </m:r>
                    <m:r>
                      <a:rPr lang="en-IN" sz="2400" b="0" i="1" smtClean="0">
                        <a:solidFill>
                          <a:srgbClr val="0070C0"/>
                        </a:solidFill>
                        <a:latin typeface="Cambria Math" panose="02040503050406030204" pitchFamily="18" charset="0"/>
                      </a:rPr>
                      <m:t>)</m:t>
                    </m:r>
                  </m:oMath>
                </a14:m>
                <a:r>
                  <a:rPr lang="en-IN" sz="2400" dirty="0">
                    <a:solidFill>
                      <a:srgbClr val="0070C0"/>
                    </a:solidFill>
                  </a:rPr>
                  <a:t> given a vocabulary </a:t>
                </a:r>
                <a14:m>
                  <m:oMath xmlns:m="http://schemas.openxmlformats.org/officeDocument/2006/math">
                    <m:r>
                      <a:rPr lang="en-IN" sz="2400" b="0" i="0" smtClean="0">
                        <a:solidFill>
                          <a:srgbClr val="0070C0"/>
                        </a:solidFill>
                        <a:latin typeface="Cambria Math" panose="02040503050406030204" pitchFamily="18" charset="0"/>
                        <a:ea typeface="Cambria Math" panose="02040503050406030204" pitchFamily="18" charset="0"/>
                      </a:rPr>
                      <m:t>(</m:t>
                    </m:r>
                    <m:r>
                      <a:rPr lang="en-IN" sz="2400" i="1">
                        <a:solidFill>
                          <a:srgbClr val="0070C0"/>
                        </a:solidFill>
                        <a:latin typeface="Cambria Math" panose="02040503050406030204" pitchFamily="18" charset="0"/>
                        <a:ea typeface="Cambria Math" panose="02040503050406030204" pitchFamily="18" charset="0"/>
                      </a:rPr>
                      <m:t>𝒱</m:t>
                    </m:r>
                    <m:r>
                      <a:rPr lang="en-IN" sz="2400" b="0" i="1" smtClean="0">
                        <a:solidFill>
                          <a:srgbClr val="0070C0"/>
                        </a:solidFill>
                        <a:latin typeface="Cambria Math" panose="02040503050406030204" pitchFamily="18" charset="0"/>
                        <a:ea typeface="Cambria Math" panose="02040503050406030204" pitchFamily="18" charset="0"/>
                      </a:rPr>
                      <m:t>)</m:t>
                    </m:r>
                  </m:oMath>
                </a14:m>
                <a:r>
                  <a:rPr lang="en-IN" sz="2400" dirty="0">
                    <a:solidFill>
                      <a:srgbClr val="0070C0"/>
                    </a:solidFill>
                  </a:rPr>
                  <a:t>?</a:t>
                </a:r>
              </a:p>
            </p:txBody>
          </p:sp>
        </mc:Choice>
        <mc:Fallback xmlns="">
          <p:sp>
            <p:nvSpPr>
              <p:cNvPr id="5" name="TextBox 4">
                <a:extLst>
                  <a:ext uri="{FF2B5EF4-FFF2-40B4-BE49-F238E27FC236}">
                    <a16:creationId xmlns:a16="http://schemas.microsoft.com/office/drawing/2014/main" id="{6FE9C29C-4D63-49CD-8761-A84876E6AE43}"/>
                  </a:ext>
                </a:extLst>
              </p:cNvPr>
              <p:cNvSpPr txBox="1">
                <a:spLocks noRot="1" noChangeAspect="1" noMove="1" noResize="1" noEditPoints="1" noAdjustHandles="1" noChangeArrowheads="1" noChangeShapeType="1" noTextEdit="1"/>
              </p:cNvSpPr>
              <p:nvPr/>
            </p:nvSpPr>
            <p:spPr>
              <a:xfrm>
                <a:off x="1400142" y="1119598"/>
                <a:ext cx="9919254" cy="461665"/>
              </a:xfrm>
              <a:prstGeom prst="rect">
                <a:avLst/>
              </a:prstGeom>
              <a:blipFill>
                <a:blip r:embed="rId2"/>
                <a:stretch>
                  <a:fillRect l="-983" t="-9333" b="-32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A8B6228-E56D-4C2A-9731-7009A6C69248}"/>
                  </a:ext>
                </a:extLst>
              </p:cNvPr>
              <p:cNvSpPr txBox="1"/>
              <p:nvPr/>
            </p:nvSpPr>
            <p:spPr>
              <a:xfrm>
                <a:off x="1391920" y="1806037"/>
                <a:ext cx="5435600" cy="388248"/>
              </a:xfrm>
              <a:prstGeom prst="rect">
                <a:avLst/>
              </a:prstGeom>
              <a:noFill/>
            </p:spPr>
            <p:txBody>
              <a:bodyPr wrap="square">
                <a:spAutoFit/>
              </a:bodyPr>
              <a:lstStyle/>
              <a:p>
                <a:r>
                  <a:rPr lang="en-IN" sz="1800" b="0" dirty="0"/>
                  <a:t>The Training Data: </a:t>
                </a:r>
                <a14:m>
                  <m:oMath xmlns:m="http://schemas.openxmlformats.org/officeDocument/2006/math">
                    <m:r>
                      <a:rPr lang="en-IN" sz="1800" b="0" i="1" smtClean="0">
                        <a:latin typeface="Cambria Math" panose="02040503050406030204" pitchFamily="18" charset="0"/>
                      </a:rPr>
                      <m:t>𝐷</m:t>
                    </m:r>
                    <m:r>
                      <a:rPr lang="en-IN" sz="1800" b="0" i="1" smtClean="0">
                        <a:latin typeface="Cambria Math" panose="02040503050406030204" pitchFamily="18" charset="0"/>
                      </a:rPr>
                      <m:t>={</m:t>
                    </m:r>
                    <m:sSup>
                      <m:sSupPr>
                        <m:ctrlPr>
                          <a:rPr lang="en-IN" sz="1800" b="0" i="1" smtClean="0">
                            <a:latin typeface="Cambria Math" panose="02040503050406030204" pitchFamily="18" charset="0"/>
                          </a:rPr>
                        </m:ctrlPr>
                      </m:sSupPr>
                      <m:e>
                        <m:r>
                          <a:rPr lang="en-IN" sz="1800" b="0" i="1" smtClean="0">
                            <a:latin typeface="Cambria Math" panose="02040503050406030204" pitchFamily="18" charset="0"/>
                          </a:rPr>
                          <m:t>𝑋</m:t>
                        </m:r>
                      </m:e>
                      <m:sup>
                        <m:d>
                          <m:dPr>
                            <m:ctrlPr>
                              <a:rPr lang="en-IN" sz="1800" b="0" i="1" smtClean="0">
                                <a:latin typeface="Cambria Math" panose="02040503050406030204" pitchFamily="18" charset="0"/>
                              </a:rPr>
                            </m:ctrlPr>
                          </m:dPr>
                          <m:e>
                            <m:r>
                              <a:rPr lang="en-IN" sz="1800" b="0" i="1" smtClean="0">
                                <a:latin typeface="Cambria Math" panose="02040503050406030204" pitchFamily="18" charset="0"/>
                              </a:rPr>
                              <m:t>1</m:t>
                            </m:r>
                          </m:e>
                        </m:d>
                      </m:sup>
                    </m:sSup>
                    <m:r>
                      <a:rPr lang="en-IN" sz="1800" b="0" i="1" smtClean="0">
                        <a:latin typeface="Cambria Math" panose="02040503050406030204" pitchFamily="18" charset="0"/>
                      </a:rPr>
                      <m:t>, </m:t>
                    </m:r>
                    <m:sSup>
                      <m:sSupPr>
                        <m:ctrlPr>
                          <a:rPr lang="en-IN" sz="1800" b="0" i="1" smtClean="0">
                            <a:latin typeface="Cambria Math" panose="02040503050406030204" pitchFamily="18" charset="0"/>
                          </a:rPr>
                        </m:ctrlPr>
                      </m:sSupPr>
                      <m:e>
                        <m:r>
                          <a:rPr lang="en-IN" sz="1800" b="0" i="1" smtClean="0">
                            <a:latin typeface="Cambria Math" panose="02040503050406030204" pitchFamily="18" charset="0"/>
                          </a:rPr>
                          <m:t>𝑋</m:t>
                        </m:r>
                      </m:e>
                      <m:sup>
                        <m:d>
                          <m:dPr>
                            <m:ctrlPr>
                              <a:rPr lang="en-IN" sz="1800" b="0" i="1" smtClean="0">
                                <a:latin typeface="Cambria Math" panose="02040503050406030204" pitchFamily="18" charset="0"/>
                              </a:rPr>
                            </m:ctrlPr>
                          </m:dPr>
                          <m:e>
                            <m:r>
                              <a:rPr lang="en-IN" sz="1800" b="0" i="1" smtClean="0">
                                <a:latin typeface="Cambria Math" panose="02040503050406030204" pitchFamily="18" charset="0"/>
                              </a:rPr>
                              <m:t>2</m:t>
                            </m:r>
                          </m:e>
                        </m:d>
                      </m:sup>
                    </m:sSup>
                    <m:r>
                      <a:rPr lang="en-IN" sz="1800" b="0" i="1" smtClean="0">
                        <a:latin typeface="Cambria Math" panose="02040503050406030204" pitchFamily="18" charset="0"/>
                      </a:rPr>
                      <m:t>, …, </m:t>
                    </m:r>
                    <m:sSup>
                      <m:sSupPr>
                        <m:ctrlPr>
                          <a:rPr lang="en-IN" sz="1800" b="0" i="1" smtClean="0">
                            <a:latin typeface="Cambria Math" panose="02040503050406030204" pitchFamily="18" charset="0"/>
                          </a:rPr>
                        </m:ctrlPr>
                      </m:sSupPr>
                      <m:e>
                        <m:r>
                          <a:rPr lang="en-IN" sz="1800" b="0" i="1" smtClean="0">
                            <a:latin typeface="Cambria Math" panose="02040503050406030204" pitchFamily="18" charset="0"/>
                          </a:rPr>
                          <m:t>𝑋</m:t>
                        </m:r>
                      </m:e>
                      <m:sup>
                        <m:r>
                          <a:rPr lang="en-IN" sz="1800" b="0" i="1" smtClean="0">
                            <a:latin typeface="Cambria Math" panose="02040503050406030204" pitchFamily="18" charset="0"/>
                          </a:rPr>
                          <m:t>(</m:t>
                        </m:r>
                        <m:d>
                          <m:dPr>
                            <m:begChr m:val="|"/>
                            <m:endChr m:val="|"/>
                            <m:ctrlPr>
                              <a:rPr lang="en-IN" sz="1800" b="0" i="1" smtClean="0">
                                <a:latin typeface="Cambria Math" panose="02040503050406030204" pitchFamily="18" charset="0"/>
                              </a:rPr>
                            </m:ctrlPr>
                          </m:dPr>
                          <m:e>
                            <m:r>
                              <a:rPr lang="en-IN" sz="1800" b="0" i="1" smtClean="0">
                                <a:latin typeface="Cambria Math" panose="02040503050406030204" pitchFamily="18" charset="0"/>
                              </a:rPr>
                              <m:t>𝐷</m:t>
                            </m:r>
                          </m:e>
                        </m:d>
                        <m:r>
                          <a:rPr lang="en-IN" sz="1800" b="0" i="1" smtClean="0">
                            <a:latin typeface="Cambria Math" panose="02040503050406030204" pitchFamily="18" charset="0"/>
                          </a:rPr>
                          <m:t>)</m:t>
                        </m:r>
                      </m:sup>
                    </m:sSup>
                    <m:r>
                      <a:rPr lang="en-IN" sz="1800" b="0" i="1" smtClean="0">
                        <a:latin typeface="Cambria Math" panose="02040503050406030204" pitchFamily="18" charset="0"/>
                      </a:rPr>
                      <m:t>}</m:t>
                    </m:r>
                  </m:oMath>
                </a14:m>
                <a:endParaRPr lang="en-IN" dirty="0"/>
              </a:p>
            </p:txBody>
          </p:sp>
        </mc:Choice>
        <mc:Fallback xmlns="">
          <p:sp>
            <p:nvSpPr>
              <p:cNvPr id="7" name="TextBox 6">
                <a:extLst>
                  <a:ext uri="{FF2B5EF4-FFF2-40B4-BE49-F238E27FC236}">
                    <a16:creationId xmlns:a16="http://schemas.microsoft.com/office/drawing/2014/main" id="{BA8B6228-E56D-4C2A-9731-7009A6C69248}"/>
                  </a:ext>
                </a:extLst>
              </p:cNvPr>
              <p:cNvSpPr txBox="1">
                <a:spLocks noRot="1" noChangeAspect="1" noMove="1" noResize="1" noEditPoints="1" noAdjustHandles="1" noChangeArrowheads="1" noChangeShapeType="1" noTextEdit="1"/>
              </p:cNvSpPr>
              <p:nvPr/>
            </p:nvSpPr>
            <p:spPr>
              <a:xfrm>
                <a:off x="1391920" y="1806037"/>
                <a:ext cx="5435600" cy="388248"/>
              </a:xfrm>
              <a:prstGeom prst="rect">
                <a:avLst/>
              </a:prstGeom>
              <a:blipFill>
                <a:blip r:embed="rId3"/>
                <a:stretch>
                  <a:fillRect l="-897" t="-1563" b="-25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CA4CA49-2279-45C7-80A8-C67EB5A152BF}"/>
                  </a:ext>
                </a:extLst>
              </p:cNvPr>
              <p:cNvSpPr txBox="1"/>
              <p:nvPr/>
            </p:nvSpPr>
            <p:spPr>
              <a:xfrm>
                <a:off x="1391920" y="2347393"/>
                <a:ext cx="5791200" cy="369332"/>
              </a:xfrm>
              <a:prstGeom prst="rect">
                <a:avLst/>
              </a:prstGeom>
              <a:noFill/>
            </p:spPr>
            <p:txBody>
              <a:bodyPr wrap="square">
                <a:spAutoFit/>
              </a:bodyPr>
              <a:lstStyle/>
              <a:p>
                <a:r>
                  <a:rPr lang="en-IN" dirty="0"/>
                  <a:t>Segmentation</a:t>
                </a:r>
                <a:r>
                  <a:rPr lang="en-IN" sz="1800" b="0" dirty="0"/>
                  <a:t>: </a:t>
                </a:r>
                <a14:m>
                  <m:oMath xmlns:m="http://schemas.openxmlformats.org/officeDocument/2006/math">
                    <m:r>
                      <a:rPr lang="en-IN" sz="1800" b="0" i="1" smtClean="0">
                        <a:latin typeface="Cambria Math" panose="02040503050406030204" pitchFamily="18" charset="0"/>
                        <a:ea typeface="Cambria Math" panose="02040503050406030204" pitchFamily="18" charset="0"/>
                      </a:rPr>
                      <m:t>𝒮</m:t>
                    </m:r>
                    <m:r>
                      <a:rPr lang="en-IN" sz="1800" b="0" i="1" smtClean="0">
                        <a:latin typeface="Cambria Math" panose="02040503050406030204" pitchFamily="18" charset="0"/>
                        <a:ea typeface="Cambria Math" panose="02040503050406030204" pitchFamily="18" charset="0"/>
                      </a:rPr>
                      <m:t>(</m:t>
                    </m:r>
                    <m:r>
                      <a:rPr lang="en-IN" sz="1800" b="0" i="1" smtClean="0">
                        <a:latin typeface="Cambria Math" panose="02040503050406030204" pitchFamily="18" charset="0"/>
                        <a:ea typeface="Cambria Math" panose="02040503050406030204" pitchFamily="18" charset="0"/>
                      </a:rPr>
                      <m:t>𝑋</m:t>
                    </m:r>
                    <m:r>
                      <a:rPr lang="en-IN" sz="1800" b="0" i="1" smtClean="0">
                        <a:latin typeface="Cambria Math" panose="02040503050406030204" pitchFamily="18" charset="0"/>
                        <a:ea typeface="Cambria Math" panose="02040503050406030204" pitchFamily="18" charset="0"/>
                      </a:rPr>
                      <m:t>)</m:t>
                    </m:r>
                  </m:oMath>
                </a14:m>
                <a:r>
                  <a:rPr lang="en-IN" dirty="0"/>
                  <a:t> conditioned on vocabulary </a:t>
                </a:r>
                <a14:m>
                  <m:oMath xmlns:m="http://schemas.openxmlformats.org/officeDocument/2006/math">
                    <m:r>
                      <a:rPr lang="en-IN" i="1">
                        <a:latin typeface="Cambria Math" panose="02040503050406030204" pitchFamily="18" charset="0"/>
                        <a:ea typeface="Cambria Math" panose="02040503050406030204" pitchFamily="18" charset="0"/>
                      </a:rPr>
                      <m:t>𝒱</m:t>
                    </m:r>
                  </m:oMath>
                </a14:m>
                <a:r>
                  <a:rPr lang="en-IN" dirty="0"/>
                  <a:t> </a:t>
                </a:r>
              </a:p>
            </p:txBody>
          </p:sp>
        </mc:Choice>
        <mc:Fallback xmlns="">
          <p:sp>
            <p:nvSpPr>
              <p:cNvPr id="8" name="TextBox 7">
                <a:extLst>
                  <a:ext uri="{FF2B5EF4-FFF2-40B4-BE49-F238E27FC236}">
                    <a16:creationId xmlns:a16="http://schemas.microsoft.com/office/drawing/2014/main" id="{BCA4CA49-2279-45C7-80A8-C67EB5A152BF}"/>
                  </a:ext>
                </a:extLst>
              </p:cNvPr>
              <p:cNvSpPr txBox="1">
                <a:spLocks noRot="1" noChangeAspect="1" noMove="1" noResize="1" noEditPoints="1" noAdjustHandles="1" noChangeArrowheads="1" noChangeShapeType="1" noTextEdit="1"/>
              </p:cNvSpPr>
              <p:nvPr/>
            </p:nvSpPr>
            <p:spPr>
              <a:xfrm>
                <a:off x="1391920" y="2347393"/>
                <a:ext cx="5791200" cy="369332"/>
              </a:xfrm>
              <a:prstGeom prst="rect">
                <a:avLst/>
              </a:prstGeom>
              <a:blipFill>
                <a:blip r:embed="rId8"/>
                <a:stretch>
                  <a:fillRect l="-842" t="-6557" b="-2623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4575634-D232-47B1-A005-A99EAA096C21}"/>
                  </a:ext>
                </a:extLst>
              </p:cNvPr>
              <p:cNvSpPr txBox="1"/>
              <p:nvPr/>
            </p:nvSpPr>
            <p:spPr>
              <a:xfrm>
                <a:off x="1391920" y="5257209"/>
                <a:ext cx="5791200" cy="369332"/>
              </a:xfrm>
              <a:prstGeom prst="rect">
                <a:avLst/>
              </a:prstGeom>
              <a:noFill/>
            </p:spPr>
            <p:txBody>
              <a:bodyPr wrap="square">
                <a:spAutoFit/>
              </a:bodyPr>
              <a:lstStyle/>
              <a:p>
                <a:r>
                  <a:rPr lang="en-IN" dirty="0"/>
                  <a:t>An element </a:t>
                </a:r>
                <a14:m>
                  <m:oMath xmlns:m="http://schemas.openxmlformats.org/officeDocument/2006/math">
                    <m:r>
                      <a:rPr lang="en-IN" sz="1800" b="0" i="1" smtClean="0">
                        <a:latin typeface="Cambria Math" panose="02040503050406030204" pitchFamily="18" charset="0"/>
                        <a:ea typeface="Cambria Math" panose="02040503050406030204" pitchFamily="18" charset="0"/>
                      </a:rPr>
                      <m:t>𝑋</m:t>
                    </m:r>
                  </m:oMath>
                </a14:m>
                <a:r>
                  <a:rPr lang="en-IN" dirty="0"/>
                  <a:t> may have several ways to segment </a:t>
                </a:r>
              </a:p>
            </p:txBody>
          </p:sp>
        </mc:Choice>
        <mc:Fallback xmlns="">
          <p:sp>
            <p:nvSpPr>
              <p:cNvPr id="9" name="TextBox 8">
                <a:extLst>
                  <a:ext uri="{FF2B5EF4-FFF2-40B4-BE49-F238E27FC236}">
                    <a16:creationId xmlns:a16="http://schemas.microsoft.com/office/drawing/2014/main" id="{74575634-D232-47B1-A005-A99EAA096C21}"/>
                  </a:ext>
                </a:extLst>
              </p:cNvPr>
              <p:cNvSpPr txBox="1">
                <a:spLocks noRot="1" noChangeAspect="1" noMove="1" noResize="1" noEditPoints="1" noAdjustHandles="1" noChangeArrowheads="1" noChangeShapeType="1" noTextEdit="1"/>
              </p:cNvSpPr>
              <p:nvPr/>
            </p:nvSpPr>
            <p:spPr>
              <a:xfrm>
                <a:off x="1391920" y="5257209"/>
                <a:ext cx="5791200" cy="369332"/>
              </a:xfrm>
              <a:prstGeom prst="rect">
                <a:avLst/>
              </a:prstGeom>
              <a:blipFill>
                <a:blip r:embed="rId9"/>
                <a:stretch>
                  <a:fillRect l="-842" t="-6557" b="-2623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F2B6F4B-CDC6-408D-839D-0BABD6843F81}"/>
                  </a:ext>
                </a:extLst>
              </p:cNvPr>
              <p:cNvSpPr txBox="1"/>
              <p:nvPr/>
            </p:nvSpPr>
            <p:spPr>
              <a:xfrm>
                <a:off x="1519411" y="2890297"/>
                <a:ext cx="7736990" cy="414537"/>
              </a:xfrm>
              <a:prstGeom prst="rect">
                <a:avLst/>
              </a:prstGeom>
              <a:noFill/>
            </p:spPr>
            <p:txBody>
              <a:bodyPr wrap="none" lIns="0" tIns="0" rIns="0" bIns="0" rtlCol="0">
                <a:spAutoFit/>
              </a:bodyPr>
              <a:lstStyle/>
              <a:p>
                <a:r>
                  <a:rPr lang="en-IN" dirty="0">
                    <a:ea typeface="Cambria Math" panose="02040503050406030204" pitchFamily="18" charset="0"/>
                  </a:rPr>
                  <a:t>Likelihood of training data: </a:t>
                </a:r>
                <a14:m>
                  <m:oMath xmlns:m="http://schemas.openxmlformats.org/officeDocument/2006/math">
                    <m:r>
                      <a:rPr lang="en-IN" i="1" smtClean="0">
                        <a:latin typeface="Cambria Math" panose="02040503050406030204" pitchFamily="18" charset="0"/>
                        <a:ea typeface="Cambria Math" panose="02040503050406030204" pitchFamily="18" charset="0"/>
                      </a:rPr>
                      <m:t>ℒ</m:t>
                    </m:r>
                    <m:r>
                      <a:rPr lang="en-IN" b="0" i="1" smtClean="0">
                        <a:latin typeface="Cambria Math" panose="02040503050406030204" pitchFamily="18" charset="0"/>
                        <a:ea typeface="Cambria Math" panose="02040503050406030204" pitchFamily="18" charset="0"/>
                      </a:rPr>
                      <m:t>=</m:t>
                    </m:r>
                    <m:nary>
                      <m:naryPr>
                        <m:chr m:val="∑"/>
                        <m:ctrlPr>
                          <a:rPr lang="en-IN" b="0" i="1" smtClean="0">
                            <a:latin typeface="Cambria Math" panose="02040503050406030204" pitchFamily="18" charset="0"/>
                            <a:ea typeface="Cambria Math" panose="02040503050406030204" pitchFamily="18" charset="0"/>
                          </a:rPr>
                        </m:ctrlPr>
                      </m:naryPr>
                      <m:sub>
                        <m:r>
                          <a:rPr lang="en-IN" b="0" i="1" smtClean="0">
                            <a:latin typeface="Cambria Math" panose="02040503050406030204" pitchFamily="18" charset="0"/>
                            <a:ea typeface="Cambria Math" panose="02040503050406030204" pitchFamily="18" charset="0"/>
                          </a:rPr>
                          <m:t>𝑖</m:t>
                        </m:r>
                        <m:r>
                          <a:rPr lang="en-IN" b="0" i="1" smtClean="0">
                            <a:latin typeface="Cambria Math" panose="02040503050406030204" pitchFamily="18" charset="0"/>
                            <a:ea typeface="Cambria Math" panose="02040503050406030204" pitchFamily="18" charset="0"/>
                          </a:rPr>
                          <m:t>=1</m:t>
                        </m:r>
                      </m:sub>
                      <m:sup>
                        <m:r>
                          <a:rPr lang="en-IN" b="0" i="1" smtClean="0">
                            <a:latin typeface="Cambria Math" panose="02040503050406030204" pitchFamily="18" charset="0"/>
                            <a:ea typeface="Cambria Math" panose="02040503050406030204" pitchFamily="18" charset="0"/>
                          </a:rPr>
                          <m:t>|</m:t>
                        </m:r>
                        <m:r>
                          <a:rPr lang="en-IN" b="0" i="1" smtClean="0">
                            <a:latin typeface="Cambria Math" panose="02040503050406030204" pitchFamily="18" charset="0"/>
                            <a:ea typeface="Cambria Math" panose="02040503050406030204" pitchFamily="18" charset="0"/>
                          </a:rPr>
                          <m:t>𝐷</m:t>
                        </m:r>
                        <m:r>
                          <a:rPr lang="en-IN" b="0" i="1" smtClean="0">
                            <a:latin typeface="Cambria Math" panose="02040503050406030204" pitchFamily="18" charset="0"/>
                            <a:ea typeface="Cambria Math" panose="02040503050406030204" pitchFamily="18" charset="0"/>
                          </a:rPr>
                          <m:t>|</m:t>
                        </m:r>
                      </m:sup>
                      <m:e>
                        <m:func>
                          <m:funcPr>
                            <m:ctrlPr>
                              <a:rPr lang="en-IN" b="0" i="1" smtClean="0">
                                <a:latin typeface="Cambria Math" panose="02040503050406030204" pitchFamily="18" charset="0"/>
                                <a:ea typeface="Cambria Math" panose="02040503050406030204" pitchFamily="18" charset="0"/>
                              </a:rPr>
                            </m:ctrlPr>
                          </m:funcPr>
                          <m:fName>
                            <m:r>
                              <m:rPr>
                                <m:sty m:val="p"/>
                              </m:rPr>
                              <a:rPr lang="en-IN" b="0" i="0" smtClean="0">
                                <a:latin typeface="Cambria Math" panose="02040503050406030204" pitchFamily="18" charset="0"/>
                                <a:ea typeface="Cambria Math" panose="02040503050406030204" pitchFamily="18" charset="0"/>
                              </a:rPr>
                              <m:t>log</m:t>
                            </m:r>
                          </m:fName>
                          <m:e>
                            <m:d>
                              <m:dPr>
                                <m:ctrlPr>
                                  <a:rPr lang="en-IN" b="0" i="1" smtClean="0">
                                    <a:latin typeface="Cambria Math" panose="02040503050406030204" pitchFamily="18" charset="0"/>
                                    <a:ea typeface="Cambria Math" panose="02040503050406030204" pitchFamily="18" charset="0"/>
                                  </a:rPr>
                                </m:ctrlPr>
                              </m:dPr>
                              <m:e>
                                <m:r>
                                  <a:rPr lang="en-IN" b="0" i="1" smtClean="0">
                                    <a:latin typeface="Cambria Math" panose="02040503050406030204" pitchFamily="18" charset="0"/>
                                    <a:ea typeface="Cambria Math" panose="02040503050406030204" pitchFamily="18" charset="0"/>
                                  </a:rPr>
                                  <m:t>𝑃</m:t>
                                </m:r>
                                <m:d>
                                  <m:dPr>
                                    <m:ctrlPr>
                                      <a:rPr lang="en-IN" b="0" i="1" smtClean="0">
                                        <a:latin typeface="Cambria Math" panose="02040503050406030204" pitchFamily="18" charset="0"/>
                                        <a:ea typeface="Cambria Math" panose="02040503050406030204" pitchFamily="18" charset="0"/>
                                      </a:rPr>
                                    </m:ctrlPr>
                                  </m:dPr>
                                  <m:e>
                                    <m:sSup>
                                      <m:sSupPr>
                                        <m:ctrlPr>
                                          <a:rPr lang="en-IN" b="0" i="1" smtClean="0">
                                            <a:latin typeface="Cambria Math" panose="02040503050406030204" pitchFamily="18" charset="0"/>
                                            <a:ea typeface="Cambria Math" panose="02040503050406030204" pitchFamily="18" charset="0"/>
                                          </a:rPr>
                                        </m:ctrlPr>
                                      </m:sSupPr>
                                      <m:e>
                                        <m:r>
                                          <a:rPr lang="en-IN" b="0" i="1" smtClean="0">
                                            <a:latin typeface="Cambria Math" panose="02040503050406030204" pitchFamily="18" charset="0"/>
                                            <a:ea typeface="Cambria Math" panose="02040503050406030204" pitchFamily="18" charset="0"/>
                                          </a:rPr>
                                          <m:t>𝑋</m:t>
                                        </m:r>
                                      </m:e>
                                      <m:sup>
                                        <m:d>
                                          <m:dPr>
                                            <m:ctrlPr>
                                              <a:rPr lang="en-IN" b="0" i="1" smtClean="0">
                                                <a:latin typeface="Cambria Math" panose="02040503050406030204" pitchFamily="18" charset="0"/>
                                                <a:ea typeface="Cambria Math" panose="02040503050406030204" pitchFamily="18" charset="0"/>
                                              </a:rPr>
                                            </m:ctrlPr>
                                          </m:dPr>
                                          <m:e>
                                            <m:r>
                                              <a:rPr lang="en-IN" b="0" i="1" smtClean="0">
                                                <a:latin typeface="Cambria Math" panose="02040503050406030204" pitchFamily="18" charset="0"/>
                                                <a:ea typeface="Cambria Math" panose="02040503050406030204" pitchFamily="18" charset="0"/>
                                              </a:rPr>
                                              <m:t>𝑖</m:t>
                                            </m:r>
                                          </m:e>
                                        </m:d>
                                      </m:sup>
                                    </m:sSup>
                                  </m:e>
                                </m:d>
                              </m:e>
                            </m:d>
                          </m:e>
                        </m:func>
                      </m:e>
                    </m:nary>
                    <m:r>
                      <a:rPr lang="en-IN" b="0" i="1" smtClean="0">
                        <a:latin typeface="Cambria Math" panose="02040503050406030204" pitchFamily="18" charset="0"/>
                        <a:ea typeface="Cambria Math" panose="02040503050406030204" pitchFamily="18" charset="0"/>
                      </a:rPr>
                      <m:t>=</m:t>
                    </m:r>
                    <m:nary>
                      <m:naryPr>
                        <m:chr m:val="∑"/>
                        <m:ctrlPr>
                          <a:rPr lang="en-IN" i="1">
                            <a:latin typeface="Cambria Math" panose="02040503050406030204" pitchFamily="18" charset="0"/>
                            <a:ea typeface="Cambria Math" panose="02040503050406030204" pitchFamily="18" charset="0"/>
                          </a:rPr>
                        </m:ctrlPr>
                      </m:naryPr>
                      <m:sub>
                        <m:r>
                          <a:rPr lang="en-IN" b="0" i="1" smtClean="0">
                            <a:latin typeface="Cambria Math" panose="02040503050406030204" pitchFamily="18" charset="0"/>
                            <a:ea typeface="Cambria Math" panose="02040503050406030204" pitchFamily="18" charset="0"/>
                          </a:rPr>
                          <m:t>𝑖</m:t>
                        </m:r>
                        <m:r>
                          <a:rPr lang="en-IN" i="1">
                            <a:latin typeface="Cambria Math" panose="02040503050406030204" pitchFamily="18" charset="0"/>
                            <a:ea typeface="Cambria Math" panose="02040503050406030204" pitchFamily="18" charset="0"/>
                          </a:rPr>
                          <m:t>=1</m:t>
                        </m:r>
                      </m:sub>
                      <m:sup>
                        <m:r>
                          <a:rPr lang="en-IN" i="1">
                            <a:latin typeface="Cambria Math" panose="02040503050406030204" pitchFamily="18" charset="0"/>
                            <a:ea typeface="Cambria Math" panose="02040503050406030204" pitchFamily="18" charset="0"/>
                          </a:rPr>
                          <m:t>|</m:t>
                        </m:r>
                        <m:r>
                          <a:rPr lang="en-IN" i="1">
                            <a:latin typeface="Cambria Math" panose="02040503050406030204" pitchFamily="18" charset="0"/>
                            <a:ea typeface="Cambria Math" panose="02040503050406030204" pitchFamily="18" charset="0"/>
                          </a:rPr>
                          <m:t>𝐷</m:t>
                        </m:r>
                        <m:r>
                          <a:rPr lang="en-IN" i="1">
                            <a:latin typeface="Cambria Math" panose="02040503050406030204" pitchFamily="18" charset="0"/>
                            <a:ea typeface="Cambria Math" panose="02040503050406030204" pitchFamily="18" charset="0"/>
                          </a:rPr>
                          <m:t>|</m:t>
                        </m:r>
                      </m:sup>
                      <m:e>
                        <m:nary>
                          <m:naryPr>
                            <m:chr m:val="∑"/>
                            <m:supHide m:val="on"/>
                            <m:ctrlPr>
                              <a:rPr lang="en-IN" i="1" smtClean="0">
                                <a:latin typeface="Cambria Math" panose="02040503050406030204" pitchFamily="18" charset="0"/>
                                <a:ea typeface="Cambria Math" panose="02040503050406030204" pitchFamily="18" charset="0"/>
                              </a:rPr>
                            </m:ctrlPr>
                          </m:naryPr>
                          <m:sub>
                            <m:r>
                              <m:rPr>
                                <m:brk m:alnAt="7"/>
                              </m:rPr>
                              <a:rPr lang="en-IN" b="0" i="1" smtClean="0">
                                <a:latin typeface="Cambria Math" panose="02040503050406030204" pitchFamily="18" charset="0"/>
                                <a:ea typeface="Cambria Math" panose="02040503050406030204" pitchFamily="18" charset="0"/>
                              </a:rPr>
                              <m:t>𝑦</m:t>
                            </m:r>
                            <m:r>
                              <a:rPr lang="en-IN" b="0" i="1" smtClean="0">
                                <a:latin typeface="Cambria Math" panose="02040503050406030204" pitchFamily="18" charset="0"/>
                                <a:ea typeface="Cambria Math" panose="02040503050406030204" pitchFamily="18" charset="0"/>
                              </a:rPr>
                              <m:t>∈</m:t>
                            </m:r>
                            <m:r>
                              <a:rPr lang="en-IN" i="1">
                                <a:latin typeface="Cambria Math" panose="02040503050406030204" pitchFamily="18" charset="0"/>
                                <a:ea typeface="Cambria Math" panose="02040503050406030204" pitchFamily="18" charset="0"/>
                              </a:rPr>
                              <m:t>𝒮</m:t>
                            </m:r>
                            <m:r>
                              <a:rPr lang="en-IN" i="1">
                                <a:latin typeface="Cambria Math" panose="02040503050406030204" pitchFamily="18" charset="0"/>
                                <a:ea typeface="Cambria Math" panose="02040503050406030204" pitchFamily="18" charset="0"/>
                              </a:rPr>
                              <m:t>(</m:t>
                            </m:r>
                            <m:sSup>
                              <m:sSupPr>
                                <m:ctrlPr>
                                  <a:rPr lang="en-IN" b="0" i="1" smtClean="0">
                                    <a:latin typeface="Cambria Math" panose="02040503050406030204" pitchFamily="18" charset="0"/>
                                    <a:ea typeface="Cambria Math" panose="02040503050406030204" pitchFamily="18" charset="0"/>
                                  </a:rPr>
                                </m:ctrlPr>
                              </m:sSupPr>
                              <m:e>
                                <m:r>
                                  <a:rPr lang="en-IN" i="1">
                                    <a:latin typeface="Cambria Math" panose="02040503050406030204" pitchFamily="18" charset="0"/>
                                    <a:ea typeface="Cambria Math" panose="02040503050406030204" pitchFamily="18" charset="0"/>
                                  </a:rPr>
                                  <m:t>𝑋</m:t>
                                </m:r>
                              </m:e>
                              <m:sup>
                                <m:r>
                                  <a:rPr lang="en-IN" b="0" i="1" smtClean="0">
                                    <a:latin typeface="Cambria Math" panose="02040503050406030204" pitchFamily="18" charset="0"/>
                                    <a:ea typeface="Cambria Math" panose="02040503050406030204" pitchFamily="18" charset="0"/>
                                  </a:rPr>
                                  <m:t>(</m:t>
                                </m:r>
                                <m:r>
                                  <a:rPr lang="en-IN" b="0" i="1" smtClean="0">
                                    <a:latin typeface="Cambria Math" panose="02040503050406030204" pitchFamily="18" charset="0"/>
                                    <a:ea typeface="Cambria Math" panose="02040503050406030204" pitchFamily="18" charset="0"/>
                                  </a:rPr>
                                  <m:t>𝑖</m:t>
                                </m:r>
                                <m:r>
                                  <a:rPr lang="en-IN" b="0" i="1" smtClean="0">
                                    <a:latin typeface="Cambria Math" panose="02040503050406030204" pitchFamily="18" charset="0"/>
                                    <a:ea typeface="Cambria Math" panose="02040503050406030204" pitchFamily="18" charset="0"/>
                                  </a:rPr>
                                  <m:t>)</m:t>
                                </m:r>
                              </m:sup>
                            </m:sSup>
                            <m:r>
                              <a:rPr lang="en-IN" i="1">
                                <a:latin typeface="Cambria Math" panose="02040503050406030204" pitchFamily="18" charset="0"/>
                                <a:ea typeface="Cambria Math" panose="02040503050406030204" pitchFamily="18" charset="0"/>
                              </a:rPr>
                              <m:t>)</m:t>
                            </m:r>
                          </m:sub>
                          <m:sup/>
                          <m:e>
                            <m:func>
                              <m:funcPr>
                                <m:ctrlPr>
                                  <a:rPr lang="en-IN" b="0" i="1" smtClean="0">
                                    <a:latin typeface="Cambria Math" panose="02040503050406030204" pitchFamily="18" charset="0"/>
                                    <a:ea typeface="Cambria Math" panose="02040503050406030204" pitchFamily="18" charset="0"/>
                                  </a:rPr>
                                </m:ctrlPr>
                              </m:funcPr>
                              <m:fName>
                                <m:r>
                                  <m:rPr>
                                    <m:sty m:val="p"/>
                                  </m:rPr>
                                  <a:rPr lang="en-IN" b="0" i="0" smtClean="0">
                                    <a:latin typeface="Cambria Math" panose="02040503050406030204" pitchFamily="18" charset="0"/>
                                    <a:ea typeface="Cambria Math" panose="02040503050406030204" pitchFamily="18" charset="0"/>
                                  </a:rPr>
                                  <m:t>log</m:t>
                                </m:r>
                              </m:fName>
                              <m:e>
                                <m:r>
                                  <a:rPr lang="en-IN" b="0" i="1" smtClean="0">
                                    <a:latin typeface="Cambria Math" panose="02040503050406030204" pitchFamily="18" charset="0"/>
                                    <a:ea typeface="Cambria Math" panose="02040503050406030204" pitchFamily="18" charset="0"/>
                                  </a:rPr>
                                  <m:t>𝑃</m:t>
                                </m:r>
                                <m:r>
                                  <a:rPr lang="en-IN" b="0" i="1" smtClean="0">
                                    <a:latin typeface="Cambria Math" panose="02040503050406030204" pitchFamily="18" charset="0"/>
                                    <a:ea typeface="Cambria Math" panose="02040503050406030204" pitchFamily="18" charset="0"/>
                                  </a:rPr>
                                  <m:t>(</m:t>
                                </m:r>
                                <m:r>
                                  <a:rPr lang="en-IN" b="0" i="1" smtClean="0">
                                    <a:latin typeface="Cambria Math" panose="02040503050406030204" pitchFamily="18" charset="0"/>
                                    <a:ea typeface="Cambria Math" panose="02040503050406030204" pitchFamily="18" charset="0"/>
                                  </a:rPr>
                                  <m:t>𝑦</m:t>
                                </m:r>
                                <m:r>
                                  <a:rPr lang="en-IN" b="0" i="1" smtClean="0">
                                    <a:latin typeface="Cambria Math" panose="02040503050406030204" pitchFamily="18" charset="0"/>
                                    <a:ea typeface="Cambria Math" panose="02040503050406030204" pitchFamily="18" charset="0"/>
                                  </a:rPr>
                                  <m:t>)</m:t>
                                </m:r>
                              </m:e>
                            </m:func>
                          </m:e>
                        </m:nary>
                      </m:e>
                    </m:nary>
                  </m:oMath>
                </a14:m>
                <a:endParaRPr lang="en-IN" dirty="0"/>
              </a:p>
            </p:txBody>
          </p:sp>
        </mc:Choice>
        <mc:Fallback xmlns="">
          <p:sp>
            <p:nvSpPr>
              <p:cNvPr id="10" name="TextBox 9">
                <a:extLst>
                  <a:ext uri="{FF2B5EF4-FFF2-40B4-BE49-F238E27FC236}">
                    <a16:creationId xmlns:a16="http://schemas.microsoft.com/office/drawing/2014/main" id="{8F2B6F4B-CDC6-408D-839D-0BABD6843F81}"/>
                  </a:ext>
                </a:extLst>
              </p:cNvPr>
              <p:cNvSpPr txBox="1">
                <a:spLocks noRot="1" noChangeAspect="1" noMove="1" noResize="1" noEditPoints="1" noAdjustHandles="1" noChangeArrowheads="1" noChangeShapeType="1" noTextEdit="1"/>
              </p:cNvSpPr>
              <p:nvPr/>
            </p:nvSpPr>
            <p:spPr>
              <a:xfrm>
                <a:off x="1519411" y="2890297"/>
                <a:ext cx="7736990" cy="414537"/>
              </a:xfrm>
              <a:prstGeom prst="rect">
                <a:avLst/>
              </a:prstGeom>
              <a:blipFill>
                <a:blip r:embed="rId10"/>
                <a:stretch>
                  <a:fillRect l="-1812" t="-100000" b="-16176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7C4147E-3646-44DA-BEB1-B3A1C54454D7}"/>
                  </a:ext>
                </a:extLst>
              </p:cNvPr>
              <p:cNvSpPr txBox="1"/>
              <p:nvPr/>
            </p:nvSpPr>
            <p:spPr>
              <a:xfrm>
                <a:off x="1391920" y="3577017"/>
                <a:ext cx="7142480" cy="369332"/>
              </a:xfrm>
              <a:prstGeom prst="rect">
                <a:avLst/>
              </a:prstGeom>
              <a:noFill/>
            </p:spPr>
            <p:txBody>
              <a:bodyPr wrap="square">
                <a:spAutoFit/>
              </a:bodyPr>
              <a:lstStyle/>
              <a:p>
                <a:r>
                  <a:rPr lang="en-IN" dirty="0"/>
                  <a:t>To represent the training data better, </a:t>
                </a:r>
                <a14:m>
                  <m:oMath xmlns:m="http://schemas.openxmlformats.org/officeDocument/2006/math">
                    <m:r>
                      <a:rPr lang="en-IN" i="1">
                        <a:latin typeface="Cambria Math" panose="02040503050406030204" pitchFamily="18" charset="0"/>
                        <a:ea typeface="Cambria Math" panose="02040503050406030204" pitchFamily="18" charset="0"/>
                      </a:rPr>
                      <m:t>ℒ</m:t>
                    </m:r>
                  </m:oMath>
                </a14:m>
                <a:r>
                  <a:rPr lang="en-IN" dirty="0"/>
                  <a:t> has to be maximized  </a:t>
                </a:r>
              </a:p>
            </p:txBody>
          </p:sp>
        </mc:Choice>
        <mc:Fallback xmlns="">
          <p:sp>
            <p:nvSpPr>
              <p:cNvPr id="11" name="TextBox 10">
                <a:extLst>
                  <a:ext uri="{FF2B5EF4-FFF2-40B4-BE49-F238E27FC236}">
                    <a16:creationId xmlns:a16="http://schemas.microsoft.com/office/drawing/2014/main" id="{17C4147E-3646-44DA-BEB1-B3A1C54454D7}"/>
                  </a:ext>
                </a:extLst>
              </p:cNvPr>
              <p:cNvSpPr txBox="1">
                <a:spLocks noRot="1" noChangeAspect="1" noMove="1" noResize="1" noEditPoints="1" noAdjustHandles="1" noChangeArrowheads="1" noChangeShapeType="1" noTextEdit="1"/>
              </p:cNvSpPr>
              <p:nvPr/>
            </p:nvSpPr>
            <p:spPr>
              <a:xfrm>
                <a:off x="1391920" y="3577017"/>
                <a:ext cx="7142480" cy="369332"/>
              </a:xfrm>
              <a:prstGeom prst="rect">
                <a:avLst/>
              </a:prstGeom>
              <a:blipFill>
                <a:blip r:embed="rId7"/>
                <a:stretch>
                  <a:fillRect l="-683" t="-8333" b="-28333"/>
                </a:stretch>
              </a:blipFill>
            </p:spPr>
            <p:txBody>
              <a:bodyPr/>
              <a:lstStyle/>
              <a:p>
                <a:r>
                  <a:rPr lang="en-IN">
                    <a:noFill/>
                  </a:rPr>
                  <a:t> </a:t>
                </a:r>
              </a:p>
            </p:txBody>
          </p:sp>
        </mc:Fallback>
      </mc:AlternateContent>
      <p:sp>
        <p:nvSpPr>
          <p:cNvPr id="12" name="TextBox 11">
            <a:extLst>
              <a:ext uri="{FF2B5EF4-FFF2-40B4-BE49-F238E27FC236}">
                <a16:creationId xmlns:a16="http://schemas.microsoft.com/office/drawing/2014/main" id="{0E069BF0-9818-405B-BE9E-16C0BCB006E6}"/>
              </a:ext>
            </a:extLst>
          </p:cNvPr>
          <p:cNvSpPr txBox="1"/>
          <p:nvPr/>
        </p:nvSpPr>
        <p:spPr>
          <a:xfrm>
            <a:off x="1910080" y="4027586"/>
            <a:ext cx="7142480" cy="369332"/>
          </a:xfrm>
          <a:prstGeom prst="rect">
            <a:avLst/>
          </a:prstGeom>
          <a:noFill/>
        </p:spPr>
        <p:txBody>
          <a:bodyPr wrap="square">
            <a:spAutoFit/>
          </a:bodyPr>
          <a:lstStyle/>
          <a:p>
            <a:r>
              <a:rPr lang="en-IN" dirty="0">
                <a:solidFill>
                  <a:srgbClr val="C00000"/>
                </a:solidFill>
              </a:rPr>
              <a:t>Maximum Likelihood Estimation (MLE) method</a:t>
            </a:r>
          </a:p>
        </p:txBody>
      </p:sp>
      <p:sp>
        <p:nvSpPr>
          <p:cNvPr id="13" name="TextBox 12">
            <a:extLst>
              <a:ext uri="{FF2B5EF4-FFF2-40B4-BE49-F238E27FC236}">
                <a16:creationId xmlns:a16="http://schemas.microsoft.com/office/drawing/2014/main" id="{C1015F0E-C519-4F0F-A658-92F82A4526A7}"/>
              </a:ext>
            </a:extLst>
          </p:cNvPr>
          <p:cNvSpPr txBox="1"/>
          <p:nvPr/>
        </p:nvSpPr>
        <p:spPr>
          <a:xfrm>
            <a:off x="1391920" y="4490715"/>
            <a:ext cx="5791200" cy="369332"/>
          </a:xfrm>
          <a:prstGeom prst="rect">
            <a:avLst/>
          </a:prstGeom>
          <a:noFill/>
        </p:spPr>
        <p:txBody>
          <a:bodyPr wrap="square">
            <a:spAutoFit/>
          </a:bodyPr>
          <a:lstStyle/>
          <a:p>
            <a:r>
              <a:rPr lang="en-IN" dirty="0"/>
              <a:t>What does it mean to maximize?</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CDB67A3-9BD0-4074-BE7D-EDEFEBD201C5}"/>
                  </a:ext>
                </a:extLst>
              </p:cNvPr>
              <p:cNvSpPr txBox="1"/>
              <p:nvPr/>
            </p:nvSpPr>
            <p:spPr>
              <a:xfrm>
                <a:off x="1910080" y="4806641"/>
                <a:ext cx="5791200" cy="415242"/>
              </a:xfrm>
              <a:prstGeom prst="rect">
                <a:avLst/>
              </a:prstGeom>
              <a:noFill/>
            </p:spPr>
            <p:txBody>
              <a:bodyPr wrap="square">
                <a:spAutoFit/>
              </a:bodyPr>
              <a:lstStyle/>
              <a:p>
                <a:r>
                  <a:rPr lang="en-IN" dirty="0"/>
                  <a:t>Maximizing the quantity </a:t>
                </a:r>
                <a14:m>
                  <m:oMath xmlns:m="http://schemas.openxmlformats.org/officeDocument/2006/math">
                    <m:r>
                      <a:rPr lang="en-IN" b="0" i="1" smtClean="0">
                        <a:latin typeface="Cambria Math" panose="02040503050406030204" pitchFamily="18" charset="0"/>
                        <a:ea typeface="Cambria Math" panose="02040503050406030204" pitchFamily="18" charset="0"/>
                      </a:rPr>
                      <m:t>𝑃</m:t>
                    </m:r>
                    <m:d>
                      <m:dPr>
                        <m:ctrlPr>
                          <a:rPr lang="en-IN" b="0" i="1" smtClean="0">
                            <a:latin typeface="Cambria Math" panose="02040503050406030204" pitchFamily="18" charset="0"/>
                            <a:ea typeface="Cambria Math" panose="02040503050406030204" pitchFamily="18" charset="0"/>
                          </a:rPr>
                        </m:ctrlPr>
                      </m:dPr>
                      <m:e>
                        <m:sSup>
                          <m:sSupPr>
                            <m:ctrlPr>
                              <a:rPr lang="en-IN" b="0" i="1" smtClean="0">
                                <a:latin typeface="Cambria Math" panose="02040503050406030204" pitchFamily="18" charset="0"/>
                                <a:ea typeface="Cambria Math" panose="02040503050406030204" pitchFamily="18" charset="0"/>
                              </a:rPr>
                            </m:ctrlPr>
                          </m:sSupPr>
                          <m:e>
                            <m:r>
                              <a:rPr lang="en-IN" b="0" i="1" smtClean="0">
                                <a:latin typeface="Cambria Math" panose="02040503050406030204" pitchFamily="18" charset="0"/>
                                <a:ea typeface="Cambria Math" panose="02040503050406030204" pitchFamily="18" charset="0"/>
                              </a:rPr>
                              <m:t>𝑋</m:t>
                            </m:r>
                          </m:e>
                          <m:sup>
                            <m:d>
                              <m:dPr>
                                <m:ctrlPr>
                                  <a:rPr lang="en-IN" b="0" i="1" smtClean="0">
                                    <a:latin typeface="Cambria Math" panose="02040503050406030204" pitchFamily="18" charset="0"/>
                                    <a:ea typeface="Cambria Math" panose="02040503050406030204" pitchFamily="18" charset="0"/>
                                  </a:rPr>
                                </m:ctrlPr>
                              </m:dPr>
                              <m:e>
                                <m:r>
                                  <a:rPr lang="en-IN" b="0" i="1" smtClean="0">
                                    <a:latin typeface="Cambria Math" panose="02040503050406030204" pitchFamily="18" charset="0"/>
                                    <a:ea typeface="Cambria Math" panose="02040503050406030204" pitchFamily="18" charset="0"/>
                                  </a:rPr>
                                  <m:t>𝑖</m:t>
                                </m:r>
                              </m:e>
                            </m:d>
                          </m:sup>
                        </m:sSup>
                      </m:e>
                    </m:d>
                  </m:oMath>
                </a14:m>
                <a:r>
                  <a:rPr lang="en-IN" dirty="0"/>
                  <a:t> </a:t>
                </a:r>
              </a:p>
            </p:txBody>
          </p:sp>
        </mc:Choice>
        <mc:Fallback xmlns="">
          <p:sp>
            <p:nvSpPr>
              <p:cNvPr id="14" name="TextBox 13">
                <a:extLst>
                  <a:ext uri="{FF2B5EF4-FFF2-40B4-BE49-F238E27FC236}">
                    <a16:creationId xmlns:a16="http://schemas.microsoft.com/office/drawing/2014/main" id="{4CDB67A3-9BD0-4074-BE7D-EDEFEBD201C5}"/>
                  </a:ext>
                </a:extLst>
              </p:cNvPr>
              <p:cNvSpPr txBox="1">
                <a:spLocks noRot="1" noChangeAspect="1" noMove="1" noResize="1" noEditPoints="1" noAdjustHandles="1" noChangeArrowheads="1" noChangeShapeType="1" noTextEdit="1"/>
              </p:cNvSpPr>
              <p:nvPr/>
            </p:nvSpPr>
            <p:spPr>
              <a:xfrm>
                <a:off x="1910080" y="4806641"/>
                <a:ext cx="5791200" cy="415242"/>
              </a:xfrm>
              <a:prstGeom prst="rect">
                <a:avLst/>
              </a:prstGeom>
              <a:blipFill>
                <a:blip r:embed="rId11"/>
                <a:stretch>
                  <a:fillRect l="-842" b="-1739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72D4308-0749-43E8-8219-4408DBCE0401}"/>
                  </a:ext>
                </a:extLst>
              </p:cNvPr>
              <p:cNvSpPr txBox="1"/>
              <p:nvPr/>
            </p:nvSpPr>
            <p:spPr>
              <a:xfrm>
                <a:off x="1839432" y="5574521"/>
                <a:ext cx="6096000" cy="369332"/>
              </a:xfrm>
              <a:prstGeom prst="rect">
                <a:avLst/>
              </a:prstGeom>
              <a:noFill/>
            </p:spPr>
            <p:txBody>
              <a:bodyPr wrap="square">
                <a:spAutoFit/>
              </a:bodyPr>
              <a:lstStyle/>
              <a:p>
                <a14:m>
                  <m:oMath xmlns:m="http://schemas.openxmlformats.org/officeDocument/2006/math">
                    <m:r>
                      <a:rPr lang="en-IN" sz="1800" i="1" smtClean="0">
                        <a:latin typeface="Cambria Math" panose="02040503050406030204" pitchFamily="18" charset="0"/>
                        <a:ea typeface="Cambria Math" panose="02040503050406030204" pitchFamily="18" charset="0"/>
                      </a:rPr>
                      <m:t>𝒱</m:t>
                    </m:r>
                  </m:oMath>
                </a14:m>
                <a:r>
                  <a:rPr lang="pt-BR" b="0" i="0" dirty="0">
                    <a:solidFill>
                      <a:srgbClr val="0C0D0E"/>
                    </a:solidFill>
                    <a:effectLst/>
                    <a:latin typeface="ui-monospace"/>
                  </a:rPr>
                  <a:t>=["b", "g", "h", "n", "p", "s", "u", "ug", "un", "hug"]</a:t>
                </a:r>
                <a:endParaRPr lang="en-IN" dirty="0"/>
              </a:p>
            </p:txBody>
          </p:sp>
        </mc:Choice>
        <mc:Fallback xmlns="">
          <p:sp>
            <p:nvSpPr>
              <p:cNvPr id="16" name="TextBox 15">
                <a:extLst>
                  <a:ext uri="{FF2B5EF4-FFF2-40B4-BE49-F238E27FC236}">
                    <a16:creationId xmlns:a16="http://schemas.microsoft.com/office/drawing/2014/main" id="{072D4308-0749-43E8-8219-4408DBCE0401}"/>
                  </a:ext>
                </a:extLst>
              </p:cNvPr>
              <p:cNvSpPr txBox="1">
                <a:spLocks noRot="1" noChangeAspect="1" noMove="1" noResize="1" noEditPoints="1" noAdjustHandles="1" noChangeArrowheads="1" noChangeShapeType="1" noTextEdit="1"/>
              </p:cNvSpPr>
              <p:nvPr/>
            </p:nvSpPr>
            <p:spPr>
              <a:xfrm>
                <a:off x="1839432" y="5574521"/>
                <a:ext cx="6096000" cy="369332"/>
              </a:xfrm>
              <a:prstGeom prst="rect">
                <a:avLst/>
              </a:prstGeom>
              <a:blipFill>
                <a:blip r:embed="rId12"/>
                <a:stretch>
                  <a:fillRect t="-8197" b="-245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81D9040-1398-4641-AFCA-5E8E199C8446}"/>
                  </a:ext>
                </a:extLst>
              </p:cNvPr>
              <p:cNvSpPr txBox="1"/>
              <p:nvPr/>
            </p:nvSpPr>
            <p:spPr>
              <a:xfrm>
                <a:off x="1839432" y="5979179"/>
                <a:ext cx="6096000" cy="369332"/>
              </a:xfrm>
              <a:prstGeom prst="rect">
                <a:avLst/>
              </a:prstGeom>
              <a:noFill/>
            </p:spPr>
            <p:txBody>
              <a:bodyPr wrap="square">
                <a:spAutoFit/>
              </a:bodyPr>
              <a:lstStyle/>
              <a:p>
                <a14:m>
                  <m:oMath xmlns:m="http://schemas.openxmlformats.org/officeDocument/2006/math">
                    <m:r>
                      <a:rPr lang="en-IN" sz="1800" b="0" i="1" smtClean="0">
                        <a:latin typeface="Cambria Math" panose="02040503050406030204" pitchFamily="18" charset="0"/>
                        <a:ea typeface="Cambria Math" panose="02040503050406030204" pitchFamily="18" charset="0"/>
                      </a:rPr>
                      <m:t>𝒮</m:t>
                    </m:r>
                    <m:d>
                      <m:dPr>
                        <m:ctrlPr>
                          <a:rPr lang="en-IN" sz="1800" b="0" i="1" smtClean="0">
                            <a:latin typeface="Cambria Math" panose="02040503050406030204" pitchFamily="18" charset="0"/>
                            <a:ea typeface="Cambria Math" panose="02040503050406030204" pitchFamily="18" charset="0"/>
                          </a:rPr>
                        </m:ctrlPr>
                      </m:dPr>
                      <m:e>
                        <m:r>
                          <m:rPr>
                            <m:nor/>
                          </m:rPr>
                          <a:rPr lang="en-IN" sz="1800" b="0" i="0" smtClean="0">
                            <a:latin typeface="Cambria Math" panose="02040503050406030204" pitchFamily="18" charset="0"/>
                            <a:ea typeface="Cambria Math" panose="02040503050406030204" pitchFamily="18" charset="0"/>
                          </a:rPr>
                          <m:t>hugs</m:t>
                        </m:r>
                      </m:e>
                    </m:d>
                    <m:r>
                      <a:rPr lang="en-IN" sz="1800" b="0" i="1" smtClean="0">
                        <a:latin typeface="Cambria Math" panose="02040503050406030204" pitchFamily="18" charset="0"/>
                        <a:ea typeface="Cambria Math" panose="02040503050406030204" pitchFamily="18" charset="0"/>
                      </a:rPr>
                      <m:t>=</m:t>
                    </m:r>
                  </m:oMath>
                </a14:m>
                <a:r>
                  <a:rPr lang="en-IN" dirty="0">
                    <a:solidFill>
                      <a:srgbClr val="3B4045"/>
                    </a:solidFill>
                    <a:latin typeface="-apple-system"/>
                  </a:rPr>
                  <a:t> { ["hug", "s"],  ["h", "ug", "s"]</a:t>
                </a:r>
                <a:r>
                  <a:rPr lang="en-IN" dirty="0"/>
                  <a:t>, </a:t>
                </a:r>
                <a:r>
                  <a:rPr lang="en-IN" dirty="0">
                    <a:solidFill>
                      <a:srgbClr val="3B4045"/>
                    </a:solidFill>
                    <a:latin typeface="-apple-system"/>
                  </a:rPr>
                  <a:t>["h", "u", "g", "s"]}</a:t>
                </a:r>
                <a:r>
                  <a:rPr lang="en-IN" dirty="0"/>
                  <a:t> </a:t>
                </a:r>
                <a:r>
                  <a:rPr lang="en-IN" dirty="0">
                    <a:solidFill>
                      <a:srgbClr val="3B4045"/>
                    </a:solidFill>
                    <a:latin typeface="-apple-system"/>
                  </a:rPr>
                  <a:t> </a:t>
                </a:r>
                <a:endParaRPr lang="en-IN" dirty="0"/>
              </a:p>
            </p:txBody>
          </p:sp>
        </mc:Choice>
        <mc:Fallback xmlns="">
          <p:sp>
            <p:nvSpPr>
              <p:cNvPr id="24" name="TextBox 23">
                <a:extLst>
                  <a:ext uri="{FF2B5EF4-FFF2-40B4-BE49-F238E27FC236}">
                    <a16:creationId xmlns:a16="http://schemas.microsoft.com/office/drawing/2014/main" id="{481D9040-1398-4641-AFCA-5E8E199C8446}"/>
                  </a:ext>
                </a:extLst>
              </p:cNvPr>
              <p:cNvSpPr txBox="1">
                <a:spLocks noRot="1" noChangeAspect="1" noMove="1" noResize="1" noEditPoints="1" noAdjustHandles="1" noChangeArrowheads="1" noChangeShapeType="1" noTextEdit="1"/>
              </p:cNvSpPr>
              <p:nvPr/>
            </p:nvSpPr>
            <p:spPr>
              <a:xfrm>
                <a:off x="1839432" y="5979179"/>
                <a:ext cx="6096000" cy="369332"/>
              </a:xfrm>
              <a:prstGeom prst="rect">
                <a:avLst/>
              </a:prstGeom>
              <a:blipFill>
                <a:blip r:embed="rId13"/>
                <a:stretch>
                  <a:fillRect t="-10000" b="-26667"/>
                </a:stretch>
              </a:blipFill>
            </p:spPr>
            <p:txBody>
              <a:bodyPr/>
              <a:lstStyle/>
              <a:p>
                <a:r>
                  <a:rPr lang="en-IN">
                    <a:noFill/>
                  </a:rPr>
                  <a:t> </a:t>
                </a:r>
              </a:p>
            </p:txBody>
          </p:sp>
        </mc:Fallback>
      </mc:AlternateContent>
      <p:sp>
        <p:nvSpPr>
          <p:cNvPr id="25" name="TextBox 24">
            <a:extLst>
              <a:ext uri="{FF2B5EF4-FFF2-40B4-BE49-F238E27FC236}">
                <a16:creationId xmlns:a16="http://schemas.microsoft.com/office/drawing/2014/main" id="{F8905E71-F29A-421B-A051-CA7D86AF56BC}"/>
              </a:ext>
            </a:extLst>
          </p:cNvPr>
          <p:cNvSpPr txBox="1"/>
          <p:nvPr/>
        </p:nvSpPr>
        <p:spPr>
          <a:xfrm>
            <a:off x="1391920" y="6459963"/>
            <a:ext cx="5791200" cy="369332"/>
          </a:xfrm>
          <a:prstGeom prst="rect">
            <a:avLst/>
          </a:prstGeom>
          <a:noFill/>
        </p:spPr>
        <p:txBody>
          <a:bodyPr wrap="square">
            <a:spAutoFit/>
          </a:bodyPr>
          <a:lstStyle/>
          <a:p>
            <a:r>
              <a:rPr lang="en-IN" dirty="0">
                <a:solidFill>
                  <a:srgbClr val="C00000"/>
                </a:solidFill>
              </a:rPr>
              <a:t>Find the segmentation with highest likelihood value</a:t>
            </a:r>
          </a:p>
        </p:txBody>
      </p:sp>
    </p:spTree>
    <p:extLst>
      <p:ext uri="{BB962C8B-B14F-4D97-AF65-F5344CB8AC3E}">
        <p14:creationId xmlns:p14="http://schemas.microsoft.com/office/powerpoint/2010/main" val="3187398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500"/>
                                        <p:tgtEl>
                                          <p:spTgt spid="2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13" grpId="0"/>
      <p:bldP spid="14" grpId="0"/>
      <p:bldP spid="16" grpId="0"/>
      <p:bldP spid="24" grpId="0"/>
      <p:bldP spid="2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52A03-FB03-4BE4-A9CB-7F21A72C793A}"/>
              </a:ext>
            </a:extLst>
          </p:cNvPr>
          <p:cNvSpPr>
            <a:spLocks noGrp="1"/>
          </p:cNvSpPr>
          <p:nvPr>
            <p:ph type="title"/>
          </p:nvPr>
        </p:nvSpPr>
        <p:spPr/>
        <p:txBody>
          <a:bodyPr/>
          <a:lstStyle/>
          <a:p>
            <a:r>
              <a:rPr lang="en-IN" dirty="0" err="1"/>
              <a:t>SentencePiece</a:t>
            </a:r>
            <a:r>
              <a:rPr lang="en-IN" dirty="0"/>
              <a:t>: Unigram Tokenizer</a:t>
            </a:r>
          </a:p>
        </p:txBody>
      </p:sp>
      <p:sp>
        <p:nvSpPr>
          <p:cNvPr id="4" name="Slide Number Placeholder 3">
            <a:extLst>
              <a:ext uri="{FF2B5EF4-FFF2-40B4-BE49-F238E27FC236}">
                <a16:creationId xmlns:a16="http://schemas.microsoft.com/office/drawing/2014/main" id="{CF9B9F38-5163-42B0-91F1-C4C39473FFA7}"/>
              </a:ext>
            </a:extLst>
          </p:cNvPr>
          <p:cNvSpPr>
            <a:spLocks noGrp="1"/>
          </p:cNvSpPr>
          <p:nvPr>
            <p:ph type="sldNum" sz="quarter" idx="12"/>
          </p:nvPr>
        </p:nvSpPr>
        <p:spPr/>
        <p:txBody>
          <a:bodyPr/>
          <a:lstStyle/>
          <a:p>
            <a:fld id="{FF2BD96E-3838-45D2-9031-D3AF67C920A5}" type="slidenum">
              <a:rPr lang="en-US" smtClean="0"/>
              <a:t>22</a:t>
            </a:fld>
            <a:endParaRPr lang="en-US"/>
          </a:p>
        </p:txBody>
      </p:sp>
      <p:sp>
        <p:nvSpPr>
          <p:cNvPr id="25" name="TextBox 24">
            <a:extLst>
              <a:ext uri="{FF2B5EF4-FFF2-40B4-BE49-F238E27FC236}">
                <a16:creationId xmlns:a16="http://schemas.microsoft.com/office/drawing/2014/main" id="{F8905E71-F29A-421B-A051-CA7D86AF56BC}"/>
              </a:ext>
            </a:extLst>
          </p:cNvPr>
          <p:cNvSpPr txBox="1"/>
          <p:nvPr/>
        </p:nvSpPr>
        <p:spPr>
          <a:xfrm>
            <a:off x="1978005" y="963178"/>
            <a:ext cx="8235989" cy="461665"/>
          </a:xfrm>
          <a:prstGeom prst="rect">
            <a:avLst/>
          </a:prstGeom>
          <a:noFill/>
        </p:spPr>
        <p:txBody>
          <a:bodyPr wrap="square">
            <a:spAutoFit/>
          </a:bodyPr>
          <a:lstStyle/>
          <a:p>
            <a:r>
              <a:rPr lang="en-IN" sz="2400" dirty="0">
                <a:solidFill>
                  <a:srgbClr val="0070C0"/>
                </a:solidFill>
              </a:rPr>
              <a:t>Find the segmentation with highest likelihood value</a:t>
            </a:r>
          </a:p>
        </p:txBody>
      </p:sp>
      <p:sp>
        <p:nvSpPr>
          <p:cNvPr id="17" name="TextBox 16">
            <a:extLst>
              <a:ext uri="{FF2B5EF4-FFF2-40B4-BE49-F238E27FC236}">
                <a16:creationId xmlns:a16="http://schemas.microsoft.com/office/drawing/2014/main" id="{95801F17-E47F-49DD-A60F-DCA57704A313}"/>
              </a:ext>
            </a:extLst>
          </p:cNvPr>
          <p:cNvSpPr txBox="1"/>
          <p:nvPr/>
        </p:nvSpPr>
        <p:spPr>
          <a:xfrm>
            <a:off x="747524" y="2089466"/>
            <a:ext cx="3524194" cy="461665"/>
          </a:xfrm>
          <a:prstGeom prst="rect">
            <a:avLst/>
          </a:prstGeom>
          <a:noFill/>
        </p:spPr>
        <p:txBody>
          <a:bodyPr wrap="square">
            <a:spAutoFit/>
          </a:bodyPr>
          <a:lstStyle/>
          <a:p>
            <a:r>
              <a:rPr lang="en-IN" sz="2400" dirty="0"/>
              <a:t>A naïve approach</a:t>
            </a:r>
          </a:p>
        </p:txBody>
      </p:sp>
      <p:sp>
        <p:nvSpPr>
          <p:cNvPr id="18" name="TextBox 17">
            <a:extLst>
              <a:ext uri="{FF2B5EF4-FFF2-40B4-BE49-F238E27FC236}">
                <a16:creationId xmlns:a16="http://schemas.microsoft.com/office/drawing/2014/main" id="{4615DC7C-1981-4ED7-9E3A-7A09674BBE23}"/>
              </a:ext>
            </a:extLst>
          </p:cNvPr>
          <p:cNvSpPr txBox="1"/>
          <p:nvPr/>
        </p:nvSpPr>
        <p:spPr>
          <a:xfrm>
            <a:off x="910084" y="2536953"/>
            <a:ext cx="4989186" cy="400110"/>
          </a:xfrm>
          <a:prstGeom prst="rect">
            <a:avLst/>
          </a:prstGeom>
          <a:noFill/>
        </p:spPr>
        <p:txBody>
          <a:bodyPr wrap="square">
            <a:spAutoFit/>
          </a:bodyPr>
          <a:lstStyle/>
          <a:p>
            <a:r>
              <a:rPr lang="en-IN" sz="2000" dirty="0"/>
              <a:t>Enumerate all possible segmentations </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928FFD0-73E4-4CEC-9C40-A2DE4E745522}"/>
                  </a:ext>
                </a:extLst>
              </p:cNvPr>
              <p:cNvSpPr txBox="1"/>
              <p:nvPr/>
            </p:nvSpPr>
            <p:spPr>
              <a:xfrm>
                <a:off x="910083" y="2941567"/>
                <a:ext cx="5405875" cy="400110"/>
              </a:xfrm>
              <a:prstGeom prst="rect">
                <a:avLst/>
              </a:prstGeom>
              <a:noFill/>
            </p:spPr>
            <p:txBody>
              <a:bodyPr wrap="square">
                <a:spAutoFit/>
              </a:bodyPr>
              <a:lstStyle/>
              <a:p>
                <a:r>
                  <a:rPr lang="en-IN" sz="2000" dirty="0"/>
                  <a:t>Calculate likelihood of each segmentation </a:t>
                </a:r>
                <a14:m>
                  <m:oMath xmlns:m="http://schemas.openxmlformats.org/officeDocument/2006/math">
                    <m:r>
                      <a:rPr lang="en-IN" sz="2000" b="0" i="1" smtClean="0">
                        <a:latin typeface="Cambria Math" panose="02040503050406030204" pitchFamily="18" charset="0"/>
                      </a:rPr>
                      <m:t>𝑦</m:t>
                    </m:r>
                  </m:oMath>
                </a14:m>
                <a:r>
                  <a:rPr lang="en-IN" sz="2000" dirty="0"/>
                  <a:t> </a:t>
                </a:r>
              </a:p>
            </p:txBody>
          </p:sp>
        </mc:Choice>
        <mc:Fallback xmlns="">
          <p:sp>
            <p:nvSpPr>
              <p:cNvPr id="19" name="TextBox 18">
                <a:extLst>
                  <a:ext uri="{FF2B5EF4-FFF2-40B4-BE49-F238E27FC236}">
                    <a16:creationId xmlns:a16="http://schemas.microsoft.com/office/drawing/2014/main" id="{4928FFD0-73E4-4CEC-9C40-A2DE4E745522}"/>
                  </a:ext>
                </a:extLst>
              </p:cNvPr>
              <p:cNvSpPr txBox="1">
                <a:spLocks noRot="1" noChangeAspect="1" noMove="1" noResize="1" noEditPoints="1" noAdjustHandles="1" noChangeArrowheads="1" noChangeShapeType="1" noTextEdit="1"/>
              </p:cNvSpPr>
              <p:nvPr/>
            </p:nvSpPr>
            <p:spPr>
              <a:xfrm>
                <a:off x="910083" y="2941567"/>
                <a:ext cx="5405875" cy="400110"/>
              </a:xfrm>
              <a:prstGeom prst="rect">
                <a:avLst/>
              </a:prstGeom>
              <a:blipFill>
                <a:blip r:embed="rId2"/>
                <a:stretch>
                  <a:fillRect l="-1127" t="-7692" b="-2923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C25EBEB-93DF-49BA-881F-012CB07C6B66}"/>
                  </a:ext>
                </a:extLst>
              </p:cNvPr>
              <p:cNvSpPr txBox="1"/>
              <p:nvPr/>
            </p:nvSpPr>
            <p:spPr>
              <a:xfrm>
                <a:off x="4133862" y="1459087"/>
                <a:ext cx="2904513" cy="5956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2400" b="0" i="1" smtClean="0">
                              <a:latin typeface="Cambria Math" panose="02040503050406030204" pitchFamily="18" charset="0"/>
                            </a:rPr>
                          </m:ctrlPr>
                        </m:sSupPr>
                        <m:e>
                          <m:r>
                            <a:rPr lang="en-IN" sz="2400" b="0" i="1" smtClean="0">
                              <a:latin typeface="Cambria Math" panose="02040503050406030204" pitchFamily="18" charset="0"/>
                            </a:rPr>
                            <m:t>𝑦</m:t>
                          </m:r>
                        </m:e>
                        <m:sup>
                          <m:r>
                            <a:rPr lang="en-IN" sz="2400" b="0" i="1" smtClean="0">
                              <a:latin typeface="Cambria Math" panose="02040503050406030204" pitchFamily="18" charset="0"/>
                            </a:rPr>
                            <m:t>∗</m:t>
                          </m:r>
                        </m:sup>
                      </m:sSup>
                      <m:r>
                        <a:rPr lang="en-IN" sz="2400" b="0" i="1" smtClean="0">
                          <a:latin typeface="Cambria Math" panose="02040503050406030204" pitchFamily="18" charset="0"/>
                        </a:rPr>
                        <m:t>=</m:t>
                      </m:r>
                      <m:func>
                        <m:funcPr>
                          <m:ctrlPr>
                            <a:rPr lang="en-IN" sz="2400" b="0" i="1" smtClean="0">
                              <a:latin typeface="Cambria Math" panose="02040503050406030204" pitchFamily="18" charset="0"/>
                            </a:rPr>
                          </m:ctrlPr>
                        </m:funcPr>
                        <m:fName>
                          <m:limLow>
                            <m:limLowPr>
                              <m:ctrlPr>
                                <a:rPr lang="en-IN" sz="2400" b="0" i="1" smtClean="0">
                                  <a:latin typeface="Cambria Math" panose="02040503050406030204" pitchFamily="18" charset="0"/>
                                </a:rPr>
                              </m:ctrlPr>
                            </m:limLowPr>
                            <m:e>
                              <m:r>
                                <m:rPr>
                                  <m:sty m:val="p"/>
                                </m:rPr>
                                <a:rPr lang="en-IN" sz="2400" b="0" i="0" smtClean="0">
                                  <a:latin typeface="Cambria Math" panose="02040503050406030204" pitchFamily="18" charset="0"/>
                                </a:rPr>
                                <m:t>argmax</m:t>
                              </m:r>
                            </m:e>
                            <m:lim>
                              <m:r>
                                <a:rPr lang="en-IN" sz="2400" b="0" i="1" smtClean="0">
                                  <a:latin typeface="Cambria Math" panose="02040503050406030204" pitchFamily="18" charset="0"/>
                                </a:rPr>
                                <m:t>𝑦</m:t>
                              </m:r>
                              <m:r>
                                <a:rPr lang="en-IN" sz="2400" b="0" i="1" smtClean="0">
                                  <a:latin typeface="Cambria Math" panose="02040503050406030204" pitchFamily="18" charset="0"/>
                                </a:rPr>
                                <m:t>∈</m:t>
                              </m:r>
                              <m:r>
                                <a:rPr lang="en-IN" sz="2400" b="0" i="1" smtClean="0">
                                  <a:latin typeface="Cambria Math" panose="02040503050406030204" pitchFamily="18" charset="0"/>
                                  <a:ea typeface="Cambria Math" panose="02040503050406030204" pitchFamily="18" charset="0"/>
                                </a:rPr>
                                <m:t>𝒮</m:t>
                              </m:r>
                              <m:r>
                                <a:rPr lang="en-IN" sz="2400" b="0" i="1" smtClean="0">
                                  <a:latin typeface="Cambria Math" panose="02040503050406030204" pitchFamily="18" charset="0"/>
                                  <a:ea typeface="Cambria Math" panose="02040503050406030204" pitchFamily="18" charset="0"/>
                                </a:rPr>
                                <m:t>(</m:t>
                              </m:r>
                              <m:r>
                                <a:rPr lang="en-IN" sz="2400" b="0" i="1" smtClean="0">
                                  <a:latin typeface="Cambria Math" panose="02040503050406030204" pitchFamily="18" charset="0"/>
                                  <a:ea typeface="Cambria Math" panose="02040503050406030204" pitchFamily="18" charset="0"/>
                                </a:rPr>
                                <m:t>𝑋</m:t>
                              </m:r>
                              <m:r>
                                <a:rPr lang="en-IN" sz="2400" b="0" i="1" smtClean="0">
                                  <a:latin typeface="Cambria Math" panose="02040503050406030204" pitchFamily="18" charset="0"/>
                                  <a:ea typeface="Cambria Math" panose="02040503050406030204" pitchFamily="18" charset="0"/>
                                </a:rPr>
                                <m:t>)</m:t>
                              </m:r>
                            </m:lim>
                          </m:limLow>
                        </m:fName>
                        <m:e>
                          <m:func>
                            <m:funcPr>
                              <m:ctrlPr>
                                <a:rPr lang="en-IN" sz="2400" b="0" i="1" smtClean="0">
                                  <a:latin typeface="Cambria Math" panose="02040503050406030204" pitchFamily="18" charset="0"/>
                                </a:rPr>
                              </m:ctrlPr>
                            </m:funcPr>
                            <m:fName>
                              <m:r>
                                <m:rPr>
                                  <m:sty m:val="p"/>
                                </m:rPr>
                                <a:rPr lang="en-IN" sz="2400" b="0" i="0" smtClean="0">
                                  <a:latin typeface="Cambria Math" panose="02040503050406030204" pitchFamily="18" charset="0"/>
                                </a:rPr>
                                <m:t>log</m:t>
                              </m:r>
                            </m:fName>
                            <m:e>
                              <m:r>
                                <a:rPr lang="en-IN" sz="2400" b="0" i="1" smtClean="0">
                                  <a:latin typeface="Cambria Math" panose="02040503050406030204" pitchFamily="18" charset="0"/>
                                </a:rPr>
                                <m:t>𝑃</m:t>
                              </m:r>
                              <m:r>
                                <a:rPr lang="en-IN" sz="2400" b="0" i="1" smtClean="0">
                                  <a:latin typeface="Cambria Math" panose="02040503050406030204" pitchFamily="18" charset="0"/>
                                </a:rPr>
                                <m:t>(</m:t>
                              </m:r>
                              <m:r>
                                <a:rPr lang="en-IN" sz="2400" b="0" i="1" smtClean="0">
                                  <a:latin typeface="Cambria Math" panose="02040503050406030204" pitchFamily="18" charset="0"/>
                                </a:rPr>
                                <m:t>𝑦</m:t>
                              </m:r>
                              <m:r>
                                <a:rPr lang="en-IN" sz="2400" b="0" i="1" smtClean="0">
                                  <a:latin typeface="Cambria Math" panose="02040503050406030204" pitchFamily="18" charset="0"/>
                                </a:rPr>
                                <m:t>)</m:t>
                              </m:r>
                            </m:e>
                          </m:func>
                        </m:e>
                      </m:func>
                    </m:oMath>
                  </m:oMathPara>
                </a14:m>
                <a:endParaRPr lang="en-IN" sz="2400" dirty="0"/>
              </a:p>
            </p:txBody>
          </p:sp>
        </mc:Choice>
        <mc:Fallback xmlns="">
          <p:sp>
            <p:nvSpPr>
              <p:cNvPr id="3" name="TextBox 2">
                <a:extLst>
                  <a:ext uri="{FF2B5EF4-FFF2-40B4-BE49-F238E27FC236}">
                    <a16:creationId xmlns:a16="http://schemas.microsoft.com/office/drawing/2014/main" id="{3C25EBEB-93DF-49BA-881F-012CB07C6B66}"/>
                  </a:ext>
                </a:extLst>
              </p:cNvPr>
              <p:cNvSpPr txBox="1">
                <a:spLocks noRot="1" noChangeAspect="1" noMove="1" noResize="1" noEditPoints="1" noAdjustHandles="1" noChangeArrowheads="1" noChangeShapeType="1" noTextEdit="1"/>
              </p:cNvSpPr>
              <p:nvPr/>
            </p:nvSpPr>
            <p:spPr>
              <a:xfrm>
                <a:off x="4133862" y="1459087"/>
                <a:ext cx="2904513" cy="595612"/>
              </a:xfrm>
              <a:prstGeom prst="rect">
                <a:avLst/>
              </a:prstGeom>
              <a:blipFill>
                <a:blip r:embed="rId3"/>
                <a:stretch>
                  <a:fillRect l="-2096" r="-3145" b="-1734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0F33F73-124F-4AB5-921A-6D9B056A49CF}"/>
                  </a:ext>
                </a:extLst>
              </p:cNvPr>
              <p:cNvSpPr txBox="1"/>
              <p:nvPr/>
            </p:nvSpPr>
            <p:spPr>
              <a:xfrm>
                <a:off x="910084" y="3378804"/>
                <a:ext cx="6433396" cy="400110"/>
              </a:xfrm>
              <a:prstGeom prst="rect">
                <a:avLst/>
              </a:prstGeom>
              <a:noFill/>
            </p:spPr>
            <p:txBody>
              <a:bodyPr wrap="square">
                <a:spAutoFit/>
              </a:bodyPr>
              <a:lstStyle/>
              <a:p>
                <a:r>
                  <a:rPr lang="en-IN" sz="2000" dirty="0"/>
                  <a:t>Find the segmentation (</a:t>
                </a:r>
                <a14:m>
                  <m:oMath xmlns:m="http://schemas.openxmlformats.org/officeDocument/2006/math">
                    <m:sSup>
                      <m:sSupPr>
                        <m:ctrlPr>
                          <a:rPr lang="en-IN" sz="2000" b="0" i="1" smtClean="0">
                            <a:latin typeface="Cambria Math" panose="02040503050406030204" pitchFamily="18" charset="0"/>
                          </a:rPr>
                        </m:ctrlPr>
                      </m:sSupPr>
                      <m:e>
                        <m:r>
                          <a:rPr lang="en-IN" sz="2000" b="0" i="1" smtClean="0">
                            <a:latin typeface="Cambria Math" panose="02040503050406030204" pitchFamily="18" charset="0"/>
                          </a:rPr>
                          <m:t>𝑦</m:t>
                        </m:r>
                      </m:e>
                      <m:sup>
                        <m:r>
                          <a:rPr lang="en-IN" sz="2000" b="0" i="1" smtClean="0">
                            <a:latin typeface="Cambria Math" panose="02040503050406030204" pitchFamily="18" charset="0"/>
                          </a:rPr>
                          <m:t>∗</m:t>
                        </m:r>
                      </m:sup>
                    </m:sSup>
                  </m:oMath>
                </a14:m>
                <a:r>
                  <a:rPr lang="en-IN" sz="2000" dirty="0"/>
                  <a:t>) with maximum likelihood</a:t>
                </a:r>
              </a:p>
            </p:txBody>
          </p:sp>
        </mc:Choice>
        <mc:Fallback xmlns="">
          <p:sp>
            <p:nvSpPr>
              <p:cNvPr id="20" name="TextBox 19">
                <a:extLst>
                  <a:ext uri="{FF2B5EF4-FFF2-40B4-BE49-F238E27FC236}">
                    <a16:creationId xmlns:a16="http://schemas.microsoft.com/office/drawing/2014/main" id="{00F33F73-124F-4AB5-921A-6D9B056A49CF}"/>
                  </a:ext>
                </a:extLst>
              </p:cNvPr>
              <p:cNvSpPr txBox="1">
                <a:spLocks noRot="1" noChangeAspect="1" noMove="1" noResize="1" noEditPoints="1" noAdjustHandles="1" noChangeArrowheads="1" noChangeShapeType="1" noTextEdit="1"/>
              </p:cNvSpPr>
              <p:nvPr/>
            </p:nvSpPr>
            <p:spPr>
              <a:xfrm>
                <a:off x="910084" y="3378804"/>
                <a:ext cx="6433396" cy="400110"/>
              </a:xfrm>
              <a:prstGeom prst="rect">
                <a:avLst/>
              </a:prstGeom>
              <a:blipFill>
                <a:blip r:embed="rId4"/>
                <a:stretch>
                  <a:fillRect l="-947" t="-6061" b="-2727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AE1EF6F-D414-4D2F-8115-0B469353DD09}"/>
                  </a:ext>
                </a:extLst>
              </p:cNvPr>
              <p:cNvSpPr txBox="1"/>
              <p:nvPr/>
            </p:nvSpPr>
            <p:spPr>
              <a:xfrm>
                <a:off x="6559044" y="2697965"/>
                <a:ext cx="4989186" cy="375872"/>
              </a:xfrm>
              <a:prstGeom prst="rect">
                <a:avLst/>
              </a:prstGeom>
              <a:noFill/>
            </p:spPr>
            <p:txBody>
              <a:bodyPr wrap="none" lIns="0" tIns="0" rIns="0" bIns="0" rtlCol="0">
                <a:spAutoFit/>
              </a:bodyPr>
              <a:lstStyle/>
              <a:p>
                <a14:m>
                  <m:oMath xmlns:m="http://schemas.openxmlformats.org/officeDocument/2006/math">
                    <m:r>
                      <a:rPr lang="en-IN" sz="2400" b="0" i="1" smtClean="0">
                        <a:solidFill>
                          <a:srgbClr val="FF0000"/>
                        </a:solidFill>
                        <a:latin typeface="Cambria Math" panose="02040503050406030204" pitchFamily="18" charset="0"/>
                      </a:rPr>
                      <m:t>𝑂</m:t>
                    </m:r>
                    <m:r>
                      <a:rPr lang="en-IN" sz="2400" b="0" i="1" smtClean="0">
                        <a:solidFill>
                          <a:srgbClr val="FF0000"/>
                        </a:solidFill>
                        <a:latin typeface="Cambria Math" panose="02040503050406030204" pitchFamily="18" charset="0"/>
                      </a:rPr>
                      <m:t>(</m:t>
                    </m:r>
                    <m:sSup>
                      <m:sSupPr>
                        <m:ctrlPr>
                          <a:rPr lang="en-IN" sz="2400" b="0" i="1" smtClean="0">
                            <a:solidFill>
                              <a:srgbClr val="FF0000"/>
                            </a:solidFill>
                            <a:latin typeface="Cambria Math" panose="02040503050406030204" pitchFamily="18" charset="0"/>
                          </a:rPr>
                        </m:ctrlPr>
                      </m:sSupPr>
                      <m:e>
                        <m:r>
                          <a:rPr lang="en-IN" sz="2400" b="0" i="1" smtClean="0">
                            <a:solidFill>
                              <a:srgbClr val="FF0000"/>
                            </a:solidFill>
                            <a:latin typeface="Cambria Math" panose="02040503050406030204" pitchFamily="18" charset="0"/>
                          </a:rPr>
                          <m:t>2</m:t>
                        </m:r>
                      </m:e>
                      <m:sup>
                        <m:r>
                          <a:rPr lang="en-IN" sz="2400" b="0" i="1" smtClean="0">
                            <a:solidFill>
                              <a:srgbClr val="FF0000"/>
                            </a:solidFill>
                            <a:latin typeface="Cambria Math" panose="02040503050406030204" pitchFamily="18" charset="0"/>
                          </a:rPr>
                          <m:t>𝑘</m:t>
                        </m:r>
                      </m:sup>
                    </m:sSup>
                    <m:r>
                      <a:rPr lang="en-IN" sz="2400" b="0" i="1" smtClean="0">
                        <a:solidFill>
                          <a:srgbClr val="FF0000"/>
                        </a:solidFill>
                        <a:latin typeface="Cambria Math" panose="02040503050406030204" pitchFamily="18" charset="0"/>
                      </a:rPr>
                      <m:t>)</m:t>
                    </m:r>
                  </m:oMath>
                </a14:m>
                <a:r>
                  <a:rPr lang="en-IN" sz="2400" dirty="0">
                    <a:solidFill>
                      <a:srgbClr val="FF0000"/>
                    </a:solidFill>
                  </a:rPr>
                  <a:t> substring for a length </a:t>
                </a:r>
                <a14:m>
                  <m:oMath xmlns:m="http://schemas.openxmlformats.org/officeDocument/2006/math">
                    <m:r>
                      <a:rPr lang="en-IN" sz="2400" b="0" i="1" smtClean="0">
                        <a:solidFill>
                          <a:srgbClr val="FF0000"/>
                        </a:solidFill>
                        <a:latin typeface="Cambria Math" panose="02040503050406030204" pitchFamily="18" charset="0"/>
                      </a:rPr>
                      <m:t>𝑘</m:t>
                    </m:r>
                    <m:r>
                      <a:rPr lang="en-IN" sz="2400" b="0" i="1" smtClean="0">
                        <a:solidFill>
                          <a:srgbClr val="FF0000"/>
                        </a:solidFill>
                        <a:latin typeface="Cambria Math" panose="02040503050406030204" pitchFamily="18" charset="0"/>
                      </a:rPr>
                      <m:t> </m:t>
                    </m:r>
                  </m:oMath>
                </a14:m>
                <a:r>
                  <a:rPr lang="en-IN" sz="2400" dirty="0">
                    <a:solidFill>
                      <a:srgbClr val="FF0000"/>
                    </a:solidFill>
                  </a:rPr>
                  <a:t>string</a:t>
                </a:r>
              </a:p>
            </p:txBody>
          </p:sp>
        </mc:Choice>
        <mc:Fallback xmlns="">
          <p:sp>
            <p:nvSpPr>
              <p:cNvPr id="6" name="TextBox 5">
                <a:extLst>
                  <a:ext uri="{FF2B5EF4-FFF2-40B4-BE49-F238E27FC236}">
                    <a16:creationId xmlns:a16="http://schemas.microsoft.com/office/drawing/2014/main" id="{8AE1EF6F-D414-4D2F-8115-0B469353DD09}"/>
                  </a:ext>
                </a:extLst>
              </p:cNvPr>
              <p:cNvSpPr txBox="1">
                <a:spLocks noRot="1" noChangeAspect="1" noMove="1" noResize="1" noEditPoints="1" noAdjustHandles="1" noChangeArrowheads="1" noChangeShapeType="1" noTextEdit="1"/>
              </p:cNvSpPr>
              <p:nvPr/>
            </p:nvSpPr>
            <p:spPr>
              <a:xfrm>
                <a:off x="6559044" y="2697965"/>
                <a:ext cx="4989186" cy="375872"/>
              </a:xfrm>
              <a:prstGeom prst="rect">
                <a:avLst/>
              </a:prstGeom>
              <a:blipFill>
                <a:blip r:embed="rId5"/>
                <a:stretch>
                  <a:fillRect l="-2200" t="-22951" r="-2934" b="-50820"/>
                </a:stretch>
              </a:blipFill>
            </p:spPr>
            <p:txBody>
              <a:bodyPr/>
              <a:lstStyle/>
              <a:p>
                <a:r>
                  <a:rPr lang="en-IN">
                    <a:noFill/>
                  </a:rPr>
                  <a:t> </a:t>
                </a:r>
              </a:p>
            </p:txBody>
          </p:sp>
        </mc:Fallback>
      </mc:AlternateContent>
      <p:sp>
        <p:nvSpPr>
          <p:cNvPr id="22" name="TextBox 21">
            <a:extLst>
              <a:ext uri="{FF2B5EF4-FFF2-40B4-BE49-F238E27FC236}">
                <a16:creationId xmlns:a16="http://schemas.microsoft.com/office/drawing/2014/main" id="{FB2DA333-6381-4A57-A90E-B4C76D562BEB}"/>
              </a:ext>
            </a:extLst>
          </p:cNvPr>
          <p:cNvSpPr txBox="1"/>
          <p:nvPr/>
        </p:nvSpPr>
        <p:spPr>
          <a:xfrm>
            <a:off x="658329" y="4053516"/>
            <a:ext cx="4291662" cy="461665"/>
          </a:xfrm>
          <a:prstGeom prst="rect">
            <a:avLst/>
          </a:prstGeom>
          <a:noFill/>
        </p:spPr>
        <p:txBody>
          <a:bodyPr wrap="square">
            <a:spAutoFit/>
          </a:bodyPr>
          <a:lstStyle/>
          <a:p>
            <a:r>
              <a:rPr lang="en-IN" sz="2400" dirty="0">
                <a:solidFill>
                  <a:srgbClr val="C00000"/>
                </a:solidFill>
              </a:rPr>
              <a:t>Viterbi Decoding </a:t>
            </a:r>
            <a:r>
              <a:rPr lang="en-IN" sz="2400" dirty="0"/>
              <a:t>in rescue</a:t>
            </a:r>
          </a:p>
        </p:txBody>
      </p:sp>
      <p:sp>
        <p:nvSpPr>
          <p:cNvPr id="23" name="TextBox 22">
            <a:extLst>
              <a:ext uri="{FF2B5EF4-FFF2-40B4-BE49-F238E27FC236}">
                <a16:creationId xmlns:a16="http://schemas.microsoft.com/office/drawing/2014/main" id="{B5E67D1B-7CD7-450F-995F-E6396C0DCCF0}"/>
              </a:ext>
            </a:extLst>
          </p:cNvPr>
          <p:cNvSpPr txBox="1"/>
          <p:nvPr/>
        </p:nvSpPr>
        <p:spPr>
          <a:xfrm>
            <a:off x="910084" y="4542662"/>
            <a:ext cx="5648960" cy="1323439"/>
          </a:xfrm>
          <a:prstGeom prst="rect">
            <a:avLst/>
          </a:prstGeom>
          <a:noFill/>
        </p:spPr>
        <p:txBody>
          <a:bodyPr wrap="square">
            <a:spAutoFit/>
          </a:bodyPr>
          <a:lstStyle/>
          <a:p>
            <a:r>
              <a:rPr lang="en-IN" sz="2000" dirty="0"/>
              <a:t>Dynamic programming approach for computing the probability of the most likely sequence out of combinatorically many sequences</a:t>
            </a:r>
          </a:p>
        </p:txBody>
      </p:sp>
      <p:sp>
        <p:nvSpPr>
          <p:cNvPr id="26" name="TextBox 25">
            <a:extLst>
              <a:ext uri="{FF2B5EF4-FFF2-40B4-BE49-F238E27FC236}">
                <a16:creationId xmlns:a16="http://schemas.microsoft.com/office/drawing/2014/main" id="{08003A18-593E-462F-9ED1-DF91DB4CEFC4}"/>
              </a:ext>
            </a:extLst>
          </p:cNvPr>
          <p:cNvSpPr txBox="1"/>
          <p:nvPr/>
        </p:nvSpPr>
        <p:spPr>
          <a:xfrm>
            <a:off x="2804160" y="6218668"/>
            <a:ext cx="8233916" cy="369332"/>
          </a:xfrm>
          <a:prstGeom prst="rect">
            <a:avLst/>
          </a:prstGeom>
          <a:noFill/>
        </p:spPr>
        <p:txBody>
          <a:bodyPr wrap="square">
            <a:spAutoFit/>
          </a:bodyPr>
          <a:lstStyle/>
          <a:p>
            <a:r>
              <a:rPr lang="en-IN" dirty="0"/>
              <a:t>https://guillaume-be.github.io/2020-05-30/sentence_piece</a:t>
            </a:r>
          </a:p>
        </p:txBody>
      </p:sp>
    </p:spTree>
    <p:extLst>
      <p:ext uri="{BB962C8B-B14F-4D97-AF65-F5344CB8AC3E}">
        <p14:creationId xmlns:p14="http://schemas.microsoft.com/office/powerpoint/2010/main" val="2209888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3" grpId="0"/>
      <p:bldP spid="20" grpId="0"/>
      <p:bldP spid="6" grpId="0"/>
      <p:bldP spid="22" grpId="0"/>
      <p:bldP spid="2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D8F4A-BC02-4498-B1BE-144590B6917C}"/>
              </a:ext>
            </a:extLst>
          </p:cNvPr>
          <p:cNvSpPr>
            <a:spLocks noGrp="1"/>
          </p:cNvSpPr>
          <p:nvPr>
            <p:ph type="title"/>
          </p:nvPr>
        </p:nvSpPr>
        <p:spPr/>
        <p:txBody>
          <a:bodyPr/>
          <a:lstStyle/>
          <a:p>
            <a:r>
              <a:rPr lang="en-IN" dirty="0"/>
              <a:t>Unigram Tokenizer: Viterbi Decoding</a:t>
            </a:r>
          </a:p>
        </p:txBody>
      </p:sp>
      <p:sp>
        <p:nvSpPr>
          <p:cNvPr id="4" name="Slide Number Placeholder 3">
            <a:extLst>
              <a:ext uri="{FF2B5EF4-FFF2-40B4-BE49-F238E27FC236}">
                <a16:creationId xmlns:a16="http://schemas.microsoft.com/office/drawing/2014/main" id="{4F6BADD4-EB5B-4F35-90D8-0A4F9FECAE96}"/>
              </a:ext>
            </a:extLst>
          </p:cNvPr>
          <p:cNvSpPr>
            <a:spLocks noGrp="1"/>
          </p:cNvSpPr>
          <p:nvPr>
            <p:ph type="sldNum" sz="quarter" idx="12"/>
          </p:nvPr>
        </p:nvSpPr>
        <p:spPr/>
        <p:txBody>
          <a:bodyPr/>
          <a:lstStyle/>
          <a:p>
            <a:fld id="{FF2BD96E-3838-45D2-9031-D3AF67C920A5}" type="slidenum">
              <a:rPr lang="en-US" smtClean="0"/>
              <a:t>23</a:t>
            </a:fld>
            <a:endParaRPr lang="en-US"/>
          </a:p>
        </p:txBody>
      </p:sp>
      <p:sp>
        <p:nvSpPr>
          <p:cNvPr id="6" name="Rectangle 5">
            <a:extLst>
              <a:ext uri="{FF2B5EF4-FFF2-40B4-BE49-F238E27FC236}">
                <a16:creationId xmlns:a16="http://schemas.microsoft.com/office/drawing/2014/main" id="{7E542A13-9C9D-4817-B48F-B023C1A46D2B}"/>
              </a:ext>
            </a:extLst>
          </p:cNvPr>
          <p:cNvSpPr/>
          <p:nvPr/>
        </p:nvSpPr>
        <p:spPr>
          <a:xfrm>
            <a:off x="2773680" y="2416411"/>
            <a:ext cx="1361658" cy="332432"/>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PREFIX</a:t>
            </a:r>
          </a:p>
        </p:txBody>
      </p:sp>
      <p:sp>
        <p:nvSpPr>
          <p:cNvPr id="7" name="Rectangle 6">
            <a:extLst>
              <a:ext uri="{FF2B5EF4-FFF2-40B4-BE49-F238E27FC236}">
                <a16:creationId xmlns:a16="http://schemas.microsoft.com/office/drawing/2014/main" id="{35104FF4-9805-4C2C-9D58-C1A8A981FE99}"/>
              </a:ext>
            </a:extLst>
          </p:cNvPr>
          <p:cNvSpPr/>
          <p:nvPr/>
        </p:nvSpPr>
        <p:spPr>
          <a:xfrm>
            <a:off x="4329402" y="2416411"/>
            <a:ext cx="822960" cy="32512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CHAR</a:t>
            </a:r>
          </a:p>
        </p:txBody>
      </p:sp>
      <p:cxnSp>
        <p:nvCxnSpPr>
          <p:cNvPr id="9" name="Straight Connector 8">
            <a:extLst>
              <a:ext uri="{FF2B5EF4-FFF2-40B4-BE49-F238E27FC236}">
                <a16:creationId xmlns:a16="http://schemas.microsoft.com/office/drawing/2014/main" id="{9DE82D56-5F1C-4E30-9262-E21D59B141D8}"/>
              </a:ext>
            </a:extLst>
          </p:cNvPr>
          <p:cNvCxnSpPr/>
          <p:nvPr/>
        </p:nvCxnSpPr>
        <p:spPr>
          <a:xfrm>
            <a:off x="4227802" y="2243691"/>
            <a:ext cx="0" cy="680720"/>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Left Bracket 9">
            <a:extLst>
              <a:ext uri="{FF2B5EF4-FFF2-40B4-BE49-F238E27FC236}">
                <a16:creationId xmlns:a16="http://schemas.microsoft.com/office/drawing/2014/main" id="{4B10CBEB-1931-4DAF-A150-60623B30ECFE}"/>
              </a:ext>
            </a:extLst>
          </p:cNvPr>
          <p:cNvSpPr/>
          <p:nvPr/>
        </p:nvSpPr>
        <p:spPr>
          <a:xfrm>
            <a:off x="2672080" y="2088593"/>
            <a:ext cx="279400" cy="980756"/>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1" name="Left Bracket 10">
            <a:extLst>
              <a:ext uri="{FF2B5EF4-FFF2-40B4-BE49-F238E27FC236}">
                <a16:creationId xmlns:a16="http://schemas.microsoft.com/office/drawing/2014/main" id="{44942056-7D6F-4136-AD7B-D0DE42742A44}"/>
              </a:ext>
            </a:extLst>
          </p:cNvPr>
          <p:cNvSpPr/>
          <p:nvPr/>
        </p:nvSpPr>
        <p:spPr>
          <a:xfrm flipH="1">
            <a:off x="5046979" y="2088593"/>
            <a:ext cx="228600" cy="980756"/>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2" name="TextBox 11">
            <a:extLst>
              <a:ext uri="{FF2B5EF4-FFF2-40B4-BE49-F238E27FC236}">
                <a16:creationId xmlns:a16="http://schemas.microsoft.com/office/drawing/2014/main" id="{FB412E3A-AD89-4C22-AFB4-AB988B254B4C}"/>
              </a:ext>
            </a:extLst>
          </p:cNvPr>
          <p:cNvSpPr txBox="1"/>
          <p:nvPr/>
        </p:nvSpPr>
        <p:spPr>
          <a:xfrm>
            <a:off x="1072235" y="2348138"/>
            <a:ext cx="1650645" cy="461665"/>
          </a:xfrm>
          <a:prstGeom prst="rect">
            <a:avLst/>
          </a:prstGeom>
          <a:noFill/>
        </p:spPr>
        <p:txBody>
          <a:bodyPr wrap="none" rtlCol="0">
            <a:spAutoFit/>
          </a:bodyPr>
          <a:lstStyle/>
          <a:p>
            <a:r>
              <a:rPr lang="en-IN" sz="2400" dirty="0"/>
              <a:t>Likelihood</a:t>
            </a:r>
          </a:p>
        </p:txBody>
      </p:sp>
      <p:sp>
        <p:nvSpPr>
          <p:cNvPr id="13" name="TextBox 12">
            <a:extLst>
              <a:ext uri="{FF2B5EF4-FFF2-40B4-BE49-F238E27FC236}">
                <a16:creationId xmlns:a16="http://schemas.microsoft.com/office/drawing/2014/main" id="{6FC612D1-B6D3-41DE-80F4-A20BC9D9F089}"/>
              </a:ext>
            </a:extLst>
          </p:cNvPr>
          <p:cNvSpPr txBox="1"/>
          <p:nvPr/>
        </p:nvSpPr>
        <p:spPr>
          <a:xfrm>
            <a:off x="5304830" y="2310346"/>
            <a:ext cx="389850" cy="461665"/>
          </a:xfrm>
          <a:prstGeom prst="rect">
            <a:avLst/>
          </a:prstGeom>
          <a:noFill/>
        </p:spPr>
        <p:txBody>
          <a:bodyPr wrap="none" rtlCol="0">
            <a:spAutoFit/>
          </a:bodyPr>
          <a:lstStyle/>
          <a:p>
            <a:r>
              <a:rPr lang="en-IN" sz="2400" dirty="0"/>
              <a:t>=</a:t>
            </a:r>
          </a:p>
        </p:txBody>
      </p:sp>
      <p:sp>
        <p:nvSpPr>
          <p:cNvPr id="14" name="TextBox 13">
            <a:extLst>
              <a:ext uri="{FF2B5EF4-FFF2-40B4-BE49-F238E27FC236}">
                <a16:creationId xmlns:a16="http://schemas.microsoft.com/office/drawing/2014/main" id="{326C96F6-887F-4DD1-AA37-7A669C374182}"/>
              </a:ext>
            </a:extLst>
          </p:cNvPr>
          <p:cNvSpPr txBox="1"/>
          <p:nvPr/>
        </p:nvSpPr>
        <p:spPr>
          <a:xfrm>
            <a:off x="5670727" y="2287178"/>
            <a:ext cx="4941609" cy="461665"/>
          </a:xfrm>
          <a:prstGeom prst="rect">
            <a:avLst/>
          </a:prstGeom>
          <a:noFill/>
        </p:spPr>
        <p:txBody>
          <a:bodyPr wrap="none" rtlCol="0">
            <a:spAutoFit/>
          </a:bodyPr>
          <a:lstStyle/>
          <a:p>
            <a:r>
              <a:rPr lang="en-IN" sz="2400" dirty="0"/>
              <a:t>Likelihood (</a:t>
            </a:r>
            <a:r>
              <a:rPr lang="en-IN" sz="2400" dirty="0" err="1"/>
              <a:t>BestSeg</a:t>
            </a:r>
            <a:r>
              <a:rPr lang="en-IN" sz="2400" dirty="0"/>
              <a:t>(                     ))</a:t>
            </a:r>
          </a:p>
        </p:txBody>
      </p:sp>
      <p:sp>
        <p:nvSpPr>
          <p:cNvPr id="15" name="Rectangle 14">
            <a:extLst>
              <a:ext uri="{FF2B5EF4-FFF2-40B4-BE49-F238E27FC236}">
                <a16:creationId xmlns:a16="http://schemas.microsoft.com/office/drawing/2014/main" id="{DD046DF2-2A2D-4704-9CED-0FD94B810523}"/>
              </a:ext>
            </a:extLst>
          </p:cNvPr>
          <p:cNvSpPr/>
          <p:nvPr/>
        </p:nvSpPr>
        <p:spPr>
          <a:xfrm>
            <a:off x="8712198" y="2368999"/>
            <a:ext cx="1361658" cy="332432"/>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PREFIX</a:t>
            </a:r>
          </a:p>
        </p:txBody>
      </p:sp>
      <p:sp>
        <p:nvSpPr>
          <p:cNvPr id="16" name="TextBox 15">
            <a:extLst>
              <a:ext uri="{FF2B5EF4-FFF2-40B4-BE49-F238E27FC236}">
                <a16:creationId xmlns:a16="http://schemas.microsoft.com/office/drawing/2014/main" id="{4251E1BF-2420-4F14-88EA-510FFB5C649E}"/>
              </a:ext>
            </a:extLst>
          </p:cNvPr>
          <p:cNvSpPr txBox="1"/>
          <p:nvPr/>
        </p:nvSpPr>
        <p:spPr>
          <a:xfrm>
            <a:off x="7539482" y="2748967"/>
            <a:ext cx="389850" cy="461665"/>
          </a:xfrm>
          <a:prstGeom prst="rect">
            <a:avLst/>
          </a:prstGeom>
          <a:noFill/>
        </p:spPr>
        <p:txBody>
          <a:bodyPr wrap="none" rtlCol="0">
            <a:spAutoFit/>
          </a:bodyPr>
          <a:lstStyle/>
          <a:p>
            <a:r>
              <a:rPr lang="en-IN" sz="2400" dirty="0"/>
              <a:t>+</a:t>
            </a:r>
          </a:p>
        </p:txBody>
      </p:sp>
      <p:sp>
        <p:nvSpPr>
          <p:cNvPr id="17" name="TextBox 16">
            <a:extLst>
              <a:ext uri="{FF2B5EF4-FFF2-40B4-BE49-F238E27FC236}">
                <a16:creationId xmlns:a16="http://schemas.microsoft.com/office/drawing/2014/main" id="{9FD13C2D-5530-479F-AF10-44B1E93D4F34}"/>
              </a:ext>
            </a:extLst>
          </p:cNvPr>
          <p:cNvSpPr txBox="1"/>
          <p:nvPr/>
        </p:nvSpPr>
        <p:spPr>
          <a:xfrm>
            <a:off x="6433954" y="3030599"/>
            <a:ext cx="2990755" cy="461665"/>
          </a:xfrm>
          <a:prstGeom prst="rect">
            <a:avLst/>
          </a:prstGeom>
          <a:noFill/>
        </p:spPr>
        <p:txBody>
          <a:bodyPr wrap="none" rtlCol="0">
            <a:spAutoFit/>
          </a:bodyPr>
          <a:lstStyle/>
          <a:p>
            <a:r>
              <a:rPr lang="en-IN" sz="2400" dirty="0"/>
              <a:t>Likelihood (              )</a:t>
            </a:r>
          </a:p>
        </p:txBody>
      </p:sp>
      <p:sp>
        <p:nvSpPr>
          <p:cNvPr id="18" name="Rectangle 17">
            <a:extLst>
              <a:ext uri="{FF2B5EF4-FFF2-40B4-BE49-F238E27FC236}">
                <a16:creationId xmlns:a16="http://schemas.microsoft.com/office/drawing/2014/main" id="{3188287B-EB13-4AC3-93D8-DABDC6136ED4}"/>
              </a:ext>
            </a:extLst>
          </p:cNvPr>
          <p:cNvSpPr/>
          <p:nvPr/>
        </p:nvSpPr>
        <p:spPr>
          <a:xfrm>
            <a:off x="8269076" y="3098871"/>
            <a:ext cx="822960" cy="32512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CHAR</a:t>
            </a:r>
          </a:p>
        </p:txBody>
      </p:sp>
      <p:sp>
        <p:nvSpPr>
          <p:cNvPr id="19" name="TextBox 18">
            <a:extLst>
              <a:ext uri="{FF2B5EF4-FFF2-40B4-BE49-F238E27FC236}">
                <a16:creationId xmlns:a16="http://schemas.microsoft.com/office/drawing/2014/main" id="{4FA8DBB4-890E-42F7-891B-873692262E6D}"/>
              </a:ext>
            </a:extLst>
          </p:cNvPr>
          <p:cNvSpPr txBox="1"/>
          <p:nvPr/>
        </p:nvSpPr>
        <p:spPr>
          <a:xfrm>
            <a:off x="1099199" y="4346695"/>
            <a:ext cx="10360144" cy="830997"/>
          </a:xfrm>
          <a:prstGeom prst="rect">
            <a:avLst/>
          </a:prstGeom>
          <a:noFill/>
        </p:spPr>
        <p:txBody>
          <a:bodyPr wrap="none" rtlCol="0">
            <a:spAutoFit/>
          </a:bodyPr>
          <a:lstStyle/>
          <a:p>
            <a:r>
              <a:rPr lang="en-IN" sz="2400" dirty="0"/>
              <a:t>Viterbi Decoding ensures significant amount of </a:t>
            </a:r>
            <a:r>
              <a:rPr lang="en-IN" sz="2400" dirty="0">
                <a:solidFill>
                  <a:srgbClr val="C00000"/>
                </a:solidFill>
              </a:rPr>
              <a:t>pruning</a:t>
            </a:r>
            <a:r>
              <a:rPr lang="en-IN" sz="2400" dirty="0"/>
              <a:t> segmentation</a:t>
            </a:r>
          </a:p>
          <a:p>
            <a:r>
              <a:rPr lang="en-IN" sz="2400" dirty="0"/>
              <a:t>options with less likelihood </a:t>
            </a:r>
          </a:p>
        </p:txBody>
      </p:sp>
    </p:spTree>
    <p:extLst>
      <p:ext uri="{BB962C8B-B14F-4D97-AF65-F5344CB8AC3E}">
        <p14:creationId xmlns:p14="http://schemas.microsoft.com/office/powerpoint/2010/main" val="2510626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9E2A1-8FDF-4E7C-889C-7A8735CC6BD1}"/>
              </a:ext>
            </a:extLst>
          </p:cNvPr>
          <p:cNvSpPr>
            <a:spLocks noGrp="1"/>
          </p:cNvSpPr>
          <p:nvPr>
            <p:ph type="title"/>
          </p:nvPr>
        </p:nvSpPr>
        <p:spPr/>
        <p:txBody>
          <a:bodyPr/>
          <a:lstStyle/>
          <a:p>
            <a:r>
              <a:rPr lang="en-IN" dirty="0"/>
              <a:t>Unigram Tokenizer: Viterbi Decoding</a:t>
            </a:r>
          </a:p>
        </p:txBody>
      </p:sp>
      <p:sp>
        <p:nvSpPr>
          <p:cNvPr id="4" name="Slide Number Placeholder 3">
            <a:extLst>
              <a:ext uri="{FF2B5EF4-FFF2-40B4-BE49-F238E27FC236}">
                <a16:creationId xmlns:a16="http://schemas.microsoft.com/office/drawing/2014/main" id="{7DA6C1DC-F526-48AF-A9D9-C2DE1A2461EA}"/>
              </a:ext>
            </a:extLst>
          </p:cNvPr>
          <p:cNvSpPr>
            <a:spLocks noGrp="1"/>
          </p:cNvSpPr>
          <p:nvPr>
            <p:ph type="sldNum" sz="quarter" idx="12"/>
          </p:nvPr>
        </p:nvSpPr>
        <p:spPr/>
        <p:txBody>
          <a:bodyPr/>
          <a:lstStyle/>
          <a:p>
            <a:fld id="{FF2BD96E-3838-45D2-9031-D3AF67C920A5}" type="slidenum">
              <a:rPr lang="en-US" smtClean="0"/>
              <a:t>24</a:t>
            </a:fld>
            <a:endParaRPr lang="en-US"/>
          </a:p>
        </p:txBody>
      </p:sp>
      <p:sp>
        <p:nvSpPr>
          <p:cNvPr id="5" name="TextBox 4">
            <a:extLst>
              <a:ext uri="{FF2B5EF4-FFF2-40B4-BE49-F238E27FC236}">
                <a16:creationId xmlns:a16="http://schemas.microsoft.com/office/drawing/2014/main" id="{04361F3F-4920-46FE-A0EE-DC948BFA5061}"/>
              </a:ext>
            </a:extLst>
          </p:cNvPr>
          <p:cNvSpPr txBox="1"/>
          <p:nvPr/>
        </p:nvSpPr>
        <p:spPr>
          <a:xfrm>
            <a:off x="4416750" y="1005840"/>
            <a:ext cx="2438681" cy="584775"/>
          </a:xfrm>
          <a:prstGeom prst="rect">
            <a:avLst/>
          </a:prstGeom>
          <a:noFill/>
        </p:spPr>
        <p:txBody>
          <a:bodyPr wrap="none" rtlCol="0">
            <a:spAutoFit/>
          </a:bodyPr>
          <a:lstStyle/>
          <a:p>
            <a:r>
              <a:rPr lang="en-IN" sz="3200" dirty="0"/>
              <a:t>b h e j a f r y</a:t>
            </a:r>
          </a:p>
        </p:txBody>
      </p:sp>
      <p:graphicFrame>
        <p:nvGraphicFramePr>
          <p:cNvPr id="6" name="Table 6">
            <a:extLst>
              <a:ext uri="{FF2B5EF4-FFF2-40B4-BE49-F238E27FC236}">
                <a16:creationId xmlns:a16="http://schemas.microsoft.com/office/drawing/2014/main" id="{44DB3B22-15FF-4AEA-A237-8D0FFC5FD8F3}"/>
              </a:ext>
            </a:extLst>
          </p:cNvPr>
          <p:cNvGraphicFramePr>
            <a:graphicFrameLocks noGrp="1"/>
          </p:cNvGraphicFramePr>
          <p:nvPr>
            <p:extLst>
              <p:ext uri="{D42A27DB-BD31-4B8C-83A1-F6EECF244321}">
                <p14:modId xmlns:p14="http://schemas.microsoft.com/office/powerpoint/2010/main" val="2477601064"/>
              </p:ext>
            </p:extLst>
          </p:nvPr>
        </p:nvGraphicFramePr>
        <p:xfrm>
          <a:off x="9296224" y="860459"/>
          <a:ext cx="2446726" cy="5562600"/>
        </p:xfrm>
        <a:graphic>
          <a:graphicData uri="http://schemas.openxmlformats.org/drawingml/2006/table">
            <a:tbl>
              <a:tblPr firstRow="1" bandRow="1">
                <a:tableStyleId>{5940675A-B579-460E-94D1-54222C63F5DA}</a:tableStyleId>
              </a:tblPr>
              <a:tblGrid>
                <a:gridCol w="1223363">
                  <a:extLst>
                    <a:ext uri="{9D8B030D-6E8A-4147-A177-3AD203B41FA5}">
                      <a16:colId xmlns:a16="http://schemas.microsoft.com/office/drawing/2014/main" val="3770639415"/>
                    </a:ext>
                  </a:extLst>
                </a:gridCol>
                <a:gridCol w="1223363">
                  <a:extLst>
                    <a:ext uri="{9D8B030D-6E8A-4147-A177-3AD203B41FA5}">
                      <a16:colId xmlns:a16="http://schemas.microsoft.com/office/drawing/2014/main" val="1533991785"/>
                    </a:ext>
                  </a:extLst>
                </a:gridCol>
              </a:tblGrid>
              <a:tr h="370840">
                <a:tc>
                  <a:txBody>
                    <a:bodyPr/>
                    <a:lstStyle/>
                    <a:p>
                      <a:r>
                        <a:rPr lang="en-IN" dirty="0"/>
                        <a:t>Token (x)</a:t>
                      </a:r>
                    </a:p>
                  </a:txBody>
                  <a:tcPr/>
                </a:tc>
                <a:tc>
                  <a:txBody>
                    <a:bodyPr/>
                    <a:lstStyle/>
                    <a:p>
                      <a:r>
                        <a:rPr lang="en-IN" dirty="0"/>
                        <a:t>log(P(x))</a:t>
                      </a:r>
                    </a:p>
                  </a:txBody>
                  <a:tcPr/>
                </a:tc>
                <a:extLst>
                  <a:ext uri="{0D108BD9-81ED-4DB2-BD59-A6C34878D82A}">
                    <a16:rowId xmlns:a16="http://schemas.microsoft.com/office/drawing/2014/main" val="1091220299"/>
                  </a:ext>
                </a:extLst>
              </a:tr>
              <a:tr h="370840">
                <a:tc>
                  <a:txBody>
                    <a:bodyPr/>
                    <a:lstStyle/>
                    <a:p>
                      <a:pPr algn="ctr"/>
                      <a:r>
                        <a:rPr lang="en-IN" dirty="0"/>
                        <a:t>b</a:t>
                      </a:r>
                    </a:p>
                  </a:txBody>
                  <a:tcPr/>
                </a:tc>
                <a:tc>
                  <a:txBody>
                    <a:bodyPr/>
                    <a:lstStyle/>
                    <a:p>
                      <a:r>
                        <a:rPr lang="en-IN" dirty="0"/>
                        <a:t>-5.6</a:t>
                      </a:r>
                    </a:p>
                  </a:txBody>
                  <a:tcPr/>
                </a:tc>
                <a:extLst>
                  <a:ext uri="{0D108BD9-81ED-4DB2-BD59-A6C34878D82A}">
                    <a16:rowId xmlns:a16="http://schemas.microsoft.com/office/drawing/2014/main" val="241916386"/>
                  </a:ext>
                </a:extLst>
              </a:tr>
              <a:tr h="370840">
                <a:tc>
                  <a:txBody>
                    <a:bodyPr/>
                    <a:lstStyle/>
                    <a:p>
                      <a:pPr algn="ctr"/>
                      <a:r>
                        <a:rPr lang="en-IN" dirty="0"/>
                        <a:t>h</a:t>
                      </a:r>
                    </a:p>
                  </a:txBody>
                  <a:tcPr/>
                </a:tc>
                <a:tc>
                  <a:txBody>
                    <a:bodyPr/>
                    <a:lstStyle/>
                    <a:p>
                      <a:r>
                        <a:rPr lang="en-IN" dirty="0"/>
                        <a:t>-4.8</a:t>
                      </a:r>
                    </a:p>
                  </a:txBody>
                  <a:tcPr/>
                </a:tc>
                <a:extLst>
                  <a:ext uri="{0D108BD9-81ED-4DB2-BD59-A6C34878D82A}">
                    <a16:rowId xmlns:a16="http://schemas.microsoft.com/office/drawing/2014/main" val="3555038449"/>
                  </a:ext>
                </a:extLst>
              </a:tr>
              <a:tr h="370840">
                <a:tc>
                  <a:txBody>
                    <a:bodyPr/>
                    <a:lstStyle/>
                    <a:p>
                      <a:pPr algn="ctr"/>
                      <a:r>
                        <a:rPr lang="en-IN" dirty="0"/>
                        <a:t>e</a:t>
                      </a:r>
                    </a:p>
                  </a:txBody>
                  <a:tcPr/>
                </a:tc>
                <a:tc>
                  <a:txBody>
                    <a:bodyPr/>
                    <a:lstStyle/>
                    <a:p>
                      <a:r>
                        <a:rPr lang="en-IN" dirty="0"/>
                        <a:t>-3.2</a:t>
                      </a:r>
                    </a:p>
                  </a:txBody>
                  <a:tcPr/>
                </a:tc>
                <a:extLst>
                  <a:ext uri="{0D108BD9-81ED-4DB2-BD59-A6C34878D82A}">
                    <a16:rowId xmlns:a16="http://schemas.microsoft.com/office/drawing/2014/main" val="1681543985"/>
                  </a:ext>
                </a:extLst>
              </a:tr>
              <a:tr h="370840">
                <a:tc>
                  <a:txBody>
                    <a:bodyPr/>
                    <a:lstStyle/>
                    <a:p>
                      <a:pPr algn="ctr"/>
                      <a:r>
                        <a:rPr lang="en-IN" dirty="0"/>
                        <a:t>j</a:t>
                      </a:r>
                    </a:p>
                  </a:txBody>
                  <a:tcPr/>
                </a:tc>
                <a:tc>
                  <a:txBody>
                    <a:bodyPr/>
                    <a:lstStyle/>
                    <a:p>
                      <a:r>
                        <a:rPr lang="en-IN" dirty="0"/>
                        <a:t>-6.4</a:t>
                      </a:r>
                    </a:p>
                  </a:txBody>
                  <a:tcPr/>
                </a:tc>
                <a:extLst>
                  <a:ext uri="{0D108BD9-81ED-4DB2-BD59-A6C34878D82A}">
                    <a16:rowId xmlns:a16="http://schemas.microsoft.com/office/drawing/2014/main" val="2788579409"/>
                  </a:ext>
                </a:extLst>
              </a:tr>
              <a:tr h="370840">
                <a:tc>
                  <a:txBody>
                    <a:bodyPr/>
                    <a:lstStyle/>
                    <a:p>
                      <a:pPr algn="ctr"/>
                      <a:r>
                        <a:rPr lang="en-IN" dirty="0"/>
                        <a:t>a</a:t>
                      </a:r>
                    </a:p>
                  </a:txBody>
                  <a:tcPr/>
                </a:tc>
                <a:tc>
                  <a:txBody>
                    <a:bodyPr/>
                    <a:lstStyle/>
                    <a:p>
                      <a:r>
                        <a:rPr lang="en-IN" dirty="0"/>
                        <a:t>-2.9</a:t>
                      </a:r>
                    </a:p>
                  </a:txBody>
                  <a:tcPr/>
                </a:tc>
                <a:extLst>
                  <a:ext uri="{0D108BD9-81ED-4DB2-BD59-A6C34878D82A}">
                    <a16:rowId xmlns:a16="http://schemas.microsoft.com/office/drawing/2014/main" val="1217605229"/>
                  </a:ext>
                </a:extLst>
              </a:tr>
              <a:tr h="370840">
                <a:tc>
                  <a:txBody>
                    <a:bodyPr/>
                    <a:lstStyle/>
                    <a:p>
                      <a:pPr algn="ctr"/>
                      <a:r>
                        <a:rPr lang="en-IN" dirty="0"/>
                        <a:t>f</a:t>
                      </a:r>
                    </a:p>
                  </a:txBody>
                  <a:tcPr/>
                </a:tc>
                <a:tc>
                  <a:txBody>
                    <a:bodyPr/>
                    <a:lstStyle/>
                    <a:p>
                      <a:r>
                        <a:rPr lang="en-IN" dirty="0"/>
                        <a:t>-1.3</a:t>
                      </a:r>
                    </a:p>
                  </a:txBody>
                  <a:tcPr/>
                </a:tc>
                <a:extLst>
                  <a:ext uri="{0D108BD9-81ED-4DB2-BD59-A6C34878D82A}">
                    <a16:rowId xmlns:a16="http://schemas.microsoft.com/office/drawing/2014/main" val="30895012"/>
                  </a:ext>
                </a:extLst>
              </a:tr>
              <a:tr h="370840">
                <a:tc>
                  <a:txBody>
                    <a:bodyPr/>
                    <a:lstStyle/>
                    <a:p>
                      <a:pPr algn="ctr"/>
                      <a:r>
                        <a:rPr lang="en-IN" dirty="0"/>
                        <a:t>r</a:t>
                      </a:r>
                    </a:p>
                  </a:txBody>
                  <a:tcPr/>
                </a:tc>
                <a:tc>
                  <a:txBody>
                    <a:bodyPr/>
                    <a:lstStyle/>
                    <a:p>
                      <a:r>
                        <a:rPr lang="en-IN" dirty="0"/>
                        <a:t>-6.7</a:t>
                      </a:r>
                    </a:p>
                  </a:txBody>
                  <a:tcPr/>
                </a:tc>
                <a:extLst>
                  <a:ext uri="{0D108BD9-81ED-4DB2-BD59-A6C34878D82A}">
                    <a16:rowId xmlns:a16="http://schemas.microsoft.com/office/drawing/2014/main" val="2655836856"/>
                  </a:ext>
                </a:extLst>
              </a:tr>
              <a:tr h="370840">
                <a:tc>
                  <a:txBody>
                    <a:bodyPr/>
                    <a:lstStyle/>
                    <a:p>
                      <a:pPr algn="ctr"/>
                      <a:r>
                        <a:rPr lang="en-IN" dirty="0" err="1"/>
                        <a:t>bh</a:t>
                      </a:r>
                      <a:endParaRPr lang="en-IN" dirty="0"/>
                    </a:p>
                  </a:txBody>
                  <a:tcPr/>
                </a:tc>
                <a:tc>
                  <a:txBody>
                    <a:bodyPr/>
                    <a:lstStyle/>
                    <a:p>
                      <a:r>
                        <a:rPr lang="en-IN" dirty="0"/>
                        <a:t>-6.2</a:t>
                      </a:r>
                    </a:p>
                  </a:txBody>
                  <a:tcPr/>
                </a:tc>
                <a:extLst>
                  <a:ext uri="{0D108BD9-81ED-4DB2-BD59-A6C34878D82A}">
                    <a16:rowId xmlns:a16="http://schemas.microsoft.com/office/drawing/2014/main" val="1356291251"/>
                  </a:ext>
                </a:extLst>
              </a:tr>
              <a:tr h="370840">
                <a:tc>
                  <a:txBody>
                    <a:bodyPr/>
                    <a:lstStyle/>
                    <a:p>
                      <a:pPr algn="ctr"/>
                      <a:r>
                        <a:rPr lang="en-IN" dirty="0" err="1"/>
                        <a:t>bhe</a:t>
                      </a:r>
                      <a:endParaRPr lang="en-IN" dirty="0"/>
                    </a:p>
                  </a:txBody>
                  <a:tcPr/>
                </a:tc>
                <a:tc>
                  <a:txBody>
                    <a:bodyPr/>
                    <a:lstStyle/>
                    <a:p>
                      <a:r>
                        <a:rPr lang="en-IN" dirty="0"/>
                        <a:t>-8.3</a:t>
                      </a:r>
                    </a:p>
                  </a:txBody>
                  <a:tcPr/>
                </a:tc>
                <a:extLst>
                  <a:ext uri="{0D108BD9-81ED-4DB2-BD59-A6C34878D82A}">
                    <a16:rowId xmlns:a16="http://schemas.microsoft.com/office/drawing/2014/main" val="2928910039"/>
                  </a:ext>
                </a:extLst>
              </a:tr>
              <a:tr h="370840">
                <a:tc>
                  <a:txBody>
                    <a:bodyPr/>
                    <a:lstStyle/>
                    <a:p>
                      <a:pPr algn="ctr"/>
                      <a:r>
                        <a:rPr lang="en-IN" dirty="0" err="1"/>
                        <a:t>ja</a:t>
                      </a:r>
                      <a:endParaRPr lang="en-IN" dirty="0"/>
                    </a:p>
                  </a:txBody>
                  <a:tcPr/>
                </a:tc>
                <a:tc>
                  <a:txBody>
                    <a:bodyPr/>
                    <a:lstStyle/>
                    <a:p>
                      <a:r>
                        <a:rPr lang="en-IN" dirty="0"/>
                        <a:t>-7.5</a:t>
                      </a:r>
                    </a:p>
                  </a:txBody>
                  <a:tcPr/>
                </a:tc>
                <a:extLst>
                  <a:ext uri="{0D108BD9-81ED-4DB2-BD59-A6C34878D82A}">
                    <a16:rowId xmlns:a16="http://schemas.microsoft.com/office/drawing/2014/main" val="4208557698"/>
                  </a:ext>
                </a:extLst>
              </a:tr>
              <a:tr h="370840">
                <a:tc>
                  <a:txBody>
                    <a:bodyPr/>
                    <a:lstStyle/>
                    <a:p>
                      <a:pPr algn="ctr"/>
                      <a:r>
                        <a:rPr lang="en-IN" dirty="0" err="1"/>
                        <a:t>fr</a:t>
                      </a:r>
                      <a:endParaRPr lang="en-IN" dirty="0"/>
                    </a:p>
                  </a:txBody>
                  <a:tcPr/>
                </a:tc>
                <a:tc>
                  <a:txBody>
                    <a:bodyPr/>
                    <a:lstStyle/>
                    <a:p>
                      <a:r>
                        <a:rPr lang="en-IN" dirty="0"/>
                        <a:t>-5.5</a:t>
                      </a:r>
                    </a:p>
                  </a:txBody>
                  <a:tcPr/>
                </a:tc>
                <a:extLst>
                  <a:ext uri="{0D108BD9-81ED-4DB2-BD59-A6C34878D82A}">
                    <a16:rowId xmlns:a16="http://schemas.microsoft.com/office/drawing/2014/main" val="208380964"/>
                  </a:ext>
                </a:extLst>
              </a:tr>
              <a:tr h="370840">
                <a:tc>
                  <a:txBody>
                    <a:bodyPr/>
                    <a:lstStyle/>
                    <a:p>
                      <a:pPr algn="ctr"/>
                      <a:r>
                        <a:rPr lang="en-IN" dirty="0" err="1"/>
                        <a:t>ry</a:t>
                      </a:r>
                      <a:endParaRPr lang="en-IN" dirty="0"/>
                    </a:p>
                  </a:txBody>
                  <a:tcPr/>
                </a:tc>
                <a:tc>
                  <a:txBody>
                    <a:bodyPr/>
                    <a:lstStyle/>
                    <a:p>
                      <a:r>
                        <a:rPr lang="en-IN" dirty="0"/>
                        <a:t>-2.3</a:t>
                      </a:r>
                    </a:p>
                  </a:txBody>
                  <a:tcPr/>
                </a:tc>
                <a:extLst>
                  <a:ext uri="{0D108BD9-81ED-4DB2-BD59-A6C34878D82A}">
                    <a16:rowId xmlns:a16="http://schemas.microsoft.com/office/drawing/2014/main" val="1033926271"/>
                  </a:ext>
                </a:extLst>
              </a:tr>
              <a:tr h="370840">
                <a:tc>
                  <a:txBody>
                    <a:bodyPr/>
                    <a:lstStyle/>
                    <a:p>
                      <a:pPr algn="ctr"/>
                      <a:r>
                        <a:rPr lang="en-IN" dirty="0"/>
                        <a:t>y</a:t>
                      </a:r>
                    </a:p>
                  </a:txBody>
                  <a:tcPr/>
                </a:tc>
                <a:tc>
                  <a:txBody>
                    <a:bodyPr/>
                    <a:lstStyle/>
                    <a:p>
                      <a:r>
                        <a:rPr lang="en-IN" dirty="0"/>
                        <a:t>-2.5</a:t>
                      </a:r>
                    </a:p>
                  </a:txBody>
                  <a:tcPr/>
                </a:tc>
                <a:extLst>
                  <a:ext uri="{0D108BD9-81ED-4DB2-BD59-A6C34878D82A}">
                    <a16:rowId xmlns:a16="http://schemas.microsoft.com/office/drawing/2014/main" val="2996098046"/>
                  </a:ext>
                </a:extLst>
              </a:tr>
              <a:tr h="370840">
                <a:tc>
                  <a:txBody>
                    <a:bodyPr/>
                    <a:lstStyle/>
                    <a:p>
                      <a:pPr algn="ctr"/>
                      <a:r>
                        <a:rPr lang="en-IN" dirty="0"/>
                        <a:t>fry</a:t>
                      </a:r>
                    </a:p>
                  </a:txBody>
                  <a:tcPr/>
                </a:tc>
                <a:tc>
                  <a:txBody>
                    <a:bodyPr/>
                    <a:lstStyle/>
                    <a:p>
                      <a:r>
                        <a:rPr lang="en-IN" dirty="0"/>
                        <a:t>-9.6</a:t>
                      </a:r>
                    </a:p>
                  </a:txBody>
                  <a:tcPr/>
                </a:tc>
                <a:extLst>
                  <a:ext uri="{0D108BD9-81ED-4DB2-BD59-A6C34878D82A}">
                    <a16:rowId xmlns:a16="http://schemas.microsoft.com/office/drawing/2014/main" val="653727169"/>
                  </a:ext>
                </a:extLst>
              </a:tr>
            </a:tbl>
          </a:graphicData>
        </a:graphic>
      </p:graphicFrame>
      <p:sp>
        <p:nvSpPr>
          <p:cNvPr id="10" name="Oval 9">
            <a:extLst>
              <a:ext uri="{FF2B5EF4-FFF2-40B4-BE49-F238E27FC236}">
                <a16:creationId xmlns:a16="http://schemas.microsoft.com/office/drawing/2014/main" id="{C4C2AE30-08BE-41BA-B6AC-1AE27BB48C11}"/>
              </a:ext>
            </a:extLst>
          </p:cNvPr>
          <p:cNvSpPr/>
          <p:nvPr/>
        </p:nvSpPr>
        <p:spPr>
          <a:xfrm>
            <a:off x="1555456" y="3442939"/>
            <a:ext cx="508000" cy="4927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12" name="Oval 11">
            <a:extLst>
              <a:ext uri="{FF2B5EF4-FFF2-40B4-BE49-F238E27FC236}">
                <a16:creationId xmlns:a16="http://schemas.microsoft.com/office/drawing/2014/main" id="{8A2578FF-0FD1-4617-891B-308163162048}"/>
              </a:ext>
            </a:extLst>
          </p:cNvPr>
          <p:cNvSpPr/>
          <p:nvPr/>
        </p:nvSpPr>
        <p:spPr>
          <a:xfrm>
            <a:off x="2764496" y="4362152"/>
            <a:ext cx="872434" cy="4927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solidFill>
                  <a:schemeClr val="tx1"/>
                </a:solidFill>
              </a:rPr>
              <a:t>bhe</a:t>
            </a:r>
            <a:endParaRPr lang="en-IN" dirty="0">
              <a:solidFill>
                <a:schemeClr val="tx1"/>
              </a:solidFill>
            </a:endParaRPr>
          </a:p>
        </p:txBody>
      </p:sp>
      <p:sp>
        <p:nvSpPr>
          <p:cNvPr id="13" name="Oval 12">
            <a:extLst>
              <a:ext uri="{FF2B5EF4-FFF2-40B4-BE49-F238E27FC236}">
                <a16:creationId xmlns:a16="http://schemas.microsoft.com/office/drawing/2014/main" id="{7CA9BB55-A0E8-4522-8E53-46CBC7C61046}"/>
              </a:ext>
            </a:extLst>
          </p:cNvPr>
          <p:cNvSpPr/>
          <p:nvPr/>
        </p:nvSpPr>
        <p:spPr>
          <a:xfrm>
            <a:off x="2754336" y="3437592"/>
            <a:ext cx="872434" cy="4927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solidFill>
                  <a:schemeClr val="tx1"/>
                </a:solidFill>
              </a:rPr>
              <a:t>bh</a:t>
            </a:r>
            <a:endParaRPr lang="en-IN" dirty="0">
              <a:solidFill>
                <a:schemeClr val="tx1"/>
              </a:solidFill>
            </a:endParaRPr>
          </a:p>
        </p:txBody>
      </p:sp>
      <p:sp>
        <p:nvSpPr>
          <p:cNvPr id="14" name="Oval 13">
            <a:extLst>
              <a:ext uri="{FF2B5EF4-FFF2-40B4-BE49-F238E27FC236}">
                <a16:creationId xmlns:a16="http://schemas.microsoft.com/office/drawing/2014/main" id="{27B6C4AA-82F0-456F-B084-645A73681861}"/>
              </a:ext>
            </a:extLst>
          </p:cNvPr>
          <p:cNvSpPr/>
          <p:nvPr/>
        </p:nvSpPr>
        <p:spPr>
          <a:xfrm>
            <a:off x="2764496" y="2492712"/>
            <a:ext cx="872434" cy="4927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b</a:t>
            </a:r>
          </a:p>
        </p:txBody>
      </p:sp>
      <p:sp>
        <p:nvSpPr>
          <p:cNvPr id="15" name="Oval 14">
            <a:extLst>
              <a:ext uri="{FF2B5EF4-FFF2-40B4-BE49-F238E27FC236}">
                <a16:creationId xmlns:a16="http://schemas.microsoft.com/office/drawing/2014/main" id="{CAB06A52-C06B-439F-BE0C-F0ED33638634}"/>
              </a:ext>
            </a:extLst>
          </p:cNvPr>
          <p:cNvSpPr/>
          <p:nvPr/>
        </p:nvSpPr>
        <p:spPr>
          <a:xfrm>
            <a:off x="4146256" y="2492712"/>
            <a:ext cx="872434" cy="4927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h</a:t>
            </a:r>
          </a:p>
        </p:txBody>
      </p:sp>
      <p:sp>
        <p:nvSpPr>
          <p:cNvPr id="17" name="TextBox 16">
            <a:extLst>
              <a:ext uri="{FF2B5EF4-FFF2-40B4-BE49-F238E27FC236}">
                <a16:creationId xmlns:a16="http://schemas.microsoft.com/office/drawing/2014/main" id="{63255AD2-BC09-42CB-B202-3973FD46AAB7}"/>
              </a:ext>
            </a:extLst>
          </p:cNvPr>
          <p:cNvSpPr txBox="1"/>
          <p:nvPr/>
        </p:nvSpPr>
        <p:spPr>
          <a:xfrm>
            <a:off x="2917036" y="2222423"/>
            <a:ext cx="792480" cy="276999"/>
          </a:xfrm>
          <a:prstGeom prst="rect">
            <a:avLst/>
          </a:prstGeom>
          <a:noFill/>
        </p:spPr>
        <p:txBody>
          <a:bodyPr wrap="square">
            <a:spAutoFit/>
          </a:bodyPr>
          <a:lstStyle/>
          <a:p>
            <a:r>
              <a:rPr lang="en-IN" sz="1200" dirty="0"/>
              <a:t>-5.6</a:t>
            </a:r>
          </a:p>
        </p:txBody>
      </p:sp>
      <p:sp>
        <p:nvSpPr>
          <p:cNvPr id="18" name="TextBox 17">
            <a:extLst>
              <a:ext uri="{FF2B5EF4-FFF2-40B4-BE49-F238E27FC236}">
                <a16:creationId xmlns:a16="http://schemas.microsoft.com/office/drawing/2014/main" id="{C9FDCECC-F00C-4BC6-BCAA-E29A2516F94D}"/>
              </a:ext>
            </a:extLst>
          </p:cNvPr>
          <p:cNvSpPr txBox="1"/>
          <p:nvPr/>
        </p:nvSpPr>
        <p:spPr>
          <a:xfrm>
            <a:off x="3928860" y="2222422"/>
            <a:ext cx="1290320" cy="276999"/>
          </a:xfrm>
          <a:prstGeom prst="rect">
            <a:avLst/>
          </a:prstGeom>
          <a:noFill/>
        </p:spPr>
        <p:txBody>
          <a:bodyPr wrap="square">
            <a:spAutoFit/>
          </a:bodyPr>
          <a:lstStyle/>
          <a:p>
            <a:r>
              <a:rPr lang="en-IN" sz="1200" dirty="0"/>
              <a:t>-5.6-4.8=-10.4</a:t>
            </a:r>
          </a:p>
        </p:txBody>
      </p:sp>
      <p:sp>
        <p:nvSpPr>
          <p:cNvPr id="21" name="TextBox 20">
            <a:extLst>
              <a:ext uri="{FF2B5EF4-FFF2-40B4-BE49-F238E27FC236}">
                <a16:creationId xmlns:a16="http://schemas.microsoft.com/office/drawing/2014/main" id="{5B34230F-55D8-4F46-83D5-30872DB032DB}"/>
              </a:ext>
            </a:extLst>
          </p:cNvPr>
          <p:cNvSpPr txBox="1"/>
          <p:nvPr/>
        </p:nvSpPr>
        <p:spPr>
          <a:xfrm>
            <a:off x="2935890" y="3140273"/>
            <a:ext cx="792480" cy="276999"/>
          </a:xfrm>
          <a:prstGeom prst="rect">
            <a:avLst/>
          </a:prstGeom>
          <a:noFill/>
        </p:spPr>
        <p:txBody>
          <a:bodyPr wrap="square">
            <a:spAutoFit/>
          </a:bodyPr>
          <a:lstStyle/>
          <a:p>
            <a:r>
              <a:rPr lang="en-IN" sz="1200" dirty="0"/>
              <a:t>-6.2</a:t>
            </a:r>
          </a:p>
        </p:txBody>
      </p:sp>
      <p:sp>
        <p:nvSpPr>
          <p:cNvPr id="22" name="Oval 21">
            <a:extLst>
              <a:ext uri="{FF2B5EF4-FFF2-40B4-BE49-F238E27FC236}">
                <a16:creationId xmlns:a16="http://schemas.microsoft.com/office/drawing/2014/main" id="{740069A6-C505-4D48-A74A-8312EF0BDDF6}"/>
              </a:ext>
            </a:extLst>
          </p:cNvPr>
          <p:cNvSpPr/>
          <p:nvPr/>
        </p:nvSpPr>
        <p:spPr>
          <a:xfrm>
            <a:off x="4156657" y="3430239"/>
            <a:ext cx="872434" cy="4927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e</a:t>
            </a:r>
          </a:p>
        </p:txBody>
      </p:sp>
      <p:sp>
        <p:nvSpPr>
          <p:cNvPr id="23" name="TextBox 22">
            <a:extLst>
              <a:ext uri="{FF2B5EF4-FFF2-40B4-BE49-F238E27FC236}">
                <a16:creationId xmlns:a16="http://schemas.microsoft.com/office/drawing/2014/main" id="{3FF7E736-3153-4B15-82C5-17309CEBA8E9}"/>
              </a:ext>
            </a:extLst>
          </p:cNvPr>
          <p:cNvSpPr txBox="1"/>
          <p:nvPr/>
        </p:nvSpPr>
        <p:spPr>
          <a:xfrm>
            <a:off x="4009008" y="3158255"/>
            <a:ext cx="1290320" cy="276999"/>
          </a:xfrm>
          <a:prstGeom prst="rect">
            <a:avLst/>
          </a:prstGeom>
          <a:noFill/>
        </p:spPr>
        <p:txBody>
          <a:bodyPr wrap="square">
            <a:spAutoFit/>
          </a:bodyPr>
          <a:lstStyle/>
          <a:p>
            <a:r>
              <a:rPr lang="en-IN" sz="1200" dirty="0"/>
              <a:t>-6.2-3.2=-9.4</a:t>
            </a:r>
          </a:p>
        </p:txBody>
      </p:sp>
      <p:cxnSp>
        <p:nvCxnSpPr>
          <p:cNvPr id="25" name="Straight Arrow Connector 24">
            <a:extLst>
              <a:ext uri="{FF2B5EF4-FFF2-40B4-BE49-F238E27FC236}">
                <a16:creationId xmlns:a16="http://schemas.microsoft.com/office/drawing/2014/main" id="{A377914D-1DA0-45A9-AF2D-2847606DC48C}"/>
              </a:ext>
            </a:extLst>
          </p:cNvPr>
          <p:cNvCxnSpPr>
            <a:stCxn id="10" idx="7"/>
            <a:endCxn id="14" idx="2"/>
          </p:cNvCxnSpPr>
          <p:nvPr/>
        </p:nvCxnSpPr>
        <p:spPr>
          <a:xfrm flipV="1">
            <a:off x="1989061" y="2739092"/>
            <a:ext cx="775435" cy="7760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557352A7-12C3-413F-82E1-55ADECB30670}"/>
              </a:ext>
            </a:extLst>
          </p:cNvPr>
          <p:cNvCxnSpPr>
            <a:stCxn id="14" idx="6"/>
            <a:endCxn id="15" idx="2"/>
          </p:cNvCxnSpPr>
          <p:nvPr/>
        </p:nvCxnSpPr>
        <p:spPr>
          <a:xfrm>
            <a:off x="3636930" y="2739092"/>
            <a:ext cx="50932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8AF654DE-82A4-49D1-AB33-27B9BA74F963}"/>
              </a:ext>
            </a:extLst>
          </p:cNvPr>
          <p:cNvCxnSpPr>
            <a:stCxn id="10" idx="6"/>
            <a:endCxn id="13" idx="2"/>
          </p:cNvCxnSpPr>
          <p:nvPr/>
        </p:nvCxnSpPr>
        <p:spPr>
          <a:xfrm flipV="1">
            <a:off x="2063456" y="3683972"/>
            <a:ext cx="690880" cy="53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BC513858-4A0F-4542-94B7-DC1835557D22}"/>
              </a:ext>
            </a:extLst>
          </p:cNvPr>
          <p:cNvCxnSpPr>
            <a:cxnSpLocks/>
            <a:stCxn id="13" idx="6"/>
            <a:endCxn id="22" idx="2"/>
          </p:cNvCxnSpPr>
          <p:nvPr/>
        </p:nvCxnSpPr>
        <p:spPr>
          <a:xfrm flipV="1">
            <a:off x="3626770" y="3676619"/>
            <a:ext cx="529887" cy="73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8D6B3328-02A0-4804-A8F4-92B5A8403CEF}"/>
              </a:ext>
            </a:extLst>
          </p:cNvPr>
          <p:cNvCxnSpPr>
            <a:cxnSpLocks/>
            <a:stCxn id="10" idx="5"/>
            <a:endCxn id="12" idx="2"/>
          </p:cNvCxnSpPr>
          <p:nvPr/>
        </p:nvCxnSpPr>
        <p:spPr>
          <a:xfrm>
            <a:off x="1989061" y="3863536"/>
            <a:ext cx="775435" cy="7449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 name="Rectangle 6">
            <a:extLst>
              <a:ext uri="{FF2B5EF4-FFF2-40B4-BE49-F238E27FC236}">
                <a16:creationId xmlns:a16="http://schemas.microsoft.com/office/drawing/2014/main" id="{927967D9-B1DB-4CB5-8E0C-5A9052A7FEDA}"/>
              </a:ext>
            </a:extLst>
          </p:cNvPr>
          <p:cNvSpPr/>
          <p:nvPr/>
        </p:nvSpPr>
        <p:spPr>
          <a:xfrm>
            <a:off x="2492148" y="2268748"/>
            <a:ext cx="2682358" cy="891794"/>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4" name="TextBox 23">
            <a:extLst>
              <a:ext uri="{FF2B5EF4-FFF2-40B4-BE49-F238E27FC236}">
                <a16:creationId xmlns:a16="http://schemas.microsoft.com/office/drawing/2014/main" id="{F759AE77-FE4B-4309-A0E3-3C94AD1DA66D}"/>
              </a:ext>
            </a:extLst>
          </p:cNvPr>
          <p:cNvSpPr txBox="1"/>
          <p:nvPr/>
        </p:nvSpPr>
        <p:spPr>
          <a:xfrm>
            <a:off x="2930973" y="4098918"/>
            <a:ext cx="792480" cy="276999"/>
          </a:xfrm>
          <a:prstGeom prst="rect">
            <a:avLst/>
          </a:prstGeom>
          <a:noFill/>
        </p:spPr>
        <p:txBody>
          <a:bodyPr wrap="square">
            <a:spAutoFit/>
          </a:bodyPr>
          <a:lstStyle/>
          <a:p>
            <a:r>
              <a:rPr lang="en-IN" sz="1200" dirty="0"/>
              <a:t>-8.3</a:t>
            </a:r>
          </a:p>
        </p:txBody>
      </p:sp>
      <p:sp>
        <p:nvSpPr>
          <p:cNvPr id="26" name="Rectangle 25">
            <a:extLst>
              <a:ext uri="{FF2B5EF4-FFF2-40B4-BE49-F238E27FC236}">
                <a16:creationId xmlns:a16="http://schemas.microsoft.com/office/drawing/2014/main" id="{514A7EC9-D50D-4955-AFAF-22A60F9406C7}"/>
              </a:ext>
            </a:extLst>
          </p:cNvPr>
          <p:cNvSpPr/>
          <p:nvPr/>
        </p:nvSpPr>
        <p:spPr>
          <a:xfrm>
            <a:off x="2464198" y="3152560"/>
            <a:ext cx="2682358" cy="891794"/>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9" name="Straight Connector 8">
            <a:extLst>
              <a:ext uri="{FF2B5EF4-FFF2-40B4-BE49-F238E27FC236}">
                <a16:creationId xmlns:a16="http://schemas.microsoft.com/office/drawing/2014/main" id="{C2C48F9E-B42B-4811-9A34-9ADD7748ED94}"/>
              </a:ext>
            </a:extLst>
          </p:cNvPr>
          <p:cNvCxnSpPr/>
          <p:nvPr/>
        </p:nvCxnSpPr>
        <p:spPr>
          <a:xfrm>
            <a:off x="5466735" y="1032679"/>
            <a:ext cx="0" cy="636372"/>
          </a:xfrm>
          <a:prstGeom prst="line">
            <a:avLst/>
          </a:prstGeom>
          <a:ln w="44450"/>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DF16F80-B8F9-4EDB-9952-E810FAB6FA66}"/>
              </a:ext>
            </a:extLst>
          </p:cNvPr>
          <p:cNvCxnSpPr>
            <a:cxnSpLocks/>
            <a:stCxn id="12" idx="7"/>
          </p:cNvCxnSpPr>
          <p:nvPr/>
        </p:nvCxnSpPr>
        <p:spPr>
          <a:xfrm flipV="1">
            <a:off x="3509165" y="3694601"/>
            <a:ext cx="496110" cy="7397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 name="Oval 30">
            <a:extLst>
              <a:ext uri="{FF2B5EF4-FFF2-40B4-BE49-F238E27FC236}">
                <a16:creationId xmlns:a16="http://schemas.microsoft.com/office/drawing/2014/main" id="{207FEC03-D64B-4952-9559-8ED958AF310F}"/>
              </a:ext>
            </a:extLst>
          </p:cNvPr>
          <p:cNvSpPr/>
          <p:nvPr/>
        </p:nvSpPr>
        <p:spPr>
          <a:xfrm>
            <a:off x="4000070" y="3405287"/>
            <a:ext cx="872434" cy="4927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j</a:t>
            </a:r>
          </a:p>
        </p:txBody>
      </p:sp>
      <p:sp>
        <p:nvSpPr>
          <p:cNvPr id="34" name="TextBox 33">
            <a:extLst>
              <a:ext uri="{FF2B5EF4-FFF2-40B4-BE49-F238E27FC236}">
                <a16:creationId xmlns:a16="http://schemas.microsoft.com/office/drawing/2014/main" id="{E66DA3A1-94A1-49E2-A908-3F68EF198E3F}"/>
              </a:ext>
            </a:extLst>
          </p:cNvPr>
          <p:cNvSpPr txBox="1"/>
          <p:nvPr/>
        </p:nvSpPr>
        <p:spPr>
          <a:xfrm>
            <a:off x="4076774" y="3182878"/>
            <a:ext cx="1253543" cy="276999"/>
          </a:xfrm>
          <a:prstGeom prst="rect">
            <a:avLst/>
          </a:prstGeom>
          <a:noFill/>
        </p:spPr>
        <p:txBody>
          <a:bodyPr wrap="square">
            <a:spAutoFit/>
          </a:bodyPr>
          <a:lstStyle/>
          <a:p>
            <a:r>
              <a:rPr lang="en-IN" sz="1200" dirty="0"/>
              <a:t>-8.3-6.4=-14.7</a:t>
            </a:r>
          </a:p>
        </p:txBody>
      </p:sp>
      <p:cxnSp>
        <p:nvCxnSpPr>
          <p:cNvPr id="35" name="Straight Arrow Connector 34">
            <a:extLst>
              <a:ext uri="{FF2B5EF4-FFF2-40B4-BE49-F238E27FC236}">
                <a16:creationId xmlns:a16="http://schemas.microsoft.com/office/drawing/2014/main" id="{6FFAAC1F-5AB1-47C2-9954-55E4F03570B4}"/>
              </a:ext>
            </a:extLst>
          </p:cNvPr>
          <p:cNvCxnSpPr>
            <a:cxnSpLocks/>
          </p:cNvCxnSpPr>
          <p:nvPr/>
        </p:nvCxnSpPr>
        <p:spPr>
          <a:xfrm flipV="1">
            <a:off x="4900050" y="3640076"/>
            <a:ext cx="502341" cy="827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Oval 37">
            <a:extLst>
              <a:ext uri="{FF2B5EF4-FFF2-40B4-BE49-F238E27FC236}">
                <a16:creationId xmlns:a16="http://schemas.microsoft.com/office/drawing/2014/main" id="{913BCF09-93F3-493C-943E-A3173356C68F}"/>
              </a:ext>
            </a:extLst>
          </p:cNvPr>
          <p:cNvSpPr/>
          <p:nvPr/>
        </p:nvSpPr>
        <p:spPr>
          <a:xfrm>
            <a:off x="5425784" y="3372452"/>
            <a:ext cx="872434" cy="4927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a:t>
            </a:r>
          </a:p>
        </p:txBody>
      </p:sp>
      <p:sp>
        <p:nvSpPr>
          <p:cNvPr id="39" name="Oval 38">
            <a:extLst>
              <a:ext uri="{FF2B5EF4-FFF2-40B4-BE49-F238E27FC236}">
                <a16:creationId xmlns:a16="http://schemas.microsoft.com/office/drawing/2014/main" id="{CDCE67A6-007D-4F0B-AB76-0C4450AF2845}"/>
              </a:ext>
            </a:extLst>
          </p:cNvPr>
          <p:cNvSpPr/>
          <p:nvPr/>
        </p:nvSpPr>
        <p:spPr>
          <a:xfrm>
            <a:off x="4013237" y="5043965"/>
            <a:ext cx="872434" cy="4927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solidFill>
                  <a:schemeClr val="tx1"/>
                </a:solidFill>
              </a:rPr>
              <a:t>ja</a:t>
            </a:r>
            <a:endParaRPr lang="en-IN" dirty="0">
              <a:solidFill>
                <a:schemeClr val="tx1"/>
              </a:solidFill>
            </a:endParaRPr>
          </a:p>
        </p:txBody>
      </p:sp>
      <p:cxnSp>
        <p:nvCxnSpPr>
          <p:cNvPr id="40" name="Straight Arrow Connector 39">
            <a:extLst>
              <a:ext uri="{FF2B5EF4-FFF2-40B4-BE49-F238E27FC236}">
                <a16:creationId xmlns:a16="http://schemas.microsoft.com/office/drawing/2014/main" id="{25FE5F64-8D5E-40D2-A5CF-D408801393C2}"/>
              </a:ext>
            </a:extLst>
          </p:cNvPr>
          <p:cNvCxnSpPr>
            <a:cxnSpLocks/>
            <a:stCxn id="12" idx="5"/>
            <a:endCxn id="39" idx="2"/>
          </p:cNvCxnSpPr>
          <p:nvPr/>
        </p:nvCxnSpPr>
        <p:spPr>
          <a:xfrm>
            <a:off x="3509165" y="4782749"/>
            <a:ext cx="504072" cy="5075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3" name="TextBox 42">
            <a:extLst>
              <a:ext uri="{FF2B5EF4-FFF2-40B4-BE49-F238E27FC236}">
                <a16:creationId xmlns:a16="http://schemas.microsoft.com/office/drawing/2014/main" id="{98FC6E83-12FE-4ACD-8F3A-29CAD8C97DFB}"/>
              </a:ext>
            </a:extLst>
          </p:cNvPr>
          <p:cNvSpPr txBox="1"/>
          <p:nvPr/>
        </p:nvSpPr>
        <p:spPr>
          <a:xfrm>
            <a:off x="5283777" y="3132285"/>
            <a:ext cx="1488059" cy="276999"/>
          </a:xfrm>
          <a:prstGeom prst="rect">
            <a:avLst/>
          </a:prstGeom>
          <a:noFill/>
        </p:spPr>
        <p:txBody>
          <a:bodyPr wrap="square">
            <a:spAutoFit/>
          </a:bodyPr>
          <a:lstStyle/>
          <a:p>
            <a:r>
              <a:rPr lang="en-IN" sz="1200" dirty="0"/>
              <a:t>-14.7-2.8=-17.5</a:t>
            </a:r>
          </a:p>
        </p:txBody>
      </p:sp>
      <p:sp>
        <p:nvSpPr>
          <p:cNvPr id="44" name="TextBox 43">
            <a:extLst>
              <a:ext uri="{FF2B5EF4-FFF2-40B4-BE49-F238E27FC236}">
                <a16:creationId xmlns:a16="http://schemas.microsoft.com/office/drawing/2014/main" id="{A56CC70F-1F56-4E71-97BC-AC133C712A3D}"/>
              </a:ext>
            </a:extLst>
          </p:cNvPr>
          <p:cNvSpPr txBox="1"/>
          <p:nvPr/>
        </p:nvSpPr>
        <p:spPr>
          <a:xfrm>
            <a:off x="3744248" y="4811571"/>
            <a:ext cx="1366591" cy="276999"/>
          </a:xfrm>
          <a:prstGeom prst="rect">
            <a:avLst/>
          </a:prstGeom>
          <a:noFill/>
        </p:spPr>
        <p:txBody>
          <a:bodyPr wrap="square">
            <a:spAutoFit/>
          </a:bodyPr>
          <a:lstStyle/>
          <a:p>
            <a:r>
              <a:rPr lang="en-IN" sz="1200" dirty="0"/>
              <a:t>-8.3-7.5=-15.8</a:t>
            </a:r>
          </a:p>
        </p:txBody>
      </p:sp>
      <p:sp>
        <p:nvSpPr>
          <p:cNvPr id="45" name="Rectangle 44">
            <a:extLst>
              <a:ext uri="{FF2B5EF4-FFF2-40B4-BE49-F238E27FC236}">
                <a16:creationId xmlns:a16="http://schemas.microsoft.com/office/drawing/2014/main" id="{C4484DF6-4A8E-4024-882F-1C946D5C9A80}"/>
              </a:ext>
            </a:extLst>
          </p:cNvPr>
          <p:cNvSpPr/>
          <p:nvPr/>
        </p:nvSpPr>
        <p:spPr>
          <a:xfrm>
            <a:off x="3843191" y="3054236"/>
            <a:ext cx="2682358" cy="891794"/>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46" name="Straight Connector 45">
            <a:extLst>
              <a:ext uri="{FF2B5EF4-FFF2-40B4-BE49-F238E27FC236}">
                <a16:creationId xmlns:a16="http://schemas.microsoft.com/office/drawing/2014/main" id="{9281A839-C8D1-48C6-A421-CFF7159648BE}"/>
              </a:ext>
            </a:extLst>
          </p:cNvPr>
          <p:cNvCxnSpPr/>
          <p:nvPr/>
        </p:nvCxnSpPr>
        <p:spPr>
          <a:xfrm>
            <a:off x="6005642" y="1043674"/>
            <a:ext cx="0" cy="636372"/>
          </a:xfrm>
          <a:prstGeom prst="line">
            <a:avLst/>
          </a:prstGeom>
          <a:ln w="44450"/>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65B440CE-6B03-4BEC-91CC-D6D303C7EAC2}"/>
              </a:ext>
            </a:extLst>
          </p:cNvPr>
          <p:cNvCxnSpPr>
            <a:cxnSpLocks/>
            <a:stCxn id="39" idx="7"/>
            <a:endCxn id="48" idx="2"/>
          </p:cNvCxnSpPr>
          <p:nvPr/>
        </p:nvCxnSpPr>
        <p:spPr>
          <a:xfrm flipV="1">
            <a:off x="4757906" y="4366490"/>
            <a:ext cx="616838" cy="7496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8" name="Oval 47">
            <a:extLst>
              <a:ext uri="{FF2B5EF4-FFF2-40B4-BE49-F238E27FC236}">
                <a16:creationId xmlns:a16="http://schemas.microsoft.com/office/drawing/2014/main" id="{4A5122FB-3548-4527-8E07-F7CB12FEB5D5}"/>
              </a:ext>
            </a:extLst>
          </p:cNvPr>
          <p:cNvSpPr/>
          <p:nvPr/>
        </p:nvSpPr>
        <p:spPr>
          <a:xfrm>
            <a:off x="5374744" y="4120110"/>
            <a:ext cx="872434" cy="4927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f</a:t>
            </a:r>
          </a:p>
        </p:txBody>
      </p:sp>
      <p:cxnSp>
        <p:nvCxnSpPr>
          <p:cNvPr id="49" name="Straight Arrow Connector 48">
            <a:extLst>
              <a:ext uri="{FF2B5EF4-FFF2-40B4-BE49-F238E27FC236}">
                <a16:creationId xmlns:a16="http://schemas.microsoft.com/office/drawing/2014/main" id="{9FE3ECBB-F34E-462A-8606-F3B196ACA4B7}"/>
              </a:ext>
            </a:extLst>
          </p:cNvPr>
          <p:cNvCxnSpPr>
            <a:cxnSpLocks/>
          </p:cNvCxnSpPr>
          <p:nvPr/>
        </p:nvCxnSpPr>
        <p:spPr>
          <a:xfrm flipV="1">
            <a:off x="4894672" y="5290345"/>
            <a:ext cx="531112" cy="26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2" name="Oval 51">
            <a:extLst>
              <a:ext uri="{FF2B5EF4-FFF2-40B4-BE49-F238E27FC236}">
                <a16:creationId xmlns:a16="http://schemas.microsoft.com/office/drawing/2014/main" id="{59E2F6B4-FC29-4726-BE8E-723AD93EC270}"/>
              </a:ext>
            </a:extLst>
          </p:cNvPr>
          <p:cNvSpPr/>
          <p:nvPr/>
        </p:nvSpPr>
        <p:spPr>
          <a:xfrm>
            <a:off x="5451142" y="5025111"/>
            <a:ext cx="872434" cy="4927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solidFill>
                  <a:schemeClr val="tx1"/>
                </a:solidFill>
              </a:rPr>
              <a:t>fr</a:t>
            </a:r>
            <a:endParaRPr lang="en-IN" dirty="0">
              <a:solidFill>
                <a:schemeClr val="tx1"/>
              </a:solidFill>
            </a:endParaRPr>
          </a:p>
        </p:txBody>
      </p:sp>
      <p:sp>
        <p:nvSpPr>
          <p:cNvPr id="53" name="Oval 52">
            <a:extLst>
              <a:ext uri="{FF2B5EF4-FFF2-40B4-BE49-F238E27FC236}">
                <a16:creationId xmlns:a16="http://schemas.microsoft.com/office/drawing/2014/main" id="{84A96473-1DCE-4E57-9A15-15CA46CEC0D9}"/>
              </a:ext>
            </a:extLst>
          </p:cNvPr>
          <p:cNvSpPr/>
          <p:nvPr/>
        </p:nvSpPr>
        <p:spPr>
          <a:xfrm>
            <a:off x="5421853" y="6119338"/>
            <a:ext cx="872434" cy="4927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fry</a:t>
            </a:r>
          </a:p>
        </p:txBody>
      </p:sp>
      <p:cxnSp>
        <p:nvCxnSpPr>
          <p:cNvPr id="55" name="Straight Arrow Connector 54">
            <a:extLst>
              <a:ext uri="{FF2B5EF4-FFF2-40B4-BE49-F238E27FC236}">
                <a16:creationId xmlns:a16="http://schemas.microsoft.com/office/drawing/2014/main" id="{2A5C8C8D-E60F-4747-BAD1-6CE5480AF69C}"/>
              </a:ext>
            </a:extLst>
          </p:cNvPr>
          <p:cNvCxnSpPr>
            <a:cxnSpLocks/>
          </p:cNvCxnSpPr>
          <p:nvPr/>
        </p:nvCxnSpPr>
        <p:spPr>
          <a:xfrm>
            <a:off x="4736631" y="5480221"/>
            <a:ext cx="714511" cy="7802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7" name="Oval 56">
            <a:extLst>
              <a:ext uri="{FF2B5EF4-FFF2-40B4-BE49-F238E27FC236}">
                <a16:creationId xmlns:a16="http://schemas.microsoft.com/office/drawing/2014/main" id="{B92DE2C6-4B94-4CA2-B3F9-1874044FEF37}"/>
              </a:ext>
            </a:extLst>
          </p:cNvPr>
          <p:cNvSpPr/>
          <p:nvPr/>
        </p:nvSpPr>
        <p:spPr>
          <a:xfrm>
            <a:off x="6810007" y="4089491"/>
            <a:ext cx="872434" cy="4927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r</a:t>
            </a:r>
          </a:p>
        </p:txBody>
      </p:sp>
      <p:cxnSp>
        <p:nvCxnSpPr>
          <p:cNvPr id="59" name="Straight Arrow Connector 58">
            <a:extLst>
              <a:ext uri="{FF2B5EF4-FFF2-40B4-BE49-F238E27FC236}">
                <a16:creationId xmlns:a16="http://schemas.microsoft.com/office/drawing/2014/main" id="{B47BFC3B-0259-425E-AC3C-D56844B3FD89}"/>
              </a:ext>
            </a:extLst>
          </p:cNvPr>
          <p:cNvCxnSpPr>
            <a:cxnSpLocks/>
          </p:cNvCxnSpPr>
          <p:nvPr/>
        </p:nvCxnSpPr>
        <p:spPr>
          <a:xfrm flipV="1">
            <a:off x="6267393" y="4352124"/>
            <a:ext cx="531112" cy="26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0" name="Oval 59">
            <a:extLst>
              <a:ext uri="{FF2B5EF4-FFF2-40B4-BE49-F238E27FC236}">
                <a16:creationId xmlns:a16="http://schemas.microsoft.com/office/drawing/2014/main" id="{F6667CAC-86D0-475F-8775-631A0C826E29}"/>
              </a:ext>
            </a:extLst>
          </p:cNvPr>
          <p:cNvSpPr/>
          <p:nvPr/>
        </p:nvSpPr>
        <p:spPr>
          <a:xfrm>
            <a:off x="6866190" y="5006111"/>
            <a:ext cx="872434" cy="4927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y</a:t>
            </a:r>
          </a:p>
        </p:txBody>
      </p:sp>
      <p:cxnSp>
        <p:nvCxnSpPr>
          <p:cNvPr id="61" name="Straight Arrow Connector 60">
            <a:extLst>
              <a:ext uri="{FF2B5EF4-FFF2-40B4-BE49-F238E27FC236}">
                <a16:creationId xmlns:a16="http://schemas.microsoft.com/office/drawing/2014/main" id="{472BDA9A-BB78-410F-B4C5-5AFE517848AD}"/>
              </a:ext>
            </a:extLst>
          </p:cNvPr>
          <p:cNvCxnSpPr>
            <a:cxnSpLocks/>
          </p:cNvCxnSpPr>
          <p:nvPr/>
        </p:nvCxnSpPr>
        <p:spPr>
          <a:xfrm flipV="1">
            <a:off x="6323576" y="5268744"/>
            <a:ext cx="531112" cy="26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2" name="TextBox 61">
            <a:extLst>
              <a:ext uri="{FF2B5EF4-FFF2-40B4-BE49-F238E27FC236}">
                <a16:creationId xmlns:a16="http://schemas.microsoft.com/office/drawing/2014/main" id="{EB1E81E8-AE06-45ED-84BD-BD328D91AC78}"/>
              </a:ext>
            </a:extLst>
          </p:cNvPr>
          <p:cNvSpPr txBox="1"/>
          <p:nvPr/>
        </p:nvSpPr>
        <p:spPr>
          <a:xfrm>
            <a:off x="5199193" y="3899644"/>
            <a:ext cx="1488058" cy="276999"/>
          </a:xfrm>
          <a:prstGeom prst="rect">
            <a:avLst/>
          </a:prstGeom>
          <a:noFill/>
        </p:spPr>
        <p:txBody>
          <a:bodyPr wrap="square">
            <a:spAutoFit/>
          </a:bodyPr>
          <a:lstStyle/>
          <a:p>
            <a:r>
              <a:rPr lang="en-IN" sz="1200" dirty="0"/>
              <a:t>-15.8-1.3=-17.1</a:t>
            </a:r>
          </a:p>
        </p:txBody>
      </p:sp>
      <p:sp>
        <p:nvSpPr>
          <p:cNvPr id="63" name="TextBox 62">
            <a:extLst>
              <a:ext uri="{FF2B5EF4-FFF2-40B4-BE49-F238E27FC236}">
                <a16:creationId xmlns:a16="http://schemas.microsoft.com/office/drawing/2014/main" id="{5C735E9F-7463-4588-A6C8-F8D97EB8C416}"/>
              </a:ext>
            </a:extLst>
          </p:cNvPr>
          <p:cNvSpPr txBox="1"/>
          <p:nvPr/>
        </p:nvSpPr>
        <p:spPr>
          <a:xfrm>
            <a:off x="6659198" y="3869054"/>
            <a:ext cx="1421406" cy="276999"/>
          </a:xfrm>
          <a:prstGeom prst="rect">
            <a:avLst/>
          </a:prstGeom>
          <a:noFill/>
        </p:spPr>
        <p:txBody>
          <a:bodyPr wrap="square">
            <a:spAutoFit/>
          </a:bodyPr>
          <a:lstStyle/>
          <a:p>
            <a:r>
              <a:rPr lang="en-IN" sz="1200" dirty="0"/>
              <a:t>-17.1-6.7=-23.8</a:t>
            </a:r>
          </a:p>
        </p:txBody>
      </p:sp>
      <p:sp>
        <p:nvSpPr>
          <p:cNvPr id="64" name="TextBox 63">
            <a:extLst>
              <a:ext uri="{FF2B5EF4-FFF2-40B4-BE49-F238E27FC236}">
                <a16:creationId xmlns:a16="http://schemas.microsoft.com/office/drawing/2014/main" id="{FF2073BE-1A57-4EFF-B3E8-11D266AEEC11}"/>
              </a:ext>
            </a:extLst>
          </p:cNvPr>
          <p:cNvSpPr txBox="1"/>
          <p:nvPr/>
        </p:nvSpPr>
        <p:spPr>
          <a:xfrm>
            <a:off x="5210492" y="4785624"/>
            <a:ext cx="1361633" cy="276999"/>
          </a:xfrm>
          <a:prstGeom prst="rect">
            <a:avLst/>
          </a:prstGeom>
          <a:noFill/>
        </p:spPr>
        <p:txBody>
          <a:bodyPr wrap="square">
            <a:spAutoFit/>
          </a:bodyPr>
          <a:lstStyle/>
          <a:p>
            <a:r>
              <a:rPr lang="en-IN" sz="1200" dirty="0"/>
              <a:t>-15.8-5.5=-21.3</a:t>
            </a:r>
          </a:p>
        </p:txBody>
      </p:sp>
      <p:sp>
        <p:nvSpPr>
          <p:cNvPr id="65" name="TextBox 64">
            <a:extLst>
              <a:ext uri="{FF2B5EF4-FFF2-40B4-BE49-F238E27FC236}">
                <a16:creationId xmlns:a16="http://schemas.microsoft.com/office/drawing/2014/main" id="{9C4773A8-1D03-40C1-82B4-1F687BA296B8}"/>
              </a:ext>
            </a:extLst>
          </p:cNvPr>
          <p:cNvSpPr txBox="1"/>
          <p:nvPr/>
        </p:nvSpPr>
        <p:spPr>
          <a:xfrm>
            <a:off x="6597483" y="4776477"/>
            <a:ext cx="1275368" cy="276999"/>
          </a:xfrm>
          <a:prstGeom prst="rect">
            <a:avLst/>
          </a:prstGeom>
          <a:noFill/>
        </p:spPr>
        <p:txBody>
          <a:bodyPr wrap="square">
            <a:spAutoFit/>
          </a:bodyPr>
          <a:lstStyle/>
          <a:p>
            <a:r>
              <a:rPr lang="en-IN" sz="1200" dirty="0"/>
              <a:t>-21.3-2.5=-23.8</a:t>
            </a:r>
          </a:p>
        </p:txBody>
      </p:sp>
      <p:sp>
        <p:nvSpPr>
          <p:cNvPr id="66" name="TextBox 65">
            <a:extLst>
              <a:ext uri="{FF2B5EF4-FFF2-40B4-BE49-F238E27FC236}">
                <a16:creationId xmlns:a16="http://schemas.microsoft.com/office/drawing/2014/main" id="{E0684B4A-3A0E-4CAC-B660-2B1EAA5489F3}"/>
              </a:ext>
            </a:extLst>
          </p:cNvPr>
          <p:cNvSpPr txBox="1"/>
          <p:nvPr/>
        </p:nvSpPr>
        <p:spPr>
          <a:xfrm>
            <a:off x="5245293" y="5891008"/>
            <a:ext cx="1284133" cy="283301"/>
          </a:xfrm>
          <a:prstGeom prst="rect">
            <a:avLst/>
          </a:prstGeom>
          <a:noFill/>
        </p:spPr>
        <p:txBody>
          <a:bodyPr wrap="square">
            <a:spAutoFit/>
          </a:bodyPr>
          <a:lstStyle/>
          <a:p>
            <a:r>
              <a:rPr lang="en-IN" sz="1200" dirty="0"/>
              <a:t>-15.8-9.6=-25.4</a:t>
            </a:r>
          </a:p>
        </p:txBody>
      </p:sp>
      <p:sp>
        <p:nvSpPr>
          <p:cNvPr id="67" name="Rectangle 66">
            <a:extLst>
              <a:ext uri="{FF2B5EF4-FFF2-40B4-BE49-F238E27FC236}">
                <a16:creationId xmlns:a16="http://schemas.microsoft.com/office/drawing/2014/main" id="{2296BCDF-6D44-4505-A872-3E3E2A27846C}"/>
              </a:ext>
            </a:extLst>
          </p:cNvPr>
          <p:cNvSpPr/>
          <p:nvPr/>
        </p:nvSpPr>
        <p:spPr>
          <a:xfrm>
            <a:off x="5219180" y="3841154"/>
            <a:ext cx="2682358" cy="891794"/>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8" name="Rectangle 67">
            <a:extLst>
              <a:ext uri="{FF2B5EF4-FFF2-40B4-BE49-F238E27FC236}">
                <a16:creationId xmlns:a16="http://schemas.microsoft.com/office/drawing/2014/main" id="{755C63F7-D535-4061-8129-F6854B53AC8C}"/>
              </a:ext>
            </a:extLst>
          </p:cNvPr>
          <p:cNvSpPr/>
          <p:nvPr/>
        </p:nvSpPr>
        <p:spPr>
          <a:xfrm>
            <a:off x="4786296" y="5926606"/>
            <a:ext cx="2682358" cy="891794"/>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69" name="Straight Connector 68">
            <a:extLst>
              <a:ext uri="{FF2B5EF4-FFF2-40B4-BE49-F238E27FC236}">
                <a16:creationId xmlns:a16="http://schemas.microsoft.com/office/drawing/2014/main" id="{0AB80E27-A04D-40C7-AA2F-B808CEC2B2AB}"/>
              </a:ext>
            </a:extLst>
          </p:cNvPr>
          <p:cNvCxnSpPr/>
          <p:nvPr/>
        </p:nvCxnSpPr>
        <p:spPr>
          <a:xfrm>
            <a:off x="6478554" y="1045242"/>
            <a:ext cx="0" cy="636372"/>
          </a:xfrm>
          <a:prstGeom prst="line">
            <a:avLst/>
          </a:prstGeom>
          <a:ln w="44450"/>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8BEA2218-77B7-4499-8C0C-FBC1A926DB15}"/>
              </a:ext>
            </a:extLst>
          </p:cNvPr>
          <p:cNvSpPr txBox="1"/>
          <p:nvPr/>
        </p:nvSpPr>
        <p:spPr>
          <a:xfrm>
            <a:off x="511349" y="1587457"/>
            <a:ext cx="1581715" cy="369332"/>
          </a:xfrm>
          <a:prstGeom prst="rect">
            <a:avLst/>
          </a:prstGeom>
          <a:noFill/>
        </p:spPr>
        <p:txBody>
          <a:bodyPr wrap="none" rtlCol="0">
            <a:spAutoFit/>
          </a:bodyPr>
          <a:lstStyle/>
          <a:p>
            <a:r>
              <a:rPr lang="en-IN" dirty="0"/>
              <a:t>Forward pass</a:t>
            </a:r>
          </a:p>
        </p:txBody>
      </p:sp>
      <p:sp>
        <p:nvSpPr>
          <p:cNvPr id="71" name="TextBox 70">
            <a:extLst>
              <a:ext uri="{FF2B5EF4-FFF2-40B4-BE49-F238E27FC236}">
                <a16:creationId xmlns:a16="http://schemas.microsoft.com/office/drawing/2014/main" id="{A071FC8A-96A6-45E9-8772-AD0D34594F71}"/>
              </a:ext>
            </a:extLst>
          </p:cNvPr>
          <p:cNvSpPr txBox="1"/>
          <p:nvPr/>
        </p:nvSpPr>
        <p:spPr>
          <a:xfrm>
            <a:off x="7132213" y="1686408"/>
            <a:ext cx="1741823" cy="369332"/>
          </a:xfrm>
          <a:prstGeom prst="rect">
            <a:avLst/>
          </a:prstGeom>
          <a:noFill/>
        </p:spPr>
        <p:txBody>
          <a:bodyPr wrap="none" rtlCol="0">
            <a:spAutoFit/>
          </a:bodyPr>
          <a:lstStyle/>
          <a:p>
            <a:r>
              <a:rPr lang="en-IN" dirty="0"/>
              <a:t>Backward pass</a:t>
            </a:r>
          </a:p>
        </p:txBody>
      </p:sp>
      <p:cxnSp>
        <p:nvCxnSpPr>
          <p:cNvPr id="73" name="Straight Connector 72">
            <a:extLst>
              <a:ext uri="{FF2B5EF4-FFF2-40B4-BE49-F238E27FC236}">
                <a16:creationId xmlns:a16="http://schemas.microsoft.com/office/drawing/2014/main" id="{AE5603D4-C8A0-446F-BACD-554E4843234E}"/>
              </a:ext>
            </a:extLst>
          </p:cNvPr>
          <p:cNvCxnSpPr>
            <a:cxnSpLocks/>
          </p:cNvCxnSpPr>
          <p:nvPr/>
        </p:nvCxnSpPr>
        <p:spPr>
          <a:xfrm flipH="1">
            <a:off x="6606705" y="5766947"/>
            <a:ext cx="1051016" cy="0"/>
          </a:xfrm>
          <a:prstGeom prst="line">
            <a:avLst/>
          </a:prstGeom>
          <a:ln w="25400">
            <a:solidFill>
              <a:schemeClr val="accent4"/>
            </a:solidFill>
            <a:prstDash val="sysDash"/>
            <a:tailEnd type="stealth" w="lg" len="lg"/>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449B1AD7-5761-4CEA-92D3-EF996FBCE4BD}"/>
              </a:ext>
            </a:extLst>
          </p:cNvPr>
          <p:cNvCxnSpPr/>
          <p:nvPr/>
        </p:nvCxnSpPr>
        <p:spPr>
          <a:xfrm flipH="1">
            <a:off x="5160228" y="5764582"/>
            <a:ext cx="1051016" cy="0"/>
          </a:xfrm>
          <a:prstGeom prst="line">
            <a:avLst/>
          </a:prstGeom>
          <a:ln w="25400">
            <a:solidFill>
              <a:schemeClr val="accent4"/>
            </a:solidFill>
            <a:prstDash val="sysDash"/>
            <a:tailEnd type="stealth" w="lg" len="lg"/>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BE5C3AC1-4B5F-40D2-9E78-18C05C5DE15B}"/>
              </a:ext>
            </a:extLst>
          </p:cNvPr>
          <p:cNvCxnSpPr>
            <a:cxnSpLocks/>
          </p:cNvCxnSpPr>
          <p:nvPr/>
        </p:nvCxnSpPr>
        <p:spPr>
          <a:xfrm flipH="1" flipV="1">
            <a:off x="3433730" y="5011398"/>
            <a:ext cx="767420" cy="785356"/>
          </a:xfrm>
          <a:prstGeom prst="line">
            <a:avLst/>
          </a:prstGeom>
          <a:ln w="25400">
            <a:solidFill>
              <a:schemeClr val="accent4"/>
            </a:solidFill>
            <a:prstDash val="sysDash"/>
            <a:tailEnd type="stealth" w="lg" len="lg"/>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2DA69E3F-E29F-F172-3750-39A680110718}"/>
              </a:ext>
            </a:extLst>
          </p:cNvPr>
          <p:cNvSpPr txBox="1"/>
          <p:nvPr/>
        </p:nvSpPr>
        <p:spPr>
          <a:xfrm>
            <a:off x="-46320" y="5569292"/>
            <a:ext cx="4416832" cy="1323439"/>
          </a:xfrm>
          <a:prstGeom prst="rect">
            <a:avLst/>
          </a:prstGeom>
          <a:noFill/>
        </p:spPr>
        <p:txBody>
          <a:bodyPr wrap="square" rtlCol="0">
            <a:spAutoFit/>
          </a:bodyPr>
          <a:lstStyle/>
          <a:p>
            <a:r>
              <a:rPr lang="en-US" sz="1000" dirty="0">
                <a:highlight>
                  <a:srgbClr val="FFFF00"/>
                </a:highlight>
              </a:rPr>
              <a:t>Now, we have which segmentation maximizes the likelihood of the training corpora given the vocabulary. This is important for us since we want to check the effect of the removal of individual vocab items from the vocabulary</a:t>
            </a:r>
            <a:r>
              <a:rPr lang="en-US" sz="1000" dirty="0"/>
              <a:t>. </a:t>
            </a:r>
            <a:r>
              <a:rPr lang="en-US" sz="1000" dirty="0">
                <a:highlight>
                  <a:srgbClr val="FFFF00"/>
                </a:highlight>
              </a:rPr>
              <a:t>We want to come up with vocab that is good, and the probability of each of the vocab items has to be estimated.</a:t>
            </a:r>
          </a:p>
          <a:p>
            <a:r>
              <a:rPr lang="en-US" sz="1000" dirty="0">
                <a:highlight>
                  <a:srgbClr val="FFFF00"/>
                </a:highlight>
              </a:rPr>
              <a:t>So we are performing joint optimization on the size and composition  of the vocab and probability values of vocab items. This joint optimization is hard and solved using EMA</a:t>
            </a:r>
          </a:p>
        </p:txBody>
      </p:sp>
    </p:spTree>
    <p:extLst>
      <p:ext uri="{BB962C8B-B14F-4D97-AF65-F5344CB8AC3E}">
        <p14:creationId xmlns:p14="http://schemas.microsoft.com/office/powerpoint/2010/main" val="376955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500"/>
                                        <p:tgtEl>
                                          <p:spTgt spid="7"/>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30"/>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33"/>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12"/>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24"/>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4"/>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3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35"/>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3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3"/>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40"/>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39"/>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44"/>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45"/>
                                        </p:tgtEl>
                                        <p:attrNameLst>
                                          <p:attrName>style.visibility</p:attrName>
                                        </p:attrNameLst>
                                      </p:cBhvr>
                                      <p:to>
                                        <p:strVal val="visible"/>
                                      </p:to>
                                    </p:set>
                                    <p:animEffect transition="in" filter="fade">
                                      <p:cBhvr>
                                        <p:cTn id="99" dur="500"/>
                                        <p:tgtEl>
                                          <p:spTgt spid="4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clickEffect">
                                  <p:stCondLst>
                                    <p:cond delay="0"/>
                                  </p:stCondLst>
                                  <p:childTnLst>
                                    <p:set>
                                      <p:cBhvr>
                                        <p:cTn id="103" dur="1" fill="hold">
                                          <p:stCondLst>
                                            <p:cond delay="0"/>
                                          </p:stCondLst>
                                        </p:cTn>
                                        <p:tgtEl>
                                          <p:spTgt spid="47"/>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48"/>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62"/>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nodeType="clickEffect">
                                  <p:stCondLst>
                                    <p:cond delay="0"/>
                                  </p:stCondLst>
                                  <p:childTnLst>
                                    <p:set>
                                      <p:cBhvr>
                                        <p:cTn id="111" dur="1" fill="hold">
                                          <p:stCondLst>
                                            <p:cond delay="0"/>
                                          </p:stCondLst>
                                        </p:cTn>
                                        <p:tgtEl>
                                          <p:spTgt spid="59"/>
                                        </p:tgtEl>
                                        <p:attrNameLst>
                                          <p:attrName>style.visibility</p:attrName>
                                        </p:attrNameLst>
                                      </p:cBhvr>
                                      <p:to>
                                        <p:strVal val="visible"/>
                                      </p:to>
                                    </p:set>
                                  </p:childTnLst>
                                </p:cTn>
                              </p:par>
                              <p:par>
                                <p:cTn id="112" presetID="1" presetClass="entr" presetSubtype="0" fill="hold" grpId="0" nodeType="withEffect">
                                  <p:stCondLst>
                                    <p:cond delay="0"/>
                                  </p:stCondLst>
                                  <p:childTnLst>
                                    <p:set>
                                      <p:cBhvr>
                                        <p:cTn id="113" dur="1" fill="hold">
                                          <p:stCondLst>
                                            <p:cond delay="0"/>
                                          </p:stCondLst>
                                        </p:cTn>
                                        <p:tgtEl>
                                          <p:spTgt spid="57"/>
                                        </p:tgtEl>
                                        <p:attrNameLst>
                                          <p:attrName>style.visibility</p:attrName>
                                        </p:attrNameLst>
                                      </p:cBhvr>
                                      <p:to>
                                        <p:strVal val="visible"/>
                                      </p:to>
                                    </p:set>
                                  </p:childTnLst>
                                </p:cTn>
                              </p:par>
                              <p:par>
                                <p:cTn id="114" presetID="1" presetClass="entr" presetSubtype="0" fill="hold" grpId="0" nodeType="withEffect">
                                  <p:stCondLst>
                                    <p:cond delay="0"/>
                                  </p:stCondLst>
                                  <p:childTnLst>
                                    <p:set>
                                      <p:cBhvr>
                                        <p:cTn id="115" dur="1" fill="hold">
                                          <p:stCondLst>
                                            <p:cond delay="0"/>
                                          </p:stCondLst>
                                        </p:cTn>
                                        <p:tgtEl>
                                          <p:spTgt spid="63"/>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nodeType="clickEffect">
                                  <p:stCondLst>
                                    <p:cond delay="0"/>
                                  </p:stCondLst>
                                  <p:childTnLst>
                                    <p:set>
                                      <p:cBhvr>
                                        <p:cTn id="119" dur="1" fill="hold">
                                          <p:stCondLst>
                                            <p:cond delay="0"/>
                                          </p:stCondLst>
                                        </p:cTn>
                                        <p:tgtEl>
                                          <p:spTgt spid="49"/>
                                        </p:tgtEl>
                                        <p:attrNameLst>
                                          <p:attrName>style.visibility</p:attrName>
                                        </p:attrNameLst>
                                      </p:cBhvr>
                                      <p:to>
                                        <p:strVal val="visible"/>
                                      </p:to>
                                    </p:set>
                                  </p:childTnLst>
                                </p:cTn>
                              </p:par>
                              <p:par>
                                <p:cTn id="120" presetID="1" presetClass="entr" presetSubtype="0" fill="hold" grpId="0" nodeType="withEffect">
                                  <p:stCondLst>
                                    <p:cond delay="0"/>
                                  </p:stCondLst>
                                  <p:childTnLst>
                                    <p:set>
                                      <p:cBhvr>
                                        <p:cTn id="121" dur="1" fill="hold">
                                          <p:stCondLst>
                                            <p:cond delay="0"/>
                                          </p:stCondLst>
                                        </p:cTn>
                                        <p:tgtEl>
                                          <p:spTgt spid="52"/>
                                        </p:tgtEl>
                                        <p:attrNameLst>
                                          <p:attrName>style.visibility</p:attrName>
                                        </p:attrNameLst>
                                      </p:cBhvr>
                                      <p:to>
                                        <p:strVal val="visible"/>
                                      </p:to>
                                    </p:set>
                                  </p:childTnLst>
                                </p:cTn>
                              </p:par>
                              <p:par>
                                <p:cTn id="122" presetID="1" presetClass="entr" presetSubtype="0" fill="hold" grpId="0" nodeType="withEffect">
                                  <p:stCondLst>
                                    <p:cond delay="0"/>
                                  </p:stCondLst>
                                  <p:childTnLst>
                                    <p:set>
                                      <p:cBhvr>
                                        <p:cTn id="123" dur="1" fill="hold">
                                          <p:stCondLst>
                                            <p:cond delay="0"/>
                                          </p:stCondLst>
                                        </p:cTn>
                                        <p:tgtEl>
                                          <p:spTgt spid="64"/>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grpId="0" nodeType="clickEffect">
                                  <p:stCondLst>
                                    <p:cond delay="0"/>
                                  </p:stCondLst>
                                  <p:childTnLst>
                                    <p:set>
                                      <p:cBhvr>
                                        <p:cTn id="127" dur="1" fill="hold">
                                          <p:stCondLst>
                                            <p:cond delay="0"/>
                                          </p:stCondLst>
                                        </p:cTn>
                                        <p:tgtEl>
                                          <p:spTgt spid="67"/>
                                        </p:tgtEl>
                                        <p:attrNameLst>
                                          <p:attrName>style.visibility</p:attrName>
                                        </p:attrNameLst>
                                      </p:cBhvr>
                                      <p:to>
                                        <p:strVal val="visible"/>
                                      </p:to>
                                    </p:set>
                                    <p:animEffect transition="in" filter="fade">
                                      <p:cBhvr>
                                        <p:cTn id="128" dur="500"/>
                                        <p:tgtEl>
                                          <p:spTgt spid="67"/>
                                        </p:tgtEl>
                                      </p:cBhvr>
                                    </p:animEffec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nodeType="clickEffect">
                                  <p:stCondLst>
                                    <p:cond delay="0"/>
                                  </p:stCondLst>
                                  <p:childTnLst>
                                    <p:set>
                                      <p:cBhvr>
                                        <p:cTn id="132" dur="1" fill="hold">
                                          <p:stCondLst>
                                            <p:cond delay="0"/>
                                          </p:stCondLst>
                                        </p:cTn>
                                        <p:tgtEl>
                                          <p:spTgt spid="61"/>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60"/>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65"/>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nodeType="clickEffect">
                                  <p:stCondLst>
                                    <p:cond delay="0"/>
                                  </p:stCondLst>
                                  <p:childTnLst>
                                    <p:set>
                                      <p:cBhvr>
                                        <p:cTn id="140" dur="1" fill="hold">
                                          <p:stCondLst>
                                            <p:cond delay="0"/>
                                          </p:stCondLst>
                                        </p:cTn>
                                        <p:tgtEl>
                                          <p:spTgt spid="55"/>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53"/>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66"/>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0" presetClass="entr" presetSubtype="0" fill="hold" grpId="0" nodeType="clickEffect">
                                  <p:stCondLst>
                                    <p:cond delay="0"/>
                                  </p:stCondLst>
                                  <p:childTnLst>
                                    <p:set>
                                      <p:cBhvr>
                                        <p:cTn id="148" dur="1" fill="hold">
                                          <p:stCondLst>
                                            <p:cond delay="0"/>
                                          </p:stCondLst>
                                        </p:cTn>
                                        <p:tgtEl>
                                          <p:spTgt spid="68"/>
                                        </p:tgtEl>
                                        <p:attrNameLst>
                                          <p:attrName>style.visibility</p:attrName>
                                        </p:attrNameLst>
                                      </p:cBhvr>
                                      <p:to>
                                        <p:strVal val="visible"/>
                                      </p:to>
                                    </p:set>
                                    <p:animEffect transition="in" filter="fade">
                                      <p:cBhvr>
                                        <p:cTn id="149" dur="500"/>
                                        <p:tgtEl>
                                          <p:spTgt spid="68"/>
                                        </p:tgtEl>
                                      </p:cBhvr>
                                    </p:animEffect>
                                  </p:childTnLst>
                                </p:cTn>
                              </p:par>
                            </p:childTnLst>
                          </p:cTn>
                        </p:par>
                      </p:childTnLst>
                    </p:cTn>
                  </p:par>
                  <p:par>
                    <p:cTn id="150" fill="hold">
                      <p:stCondLst>
                        <p:cond delay="indefinite"/>
                      </p:stCondLst>
                      <p:childTnLst>
                        <p:par>
                          <p:cTn id="151" fill="hold">
                            <p:stCondLst>
                              <p:cond delay="0"/>
                            </p:stCondLst>
                            <p:childTnLst>
                              <p:par>
                                <p:cTn id="152" presetID="1" presetClass="entr" presetSubtype="0" fill="hold" grpId="0" nodeType="clickEffect">
                                  <p:stCondLst>
                                    <p:cond delay="0"/>
                                  </p:stCondLst>
                                  <p:childTnLst>
                                    <p:set>
                                      <p:cBhvr>
                                        <p:cTn id="153" dur="1" fill="hold">
                                          <p:stCondLst>
                                            <p:cond delay="0"/>
                                          </p:stCondLst>
                                        </p:cTn>
                                        <p:tgtEl>
                                          <p:spTgt spid="71"/>
                                        </p:tgtEl>
                                        <p:attrNameLst>
                                          <p:attrName>style.visibility</p:attrName>
                                        </p:attrNameLst>
                                      </p:cBhvr>
                                      <p:to>
                                        <p:strVal val="visible"/>
                                      </p:to>
                                    </p:set>
                                  </p:childTnLst>
                                </p:cTn>
                              </p:par>
                            </p:childTnLst>
                          </p:cTn>
                        </p:par>
                      </p:childTnLst>
                    </p:cTn>
                  </p:par>
                  <p:par>
                    <p:cTn id="154" fill="hold">
                      <p:stCondLst>
                        <p:cond delay="indefinite"/>
                      </p:stCondLst>
                      <p:childTnLst>
                        <p:par>
                          <p:cTn id="155" fill="hold">
                            <p:stCondLst>
                              <p:cond delay="0"/>
                            </p:stCondLst>
                            <p:childTnLst>
                              <p:par>
                                <p:cTn id="156" presetID="1" presetClass="entr" presetSubtype="0" fill="hold" nodeType="clickEffect">
                                  <p:stCondLst>
                                    <p:cond delay="0"/>
                                  </p:stCondLst>
                                  <p:childTnLst>
                                    <p:set>
                                      <p:cBhvr>
                                        <p:cTn id="157" dur="1" fill="hold">
                                          <p:stCondLst>
                                            <p:cond delay="0"/>
                                          </p:stCondLst>
                                        </p:cTn>
                                        <p:tgtEl>
                                          <p:spTgt spid="73"/>
                                        </p:tgtEl>
                                        <p:attrNameLst>
                                          <p:attrName>style.visibility</p:attrName>
                                        </p:attrNameLst>
                                      </p:cBhvr>
                                      <p:to>
                                        <p:strVal val="visible"/>
                                      </p:to>
                                    </p:set>
                                  </p:childTnLst>
                                </p:cTn>
                              </p:par>
                            </p:childTnLst>
                          </p:cTn>
                        </p:par>
                      </p:childTnLst>
                    </p:cTn>
                  </p:par>
                  <p:par>
                    <p:cTn id="158" fill="hold">
                      <p:stCondLst>
                        <p:cond delay="indefinite"/>
                      </p:stCondLst>
                      <p:childTnLst>
                        <p:par>
                          <p:cTn id="159" fill="hold">
                            <p:stCondLst>
                              <p:cond delay="0"/>
                            </p:stCondLst>
                            <p:childTnLst>
                              <p:par>
                                <p:cTn id="160" presetID="1" presetClass="entr" presetSubtype="0" fill="hold" nodeType="clickEffect">
                                  <p:stCondLst>
                                    <p:cond delay="0"/>
                                  </p:stCondLst>
                                  <p:childTnLst>
                                    <p:set>
                                      <p:cBhvr>
                                        <p:cTn id="161" dur="1" fill="hold">
                                          <p:stCondLst>
                                            <p:cond delay="0"/>
                                          </p:stCondLst>
                                        </p:cTn>
                                        <p:tgtEl>
                                          <p:spTgt spid="69"/>
                                        </p:tgtEl>
                                        <p:attrNameLst>
                                          <p:attrName>style.visibility</p:attrName>
                                        </p:attrNameLst>
                                      </p:cBhvr>
                                      <p:to>
                                        <p:strVal val="visible"/>
                                      </p:to>
                                    </p:set>
                                  </p:childTnLst>
                                </p:cTn>
                              </p:par>
                            </p:childTnLst>
                          </p:cTn>
                        </p:par>
                      </p:childTnLst>
                    </p:cTn>
                  </p:par>
                  <p:par>
                    <p:cTn id="162" fill="hold">
                      <p:stCondLst>
                        <p:cond delay="indefinite"/>
                      </p:stCondLst>
                      <p:childTnLst>
                        <p:par>
                          <p:cTn id="163" fill="hold">
                            <p:stCondLst>
                              <p:cond delay="0"/>
                            </p:stCondLst>
                            <p:childTnLst>
                              <p:par>
                                <p:cTn id="164" presetID="1" presetClass="entr" presetSubtype="0" fill="hold" nodeType="clickEffect">
                                  <p:stCondLst>
                                    <p:cond delay="0"/>
                                  </p:stCondLst>
                                  <p:childTnLst>
                                    <p:set>
                                      <p:cBhvr>
                                        <p:cTn id="165" dur="1" fill="hold">
                                          <p:stCondLst>
                                            <p:cond delay="0"/>
                                          </p:stCondLst>
                                        </p:cTn>
                                        <p:tgtEl>
                                          <p:spTgt spid="74"/>
                                        </p:tgtEl>
                                        <p:attrNameLst>
                                          <p:attrName>style.visibility</p:attrName>
                                        </p:attrNameLst>
                                      </p:cBhvr>
                                      <p:to>
                                        <p:strVal val="visible"/>
                                      </p:to>
                                    </p:set>
                                  </p:childTnLst>
                                </p:cTn>
                              </p:par>
                            </p:childTnLst>
                          </p:cTn>
                        </p:par>
                      </p:childTnLst>
                    </p:cTn>
                  </p:par>
                  <p:par>
                    <p:cTn id="166" fill="hold">
                      <p:stCondLst>
                        <p:cond delay="indefinite"/>
                      </p:stCondLst>
                      <p:childTnLst>
                        <p:par>
                          <p:cTn id="167" fill="hold">
                            <p:stCondLst>
                              <p:cond delay="0"/>
                            </p:stCondLst>
                            <p:childTnLst>
                              <p:par>
                                <p:cTn id="168" presetID="1" presetClass="entr" presetSubtype="0" fill="hold" nodeType="clickEffect">
                                  <p:stCondLst>
                                    <p:cond delay="0"/>
                                  </p:stCondLst>
                                  <p:childTnLst>
                                    <p:set>
                                      <p:cBhvr>
                                        <p:cTn id="169" dur="1" fill="hold">
                                          <p:stCondLst>
                                            <p:cond delay="0"/>
                                          </p:stCondLst>
                                        </p:cTn>
                                        <p:tgtEl>
                                          <p:spTgt spid="46"/>
                                        </p:tgtEl>
                                        <p:attrNameLst>
                                          <p:attrName>style.visibility</p:attrName>
                                        </p:attrNameLst>
                                      </p:cBhvr>
                                      <p:to>
                                        <p:strVal val="visible"/>
                                      </p:to>
                                    </p:set>
                                  </p:childTnLst>
                                </p:cTn>
                              </p:par>
                            </p:childTnLst>
                          </p:cTn>
                        </p:par>
                      </p:childTnLst>
                    </p:cTn>
                  </p:par>
                  <p:par>
                    <p:cTn id="170" fill="hold">
                      <p:stCondLst>
                        <p:cond delay="indefinite"/>
                      </p:stCondLst>
                      <p:childTnLst>
                        <p:par>
                          <p:cTn id="171" fill="hold">
                            <p:stCondLst>
                              <p:cond delay="0"/>
                            </p:stCondLst>
                            <p:childTnLst>
                              <p:par>
                                <p:cTn id="172" presetID="1" presetClass="entr" presetSubtype="0" fill="hold" nodeType="clickEffect">
                                  <p:stCondLst>
                                    <p:cond delay="0"/>
                                  </p:stCondLst>
                                  <p:childTnLst>
                                    <p:set>
                                      <p:cBhvr>
                                        <p:cTn id="173" dur="1" fill="hold">
                                          <p:stCondLst>
                                            <p:cond delay="0"/>
                                          </p:stCondLst>
                                        </p:cTn>
                                        <p:tgtEl>
                                          <p:spTgt spid="75"/>
                                        </p:tgtEl>
                                        <p:attrNameLst>
                                          <p:attrName>style.visibility</p:attrName>
                                        </p:attrNameLst>
                                      </p:cBhvr>
                                      <p:to>
                                        <p:strVal val="visible"/>
                                      </p:to>
                                    </p:set>
                                  </p:childTnLst>
                                </p:cTn>
                              </p:par>
                            </p:childTnLst>
                          </p:cTn>
                        </p:par>
                      </p:childTnLst>
                    </p:cTn>
                  </p:par>
                  <p:par>
                    <p:cTn id="174" fill="hold">
                      <p:stCondLst>
                        <p:cond delay="indefinite"/>
                      </p:stCondLst>
                      <p:childTnLst>
                        <p:par>
                          <p:cTn id="175" fill="hold">
                            <p:stCondLst>
                              <p:cond delay="0"/>
                            </p:stCondLst>
                            <p:childTnLst>
                              <p:par>
                                <p:cTn id="176" presetID="1" presetClass="entr" presetSubtype="0" fill="hold" nodeType="clickEffect">
                                  <p:stCondLst>
                                    <p:cond delay="0"/>
                                  </p:stCondLst>
                                  <p:childTnLst>
                                    <p:set>
                                      <p:cBhvr>
                                        <p:cTn id="177"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animBg="1"/>
      <p:bldP spid="14" grpId="0" animBg="1"/>
      <p:bldP spid="15" grpId="0" animBg="1"/>
      <p:bldP spid="17" grpId="0"/>
      <p:bldP spid="18" grpId="0"/>
      <p:bldP spid="21" grpId="0"/>
      <p:bldP spid="22" grpId="0" animBg="1"/>
      <p:bldP spid="23" grpId="0"/>
      <p:bldP spid="7" grpId="0" animBg="1"/>
      <p:bldP spid="24" grpId="0"/>
      <p:bldP spid="26" grpId="0" animBg="1"/>
      <p:bldP spid="31" grpId="0" animBg="1"/>
      <p:bldP spid="34" grpId="0"/>
      <p:bldP spid="38" grpId="0" animBg="1"/>
      <p:bldP spid="39" grpId="0" animBg="1"/>
      <p:bldP spid="43" grpId="0"/>
      <p:bldP spid="44" grpId="0"/>
      <p:bldP spid="45" grpId="0" animBg="1"/>
      <p:bldP spid="48" grpId="0" animBg="1"/>
      <p:bldP spid="52" grpId="0" animBg="1"/>
      <p:bldP spid="53" grpId="0" animBg="1"/>
      <p:bldP spid="57" grpId="0" animBg="1"/>
      <p:bldP spid="60" grpId="0" animBg="1"/>
      <p:bldP spid="62" grpId="0"/>
      <p:bldP spid="63" grpId="0"/>
      <p:bldP spid="64" grpId="0"/>
      <p:bldP spid="65" grpId="0"/>
      <p:bldP spid="66" grpId="0"/>
      <p:bldP spid="67" grpId="0" animBg="1"/>
      <p:bldP spid="68" grpId="0" animBg="1"/>
      <p:bldP spid="70" grpId="0"/>
      <p:bldP spid="7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49C14-737E-4E82-9769-B36A7F5D2AE0}"/>
              </a:ext>
            </a:extLst>
          </p:cNvPr>
          <p:cNvSpPr>
            <a:spLocks noGrp="1"/>
          </p:cNvSpPr>
          <p:nvPr>
            <p:ph type="title"/>
          </p:nvPr>
        </p:nvSpPr>
        <p:spPr/>
        <p:txBody>
          <a:bodyPr/>
          <a:lstStyle/>
          <a:p>
            <a:r>
              <a:rPr lang="en-IN" dirty="0"/>
              <a:t>Unigram Tokenizer: Algorithm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DD0AAA-9D91-4778-94A5-CD8546A0968A}"/>
                  </a:ext>
                </a:extLst>
              </p:cNvPr>
              <p:cNvSpPr>
                <a:spLocks noGrp="1"/>
              </p:cNvSpPr>
              <p:nvPr>
                <p:ph idx="1"/>
              </p:nvPr>
            </p:nvSpPr>
            <p:spPr/>
            <p:txBody>
              <a:bodyPr>
                <a:normAutofit fontScale="85000" lnSpcReduction="10000"/>
              </a:bodyPr>
              <a:lstStyle/>
              <a:p>
                <a:r>
                  <a:rPr lang="en-IN" dirty="0"/>
                  <a:t>If the vocabulary </a:t>
                </a:r>
                <a14:m>
                  <m:oMath xmlns:m="http://schemas.openxmlformats.org/officeDocument/2006/math">
                    <m:r>
                      <a:rPr lang="en-IN" sz="2800" i="1" smtClean="0">
                        <a:latin typeface="Cambria Math" panose="02040503050406030204" pitchFamily="18" charset="0"/>
                        <a:ea typeface="Cambria Math" panose="02040503050406030204" pitchFamily="18" charset="0"/>
                      </a:rPr>
                      <m:t>𝒱</m:t>
                    </m:r>
                  </m:oMath>
                </a14:m>
                <a:r>
                  <a:rPr lang="en-IN" dirty="0"/>
                  <a:t> is given, the sub-word occurrence probabilities </a:t>
                </a:r>
                <a14:m>
                  <m:oMath xmlns:m="http://schemas.openxmlformats.org/officeDocument/2006/math">
                    <m:r>
                      <a:rPr lang="en-IN" b="0" i="1" smtClean="0">
                        <a:latin typeface="Cambria Math" panose="02040503050406030204" pitchFamily="18" charset="0"/>
                      </a:rPr>
                      <m:t>𝑝</m:t>
                    </m:r>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𝑖</m:t>
                            </m:r>
                          </m:sub>
                        </m:sSub>
                      </m:e>
                    </m:d>
                  </m:oMath>
                </a14:m>
                <a:r>
                  <a:rPr lang="en-IN" dirty="0"/>
                  <a:t> are estimated via the Expectation-Maximization algorithm</a:t>
                </a:r>
              </a:p>
              <a:p>
                <a:r>
                  <a:rPr lang="en-IN" dirty="0"/>
                  <a:t>The EM maximizes the likelihood function </a:t>
                </a:r>
              </a:p>
              <a:p>
                <a:pPr lvl="1"/>
                <a14:m>
                  <m:oMath xmlns:m="http://schemas.openxmlformats.org/officeDocument/2006/math">
                    <m:r>
                      <a:rPr lang="en-IN" i="1" smtClean="0">
                        <a:latin typeface="Cambria Math" panose="02040503050406030204" pitchFamily="18" charset="0"/>
                        <a:ea typeface="Cambria Math" panose="02040503050406030204" pitchFamily="18" charset="0"/>
                      </a:rPr>
                      <m:t>ℒ</m:t>
                    </m:r>
                    <m:r>
                      <a:rPr lang="en-IN" b="0" i="1" smtClean="0">
                        <a:latin typeface="Cambria Math" panose="02040503050406030204" pitchFamily="18" charset="0"/>
                        <a:ea typeface="Cambria Math" panose="02040503050406030204" pitchFamily="18" charset="0"/>
                      </a:rPr>
                      <m:t>=</m:t>
                    </m:r>
                    <m:nary>
                      <m:naryPr>
                        <m:chr m:val="∑"/>
                        <m:ctrlPr>
                          <a:rPr lang="en-IN" b="0" i="1" smtClean="0">
                            <a:latin typeface="Cambria Math" panose="02040503050406030204" pitchFamily="18" charset="0"/>
                            <a:ea typeface="Cambria Math" panose="02040503050406030204" pitchFamily="18" charset="0"/>
                          </a:rPr>
                        </m:ctrlPr>
                      </m:naryPr>
                      <m:sub>
                        <m:r>
                          <a:rPr lang="en-IN" b="0" i="1" smtClean="0">
                            <a:latin typeface="Cambria Math" panose="02040503050406030204" pitchFamily="18" charset="0"/>
                            <a:ea typeface="Cambria Math" panose="02040503050406030204" pitchFamily="18" charset="0"/>
                          </a:rPr>
                          <m:t>𝑖</m:t>
                        </m:r>
                        <m:r>
                          <a:rPr lang="en-IN" b="0" i="1" smtClean="0">
                            <a:latin typeface="Cambria Math" panose="02040503050406030204" pitchFamily="18" charset="0"/>
                            <a:ea typeface="Cambria Math" panose="02040503050406030204" pitchFamily="18" charset="0"/>
                          </a:rPr>
                          <m:t>=1</m:t>
                        </m:r>
                      </m:sub>
                      <m:sup>
                        <m:r>
                          <a:rPr lang="en-IN" b="0" i="1" smtClean="0">
                            <a:latin typeface="Cambria Math" panose="02040503050406030204" pitchFamily="18" charset="0"/>
                            <a:ea typeface="Cambria Math" panose="02040503050406030204" pitchFamily="18" charset="0"/>
                          </a:rPr>
                          <m:t>|</m:t>
                        </m:r>
                        <m:r>
                          <a:rPr lang="en-IN" b="0" i="1" smtClean="0">
                            <a:latin typeface="Cambria Math" panose="02040503050406030204" pitchFamily="18" charset="0"/>
                            <a:ea typeface="Cambria Math" panose="02040503050406030204" pitchFamily="18" charset="0"/>
                          </a:rPr>
                          <m:t>𝐷</m:t>
                        </m:r>
                        <m:r>
                          <a:rPr lang="en-IN" b="0" i="1" smtClean="0">
                            <a:latin typeface="Cambria Math" panose="02040503050406030204" pitchFamily="18" charset="0"/>
                            <a:ea typeface="Cambria Math" panose="02040503050406030204" pitchFamily="18" charset="0"/>
                          </a:rPr>
                          <m:t>|</m:t>
                        </m:r>
                      </m:sup>
                      <m:e>
                        <m:func>
                          <m:funcPr>
                            <m:ctrlPr>
                              <a:rPr lang="en-IN" b="0" i="1" smtClean="0">
                                <a:latin typeface="Cambria Math" panose="02040503050406030204" pitchFamily="18" charset="0"/>
                                <a:ea typeface="Cambria Math" panose="02040503050406030204" pitchFamily="18" charset="0"/>
                              </a:rPr>
                            </m:ctrlPr>
                          </m:funcPr>
                          <m:fName>
                            <m:r>
                              <m:rPr>
                                <m:sty m:val="p"/>
                              </m:rPr>
                              <a:rPr lang="en-IN" b="0" i="0" smtClean="0">
                                <a:latin typeface="Cambria Math" panose="02040503050406030204" pitchFamily="18" charset="0"/>
                                <a:ea typeface="Cambria Math" panose="02040503050406030204" pitchFamily="18" charset="0"/>
                              </a:rPr>
                              <m:t>log</m:t>
                            </m:r>
                          </m:fName>
                          <m:e>
                            <m:d>
                              <m:dPr>
                                <m:ctrlPr>
                                  <a:rPr lang="en-IN" b="0" i="1" smtClean="0">
                                    <a:latin typeface="Cambria Math" panose="02040503050406030204" pitchFamily="18" charset="0"/>
                                    <a:ea typeface="Cambria Math" panose="02040503050406030204" pitchFamily="18" charset="0"/>
                                  </a:rPr>
                                </m:ctrlPr>
                              </m:dPr>
                              <m:e>
                                <m:r>
                                  <a:rPr lang="en-IN" b="0" i="1" smtClean="0">
                                    <a:latin typeface="Cambria Math" panose="02040503050406030204" pitchFamily="18" charset="0"/>
                                    <a:ea typeface="Cambria Math" panose="02040503050406030204" pitchFamily="18" charset="0"/>
                                  </a:rPr>
                                  <m:t>𝑃</m:t>
                                </m:r>
                                <m:d>
                                  <m:dPr>
                                    <m:ctrlPr>
                                      <a:rPr lang="en-IN" b="0" i="1" smtClean="0">
                                        <a:latin typeface="Cambria Math" panose="02040503050406030204" pitchFamily="18" charset="0"/>
                                        <a:ea typeface="Cambria Math" panose="02040503050406030204" pitchFamily="18" charset="0"/>
                                      </a:rPr>
                                    </m:ctrlPr>
                                  </m:dPr>
                                  <m:e>
                                    <m:sSup>
                                      <m:sSupPr>
                                        <m:ctrlPr>
                                          <a:rPr lang="en-IN" b="0" i="1" smtClean="0">
                                            <a:latin typeface="Cambria Math" panose="02040503050406030204" pitchFamily="18" charset="0"/>
                                            <a:ea typeface="Cambria Math" panose="02040503050406030204" pitchFamily="18" charset="0"/>
                                          </a:rPr>
                                        </m:ctrlPr>
                                      </m:sSupPr>
                                      <m:e>
                                        <m:r>
                                          <a:rPr lang="en-IN" b="0" i="1" smtClean="0">
                                            <a:latin typeface="Cambria Math" panose="02040503050406030204" pitchFamily="18" charset="0"/>
                                            <a:ea typeface="Cambria Math" panose="02040503050406030204" pitchFamily="18" charset="0"/>
                                          </a:rPr>
                                          <m:t>𝑋</m:t>
                                        </m:r>
                                      </m:e>
                                      <m:sup>
                                        <m:d>
                                          <m:dPr>
                                            <m:ctrlPr>
                                              <a:rPr lang="en-IN" b="0" i="1" smtClean="0">
                                                <a:latin typeface="Cambria Math" panose="02040503050406030204" pitchFamily="18" charset="0"/>
                                                <a:ea typeface="Cambria Math" panose="02040503050406030204" pitchFamily="18" charset="0"/>
                                              </a:rPr>
                                            </m:ctrlPr>
                                          </m:dPr>
                                          <m:e>
                                            <m:r>
                                              <a:rPr lang="en-IN" b="0" i="1" smtClean="0">
                                                <a:latin typeface="Cambria Math" panose="02040503050406030204" pitchFamily="18" charset="0"/>
                                                <a:ea typeface="Cambria Math" panose="02040503050406030204" pitchFamily="18" charset="0"/>
                                              </a:rPr>
                                              <m:t>𝑖</m:t>
                                            </m:r>
                                          </m:e>
                                        </m:d>
                                      </m:sup>
                                    </m:sSup>
                                  </m:e>
                                </m:d>
                              </m:e>
                            </m:d>
                          </m:e>
                        </m:func>
                      </m:e>
                    </m:nary>
                    <m:r>
                      <a:rPr lang="en-IN" b="0" i="1" smtClean="0">
                        <a:latin typeface="Cambria Math" panose="02040503050406030204" pitchFamily="18" charset="0"/>
                        <a:ea typeface="Cambria Math" panose="02040503050406030204" pitchFamily="18" charset="0"/>
                      </a:rPr>
                      <m:t>=</m:t>
                    </m:r>
                    <m:nary>
                      <m:naryPr>
                        <m:chr m:val="∑"/>
                        <m:ctrlPr>
                          <a:rPr lang="en-IN" i="1">
                            <a:latin typeface="Cambria Math" panose="02040503050406030204" pitchFamily="18" charset="0"/>
                            <a:ea typeface="Cambria Math" panose="02040503050406030204" pitchFamily="18" charset="0"/>
                          </a:rPr>
                        </m:ctrlPr>
                      </m:naryPr>
                      <m:sub>
                        <m:r>
                          <a:rPr lang="en-IN" b="0" i="1" smtClean="0">
                            <a:latin typeface="Cambria Math" panose="02040503050406030204" pitchFamily="18" charset="0"/>
                            <a:ea typeface="Cambria Math" panose="02040503050406030204" pitchFamily="18" charset="0"/>
                          </a:rPr>
                          <m:t>𝑖</m:t>
                        </m:r>
                        <m:r>
                          <a:rPr lang="en-IN" i="1">
                            <a:latin typeface="Cambria Math" panose="02040503050406030204" pitchFamily="18" charset="0"/>
                            <a:ea typeface="Cambria Math" panose="02040503050406030204" pitchFamily="18" charset="0"/>
                          </a:rPr>
                          <m:t>=1</m:t>
                        </m:r>
                      </m:sub>
                      <m:sup>
                        <m:r>
                          <a:rPr lang="en-IN" i="1">
                            <a:latin typeface="Cambria Math" panose="02040503050406030204" pitchFamily="18" charset="0"/>
                            <a:ea typeface="Cambria Math" panose="02040503050406030204" pitchFamily="18" charset="0"/>
                          </a:rPr>
                          <m:t>|</m:t>
                        </m:r>
                        <m:r>
                          <a:rPr lang="en-IN" i="1">
                            <a:latin typeface="Cambria Math" panose="02040503050406030204" pitchFamily="18" charset="0"/>
                            <a:ea typeface="Cambria Math" panose="02040503050406030204" pitchFamily="18" charset="0"/>
                          </a:rPr>
                          <m:t>𝐷</m:t>
                        </m:r>
                        <m:r>
                          <a:rPr lang="en-IN" i="1">
                            <a:latin typeface="Cambria Math" panose="02040503050406030204" pitchFamily="18" charset="0"/>
                            <a:ea typeface="Cambria Math" panose="02040503050406030204" pitchFamily="18" charset="0"/>
                          </a:rPr>
                          <m:t>|</m:t>
                        </m:r>
                      </m:sup>
                      <m:e>
                        <m:nary>
                          <m:naryPr>
                            <m:chr m:val="∑"/>
                            <m:supHide m:val="on"/>
                            <m:ctrlPr>
                              <a:rPr lang="en-IN" i="1" smtClean="0">
                                <a:latin typeface="Cambria Math" panose="02040503050406030204" pitchFamily="18" charset="0"/>
                                <a:ea typeface="Cambria Math" panose="02040503050406030204" pitchFamily="18" charset="0"/>
                              </a:rPr>
                            </m:ctrlPr>
                          </m:naryPr>
                          <m:sub>
                            <m:r>
                              <m:rPr>
                                <m:brk m:alnAt="7"/>
                              </m:rPr>
                              <a:rPr lang="en-IN" b="0" i="1" smtClean="0">
                                <a:latin typeface="Cambria Math" panose="02040503050406030204" pitchFamily="18" charset="0"/>
                                <a:ea typeface="Cambria Math" panose="02040503050406030204" pitchFamily="18" charset="0"/>
                              </a:rPr>
                              <m:t>𝑦</m:t>
                            </m:r>
                            <m:r>
                              <a:rPr lang="en-IN" b="0" i="1" smtClean="0">
                                <a:latin typeface="Cambria Math" panose="02040503050406030204" pitchFamily="18" charset="0"/>
                                <a:ea typeface="Cambria Math" panose="02040503050406030204" pitchFamily="18" charset="0"/>
                              </a:rPr>
                              <m:t>∈</m:t>
                            </m:r>
                            <m:r>
                              <a:rPr lang="en-IN" i="1">
                                <a:latin typeface="Cambria Math" panose="02040503050406030204" pitchFamily="18" charset="0"/>
                                <a:ea typeface="Cambria Math" panose="02040503050406030204" pitchFamily="18" charset="0"/>
                              </a:rPr>
                              <m:t>𝒮</m:t>
                            </m:r>
                            <m:r>
                              <a:rPr lang="en-IN" i="1">
                                <a:latin typeface="Cambria Math" panose="02040503050406030204" pitchFamily="18" charset="0"/>
                                <a:ea typeface="Cambria Math" panose="02040503050406030204" pitchFamily="18" charset="0"/>
                              </a:rPr>
                              <m:t>(</m:t>
                            </m:r>
                            <m:sSup>
                              <m:sSupPr>
                                <m:ctrlPr>
                                  <a:rPr lang="en-IN" b="0" i="1" smtClean="0">
                                    <a:latin typeface="Cambria Math" panose="02040503050406030204" pitchFamily="18" charset="0"/>
                                    <a:ea typeface="Cambria Math" panose="02040503050406030204" pitchFamily="18" charset="0"/>
                                  </a:rPr>
                                </m:ctrlPr>
                              </m:sSupPr>
                              <m:e>
                                <m:r>
                                  <a:rPr lang="en-IN" i="1">
                                    <a:latin typeface="Cambria Math" panose="02040503050406030204" pitchFamily="18" charset="0"/>
                                    <a:ea typeface="Cambria Math" panose="02040503050406030204" pitchFamily="18" charset="0"/>
                                  </a:rPr>
                                  <m:t>𝑋</m:t>
                                </m:r>
                              </m:e>
                              <m:sup>
                                <m:r>
                                  <a:rPr lang="en-IN" b="0" i="1" smtClean="0">
                                    <a:latin typeface="Cambria Math" panose="02040503050406030204" pitchFamily="18" charset="0"/>
                                    <a:ea typeface="Cambria Math" panose="02040503050406030204" pitchFamily="18" charset="0"/>
                                  </a:rPr>
                                  <m:t>(</m:t>
                                </m:r>
                                <m:r>
                                  <a:rPr lang="en-IN" b="0" i="1" smtClean="0">
                                    <a:latin typeface="Cambria Math" panose="02040503050406030204" pitchFamily="18" charset="0"/>
                                    <a:ea typeface="Cambria Math" panose="02040503050406030204" pitchFamily="18" charset="0"/>
                                  </a:rPr>
                                  <m:t>𝑖</m:t>
                                </m:r>
                                <m:r>
                                  <a:rPr lang="en-IN" b="0" i="1" smtClean="0">
                                    <a:latin typeface="Cambria Math" panose="02040503050406030204" pitchFamily="18" charset="0"/>
                                    <a:ea typeface="Cambria Math" panose="02040503050406030204" pitchFamily="18" charset="0"/>
                                  </a:rPr>
                                  <m:t>)</m:t>
                                </m:r>
                              </m:sup>
                            </m:sSup>
                            <m:r>
                              <a:rPr lang="en-IN" i="1">
                                <a:latin typeface="Cambria Math" panose="02040503050406030204" pitchFamily="18" charset="0"/>
                                <a:ea typeface="Cambria Math" panose="02040503050406030204" pitchFamily="18" charset="0"/>
                              </a:rPr>
                              <m:t>)</m:t>
                            </m:r>
                          </m:sub>
                          <m:sup/>
                          <m:e>
                            <m:func>
                              <m:funcPr>
                                <m:ctrlPr>
                                  <a:rPr lang="en-IN" b="0" i="1" smtClean="0">
                                    <a:latin typeface="Cambria Math" panose="02040503050406030204" pitchFamily="18" charset="0"/>
                                    <a:ea typeface="Cambria Math" panose="02040503050406030204" pitchFamily="18" charset="0"/>
                                  </a:rPr>
                                </m:ctrlPr>
                              </m:funcPr>
                              <m:fName>
                                <m:r>
                                  <m:rPr>
                                    <m:sty m:val="p"/>
                                  </m:rPr>
                                  <a:rPr lang="en-IN" b="0" i="0" smtClean="0">
                                    <a:latin typeface="Cambria Math" panose="02040503050406030204" pitchFamily="18" charset="0"/>
                                    <a:ea typeface="Cambria Math" panose="02040503050406030204" pitchFamily="18" charset="0"/>
                                  </a:rPr>
                                  <m:t>log</m:t>
                                </m:r>
                              </m:fName>
                              <m:e>
                                <m:r>
                                  <a:rPr lang="en-IN" b="0" i="1" smtClean="0">
                                    <a:latin typeface="Cambria Math" panose="02040503050406030204" pitchFamily="18" charset="0"/>
                                    <a:ea typeface="Cambria Math" panose="02040503050406030204" pitchFamily="18" charset="0"/>
                                  </a:rPr>
                                  <m:t>𝑃</m:t>
                                </m:r>
                                <m:r>
                                  <a:rPr lang="en-IN" b="0" i="1" smtClean="0">
                                    <a:latin typeface="Cambria Math" panose="02040503050406030204" pitchFamily="18" charset="0"/>
                                    <a:ea typeface="Cambria Math" panose="02040503050406030204" pitchFamily="18" charset="0"/>
                                  </a:rPr>
                                  <m:t>(</m:t>
                                </m:r>
                                <m:r>
                                  <a:rPr lang="en-IN" b="0" i="1" smtClean="0">
                                    <a:latin typeface="Cambria Math" panose="02040503050406030204" pitchFamily="18" charset="0"/>
                                    <a:ea typeface="Cambria Math" panose="02040503050406030204" pitchFamily="18" charset="0"/>
                                  </a:rPr>
                                  <m:t>𝑦</m:t>
                                </m:r>
                                <m:r>
                                  <a:rPr lang="en-IN" b="0" i="1" smtClean="0">
                                    <a:latin typeface="Cambria Math" panose="02040503050406030204" pitchFamily="18" charset="0"/>
                                    <a:ea typeface="Cambria Math" panose="02040503050406030204" pitchFamily="18" charset="0"/>
                                  </a:rPr>
                                  <m:t>)</m:t>
                                </m:r>
                              </m:e>
                            </m:func>
                          </m:e>
                        </m:nary>
                      </m:e>
                    </m:nary>
                  </m:oMath>
                </a14:m>
                <a:endParaRPr lang="en-IN" dirty="0"/>
              </a:p>
              <a:p>
                <a:r>
                  <a:rPr lang="en-IN" dirty="0"/>
                  <a:t>However, the </a:t>
                </a:r>
                <a:r>
                  <a:rPr lang="en-IN" dirty="0">
                    <a:solidFill>
                      <a:srgbClr val="FF0000"/>
                    </a:solidFill>
                  </a:rPr>
                  <a:t>vocabulary set is not fixed </a:t>
                </a:r>
                <a:r>
                  <a:rPr lang="en-IN" dirty="0" err="1"/>
                  <a:t>apriori</a:t>
                </a:r>
                <a:endParaRPr lang="en-IN" dirty="0"/>
              </a:p>
              <a:p>
                <a:pPr lvl="1"/>
                <a:r>
                  <a:rPr lang="en-IN" dirty="0"/>
                  <a:t>Joint optimization of vocabulary set and the occurrence prob.</a:t>
                </a:r>
              </a:p>
              <a:p>
                <a:pPr lvl="1"/>
                <a:r>
                  <a:rPr lang="en-IN" dirty="0">
                    <a:solidFill>
                      <a:srgbClr val="FF0000"/>
                    </a:solidFill>
                  </a:rPr>
                  <a:t>Intractable</a:t>
                </a:r>
                <a:r>
                  <a:rPr lang="en-IN" dirty="0"/>
                  <a:t> </a:t>
                </a:r>
              </a:p>
              <a:p>
                <a:pPr lvl="1"/>
                <a:r>
                  <a:rPr lang="en-IN" dirty="0">
                    <a:solidFill>
                      <a:srgbClr val="00B050"/>
                    </a:solidFill>
                  </a:rPr>
                  <a:t>An iterative optimization is followed </a:t>
                </a:r>
              </a:p>
            </p:txBody>
          </p:sp>
        </mc:Choice>
        <mc:Fallback xmlns="">
          <p:sp>
            <p:nvSpPr>
              <p:cNvPr id="3" name="Content Placeholder 2">
                <a:extLst>
                  <a:ext uri="{FF2B5EF4-FFF2-40B4-BE49-F238E27FC236}">
                    <a16:creationId xmlns:a16="http://schemas.microsoft.com/office/drawing/2014/main" id="{7ADD0AAA-9D91-4778-94A5-CD8546A0968A}"/>
                  </a:ext>
                </a:extLst>
              </p:cNvPr>
              <p:cNvSpPr>
                <a:spLocks noGrp="1" noRot="1" noChangeAspect="1" noMove="1" noResize="1" noEditPoints="1" noAdjustHandles="1" noChangeArrowheads="1" noChangeShapeType="1" noTextEdit="1"/>
              </p:cNvSpPr>
              <p:nvPr>
                <p:ph idx="1"/>
              </p:nvPr>
            </p:nvSpPr>
            <p:spPr>
              <a:blipFill>
                <a:blip r:embed="rId2"/>
                <a:stretch>
                  <a:fillRect l="-80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43FD349-87D4-4655-AD41-81A05153A44B}"/>
              </a:ext>
            </a:extLst>
          </p:cNvPr>
          <p:cNvSpPr>
            <a:spLocks noGrp="1"/>
          </p:cNvSpPr>
          <p:nvPr>
            <p:ph type="sldNum" sz="quarter" idx="12"/>
          </p:nvPr>
        </p:nvSpPr>
        <p:spPr/>
        <p:txBody>
          <a:bodyPr/>
          <a:lstStyle/>
          <a:p>
            <a:fld id="{FF2BD96E-3838-45D2-9031-D3AF67C920A5}" type="slidenum">
              <a:rPr lang="en-US" smtClean="0"/>
              <a:t>25</a:t>
            </a:fld>
            <a:endParaRPr lang="en-US"/>
          </a:p>
        </p:txBody>
      </p:sp>
      <p:sp>
        <p:nvSpPr>
          <p:cNvPr id="5" name="TextBox 4">
            <a:extLst>
              <a:ext uri="{FF2B5EF4-FFF2-40B4-BE49-F238E27FC236}">
                <a16:creationId xmlns:a16="http://schemas.microsoft.com/office/drawing/2014/main" id="{CD1D6AB7-D087-EC8D-3AE8-98FD2543F99A}"/>
              </a:ext>
            </a:extLst>
          </p:cNvPr>
          <p:cNvSpPr txBox="1"/>
          <p:nvPr/>
        </p:nvSpPr>
        <p:spPr>
          <a:xfrm>
            <a:off x="7324165" y="2153594"/>
            <a:ext cx="4867835" cy="1477328"/>
          </a:xfrm>
          <a:prstGeom prst="rect">
            <a:avLst/>
          </a:prstGeom>
          <a:noFill/>
        </p:spPr>
        <p:txBody>
          <a:bodyPr wrap="square" rtlCol="0">
            <a:spAutoFit/>
          </a:bodyPr>
          <a:lstStyle/>
          <a:p>
            <a:r>
              <a:rPr lang="en-US" sz="1000" dirty="0">
                <a:highlight>
                  <a:srgbClr val="FFFF00"/>
                </a:highlight>
              </a:rPr>
              <a:t>In EMA, in the Gaussian mixture model, we have observations drawn from some unknown probability distribution, with the assumption that this probability is mixture of </a:t>
            </a:r>
            <a:r>
              <a:rPr lang="en-US" sz="1000" dirty="0" err="1">
                <a:highlight>
                  <a:srgbClr val="FFFF00"/>
                </a:highlight>
              </a:rPr>
              <a:t>guassians</a:t>
            </a:r>
            <a:r>
              <a:rPr lang="en-US" sz="1000" dirty="0">
                <a:highlight>
                  <a:srgbClr val="FFFF00"/>
                </a:highlight>
              </a:rPr>
              <a:t>. </a:t>
            </a:r>
          </a:p>
          <a:p>
            <a:r>
              <a:rPr lang="en-US" sz="1000" dirty="0">
                <a:highlight>
                  <a:srgbClr val="FFFF00"/>
                </a:highlight>
              </a:rPr>
              <a:t>We can just draw some observations, and we have to estimate the params of the Gaussian function, we start with some observations, and then feed that to the model, try to compute params of the model and we want to maximize the likelihood of the observations, doing in iterative loop.</a:t>
            </a:r>
          </a:p>
          <a:p>
            <a:r>
              <a:rPr lang="en-US" sz="1000" dirty="0">
                <a:highlight>
                  <a:srgbClr val="FFFF00"/>
                </a:highlight>
              </a:rPr>
              <a:t>Expectation of the true params and then maximization of observed data based on that estimate the params.</a:t>
            </a:r>
          </a:p>
        </p:txBody>
      </p:sp>
    </p:spTree>
    <p:extLst>
      <p:ext uri="{BB962C8B-B14F-4D97-AF65-F5344CB8AC3E}">
        <p14:creationId xmlns:p14="http://schemas.microsoft.com/office/powerpoint/2010/main" val="2583932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76E56-98C3-4138-B266-3C4D54CA857B}"/>
              </a:ext>
            </a:extLst>
          </p:cNvPr>
          <p:cNvSpPr>
            <a:spLocks noGrp="1"/>
          </p:cNvSpPr>
          <p:nvPr>
            <p:ph type="title"/>
          </p:nvPr>
        </p:nvSpPr>
        <p:spPr/>
        <p:txBody>
          <a:bodyPr/>
          <a:lstStyle/>
          <a:p>
            <a:r>
              <a:rPr lang="en-IN" dirty="0"/>
              <a:t>Unigram Tokenizer: Algorithm</a:t>
            </a:r>
          </a:p>
        </p:txBody>
      </p:sp>
      <p:sp>
        <p:nvSpPr>
          <p:cNvPr id="4" name="Slide Number Placeholder 3">
            <a:extLst>
              <a:ext uri="{FF2B5EF4-FFF2-40B4-BE49-F238E27FC236}">
                <a16:creationId xmlns:a16="http://schemas.microsoft.com/office/drawing/2014/main" id="{5D10FDE9-397C-4CBD-B6A6-51719CA6A5F9}"/>
              </a:ext>
            </a:extLst>
          </p:cNvPr>
          <p:cNvSpPr>
            <a:spLocks noGrp="1"/>
          </p:cNvSpPr>
          <p:nvPr>
            <p:ph type="sldNum" sz="quarter" idx="12"/>
          </p:nvPr>
        </p:nvSpPr>
        <p:spPr/>
        <p:txBody>
          <a:bodyPr/>
          <a:lstStyle/>
          <a:p>
            <a:fld id="{FF2BD96E-3838-45D2-9031-D3AF67C920A5}" type="slidenum">
              <a:rPr lang="en-US" smtClean="0"/>
              <a:t>26</a:t>
            </a:fld>
            <a:endParaRPr lang="en-US"/>
          </a:p>
        </p:txBody>
      </p:sp>
      <p:sp>
        <p:nvSpPr>
          <p:cNvPr id="5" name="TextBox 4">
            <a:extLst>
              <a:ext uri="{FF2B5EF4-FFF2-40B4-BE49-F238E27FC236}">
                <a16:creationId xmlns:a16="http://schemas.microsoft.com/office/drawing/2014/main" id="{A345695D-EEBE-45B0-9129-86D978E64001}"/>
              </a:ext>
            </a:extLst>
          </p:cNvPr>
          <p:cNvSpPr txBox="1"/>
          <p:nvPr/>
        </p:nvSpPr>
        <p:spPr>
          <a:xfrm>
            <a:off x="933254" y="1055802"/>
            <a:ext cx="3019096" cy="369332"/>
          </a:xfrm>
          <a:prstGeom prst="rect">
            <a:avLst/>
          </a:prstGeom>
          <a:noFill/>
        </p:spPr>
        <p:txBody>
          <a:bodyPr wrap="none" rtlCol="0">
            <a:spAutoFit/>
          </a:bodyPr>
          <a:lstStyle/>
          <a:p>
            <a:r>
              <a:rPr lang="en-IN" dirty="0"/>
              <a:t>Expectation-Maximization: </a:t>
            </a:r>
          </a:p>
        </p:txBody>
      </p:sp>
      <p:sp>
        <p:nvSpPr>
          <p:cNvPr id="6" name="TextBox 5">
            <a:extLst>
              <a:ext uri="{FF2B5EF4-FFF2-40B4-BE49-F238E27FC236}">
                <a16:creationId xmlns:a16="http://schemas.microsoft.com/office/drawing/2014/main" id="{DB300A3C-683E-458D-87F7-FF56DC492073}"/>
              </a:ext>
            </a:extLst>
          </p:cNvPr>
          <p:cNvSpPr txBox="1"/>
          <p:nvPr/>
        </p:nvSpPr>
        <p:spPr>
          <a:xfrm>
            <a:off x="1480008" y="1425134"/>
            <a:ext cx="8191088" cy="1200329"/>
          </a:xfrm>
          <a:prstGeom prst="rect">
            <a:avLst/>
          </a:prstGeom>
          <a:noFill/>
        </p:spPr>
        <p:txBody>
          <a:bodyPr wrap="none" rtlCol="0">
            <a:spAutoFit/>
          </a:bodyPr>
          <a:lstStyle/>
          <a:p>
            <a:pPr marL="285750" indent="-285750">
              <a:buFont typeface="Arial" panose="020B0604020202020204" pitchFamily="34" charset="0"/>
              <a:buChar char="•"/>
            </a:pPr>
            <a:r>
              <a:rPr lang="en-IN" dirty="0"/>
              <a:t>Some observations drawn from an unknown distribution</a:t>
            </a:r>
          </a:p>
          <a:p>
            <a:pPr marL="285750" indent="-285750">
              <a:buFont typeface="Arial" panose="020B0604020202020204" pitchFamily="34" charset="0"/>
              <a:buChar char="•"/>
            </a:pPr>
            <a:r>
              <a:rPr lang="en-IN" dirty="0"/>
              <a:t>Start with an initial guess of the parameters of the distribution</a:t>
            </a:r>
          </a:p>
          <a:p>
            <a:pPr marL="285750" indent="-285750">
              <a:buFont typeface="Arial" panose="020B0604020202020204" pitchFamily="34" charset="0"/>
              <a:buChar char="•"/>
            </a:pPr>
            <a:r>
              <a:rPr lang="en-IN" dirty="0"/>
              <a:t>[Expectation] Estimate the maximum likelihood (MLE) of the observations </a:t>
            </a:r>
          </a:p>
          <a:p>
            <a:pPr marL="285750" indent="-285750">
              <a:buFont typeface="Arial" panose="020B0604020202020204" pitchFamily="34" charset="0"/>
              <a:buChar char="•"/>
            </a:pPr>
            <a:r>
              <a:rPr lang="en-IN" dirty="0"/>
              <a:t>[Maximization] Figure out the model parameters that maximizes the MLE</a:t>
            </a:r>
          </a:p>
        </p:txBody>
      </p:sp>
      <p:sp>
        <p:nvSpPr>
          <p:cNvPr id="8" name="TextBox 7">
            <a:extLst>
              <a:ext uri="{FF2B5EF4-FFF2-40B4-BE49-F238E27FC236}">
                <a16:creationId xmlns:a16="http://schemas.microsoft.com/office/drawing/2014/main" id="{A6C3AC58-2E6C-4383-A4D8-3F3697EEF99B}"/>
              </a:ext>
            </a:extLst>
          </p:cNvPr>
          <p:cNvSpPr txBox="1"/>
          <p:nvPr/>
        </p:nvSpPr>
        <p:spPr>
          <a:xfrm>
            <a:off x="1763588" y="2994795"/>
            <a:ext cx="8191088" cy="2585323"/>
          </a:xfrm>
          <a:prstGeom prst="rect">
            <a:avLst/>
          </a:prstGeom>
          <a:noFill/>
        </p:spPr>
        <p:txBody>
          <a:bodyPr wrap="square">
            <a:spAutoFit/>
          </a:bodyPr>
          <a:lstStyle/>
          <a:p>
            <a:pPr marL="342900" indent="-342900">
              <a:buFont typeface="+mj-lt"/>
              <a:buAutoNum type="arabicPeriod"/>
            </a:pPr>
            <a:r>
              <a:rPr lang="en-US" dirty="0"/>
              <a:t>Initialize a large seeding </a:t>
            </a:r>
            <a:r>
              <a:rPr lang="en-US" dirty="0" err="1"/>
              <a:t>subword</a:t>
            </a:r>
            <a:r>
              <a:rPr lang="en-US" dirty="0"/>
              <a:t> vocabulary from the training corpus</a:t>
            </a:r>
          </a:p>
          <a:p>
            <a:pPr marL="342900" indent="-342900">
              <a:buFont typeface="+mj-lt"/>
              <a:buAutoNum type="arabicPeriod"/>
            </a:pPr>
            <a:r>
              <a:rPr lang="en-US" dirty="0"/>
              <a:t>[Expectation] Estimate each </a:t>
            </a:r>
            <a:r>
              <a:rPr lang="en-US" dirty="0" err="1"/>
              <a:t>subword</a:t>
            </a:r>
            <a:r>
              <a:rPr lang="en-US" dirty="0"/>
              <a:t> probability by the corresponding frequency counts in the corpus</a:t>
            </a:r>
          </a:p>
          <a:p>
            <a:pPr marL="342900" indent="-342900">
              <a:buFont typeface="+mj-lt"/>
              <a:buAutoNum type="arabicPeriod"/>
            </a:pPr>
            <a:r>
              <a:rPr lang="en-US" dirty="0"/>
              <a:t>[Maximization] Use Viterbi to segment the corpus, returning the optimal segments</a:t>
            </a:r>
          </a:p>
          <a:p>
            <a:pPr marL="342900" indent="-342900">
              <a:buFont typeface="+mj-lt"/>
              <a:buAutoNum type="arabicPeriod"/>
            </a:pPr>
            <a:r>
              <a:rPr lang="en-US" dirty="0">
                <a:solidFill>
                  <a:srgbClr val="C00000"/>
                </a:solidFill>
              </a:rPr>
              <a:t>Compute the loss </a:t>
            </a:r>
            <a:r>
              <a:rPr lang="en-US" dirty="0"/>
              <a:t>of each new </a:t>
            </a:r>
            <a:r>
              <a:rPr lang="en-US" dirty="0" err="1"/>
              <a:t>subword</a:t>
            </a:r>
            <a:r>
              <a:rPr lang="en-US" dirty="0"/>
              <a:t> from optimal segments</a:t>
            </a:r>
          </a:p>
          <a:p>
            <a:pPr marL="342900" indent="-342900">
              <a:buFont typeface="+mj-lt"/>
              <a:buAutoNum type="arabicPeriod"/>
            </a:pPr>
            <a:r>
              <a:rPr lang="en-US" dirty="0"/>
              <a:t>Shrink the vocabulary size by dropping the </a:t>
            </a:r>
            <a:r>
              <a:rPr lang="en-US" dirty="0" err="1"/>
              <a:t>subwords</a:t>
            </a:r>
            <a:r>
              <a:rPr lang="en-US" dirty="0"/>
              <a:t> with top X% smallest losses</a:t>
            </a:r>
          </a:p>
          <a:p>
            <a:pPr marL="342900" indent="-342900">
              <a:buFont typeface="+mj-lt"/>
              <a:buAutoNum type="arabicPeriod"/>
            </a:pPr>
            <a:r>
              <a:rPr lang="en-US" dirty="0"/>
              <a:t>Repeat step 2 to 5 until the vocabulary size reaches a desired number</a:t>
            </a:r>
          </a:p>
        </p:txBody>
      </p:sp>
      <p:sp>
        <p:nvSpPr>
          <p:cNvPr id="12" name="TextBox 11">
            <a:extLst>
              <a:ext uri="{FF2B5EF4-FFF2-40B4-BE49-F238E27FC236}">
                <a16:creationId xmlns:a16="http://schemas.microsoft.com/office/drawing/2014/main" id="{412E18C6-FCFA-4780-B078-ABF4E6F84058}"/>
              </a:ext>
            </a:extLst>
          </p:cNvPr>
          <p:cNvSpPr txBox="1"/>
          <p:nvPr/>
        </p:nvSpPr>
        <p:spPr>
          <a:xfrm>
            <a:off x="2302497" y="5802198"/>
            <a:ext cx="6945198" cy="923330"/>
          </a:xfrm>
          <a:prstGeom prst="rect">
            <a:avLst/>
          </a:prstGeom>
          <a:noFill/>
        </p:spPr>
        <p:txBody>
          <a:bodyPr wrap="square">
            <a:spAutoFit/>
          </a:bodyPr>
          <a:lstStyle/>
          <a:p>
            <a:r>
              <a:rPr lang="en-US" dirty="0">
                <a:solidFill>
                  <a:srgbClr val="0070C0"/>
                </a:solidFill>
              </a:rPr>
              <a:t>Loss of a </a:t>
            </a:r>
            <a:r>
              <a:rPr lang="en-US" dirty="0" err="1">
                <a:solidFill>
                  <a:srgbClr val="0070C0"/>
                </a:solidFill>
              </a:rPr>
              <a:t>subword</a:t>
            </a:r>
            <a:r>
              <a:rPr lang="en-US" dirty="0">
                <a:solidFill>
                  <a:srgbClr val="0070C0"/>
                </a:solidFill>
              </a:rPr>
              <a:t> in step 4 is the reduction in overall training corpus segment likelihood if that </a:t>
            </a:r>
            <a:r>
              <a:rPr lang="en-US" dirty="0" err="1">
                <a:solidFill>
                  <a:srgbClr val="0070C0"/>
                </a:solidFill>
              </a:rPr>
              <a:t>subword</a:t>
            </a:r>
            <a:r>
              <a:rPr lang="en-US" dirty="0">
                <a:solidFill>
                  <a:srgbClr val="0070C0"/>
                </a:solidFill>
              </a:rPr>
              <a:t> is removed from the current vocabulary.</a:t>
            </a:r>
            <a:endParaRPr lang="en-IN" dirty="0">
              <a:solidFill>
                <a:srgbClr val="0070C0"/>
              </a:solidFill>
            </a:endParaRPr>
          </a:p>
        </p:txBody>
      </p:sp>
    </p:spTree>
    <p:extLst>
      <p:ext uri="{BB962C8B-B14F-4D97-AF65-F5344CB8AC3E}">
        <p14:creationId xmlns:p14="http://schemas.microsoft.com/office/powerpoint/2010/main" val="2813436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animEffect transition="in" filter="fade">
                                      <p:cBhvr>
                                        <p:cTn id="27" dur="500"/>
                                        <p:tgtEl>
                                          <p:spTgt spid="12">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4" end="4"/>
                                            </p:txEl>
                                          </p:spTgt>
                                        </p:tgtEl>
                                        <p:attrNameLst>
                                          <p:attrName>style.visibility</p:attrName>
                                        </p:attrNameLst>
                                      </p:cBhvr>
                                      <p:to>
                                        <p:strVal val="visible"/>
                                      </p:to>
                                    </p:set>
                                    <p:animEffect transition="in" filter="fade">
                                      <p:cBhvr>
                                        <p:cTn id="32" dur="500"/>
                                        <p:tgtEl>
                                          <p:spTgt spid="8">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
                                            <p:txEl>
                                              <p:pRg st="5" end="5"/>
                                            </p:txEl>
                                          </p:spTgt>
                                        </p:tgtEl>
                                        <p:attrNameLst>
                                          <p:attrName>style.visibility</p:attrName>
                                        </p:attrNameLst>
                                      </p:cBhvr>
                                      <p:to>
                                        <p:strVal val="visible"/>
                                      </p:to>
                                    </p:set>
                                    <p:animEffect transition="in" filter="fade">
                                      <p:cBhvr>
                                        <p:cTn id="37"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5BAE3-D7EB-4D24-B4B7-226E6BC80B3B}"/>
              </a:ext>
            </a:extLst>
          </p:cNvPr>
          <p:cNvSpPr>
            <a:spLocks noGrp="1"/>
          </p:cNvSpPr>
          <p:nvPr>
            <p:ph type="title"/>
          </p:nvPr>
        </p:nvSpPr>
        <p:spPr/>
        <p:txBody>
          <a:bodyPr/>
          <a:lstStyle/>
          <a:p>
            <a:r>
              <a:rPr lang="en-IN" dirty="0"/>
              <a:t>Unigram Tokenizer: Training Algorithm</a:t>
            </a:r>
          </a:p>
        </p:txBody>
      </p:sp>
      <p:sp>
        <p:nvSpPr>
          <p:cNvPr id="4" name="Slide Number Placeholder 3">
            <a:extLst>
              <a:ext uri="{FF2B5EF4-FFF2-40B4-BE49-F238E27FC236}">
                <a16:creationId xmlns:a16="http://schemas.microsoft.com/office/drawing/2014/main" id="{CC28A548-D2A2-410C-8C1E-AF5D90760347}"/>
              </a:ext>
            </a:extLst>
          </p:cNvPr>
          <p:cNvSpPr>
            <a:spLocks noGrp="1"/>
          </p:cNvSpPr>
          <p:nvPr>
            <p:ph type="sldNum" sz="quarter" idx="12"/>
          </p:nvPr>
        </p:nvSpPr>
        <p:spPr/>
        <p:txBody>
          <a:bodyPr/>
          <a:lstStyle/>
          <a:p>
            <a:fld id="{FF2BD96E-3838-45D2-9031-D3AF67C920A5}" type="slidenum">
              <a:rPr lang="en-US" smtClean="0"/>
              <a:t>27</a:t>
            </a:fld>
            <a:endParaRPr lang="en-US"/>
          </a:p>
        </p:txBody>
      </p:sp>
      <p:pic>
        <p:nvPicPr>
          <p:cNvPr id="6" name="Picture 5">
            <a:extLst>
              <a:ext uri="{FF2B5EF4-FFF2-40B4-BE49-F238E27FC236}">
                <a16:creationId xmlns:a16="http://schemas.microsoft.com/office/drawing/2014/main" id="{9A40E568-B5E9-48A6-B677-81F34440A5BB}"/>
              </a:ext>
            </a:extLst>
          </p:cNvPr>
          <p:cNvPicPr>
            <a:picLocks noChangeAspect="1"/>
          </p:cNvPicPr>
          <p:nvPr/>
        </p:nvPicPr>
        <p:blipFill>
          <a:blip r:embed="rId2"/>
          <a:stretch>
            <a:fillRect/>
          </a:stretch>
        </p:blipFill>
        <p:spPr>
          <a:xfrm>
            <a:off x="3294322" y="1092079"/>
            <a:ext cx="4935278" cy="5547874"/>
          </a:xfrm>
          <a:prstGeom prst="rect">
            <a:avLst/>
          </a:prstGeom>
        </p:spPr>
      </p:pic>
      <p:sp>
        <p:nvSpPr>
          <p:cNvPr id="3" name="TextBox 2">
            <a:extLst>
              <a:ext uri="{FF2B5EF4-FFF2-40B4-BE49-F238E27FC236}">
                <a16:creationId xmlns:a16="http://schemas.microsoft.com/office/drawing/2014/main" id="{9C3E7969-C5D7-9B7F-0BDF-92AD38D26104}"/>
              </a:ext>
            </a:extLst>
          </p:cNvPr>
          <p:cNvSpPr txBox="1"/>
          <p:nvPr/>
        </p:nvSpPr>
        <p:spPr>
          <a:xfrm>
            <a:off x="8113059" y="968968"/>
            <a:ext cx="3962400" cy="1785104"/>
          </a:xfrm>
          <a:prstGeom prst="rect">
            <a:avLst/>
          </a:prstGeom>
          <a:noFill/>
        </p:spPr>
        <p:txBody>
          <a:bodyPr wrap="square" rtlCol="0">
            <a:spAutoFit/>
          </a:bodyPr>
          <a:lstStyle/>
          <a:p>
            <a:r>
              <a:rPr lang="en-US" sz="1000" dirty="0"/>
              <a:t>We don’t have access to V’s and probabilities of ‘V’, but we try to compute things iteratively, and we start with any vocab (maybe all possible substrings).</a:t>
            </a:r>
          </a:p>
          <a:p>
            <a:r>
              <a:rPr lang="en-US" sz="1000" dirty="0"/>
              <a:t>we can estimate the probability of those vocab items using training corpora, and then we want to maximize the likelihood of ..</a:t>
            </a:r>
          </a:p>
          <a:p>
            <a:endParaRPr lang="en-US" sz="1000" dirty="0"/>
          </a:p>
          <a:p>
            <a:r>
              <a:rPr lang="en-US" sz="1000" dirty="0"/>
              <a:t>We want to remove some of the tokens from the vocab. We have revised vocabulary, we have new observations, based on that we </a:t>
            </a:r>
          </a:p>
          <a:p>
            <a:r>
              <a:rPr lang="en-US" sz="1000" dirty="0"/>
              <a:t>See new probability values, and whether new vocabulary models the training corpora in a better way and we do that iteratively.</a:t>
            </a:r>
          </a:p>
        </p:txBody>
      </p:sp>
    </p:spTree>
    <p:extLst>
      <p:ext uri="{BB962C8B-B14F-4D97-AF65-F5344CB8AC3E}">
        <p14:creationId xmlns:p14="http://schemas.microsoft.com/office/powerpoint/2010/main" val="27815795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ADF27-13BA-4A5A-8B8A-3BA82EA71A0F}"/>
              </a:ext>
            </a:extLst>
          </p:cNvPr>
          <p:cNvSpPr>
            <a:spLocks noGrp="1"/>
          </p:cNvSpPr>
          <p:nvPr>
            <p:ph type="title"/>
          </p:nvPr>
        </p:nvSpPr>
        <p:spPr/>
        <p:txBody>
          <a:bodyPr/>
          <a:lstStyle/>
          <a:p>
            <a:r>
              <a:rPr lang="en-IN" dirty="0"/>
              <a:t>Unigram Tokenizer: Running Example</a:t>
            </a:r>
          </a:p>
        </p:txBody>
      </p:sp>
      <p:sp>
        <p:nvSpPr>
          <p:cNvPr id="4" name="Slide Number Placeholder 3">
            <a:extLst>
              <a:ext uri="{FF2B5EF4-FFF2-40B4-BE49-F238E27FC236}">
                <a16:creationId xmlns:a16="http://schemas.microsoft.com/office/drawing/2014/main" id="{D5450C14-36A9-4C1B-9778-10124759FC26}"/>
              </a:ext>
            </a:extLst>
          </p:cNvPr>
          <p:cNvSpPr>
            <a:spLocks noGrp="1"/>
          </p:cNvSpPr>
          <p:nvPr>
            <p:ph type="sldNum" sz="quarter" idx="12"/>
          </p:nvPr>
        </p:nvSpPr>
        <p:spPr/>
        <p:txBody>
          <a:bodyPr/>
          <a:lstStyle/>
          <a:p>
            <a:fld id="{FF2BD96E-3838-45D2-9031-D3AF67C920A5}" type="slidenum">
              <a:rPr lang="en-US" smtClean="0"/>
              <a:t>28</a:t>
            </a:fld>
            <a:endParaRPr lang="en-US"/>
          </a:p>
        </p:txBody>
      </p:sp>
      <p:sp>
        <p:nvSpPr>
          <p:cNvPr id="6" name="TextBox 5">
            <a:extLst>
              <a:ext uri="{FF2B5EF4-FFF2-40B4-BE49-F238E27FC236}">
                <a16:creationId xmlns:a16="http://schemas.microsoft.com/office/drawing/2014/main" id="{9DB49904-A318-48A0-966B-C24F11130362}"/>
              </a:ext>
            </a:extLst>
          </p:cNvPr>
          <p:cNvSpPr txBox="1"/>
          <p:nvPr/>
        </p:nvSpPr>
        <p:spPr>
          <a:xfrm>
            <a:off x="1765169" y="1570405"/>
            <a:ext cx="6094428" cy="369332"/>
          </a:xfrm>
          <a:prstGeom prst="rect">
            <a:avLst/>
          </a:prstGeom>
          <a:noFill/>
        </p:spPr>
        <p:txBody>
          <a:bodyPr wrap="square">
            <a:spAutoFit/>
          </a:bodyPr>
          <a:lstStyle/>
          <a:p>
            <a:r>
              <a:rPr lang="en-IN" dirty="0"/>
              <a:t>("hug", 10), ("pug", 5), ("pun", 12), ("bun", 4), ("hugs", 5)</a:t>
            </a:r>
          </a:p>
        </p:txBody>
      </p:sp>
      <p:sp>
        <p:nvSpPr>
          <p:cNvPr id="7" name="TextBox 6">
            <a:extLst>
              <a:ext uri="{FF2B5EF4-FFF2-40B4-BE49-F238E27FC236}">
                <a16:creationId xmlns:a16="http://schemas.microsoft.com/office/drawing/2014/main" id="{706276A5-739C-4D53-B7D6-6A8FE83F3D0A}"/>
              </a:ext>
            </a:extLst>
          </p:cNvPr>
          <p:cNvSpPr txBox="1"/>
          <p:nvPr/>
        </p:nvSpPr>
        <p:spPr>
          <a:xfrm>
            <a:off x="1121790" y="1171577"/>
            <a:ext cx="2968429" cy="461665"/>
          </a:xfrm>
          <a:prstGeom prst="rect">
            <a:avLst/>
          </a:prstGeom>
          <a:noFill/>
        </p:spPr>
        <p:txBody>
          <a:bodyPr wrap="square" rtlCol="0">
            <a:spAutoFit/>
          </a:bodyPr>
          <a:lstStyle/>
          <a:p>
            <a:r>
              <a:rPr lang="en-IN" sz="2400" dirty="0"/>
              <a:t>Training Corpora</a:t>
            </a:r>
          </a:p>
        </p:txBody>
      </p:sp>
      <p:sp>
        <p:nvSpPr>
          <p:cNvPr id="8" name="TextBox 7">
            <a:extLst>
              <a:ext uri="{FF2B5EF4-FFF2-40B4-BE49-F238E27FC236}">
                <a16:creationId xmlns:a16="http://schemas.microsoft.com/office/drawing/2014/main" id="{8585EEB7-F571-4836-B830-2E8C47F9CC93}"/>
              </a:ext>
            </a:extLst>
          </p:cNvPr>
          <p:cNvSpPr txBox="1"/>
          <p:nvPr/>
        </p:nvSpPr>
        <p:spPr>
          <a:xfrm>
            <a:off x="1121790" y="2047459"/>
            <a:ext cx="6360558" cy="461665"/>
          </a:xfrm>
          <a:prstGeom prst="rect">
            <a:avLst/>
          </a:prstGeom>
          <a:noFill/>
        </p:spPr>
        <p:txBody>
          <a:bodyPr wrap="square" rtlCol="0">
            <a:spAutoFit/>
          </a:bodyPr>
          <a:lstStyle/>
          <a:p>
            <a:r>
              <a:rPr lang="en-IN" sz="2400" dirty="0"/>
              <a:t>Starting Vocabulary (All strict substrings)</a:t>
            </a:r>
          </a:p>
        </p:txBody>
      </p:sp>
      <p:sp>
        <p:nvSpPr>
          <p:cNvPr id="10" name="TextBox 9">
            <a:extLst>
              <a:ext uri="{FF2B5EF4-FFF2-40B4-BE49-F238E27FC236}">
                <a16:creationId xmlns:a16="http://schemas.microsoft.com/office/drawing/2014/main" id="{A4789FD0-A02C-4187-91FB-0543FF962A53}"/>
              </a:ext>
            </a:extLst>
          </p:cNvPr>
          <p:cNvSpPr txBox="1"/>
          <p:nvPr/>
        </p:nvSpPr>
        <p:spPr>
          <a:xfrm>
            <a:off x="1765169" y="2461359"/>
            <a:ext cx="8123548" cy="369332"/>
          </a:xfrm>
          <a:prstGeom prst="rect">
            <a:avLst/>
          </a:prstGeom>
          <a:noFill/>
        </p:spPr>
        <p:txBody>
          <a:bodyPr wrap="square">
            <a:spAutoFit/>
          </a:bodyPr>
          <a:lstStyle/>
          <a:p>
            <a:r>
              <a:rPr lang="en-IN" dirty="0"/>
              <a:t>["h", "u", "g", "hu", "ug", "p", "</a:t>
            </a:r>
            <a:r>
              <a:rPr lang="en-IN" dirty="0" err="1"/>
              <a:t>pu</a:t>
            </a:r>
            <a:r>
              <a:rPr lang="en-IN" dirty="0"/>
              <a:t>", "n", "un", "b", "</a:t>
            </a:r>
            <a:r>
              <a:rPr lang="en-IN" dirty="0" err="1"/>
              <a:t>bu</a:t>
            </a:r>
            <a:r>
              <a:rPr lang="en-IN" dirty="0"/>
              <a:t>", "s", "hug", "</a:t>
            </a:r>
            <a:r>
              <a:rPr lang="en-IN" dirty="0" err="1"/>
              <a:t>gs</a:t>
            </a:r>
            <a:r>
              <a:rPr lang="en-IN" dirty="0"/>
              <a:t>", "</a:t>
            </a:r>
            <a:r>
              <a:rPr lang="en-IN" dirty="0" err="1"/>
              <a:t>ugs</a:t>
            </a:r>
            <a:r>
              <a:rPr lang="en-IN" dirty="0"/>
              <a:t>"]</a:t>
            </a:r>
          </a:p>
        </p:txBody>
      </p:sp>
      <p:sp>
        <p:nvSpPr>
          <p:cNvPr id="12" name="TextBox 11">
            <a:extLst>
              <a:ext uri="{FF2B5EF4-FFF2-40B4-BE49-F238E27FC236}">
                <a16:creationId xmlns:a16="http://schemas.microsoft.com/office/drawing/2014/main" id="{F37EE001-0678-4C26-871A-0F15D57B60DC}"/>
              </a:ext>
            </a:extLst>
          </p:cNvPr>
          <p:cNvSpPr txBox="1"/>
          <p:nvPr/>
        </p:nvSpPr>
        <p:spPr>
          <a:xfrm>
            <a:off x="1765170" y="3463571"/>
            <a:ext cx="8123547" cy="646331"/>
          </a:xfrm>
          <a:prstGeom prst="rect">
            <a:avLst/>
          </a:prstGeom>
          <a:noFill/>
        </p:spPr>
        <p:txBody>
          <a:bodyPr wrap="square">
            <a:spAutoFit/>
          </a:bodyPr>
          <a:lstStyle/>
          <a:p>
            <a:r>
              <a:rPr lang="en-IN" dirty="0"/>
              <a:t>("h", 15) ("u", 36) ("g", 20) ("hu", 15) ("ug", 20) ("p", 17) ("</a:t>
            </a:r>
            <a:r>
              <a:rPr lang="en-IN" dirty="0" err="1"/>
              <a:t>pu</a:t>
            </a:r>
            <a:r>
              <a:rPr lang="en-IN" dirty="0"/>
              <a:t>", 17) ("n", 16)</a:t>
            </a:r>
          </a:p>
          <a:p>
            <a:r>
              <a:rPr lang="en-IN" dirty="0"/>
              <a:t>("un", 16) ("b", 4) ("</a:t>
            </a:r>
            <a:r>
              <a:rPr lang="en-IN" dirty="0" err="1"/>
              <a:t>bu</a:t>
            </a:r>
            <a:r>
              <a:rPr lang="en-IN" dirty="0"/>
              <a:t>", 4) ("s", 5) ("hug", 15) ("</a:t>
            </a:r>
            <a:r>
              <a:rPr lang="en-IN" dirty="0" err="1"/>
              <a:t>gs</a:t>
            </a:r>
            <a:r>
              <a:rPr lang="en-IN" dirty="0"/>
              <a:t>", 5) ("</a:t>
            </a:r>
            <a:r>
              <a:rPr lang="en-IN" dirty="0" err="1"/>
              <a:t>ugs</a:t>
            </a:r>
            <a:r>
              <a:rPr lang="en-IN" dirty="0"/>
              <a:t>", 5)</a:t>
            </a:r>
          </a:p>
        </p:txBody>
      </p:sp>
      <p:sp>
        <p:nvSpPr>
          <p:cNvPr id="13" name="TextBox 12">
            <a:extLst>
              <a:ext uri="{FF2B5EF4-FFF2-40B4-BE49-F238E27FC236}">
                <a16:creationId xmlns:a16="http://schemas.microsoft.com/office/drawing/2014/main" id="{3B521D6E-D7A8-437D-9A8C-BBA008666B67}"/>
              </a:ext>
            </a:extLst>
          </p:cNvPr>
          <p:cNvSpPr txBox="1"/>
          <p:nvPr/>
        </p:nvSpPr>
        <p:spPr>
          <a:xfrm>
            <a:off x="1121790" y="3029999"/>
            <a:ext cx="5165888" cy="461665"/>
          </a:xfrm>
          <a:prstGeom prst="rect">
            <a:avLst/>
          </a:prstGeom>
          <a:noFill/>
        </p:spPr>
        <p:txBody>
          <a:bodyPr wrap="square" rtlCol="0">
            <a:spAutoFit/>
          </a:bodyPr>
          <a:lstStyle/>
          <a:p>
            <a:r>
              <a:rPr lang="en-IN" sz="2400" dirty="0"/>
              <a:t>Frequencies of the </a:t>
            </a:r>
            <a:r>
              <a:rPr lang="en-IN" sz="2400" dirty="0" err="1"/>
              <a:t>subwords</a:t>
            </a:r>
            <a:endParaRPr lang="en-IN" sz="2400" dirty="0"/>
          </a:p>
        </p:txBody>
      </p:sp>
      <p:sp>
        <p:nvSpPr>
          <p:cNvPr id="14" name="TextBox 13">
            <a:extLst>
              <a:ext uri="{FF2B5EF4-FFF2-40B4-BE49-F238E27FC236}">
                <a16:creationId xmlns:a16="http://schemas.microsoft.com/office/drawing/2014/main" id="{B3C4281F-7F6C-410D-9276-6FEE1AA318BB}"/>
              </a:ext>
            </a:extLst>
          </p:cNvPr>
          <p:cNvSpPr txBox="1"/>
          <p:nvPr/>
        </p:nvSpPr>
        <p:spPr>
          <a:xfrm>
            <a:off x="1092293" y="4338514"/>
            <a:ext cx="6865839" cy="461665"/>
          </a:xfrm>
          <a:prstGeom prst="rect">
            <a:avLst/>
          </a:prstGeom>
          <a:noFill/>
        </p:spPr>
        <p:txBody>
          <a:bodyPr wrap="square" rtlCol="0">
            <a:spAutoFit/>
          </a:bodyPr>
          <a:lstStyle/>
          <a:p>
            <a:r>
              <a:rPr lang="en-IN" sz="2400" dirty="0"/>
              <a:t>Optimal segmentation of a given word</a:t>
            </a:r>
          </a:p>
        </p:txBody>
      </p:sp>
      <p:sp>
        <p:nvSpPr>
          <p:cNvPr id="16" name="TextBox 15">
            <a:extLst>
              <a:ext uri="{FF2B5EF4-FFF2-40B4-BE49-F238E27FC236}">
                <a16:creationId xmlns:a16="http://schemas.microsoft.com/office/drawing/2014/main" id="{20E2A038-514E-42E7-A972-87C5BF359F26}"/>
              </a:ext>
            </a:extLst>
          </p:cNvPr>
          <p:cNvSpPr txBox="1"/>
          <p:nvPr/>
        </p:nvSpPr>
        <p:spPr>
          <a:xfrm>
            <a:off x="1736888" y="4707846"/>
            <a:ext cx="6094428" cy="369332"/>
          </a:xfrm>
          <a:prstGeom prst="rect">
            <a:avLst/>
          </a:prstGeom>
          <a:noFill/>
        </p:spPr>
        <p:txBody>
          <a:bodyPr wrap="square">
            <a:spAutoFit/>
          </a:bodyPr>
          <a:lstStyle/>
          <a:p>
            <a:r>
              <a:rPr lang="en-IN" dirty="0"/>
              <a:t>"pug“: [‘p’, ‘u’, ‘g’], [‘p’, ‘ug’], [‘</a:t>
            </a:r>
            <a:r>
              <a:rPr lang="en-IN" dirty="0" err="1"/>
              <a:t>pu</a:t>
            </a:r>
            <a:r>
              <a:rPr lang="en-IN" dirty="0"/>
              <a:t>’, ‘g’]</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96EC27F-4B25-4773-9F8F-C876196A8051}"/>
                  </a:ext>
                </a:extLst>
              </p:cNvPr>
              <p:cNvSpPr txBox="1"/>
              <p:nvPr/>
            </p:nvSpPr>
            <p:spPr>
              <a:xfrm>
                <a:off x="2300140" y="5033067"/>
                <a:ext cx="7250575" cy="520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𝑃</m:t>
                      </m:r>
                      <m:r>
                        <a:rPr lang="en-IN" b="0" i="1" smtClean="0">
                          <a:latin typeface="Cambria Math" panose="02040503050406030204" pitchFamily="18" charset="0"/>
                        </a:rPr>
                        <m:t>(</m:t>
                      </m:r>
                      <m:sSup>
                        <m:sSupPr>
                          <m:ctrlPr>
                            <a:rPr lang="en-IN" b="0" i="1" smtClean="0">
                              <a:latin typeface="Cambria Math" panose="02040503050406030204" pitchFamily="18" charset="0"/>
                            </a:rPr>
                          </m:ctrlPr>
                        </m:sSupPr>
                        <m:e>
                          <m:r>
                            <a:rPr lang="en-IN" b="0" i="1" smtClean="0">
                              <a:latin typeface="Cambria Math" panose="02040503050406030204" pitchFamily="18" charset="0"/>
                            </a:rPr>
                            <m:t>[</m:t>
                          </m:r>
                        </m:e>
                        <m:sup>
                          <m:r>
                            <a:rPr lang="en-IN" b="0" i="1" smtClean="0">
                              <a:latin typeface="Cambria Math" panose="02040503050406030204" pitchFamily="18" charset="0"/>
                            </a:rPr>
                            <m:t>′</m:t>
                          </m:r>
                        </m:sup>
                      </m:sSup>
                      <m:sSup>
                        <m:sSupPr>
                          <m:ctrlPr>
                            <a:rPr lang="en-IN" b="0" i="1" smtClean="0">
                              <a:latin typeface="Cambria Math" panose="02040503050406030204" pitchFamily="18" charset="0"/>
                            </a:rPr>
                          </m:ctrlPr>
                        </m:sSupPr>
                        <m:e>
                          <m:r>
                            <a:rPr lang="en-IN" b="0" i="1" smtClean="0">
                              <a:latin typeface="Cambria Math" panose="02040503050406030204" pitchFamily="18" charset="0"/>
                            </a:rPr>
                            <m:t>𝑝</m:t>
                          </m:r>
                        </m:e>
                        <m:sup>
                          <m:r>
                            <a:rPr lang="en-IN" b="0" i="1" smtClean="0">
                              <a:latin typeface="Cambria Math" panose="02040503050406030204" pitchFamily="18" charset="0"/>
                            </a:rPr>
                            <m:t>′</m:t>
                          </m:r>
                        </m:sup>
                      </m:sSup>
                      <m:sSup>
                        <m:sSupPr>
                          <m:ctrlPr>
                            <a:rPr lang="en-IN" b="0" i="1" smtClean="0">
                              <a:latin typeface="Cambria Math" panose="02040503050406030204" pitchFamily="18" charset="0"/>
                            </a:rPr>
                          </m:ctrlPr>
                        </m:sSupPr>
                        <m:e>
                          <m:r>
                            <a:rPr lang="en-IN" b="0" i="1" smtClean="0">
                              <a:latin typeface="Cambria Math" panose="02040503050406030204" pitchFamily="18" charset="0"/>
                            </a:rPr>
                            <m:t>,</m:t>
                          </m:r>
                        </m:e>
                        <m:sup>
                          <m:r>
                            <a:rPr lang="en-IN" b="0" i="1" smtClean="0">
                              <a:latin typeface="Cambria Math" panose="02040503050406030204" pitchFamily="18" charset="0"/>
                            </a:rPr>
                            <m:t>′</m:t>
                          </m:r>
                        </m:sup>
                      </m:sSup>
                      <m:r>
                        <a:rPr lang="en-IN" b="0" i="1" smtClean="0">
                          <a:latin typeface="Cambria Math" panose="02040503050406030204" pitchFamily="18" charset="0"/>
                        </a:rPr>
                        <m:t>𝑢</m:t>
                      </m:r>
                      <m:r>
                        <a:rPr lang="en-IN" b="0" i="1" smtClean="0">
                          <a:latin typeface="Cambria Math" panose="02040503050406030204" pitchFamily="18" charset="0"/>
                        </a:rPr>
                        <m:t>′, ′</m:t>
                      </m:r>
                      <m:r>
                        <a:rPr lang="en-IN" b="0" i="1" smtClean="0">
                          <a:latin typeface="Cambria Math" panose="02040503050406030204" pitchFamily="18" charset="0"/>
                        </a:rPr>
                        <m:t>𝑔</m:t>
                      </m:r>
                      <m:r>
                        <a:rPr lang="en-IN" b="0" i="1" smtClean="0">
                          <a:latin typeface="Cambria Math" panose="02040503050406030204" pitchFamily="18" charset="0"/>
                        </a:rPr>
                        <m:t>′])=</m:t>
                      </m:r>
                      <m:r>
                        <a:rPr lang="en-IN" b="0" i="1" smtClean="0">
                          <a:latin typeface="Cambria Math" panose="02040503050406030204" pitchFamily="18" charset="0"/>
                        </a:rPr>
                        <m:t>𝑃</m:t>
                      </m:r>
                      <m:r>
                        <a:rPr lang="en-IN" b="0" i="1" smtClean="0">
                          <a:latin typeface="Cambria Math" panose="02040503050406030204" pitchFamily="18" charset="0"/>
                        </a:rPr>
                        <m:t>(′</m:t>
                      </m:r>
                      <m:r>
                        <a:rPr lang="en-IN" b="0" i="1" smtClean="0">
                          <a:latin typeface="Cambria Math" panose="02040503050406030204" pitchFamily="18" charset="0"/>
                        </a:rPr>
                        <m:t>𝑝</m:t>
                      </m:r>
                      <m:r>
                        <a:rPr lang="en-IN" b="0" i="1" smtClean="0">
                          <a:latin typeface="Cambria Math" panose="02040503050406030204" pitchFamily="18" charset="0"/>
                        </a:rPr>
                        <m:t>′)×</m:t>
                      </m:r>
                      <m:r>
                        <a:rPr lang="en-IN" b="0" i="1" smtClean="0">
                          <a:latin typeface="Cambria Math" panose="02040503050406030204" pitchFamily="18" charset="0"/>
                        </a:rPr>
                        <m:t>𝑃</m:t>
                      </m:r>
                      <m:r>
                        <a:rPr lang="en-IN" b="0" i="1" smtClean="0">
                          <a:latin typeface="Cambria Math" panose="02040503050406030204" pitchFamily="18" charset="0"/>
                        </a:rPr>
                        <m:t>(′</m:t>
                      </m:r>
                      <m:r>
                        <a:rPr lang="en-IN" b="0" i="1" smtClean="0">
                          <a:latin typeface="Cambria Math" panose="02040503050406030204" pitchFamily="18" charset="0"/>
                        </a:rPr>
                        <m:t>𝑢</m:t>
                      </m:r>
                      <m:r>
                        <a:rPr lang="en-IN" b="0" i="1" smtClean="0">
                          <a:latin typeface="Cambria Math" panose="02040503050406030204" pitchFamily="18" charset="0"/>
                        </a:rPr>
                        <m:t>′)×</m:t>
                      </m:r>
                      <m:r>
                        <a:rPr lang="en-IN" b="0" i="1" smtClean="0">
                          <a:latin typeface="Cambria Math" panose="02040503050406030204" pitchFamily="18" charset="0"/>
                        </a:rPr>
                        <m:t>𝑃</m:t>
                      </m:r>
                      <m:r>
                        <a:rPr lang="en-IN" b="0" i="1" smtClean="0">
                          <a:latin typeface="Cambria Math" panose="02040503050406030204" pitchFamily="18" charset="0"/>
                        </a:rPr>
                        <m:t>(′</m:t>
                      </m:r>
                      <m:r>
                        <a:rPr lang="en-IN" b="0" i="1" smtClean="0">
                          <a:latin typeface="Cambria Math" panose="02040503050406030204" pitchFamily="18" charset="0"/>
                        </a:rPr>
                        <m:t>𝑔</m:t>
                      </m:r>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17</m:t>
                          </m:r>
                        </m:num>
                        <m:den>
                          <m:r>
                            <a:rPr lang="en-IN" b="0" i="1" smtClean="0">
                              <a:latin typeface="Cambria Math" panose="02040503050406030204" pitchFamily="18" charset="0"/>
                            </a:rPr>
                            <m:t>210</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36</m:t>
                          </m:r>
                        </m:num>
                        <m:den>
                          <m:r>
                            <a:rPr lang="en-IN" b="0" i="1" smtClean="0">
                              <a:latin typeface="Cambria Math" panose="02040503050406030204" pitchFamily="18" charset="0"/>
                            </a:rPr>
                            <m:t>210</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20</m:t>
                          </m:r>
                        </m:num>
                        <m:den>
                          <m:r>
                            <a:rPr lang="en-IN" b="0" i="1" smtClean="0">
                              <a:latin typeface="Cambria Math" panose="02040503050406030204" pitchFamily="18" charset="0"/>
                            </a:rPr>
                            <m:t>210</m:t>
                          </m:r>
                        </m:den>
                      </m:f>
                      <m:r>
                        <a:rPr lang="en-IN" b="0" i="1" smtClean="0">
                          <a:latin typeface="Cambria Math" panose="02040503050406030204" pitchFamily="18" charset="0"/>
                        </a:rPr>
                        <m:t>=0.00132</m:t>
                      </m:r>
                    </m:oMath>
                  </m:oMathPara>
                </a14:m>
                <a:endParaRPr lang="en-IN" dirty="0"/>
              </a:p>
            </p:txBody>
          </p:sp>
        </mc:Choice>
        <mc:Fallback xmlns="">
          <p:sp>
            <p:nvSpPr>
              <p:cNvPr id="17" name="TextBox 16">
                <a:extLst>
                  <a:ext uri="{FF2B5EF4-FFF2-40B4-BE49-F238E27FC236}">
                    <a16:creationId xmlns:a16="http://schemas.microsoft.com/office/drawing/2014/main" id="{296EC27F-4B25-4773-9F8F-C876196A8051}"/>
                  </a:ext>
                </a:extLst>
              </p:cNvPr>
              <p:cNvSpPr txBox="1">
                <a:spLocks noRot="1" noChangeAspect="1" noMove="1" noResize="1" noEditPoints="1" noAdjustHandles="1" noChangeArrowheads="1" noChangeShapeType="1" noTextEdit="1"/>
              </p:cNvSpPr>
              <p:nvPr/>
            </p:nvSpPr>
            <p:spPr>
              <a:xfrm>
                <a:off x="2300140" y="5033067"/>
                <a:ext cx="7250575" cy="520399"/>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8F332AD-5930-4614-8D4B-8BE7DEDA881C}"/>
                  </a:ext>
                </a:extLst>
              </p:cNvPr>
              <p:cNvSpPr txBox="1"/>
              <p:nvPr/>
            </p:nvSpPr>
            <p:spPr>
              <a:xfrm>
                <a:off x="2301713" y="5647383"/>
                <a:ext cx="5656420" cy="520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𝑃</m:t>
                      </m:r>
                      <m:r>
                        <a:rPr lang="en-IN" b="0" i="1" smtClean="0">
                          <a:latin typeface="Cambria Math" panose="02040503050406030204" pitchFamily="18" charset="0"/>
                        </a:rPr>
                        <m:t>(</m:t>
                      </m:r>
                      <m:sSup>
                        <m:sSupPr>
                          <m:ctrlPr>
                            <a:rPr lang="en-IN" b="0" i="1" smtClean="0">
                              <a:latin typeface="Cambria Math" panose="02040503050406030204" pitchFamily="18" charset="0"/>
                            </a:rPr>
                          </m:ctrlPr>
                        </m:sSupPr>
                        <m:e>
                          <m:r>
                            <a:rPr lang="en-IN" b="0" i="1" smtClean="0">
                              <a:latin typeface="Cambria Math" panose="02040503050406030204" pitchFamily="18" charset="0"/>
                            </a:rPr>
                            <m:t>[</m:t>
                          </m:r>
                        </m:e>
                        <m:sup>
                          <m:r>
                            <a:rPr lang="en-IN" b="0" i="1" smtClean="0">
                              <a:latin typeface="Cambria Math" panose="02040503050406030204" pitchFamily="18" charset="0"/>
                            </a:rPr>
                            <m:t>′</m:t>
                          </m:r>
                        </m:sup>
                      </m:sSup>
                      <m:sSup>
                        <m:sSupPr>
                          <m:ctrlPr>
                            <a:rPr lang="en-IN" b="0" i="1" smtClean="0">
                              <a:latin typeface="Cambria Math" panose="02040503050406030204" pitchFamily="18" charset="0"/>
                            </a:rPr>
                          </m:ctrlPr>
                        </m:sSupPr>
                        <m:e>
                          <m:r>
                            <a:rPr lang="en-IN" b="0" i="1" smtClean="0">
                              <a:latin typeface="Cambria Math" panose="02040503050406030204" pitchFamily="18" charset="0"/>
                            </a:rPr>
                            <m:t>𝑝</m:t>
                          </m:r>
                        </m:e>
                        <m:sup>
                          <m:r>
                            <a:rPr lang="en-IN" b="0" i="1" smtClean="0">
                              <a:latin typeface="Cambria Math" panose="02040503050406030204" pitchFamily="18" charset="0"/>
                            </a:rPr>
                            <m:t>′</m:t>
                          </m:r>
                        </m:sup>
                      </m:sSup>
                      <m:r>
                        <a:rPr lang="en-IN" b="0" i="1" smtClean="0">
                          <a:latin typeface="Cambria Math" panose="02040503050406030204" pitchFamily="18" charset="0"/>
                        </a:rPr>
                        <m:t>,′</m:t>
                      </m:r>
                      <m:r>
                        <a:rPr lang="en-IN" b="0" i="1" smtClean="0">
                          <a:latin typeface="Cambria Math" panose="02040503050406030204" pitchFamily="18" charset="0"/>
                        </a:rPr>
                        <m:t>𝑢𝑔</m:t>
                      </m:r>
                      <m:r>
                        <a:rPr lang="en-IN" b="0" i="1" smtClean="0">
                          <a:latin typeface="Cambria Math" panose="02040503050406030204" pitchFamily="18" charset="0"/>
                        </a:rPr>
                        <m:t>′])=</m:t>
                      </m:r>
                      <m:r>
                        <a:rPr lang="en-IN" b="0" i="1" smtClean="0">
                          <a:latin typeface="Cambria Math" panose="02040503050406030204" pitchFamily="18" charset="0"/>
                        </a:rPr>
                        <m:t>𝑃</m:t>
                      </m:r>
                      <m:r>
                        <a:rPr lang="en-IN" b="0" i="1" smtClean="0">
                          <a:latin typeface="Cambria Math" panose="02040503050406030204" pitchFamily="18" charset="0"/>
                        </a:rPr>
                        <m:t>(′</m:t>
                      </m:r>
                      <m:r>
                        <a:rPr lang="en-IN" b="0" i="1" smtClean="0">
                          <a:latin typeface="Cambria Math" panose="02040503050406030204" pitchFamily="18" charset="0"/>
                        </a:rPr>
                        <m:t>𝑝</m:t>
                      </m:r>
                      <m:r>
                        <a:rPr lang="en-IN" b="0" i="1" smtClean="0">
                          <a:latin typeface="Cambria Math" panose="02040503050406030204" pitchFamily="18" charset="0"/>
                        </a:rPr>
                        <m:t>′)×</m:t>
                      </m:r>
                      <m:r>
                        <a:rPr lang="en-IN" b="0" i="1" smtClean="0">
                          <a:latin typeface="Cambria Math" panose="02040503050406030204" pitchFamily="18" charset="0"/>
                        </a:rPr>
                        <m:t>𝑃</m:t>
                      </m:r>
                      <m:r>
                        <a:rPr lang="en-IN" b="0" i="1" smtClean="0">
                          <a:latin typeface="Cambria Math" panose="02040503050406030204" pitchFamily="18" charset="0"/>
                        </a:rPr>
                        <m:t>(′</m:t>
                      </m:r>
                      <m:r>
                        <a:rPr lang="en-IN" b="0" i="1" smtClean="0">
                          <a:latin typeface="Cambria Math" panose="02040503050406030204" pitchFamily="18" charset="0"/>
                        </a:rPr>
                        <m:t>𝑢𝑔</m:t>
                      </m:r>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17</m:t>
                          </m:r>
                        </m:num>
                        <m:den>
                          <m:r>
                            <a:rPr lang="en-IN" b="0" i="1" smtClean="0">
                              <a:latin typeface="Cambria Math" panose="02040503050406030204" pitchFamily="18" charset="0"/>
                            </a:rPr>
                            <m:t>210</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20</m:t>
                          </m:r>
                        </m:num>
                        <m:den>
                          <m:r>
                            <a:rPr lang="en-IN" b="0" i="1" smtClean="0">
                              <a:latin typeface="Cambria Math" panose="02040503050406030204" pitchFamily="18" charset="0"/>
                            </a:rPr>
                            <m:t>210</m:t>
                          </m:r>
                        </m:den>
                      </m:f>
                      <m:r>
                        <a:rPr lang="en-IN" b="0" i="1" smtClean="0">
                          <a:latin typeface="Cambria Math" panose="02040503050406030204" pitchFamily="18" charset="0"/>
                        </a:rPr>
                        <m:t>=0.00771</m:t>
                      </m:r>
                    </m:oMath>
                  </m:oMathPara>
                </a14:m>
                <a:endParaRPr lang="en-IN" dirty="0"/>
              </a:p>
            </p:txBody>
          </p:sp>
        </mc:Choice>
        <mc:Fallback xmlns="">
          <p:sp>
            <p:nvSpPr>
              <p:cNvPr id="18" name="TextBox 17">
                <a:extLst>
                  <a:ext uri="{FF2B5EF4-FFF2-40B4-BE49-F238E27FC236}">
                    <a16:creationId xmlns:a16="http://schemas.microsoft.com/office/drawing/2014/main" id="{B8F332AD-5930-4614-8D4B-8BE7DEDA881C}"/>
                  </a:ext>
                </a:extLst>
              </p:cNvPr>
              <p:cNvSpPr txBox="1">
                <a:spLocks noRot="1" noChangeAspect="1" noMove="1" noResize="1" noEditPoints="1" noAdjustHandles="1" noChangeArrowheads="1" noChangeShapeType="1" noTextEdit="1"/>
              </p:cNvSpPr>
              <p:nvPr/>
            </p:nvSpPr>
            <p:spPr>
              <a:xfrm>
                <a:off x="2301713" y="5647383"/>
                <a:ext cx="5656420" cy="520399"/>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C63AD23C-137C-4F6D-9627-D5369C2D4549}"/>
                  </a:ext>
                </a:extLst>
              </p:cNvPr>
              <p:cNvSpPr txBox="1"/>
              <p:nvPr/>
            </p:nvSpPr>
            <p:spPr>
              <a:xfrm>
                <a:off x="2237292" y="6242847"/>
                <a:ext cx="5790239" cy="520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𝑃</m:t>
                      </m:r>
                      <m:r>
                        <a:rPr lang="en-IN" b="0" i="1" smtClean="0">
                          <a:latin typeface="Cambria Math" panose="02040503050406030204" pitchFamily="18" charset="0"/>
                        </a:rPr>
                        <m:t>(</m:t>
                      </m:r>
                      <m:sSup>
                        <m:sSupPr>
                          <m:ctrlPr>
                            <a:rPr lang="en-IN" b="0" i="1" smtClean="0">
                              <a:latin typeface="Cambria Math" panose="02040503050406030204" pitchFamily="18" charset="0"/>
                            </a:rPr>
                          </m:ctrlPr>
                        </m:sSupPr>
                        <m:e>
                          <m:r>
                            <a:rPr lang="en-IN" b="0" i="1" smtClean="0">
                              <a:latin typeface="Cambria Math" panose="02040503050406030204" pitchFamily="18" charset="0"/>
                            </a:rPr>
                            <m:t>[</m:t>
                          </m:r>
                        </m:e>
                        <m:sup>
                          <m:r>
                            <a:rPr lang="en-IN" b="0" i="1" smtClean="0">
                              <a:latin typeface="Cambria Math" panose="02040503050406030204" pitchFamily="18" charset="0"/>
                            </a:rPr>
                            <m:t>′</m:t>
                          </m:r>
                        </m:sup>
                      </m:sSup>
                      <m:sSup>
                        <m:sSupPr>
                          <m:ctrlPr>
                            <a:rPr lang="en-IN" b="0" i="1" smtClean="0">
                              <a:latin typeface="Cambria Math" panose="02040503050406030204" pitchFamily="18" charset="0"/>
                            </a:rPr>
                          </m:ctrlPr>
                        </m:sSupPr>
                        <m:e>
                          <m:r>
                            <a:rPr lang="en-IN" b="0" i="1" smtClean="0">
                              <a:latin typeface="Cambria Math" panose="02040503050406030204" pitchFamily="18" charset="0"/>
                            </a:rPr>
                            <m:t>𝑝𝑢</m:t>
                          </m:r>
                        </m:e>
                        <m:sup>
                          <m:r>
                            <a:rPr lang="en-IN" b="0" i="1" smtClean="0">
                              <a:latin typeface="Cambria Math" panose="02040503050406030204" pitchFamily="18" charset="0"/>
                            </a:rPr>
                            <m:t>′</m:t>
                          </m:r>
                        </m:sup>
                      </m:sSup>
                      <m:r>
                        <a:rPr lang="en-IN" b="0" i="1" smtClean="0">
                          <a:latin typeface="Cambria Math" panose="02040503050406030204" pitchFamily="18" charset="0"/>
                        </a:rPr>
                        <m:t>,′</m:t>
                      </m:r>
                      <m:r>
                        <a:rPr lang="en-IN" b="0" i="1" smtClean="0">
                          <a:latin typeface="Cambria Math" panose="02040503050406030204" pitchFamily="18" charset="0"/>
                        </a:rPr>
                        <m:t>𝑔</m:t>
                      </m:r>
                      <m:r>
                        <a:rPr lang="en-IN" b="0" i="1" smtClean="0">
                          <a:latin typeface="Cambria Math" panose="02040503050406030204" pitchFamily="18" charset="0"/>
                        </a:rPr>
                        <m:t>′])=</m:t>
                      </m:r>
                      <m:r>
                        <a:rPr lang="en-IN" b="0" i="1" smtClean="0">
                          <a:latin typeface="Cambria Math" panose="02040503050406030204" pitchFamily="18" charset="0"/>
                        </a:rPr>
                        <m:t>𝑃</m:t>
                      </m:r>
                      <m:r>
                        <a:rPr lang="en-IN" b="0" i="1" smtClean="0">
                          <a:latin typeface="Cambria Math" panose="02040503050406030204" pitchFamily="18" charset="0"/>
                        </a:rPr>
                        <m:t>(′</m:t>
                      </m:r>
                      <m:r>
                        <a:rPr lang="en-IN" b="0" i="1" smtClean="0">
                          <a:latin typeface="Cambria Math" panose="02040503050406030204" pitchFamily="18" charset="0"/>
                        </a:rPr>
                        <m:t>𝑝𝑢</m:t>
                      </m:r>
                      <m:r>
                        <a:rPr lang="en-IN" b="0" i="1" smtClean="0">
                          <a:latin typeface="Cambria Math" panose="02040503050406030204" pitchFamily="18" charset="0"/>
                        </a:rPr>
                        <m:t>′)×</m:t>
                      </m:r>
                      <m:r>
                        <a:rPr lang="en-IN" b="0" i="1" smtClean="0">
                          <a:latin typeface="Cambria Math" panose="02040503050406030204" pitchFamily="18" charset="0"/>
                        </a:rPr>
                        <m:t>𝑃</m:t>
                      </m:r>
                      <m:r>
                        <a:rPr lang="en-IN" b="0" i="1" smtClean="0">
                          <a:latin typeface="Cambria Math" panose="02040503050406030204" pitchFamily="18" charset="0"/>
                        </a:rPr>
                        <m:t>(′</m:t>
                      </m:r>
                      <m:r>
                        <a:rPr lang="en-IN" b="0" i="1" smtClean="0">
                          <a:latin typeface="Cambria Math" panose="02040503050406030204" pitchFamily="18" charset="0"/>
                        </a:rPr>
                        <m:t>𝑔</m:t>
                      </m:r>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17</m:t>
                          </m:r>
                        </m:num>
                        <m:den>
                          <m:r>
                            <a:rPr lang="en-IN" b="0" i="1" smtClean="0">
                              <a:latin typeface="Cambria Math" panose="02040503050406030204" pitchFamily="18" charset="0"/>
                            </a:rPr>
                            <m:t>210</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20</m:t>
                          </m:r>
                        </m:num>
                        <m:den>
                          <m:r>
                            <a:rPr lang="en-IN" b="0" i="1" smtClean="0">
                              <a:latin typeface="Cambria Math" panose="02040503050406030204" pitchFamily="18" charset="0"/>
                            </a:rPr>
                            <m:t>210</m:t>
                          </m:r>
                        </m:den>
                      </m:f>
                      <m:r>
                        <a:rPr lang="en-IN" b="0" i="1" smtClean="0">
                          <a:latin typeface="Cambria Math" panose="02040503050406030204" pitchFamily="18" charset="0"/>
                        </a:rPr>
                        <m:t>=0.00771</m:t>
                      </m:r>
                    </m:oMath>
                  </m:oMathPara>
                </a14:m>
                <a:endParaRPr lang="en-IN" dirty="0"/>
              </a:p>
            </p:txBody>
          </p:sp>
        </mc:Choice>
        <mc:Fallback xmlns="">
          <p:sp>
            <p:nvSpPr>
              <p:cNvPr id="19" name="TextBox 18">
                <a:extLst>
                  <a:ext uri="{FF2B5EF4-FFF2-40B4-BE49-F238E27FC236}">
                    <a16:creationId xmlns:a16="http://schemas.microsoft.com/office/drawing/2014/main" id="{C63AD23C-137C-4F6D-9627-D5369C2D4549}"/>
                  </a:ext>
                </a:extLst>
              </p:cNvPr>
              <p:cNvSpPr txBox="1">
                <a:spLocks noRot="1" noChangeAspect="1" noMove="1" noResize="1" noEditPoints="1" noAdjustHandles="1" noChangeArrowheads="1" noChangeShapeType="1" noTextEdit="1"/>
              </p:cNvSpPr>
              <p:nvPr/>
            </p:nvSpPr>
            <p:spPr>
              <a:xfrm>
                <a:off x="2237292" y="6242847"/>
                <a:ext cx="5790239" cy="520399"/>
              </a:xfrm>
              <a:prstGeom prst="rect">
                <a:avLst/>
              </a:prstGeom>
              <a:blipFill>
                <a:blip r:embed="rId4"/>
                <a:stretch>
                  <a:fillRect/>
                </a:stretch>
              </a:blipFill>
            </p:spPr>
            <p:txBody>
              <a:bodyPr/>
              <a:lstStyle/>
              <a:p>
                <a:r>
                  <a:rPr lang="en-IN">
                    <a:noFill/>
                  </a:rPr>
                  <a:t> </a:t>
                </a:r>
              </a:p>
            </p:txBody>
          </p:sp>
        </mc:Fallback>
      </mc:AlternateContent>
      <p:sp>
        <p:nvSpPr>
          <p:cNvPr id="20" name="Rectangle: Rounded Corners 19">
            <a:extLst>
              <a:ext uri="{FF2B5EF4-FFF2-40B4-BE49-F238E27FC236}">
                <a16:creationId xmlns:a16="http://schemas.microsoft.com/office/drawing/2014/main" id="{49997FB9-9F3F-4D17-9C7F-739289B98F6C}"/>
              </a:ext>
            </a:extLst>
          </p:cNvPr>
          <p:cNvSpPr/>
          <p:nvPr/>
        </p:nvSpPr>
        <p:spPr>
          <a:xfrm>
            <a:off x="2300140" y="5631011"/>
            <a:ext cx="5727391" cy="611836"/>
          </a:xfrm>
          <a:prstGeom prst="roundRect">
            <a:avLst/>
          </a:prstGeom>
          <a:solidFill>
            <a:schemeClr val="accent1">
              <a:alpha val="3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Rounded Corners 20">
            <a:extLst>
              <a:ext uri="{FF2B5EF4-FFF2-40B4-BE49-F238E27FC236}">
                <a16:creationId xmlns:a16="http://schemas.microsoft.com/office/drawing/2014/main" id="{B806BCAD-A8B0-467A-8805-28E41C974C17}"/>
              </a:ext>
            </a:extLst>
          </p:cNvPr>
          <p:cNvSpPr/>
          <p:nvPr/>
        </p:nvSpPr>
        <p:spPr>
          <a:xfrm>
            <a:off x="2319805" y="6275485"/>
            <a:ext cx="5727391" cy="611836"/>
          </a:xfrm>
          <a:prstGeom prst="roundRect">
            <a:avLst/>
          </a:prstGeom>
          <a:solidFill>
            <a:schemeClr val="accent1">
              <a:alpha val="3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87195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00"/>
                                        <p:tgtEl>
                                          <p:spTgt spid="20"/>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0" grpId="0"/>
      <p:bldP spid="12" grpId="0"/>
      <p:bldP spid="13" grpId="0"/>
      <p:bldP spid="14" grpId="0"/>
      <p:bldP spid="16" grpId="0"/>
      <p:bldP spid="17" grpId="0"/>
      <p:bldP spid="18" grpId="0"/>
      <p:bldP spid="19" grpId="0"/>
      <p:bldP spid="20" grpId="0" animBg="1"/>
      <p:bldP spid="2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33C96-08FB-42FA-8772-49F880671C70}"/>
              </a:ext>
            </a:extLst>
          </p:cNvPr>
          <p:cNvSpPr>
            <a:spLocks noGrp="1"/>
          </p:cNvSpPr>
          <p:nvPr>
            <p:ph type="title"/>
          </p:nvPr>
        </p:nvSpPr>
        <p:spPr/>
        <p:txBody>
          <a:bodyPr/>
          <a:lstStyle/>
          <a:p>
            <a:r>
              <a:rPr lang="en-IN" dirty="0"/>
              <a:t>Unigram Tokenizer: Running Example</a:t>
            </a:r>
          </a:p>
        </p:txBody>
      </p:sp>
      <p:sp>
        <p:nvSpPr>
          <p:cNvPr id="4" name="Slide Number Placeholder 3">
            <a:extLst>
              <a:ext uri="{FF2B5EF4-FFF2-40B4-BE49-F238E27FC236}">
                <a16:creationId xmlns:a16="http://schemas.microsoft.com/office/drawing/2014/main" id="{23C2CD8E-5C8C-4979-9995-8AD8EFE34CE2}"/>
              </a:ext>
            </a:extLst>
          </p:cNvPr>
          <p:cNvSpPr>
            <a:spLocks noGrp="1"/>
          </p:cNvSpPr>
          <p:nvPr>
            <p:ph type="sldNum" sz="quarter" idx="12"/>
          </p:nvPr>
        </p:nvSpPr>
        <p:spPr/>
        <p:txBody>
          <a:bodyPr/>
          <a:lstStyle/>
          <a:p>
            <a:fld id="{FF2BD96E-3838-45D2-9031-D3AF67C920A5}" type="slidenum">
              <a:rPr lang="en-US" smtClean="0"/>
              <a:t>29</a:t>
            </a:fld>
            <a:endParaRPr lang="en-US"/>
          </a:p>
        </p:txBody>
      </p:sp>
      <p:sp>
        <p:nvSpPr>
          <p:cNvPr id="5" name="TextBox 4">
            <a:extLst>
              <a:ext uri="{FF2B5EF4-FFF2-40B4-BE49-F238E27FC236}">
                <a16:creationId xmlns:a16="http://schemas.microsoft.com/office/drawing/2014/main" id="{02821F0B-DEA9-4293-8948-D18856EBDFE1}"/>
              </a:ext>
            </a:extLst>
          </p:cNvPr>
          <p:cNvSpPr txBox="1"/>
          <p:nvPr/>
        </p:nvSpPr>
        <p:spPr>
          <a:xfrm>
            <a:off x="1589103" y="1590069"/>
            <a:ext cx="6094428" cy="369332"/>
          </a:xfrm>
          <a:prstGeom prst="rect">
            <a:avLst/>
          </a:prstGeom>
          <a:noFill/>
        </p:spPr>
        <p:txBody>
          <a:bodyPr wrap="square">
            <a:spAutoFit/>
          </a:bodyPr>
          <a:lstStyle/>
          <a:p>
            <a:r>
              <a:rPr lang="en-IN" dirty="0"/>
              <a:t>("hug", 10), ("pug", 5), ("pun", 12), ("bun", 4), ("hugs", 5)</a:t>
            </a:r>
          </a:p>
        </p:txBody>
      </p:sp>
      <p:sp>
        <p:nvSpPr>
          <p:cNvPr id="6" name="TextBox 5">
            <a:extLst>
              <a:ext uri="{FF2B5EF4-FFF2-40B4-BE49-F238E27FC236}">
                <a16:creationId xmlns:a16="http://schemas.microsoft.com/office/drawing/2014/main" id="{9D982F2B-9AEB-48F0-8C6B-50855B8A34D1}"/>
              </a:ext>
            </a:extLst>
          </p:cNvPr>
          <p:cNvSpPr txBox="1"/>
          <p:nvPr/>
        </p:nvSpPr>
        <p:spPr>
          <a:xfrm>
            <a:off x="1121790" y="1201073"/>
            <a:ext cx="3048785" cy="461665"/>
          </a:xfrm>
          <a:prstGeom prst="rect">
            <a:avLst/>
          </a:prstGeom>
          <a:noFill/>
        </p:spPr>
        <p:txBody>
          <a:bodyPr wrap="square" rtlCol="0">
            <a:spAutoFit/>
          </a:bodyPr>
          <a:lstStyle/>
          <a:p>
            <a:r>
              <a:rPr lang="en-IN" sz="2400" dirty="0"/>
              <a:t>Training Corpora</a:t>
            </a:r>
          </a:p>
        </p:txBody>
      </p:sp>
      <p:sp>
        <p:nvSpPr>
          <p:cNvPr id="10" name="TextBox 9">
            <a:extLst>
              <a:ext uri="{FF2B5EF4-FFF2-40B4-BE49-F238E27FC236}">
                <a16:creationId xmlns:a16="http://schemas.microsoft.com/office/drawing/2014/main" id="{639B0E33-11E5-4369-BB1E-81C5A0E31C31}"/>
              </a:ext>
            </a:extLst>
          </p:cNvPr>
          <p:cNvSpPr txBox="1"/>
          <p:nvPr/>
        </p:nvSpPr>
        <p:spPr>
          <a:xfrm>
            <a:off x="1121790" y="2124403"/>
            <a:ext cx="4154863" cy="461665"/>
          </a:xfrm>
          <a:prstGeom prst="rect">
            <a:avLst/>
          </a:prstGeom>
          <a:noFill/>
        </p:spPr>
        <p:txBody>
          <a:bodyPr wrap="square">
            <a:spAutoFit/>
          </a:bodyPr>
          <a:lstStyle/>
          <a:p>
            <a:r>
              <a:rPr lang="en-IN" sz="2400" dirty="0"/>
              <a:t>Tokenization of each word</a:t>
            </a:r>
          </a:p>
        </p:txBody>
      </p:sp>
      <p:sp>
        <p:nvSpPr>
          <p:cNvPr id="12" name="TextBox 11">
            <a:extLst>
              <a:ext uri="{FF2B5EF4-FFF2-40B4-BE49-F238E27FC236}">
                <a16:creationId xmlns:a16="http://schemas.microsoft.com/office/drawing/2014/main" id="{7B85DBAF-66B1-40E3-825B-6720C1C82AD7}"/>
              </a:ext>
            </a:extLst>
          </p:cNvPr>
          <p:cNvSpPr txBox="1"/>
          <p:nvPr/>
        </p:nvSpPr>
        <p:spPr>
          <a:xfrm>
            <a:off x="1516929" y="2533063"/>
            <a:ext cx="4154863" cy="1477328"/>
          </a:xfrm>
          <a:prstGeom prst="rect">
            <a:avLst/>
          </a:prstGeom>
          <a:noFill/>
        </p:spPr>
        <p:txBody>
          <a:bodyPr wrap="square">
            <a:spAutoFit/>
          </a:bodyPr>
          <a:lstStyle/>
          <a:p>
            <a:r>
              <a:rPr lang="en-IN" dirty="0"/>
              <a:t>"hug": ["hug"] (score 0.071428)</a:t>
            </a:r>
          </a:p>
          <a:p>
            <a:r>
              <a:rPr lang="en-IN" dirty="0"/>
              <a:t>"pug": ["</a:t>
            </a:r>
            <a:r>
              <a:rPr lang="en-IN" dirty="0" err="1"/>
              <a:t>pu</a:t>
            </a:r>
            <a:r>
              <a:rPr lang="en-IN" dirty="0"/>
              <a:t>", "g"] (score 0.007710)</a:t>
            </a:r>
          </a:p>
          <a:p>
            <a:r>
              <a:rPr lang="en-IN" dirty="0"/>
              <a:t>"pun": ["</a:t>
            </a:r>
            <a:r>
              <a:rPr lang="en-IN" dirty="0" err="1"/>
              <a:t>pu</a:t>
            </a:r>
            <a:r>
              <a:rPr lang="en-IN" dirty="0"/>
              <a:t>", "n"] (score 0.006168)</a:t>
            </a:r>
          </a:p>
          <a:p>
            <a:r>
              <a:rPr lang="en-IN" dirty="0"/>
              <a:t>"bun": ["</a:t>
            </a:r>
            <a:r>
              <a:rPr lang="en-IN" dirty="0" err="1"/>
              <a:t>bu</a:t>
            </a:r>
            <a:r>
              <a:rPr lang="en-IN" dirty="0"/>
              <a:t>", "n"] (score 0.001451)</a:t>
            </a:r>
          </a:p>
          <a:p>
            <a:r>
              <a:rPr lang="en-IN" dirty="0"/>
              <a:t>"hugs": ["hug", "s"] (score 0.001701)</a:t>
            </a:r>
          </a:p>
        </p:txBody>
      </p:sp>
      <p:sp>
        <p:nvSpPr>
          <p:cNvPr id="14" name="TextBox 13">
            <a:extLst>
              <a:ext uri="{FF2B5EF4-FFF2-40B4-BE49-F238E27FC236}">
                <a16:creationId xmlns:a16="http://schemas.microsoft.com/office/drawing/2014/main" id="{1B20AAF6-5331-44E2-8D6F-1369AB84BAD3}"/>
              </a:ext>
            </a:extLst>
          </p:cNvPr>
          <p:cNvSpPr txBox="1"/>
          <p:nvPr/>
        </p:nvSpPr>
        <p:spPr>
          <a:xfrm>
            <a:off x="1520073" y="4649465"/>
            <a:ext cx="7303416" cy="646331"/>
          </a:xfrm>
          <a:prstGeom prst="rect">
            <a:avLst/>
          </a:prstGeom>
          <a:noFill/>
        </p:spPr>
        <p:txBody>
          <a:bodyPr wrap="square">
            <a:spAutoFit/>
          </a:bodyPr>
          <a:lstStyle/>
          <a:p>
            <a:r>
              <a:rPr lang="en-IN" dirty="0"/>
              <a:t>10 * (-log(0.071428)) + 5 * (-log(0.007710)) + 12 * (-log(0.006168)) + 4 * (-log(0.001451)) + 5 * (-log(0.001701)) = 169.8</a:t>
            </a:r>
          </a:p>
        </p:txBody>
      </p:sp>
      <p:sp>
        <p:nvSpPr>
          <p:cNvPr id="15" name="TextBox 14">
            <a:extLst>
              <a:ext uri="{FF2B5EF4-FFF2-40B4-BE49-F238E27FC236}">
                <a16:creationId xmlns:a16="http://schemas.microsoft.com/office/drawing/2014/main" id="{00FC6CDD-CC70-4225-A72D-6A1717D366FE}"/>
              </a:ext>
            </a:extLst>
          </p:cNvPr>
          <p:cNvSpPr txBox="1"/>
          <p:nvPr/>
        </p:nvSpPr>
        <p:spPr>
          <a:xfrm>
            <a:off x="1121789" y="4217469"/>
            <a:ext cx="5760792" cy="461665"/>
          </a:xfrm>
          <a:prstGeom prst="rect">
            <a:avLst/>
          </a:prstGeom>
          <a:noFill/>
        </p:spPr>
        <p:txBody>
          <a:bodyPr wrap="square">
            <a:spAutoFit/>
          </a:bodyPr>
          <a:lstStyle/>
          <a:p>
            <a:r>
              <a:rPr lang="en-IN" sz="2400" dirty="0"/>
              <a:t>(negative log) Likelihood of the corpus</a:t>
            </a:r>
          </a:p>
        </p:txBody>
      </p:sp>
    </p:spTree>
    <p:extLst>
      <p:ext uri="{BB962C8B-B14F-4D97-AF65-F5344CB8AC3E}">
        <p14:creationId xmlns:p14="http://schemas.microsoft.com/office/powerpoint/2010/main" val="1808027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4" grpId="0"/>
      <p:bldP spid="1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76591-04E6-4F7A-A7CD-33CC83DFC7A1}"/>
              </a:ext>
            </a:extLst>
          </p:cNvPr>
          <p:cNvSpPr>
            <a:spLocks noGrp="1"/>
          </p:cNvSpPr>
          <p:nvPr>
            <p:ph type="title"/>
          </p:nvPr>
        </p:nvSpPr>
        <p:spPr/>
        <p:txBody>
          <a:bodyPr/>
          <a:lstStyle/>
          <a:p>
            <a:r>
              <a:rPr lang="en-IN" dirty="0"/>
              <a:t>Unigram Tokenizer: Running Example</a:t>
            </a:r>
          </a:p>
        </p:txBody>
      </p:sp>
      <p:sp>
        <p:nvSpPr>
          <p:cNvPr id="4" name="Slide Number Placeholder 3">
            <a:extLst>
              <a:ext uri="{FF2B5EF4-FFF2-40B4-BE49-F238E27FC236}">
                <a16:creationId xmlns:a16="http://schemas.microsoft.com/office/drawing/2014/main" id="{9DBB92C5-2572-4A22-8EB3-7B1683538E3D}"/>
              </a:ext>
            </a:extLst>
          </p:cNvPr>
          <p:cNvSpPr>
            <a:spLocks noGrp="1"/>
          </p:cNvSpPr>
          <p:nvPr>
            <p:ph type="sldNum" sz="quarter" idx="12"/>
          </p:nvPr>
        </p:nvSpPr>
        <p:spPr/>
        <p:txBody>
          <a:bodyPr/>
          <a:lstStyle/>
          <a:p>
            <a:fld id="{FF2BD96E-3838-45D2-9031-D3AF67C920A5}" type="slidenum">
              <a:rPr lang="en-US" smtClean="0"/>
              <a:t>30</a:t>
            </a:fld>
            <a:endParaRPr lang="en-US"/>
          </a:p>
        </p:txBody>
      </p:sp>
      <p:sp>
        <p:nvSpPr>
          <p:cNvPr id="5" name="TextBox 4">
            <a:extLst>
              <a:ext uri="{FF2B5EF4-FFF2-40B4-BE49-F238E27FC236}">
                <a16:creationId xmlns:a16="http://schemas.microsoft.com/office/drawing/2014/main" id="{022FA074-9322-429E-946E-3D8ADC3272B5}"/>
              </a:ext>
            </a:extLst>
          </p:cNvPr>
          <p:cNvSpPr txBox="1"/>
          <p:nvPr/>
        </p:nvSpPr>
        <p:spPr>
          <a:xfrm>
            <a:off x="952107" y="1086479"/>
            <a:ext cx="7395480" cy="461665"/>
          </a:xfrm>
          <a:prstGeom prst="rect">
            <a:avLst/>
          </a:prstGeom>
          <a:noFill/>
        </p:spPr>
        <p:txBody>
          <a:bodyPr wrap="square">
            <a:spAutoFit/>
          </a:bodyPr>
          <a:lstStyle/>
          <a:p>
            <a:r>
              <a:rPr lang="en-IN" sz="2400" dirty="0"/>
              <a:t>Compute loss for each </a:t>
            </a:r>
            <a:r>
              <a:rPr lang="en-IN" sz="2400" dirty="0" err="1"/>
              <a:t>subword</a:t>
            </a:r>
            <a:r>
              <a:rPr lang="en-IN" sz="2400" dirty="0"/>
              <a:t> removal decision</a:t>
            </a:r>
          </a:p>
        </p:txBody>
      </p:sp>
      <p:sp>
        <p:nvSpPr>
          <p:cNvPr id="6" name="TextBox 5">
            <a:extLst>
              <a:ext uri="{FF2B5EF4-FFF2-40B4-BE49-F238E27FC236}">
                <a16:creationId xmlns:a16="http://schemas.microsoft.com/office/drawing/2014/main" id="{EB3AF0BA-D54D-4EDB-A0D8-90ED17F0F6B6}"/>
              </a:ext>
            </a:extLst>
          </p:cNvPr>
          <p:cNvSpPr txBox="1"/>
          <p:nvPr/>
        </p:nvSpPr>
        <p:spPr>
          <a:xfrm>
            <a:off x="1328394" y="2134655"/>
            <a:ext cx="1895574" cy="369332"/>
          </a:xfrm>
          <a:prstGeom prst="rect">
            <a:avLst/>
          </a:prstGeom>
          <a:noFill/>
        </p:spPr>
        <p:txBody>
          <a:bodyPr wrap="square">
            <a:spAutoFit/>
          </a:bodyPr>
          <a:lstStyle/>
          <a:p>
            <a:r>
              <a:rPr lang="en-IN" dirty="0"/>
              <a:t>Removing ‘</a:t>
            </a:r>
            <a:r>
              <a:rPr lang="en-IN" dirty="0" err="1"/>
              <a:t>pu</a:t>
            </a:r>
            <a:r>
              <a:rPr lang="en-IN" dirty="0"/>
              <a:t>’: </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FB7F822-870C-482F-9871-A7CFAE3F2EB2}"/>
                  </a:ext>
                </a:extLst>
              </p:cNvPr>
              <p:cNvSpPr txBox="1"/>
              <p:nvPr/>
            </p:nvSpPr>
            <p:spPr>
              <a:xfrm>
                <a:off x="3223968" y="1857656"/>
                <a:ext cx="2969442" cy="646331"/>
              </a:xfrm>
              <a:prstGeom prst="rect">
                <a:avLst/>
              </a:prstGeom>
              <a:noFill/>
            </p:spPr>
            <p:txBody>
              <a:bodyPr wrap="square">
                <a:spAutoFit/>
              </a:bodyPr>
              <a:lstStyle/>
              <a:p>
                <a14:m>
                  <m:oMath xmlns:m="http://schemas.openxmlformats.org/officeDocument/2006/math">
                    <m:r>
                      <a:rPr lang="en-IN" b="0" i="1" smtClean="0">
                        <a:latin typeface="Cambria Math" panose="02040503050406030204" pitchFamily="18" charset="0"/>
                      </a:rPr>
                      <m:t>𝑃</m:t>
                    </m:r>
                    <m:r>
                      <a:rPr lang="en-IN" b="0" i="1" smtClean="0">
                        <a:latin typeface="Cambria Math" panose="02040503050406030204" pitchFamily="18" charset="0"/>
                      </a:rPr>
                      <m:t>(</m:t>
                    </m:r>
                    <m:sSup>
                      <m:sSupPr>
                        <m:ctrlPr>
                          <a:rPr lang="en-IN" b="0" i="1" smtClean="0">
                            <a:latin typeface="Cambria Math" panose="02040503050406030204" pitchFamily="18" charset="0"/>
                          </a:rPr>
                        </m:ctrlPr>
                      </m:sSupPr>
                      <m:e>
                        <m:r>
                          <a:rPr lang="en-IN" b="0" i="1" smtClean="0">
                            <a:latin typeface="Cambria Math" panose="02040503050406030204" pitchFamily="18" charset="0"/>
                          </a:rPr>
                          <m:t>[</m:t>
                        </m:r>
                      </m:e>
                      <m:sup>
                        <m:r>
                          <a:rPr lang="en-IN" b="0" i="1" smtClean="0">
                            <a:latin typeface="Cambria Math" panose="02040503050406030204" pitchFamily="18" charset="0"/>
                          </a:rPr>
                          <m:t>′</m:t>
                        </m:r>
                      </m:sup>
                    </m:sSup>
                    <m:sSup>
                      <m:sSupPr>
                        <m:ctrlPr>
                          <a:rPr lang="en-IN" b="0" i="1" smtClean="0">
                            <a:latin typeface="Cambria Math" panose="02040503050406030204" pitchFamily="18" charset="0"/>
                          </a:rPr>
                        </m:ctrlPr>
                      </m:sSupPr>
                      <m:e>
                        <m:r>
                          <a:rPr lang="en-IN" b="0" i="1" smtClean="0">
                            <a:latin typeface="Cambria Math" panose="02040503050406030204" pitchFamily="18" charset="0"/>
                          </a:rPr>
                          <m:t>𝑝</m:t>
                        </m:r>
                      </m:e>
                      <m:sup>
                        <m:r>
                          <a:rPr lang="en-IN" b="0" i="1" smtClean="0">
                            <a:latin typeface="Cambria Math" panose="02040503050406030204" pitchFamily="18" charset="0"/>
                          </a:rPr>
                          <m:t>′</m:t>
                        </m:r>
                      </m:sup>
                    </m:sSup>
                    <m:sSup>
                      <m:sSupPr>
                        <m:ctrlPr>
                          <a:rPr lang="en-IN" b="0" i="1" smtClean="0">
                            <a:latin typeface="Cambria Math" panose="02040503050406030204" pitchFamily="18" charset="0"/>
                          </a:rPr>
                        </m:ctrlPr>
                      </m:sSupPr>
                      <m:e>
                        <m:r>
                          <a:rPr lang="en-IN" b="0" i="1" smtClean="0">
                            <a:latin typeface="Cambria Math" panose="02040503050406030204" pitchFamily="18" charset="0"/>
                          </a:rPr>
                          <m:t>,</m:t>
                        </m:r>
                      </m:e>
                      <m:sup>
                        <m:r>
                          <a:rPr lang="en-IN" b="0" i="1" smtClean="0">
                            <a:latin typeface="Cambria Math" panose="02040503050406030204" pitchFamily="18" charset="0"/>
                          </a:rPr>
                          <m:t>′</m:t>
                        </m:r>
                      </m:sup>
                    </m:sSup>
                    <m:r>
                      <a:rPr lang="en-IN" b="0" i="1" smtClean="0">
                        <a:latin typeface="Cambria Math" panose="02040503050406030204" pitchFamily="18" charset="0"/>
                      </a:rPr>
                      <m:t>𝑢</m:t>
                    </m:r>
                    <m:r>
                      <a:rPr lang="en-IN" b="0" i="1" smtClean="0">
                        <a:latin typeface="Cambria Math" panose="02040503050406030204" pitchFamily="18" charset="0"/>
                      </a:rPr>
                      <m:t>′, ′</m:t>
                    </m:r>
                    <m:r>
                      <a:rPr lang="en-IN" b="0" i="1" smtClean="0">
                        <a:latin typeface="Cambria Math" panose="02040503050406030204" pitchFamily="18" charset="0"/>
                      </a:rPr>
                      <m:t>𝑔</m:t>
                    </m:r>
                    <m:r>
                      <a:rPr lang="en-IN" b="0" i="1" smtClean="0">
                        <a:latin typeface="Cambria Math" panose="02040503050406030204" pitchFamily="18" charset="0"/>
                      </a:rPr>
                      <m:t>′])=0.00117</m:t>
                    </m:r>
                  </m:oMath>
                </a14:m>
                <a:r>
                  <a:rPr lang="en-IN" dirty="0"/>
                  <a:t> </a:t>
                </a:r>
              </a:p>
              <a:p>
                <a14:m>
                  <m:oMath xmlns:m="http://schemas.openxmlformats.org/officeDocument/2006/math">
                    <m:r>
                      <a:rPr lang="en-IN" b="0" i="1" smtClean="0">
                        <a:latin typeface="Cambria Math" panose="02040503050406030204" pitchFamily="18" charset="0"/>
                      </a:rPr>
                      <m:t>𝑃</m:t>
                    </m:r>
                    <m:r>
                      <a:rPr lang="en-IN" b="0" i="1" smtClean="0">
                        <a:latin typeface="Cambria Math" panose="02040503050406030204" pitchFamily="18" charset="0"/>
                      </a:rPr>
                      <m:t>(</m:t>
                    </m:r>
                    <m:sSup>
                      <m:sSupPr>
                        <m:ctrlPr>
                          <a:rPr lang="en-IN" b="0" i="1" smtClean="0">
                            <a:latin typeface="Cambria Math" panose="02040503050406030204" pitchFamily="18" charset="0"/>
                          </a:rPr>
                        </m:ctrlPr>
                      </m:sSupPr>
                      <m:e>
                        <m:r>
                          <a:rPr lang="en-IN" b="0" i="1" smtClean="0">
                            <a:latin typeface="Cambria Math" panose="02040503050406030204" pitchFamily="18" charset="0"/>
                          </a:rPr>
                          <m:t>[</m:t>
                        </m:r>
                      </m:e>
                      <m:sup>
                        <m:r>
                          <a:rPr lang="en-IN" b="0" i="1" smtClean="0">
                            <a:latin typeface="Cambria Math" panose="02040503050406030204" pitchFamily="18" charset="0"/>
                          </a:rPr>
                          <m:t>′</m:t>
                        </m:r>
                      </m:sup>
                    </m:sSup>
                    <m:sSup>
                      <m:sSupPr>
                        <m:ctrlPr>
                          <a:rPr lang="en-IN" b="0" i="1" smtClean="0">
                            <a:latin typeface="Cambria Math" panose="02040503050406030204" pitchFamily="18" charset="0"/>
                          </a:rPr>
                        </m:ctrlPr>
                      </m:sSupPr>
                      <m:e>
                        <m:r>
                          <a:rPr lang="en-IN" b="0" i="1" smtClean="0">
                            <a:latin typeface="Cambria Math" panose="02040503050406030204" pitchFamily="18" charset="0"/>
                          </a:rPr>
                          <m:t>𝑝</m:t>
                        </m:r>
                      </m:e>
                      <m:sup>
                        <m:r>
                          <a:rPr lang="en-IN" b="0" i="1" smtClean="0">
                            <a:latin typeface="Cambria Math" panose="02040503050406030204" pitchFamily="18" charset="0"/>
                          </a:rPr>
                          <m:t>′</m:t>
                        </m:r>
                      </m:sup>
                    </m:sSup>
                    <m:r>
                      <a:rPr lang="en-IN" b="0" i="1" smtClean="0">
                        <a:latin typeface="Cambria Math" panose="02040503050406030204" pitchFamily="18" charset="0"/>
                      </a:rPr>
                      <m:t>,′</m:t>
                    </m:r>
                    <m:r>
                      <a:rPr lang="en-IN" b="0" i="1" smtClean="0">
                        <a:latin typeface="Cambria Math" panose="02040503050406030204" pitchFamily="18" charset="0"/>
                      </a:rPr>
                      <m:t>𝑢𝑔</m:t>
                    </m:r>
                    <m:r>
                      <a:rPr lang="en-IN" b="0" i="1" smtClean="0">
                        <a:latin typeface="Cambria Math" panose="02040503050406030204" pitchFamily="18" charset="0"/>
                      </a:rPr>
                      <m:t>′])=0.00771</m:t>
                    </m:r>
                  </m:oMath>
                </a14:m>
                <a:r>
                  <a:rPr lang="en-IN" dirty="0"/>
                  <a:t> </a:t>
                </a:r>
              </a:p>
            </p:txBody>
          </p:sp>
        </mc:Choice>
        <mc:Fallback xmlns="">
          <p:sp>
            <p:nvSpPr>
              <p:cNvPr id="8" name="TextBox 7">
                <a:extLst>
                  <a:ext uri="{FF2B5EF4-FFF2-40B4-BE49-F238E27FC236}">
                    <a16:creationId xmlns:a16="http://schemas.microsoft.com/office/drawing/2014/main" id="{CFB7F822-870C-482F-9871-A7CFAE3F2EB2}"/>
                  </a:ext>
                </a:extLst>
              </p:cNvPr>
              <p:cNvSpPr txBox="1">
                <a:spLocks noRot="1" noChangeAspect="1" noMove="1" noResize="1" noEditPoints="1" noAdjustHandles="1" noChangeArrowheads="1" noChangeShapeType="1" noTextEdit="1"/>
              </p:cNvSpPr>
              <p:nvPr/>
            </p:nvSpPr>
            <p:spPr>
              <a:xfrm>
                <a:off x="3223968" y="1857656"/>
                <a:ext cx="2969442" cy="646331"/>
              </a:xfrm>
              <a:prstGeom prst="rect">
                <a:avLst/>
              </a:prstGeom>
              <a:blipFill>
                <a:blip r:embed="rId2"/>
                <a:stretch>
                  <a:fillRect b="-9434"/>
                </a:stretch>
              </a:blipFill>
            </p:spPr>
            <p:txBody>
              <a:bodyPr/>
              <a:lstStyle/>
              <a:p>
                <a:r>
                  <a:rPr lang="en-IN">
                    <a:noFill/>
                  </a:rPr>
                  <a:t> </a:t>
                </a:r>
              </a:p>
            </p:txBody>
          </p:sp>
        </mc:Fallback>
      </mc:AlternateContent>
      <p:sp>
        <p:nvSpPr>
          <p:cNvPr id="9" name="TextBox 8">
            <a:extLst>
              <a:ext uri="{FF2B5EF4-FFF2-40B4-BE49-F238E27FC236}">
                <a16:creationId xmlns:a16="http://schemas.microsoft.com/office/drawing/2014/main" id="{246DACC6-999A-4A73-9917-9DF7FEBFC014}"/>
              </a:ext>
            </a:extLst>
          </p:cNvPr>
          <p:cNvSpPr txBox="1"/>
          <p:nvPr/>
        </p:nvSpPr>
        <p:spPr>
          <a:xfrm>
            <a:off x="6794790" y="1848691"/>
            <a:ext cx="5077415" cy="646331"/>
          </a:xfrm>
          <a:prstGeom prst="rect">
            <a:avLst/>
          </a:prstGeom>
          <a:noFill/>
        </p:spPr>
        <p:txBody>
          <a:bodyPr wrap="square">
            <a:spAutoFit/>
          </a:bodyPr>
          <a:lstStyle/>
          <a:p>
            <a:r>
              <a:rPr lang="en-IN" dirty="0"/>
              <a:t>Change in likelihood = - 5 * (-log(0.007710))   + 5 * (-log(0.007710)) =0</a:t>
            </a:r>
          </a:p>
        </p:txBody>
      </p:sp>
      <p:sp>
        <p:nvSpPr>
          <p:cNvPr id="10" name="TextBox 9">
            <a:extLst>
              <a:ext uri="{FF2B5EF4-FFF2-40B4-BE49-F238E27FC236}">
                <a16:creationId xmlns:a16="http://schemas.microsoft.com/office/drawing/2014/main" id="{85BE782F-AD7E-4DA1-B3FE-AD74C8B8653A}"/>
              </a:ext>
            </a:extLst>
          </p:cNvPr>
          <p:cNvSpPr txBox="1"/>
          <p:nvPr/>
        </p:nvSpPr>
        <p:spPr>
          <a:xfrm>
            <a:off x="6794790" y="2534558"/>
            <a:ext cx="3317265" cy="369332"/>
          </a:xfrm>
          <a:prstGeom prst="rect">
            <a:avLst/>
          </a:prstGeom>
          <a:noFill/>
        </p:spPr>
        <p:txBody>
          <a:bodyPr wrap="square">
            <a:spAutoFit/>
          </a:bodyPr>
          <a:lstStyle/>
          <a:p>
            <a:r>
              <a:rPr lang="en-IN" dirty="0">
                <a:solidFill>
                  <a:srgbClr val="C00000"/>
                </a:solidFill>
              </a:rPr>
              <a:t>Removing ‘</a:t>
            </a:r>
            <a:r>
              <a:rPr lang="en-IN" dirty="0" err="1">
                <a:solidFill>
                  <a:srgbClr val="C00000"/>
                </a:solidFill>
              </a:rPr>
              <a:t>pu</a:t>
            </a:r>
            <a:r>
              <a:rPr lang="en-IN" dirty="0">
                <a:solidFill>
                  <a:srgbClr val="C00000"/>
                </a:solidFill>
              </a:rPr>
              <a:t>’ has no effect </a:t>
            </a:r>
          </a:p>
        </p:txBody>
      </p:sp>
      <p:sp>
        <p:nvSpPr>
          <p:cNvPr id="11" name="TextBox 10">
            <a:extLst>
              <a:ext uri="{FF2B5EF4-FFF2-40B4-BE49-F238E27FC236}">
                <a16:creationId xmlns:a16="http://schemas.microsoft.com/office/drawing/2014/main" id="{A8F914AF-0451-4C09-9AF4-CB83F9345D81}"/>
              </a:ext>
            </a:extLst>
          </p:cNvPr>
          <p:cNvSpPr txBox="1"/>
          <p:nvPr/>
        </p:nvSpPr>
        <p:spPr>
          <a:xfrm>
            <a:off x="1235697" y="3550247"/>
            <a:ext cx="2110818" cy="369332"/>
          </a:xfrm>
          <a:prstGeom prst="rect">
            <a:avLst/>
          </a:prstGeom>
          <a:noFill/>
        </p:spPr>
        <p:txBody>
          <a:bodyPr wrap="square">
            <a:spAutoFit/>
          </a:bodyPr>
          <a:lstStyle/>
          <a:p>
            <a:r>
              <a:rPr lang="en-IN" dirty="0"/>
              <a:t>Removing ‘hug’: </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A8B585F-B25A-48CC-B34E-4AB9D3305408}"/>
                  </a:ext>
                </a:extLst>
              </p:cNvPr>
              <p:cNvSpPr txBox="1"/>
              <p:nvPr/>
            </p:nvSpPr>
            <p:spPr>
              <a:xfrm>
                <a:off x="3277387" y="3273248"/>
                <a:ext cx="2969442" cy="946606"/>
              </a:xfrm>
              <a:prstGeom prst="rect">
                <a:avLst/>
              </a:prstGeom>
              <a:noFill/>
            </p:spPr>
            <p:txBody>
              <a:bodyPr wrap="square">
                <a:spAutoFit/>
              </a:bodyPr>
              <a:lstStyle/>
              <a:p>
                <a14:m>
                  <m:oMath xmlns:m="http://schemas.openxmlformats.org/officeDocument/2006/math">
                    <m:r>
                      <a:rPr lang="en-IN" b="0" i="1" smtClean="0">
                        <a:latin typeface="Cambria Math" panose="02040503050406030204" pitchFamily="18" charset="0"/>
                      </a:rPr>
                      <m:t>𝑃</m:t>
                    </m:r>
                    <m:r>
                      <a:rPr lang="en-IN" b="0" i="1" smtClean="0">
                        <a:latin typeface="Cambria Math" panose="02040503050406030204" pitchFamily="18" charset="0"/>
                      </a:rPr>
                      <m:t>(</m:t>
                    </m:r>
                    <m:sSup>
                      <m:sSupPr>
                        <m:ctrlPr>
                          <a:rPr lang="en-IN" b="0" i="1" smtClean="0">
                            <a:latin typeface="Cambria Math" panose="02040503050406030204" pitchFamily="18" charset="0"/>
                          </a:rPr>
                        </m:ctrlPr>
                      </m:sSupPr>
                      <m:e>
                        <m:r>
                          <a:rPr lang="en-IN" b="0" i="1" smtClean="0">
                            <a:latin typeface="Cambria Math" panose="02040503050406030204" pitchFamily="18" charset="0"/>
                          </a:rPr>
                          <m:t>[</m:t>
                        </m:r>
                      </m:e>
                      <m:sup>
                        <m:r>
                          <a:rPr lang="en-IN" b="0" i="1" smtClean="0">
                            <a:latin typeface="Cambria Math" panose="02040503050406030204" pitchFamily="18" charset="0"/>
                          </a:rPr>
                          <m:t>′</m:t>
                        </m:r>
                      </m:sup>
                    </m:sSup>
                    <m:sSup>
                      <m:sSupPr>
                        <m:ctrlPr>
                          <a:rPr lang="en-IN" b="0" i="1" smtClean="0">
                            <a:latin typeface="Cambria Math" panose="02040503050406030204" pitchFamily="18" charset="0"/>
                          </a:rPr>
                        </m:ctrlPr>
                      </m:sSupPr>
                      <m:e>
                        <m:r>
                          <a:rPr lang="en-IN" b="0" i="1" smtClean="0">
                            <a:latin typeface="Cambria Math" panose="02040503050406030204" pitchFamily="18" charset="0"/>
                          </a:rPr>
                          <m:t>h</m:t>
                        </m:r>
                      </m:e>
                      <m:sup>
                        <m:r>
                          <a:rPr lang="en-IN" b="0" i="1" smtClean="0">
                            <a:latin typeface="Cambria Math" panose="02040503050406030204" pitchFamily="18" charset="0"/>
                          </a:rPr>
                          <m:t>′</m:t>
                        </m:r>
                      </m:sup>
                    </m:sSup>
                    <m:sSup>
                      <m:sSupPr>
                        <m:ctrlPr>
                          <a:rPr lang="en-IN" b="0" i="1" smtClean="0">
                            <a:latin typeface="Cambria Math" panose="02040503050406030204" pitchFamily="18" charset="0"/>
                          </a:rPr>
                        </m:ctrlPr>
                      </m:sSupPr>
                      <m:e>
                        <m:r>
                          <a:rPr lang="en-IN" b="0" i="1" smtClean="0">
                            <a:latin typeface="Cambria Math" panose="02040503050406030204" pitchFamily="18" charset="0"/>
                          </a:rPr>
                          <m:t>,</m:t>
                        </m:r>
                      </m:e>
                      <m:sup>
                        <m:r>
                          <a:rPr lang="en-IN" b="0" i="1" smtClean="0">
                            <a:latin typeface="Cambria Math" panose="02040503050406030204" pitchFamily="18" charset="0"/>
                          </a:rPr>
                          <m:t>′</m:t>
                        </m:r>
                      </m:sup>
                    </m:sSup>
                    <m:r>
                      <a:rPr lang="en-IN" b="0" i="1" smtClean="0">
                        <a:latin typeface="Cambria Math" panose="02040503050406030204" pitchFamily="18" charset="0"/>
                      </a:rPr>
                      <m:t>𝑢</m:t>
                    </m:r>
                    <m:r>
                      <a:rPr lang="en-IN" b="0" i="1" smtClean="0">
                        <a:latin typeface="Cambria Math" panose="02040503050406030204" pitchFamily="18" charset="0"/>
                      </a:rPr>
                      <m:t>′, ′</m:t>
                    </m:r>
                    <m:r>
                      <a:rPr lang="en-IN" b="0" i="1" smtClean="0">
                        <a:latin typeface="Cambria Math" panose="02040503050406030204" pitchFamily="18" charset="0"/>
                      </a:rPr>
                      <m:t>𝑔</m:t>
                    </m:r>
                    <m:r>
                      <a:rPr lang="en-IN" b="0" i="1" smtClean="0">
                        <a:latin typeface="Cambria Math" panose="02040503050406030204" pitchFamily="18" charset="0"/>
                      </a:rPr>
                      <m:t>′])=0.00117</m:t>
                    </m:r>
                  </m:oMath>
                </a14:m>
                <a:r>
                  <a:rPr lang="en-IN" dirty="0"/>
                  <a:t> </a:t>
                </a:r>
              </a:p>
              <a:p>
                <a14:m>
                  <m:oMath xmlns:m="http://schemas.openxmlformats.org/officeDocument/2006/math">
                    <m:r>
                      <a:rPr lang="en-IN" b="0" i="1" smtClean="0">
                        <a:latin typeface="Cambria Math" panose="02040503050406030204" pitchFamily="18" charset="0"/>
                      </a:rPr>
                      <m:t>𝑃</m:t>
                    </m:r>
                    <m:r>
                      <a:rPr lang="en-IN" b="0" i="1" smtClean="0">
                        <a:latin typeface="Cambria Math" panose="02040503050406030204" pitchFamily="18" charset="0"/>
                      </a:rPr>
                      <m:t>(</m:t>
                    </m:r>
                    <m:sSup>
                      <m:sSupPr>
                        <m:ctrlPr>
                          <a:rPr lang="en-IN" b="0" i="1" smtClean="0">
                            <a:latin typeface="Cambria Math" panose="02040503050406030204" pitchFamily="18" charset="0"/>
                          </a:rPr>
                        </m:ctrlPr>
                      </m:sSupPr>
                      <m:e>
                        <m:r>
                          <a:rPr lang="en-IN" b="0" i="1" smtClean="0">
                            <a:latin typeface="Cambria Math" panose="02040503050406030204" pitchFamily="18" charset="0"/>
                          </a:rPr>
                          <m:t>[</m:t>
                        </m:r>
                      </m:e>
                      <m:sup>
                        <m:r>
                          <a:rPr lang="en-IN" b="0" i="1" smtClean="0">
                            <a:latin typeface="Cambria Math" panose="02040503050406030204" pitchFamily="18" charset="0"/>
                          </a:rPr>
                          <m:t>′</m:t>
                        </m:r>
                      </m:sup>
                    </m:sSup>
                    <m:sSup>
                      <m:sSupPr>
                        <m:ctrlPr>
                          <a:rPr lang="en-IN" b="0" i="1" smtClean="0">
                            <a:latin typeface="Cambria Math" panose="02040503050406030204" pitchFamily="18" charset="0"/>
                          </a:rPr>
                        </m:ctrlPr>
                      </m:sSupPr>
                      <m:e>
                        <m:r>
                          <a:rPr lang="en-IN" b="0" i="1" smtClean="0">
                            <a:latin typeface="Cambria Math" panose="02040503050406030204" pitchFamily="18" charset="0"/>
                          </a:rPr>
                          <m:t>h</m:t>
                        </m:r>
                      </m:e>
                      <m:sup>
                        <m:r>
                          <a:rPr lang="en-IN" b="0" i="1" smtClean="0">
                            <a:latin typeface="Cambria Math" panose="02040503050406030204" pitchFamily="18" charset="0"/>
                          </a:rPr>
                          <m:t>′</m:t>
                        </m:r>
                      </m:sup>
                    </m:sSup>
                    <m:r>
                      <a:rPr lang="en-IN" b="0" i="1" smtClean="0">
                        <a:latin typeface="Cambria Math" panose="02040503050406030204" pitchFamily="18" charset="0"/>
                      </a:rPr>
                      <m:t>,′</m:t>
                    </m:r>
                    <m:r>
                      <a:rPr lang="en-IN" b="0" i="1" smtClean="0">
                        <a:latin typeface="Cambria Math" panose="02040503050406030204" pitchFamily="18" charset="0"/>
                      </a:rPr>
                      <m:t>𝑢𝑔</m:t>
                    </m:r>
                    <m:r>
                      <a:rPr lang="en-IN" b="0" i="1" smtClean="0">
                        <a:latin typeface="Cambria Math" panose="02040503050406030204" pitchFamily="18" charset="0"/>
                      </a:rPr>
                      <m:t>′])=0.006802</m:t>
                    </m:r>
                  </m:oMath>
                </a14:m>
                <a:r>
                  <a:rPr lang="en-IN" dirty="0"/>
                  <a:t> </a:t>
                </a:r>
              </a:p>
              <a:p>
                <a14:m>
                  <m:oMath xmlns:m="http://schemas.openxmlformats.org/officeDocument/2006/math">
                    <m:r>
                      <a:rPr lang="en-IN" b="0" i="1" smtClean="0">
                        <a:latin typeface="Cambria Math" panose="02040503050406030204" pitchFamily="18" charset="0"/>
                      </a:rPr>
                      <m:t>𝑃</m:t>
                    </m:r>
                    <m:r>
                      <a:rPr lang="en-IN" b="0" i="1" smtClean="0">
                        <a:latin typeface="Cambria Math" panose="02040503050406030204" pitchFamily="18" charset="0"/>
                      </a:rPr>
                      <m:t>(</m:t>
                    </m:r>
                    <m:sSup>
                      <m:sSupPr>
                        <m:ctrlPr>
                          <a:rPr lang="en-IN" b="0" i="1" smtClean="0">
                            <a:latin typeface="Cambria Math" panose="02040503050406030204" pitchFamily="18" charset="0"/>
                          </a:rPr>
                        </m:ctrlPr>
                      </m:sSupPr>
                      <m:e>
                        <m:r>
                          <a:rPr lang="en-IN" b="0" i="1" smtClean="0">
                            <a:latin typeface="Cambria Math" panose="02040503050406030204" pitchFamily="18" charset="0"/>
                          </a:rPr>
                          <m:t>[</m:t>
                        </m:r>
                      </m:e>
                      <m:sup>
                        <m:r>
                          <a:rPr lang="en-IN" b="0" i="1" smtClean="0">
                            <a:latin typeface="Cambria Math" panose="02040503050406030204" pitchFamily="18" charset="0"/>
                          </a:rPr>
                          <m:t>′</m:t>
                        </m:r>
                      </m:sup>
                    </m:sSup>
                    <m:sSup>
                      <m:sSupPr>
                        <m:ctrlPr>
                          <a:rPr lang="en-IN" b="0" i="1" smtClean="0">
                            <a:latin typeface="Cambria Math" panose="02040503050406030204" pitchFamily="18" charset="0"/>
                          </a:rPr>
                        </m:ctrlPr>
                      </m:sSupPr>
                      <m:e>
                        <m:r>
                          <a:rPr lang="en-IN" b="0" i="1" smtClean="0">
                            <a:latin typeface="Cambria Math" panose="02040503050406030204" pitchFamily="18" charset="0"/>
                          </a:rPr>
                          <m:t>h𝑢</m:t>
                        </m:r>
                      </m:e>
                      <m:sup>
                        <m:r>
                          <a:rPr lang="en-IN" b="0" i="1" smtClean="0">
                            <a:latin typeface="Cambria Math" panose="02040503050406030204" pitchFamily="18" charset="0"/>
                          </a:rPr>
                          <m:t>′</m:t>
                        </m:r>
                      </m:sup>
                    </m:sSup>
                    <m:r>
                      <a:rPr lang="en-IN" b="0" i="1" smtClean="0">
                        <a:latin typeface="Cambria Math" panose="02040503050406030204" pitchFamily="18" charset="0"/>
                      </a:rPr>
                      <m:t>,′</m:t>
                    </m:r>
                    <m:r>
                      <a:rPr lang="en-IN" b="0" i="1" smtClean="0">
                        <a:latin typeface="Cambria Math" panose="02040503050406030204" pitchFamily="18" charset="0"/>
                      </a:rPr>
                      <m:t>𝑔</m:t>
                    </m:r>
                    <m:r>
                      <a:rPr lang="en-IN" b="0" i="1" smtClean="0">
                        <a:latin typeface="Cambria Math" panose="02040503050406030204" pitchFamily="18" charset="0"/>
                      </a:rPr>
                      <m:t>′])=0.00771</m:t>
                    </m:r>
                  </m:oMath>
                </a14:m>
                <a:r>
                  <a:rPr lang="en-IN" dirty="0"/>
                  <a:t> </a:t>
                </a:r>
              </a:p>
            </p:txBody>
          </p:sp>
        </mc:Choice>
        <mc:Fallback xmlns="">
          <p:sp>
            <p:nvSpPr>
              <p:cNvPr id="12" name="TextBox 11">
                <a:extLst>
                  <a:ext uri="{FF2B5EF4-FFF2-40B4-BE49-F238E27FC236}">
                    <a16:creationId xmlns:a16="http://schemas.microsoft.com/office/drawing/2014/main" id="{6A8B585F-B25A-48CC-B34E-4AB9D3305408}"/>
                  </a:ext>
                </a:extLst>
              </p:cNvPr>
              <p:cNvSpPr txBox="1">
                <a:spLocks noRot="1" noChangeAspect="1" noMove="1" noResize="1" noEditPoints="1" noAdjustHandles="1" noChangeArrowheads="1" noChangeShapeType="1" noTextEdit="1"/>
              </p:cNvSpPr>
              <p:nvPr/>
            </p:nvSpPr>
            <p:spPr>
              <a:xfrm>
                <a:off x="3277387" y="3273248"/>
                <a:ext cx="2969442" cy="946606"/>
              </a:xfrm>
              <a:prstGeom prst="rect">
                <a:avLst/>
              </a:prstGeom>
              <a:blipFill>
                <a:blip r:embed="rId3"/>
                <a:stretch>
                  <a:fillRect b="-3871"/>
                </a:stretch>
              </a:blipFill>
            </p:spPr>
            <p:txBody>
              <a:bodyPr/>
              <a:lstStyle/>
              <a:p>
                <a:r>
                  <a:rPr lang="en-IN">
                    <a:noFill/>
                  </a:rPr>
                  <a:t> </a:t>
                </a:r>
              </a:p>
            </p:txBody>
          </p:sp>
        </mc:Fallback>
      </mc:AlternateContent>
      <p:sp>
        <p:nvSpPr>
          <p:cNvPr id="14" name="TextBox 13">
            <a:extLst>
              <a:ext uri="{FF2B5EF4-FFF2-40B4-BE49-F238E27FC236}">
                <a16:creationId xmlns:a16="http://schemas.microsoft.com/office/drawing/2014/main" id="{35F97F1B-6CFC-482A-9C51-84C05BB7A2E0}"/>
              </a:ext>
            </a:extLst>
          </p:cNvPr>
          <p:cNvSpPr txBox="1"/>
          <p:nvPr/>
        </p:nvSpPr>
        <p:spPr>
          <a:xfrm>
            <a:off x="7542227" y="3639828"/>
            <a:ext cx="3044073" cy="923330"/>
          </a:xfrm>
          <a:prstGeom prst="rect">
            <a:avLst/>
          </a:prstGeom>
          <a:noFill/>
        </p:spPr>
        <p:txBody>
          <a:bodyPr wrap="square">
            <a:spAutoFit/>
          </a:bodyPr>
          <a:lstStyle/>
          <a:p>
            <a:r>
              <a:rPr lang="en-IN" dirty="0"/>
              <a:t>Change in likelihood = -10 * (-log(0.071428))+ 10 * (-log(0.00771))=22.26</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82E9784-9C4A-4D9D-BF6D-BB82881D14E8}"/>
                  </a:ext>
                </a:extLst>
              </p:cNvPr>
              <p:cNvSpPr txBox="1"/>
              <p:nvPr/>
            </p:nvSpPr>
            <p:spPr>
              <a:xfrm>
                <a:off x="3277387" y="4588933"/>
                <a:ext cx="2969442" cy="646331"/>
              </a:xfrm>
              <a:prstGeom prst="rect">
                <a:avLst/>
              </a:prstGeom>
              <a:noFill/>
            </p:spPr>
            <p:txBody>
              <a:bodyPr wrap="square">
                <a:spAutoFit/>
              </a:bodyPr>
              <a:lstStyle/>
              <a:p>
                <a14:m>
                  <m:oMath xmlns:m="http://schemas.openxmlformats.org/officeDocument/2006/math">
                    <m:r>
                      <a:rPr lang="en-IN" b="0" i="1" smtClean="0">
                        <a:latin typeface="Cambria Math" panose="02040503050406030204" pitchFamily="18" charset="0"/>
                      </a:rPr>
                      <m:t>𝑃</m:t>
                    </m:r>
                    <m:r>
                      <a:rPr lang="en-IN" b="0" i="1" smtClean="0">
                        <a:latin typeface="Cambria Math" panose="02040503050406030204" pitchFamily="18" charset="0"/>
                      </a:rPr>
                      <m:t>(</m:t>
                    </m:r>
                    <m:sSup>
                      <m:sSupPr>
                        <m:ctrlPr>
                          <a:rPr lang="en-IN" b="0" i="1" smtClean="0">
                            <a:latin typeface="Cambria Math" panose="02040503050406030204" pitchFamily="18" charset="0"/>
                          </a:rPr>
                        </m:ctrlPr>
                      </m:sSupPr>
                      <m:e>
                        <m:r>
                          <a:rPr lang="en-IN" b="0" i="1" smtClean="0">
                            <a:latin typeface="Cambria Math" panose="02040503050406030204" pitchFamily="18" charset="0"/>
                          </a:rPr>
                          <m:t>[</m:t>
                        </m:r>
                      </m:e>
                      <m:sup>
                        <m:r>
                          <a:rPr lang="en-IN" b="0" i="1" smtClean="0">
                            <a:latin typeface="Cambria Math" panose="02040503050406030204" pitchFamily="18" charset="0"/>
                          </a:rPr>
                          <m:t>′</m:t>
                        </m:r>
                      </m:sup>
                    </m:sSup>
                    <m:sSup>
                      <m:sSupPr>
                        <m:ctrlPr>
                          <a:rPr lang="en-IN" b="0" i="1" smtClean="0">
                            <a:latin typeface="Cambria Math" panose="02040503050406030204" pitchFamily="18" charset="0"/>
                          </a:rPr>
                        </m:ctrlPr>
                      </m:sSupPr>
                      <m:e>
                        <m:r>
                          <a:rPr lang="en-IN" b="0" i="1" smtClean="0">
                            <a:latin typeface="Cambria Math" panose="02040503050406030204" pitchFamily="18" charset="0"/>
                          </a:rPr>
                          <m:t>h𝑢</m:t>
                        </m:r>
                      </m:e>
                      <m:sup>
                        <m:r>
                          <a:rPr lang="en-IN" b="0" i="1" smtClean="0">
                            <a:latin typeface="Cambria Math" panose="02040503050406030204" pitchFamily="18" charset="0"/>
                          </a:rPr>
                          <m:t>′</m:t>
                        </m:r>
                      </m:sup>
                    </m:sSup>
                    <m:r>
                      <a:rPr lang="en-IN" b="0" i="1" smtClean="0">
                        <a:latin typeface="Cambria Math" panose="02040503050406030204" pitchFamily="18" charset="0"/>
                      </a:rPr>
                      <m:t>,′</m:t>
                    </m:r>
                    <m:r>
                      <a:rPr lang="en-IN" b="0" i="1" smtClean="0">
                        <a:latin typeface="Cambria Math" panose="02040503050406030204" pitchFamily="18" charset="0"/>
                      </a:rPr>
                      <m:t>𝑔𝑠</m:t>
                    </m:r>
                    <m:r>
                      <a:rPr lang="en-IN" b="0" i="1" smtClean="0">
                        <a:latin typeface="Cambria Math" panose="02040503050406030204" pitchFamily="18" charset="0"/>
                      </a:rPr>
                      <m:t>′])=0.001701</m:t>
                    </m:r>
                  </m:oMath>
                </a14:m>
                <a:r>
                  <a:rPr lang="en-IN" dirty="0"/>
                  <a:t> </a:t>
                </a:r>
              </a:p>
              <a:p>
                <a14:m>
                  <m:oMath xmlns:m="http://schemas.openxmlformats.org/officeDocument/2006/math">
                    <m:r>
                      <a:rPr lang="en-IN" b="0" i="1" smtClean="0">
                        <a:latin typeface="Cambria Math" panose="02040503050406030204" pitchFamily="18" charset="0"/>
                      </a:rPr>
                      <m:t>𝑃</m:t>
                    </m:r>
                    <m:r>
                      <a:rPr lang="en-IN" b="0" i="1" smtClean="0">
                        <a:latin typeface="Cambria Math" panose="02040503050406030204" pitchFamily="18" charset="0"/>
                      </a:rPr>
                      <m:t>(</m:t>
                    </m:r>
                    <m:sSup>
                      <m:sSupPr>
                        <m:ctrlPr>
                          <a:rPr lang="en-IN" b="0" i="1" smtClean="0">
                            <a:latin typeface="Cambria Math" panose="02040503050406030204" pitchFamily="18" charset="0"/>
                          </a:rPr>
                        </m:ctrlPr>
                      </m:sSupPr>
                      <m:e>
                        <m:r>
                          <a:rPr lang="en-IN" b="0" i="1" smtClean="0">
                            <a:latin typeface="Cambria Math" panose="02040503050406030204" pitchFamily="18" charset="0"/>
                          </a:rPr>
                          <m:t>[</m:t>
                        </m:r>
                      </m:e>
                      <m:sup>
                        <m:r>
                          <a:rPr lang="en-IN" b="0" i="1" smtClean="0">
                            <a:latin typeface="Cambria Math" panose="02040503050406030204" pitchFamily="18" charset="0"/>
                          </a:rPr>
                          <m:t>′</m:t>
                        </m:r>
                      </m:sup>
                    </m:sSup>
                    <m:sSup>
                      <m:sSupPr>
                        <m:ctrlPr>
                          <a:rPr lang="en-IN" b="0" i="1" smtClean="0">
                            <a:latin typeface="Cambria Math" panose="02040503050406030204" pitchFamily="18" charset="0"/>
                          </a:rPr>
                        </m:ctrlPr>
                      </m:sSupPr>
                      <m:e>
                        <m:r>
                          <a:rPr lang="en-IN" b="0" i="1" smtClean="0">
                            <a:latin typeface="Cambria Math" panose="02040503050406030204" pitchFamily="18" charset="0"/>
                          </a:rPr>
                          <m:t>h</m:t>
                        </m:r>
                      </m:e>
                      <m:sup>
                        <m:r>
                          <a:rPr lang="en-IN" b="0" i="1" smtClean="0">
                            <a:latin typeface="Cambria Math" panose="02040503050406030204" pitchFamily="18" charset="0"/>
                          </a:rPr>
                          <m:t>′</m:t>
                        </m:r>
                      </m:sup>
                    </m:sSup>
                    <m:sSup>
                      <m:sSupPr>
                        <m:ctrlPr>
                          <a:rPr lang="en-IN" b="0" i="1" smtClean="0">
                            <a:latin typeface="Cambria Math" panose="02040503050406030204" pitchFamily="18" charset="0"/>
                          </a:rPr>
                        </m:ctrlPr>
                      </m:sSupPr>
                      <m:e>
                        <m:r>
                          <a:rPr lang="en-IN" b="0" i="1" smtClean="0">
                            <a:latin typeface="Cambria Math" panose="02040503050406030204" pitchFamily="18" charset="0"/>
                          </a:rPr>
                          <m:t>,</m:t>
                        </m:r>
                      </m:e>
                      <m:sup>
                        <m:r>
                          <a:rPr lang="en-IN" b="0" i="1" smtClean="0">
                            <a:latin typeface="Cambria Math" panose="02040503050406030204" pitchFamily="18" charset="0"/>
                          </a:rPr>
                          <m:t>′</m:t>
                        </m:r>
                      </m:sup>
                    </m:sSup>
                    <m:r>
                      <a:rPr lang="en-IN" b="0" i="1" smtClean="0">
                        <a:latin typeface="Cambria Math" panose="02040503050406030204" pitchFamily="18" charset="0"/>
                      </a:rPr>
                      <m:t>𝑢𝑔𝑠</m:t>
                    </m:r>
                    <m:r>
                      <a:rPr lang="en-IN" b="0" i="1" smtClean="0">
                        <a:latin typeface="Cambria Math" panose="02040503050406030204" pitchFamily="18" charset="0"/>
                      </a:rPr>
                      <m:t>′])=0.00170</m:t>
                    </m:r>
                  </m:oMath>
                </a14:m>
                <a:r>
                  <a:rPr lang="en-IN" dirty="0"/>
                  <a:t>1 </a:t>
                </a:r>
              </a:p>
            </p:txBody>
          </p:sp>
        </mc:Choice>
        <mc:Fallback xmlns="">
          <p:sp>
            <p:nvSpPr>
              <p:cNvPr id="15" name="TextBox 14">
                <a:extLst>
                  <a:ext uri="{FF2B5EF4-FFF2-40B4-BE49-F238E27FC236}">
                    <a16:creationId xmlns:a16="http://schemas.microsoft.com/office/drawing/2014/main" id="{482E9784-9C4A-4D9D-BF6D-BB82881D14E8}"/>
                  </a:ext>
                </a:extLst>
              </p:cNvPr>
              <p:cNvSpPr txBox="1">
                <a:spLocks noRot="1" noChangeAspect="1" noMove="1" noResize="1" noEditPoints="1" noAdjustHandles="1" noChangeArrowheads="1" noChangeShapeType="1" noTextEdit="1"/>
              </p:cNvSpPr>
              <p:nvPr/>
            </p:nvSpPr>
            <p:spPr>
              <a:xfrm>
                <a:off x="3277387" y="4588933"/>
                <a:ext cx="2969442" cy="646331"/>
              </a:xfrm>
              <a:prstGeom prst="rect">
                <a:avLst/>
              </a:prstGeom>
              <a:blipFill>
                <a:blip r:embed="rId4"/>
                <a:stretch>
                  <a:fillRect b="-15094"/>
                </a:stretch>
              </a:blipFill>
            </p:spPr>
            <p:txBody>
              <a:bodyPr/>
              <a:lstStyle/>
              <a:p>
                <a:r>
                  <a:rPr lang="en-IN">
                    <a:noFill/>
                  </a:rPr>
                  <a:t> </a:t>
                </a:r>
              </a:p>
            </p:txBody>
          </p:sp>
        </mc:Fallback>
      </mc:AlternateContent>
      <p:sp>
        <p:nvSpPr>
          <p:cNvPr id="16" name="TextBox 15">
            <a:extLst>
              <a:ext uri="{FF2B5EF4-FFF2-40B4-BE49-F238E27FC236}">
                <a16:creationId xmlns:a16="http://schemas.microsoft.com/office/drawing/2014/main" id="{A47CD92E-C082-4051-B077-6EE10751AF40}"/>
              </a:ext>
            </a:extLst>
          </p:cNvPr>
          <p:cNvSpPr txBox="1"/>
          <p:nvPr/>
        </p:nvSpPr>
        <p:spPr>
          <a:xfrm>
            <a:off x="1328393" y="5420655"/>
            <a:ext cx="9257907" cy="830997"/>
          </a:xfrm>
          <a:prstGeom prst="rect">
            <a:avLst/>
          </a:prstGeom>
          <a:noFill/>
        </p:spPr>
        <p:txBody>
          <a:bodyPr wrap="square">
            <a:spAutoFit/>
          </a:bodyPr>
          <a:lstStyle/>
          <a:p>
            <a:r>
              <a:rPr lang="en-IN" sz="2400" dirty="0"/>
              <a:t>The token ‘</a:t>
            </a:r>
            <a:r>
              <a:rPr lang="en-IN" sz="2400" dirty="0" err="1"/>
              <a:t>pu</a:t>
            </a:r>
            <a:r>
              <a:rPr lang="en-IN" sz="2400" dirty="0"/>
              <a:t>’ can be chosen over ‘hug’ for removal as it’s removal has no effect   </a:t>
            </a:r>
          </a:p>
        </p:txBody>
      </p:sp>
      <p:sp>
        <p:nvSpPr>
          <p:cNvPr id="18" name="TextBox 17">
            <a:extLst>
              <a:ext uri="{FF2B5EF4-FFF2-40B4-BE49-F238E27FC236}">
                <a16:creationId xmlns:a16="http://schemas.microsoft.com/office/drawing/2014/main" id="{0594871C-7351-4F51-BD3F-9F5D0FCFF7C0}"/>
              </a:ext>
            </a:extLst>
          </p:cNvPr>
          <p:cNvSpPr txBox="1"/>
          <p:nvPr/>
        </p:nvSpPr>
        <p:spPr>
          <a:xfrm>
            <a:off x="3145410" y="1541272"/>
            <a:ext cx="3894487" cy="369332"/>
          </a:xfrm>
          <a:prstGeom prst="rect">
            <a:avLst/>
          </a:prstGeom>
          <a:noFill/>
        </p:spPr>
        <p:txBody>
          <a:bodyPr wrap="square">
            <a:spAutoFit/>
          </a:bodyPr>
          <a:lstStyle/>
          <a:p>
            <a:r>
              <a:rPr lang="en-IN" dirty="0">
                <a:solidFill>
                  <a:schemeClr val="accent4">
                    <a:lumMod val="75000"/>
                  </a:schemeClr>
                </a:solidFill>
              </a:rPr>
              <a:t>"pug": ["</a:t>
            </a:r>
            <a:r>
              <a:rPr lang="en-IN" dirty="0" err="1">
                <a:solidFill>
                  <a:schemeClr val="accent4">
                    <a:lumMod val="75000"/>
                  </a:schemeClr>
                </a:solidFill>
              </a:rPr>
              <a:t>pu</a:t>
            </a:r>
            <a:r>
              <a:rPr lang="en-IN" dirty="0">
                <a:solidFill>
                  <a:schemeClr val="accent4">
                    <a:lumMod val="75000"/>
                  </a:schemeClr>
                </a:solidFill>
              </a:rPr>
              <a:t>", "g"] (score 0.007710)</a:t>
            </a:r>
          </a:p>
        </p:txBody>
      </p:sp>
      <p:sp>
        <p:nvSpPr>
          <p:cNvPr id="20" name="TextBox 19">
            <a:extLst>
              <a:ext uri="{FF2B5EF4-FFF2-40B4-BE49-F238E27FC236}">
                <a16:creationId xmlns:a16="http://schemas.microsoft.com/office/drawing/2014/main" id="{896FCE7F-2F07-4FB9-BEBA-5DB4C1607851}"/>
              </a:ext>
            </a:extLst>
          </p:cNvPr>
          <p:cNvSpPr txBox="1"/>
          <p:nvPr/>
        </p:nvSpPr>
        <p:spPr>
          <a:xfrm>
            <a:off x="3212355" y="2956864"/>
            <a:ext cx="3674096" cy="369332"/>
          </a:xfrm>
          <a:prstGeom prst="rect">
            <a:avLst/>
          </a:prstGeom>
          <a:noFill/>
        </p:spPr>
        <p:txBody>
          <a:bodyPr wrap="square">
            <a:spAutoFit/>
          </a:bodyPr>
          <a:lstStyle/>
          <a:p>
            <a:r>
              <a:rPr lang="en-IN" dirty="0">
                <a:solidFill>
                  <a:schemeClr val="accent4">
                    <a:lumMod val="75000"/>
                  </a:schemeClr>
                </a:solidFill>
              </a:rPr>
              <a:t>"hug": ["hug"] (score 0.071428)</a:t>
            </a:r>
          </a:p>
        </p:txBody>
      </p:sp>
      <p:sp>
        <p:nvSpPr>
          <p:cNvPr id="22" name="TextBox 21">
            <a:extLst>
              <a:ext uri="{FF2B5EF4-FFF2-40B4-BE49-F238E27FC236}">
                <a16:creationId xmlns:a16="http://schemas.microsoft.com/office/drawing/2014/main" id="{A9F45CA3-91B7-415E-8A7A-8A38693A0FC6}"/>
              </a:ext>
            </a:extLst>
          </p:cNvPr>
          <p:cNvSpPr txBox="1"/>
          <p:nvPr/>
        </p:nvSpPr>
        <p:spPr>
          <a:xfrm>
            <a:off x="3196561" y="4295721"/>
            <a:ext cx="4109884" cy="369332"/>
          </a:xfrm>
          <a:prstGeom prst="rect">
            <a:avLst/>
          </a:prstGeom>
          <a:noFill/>
        </p:spPr>
        <p:txBody>
          <a:bodyPr wrap="square">
            <a:spAutoFit/>
          </a:bodyPr>
          <a:lstStyle/>
          <a:p>
            <a:r>
              <a:rPr lang="en-IN" dirty="0">
                <a:solidFill>
                  <a:schemeClr val="accent4">
                    <a:lumMod val="75000"/>
                  </a:schemeClr>
                </a:solidFill>
              </a:rPr>
              <a:t>"hugs": ["hug", "s"] (score 0.001701)</a:t>
            </a:r>
          </a:p>
        </p:txBody>
      </p:sp>
      <p:sp>
        <p:nvSpPr>
          <p:cNvPr id="23" name="TextBox 22">
            <a:extLst>
              <a:ext uri="{FF2B5EF4-FFF2-40B4-BE49-F238E27FC236}">
                <a16:creationId xmlns:a16="http://schemas.microsoft.com/office/drawing/2014/main" id="{5CDFE6C0-56AF-4CD1-BB03-BD2125636A3D}"/>
              </a:ext>
            </a:extLst>
          </p:cNvPr>
          <p:cNvSpPr txBox="1"/>
          <p:nvPr/>
        </p:nvSpPr>
        <p:spPr>
          <a:xfrm>
            <a:off x="6916889" y="4760756"/>
            <a:ext cx="3317265" cy="646331"/>
          </a:xfrm>
          <a:prstGeom prst="rect">
            <a:avLst/>
          </a:prstGeom>
          <a:noFill/>
        </p:spPr>
        <p:txBody>
          <a:bodyPr wrap="square">
            <a:spAutoFit/>
          </a:bodyPr>
          <a:lstStyle/>
          <a:p>
            <a:r>
              <a:rPr lang="en-IN" dirty="0">
                <a:solidFill>
                  <a:srgbClr val="C00000"/>
                </a:solidFill>
              </a:rPr>
              <a:t>Removing ‘hug’ results in reduction in the likelihood </a:t>
            </a:r>
          </a:p>
        </p:txBody>
      </p:sp>
    </p:spTree>
    <p:extLst>
      <p:ext uri="{BB962C8B-B14F-4D97-AF65-F5344CB8AC3E}">
        <p14:creationId xmlns:p14="http://schemas.microsoft.com/office/powerpoint/2010/main" val="2248760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500"/>
                                        <p:tgtEl>
                                          <p:spTgt spid="2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0" grpId="0"/>
      <p:bldP spid="11" grpId="0"/>
      <p:bldP spid="12" grpId="0"/>
      <p:bldP spid="14" grpId="0"/>
      <p:bldP spid="15" grpId="0"/>
      <p:bldP spid="16" grpId="0"/>
      <p:bldP spid="18" grpId="0"/>
      <p:bldP spid="20" grpId="0"/>
      <p:bldP spid="22" grpId="0"/>
      <p:bldP spid="2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C13E3-72FC-45E8-A578-0C49F21CB449}"/>
              </a:ext>
            </a:extLst>
          </p:cNvPr>
          <p:cNvSpPr>
            <a:spLocks noGrp="1"/>
          </p:cNvSpPr>
          <p:nvPr>
            <p:ph type="title"/>
          </p:nvPr>
        </p:nvSpPr>
        <p:spPr/>
        <p:txBody>
          <a:bodyPr/>
          <a:lstStyle/>
          <a:p>
            <a:r>
              <a:rPr lang="en-IN" dirty="0"/>
              <a:t>Unigram Tokenizer: Inference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C45FD9C-3412-4D51-A75D-E144D5028792}"/>
                  </a:ext>
                </a:extLst>
              </p:cNvPr>
              <p:cNvSpPr>
                <a:spLocks noGrp="1"/>
              </p:cNvSpPr>
              <p:nvPr>
                <p:ph idx="1"/>
              </p:nvPr>
            </p:nvSpPr>
            <p:spPr/>
            <p:txBody>
              <a:bodyPr>
                <a:normAutofit fontScale="55000" lnSpcReduction="20000"/>
              </a:bodyPr>
              <a:lstStyle/>
              <a:p>
                <a:r>
                  <a:rPr lang="en-IN" dirty="0"/>
                  <a:t>Output of Training</a:t>
                </a:r>
              </a:p>
              <a:p>
                <a:pPr lvl="1"/>
                <a:r>
                  <a:rPr lang="en-IN" dirty="0"/>
                  <a:t>The final vocabulary (</a:t>
                </a:r>
                <a14:m>
                  <m:oMath xmlns:m="http://schemas.openxmlformats.org/officeDocument/2006/math">
                    <m:sSup>
                      <m:sSupPr>
                        <m:ctrlPr>
                          <a:rPr lang="en-IN" b="0" i="1" smtClean="0">
                            <a:latin typeface="Cambria Math" panose="02040503050406030204" pitchFamily="18" charset="0"/>
                            <a:ea typeface="Cambria Math" panose="02040503050406030204" pitchFamily="18" charset="0"/>
                          </a:rPr>
                        </m:ctrlPr>
                      </m:sSupPr>
                      <m:e>
                        <m:r>
                          <a:rPr lang="en-IN" i="1" smtClean="0">
                            <a:latin typeface="Cambria Math" panose="02040503050406030204" pitchFamily="18" charset="0"/>
                            <a:ea typeface="Cambria Math" panose="02040503050406030204" pitchFamily="18" charset="0"/>
                          </a:rPr>
                          <m:t>𝒱</m:t>
                        </m:r>
                      </m:e>
                      <m:sup>
                        <m:r>
                          <a:rPr lang="en-IN" b="0" i="1" smtClean="0">
                            <a:latin typeface="Cambria Math" panose="02040503050406030204" pitchFamily="18" charset="0"/>
                            <a:ea typeface="Cambria Math" panose="02040503050406030204" pitchFamily="18" charset="0"/>
                          </a:rPr>
                          <m:t>′</m:t>
                        </m:r>
                      </m:sup>
                    </m:sSup>
                  </m:oMath>
                </a14:m>
                <a:r>
                  <a:rPr lang="en-IN" dirty="0"/>
                  <a:t>) with probability of each </a:t>
                </a:r>
                <a:r>
                  <a:rPr lang="en-IN" dirty="0" err="1"/>
                  <a:t>subword</a:t>
                </a:r>
                <a:endParaRPr lang="en-IN" dirty="0"/>
              </a:p>
              <a:p>
                <a:r>
                  <a:rPr lang="en-IN" dirty="0"/>
                  <a:t>How do we tokenize a new sequence?</a:t>
                </a:r>
              </a:p>
              <a:p>
                <a:pPr lvl="1"/>
                <a:r>
                  <a:rPr lang="en-IN" dirty="0"/>
                  <a:t>The same Viterbi Decoding using </a:t>
                </a:r>
                <a14:m>
                  <m:oMath xmlns:m="http://schemas.openxmlformats.org/officeDocument/2006/math">
                    <m:sSup>
                      <m:sSupPr>
                        <m:ctrlPr>
                          <a:rPr lang="en-IN" b="0" i="1" smtClean="0">
                            <a:latin typeface="Cambria Math" panose="02040503050406030204" pitchFamily="18" charset="0"/>
                            <a:ea typeface="Cambria Math" panose="02040503050406030204" pitchFamily="18" charset="0"/>
                          </a:rPr>
                        </m:ctrlPr>
                      </m:sSupPr>
                      <m:e>
                        <m:r>
                          <a:rPr lang="en-IN" i="1" smtClean="0">
                            <a:latin typeface="Cambria Math" panose="02040503050406030204" pitchFamily="18" charset="0"/>
                            <a:ea typeface="Cambria Math" panose="02040503050406030204" pitchFamily="18" charset="0"/>
                          </a:rPr>
                          <m:t>𝒱</m:t>
                        </m:r>
                      </m:e>
                      <m:sup>
                        <m:r>
                          <a:rPr lang="en-IN" b="0" i="1" smtClean="0">
                            <a:latin typeface="Cambria Math" panose="02040503050406030204" pitchFamily="18" charset="0"/>
                            <a:ea typeface="Cambria Math" panose="02040503050406030204" pitchFamily="18" charset="0"/>
                          </a:rPr>
                          <m:t>′</m:t>
                        </m:r>
                      </m:sup>
                    </m:sSup>
                  </m:oMath>
                </a14:m>
                <a:endParaRPr lang="en-IN" dirty="0"/>
              </a:p>
              <a:p>
                <a:r>
                  <a:rPr lang="en-IN" dirty="0"/>
                  <a:t>Do we encounter [UNK]?</a:t>
                </a:r>
              </a:p>
              <a:p>
                <a:pPr lvl="1"/>
                <a:r>
                  <a:rPr lang="en-IN" dirty="0"/>
                  <a:t>Each alphabet is present in </a:t>
                </a:r>
                <a14:m>
                  <m:oMath xmlns:m="http://schemas.openxmlformats.org/officeDocument/2006/math">
                    <m:sSup>
                      <m:sSupPr>
                        <m:ctrlPr>
                          <a:rPr lang="en-IN" b="0" i="1" smtClean="0">
                            <a:latin typeface="Cambria Math" panose="02040503050406030204" pitchFamily="18" charset="0"/>
                            <a:ea typeface="Cambria Math" panose="02040503050406030204" pitchFamily="18" charset="0"/>
                          </a:rPr>
                        </m:ctrlPr>
                      </m:sSupPr>
                      <m:e>
                        <m:r>
                          <a:rPr lang="en-IN" i="1" smtClean="0">
                            <a:latin typeface="Cambria Math" panose="02040503050406030204" pitchFamily="18" charset="0"/>
                            <a:ea typeface="Cambria Math" panose="02040503050406030204" pitchFamily="18" charset="0"/>
                          </a:rPr>
                          <m:t>𝒱</m:t>
                        </m:r>
                      </m:e>
                      <m:sup>
                        <m:r>
                          <a:rPr lang="en-IN" b="0" i="1" smtClean="0">
                            <a:latin typeface="Cambria Math" panose="02040503050406030204" pitchFamily="18" charset="0"/>
                            <a:ea typeface="Cambria Math" panose="02040503050406030204" pitchFamily="18" charset="0"/>
                          </a:rPr>
                          <m:t>′</m:t>
                        </m:r>
                      </m:sup>
                    </m:sSup>
                  </m:oMath>
                </a14:m>
                <a:r>
                  <a:rPr lang="en-IN" dirty="0"/>
                  <a:t> and is never removed during EM </a:t>
                </a:r>
              </a:p>
              <a:p>
                <a:r>
                  <a:rPr lang="en-IN" dirty="0" err="1"/>
                  <a:t>SentencePiece</a:t>
                </a:r>
                <a:r>
                  <a:rPr lang="en-IN" dirty="0"/>
                  <a:t> vs Unigram Tokenizer</a:t>
                </a:r>
              </a:p>
              <a:p>
                <a:pPr lvl="1"/>
                <a:r>
                  <a:rPr lang="en-IN" dirty="0" err="1"/>
                  <a:t>SentencePiece</a:t>
                </a:r>
                <a:r>
                  <a:rPr lang="en-IN" dirty="0"/>
                  <a:t> is a package that used Unigram Tokenizer</a:t>
                </a:r>
              </a:p>
              <a:p>
                <a:r>
                  <a:rPr lang="en-IN" dirty="0"/>
                  <a:t>How do we formulate the initial vocab?</a:t>
                </a:r>
              </a:p>
              <a:p>
                <a:pPr lvl="1"/>
                <a:r>
                  <a:rPr lang="en-US" dirty="0"/>
                  <a:t>BPE to generate the initial vocabulary</a:t>
                </a:r>
              </a:p>
              <a:p>
                <a:pPr lvl="1"/>
                <a:r>
                  <a:rPr lang="en-US" dirty="0"/>
                  <a:t> Suffix array algorithm to generate the common substrings.</a:t>
                </a:r>
              </a:p>
              <a:p>
                <a:r>
                  <a:rPr lang="en-US" dirty="0" err="1"/>
                  <a:t>SentencePiece</a:t>
                </a:r>
                <a:r>
                  <a:rPr lang="en-US" dirty="0"/>
                  <a:t> treats whitespace as a character</a:t>
                </a:r>
              </a:p>
              <a:p>
                <a:pPr lvl="1"/>
                <a:r>
                  <a:rPr lang="en-IN" dirty="0"/>
                  <a:t>Tokenization on language that does not use whitespace as word separator</a:t>
                </a:r>
              </a:p>
            </p:txBody>
          </p:sp>
        </mc:Choice>
        <mc:Fallback xmlns="">
          <p:sp>
            <p:nvSpPr>
              <p:cNvPr id="3" name="Content Placeholder 2">
                <a:extLst>
                  <a:ext uri="{FF2B5EF4-FFF2-40B4-BE49-F238E27FC236}">
                    <a16:creationId xmlns:a16="http://schemas.microsoft.com/office/drawing/2014/main" id="{EC45FD9C-3412-4D51-A75D-E144D5028792}"/>
                  </a:ext>
                </a:extLst>
              </p:cNvPr>
              <p:cNvSpPr>
                <a:spLocks noGrp="1" noRot="1" noChangeAspect="1" noMove="1" noResize="1" noEditPoints="1" noAdjustHandles="1" noChangeArrowheads="1" noChangeShapeType="1" noTextEdit="1"/>
              </p:cNvSpPr>
              <p:nvPr>
                <p:ph idx="1"/>
              </p:nvPr>
            </p:nvSpPr>
            <p:spPr>
              <a:blipFill>
                <a:blip r:embed="rId2"/>
                <a:stretch>
                  <a:fillRect l="-173"/>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EBEE7EDF-E3DB-4BF3-9F10-0173510481D5}"/>
              </a:ext>
            </a:extLst>
          </p:cNvPr>
          <p:cNvSpPr>
            <a:spLocks noGrp="1"/>
          </p:cNvSpPr>
          <p:nvPr>
            <p:ph type="sldNum" sz="quarter" idx="12"/>
          </p:nvPr>
        </p:nvSpPr>
        <p:spPr/>
        <p:txBody>
          <a:bodyPr/>
          <a:lstStyle/>
          <a:p>
            <a:fld id="{FF2BD96E-3838-45D2-9031-D3AF67C920A5}" type="slidenum">
              <a:rPr lang="en-US" smtClean="0"/>
              <a:t>31</a:t>
            </a:fld>
            <a:endParaRPr lang="en-US"/>
          </a:p>
        </p:txBody>
      </p:sp>
    </p:spTree>
    <p:extLst>
      <p:ext uri="{BB962C8B-B14F-4D97-AF65-F5344CB8AC3E}">
        <p14:creationId xmlns:p14="http://schemas.microsoft.com/office/powerpoint/2010/main" val="1966172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fade">
                                      <p:cBhvr>
                                        <p:cTn id="39" dur="500"/>
                                        <p:tgtEl>
                                          <p:spTgt spid="3">
                                            <p:txEl>
                                              <p:pRg st="8" end="8"/>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animEffect transition="in" filter="fade">
                                      <p:cBhvr>
                                        <p:cTn id="45" dur="500"/>
                                        <p:tgtEl>
                                          <p:spTgt spid="3">
                                            <p:txEl>
                                              <p:pRg st="10" end="1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
                                            <p:txEl>
                                              <p:pRg st="11" end="11"/>
                                            </p:txEl>
                                          </p:spTgt>
                                        </p:tgtEl>
                                        <p:attrNameLst>
                                          <p:attrName>style.visibility</p:attrName>
                                        </p:attrNameLst>
                                      </p:cBhvr>
                                      <p:to>
                                        <p:strVal val="visible"/>
                                      </p:to>
                                    </p:set>
                                    <p:animEffect transition="in" filter="fade">
                                      <p:cBhvr>
                                        <p:cTn id="50" dur="500"/>
                                        <p:tgtEl>
                                          <p:spTgt spid="3">
                                            <p:txEl>
                                              <p:pRg st="11" end="11"/>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3">
                                            <p:txEl>
                                              <p:pRg st="12" end="12"/>
                                            </p:txEl>
                                          </p:spTgt>
                                        </p:tgtEl>
                                        <p:attrNameLst>
                                          <p:attrName>style.visibility</p:attrName>
                                        </p:attrNameLst>
                                      </p:cBhvr>
                                      <p:to>
                                        <p:strVal val="visible"/>
                                      </p:to>
                                    </p:set>
                                    <p:animEffect transition="in" filter="fade">
                                      <p:cBhvr>
                                        <p:cTn id="53"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rostyVTI">
  <a:themeElements>
    <a:clrScheme name="AnalogousFromDarkSeedLeftStep">
      <a:dk1>
        <a:srgbClr val="000000"/>
      </a:dk1>
      <a:lt1>
        <a:srgbClr val="FFFFFF"/>
      </a:lt1>
      <a:dk2>
        <a:srgbClr val="1C2B32"/>
      </a:dk2>
      <a:lt2>
        <a:srgbClr val="E2E8E2"/>
      </a:lt2>
      <a:accent1>
        <a:srgbClr val="D838D6"/>
      </a:accent1>
      <a:accent2>
        <a:srgbClr val="8526C6"/>
      </a:accent2>
      <a:accent3>
        <a:srgbClr val="5538D8"/>
      </a:accent3>
      <a:accent4>
        <a:srgbClr val="264CC6"/>
      </a:accent4>
      <a:accent5>
        <a:srgbClr val="38A1D8"/>
      </a:accent5>
      <a:accent6>
        <a:srgbClr val="23B6AC"/>
      </a:accent6>
      <a:hlink>
        <a:srgbClr val="3F7DBF"/>
      </a:hlink>
      <a:folHlink>
        <a:srgbClr val="7F7F7F"/>
      </a:folHlink>
    </a:clrScheme>
    <a:fontScheme name="Frosted Leaf">
      <a:majorFont>
        <a:latin typeface="Goudy Old Style"/>
        <a:ea typeface=""/>
        <a:cs typeface=""/>
      </a:majorFont>
      <a:minorFont>
        <a:latin typeface="Avenir Next LT Pro"/>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rostyVTI" id="{DD283BC3-E0B6-4E4B-91CF-F0F54D51BB21}" vid="{3EE220F7-F497-4893-BE1F-7BB1D607421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72731</TotalTime>
  <Words>5044</Words>
  <Application>Microsoft Office PowerPoint</Application>
  <PresentationFormat>Widescreen</PresentationFormat>
  <Paragraphs>553</Paragraphs>
  <Slides>31</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31</vt:i4>
      </vt:variant>
    </vt:vector>
  </HeadingPairs>
  <TitlesOfParts>
    <vt:vector size="42" baseType="lpstr">
      <vt:lpstr>-apple-system</vt:lpstr>
      <vt:lpstr>Arial</vt:lpstr>
      <vt:lpstr>Avenir Next LT Pro</vt:lpstr>
      <vt:lpstr>Calibri</vt:lpstr>
      <vt:lpstr>Cambria Math</vt:lpstr>
      <vt:lpstr>Courier New</vt:lpstr>
      <vt:lpstr>Goudy Old Style</vt:lpstr>
      <vt:lpstr>Roboto</vt:lpstr>
      <vt:lpstr>ui-monospace</vt:lpstr>
      <vt:lpstr>Wingdings</vt:lpstr>
      <vt:lpstr>FrostyVTI</vt:lpstr>
      <vt:lpstr>Input Tokenizers</vt:lpstr>
      <vt:lpstr>Input Tokens: Many Words are Rare</vt:lpstr>
      <vt:lpstr>Input Tokens: Sub-Word</vt:lpstr>
      <vt:lpstr>Input Tokens: Sub-Word</vt:lpstr>
      <vt:lpstr>Tokenization Strategies</vt:lpstr>
      <vt:lpstr>Byte Pair Encoding (BPE)</vt:lpstr>
      <vt:lpstr>Byte Pair Encoding (BPE): Training</vt:lpstr>
      <vt:lpstr>Byte Pair Encoding (BPE)</vt:lpstr>
      <vt:lpstr>Byte Pair Encoding (BPE): Training</vt:lpstr>
      <vt:lpstr>Byte Pair Encoding (BPE): Training</vt:lpstr>
      <vt:lpstr>Byte Pair Encoding (BPE): Training</vt:lpstr>
      <vt:lpstr>Byte Pair Encoding (BPE): Training</vt:lpstr>
      <vt:lpstr>Byte Pair Encoding (BPE): Inference</vt:lpstr>
      <vt:lpstr>PowerPoint Presentation</vt:lpstr>
      <vt:lpstr>Word_Piece Tokenizer</vt:lpstr>
      <vt:lpstr>PowerPoint Presentation</vt:lpstr>
      <vt:lpstr>Sentence_Piece Tokenizer</vt:lpstr>
      <vt:lpstr>SentencePiece Tokenizer: Idea</vt:lpstr>
      <vt:lpstr>SentencePiece: Unigram Tokenizer</vt:lpstr>
      <vt:lpstr>PowerPoint Presentation</vt:lpstr>
      <vt:lpstr>SentencePiece: Unigram Tokenizer</vt:lpstr>
      <vt:lpstr>SentencePiece: Unigram Tokenizer</vt:lpstr>
      <vt:lpstr>Unigram Tokenizer: Viterbi Decoding</vt:lpstr>
      <vt:lpstr>Unigram Tokenizer: Viterbi Decoding</vt:lpstr>
      <vt:lpstr>Unigram Tokenizer: Algorithm</vt:lpstr>
      <vt:lpstr>Unigram Tokenizer: Algorithm</vt:lpstr>
      <vt:lpstr>Unigram Tokenizer: Training Algorithm</vt:lpstr>
      <vt:lpstr>Unigram Tokenizer: Running Example</vt:lpstr>
      <vt:lpstr>Unigram Tokenizer: Running Example</vt:lpstr>
      <vt:lpstr>Unigram Tokenizer: Running Example</vt:lpstr>
      <vt:lpstr>Unigram Tokenizer: Inference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 Neural Networks</dc:title>
  <dc:creator>Plaban Kumar Bhowmick</dc:creator>
  <cp:lastModifiedBy>Subhasini Kumari Gupta</cp:lastModifiedBy>
  <cp:revision>945</cp:revision>
  <dcterms:created xsi:type="dcterms:W3CDTF">2021-07-28T12:05:26Z</dcterms:created>
  <dcterms:modified xsi:type="dcterms:W3CDTF">2025-09-17T14:55:54Z</dcterms:modified>
</cp:coreProperties>
</file>