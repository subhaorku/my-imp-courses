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5"/>
  </p:notesMasterIdLst>
  <p:sldIdLst>
    <p:sldId id="258" r:id="rId2"/>
    <p:sldId id="259" r:id="rId3"/>
    <p:sldId id="260" r:id="rId4"/>
    <p:sldId id="261" r:id="rId5"/>
    <p:sldId id="275" r:id="rId6"/>
    <p:sldId id="276" r:id="rId7"/>
    <p:sldId id="277" r:id="rId8"/>
    <p:sldId id="279" r:id="rId9"/>
    <p:sldId id="280" r:id="rId10"/>
    <p:sldId id="262" r:id="rId11"/>
    <p:sldId id="263" r:id="rId12"/>
    <p:sldId id="265" r:id="rId13"/>
    <p:sldId id="264" r:id="rId14"/>
    <p:sldId id="281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009900"/>
    <a:srgbClr val="8DD783"/>
    <a:srgbClr val="EA9B26"/>
    <a:srgbClr val="158D82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8.0554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pdf?id=m_GDIItaI3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5.0720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pdf/2105.13880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905.02450" TargetMode="External"/><Relationship Id="rId4" Type="http://schemas.openxmlformats.org/officeDocument/2006/relationships/image" Target="../media/image3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arxiv.org/pdf/1910.1346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Pre-Training Methods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E6BE-3EF2-4753-B470-702CEE7A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F9551-738C-49AD-A85F-5EB4DD87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3E5A04-1336-45FE-A297-FA0A053986A4}"/>
              </a:ext>
            </a:extLst>
          </p:cNvPr>
          <p:cNvSpPr/>
          <p:nvPr/>
        </p:nvSpPr>
        <p:spPr>
          <a:xfrm>
            <a:off x="4641577" y="1262269"/>
            <a:ext cx="2196548" cy="64604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Pre-Training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560F2A-272C-46DA-9C7B-31A23A6171E5}"/>
              </a:ext>
            </a:extLst>
          </p:cNvPr>
          <p:cNvSpPr/>
          <p:nvPr/>
        </p:nvSpPr>
        <p:spPr>
          <a:xfrm>
            <a:off x="1752601" y="2664078"/>
            <a:ext cx="2196548" cy="64604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Methods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CEBDEF-764D-4D52-BCAC-546353859C38}"/>
              </a:ext>
            </a:extLst>
          </p:cNvPr>
          <p:cNvSpPr/>
          <p:nvPr/>
        </p:nvSpPr>
        <p:spPr>
          <a:xfrm>
            <a:off x="7498016" y="2664078"/>
            <a:ext cx="2196548" cy="64604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Tasks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BB6816-0BBD-4297-AC61-B11A710B73B7}"/>
              </a:ext>
            </a:extLst>
          </p:cNvPr>
          <p:cNvSpPr/>
          <p:nvPr/>
        </p:nvSpPr>
        <p:spPr>
          <a:xfrm>
            <a:off x="2713382" y="3633499"/>
            <a:ext cx="2534478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Pre-training from Scratch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81353A-C84A-431A-8F1E-59BB9BDD3B84}"/>
              </a:ext>
            </a:extLst>
          </p:cNvPr>
          <p:cNvSpPr/>
          <p:nvPr/>
        </p:nvSpPr>
        <p:spPr>
          <a:xfrm>
            <a:off x="2713382" y="4145915"/>
            <a:ext cx="2534478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Continual Pre-training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CDAC7A-ED92-4759-82E7-5834D265A21C}"/>
              </a:ext>
            </a:extLst>
          </p:cNvPr>
          <p:cNvSpPr/>
          <p:nvPr/>
        </p:nvSpPr>
        <p:spPr>
          <a:xfrm>
            <a:off x="2713382" y="4654499"/>
            <a:ext cx="268356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Simultaneous Pre-training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16F3FD-1D2C-442D-B788-AFA3351220F3}"/>
              </a:ext>
            </a:extLst>
          </p:cNvPr>
          <p:cNvSpPr/>
          <p:nvPr/>
        </p:nvSpPr>
        <p:spPr>
          <a:xfrm>
            <a:off x="2713382" y="5159832"/>
            <a:ext cx="268356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Task Adaptive Pre-training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884A11-C523-4E01-8EFD-84534666968C}"/>
              </a:ext>
            </a:extLst>
          </p:cNvPr>
          <p:cNvSpPr/>
          <p:nvPr/>
        </p:nvSpPr>
        <p:spPr>
          <a:xfrm>
            <a:off x="2706758" y="5650159"/>
            <a:ext cx="330641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Knowledge Inherited Pre-training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29DA38-5CA6-4410-B2D4-B1E77B710FF4}"/>
              </a:ext>
            </a:extLst>
          </p:cNvPr>
          <p:cNvSpPr/>
          <p:nvPr/>
        </p:nvSpPr>
        <p:spPr>
          <a:xfrm>
            <a:off x="8580782" y="3633499"/>
            <a:ext cx="2534478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Causal LM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AA72DB-3B7B-4E84-8754-85D0ABF3098E}"/>
              </a:ext>
            </a:extLst>
          </p:cNvPr>
          <p:cNvSpPr/>
          <p:nvPr/>
        </p:nvSpPr>
        <p:spPr>
          <a:xfrm>
            <a:off x="8580782" y="4145915"/>
            <a:ext cx="2534478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Masked LM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EDB752-3398-4115-9ED9-CDA5F94C420B}"/>
              </a:ext>
            </a:extLst>
          </p:cNvPr>
          <p:cNvSpPr/>
          <p:nvPr/>
        </p:nvSpPr>
        <p:spPr>
          <a:xfrm>
            <a:off x="8580782" y="4654499"/>
            <a:ext cx="268356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Replaced Token Detection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2CA91E-7F7C-43BC-B809-9B3AEE3C8EDE}"/>
              </a:ext>
            </a:extLst>
          </p:cNvPr>
          <p:cNvSpPr/>
          <p:nvPr/>
        </p:nvSpPr>
        <p:spPr>
          <a:xfrm>
            <a:off x="8580782" y="5159832"/>
            <a:ext cx="268356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Shuffled Token Detection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36310E-7437-4708-A11A-4EB6B2EFE651}"/>
              </a:ext>
            </a:extLst>
          </p:cNvPr>
          <p:cNvSpPr/>
          <p:nvPr/>
        </p:nvSpPr>
        <p:spPr>
          <a:xfrm>
            <a:off x="8574158" y="5650159"/>
            <a:ext cx="2826026" cy="378076"/>
          </a:xfrm>
          <a:prstGeom prst="round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chemeClr val="tx1"/>
                </a:solidFill>
              </a:rPr>
              <a:t>Denoising Autoencoder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7246AF-5FBC-4CB5-B2CC-7292814D3629}"/>
              </a:ext>
            </a:extLst>
          </p:cNvPr>
          <p:cNvSpPr txBox="1"/>
          <p:nvPr/>
        </p:nvSpPr>
        <p:spPr>
          <a:xfrm>
            <a:off x="2059472" y="6296253"/>
            <a:ext cx="90557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** Kalyan et al., </a:t>
            </a:r>
            <a:r>
              <a:rPr lang="en-US" sz="1400" dirty="0">
                <a:hlinkClick r:id="rId2"/>
              </a:rPr>
              <a:t>AMMUS : A Survey of Transformer-based Pretrained Models in Natural Language Processing</a:t>
            </a:r>
            <a:endParaRPr lang="en-IN" sz="14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28E1430-6412-4D70-9737-1F8964601D59}"/>
              </a:ext>
            </a:extLst>
          </p:cNvPr>
          <p:cNvGrpSpPr/>
          <p:nvPr/>
        </p:nvGrpSpPr>
        <p:grpSpPr>
          <a:xfrm>
            <a:off x="2842591" y="1911627"/>
            <a:ext cx="5738191" cy="752451"/>
            <a:chOff x="2842591" y="1911627"/>
            <a:chExt cx="5738191" cy="75245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9E9E96B-65D9-4105-8A30-DB37AC67980F}"/>
                </a:ext>
              </a:extLst>
            </p:cNvPr>
            <p:cNvCxnSpPr/>
            <p:nvPr/>
          </p:nvCxnSpPr>
          <p:spPr>
            <a:xfrm>
              <a:off x="2842591" y="2286000"/>
              <a:ext cx="5738191" cy="0"/>
            </a:xfrm>
            <a:prstGeom prst="line">
              <a:avLst/>
            </a:prstGeom>
            <a:ln w="222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71DFDF4-19B4-4D58-993D-129685066A72}"/>
                </a:ext>
              </a:extLst>
            </p:cNvPr>
            <p:cNvCxnSpPr/>
            <p:nvPr/>
          </p:nvCxnSpPr>
          <p:spPr>
            <a:xfrm>
              <a:off x="2852530" y="2286000"/>
              <a:ext cx="0" cy="378078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EF8534B-A4BA-4FED-BC88-DEB68D3C4389}"/>
                </a:ext>
              </a:extLst>
            </p:cNvPr>
            <p:cNvCxnSpPr/>
            <p:nvPr/>
          </p:nvCxnSpPr>
          <p:spPr>
            <a:xfrm>
              <a:off x="8574156" y="2286000"/>
              <a:ext cx="0" cy="378078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E1A314-1639-4D9B-AF79-07D5E4A3ADF4}"/>
                </a:ext>
              </a:extLst>
            </p:cNvPr>
            <p:cNvCxnSpPr/>
            <p:nvPr/>
          </p:nvCxnSpPr>
          <p:spPr>
            <a:xfrm>
              <a:off x="5744817" y="1911627"/>
              <a:ext cx="0" cy="378078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074515-3E53-4B7D-A373-5EA10E180267}"/>
              </a:ext>
            </a:extLst>
          </p:cNvPr>
          <p:cNvCxnSpPr/>
          <p:nvPr/>
        </p:nvCxnSpPr>
        <p:spPr>
          <a:xfrm>
            <a:off x="2256183" y="3310121"/>
            <a:ext cx="0" cy="2524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5B09BB-6CA3-4F9F-8C7C-ED98949BDE67}"/>
              </a:ext>
            </a:extLst>
          </p:cNvPr>
          <p:cNvCxnSpPr/>
          <p:nvPr/>
        </p:nvCxnSpPr>
        <p:spPr>
          <a:xfrm>
            <a:off x="8133521" y="3310121"/>
            <a:ext cx="0" cy="2524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F13995-95D5-456A-B3AC-A6766C7D4FE7}"/>
              </a:ext>
            </a:extLst>
          </p:cNvPr>
          <p:cNvCxnSpPr>
            <a:endCxn id="8" idx="1"/>
          </p:cNvCxnSpPr>
          <p:nvPr/>
        </p:nvCxnSpPr>
        <p:spPr>
          <a:xfrm flipV="1">
            <a:off x="2256183" y="3822537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C54E36-6853-4750-92B8-DEC5A8308365}"/>
              </a:ext>
            </a:extLst>
          </p:cNvPr>
          <p:cNvCxnSpPr/>
          <p:nvPr/>
        </p:nvCxnSpPr>
        <p:spPr>
          <a:xfrm flipV="1">
            <a:off x="2256183" y="4362575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4B3BF2-72DB-4DF4-983E-EF94404E9C92}"/>
              </a:ext>
            </a:extLst>
          </p:cNvPr>
          <p:cNvCxnSpPr/>
          <p:nvPr/>
        </p:nvCxnSpPr>
        <p:spPr>
          <a:xfrm flipV="1">
            <a:off x="2256183" y="4854543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35A0A0-971E-4124-AFE7-9D8D9EDB9A1E}"/>
              </a:ext>
            </a:extLst>
          </p:cNvPr>
          <p:cNvCxnSpPr/>
          <p:nvPr/>
        </p:nvCxnSpPr>
        <p:spPr>
          <a:xfrm flipV="1">
            <a:off x="2256183" y="5349089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4B9682-7C56-4D38-91D8-1C07D02BAB8F}"/>
              </a:ext>
            </a:extLst>
          </p:cNvPr>
          <p:cNvCxnSpPr/>
          <p:nvPr/>
        </p:nvCxnSpPr>
        <p:spPr>
          <a:xfrm flipV="1">
            <a:off x="2256183" y="5833696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734492-A017-496E-BC17-949637C3A502}"/>
              </a:ext>
            </a:extLst>
          </p:cNvPr>
          <p:cNvCxnSpPr/>
          <p:nvPr/>
        </p:nvCxnSpPr>
        <p:spPr>
          <a:xfrm flipV="1">
            <a:off x="8128854" y="3818509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B277D6-8FAA-4C0C-8E02-D1F3C7044BEC}"/>
              </a:ext>
            </a:extLst>
          </p:cNvPr>
          <p:cNvCxnSpPr/>
          <p:nvPr/>
        </p:nvCxnSpPr>
        <p:spPr>
          <a:xfrm flipV="1">
            <a:off x="8128854" y="4358547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02D726-8016-4F06-A915-6D60748CAF8D}"/>
              </a:ext>
            </a:extLst>
          </p:cNvPr>
          <p:cNvCxnSpPr/>
          <p:nvPr/>
        </p:nvCxnSpPr>
        <p:spPr>
          <a:xfrm flipV="1">
            <a:off x="8128854" y="4850515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C984415-E4B1-4CE4-9B88-8D9B1AF480D0}"/>
              </a:ext>
            </a:extLst>
          </p:cNvPr>
          <p:cNvCxnSpPr/>
          <p:nvPr/>
        </p:nvCxnSpPr>
        <p:spPr>
          <a:xfrm flipV="1">
            <a:off x="8128854" y="5345061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942FBC-5DE2-419A-A05D-34AFE25E9477}"/>
              </a:ext>
            </a:extLst>
          </p:cNvPr>
          <p:cNvCxnSpPr/>
          <p:nvPr/>
        </p:nvCxnSpPr>
        <p:spPr>
          <a:xfrm flipV="1">
            <a:off x="8128854" y="5819729"/>
            <a:ext cx="457199" cy="4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00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2C556-3892-4BD6-B5F1-BBAF8A47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495" y="1500763"/>
            <a:ext cx="5881000" cy="1302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200C4-6BA3-4A6F-87AC-1991394F0C27}"/>
              </a:ext>
            </a:extLst>
          </p:cNvPr>
          <p:cNvSpPr txBox="1"/>
          <p:nvPr/>
        </p:nvSpPr>
        <p:spPr>
          <a:xfrm>
            <a:off x="2937495" y="3061247"/>
            <a:ext cx="621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T-PTLM </a:t>
            </a:r>
            <a:r>
              <a:rPr lang="en-IN" dirty="0">
                <a:sym typeface="Wingdings" panose="05000000000000000000" pitchFamily="2" charset="2"/>
              </a:rPr>
              <a:t> Transformer-based Pretrained Language Model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737114" y="973891"/>
            <a:ext cx="4330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Pretraining from Scratch (PTS)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1FFB1-0049-4686-BFEA-A3911C993FD9}"/>
              </a:ext>
            </a:extLst>
          </p:cNvPr>
          <p:cNvSpPr txBox="1"/>
          <p:nvPr/>
        </p:nvSpPr>
        <p:spPr>
          <a:xfrm>
            <a:off x="2036348" y="3819934"/>
            <a:ext cx="7941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All layers Embedding, Encoding and (or) Decoding are </a:t>
            </a:r>
          </a:p>
          <a:p>
            <a:r>
              <a:rPr lang="en-IN" sz="2400" dirty="0"/>
              <a:t>randomly initialized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766BA-BB22-4D53-B52D-6AEF48E4C87F}"/>
              </a:ext>
            </a:extLst>
          </p:cNvPr>
          <p:cNvSpPr txBox="1"/>
          <p:nvPr/>
        </p:nvSpPr>
        <p:spPr>
          <a:xfrm>
            <a:off x="2036347" y="4941738"/>
            <a:ext cx="4000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Computationally expensive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26D42-475C-4E25-BD83-F1F360A76655}"/>
              </a:ext>
            </a:extLst>
          </p:cNvPr>
          <p:cNvSpPr txBox="1"/>
          <p:nvPr/>
        </p:nvSpPr>
        <p:spPr>
          <a:xfrm>
            <a:off x="2042987" y="5714078"/>
            <a:ext cx="3546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example: BERT, GPT</a:t>
            </a:r>
          </a:p>
        </p:txBody>
      </p:sp>
    </p:spTree>
    <p:extLst>
      <p:ext uri="{BB962C8B-B14F-4D97-AF65-F5344CB8AC3E}">
        <p14:creationId xmlns:p14="http://schemas.microsoft.com/office/powerpoint/2010/main" val="38072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737114" y="973891"/>
            <a:ext cx="397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Continual Pretraining (CPT)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1FFB1-0049-4686-BFEA-A3911C993FD9}"/>
              </a:ext>
            </a:extLst>
          </p:cNvPr>
          <p:cNvSpPr txBox="1"/>
          <p:nvPr/>
        </p:nvSpPr>
        <p:spPr>
          <a:xfrm>
            <a:off x="1038821" y="3587880"/>
            <a:ext cx="432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Initialized with some pretrained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766BA-BB22-4D53-B52D-6AEF48E4C87F}"/>
              </a:ext>
            </a:extLst>
          </p:cNvPr>
          <p:cNvSpPr txBox="1"/>
          <p:nvPr/>
        </p:nvSpPr>
        <p:spPr>
          <a:xfrm>
            <a:off x="1018943" y="4519875"/>
            <a:ext cx="6064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Requires less training time and computational 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C3B4B-4128-46BB-8D63-8FF87B94B5B9}"/>
              </a:ext>
            </a:extLst>
          </p:cNvPr>
          <p:cNvSpPr txBox="1"/>
          <p:nvPr/>
        </p:nvSpPr>
        <p:spPr>
          <a:xfrm>
            <a:off x="1035521" y="5951738"/>
            <a:ext cx="364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example: </a:t>
            </a:r>
            <a:r>
              <a:rPr lang="en-IN" dirty="0" err="1"/>
              <a:t>BioBERT</a:t>
            </a:r>
            <a:r>
              <a:rPr lang="en-IN" dirty="0"/>
              <a:t>, </a:t>
            </a:r>
            <a:r>
              <a:rPr lang="en-IN" dirty="0" err="1"/>
              <a:t>HateBERT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CD427-30CA-47C0-AC43-10E57784F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043" y="1500762"/>
            <a:ext cx="6492803" cy="19966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54D427-571B-42C6-9ACE-D68F2694DFC3}"/>
              </a:ext>
            </a:extLst>
          </p:cNvPr>
          <p:cNvSpPr txBox="1"/>
          <p:nvPr/>
        </p:nvSpPr>
        <p:spPr>
          <a:xfrm>
            <a:off x="1010459" y="4078725"/>
            <a:ext cx="514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Further pretrained with domain specific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AA9DC-BF9F-49B2-B498-191CEE510159}"/>
              </a:ext>
            </a:extLst>
          </p:cNvPr>
          <p:cNvSpPr txBox="1"/>
          <p:nvPr/>
        </p:nvSpPr>
        <p:spPr>
          <a:xfrm>
            <a:off x="1045460" y="4995062"/>
            <a:ext cx="633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Adapt to domain specific vocabulary for the target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6A27D-3EE3-442F-9FA5-5A2620AD1927}"/>
              </a:ext>
            </a:extLst>
          </p:cNvPr>
          <p:cNvSpPr txBox="1"/>
          <p:nvPr/>
        </p:nvSpPr>
        <p:spPr>
          <a:xfrm>
            <a:off x="2777064" y="6463297"/>
            <a:ext cx="5834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 err="1"/>
              <a:t>Ke</a:t>
            </a:r>
            <a:r>
              <a:rPr lang="en-IN" sz="1400" dirty="0"/>
              <a:t> et al., </a:t>
            </a:r>
            <a:r>
              <a:rPr lang="en-IN" sz="1400" dirty="0">
                <a:hlinkClick r:id="rId3"/>
              </a:rPr>
              <a:t>Continual pre-training of large language models</a:t>
            </a:r>
            <a:r>
              <a:rPr lang="en-IN" sz="1400" dirty="0"/>
              <a:t>, ICLR, 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16F78F-6BEF-4B27-B971-BA05DE7330C4}"/>
              </a:ext>
            </a:extLst>
          </p:cNvPr>
          <p:cNvSpPr txBox="1"/>
          <p:nvPr/>
        </p:nvSpPr>
        <p:spPr>
          <a:xfrm>
            <a:off x="1010459" y="5431259"/>
            <a:ext cx="869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Catastrophic Forgetting: Overfit to domain specific corpus, losing generalizability</a:t>
            </a:r>
          </a:p>
        </p:txBody>
      </p:sp>
    </p:spTree>
    <p:extLst>
      <p:ext uri="{BB962C8B-B14F-4D97-AF65-F5344CB8AC3E}">
        <p14:creationId xmlns:p14="http://schemas.microsoft.com/office/powerpoint/2010/main" val="21501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12F0-B07A-44E4-AB6E-440756EE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644808" cy="1112836"/>
          </a:xfrm>
        </p:spPr>
        <p:txBody>
          <a:bodyPr>
            <a:normAutofit fontScale="90000"/>
          </a:bodyPr>
          <a:lstStyle/>
          <a:p>
            <a:r>
              <a:rPr lang="en-IN" dirty="0"/>
              <a:t>Continual Domain Adaptive Pre-Training (DAP)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EF6F-972B-42B1-8DC5-4475F724F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Sequence of unlabeled domain corpora to adapt the LM to these domains</a:t>
            </a:r>
          </a:p>
          <a:p>
            <a:r>
              <a:rPr lang="en-US" dirty="0">
                <a:solidFill>
                  <a:srgbClr val="C00000"/>
                </a:solidFill>
              </a:rPr>
              <a:t>Soft-masking mechanism </a:t>
            </a:r>
            <a:r>
              <a:rPr lang="en-US" dirty="0"/>
              <a:t>that directly controls the update to the LM</a:t>
            </a:r>
          </a:p>
          <a:p>
            <a:r>
              <a:rPr lang="en-US" dirty="0"/>
              <a:t>Mechanism to preserve the general knowledge in the original LM</a:t>
            </a:r>
          </a:p>
          <a:p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contrasts the representations </a:t>
            </a:r>
            <a:r>
              <a:rPr lang="en-US" dirty="0"/>
              <a:t>of the previously learned domain knowledge (including the general knowledge in the pre-trained LM) and the knowledge from the current full network to achieve knowledge integration.</a:t>
            </a:r>
          </a:p>
          <a:p>
            <a:r>
              <a:rPr lang="en-US" dirty="0">
                <a:solidFill>
                  <a:srgbClr val="C00000"/>
                </a:solidFill>
              </a:rPr>
              <a:t>Overcomes catastrophic forgetting</a:t>
            </a:r>
            <a:r>
              <a:rPr lang="en-US" dirty="0"/>
              <a:t>, but also achieves knowledge transfer to improve end-task performances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4F1C0-6484-4D86-9519-84B3834C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CA70-18D0-4C37-A0A3-FBD8F351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 vs DAP CL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BA9E5-DD40-46DD-A7FE-F9D35EEDCF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>
                    <a:solidFill>
                      <a:srgbClr val="C00000"/>
                    </a:solidFill>
                  </a:rPr>
                  <a:t>Normal CL: </a:t>
                </a:r>
                <a:r>
                  <a:rPr lang="en-IN" dirty="0"/>
                  <a:t>In</a:t>
                </a:r>
                <a:r>
                  <a:rPr lang="en-US" dirty="0" err="1"/>
                  <a:t>crementally</a:t>
                </a:r>
                <a:r>
                  <a:rPr lang="en-US" dirty="0"/>
                  <a:t> updates the LM using the most recent data that has a similar distribution as the pre-training data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DAP CL: </a:t>
                </a:r>
                <a:r>
                  <a:rPr lang="en-US" dirty="0"/>
                  <a:t>pre-trains a LM incrementally to adapt it to a sequence of domains</a:t>
                </a:r>
              </a:p>
              <a:p>
                <a:pPr lvl="1"/>
                <a:r>
                  <a:rPr lang="en-US" dirty="0"/>
                  <a:t>Continually learn to improve an LM’s ability to handle new or emerging domains or topics without forgetting the skills or knowledge learned in the past.</a:t>
                </a:r>
              </a:p>
              <a:p>
                <a:pPr lvl="1"/>
                <a:r>
                  <a:rPr lang="en-US" dirty="0"/>
                  <a:t>Starting from a pre-trained general LM (with 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), incrementally DAP train with a sequence of domain corpora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IN" b="0" dirty="0"/>
              </a:p>
              <a:p>
                <a:pPr lvl="1"/>
                <a:r>
                  <a:rPr lang="en-US" dirty="0"/>
                  <a:t>One a domain is trained, the data is no longer accessible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9BA9E5-DD40-46DD-A7FE-F9D35EEDC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r="-14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582AD-A9C2-412D-AFA6-320BBA90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5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C921-6121-4299-8F2E-EFBEBBBB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DAP CL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18EC-E9D2-431A-82A2-CB04423B1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It should not suffer from catastrophic forgetting (CF)</a:t>
            </a:r>
          </a:p>
          <a:p>
            <a:pPr lvl="1"/>
            <a:r>
              <a:rPr lang="en-US" dirty="0"/>
              <a:t>to overcome CF for each new domain</a:t>
            </a:r>
          </a:p>
          <a:p>
            <a:pPr lvl="1"/>
            <a:r>
              <a:rPr lang="en-US" dirty="0"/>
              <a:t>to overcome CF for the general language knowledge in the LM</a:t>
            </a:r>
          </a:p>
          <a:p>
            <a:r>
              <a:rPr lang="en-US" dirty="0"/>
              <a:t>It should encourage knowledge transfer (KT) across domains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Forward transfer: </a:t>
            </a:r>
            <a:r>
              <a:rPr lang="en-US" dirty="0"/>
              <a:t>learning a new domain by leveraging the knowledge from previous domains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Backwards transfer: </a:t>
            </a:r>
            <a:r>
              <a:rPr lang="en-US" dirty="0"/>
              <a:t>gaining improved performance on previous domains after learning a relevant new domain</a:t>
            </a:r>
          </a:p>
          <a:p>
            <a:r>
              <a:rPr lang="en-US" dirty="0"/>
              <a:t>It should work without requiring the domain-ID for each end-task fine-tuning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06C47-6FB2-4700-9513-672022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0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72A8-87CE-400E-B245-DEDCAA29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457AB-0BAD-40C7-A957-1F910F62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(1) Preserving the </a:t>
            </a:r>
            <a:r>
              <a:rPr lang="en-US" dirty="0">
                <a:solidFill>
                  <a:srgbClr val="C00000"/>
                </a:solidFill>
              </a:rPr>
              <a:t>important general language knowledge </a:t>
            </a:r>
            <a:r>
              <a:rPr lang="en-US" dirty="0"/>
              <a:t>in  </a:t>
            </a:r>
            <a:br>
              <a:rPr lang="en-US" dirty="0"/>
            </a:br>
            <a:r>
              <a:rPr lang="en-US" dirty="0"/>
              <a:t>     the LM and the </a:t>
            </a:r>
            <a:r>
              <a:rPr lang="en-US" dirty="0">
                <a:solidFill>
                  <a:srgbClr val="C00000"/>
                </a:solidFill>
              </a:rPr>
              <a:t>knowledge learned from previous domains   </a:t>
            </a:r>
            <a:br>
              <a:rPr lang="en-US" dirty="0"/>
            </a:br>
            <a:r>
              <a:rPr lang="en-US" dirty="0"/>
              <a:t>     to overcome CF by </a:t>
            </a:r>
            <a:r>
              <a:rPr lang="en-US" dirty="0">
                <a:solidFill>
                  <a:srgbClr val="C00000"/>
                </a:solidFill>
              </a:rPr>
              <a:t>soft-masking units based </a:t>
            </a:r>
            <a:r>
              <a:rPr lang="en-US" dirty="0"/>
              <a:t>on their 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>
                <a:solidFill>
                  <a:srgbClr val="C00000"/>
                </a:solidFill>
              </a:rPr>
              <a:t>importance</a:t>
            </a:r>
          </a:p>
          <a:p>
            <a:pPr marL="0" indent="0">
              <a:buNone/>
            </a:pPr>
            <a:r>
              <a:rPr lang="en-IN" dirty="0"/>
              <a:t>(2) </a:t>
            </a:r>
            <a:r>
              <a:rPr lang="en-US" dirty="0"/>
              <a:t>Encouraging the model </a:t>
            </a:r>
            <a:r>
              <a:rPr lang="en-US" dirty="0">
                <a:solidFill>
                  <a:srgbClr val="C00000"/>
                </a:solidFill>
              </a:rPr>
              <a:t>to learn complementary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     representations </a:t>
            </a:r>
            <a:r>
              <a:rPr lang="en-US" dirty="0"/>
              <a:t>of the current domain and previous </a:t>
            </a:r>
            <a:br>
              <a:rPr lang="en-US" dirty="0"/>
            </a:br>
            <a:r>
              <a:rPr lang="en-US" dirty="0"/>
              <a:t>     domains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F09A9-D2DC-4BBB-98CC-9D2F4D44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9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0F6D-551F-4C9C-9C91-C18294A4C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C0EB9-CEE3-489B-BD82-3A98EF19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1937E4-50DA-4C80-8F81-BAA20E4B46FB}"/>
              </a:ext>
            </a:extLst>
          </p:cNvPr>
          <p:cNvSpPr/>
          <p:nvPr/>
        </p:nvSpPr>
        <p:spPr>
          <a:xfrm>
            <a:off x="4641576" y="1103244"/>
            <a:ext cx="1977887" cy="715618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DAP Learning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E4C669-D1DF-42A9-B154-E9F386C354F7}"/>
              </a:ext>
            </a:extLst>
          </p:cNvPr>
          <p:cNvSpPr/>
          <p:nvPr/>
        </p:nvSpPr>
        <p:spPr>
          <a:xfrm>
            <a:off x="1891750" y="2559715"/>
            <a:ext cx="1977887" cy="715618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Initialization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FA8465-1775-408A-918B-CB85A942A3B3}"/>
              </a:ext>
            </a:extLst>
          </p:cNvPr>
          <p:cNvSpPr/>
          <p:nvPr/>
        </p:nvSpPr>
        <p:spPr>
          <a:xfrm>
            <a:off x="7570306" y="2559715"/>
            <a:ext cx="1977887" cy="715618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Continual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DBC41-0C67-47D3-AF7D-D9010B79302B}"/>
              </a:ext>
            </a:extLst>
          </p:cNvPr>
          <p:cNvSpPr txBox="1"/>
          <p:nvPr/>
        </p:nvSpPr>
        <p:spPr>
          <a:xfrm>
            <a:off x="1736866" y="3469892"/>
            <a:ext cx="35010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computes the importance of units to the general language knowledge in the 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done before the continual learning starts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D8808C-5D01-4C52-B3EF-BB86723C5C14}"/>
              </a:ext>
            </a:extLst>
          </p:cNvPr>
          <p:cNvSpPr/>
          <p:nvPr/>
        </p:nvSpPr>
        <p:spPr>
          <a:xfrm>
            <a:off x="6096000" y="3855115"/>
            <a:ext cx="1977887" cy="715618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Domain Training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19F08B-88D0-434E-A564-18B8640169C4}"/>
              </a:ext>
            </a:extLst>
          </p:cNvPr>
          <p:cNvSpPr/>
          <p:nvPr/>
        </p:nvSpPr>
        <p:spPr>
          <a:xfrm>
            <a:off x="9319591" y="3855115"/>
            <a:ext cx="1977887" cy="715618"/>
          </a:xfrm>
          <a:prstGeom prst="round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Importance Computation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CC9AC-A87F-48F2-AB20-9788847A158F}"/>
              </a:ext>
            </a:extLst>
          </p:cNvPr>
          <p:cNvSpPr txBox="1"/>
          <p:nvPr/>
        </p:nvSpPr>
        <p:spPr>
          <a:xfrm>
            <a:off x="5930761" y="4688850"/>
            <a:ext cx="25970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takes the importance scores accumulated so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input data of the current domain to learn the domain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1E7B8-CAF9-4486-BF91-D78FAADD96A3}"/>
              </a:ext>
            </a:extLst>
          </p:cNvPr>
          <p:cNvSpPr txBox="1"/>
          <p:nvPr/>
        </p:nvSpPr>
        <p:spPr>
          <a:xfrm>
            <a:off x="9220613" y="4688850"/>
            <a:ext cx="28057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computes the importance scores for the current domain for future use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F0855D-6BF7-4836-A209-DFFD74477895}"/>
              </a:ext>
            </a:extLst>
          </p:cNvPr>
          <p:cNvGrpSpPr/>
          <p:nvPr/>
        </p:nvGrpSpPr>
        <p:grpSpPr>
          <a:xfrm>
            <a:off x="2763079" y="1822176"/>
            <a:ext cx="5738191" cy="752451"/>
            <a:chOff x="2842591" y="1911627"/>
            <a:chExt cx="5738191" cy="75245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9BC9A34-4A06-436F-AC4F-F424763F99F9}"/>
                </a:ext>
              </a:extLst>
            </p:cNvPr>
            <p:cNvCxnSpPr/>
            <p:nvPr/>
          </p:nvCxnSpPr>
          <p:spPr>
            <a:xfrm>
              <a:off x="2842591" y="2286000"/>
              <a:ext cx="5738191" cy="0"/>
            </a:xfrm>
            <a:prstGeom prst="line">
              <a:avLst/>
            </a:prstGeom>
            <a:ln w="222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CC4626-6177-4DB0-9FA3-EEB08191608E}"/>
                </a:ext>
              </a:extLst>
            </p:cNvPr>
            <p:cNvCxnSpPr/>
            <p:nvPr/>
          </p:nvCxnSpPr>
          <p:spPr>
            <a:xfrm>
              <a:off x="2852530" y="2286000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4D368E-16B8-4011-B5EF-E8B012DBAEA4}"/>
                </a:ext>
              </a:extLst>
            </p:cNvPr>
            <p:cNvCxnSpPr/>
            <p:nvPr/>
          </p:nvCxnSpPr>
          <p:spPr>
            <a:xfrm>
              <a:off x="8574156" y="2286000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B8EE894-D12F-4DF3-BF93-11AC23387368}"/>
                </a:ext>
              </a:extLst>
            </p:cNvPr>
            <p:cNvCxnSpPr/>
            <p:nvPr/>
          </p:nvCxnSpPr>
          <p:spPr>
            <a:xfrm>
              <a:off x="5744817" y="1911627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4876-93D4-4682-B378-E9881F0B00F7}"/>
              </a:ext>
            </a:extLst>
          </p:cNvPr>
          <p:cNvGrpSpPr/>
          <p:nvPr/>
        </p:nvGrpSpPr>
        <p:grpSpPr>
          <a:xfrm>
            <a:off x="6553204" y="3282074"/>
            <a:ext cx="3952456" cy="580618"/>
            <a:chOff x="2842591" y="1911627"/>
            <a:chExt cx="5738191" cy="75245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BAEF32-0588-4A4C-B89D-F42DBC2D72FE}"/>
                </a:ext>
              </a:extLst>
            </p:cNvPr>
            <p:cNvCxnSpPr/>
            <p:nvPr/>
          </p:nvCxnSpPr>
          <p:spPr>
            <a:xfrm>
              <a:off x="2842591" y="2286000"/>
              <a:ext cx="5738191" cy="0"/>
            </a:xfrm>
            <a:prstGeom prst="line">
              <a:avLst/>
            </a:prstGeom>
            <a:ln w="222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46B0F38-C05D-41BB-9AC1-CA91BDE2163A}"/>
                </a:ext>
              </a:extLst>
            </p:cNvPr>
            <p:cNvCxnSpPr/>
            <p:nvPr/>
          </p:nvCxnSpPr>
          <p:spPr>
            <a:xfrm>
              <a:off x="2852530" y="2286000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A0418A-6D9C-4316-9CE9-0AE85F60F365}"/>
                </a:ext>
              </a:extLst>
            </p:cNvPr>
            <p:cNvCxnSpPr/>
            <p:nvPr/>
          </p:nvCxnSpPr>
          <p:spPr>
            <a:xfrm>
              <a:off x="8574156" y="2286000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5452924-071F-4C01-9FC3-29B5089333DD}"/>
                </a:ext>
              </a:extLst>
            </p:cNvPr>
            <p:cNvCxnSpPr/>
            <p:nvPr/>
          </p:nvCxnSpPr>
          <p:spPr>
            <a:xfrm>
              <a:off x="5744817" y="1911627"/>
              <a:ext cx="0" cy="378078"/>
            </a:xfrm>
            <a:prstGeom prst="line">
              <a:avLst/>
            </a:prstGeom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108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737114" y="973891"/>
            <a:ext cx="4470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Simultaneous Pretraining (SPT)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1FFB1-0049-4686-BFEA-A3911C993FD9}"/>
              </a:ext>
            </a:extLst>
          </p:cNvPr>
          <p:cNvSpPr txBox="1"/>
          <p:nvPr/>
        </p:nvSpPr>
        <p:spPr>
          <a:xfrm>
            <a:off x="1794195" y="4586120"/>
            <a:ext cx="88201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Pretrain from scratch using a corpus having both general and </a:t>
            </a:r>
          </a:p>
          <a:p>
            <a:r>
              <a:rPr lang="en-US" sz="2400" dirty="0"/>
              <a:t>domain-specific text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766BA-BB22-4D53-B52D-6AEF48E4C87F}"/>
              </a:ext>
            </a:extLst>
          </p:cNvPr>
          <p:cNvSpPr txBox="1"/>
          <p:nvPr/>
        </p:nvSpPr>
        <p:spPr>
          <a:xfrm>
            <a:off x="1794195" y="5498587"/>
            <a:ext cx="8023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Up sampling of domain-specific text </a:t>
            </a:r>
            <a:r>
              <a:rPr lang="en-US" sz="2400" dirty="0"/>
              <a:t>is done to ensure a </a:t>
            </a:r>
          </a:p>
          <a:p>
            <a:r>
              <a:rPr lang="en-US" sz="2400" dirty="0"/>
              <a:t>good number of domain-specific terms </a:t>
            </a:r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71425D-B64B-44BB-87F7-BE8ABEE64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763" y="1555063"/>
            <a:ext cx="6461572" cy="29163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DDF319-C515-46E6-AD3C-CE0497559ACD}"/>
              </a:ext>
            </a:extLst>
          </p:cNvPr>
          <p:cNvSpPr txBox="1"/>
          <p:nvPr/>
        </p:nvSpPr>
        <p:spPr>
          <a:xfrm>
            <a:off x="2512115" y="6322678"/>
            <a:ext cx="7745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Wada et al., </a:t>
            </a:r>
            <a:r>
              <a:rPr lang="en-US" sz="1400" dirty="0">
                <a:hlinkClick r:id="rId3"/>
              </a:rPr>
              <a:t>Pre-training technique to localize medical BERT and enhance biomedical BERT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42590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282796" y="1034753"/>
            <a:ext cx="570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 Knowledge Inherited Pretraining (KIPT)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DDF319-C515-46E6-AD3C-CE0497559ACD}"/>
              </a:ext>
            </a:extLst>
          </p:cNvPr>
          <p:cNvSpPr txBox="1"/>
          <p:nvPr/>
        </p:nvSpPr>
        <p:spPr>
          <a:xfrm>
            <a:off x="3155401" y="6280223"/>
            <a:ext cx="7745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Qin et al., </a:t>
            </a:r>
            <a:r>
              <a:rPr lang="en-US" sz="1400" dirty="0">
                <a:hlinkClick r:id="rId2"/>
              </a:rPr>
              <a:t>Knowledge Inheritance for Pre-trained Language Models</a:t>
            </a:r>
            <a:r>
              <a:rPr lang="en-US" sz="1400" dirty="0"/>
              <a:t>, 2022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BEB8D-0F5F-4EBA-9EC9-48D17F27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795" y="1664776"/>
            <a:ext cx="7423431" cy="18430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394150-EB90-40F4-9A04-897CF15D0D64}"/>
              </a:ext>
            </a:extLst>
          </p:cNvPr>
          <p:cNvSpPr txBox="1"/>
          <p:nvPr/>
        </p:nvSpPr>
        <p:spPr>
          <a:xfrm>
            <a:off x="3479130" y="5115361"/>
            <a:ext cx="5233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Self learn </a:t>
            </a:r>
            <a:r>
              <a:rPr lang="en-US" sz="2000" dirty="0">
                <a:sym typeface="Wingdings" panose="05000000000000000000" pitchFamily="2" charset="2"/>
              </a:rPr>
              <a:t> Self supervised learning</a:t>
            </a:r>
          </a:p>
          <a:p>
            <a:r>
              <a:rPr lang="en-US" sz="2000" dirty="0">
                <a:sym typeface="Wingdings" panose="05000000000000000000" pitchFamily="2" charset="2"/>
              </a:rPr>
              <a:t>L</a:t>
            </a:r>
            <a:r>
              <a:rPr lang="en-US" sz="2000" dirty="0"/>
              <a:t>earn from others </a:t>
            </a:r>
            <a:r>
              <a:rPr lang="en-US" sz="2000" dirty="0">
                <a:sym typeface="Wingdings" panose="05000000000000000000" pitchFamily="2" charset="2"/>
              </a:rPr>
              <a:t> Knowledge distillation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F364-6401-48F1-A734-83CE08E58D8E}"/>
              </a:ext>
            </a:extLst>
          </p:cNvPr>
          <p:cNvSpPr txBox="1"/>
          <p:nvPr/>
        </p:nvSpPr>
        <p:spPr>
          <a:xfrm>
            <a:off x="2226365" y="3759049"/>
            <a:ext cx="8050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</a:rPr>
              <a:t>How could existing PLMs benefit training large-scale PLMs in future?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2AB4AB-5096-45C4-A4C9-B491D66D8FB0}"/>
              </a:ext>
            </a:extLst>
          </p:cNvPr>
          <p:cNvSpPr txBox="1"/>
          <p:nvPr/>
        </p:nvSpPr>
        <p:spPr>
          <a:xfrm>
            <a:off x="2226365" y="4195455"/>
            <a:ext cx="8189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Knowledge Inheritance: </a:t>
            </a:r>
            <a:r>
              <a:rPr lang="en-IN" sz="2000" dirty="0"/>
              <a:t>Distil the knowledge summarized by an existing small PLM during pretraining to efficiently learn larger PLMs</a:t>
            </a:r>
          </a:p>
        </p:txBody>
      </p:sp>
    </p:spTree>
    <p:extLst>
      <p:ext uri="{BB962C8B-B14F-4D97-AF65-F5344CB8AC3E}">
        <p14:creationId xmlns:p14="http://schemas.microsoft.com/office/powerpoint/2010/main" val="406542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531271" y="1034753"/>
            <a:ext cx="570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 Knowledge Inherited Pretraining (KIPT)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FEC4F6-072D-48DA-8F97-C214A4A33F2E}"/>
              </a:ext>
            </a:extLst>
          </p:cNvPr>
          <p:cNvGrpSpPr/>
          <p:nvPr/>
        </p:nvGrpSpPr>
        <p:grpSpPr>
          <a:xfrm>
            <a:off x="2395330" y="1905747"/>
            <a:ext cx="7120070" cy="525845"/>
            <a:chOff x="2395330" y="1905747"/>
            <a:chExt cx="7120070" cy="52584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ADCB1B1-DFA1-492D-A6E6-096003099FFC}"/>
                </a:ext>
              </a:extLst>
            </p:cNvPr>
            <p:cNvSpPr txBox="1"/>
            <p:nvPr/>
          </p:nvSpPr>
          <p:spPr>
            <a:xfrm>
              <a:off x="2395330" y="1958007"/>
              <a:ext cx="18176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Textual input</a:t>
              </a:r>
              <a:r>
                <a:rPr lang="en-IN" sz="2000" b="1" dirty="0"/>
                <a:t>:</a:t>
              </a:r>
              <a:r>
                <a:rPr lang="en-IN" sz="2000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EA3FDC-7F48-40B8-B24D-09280BB93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0109" y="1913387"/>
              <a:ext cx="2682472" cy="51820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E0FDE4-96D0-458F-9C45-1A709483F559}"/>
                </a:ext>
              </a:extLst>
            </p:cNvPr>
            <p:cNvSpPr txBox="1"/>
            <p:nvPr/>
          </p:nvSpPr>
          <p:spPr>
            <a:xfrm>
              <a:off x="7390841" y="1942618"/>
              <a:ext cx="9168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/>
                <a:t>Label: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07F9DD-2EBF-4ADC-99CD-7837EDC24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7060" y="1905747"/>
              <a:ext cx="1158340" cy="38103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FA11214-4C17-49A4-9945-850D8DE48153}"/>
              </a:ext>
            </a:extLst>
          </p:cNvPr>
          <p:cNvGrpSpPr/>
          <p:nvPr/>
        </p:nvGrpSpPr>
        <p:grpSpPr>
          <a:xfrm>
            <a:off x="2411248" y="2580209"/>
            <a:ext cx="5130341" cy="502964"/>
            <a:chOff x="2411248" y="2580209"/>
            <a:chExt cx="5130341" cy="50296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338BE2-3887-42C6-9346-3B6E2EB42B53}"/>
                </a:ext>
              </a:extLst>
            </p:cNvPr>
            <p:cNvSpPr txBox="1"/>
            <p:nvPr/>
          </p:nvSpPr>
          <p:spPr>
            <a:xfrm>
              <a:off x="2411248" y="2656684"/>
              <a:ext cx="26839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Logits for</a:t>
              </a:r>
              <a:r>
                <a:rPr lang="en-IN" dirty="0"/>
                <a:t>                      </a:t>
              </a:r>
              <a:r>
                <a:rPr lang="en-IN" b="1" dirty="0"/>
                <a:t>:</a:t>
              </a:r>
              <a:r>
                <a:rPr lang="en-IN" dirty="0"/>
                <a:t> 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1AAE628-46BB-420B-AB06-A8CB65B88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26966" y="2622508"/>
              <a:ext cx="1196444" cy="35817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3DBBD5-4C25-4D48-A916-9EE9759F2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7736" y="2580209"/>
              <a:ext cx="2453853" cy="50296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E94F15-D361-4ED7-B4A3-71C31B86C3FC}"/>
              </a:ext>
            </a:extLst>
          </p:cNvPr>
          <p:cNvGrpSpPr/>
          <p:nvPr/>
        </p:nvGrpSpPr>
        <p:grpSpPr>
          <a:xfrm>
            <a:off x="2411248" y="3229422"/>
            <a:ext cx="6711607" cy="432833"/>
            <a:chOff x="2411248" y="3229422"/>
            <a:chExt cx="6711607" cy="43283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B44B3C-68E3-43BC-A0A4-150911F5B110}"/>
                </a:ext>
              </a:extLst>
            </p:cNvPr>
            <p:cNvSpPr txBox="1"/>
            <p:nvPr/>
          </p:nvSpPr>
          <p:spPr>
            <a:xfrm>
              <a:off x="2411248" y="3229422"/>
              <a:ext cx="171201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 err="1"/>
                <a:t>Softmaxing</a:t>
              </a:r>
              <a:r>
                <a:rPr lang="en-IN" sz="2000" dirty="0"/>
                <a:t>: 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83C9C5-0D1E-4B7C-A2D2-D249F0099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63668" y="3235498"/>
              <a:ext cx="5159187" cy="426757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94374AE-630D-4E76-BF41-80D7E268DE86}"/>
              </a:ext>
            </a:extLst>
          </p:cNvPr>
          <p:cNvGrpSpPr/>
          <p:nvPr/>
        </p:nvGrpSpPr>
        <p:grpSpPr>
          <a:xfrm>
            <a:off x="2434440" y="3810744"/>
            <a:ext cx="7320421" cy="426757"/>
            <a:chOff x="2434440" y="3810744"/>
            <a:chExt cx="7320421" cy="42675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DB234B1-CA42-45F5-8B70-9EC6AD578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40" y="3857137"/>
              <a:ext cx="441998" cy="32768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FB4FDDC-5C58-43C0-B554-F9849C621C8F}"/>
                </a:ext>
              </a:extLst>
            </p:cNvPr>
            <p:cNvSpPr txBox="1"/>
            <p:nvPr/>
          </p:nvSpPr>
          <p:spPr>
            <a:xfrm>
              <a:off x="2867393" y="3837391"/>
              <a:ext cx="29867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/>
                <a:t>Pretraining objective: 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2F7C481-9AB1-4E7B-A0FF-96AFFADD2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87291" y="3810744"/>
              <a:ext cx="4267570" cy="42675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56A2A5-38C4-416C-B131-47C544A20F40}"/>
              </a:ext>
            </a:extLst>
          </p:cNvPr>
          <p:cNvGrpSpPr/>
          <p:nvPr/>
        </p:nvGrpSpPr>
        <p:grpSpPr>
          <a:xfrm>
            <a:off x="2391370" y="4433595"/>
            <a:ext cx="6806508" cy="405322"/>
            <a:chOff x="2391370" y="4433595"/>
            <a:chExt cx="6806508" cy="40532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414A4E-72C8-485F-AB11-F2C494525CCD}"/>
                </a:ext>
              </a:extLst>
            </p:cNvPr>
            <p:cNvSpPr txBox="1"/>
            <p:nvPr/>
          </p:nvSpPr>
          <p:spPr>
            <a:xfrm>
              <a:off x="2391370" y="4438807"/>
              <a:ext cx="60976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/>
                <a:t>Develop a well-trained small PLM (     ) : optimizing 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BA4501F-7740-437E-9609-8DF1EC7B5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21502" y="4433595"/>
              <a:ext cx="876376" cy="39627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CA3BBFB-9E15-4569-A9EE-EFFF26CD3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26233" y="4560981"/>
              <a:ext cx="337159" cy="189138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7B6E87-9D7B-4FF1-8F89-E20FFF006BAB}"/>
              </a:ext>
            </a:extLst>
          </p:cNvPr>
          <p:cNvGrpSpPr/>
          <p:nvPr/>
        </p:nvGrpSpPr>
        <p:grpSpPr>
          <a:xfrm>
            <a:off x="2399264" y="4998505"/>
            <a:ext cx="7663660" cy="439866"/>
            <a:chOff x="2419142" y="4998505"/>
            <a:chExt cx="7663660" cy="43986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D35894-DC09-4F1D-87E8-FCF437BA5524}"/>
                </a:ext>
              </a:extLst>
            </p:cNvPr>
            <p:cNvSpPr txBox="1"/>
            <p:nvPr/>
          </p:nvSpPr>
          <p:spPr>
            <a:xfrm>
              <a:off x="2419142" y="5038261"/>
              <a:ext cx="60976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/>
                <a:t>Use       to train a larger PLM         with corpora   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91CF1C0-6861-4C63-A5F9-2951FAFEF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979407" y="5159324"/>
              <a:ext cx="337159" cy="189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31AD3E50-AD7C-4366-85C2-40C443729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22247" y="5085903"/>
              <a:ext cx="502964" cy="30482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B9DC568-3408-4BA1-B303-FC8566BFD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19466" y="4998505"/>
              <a:ext cx="2263336" cy="434378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36C76E-A22C-4485-8CB8-E7F1B9035D35}"/>
              </a:ext>
            </a:extLst>
          </p:cNvPr>
          <p:cNvSpPr/>
          <p:nvPr/>
        </p:nvSpPr>
        <p:spPr>
          <a:xfrm>
            <a:off x="1341782" y="4446014"/>
            <a:ext cx="1049587" cy="396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Teacher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C08F8B-4FC3-49E1-A087-4A3F5F5CB807}"/>
              </a:ext>
            </a:extLst>
          </p:cNvPr>
          <p:cNvSpPr/>
          <p:nvPr/>
        </p:nvSpPr>
        <p:spPr>
          <a:xfrm>
            <a:off x="1368315" y="5021761"/>
            <a:ext cx="1049587" cy="396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38132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C9EA-A4A4-4BB8-9F1B-2983A3141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Pre-Training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E3205-AF12-4DB7-9C38-E8F3708A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1277-7875-4B9F-A5D6-C1F7E08DCDAE}"/>
              </a:ext>
            </a:extLst>
          </p:cNvPr>
          <p:cNvSpPr txBox="1"/>
          <p:nvPr/>
        </p:nvSpPr>
        <p:spPr>
          <a:xfrm>
            <a:off x="3531271" y="1034753"/>
            <a:ext cx="5706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 Knowledge Inherited Pretraining (KIPT)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0ADB9A0-A7D0-4B42-B5E9-7E92A552A315}"/>
              </a:ext>
            </a:extLst>
          </p:cNvPr>
          <p:cNvGrpSpPr/>
          <p:nvPr/>
        </p:nvGrpSpPr>
        <p:grpSpPr>
          <a:xfrm>
            <a:off x="2361553" y="1549711"/>
            <a:ext cx="8621186" cy="707886"/>
            <a:chOff x="2411248" y="1678918"/>
            <a:chExt cx="8154048" cy="70788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B44B3C-68E3-43BC-A0A4-150911F5B110}"/>
                </a:ext>
              </a:extLst>
            </p:cNvPr>
            <p:cNvSpPr txBox="1"/>
            <p:nvPr/>
          </p:nvSpPr>
          <p:spPr>
            <a:xfrm>
              <a:off x="2411248" y="1678918"/>
              <a:ext cx="81540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solidFill>
                    <a:srgbClr val="C00000"/>
                  </a:solidFill>
                </a:rPr>
                <a:t>Knowledge Distillation</a:t>
              </a:r>
              <a:r>
                <a:rPr lang="en-IN" sz="2000" dirty="0"/>
                <a:t>: Bringing the student’s (        ) knowledge closer  </a:t>
              </a:r>
              <a:br>
                <a:rPr lang="en-IN" sz="2000" dirty="0"/>
              </a:br>
              <a:r>
                <a:rPr lang="en-IN" sz="2000" dirty="0"/>
                <a:t>                                            to that of the teacher (        ) 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E83AB4C4-81B9-4B53-B8D8-186975BE4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6050" y="1735518"/>
              <a:ext cx="439531" cy="266382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25E6EB0-1C9A-4BA7-BEB6-14D2807B8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98285" y="2068785"/>
              <a:ext cx="449043" cy="251902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3747B68-1DAB-4AC4-B1D3-2B76C6867348}"/>
              </a:ext>
            </a:extLst>
          </p:cNvPr>
          <p:cNvSpPr txBox="1"/>
          <p:nvPr/>
        </p:nvSpPr>
        <p:spPr>
          <a:xfrm>
            <a:off x="3008884" y="2385374"/>
            <a:ext cx="7185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Minimizing the </a:t>
            </a:r>
            <a:r>
              <a:rPr lang="en-US" sz="2000" dirty="0" err="1"/>
              <a:t>Kullback-Leibler</a:t>
            </a:r>
            <a:r>
              <a:rPr lang="en-US" sz="2000" dirty="0"/>
              <a:t> (KL) divergence   </a:t>
            </a:r>
            <a:br>
              <a:rPr lang="en-US" sz="2000" dirty="0"/>
            </a:br>
            <a:r>
              <a:rPr lang="en-US" sz="2000" dirty="0"/>
              <a:t>     between two probability distributions for the same input </a:t>
            </a:r>
            <a:endParaRPr lang="en-IN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805CCB-F478-4A1B-B680-134C34BDB6A9}"/>
              </a:ext>
            </a:extLst>
          </p:cNvPr>
          <p:cNvGrpSpPr/>
          <p:nvPr/>
        </p:nvGrpSpPr>
        <p:grpSpPr>
          <a:xfrm>
            <a:off x="3256799" y="3177078"/>
            <a:ext cx="7597177" cy="441998"/>
            <a:chOff x="3256799" y="3177078"/>
            <a:chExt cx="7597177" cy="441998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6600975-C9EA-4120-B6C7-162E786DA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5602" y="3228777"/>
              <a:ext cx="1318374" cy="358171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32CD386-4E4B-4C1C-A2F6-46DD3AC8E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56799" y="3177078"/>
              <a:ext cx="6020322" cy="441998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1CC023B4-7035-46B5-A46C-9B1D9D8423A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37106" y="3804497"/>
            <a:ext cx="7003387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7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814C-C7FD-4694-B865-6DB052A4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a Student Surpasses the Teacher?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2BDE87-AFDF-4771-BA13-A7F239611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      becomes more and more knowledgeable and surpass the teacher eventually </a:t>
                </a:r>
              </a:p>
              <a:p>
                <a:pPr lvl="1"/>
                <a:r>
                  <a:rPr lang="en-US" dirty="0"/>
                  <a:t>It no longer needs the guidance from the teacher </a:t>
                </a:r>
                <a:r>
                  <a:rPr lang="en-IN" dirty="0"/>
                  <a:t>  </a:t>
                </a:r>
              </a:p>
              <a:p>
                <a:pPr lvl="1"/>
                <a:r>
                  <a:rPr lang="en-US" dirty="0"/>
                  <a:t>It should conduct pure self-learning from then on</a:t>
                </a:r>
              </a:p>
              <a:p>
                <a:r>
                  <a:rPr lang="en-US" dirty="0"/>
                  <a:t>Time adaptive decay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2BDE87-AFDF-4771-BA13-A7F239611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7117E-7592-449D-9D4A-3428EAEA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589CF5-9A4E-4E4A-B3B4-7F364DE5DC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58104" y="1321722"/>
            <a:ext cx="571550" cy="35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32AC23-A49A-4292-95D3-CC60B8AC6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4345" y="2628385"/>
            <a:ext cx="503482" cy="333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FF4FC8-1B90-471D-8965-503A96EC0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534" y="4532723"/>
            <a:ext cx="6002199" cy="685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4869DF-0A76-4D02-A9E6-04F6D4EBA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632" y="5364562"/>
            <a:ext cx="3223539" cy="4038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44914E-D682-4E79-9857-6E59900235C5}"/>
                  </a:ext>
                </a:extLst>
              </p:cNvPr>
              <p:cNvSpPr txBox="1"/>
              <p:nvPr/>
            </p:nvSpPr>
            <p:spPr>
              <a:xfrm>
                <a:off x="1969632" y="5914976"/>
                <a:ext cx="3165482" cy="461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Linear decay with slope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44914E-D682-4E79-9857-6E599002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632" y="5914976"/>
                <a:ext cx="3165482" cy="461473"/>
              </a:xfrm>
              <a:prstGeom prst="rect">
                <a:avLst/>
              </a:prstGeom>
              <a:blipFill>
                <a:blip r:embed="rId7"/>
                <a:stretch>
                  <a:fillRect l="-1541" b="-78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B45B8A-31F3-4D73-829D-09A6048FFC60}"/>
                  </a:ext>
                </a:extLst>
              </p:cNvPr>
              <p:cNvSpPr txBox="1"/>
              <p:nvPr/>
            </p:nvSpPr>
            <p:spPr>
              <a:xfrm>
                <a:off x="1969632" y="6356927"/>
                <a:ext cx="4045275" cy="518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Inheritance continues till for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/>
                  <a:t> steps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B45B8A-31F3-4D73-829D-09A6048FF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632" y="6356927"/>
                <a:ext cx="4045275" cy="518475"/>
              </a:xfrm>
              <a:prstGeom prst="rect">
                <a:avLst/>
              </a:prstGeom>
              <a:blipFill>
                <a:blip r:embed="rId8"/>
                <a:stretch>
                  <a:fillRect l="-1205" r="-602" b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21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2780B-9602-4411-A366-343FE2C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DDEFD-A678-4A61-BDED-DA335752CCA5}"/>
              </a:ext>
            </a:extLst>
          </p:cNvPr>
          <p:cNvSpPr txBox="1"/>
          <p:nvPr/>
        </p:nvSpPr>
        <p:spPr>
          <a:xfrm>
            <a:off x="3824083" y="3013501"/>
            <a:ext cx="46241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98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B7DEF-5A1B-4D15-A5BA-3C87B8CA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5683-8043-4F5D-9D9E-F74E055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A6E008-B138-4BBB-B68D-209A6A4285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83045" y="895291"/>
            <a:ext cx="4767042" cy="12386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A7074-B555-41AC-B76E-5E8EE7470857}"/>
              </a:ext>
            </a:extLst>
          </p:cNvPr>
          <p:cNvSpPr txBox="1"/>
          <p:nvPr/>
        </p:nvSpPr>
        <p:spPr>
          <a:xfrm>
            <a:off x="3876261" y="2178104"/>
            <a:ext cx="35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Raw training data sequence: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5D684-E202-4C23-A344-C218F203F2C3}"/>
              </a:ext>
            </a:extLst>
          </p:cNvPr>
          <p:cNvSpPr txBox="1"/>
          <p:nvPr/>
        </p:nvSpPr>
        <p:spPr>
          <a:xfrm>
            <a:off x="4744278" y="2596314"/>
            <a:ext cx="3716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hear the bell ringing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EE7F6-1E20-408D-87EB-DE764925687A}"/>
              </a:ext>
            </a:extLst>
          </p:cNvPr>
          <p:cNvSpPr txBox="1"/>
          <p:nvPr/>
        </p:nvSpPr>
        <p:spPr>
          <a:xfrm>
            <a:off x="3850897" y="2996424"/>
            <a:ext cx="4299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Processed training data sequence: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DDDDC-F785-49CC-A193-A69F163D73F7}"/>
              </a:ext>
            </a:extLst>
          </p:cNvPr>
          <p:cNvSpPr txBox="1"/>
          <p:nvPr/>
        </p:nvSpPr>
        <p:spPr>
          <a:xfrm>
            <a:off x="4718914" y="3414634"/>
            <a:ext cx="5053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hear the bell ________________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0BC11-13FD-4EC4-A143-EC423D140CBC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Causal Language Modelling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0B7B7-80F4-4894-B860-9BFFD0D25519}"/>
              </a:ext>
            </a:extLst>
          </p:cNvPr>
          <p:cNvSpPr txBox="1"/>
          <p:nvPr/>
        </p:nvSpPr>
        <p:spPr>
          <a:xfrm>
            <a:off x="3876261" y="4871619"/>
            <a:ext cx="35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Raw training data sequence: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5460CA-3B6E-40AF-A1DB-75B834FA2248}"/>
              </a:ext>
            </a:extLst>
          </p:cNvPr>
          <p:cNvSpPr txBox="1"/>
          <p:nvPr/>
        </p:nvSpPr>
        <p:spPr>
          <a:xfrm>
            <a:off x="4744278" y="5289829"/>
            <a:ext cx="3716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hear the bell ringing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05A7B-5677-41A9-8999-CAED4C5D5F09}"/>
              </a:ext>
            </a:extLst>
          </p:cNvPr>
          <p:cNvSpPr txBox="1"/>
          <p:nvPr/>
        </p:nvSpPr>
        <p:spPr>
          <a:xfrm>
            <a:off x="3850897" y="5689939"/>
            <a:ext cx="4299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Processed training data sequence: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AECED2-48FC-49FF-8F07-FB44E808C109}"/>
              </a:ext>
            </a:extLst>
          </p:cNvPr>
          <p:cNvSpPr txBox="1"/>
          <p:nvPr/>
        </p:nvSpPr>
        <p:spPr>
          <a:xfrm>
            <a:off x="4718914" y="6108149"/>
            <a:ext cx="4081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[MASK] the bell [MASK]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241D4-341F-4124-B673-1A862F8C4160}"/>
              </a:ext>
            </a:extLst>
          </p:cNvPr>
          <p:cNvSpPr txBox="1"/>
          <p:nvPr/>
        </p:nvSpPr>
        <p:spPr>
          <a:xfrm>
            <a:off x="699880" y="3969951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Masked Language Modelling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99B1A4-BDC2-4F2D-B0FA-6956960995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83045" y="3931000"/>
            <a:ext cx="5182049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5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B7DEF-5A1B-4D15-A5BA-3C87B8CA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5683-8043-4F5D-9D9E-F74E055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A7074-B555-41AC-B76E-5E8EE7470857}"/>
              </a:ext>
            </a:extLst>
          </p:cNvPr>
          <p:cNvSpPr txBox="1"/>
          <p:nvPr/>
        </p:nvSpPr>
        <p:spPr>
          <a:xfrm>
            <a:off x="3876261" y="2178104"/>
            <a:ext cx="35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Raw training data sequence: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5D684-E202-4C23-A344-C218F203F2C3}"/>
              </a:ext>
            </a:extLst>
          </p:cNvPr>
          <p:cNvSpPr txBox="1"/>
          <p:nvPr/>
        </p:nvSpPr>
        <p:spPr>
          <a:xfrm>
            <a:off x="4744278" y="2596314"/>
            <a:ext cx="3716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hear the bell ringing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EE7F6-1E20-408D-87EB-DE764925687A}"/>
              </a:ext>
            </a:extLst>
          </p:cNvPr>
          <p:cNvSpPr txBox="1"/>
          <p:nvPr/>
        </p:nvSpPr>
        <p:spPr>
          <a:xfrm>
            <a:off x="3850897" y="2996424"/>
            <a:ext cx="4299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Processed training data sequence: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DDDDC-F785-49CC-A193-A69F163D73F7}"/>
              </a:ext>
            </a:extLst>
          </p:cNvPr>
          <p:cNvSpPr txBox="1"/>
          <p:nvPr/>
        </p:nvSpPr>
        <p:spPr>
          <a:xfrm>
            <a:off x="4718914" y="3414634"/>
            <a:ext cx="3319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When we </a:t>
            </a:r>
            <a:r>
              <a:rPr lang="en-US" sz="2000" dirty="0">
                <a:solidFill>
                  <a:srgbClr val="FF0000"/>
                </a:solidFill>
              </a:rPr>
              <a:t>ate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the bell </a:t>
            </a:r>
            <a:r>
              <a:rPr lang="en-US" sz="2000" dirty="0">
                <a:solidFill>
                  <a:srgbClr val="FF0000"/>
                </a:solidFill>
              </a:rPr>
              <a:t>dead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0BC11-13FD-4EC4-A143-EC423D140CBC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Replaced Token Detection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241D4-341F-4124-B673-1A862F8C4160}"/>
              </a:ext>
            </a:extLst>
          </p:cNvPr>
          <p:cNvSpPr txBox="1"/>
          <p:nvPr/>
        </p:nvSpPr>
        <p:spPr>
          <a:xfrm>
            <a:off x="699880" y="3969951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Shuffled Token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EDE4B-37C8-45A5-B7E3-4993D024A8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50897" y="1042838"/>
            <a:ext cx="4092295" cy="967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C19C6D-DEA8-47EB-89D7-6CC873E54A8F}"/>
              </a:ext>
            </a:extLst>
          </p:cNvPr>
          <p:cNvSpPr txBox="1"/>
          <p:nvPr/>
        </p:nvSpPr>
        <p:spPr>
          <a:xfrm>
            <a:off x="5640456" y="286743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E34C1-2296-4E22-B6F0-0A5BF07D0EED}"/>
                  </a:ext>
                </a:extLst>
              </p:cNvPr>
              <p:cNvSpPr txBox="1"/>
              <p:nvPr/>
            </p:nvSpPr>
            <p:spPr>
              <a:xfrm>
                <a:off x="8618703" y="1326895"/>
                <a:ext cx="1452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E34C1-2296-4E22-B6F0-0A5BF07D0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703" y="1326895"/>
                <a:ext cx="1452192" cy="461665"/>
              </a:xfrm>
              <a:prstGeom prst="rect">
                <a:avLst/>
              </a:prstGeom>
              <a:blipFill>
                <a:blip r:embed="rId3"/>
                <a:stretch>
                  <a:fillRect r="-42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1424FA9-7ED6-40B9-83B4-CA1B159A0726}"/>
              </a:ext>
            </a:extLst>
          </p:cNvPr>
          <p:cNvSpPr txBox="1"/>
          <p:nvPr/>
        </p:nvSpPr>
        <p:spPr>
          <a:xfrm>
            <a:off x="8700052" y="1735823"/>
            <a:ext cx="3192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A token is replaced or not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A460E7-65AD-4AD5-B37E-E9C19D802FF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07886" y="3779436"/>
            <a:ext cx="4130398" cy="10821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C12E42-8D9A-48BB-8E0E-293BF0409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172" y="4988320"/>
            <a:ext cx="5006774" cy="16536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396682-DB7D-4B4D-95DB-17BCB800231D}"/>
                  </a:ext>
                </a:extLst>
              </p:cNvPr>
              <p:cNvSpPr txBox="1"/>
              <p:nvPr/>
            </p:nvSpPr>
            <p:spPr>
              <a:xfrm>
                <a:off x="8918174" y="3973424"/>
                <a:ext cx="14521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∈{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396682-DB7D-4B4D-95DB-17BCB8002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174" y="3973424"/>
                <a:ext cx="1452192" cy="461665"/>
              </a:xfrm>
              <a:prstGeom prst="rect">
                <a:avLst/>
              </a:prstGeom>
              <a:blipFill>
                <a:blip r:embed="rId6"/>
                <a:stretch>
                  <a:fillRect r="-420"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540958B-4556-4B6D-AC26-333BEC7F6DF0}"/>
              </a:ext>
            </a:extLst>
          </p:cNvPr>
          <p:cNvSpPr txBox="1"/>
          <p:nvPr/>
        </p:nvSpPr>
        <p:spPr>
          <a:xfrm>
            <a:off x="8999523" y="4529391"/>
            <a:ext cx="3088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A token is shuffled or not</a:t>
            </a:r>
          </a:p>
        </p:txBody>
      </p:sp>
    </p:spTree>
    <p:extLst>
      <p:ext uri="{BB962C8B-B14F-4D97-AF65-F5344CB8AC3E}">
        <p14:creationId xmlns:p14="http://schemas.microsoft.com/office/powerpoint/2010/main" val="247986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  <p:bldP spid="19" grpId="0"/>
      <p:bldP spid="7" grpId="0"/>
      <p:bldP spid="20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B7DEF-5A1B-4D15-A5BA-3C87B8CA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5683-8043-4F5D-9D9E-F74E055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DDDDC-F785-49CC-A193-A69F163D73F7}"/>
              </a:ext>
            </a:extLst>
          </p:cNvPr>
          <p:cNvSpPr txBox="1"/>
          <p:nvPr/>
        </p:nvSpPr>
        <p:spPr>
          <a:xfrm>
            <a:off x="4173649" y="3304739"/>
            <a:ext cx="305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Cross lingual pretraining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0BC11-13FD-4EC4-A143-EC423D140CBC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Translation Language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698A3C-0CB0-4F85-9B60-845B5F5F2C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03943" y="1069812"/>
            <a:ext cx="7026249" cy="19661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9EC885-36AA-4BF1-80AB-8B58DD40BDEC}"/>
              </a:ext>
            </a:extLst>
          </p:cNvPr>
          <p:cNvSpPr txBox="1"/>
          <p:nvPr/>
        </p:nvSpPr>
        <p:spPr>
          <a:xfrm>
            <a:off x="1421296" y="4014497"/>
            <a:ext cx="35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Raw training data sequence: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CB5122-E239-4671-B625-B0FAB094D665}"/>
              </a:ext>
            </a:extLst>
          </p:cNvPr>
          <p:cNvSpPr txBox="1"/>
          <p:nvPr/>
        </p:nvSpPr>
        <p:spPr>
          <a:xfrm>
            <a:off x="2289313" y="4432707"/>
            <a:ext cx="6426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&lt;we will know immediately that our enemy is coming.</a:t>
            </a:r>
          </a:p>
          <a:p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हमें तुरंत पता चल जाएगा कि हमारा दुश्मन आ रहा है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A9CC0F-E6BD-47C0-9B89-52F189F3799F}"/>
              </a:ext>
            </a:extLst>
          </p:cNvPr>
          <p:cNvSpPr txBox="1"/>
          <p:nvPr/>
        </p:nvSpPr>
        <p:spPr>
          <a:xfrm>
            <a:off x="1400902" y="5223272"/>
            <a:ext cx="42991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Processed training data sequence: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46EC1-ACDF-408E-BFAF-4070C99144D5}"/>
              </a:ext>
            </a:extLst>
          </p:cNvPr>
          <p:cNvSpPr txBox="1"/>
          <p:nvPr/>
        </p:nvSpPr>
        <p:spPr>
          <a:xfrm>
            <a:off x="3185491" y="470383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EE5C89E-1467-4968-AC39-175DCFCFD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30313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31D40A-0D81-4194-A3AC-CEBC7671F814}"/>
              </a:ext>
            </a:extLst>
          </p:cNvPr>
          <p:cNvSpPr txBox="1"/>
          <p:nvPr/>
        </p:nvSpPr>
        <p:spPr>
          <a:xfrm>
            <a:off x="2289312" y="5624771"/>
            <a:ext cx="77707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&lt;we will </a:t>
            </a:r>
            <a:r>
              <a:rPr lang="en-US" sz="2000" dirty="0">
                <a:solidFill>
                  <a:srgbClr val="0070C0"/>
                </a:solidFill>
              </a:rPr>
              <a:t>[MASK]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immediately </a:t>
            </a:r>
            <a:r>
              <a:rPr lang="en-US" sz="2000" dirty="0">
                <a:solidFill>
                  <a:srgbClr val="0070C0"/>
                </a:solidFill>
              </a:rPr>
              <a:t>[MASK]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our enemy </a:t>
            </a:r>
            <a:r>
              <a:rPr lang="en-US" sz="2000" dirty="0">
                <a:solidFill>
                  <a:srgbClr val="0070C0"/>
                </a:solidFill>
              </a:rPr>
              <a:t>[MASK]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coming.</a:t>
            </a:r>
          </a:p>
          <a:p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हमें </a:t>
            </a:r>
            <a:r>
              <a:rPr lang="en-IN" sz="2000" dirty="0">
                <a:solidFill>
                  <a:srgbClr val="0070C0"/>
                </a:solidFill>
              </a:rPr>
              <a:t>[MASK]</a:t>
            </a:r>
            <a:r>
              <a:rPr lang="hi-IN" sz="2000" dirty="0">
                <a:solidFill>
                  <a:srgbClr val="0070C0"/>
                </a:solidFill>
              </a:rPr>
              <a:t> </a:t>
            </a:r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पता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2000" dirty="0">
                <a:solidFill>
                  <a:srgbClr val="0070C0"/>
                </a:solidFill>
              </a:rPr>
              <a:t>[MASK]</a:t>
            </a:r>
            <a:r>
              <a:rPr lang="hi-IN" sz="2000" dirty="0">
                <a:solidFill>
                  <a:srgbClr val="0070C0"/>
                </a:solidFill>
              </a:rPr>
              <a:t> </a:t>
            </a:r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जाएगा कि हमारा </a:t>
            </a:r>
            <a:r>
              <a:rPr lang="en-IN" sz="2000" dirty="0">
                <a:solidFill>
                  <a:srgbClr val="0070C0"/>
                </a:solidFill>
              </a:rPr>
              <a:t>[MASK]</a:t>
            </a:r>
            <a:r>
              <a:rPr lang="hi-IN" sz="2000" dirty="0">
                <a:solidFill>
                  <a:srgbClr val="0070C0"/>
                </a:solidFill>
              </a:rPr>
              <a:t> </a:t>
            </a:r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आ रहा है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hi-I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700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3" grpId="0"/>
      <p:bldP spid="27" grpId="0"/>
      <p:bldP spid="28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B7DEF-5A1B-4D15-A5BA-3C87B8CA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5683-8043-4F5D-9D9E-F74E055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A7074-B555-41AC-B76E-5E8EE7470857}"/>
              </a:ext>
            </a:extLst>
          </p:cNvPr>
          <p:cNvSpPr txBox="1"/>
          <p:nvPr/>
        </p:nvSpPr>
        <p:spPr>
          <a:xfrm>
            <a:off x="1983820" y="3146422"/>
            <a:ext cx="3583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Raw training data sequence: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0BC11-13FD-4EC4-A143-EC423D140CBC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Alternating Language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57140-1EEC-45DF-BECC-D21D8031FC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20994" y="1119104"/>
            <a:ext cx="4968671" cy="9678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12D4FB2-B500-49DD-9653-48B5C71DE8EF}"/>
              </a:ext>
            </a:extLst>
          </p:cNvPr>
          <p:cNvSpPr txBox="1"/>
          <p:nvPr/>
        </p:nvSpPr>
        <p:spPr>
          <a:xfrm>
            <a:off x="4040122" y="2324401"/>
            <a:ext cx="4649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Cross lingual pretraining/Code Mixing</a:t>
            </a:r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D90226-961A-49C6-A8E8-C5836CBCA8E1}"/>
              </a:ext>
            </a:extLst>
          </p:cNvPr>
          <p:cNvSpPr txBox="1"/>
          <p:nvPr/>
        </p:nvSpPr>
        <p:spPr>
          <a:xfrm>
            <a:off x="2558293" y="3474951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Buddy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, keep tomorrow’s meeting bit late because I have a doctor’s appointment tomorrow.</a:t>
            </a:r>
          </a:p>
          <a:p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Yaar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IN" sz="1800" dirty="0" err="1">
                <a:solidFill>
                  <a:schemeClr val="accent1">
                    <a:lumMod val="75000"/>
                  </a:schemeClr>
                </a:solidFill>
              </a:rPr>
              <a:t>kal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 ………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kaal doctor se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molakat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hain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hi-IN" sz="1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B26B1A-0024-4A78-A022-0C82AD7F1A1E}"/>
              </a:ext>
            </a:extLst>
          </p:cNvPr>
          <p:cNvGrpSpPr/>
          <p:nvPr/>
        </p:nvGrpSpPr>
        <p:grpSpPr>
          <a:xfrm>
            <a:off x="1998212" y="4569500"/>
            <a:ext cx="8522000" cy="1058041"/>
            <a:chOff x="1998212" y="4569500"/>
            <a:chExt cx="8522000" cy="105804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EEE7F6-1E20-408D-87EB-DE764925687A}"/>
                </a:ext>
              </a:extLst>
            </p:cNvPr>
            <p:cNvSpPr txBox="1"/>
            <p:nvPr/>
          </p:nvSpPr>
          <p:spPr>
            <a:xfrm>
              <a:off x="1998212" y="4569500"/>
              <a:ext cx="4299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Processed training data sequence: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DBFCF4-250F-42B8-A64C-AED7AD954B0F}"/>
                </a:ext>
              </a:extLst>
            </p:cNvPr>
            <p:cNvSpPr txBox="1"/>
            <p:nvPr/>
          </p:nvSpPr>
          <p:spPr>
            <a:xfrm>
              <a:off x="2209574" y="4931075"/>
              <a:ext cx="83106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/>
                <a:t>Yaar</a:t>
              </a:r>
              <a:r>
                <a:rPr lang="en-US" dirty="0"/>
                <a:t>, </a:t>
              </a:r>
              <a:r>
                <a:rPr lang="en-US" dirty="0" err="1"/>
                <a:t>kal</a:t>
              </a:r>
              <a:r>
                <a:rPr lang="en-US" dirty="0"/>
                <a:t> meeting  </a:t>
              </a:r>
              <a:r>
                <a:rPr lang="en-US" dirty="0" err="1"/>
                <a:t>thodi</a:t>
              </a:r>
              <a:r>
                <a:rPr lang="en-US" dirty="0"/>
                <a:t> late </a:t>
              </a:r>
              <a:r>
                <a:rPr lang="en-US" dirty="0" err="1"/>
                <a:t>rakhna</a:t>
              </a:r>
              <a:r>
                <a:rPr lang="en-US" dirty="0"/>
                <a:t>,   </a:t>
              </a:r>
              <a:r>
                <a:rPr lang="en-US" dirty="0" err="1"/>
                <a:t>kiunki</a:t>
              </a:r>
              <a:r>
                <a:rPr lang="en-US" dirty="0"/>
                <a:t> subha I have a doctor’s appointment</a:t>
              </a:r>
              <a:endParaRPr lang="en-IN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84ECE6D-8584-4ED3-905B-51B1F8C6C0E7}"/>
                </a:ext>
              </a:extLst>
            </p:cNvPr>
            <p:cNvSpPr/>
            <p:nvPr/>
          </p:nvSpPr>
          <p:spPr>
            <a:xfrm>
              <a:off x="3205902" y="4985638"/>
              <a:ext cx="928776" cy="33149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6EF8597-C5DF-4306-A9D3-979693B61648}"/>
                </a:ext>
              </a:extLst>
            </p:cNvPr>
            <p:cNvSpPr/>
            <p:nvPr/>
          </p:nvSpPr>
          <p:spPr>
            <a:xfrm>
              <a:off x="5167224" y="4965455"/>
              <a:ext cx="928776" cy="33149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1B76721-3C63-432E-BBE6-365025AD9901}"/>
                </a:ext>
              </a:extLst>
            </p:cNvPr>
            <p:cNvSpPr/>
            <p:nvPr/>
          </p:nvSpPr>
          <p:spPr>
            <a:xfrm>
              <a:off x="6790615" y="4922748"/>
              <a:ext cx="695739" cy="33149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341795B-1879-4869-BF9A-031F39CC4CA5}"/>
                </a:ext>
              </a:extLst>
            </p:cNvPr>
            <p:cNvSpPr/>
            <p:nvPr/>
          </p:nvSpPr>
          <p:spPr>
            <a:xfrm>
              <a:off x="8357911" y="4973339"/>
              <a:ext cx="897141" cy="33149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9E79CCD-AF17-4F48-8922-05C3D0261F12}"/>
                </a:ext>
              </a:extLst>
            </p:cNvPr>
            <p:cNvSpPr/>
            <p:nvPr/>
          </p:nvSpPr>
          <p:spPr>
            <a:xfrm>
              <a:off x="2292993" y="5296049"/>
              <a:ext cx="1378306" cy="331492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5377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0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C010-7135-4542-ABB9-E342B5B4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7A6AD-AAB9-433D-AEC7-6A30BC66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0A0A1-3D4B-469F-AFDA-584523575FA4}"/>
              </a:ext>
            </a:extLst>
          </p:cNvPr>
          <p:cNvSpPr txBox="1"/>
          <p:nvPr/>
        </p:nvSpPr>
        <p:spPr>
          <a:xfrm>
            <a:off x="854766" y="1315594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Span Boundary Objective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3E2C7-EAD1-47D0-8124-FFCD10BDBC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44738" y="1170088"/>
            <a:ext cx="4320914" cy="9373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CBF5DD-A397-4927-A035-906FC77D8C84}"/>
                  </a:ext>
                </a:extLst>
              </p:cNvPr>
              <p:cNvSpPr txBox="1"/>
              <p:nvPr/>
            </p:nvSpPr>
            <p:spPr>
              <a:xfrm>
                <a:off x="3801718" y="2147185"/>
                <a:ext cx="34081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CBF5DD-A397-4927-A035-906FC77D8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718" y="2147185"/>
                <a:ext cx="3408112" cy="369332"/>
              </a:xfrm>
              <a:prstGeom prst="rect">
                <a:avLst/>
              </a:prstGeom>
              <a:blipFill>
                <a:blip r:embed="rId3"/>
                <a:stretch>
                  <a:fillRect l="-1610" r="-2504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D61E777-F8DB-4D6F-B57A-5FC691AC9E49}"/>
              </a:ext>
            </a:extLst>
          </p:cNvPr>
          <p:cNvSpPr txBox="1"/>
          <p:nvPr/>
        </p:nvSpPr>
        <p:spPr>
          <a:xfrm>
            <a:off x="3444738" y="269271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positions of tokens in contiguous span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FD1B00-5E44-4C10-AAEE-AC8E078E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50" y="3276215"/>
            <a:ext cx="7742591" cy="31397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62AD359-6A81-43D0-90B2-2744727CA164}"/>
              </a:ext>
            </a:extLst>
          </p:cNvPr>
          <p:cNvSpPr txBox="1"/>
          <p:nvPr/>
        </p:nvSpPr>
        <p:spPr>
          <a:xfrm>
            <a:off x="8147594" y="3238239"/>
            <a:ext cx="35953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Perform better in downstream tasks like entity extraction, coreference resolution, and question answering which involves span-based extraction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757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2B7DEF-5A1B-4D15-A5BA-3C87B8CA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15683-8043-4F5D-9D9E-F74E055C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A7074-B555-41AC-B76E-5E8EE7470857}"/>
              </a:ext>
            </a:extLst>
          </p:cNvPr>
          <p:cNvSpPr txBox="1"/>
          <p:nvPr/>
        </p:nvSpPr>
        <p:spPr>
          <a:xfrm>
            <a:off x="3876261" y="2178104"/>
            <a:ext cx="3047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Training data sequence: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5D684-E202-4C23-A344-C218F203F2C3}"/>
              </a:ext>
            </a:extLst>
          </p:cNvPr>
          <p:cNvSpPr txBox="1"/>
          <p:nvPr/>
        </p:nvSpPr>
        <p:spPr>
          <a:xfrm>
            <a:off x="4744278" y="2596314"/>
            <a:ext cx="4072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Bill hid the car key. He was drunk.</a:t>
            </a:r>
            <a:endParaRPr lang="en-IN" sz="2000" dirty="0">
              <a:solidFill>
                <a:srgbClr val="00B05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80BC11-13FD-4EC4-A143-EC423D140CBC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Next Sentence Prediction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241D4-341F-4124-B673-1A862F8C4160}"/>
              </a:ext>
            </a:extLst>
          </p:cNvPr>
          <p:cNvSpPr txBox="1"/>
          <p:nvPr/>
        </p:nvSpPr>
        <p:spPr>
          <a:xfrm>
            <a:off x="699880" y="3969951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Sentence Order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E7124-E328-4064-A102-6AC9FDC9F2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50897" y="1282948"/>
            <a:ext cx="3322608" cy="5944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C44530-1B2C-4871-9C43-3082611C95E0}"/>
              </a:ext>
            </a:extLst>
          </p:cNvPr>
          <p:cNvSpPr txBox="1"/>
          <p:nvPr/>
        </p:nvSpPr>
        <p:spPr>
          <a:xfrm>
            <a:off x="4744278" y="3054552"/>
            <a:ext cx="6067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Bill hid the car key. An octopus has eight tentacles.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4208C-ED1D-41DD-A677-833DE6B440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06729" y="3961167"/>
            <a:ext cx="3322608" cy="5867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ABF766-4540-4E98-A4EE-67CA3D3D3DC9}"/>
              </a:ext>
            </a:extLst>
          </p:cNvPr>
          <p:cNvSpPr txBox="1"/>
          <p:nvPr/>
        </p:nvSpPr>
        <p:spPr>
          <a:xfrm>
            <a:off x="4019397" y="4974812"/>
            <a:ext cx="30478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Training data sequence: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E43FA6-9D77-4519-A676-BE8D5D535D9D}"/>
              </a:ext>
            </a:extLst>
          </p:cNvPr>
          <p:cNvSpPr txBox="1"/>
          <p:nvPr/>
        </p:nvSpPr>
        <p:spPr>
          <a:xfrm>
            <a:off x="4887414" y="5393022"/>
            <a:ext cx="4072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Bill hid the car key. He was drunk.</a:t>
            </a:r>
            <a:endParaRPr lang="en-IN" sz="2000" dirty="0">
              <a:solidFill>
                <a:srgbClr val="00B05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FE1D76-1E50-45AD-9612-3C29B98CEB67}"/>
              </a:ext>
            </a:extLst>
          </p:cNvPr>
          <p:cNvSpPr txBox="1"/>
          <p:nvPr/>
        </p:nvSpPr>
        <p:spPr>
          <a:xfrm>
            <a:off x="4887414" y="5851260"/>
            <a:ext cx="4129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He was drunk. Bill hid the car key.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85D06-A5AF-4DC9-91CA-D25B444AB64D}"/>
              </a:ext>
            </a:extLst>
          </p:cNvPr>
          <p:cNvSpPr txBox="1"/>
          <p:nvPr/>
        </p:nvSpPr>
        <p:spPr>
          <a:xfrm>
            <a:off x="4019397" y="3454662"/>
            <a:ext cx="476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Good in capturing topic but not coherence.</a:t>
            </a:r>
          </a:p>
        </p:txBody>
      </p:sp>
    </p:spTree>
    <p:extLst>
      <p:ext uri="{BB962C8B-B14F-4D97-AF65-F5344CB8AC3E}">
        <p14:creationId xmlns:p14="http://schemas.microsoft.com/office/powerpoint/2010/main" val="256025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9" grpId="0"/>
      <p:bldP spid="20" grpId="0"/>
      <p:bldP spid="22" grpId="0"/>
      <p:bldP spid="23" grpId="0"/>
      <p:bldP spid="24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F9DC-3D73-45EF-9EE5-366DFEB5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BF01C-39F2-4918-98DC-602BC233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BF0A1-68AC-4221-A551-25A962FD2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56" y="1720356"/>
            <a:ext cx="9160034" cy="1912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B97884-BB9E-4F06-A658-BC6C338BF819}"/>
              </a:ext>
            </a:extLst>
          </p:cNvPr>
          <p:cNvSpPr txBox="1"/>
          <p:nvPr/>
        </p:nvSpPr>
        <p:spPr>
          <a:xfrm>
            <a:off x="699880" y="1206863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MAsked</a:t>
            </a:r>
            <a:r>
              <a:rPr lang="en-IN" b="1" dirty="0"/>
              <a:t> Sequence to Sequence LM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2859A1-2D75-420E-A9D5-2E4E56D8F0B0}"/>
                  </a:ext>
                </a:extLst>
              </p:cNvPr>
              <p:cNvSpPr txBox="1"/>
              <p:nvPr/>
            </p:nvSpPr>
            <p:spPr>
              <a:xfrm>
                <a:off x="2641889" y="3991086"/>
                <a:ext cx="7333384" cy="5705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𝑀𝐴𝑆𝑆</m:t>
                          </m:r>
                        </m:sub>
                        <m:sup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IN" sz="2400" b="0" i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2859A1-2D75-420E-A9D5-2E4E56D8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889" y="3991086"/>
                <a:ext cx="7333384" cy="5705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09CA6D-DD37-43DE-B506-81BC49E2A1F3}"/>
                  </a:ext>
                </a:extLst>
              </p:cNvPr>
              <p:cNvSpPr txBox="1"/>
              <p:nvPr/>
            </p:nvSpPr>
            <p:spPr>
              <a:xfrm>
                <a:off x="3784889" y="4561627"/>
                <a:ext cx="6094268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IN" sz="24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IN" sz="24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  <m:e>
                              <m:r>
                                <a:rPr lang="en-IN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IN" sz="2400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IN" sz="2400" b="0" i="1" smtClean="0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bSup>
                                  <m:r>
                                    <a:rPr lang="en-IN" sz="24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:</m:t>
                                      </m:r>
                                      <m:r>
                                        <a:rPr lang="en-IN" sz="2400" i="1">
                                          <a:solidFill>
                                            <a:schemeClr val="accent4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09CA6D-DD37-43DE-B506-81BC49E2A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889" y="4561627"/>
                <a:ext cx="6094268" cy="1100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F824014-9429-4974-81DA-0848DE9C3EBD}"/>
              </a:ext>
            </a:extLst>
          </p:cNvPr>
          <p:cNvSpPr txBox="1"/>
          <p:nvPr/>
        </p:nvSpPr>
        <p:spPr>
          <a:xfrm>
            <a:off x="2641889" y="6078837"/>
            <a:ext cx="8293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Song et al., </a:t>
            </a:r>
            <a:r>
              <a:rPr lang="en-US" sz="1400" dirty="0">
                <a:hlinkClick r:id="rId5"/>
              </a:rPr>
              <a:t>MASS: Masked Sequence to Sequence Pre-training for Language Generation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38744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F9DC-3D73-45EF-9EE5-366DFEB5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Pre-Training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BF01C-39F2-4918-98DC-602BC233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97884-BB9E-4F06-A658-BC6C338BF819}"/>
              </a:ext>
            </a:extLst>
          </p:cNvPr>
          <p:cNvSpPr txBox="1"/>
          <p:nvPr/>
        </p:nvSpPr>
        <p:spPr>
          <a:xfrm>
            <a:off x="699880" y="948447"/>
            <a:ext cx="2589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Denoising Autoencoder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24014-9429-4974-81DA-0848DE9C3EBD}"/>
              </a:ext>
            </a:extLst>
          </p:cNvPr>
          <p:cNvSpPr txBox="1"/>
          <p:nvPr/>
        </p:nvSpPr>
        <p:spPr>
          <a:xfrm>
            <a:off x="2641889" y="6078837"/>
            <a:ext cx="8293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Lewis et al., </a:t>
            </a:r>
            <a:r>
              <a:rPr lang="en-US" sz="1400" dirty="0">
                <a:hlinkClick r:id="rId2"/>
              </a:rPr>
              <a:t>BART: Denoising Sequence-to-Sequence Pre-training for Natural Language Generation, Translation, and Comprehension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4D4F2-A39C-49A3-A5AC-8A7ECB56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84" y="913479"/>
            <a:ext cx="2446232" cy="1874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3C12AC-CBD6-44F3-B3A8-D7B1B085C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023" y="879186"/>
            <a:ext cx="2286198" cy="1943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72FE7D-87FF-438B-AFC9-C7E6367BB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636" y="2895353"/>
            <a:ext cx="4778154" cy="18823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4D0475-DFEB-4621-85D1-93ECF53C4BC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2656" y="4922152"/>
            <a:ext cx="4762913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2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65987</TotalTime>
  <Words>1231</Words>
  <Application>Microsoft Office PowerPoint</Application>
  <PresentationFormat>Widescreen</PresentationFormat>
  <Paragraphs>191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Pre-Training Methods</vt:lpstr>
      <vt:lpstr>Pre-Training Map</vt:lpstr>
      <vt:lpstr>Pre-Training Methods</vt:lpstr>
      <vt:lpstr>Pre-Training Methods</vt:lpstr>
      <vt:lpstr>Continual Domain Adaptive Pre-Training (DAP)</vt:lpstr>
      <vt:lpstr>CL vs DAP CL</vt:lpstr>
      <vt:lpstr>DAP CL Requirement</vt:lpstr>
      <vt:lpstr>Two Key Ideas</vt:lpstr>
      <vt:lpstr>Workflow</vt:lpstr>
      <vt:lpstr>Pre-Training Methods</vt:lpstr>
      <vt:lpstr>Pre-Training Methods</vt:lpstr>
      <vt:lpstr>Pre-Training Methods</vt:lpstr>
      <vt:lpstr>Pre-Training Methods</vt:lpstr>
      <vt:lpstr>When a Student Surpasses the Teacher?</vt:lpstr>
      <vt:lpstr>PowerPoint Presentation</vt:lpstr>
      <vt:lpstr>Pre-Training Tasks</vt:lpstr>
      <vt:lpstr>Pre-Training Tasks</vt:lpstr>
      <vt:lpstr>Pre-Training Tasks</vt:lpstr>
      <vt:lpstr>Pre-Training Tasks</vt:lpstr>
      <vt:lpstr>Pre-Training Tasks</vt:lpstr>
      <vt:lpstr>Pre-Training Tasks</vt:lpstr>
      <vt:lpstr>Pre-Training Tasks</vt:lpstr>
      <vt:lpstr>Pre-Training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878</cp:revision>
  <dcterms:created xsi:type="dcterms:W3CDTF">2021-07-28T12:05:26Z</dcterms:created>
  <dcterms:modified xsi:type="dcterms:W3CDTF">2025-09-09T01:49:37Z</dcterms:modified>
</cp:coreProperties>
</file>