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564" r:id="rId3"/>
    <p:sldId id="584" r:id="rId4"/>
    <p:sldId id="585" r:id="rId5"/>
    <p:sldId id="586" r:id="rId6"/>
    <p:sldId id="587" r:id="rId7"/>
    <p:sldId id="588" r:id="rId8"/>
    <p:sldId id="589" r:id="rId9"/>
    <p:sldId id="590" r:id="rId10"/>
    <p:sldId id="5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AA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939" autoAdjust="0"/>
    <p:restoredTop sz="94660"/>
  </p:normalViewPr>
  <p:slideViewPr>
    <p:cSldViewPr snapToGrid="0">
      <p:cViewPr varScale="1">
        <p:scale>
          <a:sx n="54" d="100"/>
          <a:sy n="54" d="100"/>
        </p:scale>
        <p:origin x="91" y="6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C899-9F02-491A-8D3A-9F1A2E35BED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7F388-92B4-4CCE-98AB-E3403A750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47380"/>
      </p:ext>
    </p:extLst>
  </p:cSld>
  <p:clrMap bg1="dk1" tx1="lt1" bg2="dk2" tx2="lt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A62B8-ED7E-4D6E-9A93-014178291C11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15D4-91CA-4DB9-8C01-BAE492E5A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9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749"/>
            <a:ext cx="10515600" cy="4705214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IN" dirty="0"/>
              <a:t>Jiaul Paik, IIT </a:t>
            </a:r>
            <a:r>
              <a:rPr lang="en-IN" dirty="0" err="1"/>
              <a:t>Kharagpur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6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7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7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3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7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8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581B5-CE63-4C0B-AF1D-F1A23F619540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63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915" y="1122363"/>
            <a:ext cx="9972085" cy="14084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Century Schoolbook" panose="02040604050505020304" pitchFamily="18" charset="0"/>
              </a:rPr>
              <a:t>Big Data Processing</a:t>
            </a:r>
            <a:endParaRPr lang="en-IN" sz="4800" dirty="0">
              <a:solidFill>
                <a:schemeClr val="accent4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1564" y="3500438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Century Schoolbook" panose="02040604050505020304" pitchFamily="18" charset="0"/>
              </a:rPr>
              <a:t>Jiaul Paik</a:t>
            </a:r>
          </a:p>
          <a:p>
            <a:r>
              <a:rPr lang="en-IN" sz="3200">
                <a:latin typeface="Century Schoolbook" panose="02040604050505020304" pitchFamily="18" charset="0"/>
              </a:rPr>
              <a:t>Lecture 7</a:t>
            </a:r>
            <a:endParaRPr lang="en-IN" sz="32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8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80" y="198121"/>
            <a:ext cx="9875520" cy="533401"/>
          </a:xfrm>
        </p:spPr>
        <p:txBody>
          <a:bodyPr>
            <a:noAutofit/>
          </a:bodyPr>
          <a:lstStyle/>
          <a:p>
            <a:r>
              <a:rPr lang="en-US" sz="3600" dirty="0"/>
              <a:t>Map-reduce System: Inside 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140" y="1207532"/>
            <a:ext cx="2362200" cy="1981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2341" y="1283732"/>
          <a:ext cx="2209799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802338" y="2167652"/>
              <a:ext cx="2209805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endParaRPr lang="en-US" sz="12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5393919"/>
                  </p:ext>
                </p:extLst>
              </p:nvPr>
            </p:nvGraphicFramePr>
            <p:xfrm>
              <a:off x="802338" y="2167652"/>
              <a:ext cx="2209805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06" t="-1316" r="-196774" b="-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4167" t="-1316" r="-103333" b="-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4167" t="-1316" r="-3333" b="-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ounded Rectangle 8"/>
          <p:cNvSpPr/>
          <p:nvPr/>
        </p:nvSpPr>
        <p:spPr>
          <a:xfrm>
            <a:off x="878542" y="2807732"/>
            <a:ext cx="2057399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partition function</a:t>
            </a:r>
          </a:p>
        </p:txBody>
      </p:sp>
      <p:sp>
        <p:nvSpPr>
          <p:cNvPr id="10" name="Oval 9"/>
          <p:cNvSpPr/>
          <p:nvPr/>
        </p:nvSpPr>
        <p:spPr>
          <a:xfrm>
            <a:off x="9547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13" name="Straight Arrow Connector 12"/>
          <p:cNvCxnSpPr>
            <a:stCxn id="10" idx="4"/>
          </p:cNvCxnSpPr>
          <p:nvPr/>
        </p:nvCxnSpPr>
        <p:spPr>
          <a:xfrm>
            <a:off x="11071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1071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7167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28" name="Straight Arrow Connector 27"/>
          <p:cNvCxnSpPr>
            <a:stCxn id="27" idx="4"/>
          </p:cNvCxnSpPr>
          <p:nvPr/>
        </p:nvCxnSpPr>
        <p:spPr>
          <a:xfrm>
            <a:off x="18691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691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4787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31" name="Straight Arrow Connector 30"/>
          <p:cNvCxnSpPr>
            <a:stCxn id="30" idx="4"/>
          </p:cNvCxnSpPr>
          <p:nvPr/>
        </p:nvCxnSpPr>
        <p:spPr>
          <a:xfrm>
            <a:off x="26311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6311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45540" y="1207532"/>
            <a:ext cx="2362200" cy="1981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21741" y="1283732"/>
          <a:ext cx="2209799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/>
              <p:cNvGraphicFramePr>
                <a:graphicFrameLocks noGrp="1"/>
              </p:cNvGraphicFramePr>
              <p:nvPr/>
            </p:nvGraphicFramePr>
            <p:xfrm>
              <a:off x="3621738" y="2167652"/>
              <a:ext cx="2209805" cy="502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7840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endParaRPr lang="en-US" sz="15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244890"/>
                  </p:ext>
                </p:extLst>
              </p:nvPr>
            </p:nvGraphicFramePr>
            <p:xfrm>
              <a:off x="3621738" y="2167652"/>
              <a:ext cx="2209805" cy="502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6" t="-1190" r="-195968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42" t="-1190" r="-104202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3333" t="-1190" r="-3333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" name="Rounded Rectangle 35"/>
          <p:cNvSpPr/>
          <p:nvPr/>
        </p:nvSpPr>
        <p:spPr>
          <a:xfrm>
            <a:off x="3697942" y="2807732"/>
            <a:ext cx="2057399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partition function</a:t>
            </a:r>
          </a:p>
        </p:txBody>
      </p:sp>
      <p:sp>
        <p:nvSpPr>
          <p:cNvPr id="37" name="Oval 36"/>
          <p:cNvSpPr/>
          <p:nvPr/>
        </p:nvSpPr>
        <p:spPr>
          <a:xfrm>
            <a:off x="37741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38" name="Straight Arrow Connector 37"/>
          <p:cNvCxnSpPr>
            <a:stCxn id="37" idx="4"/>
          </p:cNvCxnSpPr>
          <p:nvPr/>
        </p:nvCxnSpPr>
        <p:spPr>
          <a:xfrm>
            <a:off x="39265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9265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5361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41" name="Straight Arrow Connector 40"/>
          <p:cNvCxnSpPr>
            <a:stCxn id="40" idx="4"/>
          </p:cNvCxnSpPr>
          <p:nvPr/>
        </p:nvCxnSpPr>
        <p:spPr>
          <a:xfrm>
            <a:off x="46885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6885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2981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44" name="Straight Arrow Connector 43"/>
          <p:cNvCxnSpPr>
            <a:stCxn id="43" idx="4"/>
          </p:cNvCxnSpPr>
          <p:nvPr/>
        </p:nvCxnSpPr>
        <p:spPr>
          <a:xfrm>
            <a:off x="54505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4505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364940" y="1207532"/>
            <a:ext cx="2362200" cy="1981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6441141" y="1283732"/>
          <a:ext cx="2209799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/>
            </p:nvGraphicFramePr>
            <p:xfrm>
              <a:off x="6441138" y="2167652"/>
              <a:ext cx="2209805" cy="502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7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/>
                                    </a:rPr>
                                    <m:t>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𝟕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endParaRPr lang="en-US" sz="15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0" lang="en-US" sz="12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  <a:sym typeface="Arial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kumimoji="0" lang="en-US" sz="1200" b="1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  <a:sym typeface="Arial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en-US" sz="1200" b="1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)</a:t>
                          </a:r>
                        </a:p>
                        <a:p>
                          <a:endParaRPr lang="en-US" sz="15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32587"/>
                  </p:ext>
                </p:extLst>
              </p:nvPr>
            </p:nvGraphicFramePr>
            <p:xfrm>
              <a:off x="6441138" y="2167652"/>
              <a:ext cx="2209805" cy="502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33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82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6" t="-1190" r="-196774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4167" t="-1190" r="-103333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4167" t="-1190" r="-3333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Rounded Rectangle 48"/>
          <p:cNvSpPr/>
          <p:nvPr/>
        </p:nvSpPr>
        <p:spPr>
          <a:xfrm>
            <a:off x="6517342" y="2807732"/>
            <a:ext cx="2057399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partition function</a:t>
            </a:r>
          </a:p>
        </p:txBody>
      </p:sp>
      <p:sp>
        <p:nvSpPr>
          <p:cNvPr id="50" name="Oval 49"/>
          <p:cNvSpPr/>
          <p:nvPr/>
        </p:nvSpPr>
        <p:spPr>
          <a:xfrm>
            <a:off x="65935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51" name="Straight Arrow Connector 50"/>
          <p:cNvCxnSpPr>
            <a:stCxn id="50" idx="4"/>
          </p:cNvCxnSpPr>
          <p:nvPr/>
        </p:nvCxnSpPr>
        <p:spPr>
          <a:xfrm>
            <a:off x="67459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67459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3555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54" name="Straight Arrow Connector 53"/>
          <p:cNvCxnSpPr>
            <a:stCxn id="53" idx="4"/>
          </p:cNvCxnSpPr>
          <p:nvPr/>
        </p:nvCxnSpPr>
        <p:spPr>
          <a:xfrm>
            <a:off x="75079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75079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117540" y="16647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cxnSp>
        <p:nvCxnSpPr>
          <p:cNvPr id="57" name="Straight Arrow Connector 56"/>
          <p:cNvCxnSpPr>
            <a:stCxn id="56" idx="4"/>
          </p:cNvCxnSpPr>
          <p:nvPr/>
        </p:nvCxnSpPr>
        <p:spPr>
          <a:xfrm>
            <a:off x="8269940" y="19695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8269940" y="15123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02340" y="4026932"/>
            <a:ext cx="3581400" cy="1828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8" name="Table 2047"/>
              <p:cNvGraphicFramePr>
                <a:graphicFrameLocks noGrp="1"/>
              </p:cNvGraphicFramePr>
              <p:nvPr/>
            </p:nvGraphicFramePr>
            <p:xfrm>
              <a:off x="878540" y="4179332"/>
              <a:ext cx="3429000" cy="65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49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/>
                            <a:t>SORT and GROUP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8" name="Table 20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316833"/>
                  </p:ext>
                </p:extLst>
              </p:nvPr>
            </p:nvGraphicFramePr>
            <p:xfrm>
              <a:off x="878540" y="4179332"/>
              <a:ext cx="3429000" cy="65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/>
                            <a:t>SORT and GROUP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55" t="-96429" r="-10106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12" t="-96429" r="-1423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" name="Oval 60"/>
          <p:cNvSpPr/>
          <p:nvPr/>
        </p:nvSpPr>
        <p:spPr>
          <a:xfrm>
            <a:off x="1450039" y="49413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</a:t>
            </a:r>
          </a:p>
        </p:txBody>
      </p:sp>
      <p:cxnSp>
        <p:nvCxnSpPr>
          <p:cNvPr id="62" name="Straight Arrow Connector 61"/>
          <p:cNvCxnSpPr>
            <a:stCxn id="61" idx="4"/>
          </p:cNvCxnSpPr>
          <p:nvPr/>
        </p:nvCxnSpPr>
        <p:spPr>
          <a:xfrm>
            <a:off x="1602439" y="52461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602439" y="47889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240740" y="49413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</a:t>
            </a:r>
          </a:p>
        </p:txBody>
      </p:sp>
      <p:cxnSp>
        <p:nvCxnSpPr>
          <p:cNvPr id="65" name="Straight Arrow Connector 64"/>
          <p:cNvCxnSpPr>
            <a:stCxn id="64" idx="4"/>
          </p:cNvCxnSpPr>
          <p:nvPr/>
        </p:nvCxnSpPr>
        <p:spPr>
          <a:xfrm>
            <a:off x="3393140" y="52461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393140" y="47889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878540" y="5474732"/>
          <a:ext cx="3429000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r>
                        <a:rPr lang="en-US" sz="1500" dirty="0"/>
                        <a:t>Final output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Final output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5221940" y="4026932"/>
            <a:ext cx="3581400" cy="1828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9" name="Table 68"/>
              <p:cNvGraphicFramePr>
                <a:graphicFrameLocks noGrp="1"/>
              </p:cNvGraphicFramePr>
              <p:nvPr/>
            </p:nvGraphicFramePr>
            <p:xfrm>
              <a:off x="5298140" y="4179332"/>
              <a:ext cx="3429000" cy="65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49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/>
                            <a:t>SORT and GROUP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9" name="Table 6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2949230"/>
                  </p:ext>
                </p:extLst>
              </p:nvPr>
            </p:nvGraphicFramePr>
            <p:xfrm>
              <a:off x="5298140" y="4179332"/>
              <a:ext cx="3429000" cy="65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/>
                            <a:t>SORT and GROUP</a:t>
                          </a: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55" t="-96429" r="-10106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712" t="-96429" r="-1423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0" name="Oval 69"/>
          <p:cNvSpPr/>
          <p:nvPr/>
        </p:nvSpPr>
        <p:spPr>
          <a:xfrm>
            <a:off x="5869639" y="49413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</a:t>
            </a:r>
          </a:p>
        </p:txBody>
      </p:sp>
      <p:cxnSp>
        <p:nvCxnSpPr>
          <p:cNvPr id="71" name="Straight Arrow Connector 70"/>
          <p:cNvCxnSpPr>
            <a:stCxn id="70" idx="4"/>
          </p:cNvCxnSpPr>
          <p:nvPr/>
        </p:nvCxnSpPr>
        <p:spPr>
          <a:xfrm>
            <a:off x="6022039" y="52461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6022039" y="47889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660340" y="494133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</a:t>
            </a:r>
          </a:p>
        </p:txBody>
      </p:sp>
      <p:cxnSp>
        <p:nvCxnSpPr>
          <p:cNvPr id="74" name="Straight Arrow Connector 73"/>
          <p:cNvCxnSpPr>
            <a:stCxn id="73" idx="4"/>
          </p:cNvCxnSpPr>
          <p:nvPr/>
        </p:nvCxnSpPr>
        <p:spPr>
          <a:xfrm>
            <a:off x="7812740" y="5246132"/>
            <a:ext cx="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7812740" y="4788932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5298140" y="5474732"/>
          <a:ext cx="3429000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r>
                        <a:rPr lang="en-US" sz="1500" dirty="0"/>
                        <a:t>Final output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Final output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51" name="Straight Arrow Connector 2050"/>
          <p:cNvCxnSpPr>
            <a:stCxn id="7" idx="2"/>
            <a:endCxn id="68" idx="0"/>
          </p:cNvCxnSpPr>
          <p:nvPr/>
        </p:nvCxnSpPr>
        <p:spPr>
          <a:xfrm>
            <a:off x="1907240" y="3188732"/>
            <a:ext cx="51054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3" name="Straight Arrow Connector 2052"/>
          <p:cNvCxnSpPr>
            <a:stCxn id="33" idx="2"/>
            <a:endCxn id="68" idx="0"/>
          </p:cNvCxnSpPr>
          <p:nvPr/>
        </p:nvCxnSpPr>
        <p:spPr>
          <a:xfrm>
            <a:off x="4726640" y="3188732"/>
            <a:ext cx="22860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Arrow Connector 2054"/>
          <p:cNvCxnSpPr>
            <a:stCxn id="46" idx="2"/>
            <a:endCxn id="68" idx="0"/>
          </p:cNvCxnSpPr>
          <p:nvPr/>
        </p:nvCxnSpPr>
        <p:spPr>
          <a:xfrm flipH="1">
            <a:off x="7012640" y="3188732"/>
            <a:ext cx="5334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Arrow Connector 2056"/>
          <p:cNvCxnSpPr>
            <a:endCxn id="25" idx="0"/>
          </p:cNvCxnSpPr>
          <p:nvPr/>
        </p:nvCxnSpPr>
        <p:spPr>
          <a:xfrm>
            <a:off x="2021541" y="3188732"/>
            <a:ext cx="5715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Arrow Connector 2058"/>
          <p:cNvCxnSpPr>
            <a:stCxn id="33" idx="2"/>
            <a:endCxn id="25" idx="0"/>
          </p:cNvCxnSpPr>
          <p:nvPr/>
        </p:nvCxnSpPr>
        <p:spPr>
          <a:xfrm flipH="1">
            <a:off x="2593040" y="3188732"/>
            <a:ext cx="21336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Arrow Connector 2060"/>
          <p:cNvCxnSpPr>
            <a:stCxn id="46" idx="2"/>
            <a:endCxn id="25" idx="0"/>
          </p:cNvCxnSpPr>
          <p:nvPr/>
        </p:nvCxnSpPr>
        <p:spPr>
          <a:xfrm flipH="1">
            <a:off x="2593040" y="3188732"/>
            <a:ext cx="49530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2" name="TextBox 2061"/>
          <p:cNvSpPr txBox="1"/>
          <p:nvPr/>
        </p:nvSpPr>
        <p:spPr>
          <a:xfrm>
            <a:off x="1905000" y="838201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 task 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77411" y="804497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 task 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80306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 task 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16131" y="5943601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reduce task 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47162" y="5942164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reduce task 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6057" y="3112532"/>
            <a:ext cx="26759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 phases are distributed with many tasks running in parallel</a:t>
            </a:r>
          </a:p>
        </p:txBody>
      </p:sp>
    </p:spTree>
    <p:extLst>
      <p:ext uri="{BB962C8B-B14F-4D97-AF65-F5344CB8AC3E}">
        <p14:creationId xmlns:p14="http://schemas.microsoft.com/office/powerpoint/2010/main" val="56443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27" grpId="0" animBg="1"/>
      <p:bldP spid="30" grpId="0" animBg="1"/>
      <p:bldP spid="33" grpId="0" animBg="1"/>
      <p:bldP spid="36" grpId="0" animBg="1"/>
      <p:bldP spid="37" grpId="0" animBg="1"/>
      <p:bldP spid="40" grpId="0" animBg="1"/>
      <p:bldP spid="43" grpId="0" animBg="1"/>
      <p:bldP spid="46" grpId="0" animBg="1"/>
      <p:bldP spid="49" grpId="0" animBg="1"/>
      <p:bldP spid="50" grpId="0" animBg="1"/>
      <p:bldP spid="53" grpId="0" animBg="1"/>
      <p:bldP spid="56" grpId="0" animBg="1"/>
      <p:bldP spid="25" grpId="0" animBg="1"/>
      <p:bldP spid="61" grpId="0" animBg="1"/>
      <p:bldP spid="64" grpId="0" animBg="1"/>
      <p:bldP spid="68" grpId="0" animBg="1"/>
      <p:bldP spid="70" grpId="0" animBg="1"/>
      <p:bldP spid="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049586"/>
            <a:ext cx="9220200" cy="1760415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Map-Reduce Algorithm Design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7826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430" y="272781"/>
            <a:ext cx="9875520" cy="718459"/>
          </a:xfrm>
        </p:spPr>
        <p:txBody>
          <a:bodyPr>
            <a:noAutofit/>
          </a:bodyPr>
          <a:lstStyle/>
          <a:p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r>
              <a:rPr lang="en-US" sz="3200" b="1" dirty="0">
                <a:solidFill>
                  <a:srgbClr val="C00000"/>
                </a:solidFill>
              </a:rPr>
              <a:t>Problems Suitable for Map-reduce</a:t>
            </a: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br>
              <a:rPr lang="en-US" sz="3200" b="1" dirty="0">
                <a:solidFill>
                  <a:srgbClr val="C00000"/>
                </a:solidFill>
              </a:rPr>
            </a:b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3579" y="1183341"/>
            <a:ext cx="11051930" cy="5302624"/>
          </a:xfrm>
        </p:spPr>
        <p:txBody>
          <a:bodyPr/>
          <a:lstStyle/>
          <a:p>
            <a:r>
              <a:rPr lang="en-US" dirty="0"/>
              <a:t>Map-reduce is suitable for batch processing</a:t>
            </a:r>
          </a:p>
          <a:p>
            <a:pPr marL="0" indent="0">
              <a:buNone/>
            </a:pP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Updates are made after whole batch of data is processed</a:t>
            </a:r>
          </a:p>
          <a:p>
            <a:pPr marL="914400" lvl="1" indent="-457200">
              <a:buFont typeface="+mj-lt"/>
              <a:buAutoNum type="arabicParenR"/>
            </a:pP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mappers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reducers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do not need large volume of data</a:t>
            </a:r>
            <a:r>
              <a:rPr lang="en-US" dirty="0"/>
              <a:t> from one another while they are running</a:t>
            </a:r>
          </a:p>
          <a:p>
            <a:pPr marL="439292" lvl="2" indent="0">
              <a:buNone/>
            </a:pPr>
            <a:endParaRPr lang="en-US" sz="1600" dirty="0"/>
          </a:p>
          <a:p>
            <a:pPr marL="782183" lvl="2" indent="-342891">
              <a:buFont typeface="+mj-lt"/>
              <a:buAutoNum type="arabicPeriod"/>
            </a:pPr>
            <a:endParaRPr lang="en-US" sz="1600" dirty="0"/>
          </a:p>
          <a:p>
            <a:pPr marL="782183" lvl="2" indent="-342891">
              <a:buFont typeface="+mj-lt"/>
              <a:buAutoNum type="arabicPeriod"/>
            </a:pPr>
            <a:endParaRPr lang="en-US" sz="1600" dirty="0"/>
          </a:p>
          <a:p>
            <a:r>
              <a:rPr lang="en-US" dirty="0"/>
              <a:t>In general, map-reduce is suitable:</a:t>
            </a:r>
          </a:p>
          <a:p>
            <a:endParaRPr lang="en-US" sz="2200" dirty="0"/>
          </a:p>
        </p:txBody>
      </p:sp>
      <p:sp>
        <p:nvSpPr>
          <p:cNvPr id="2" name="Rounded Rectangle 1"/>
          <p:cNvSpPr/>
          <p:nvPr/>
        </p:nvSpPr>
        <p:spPr>
          <a:xfrm>
            <a:off x="655544" y="5306779"/>
            <a:ext cx="10668000" cy="6278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When the problem can be broken into independent components</a:t>
            </a:r>
          </a:p>
        </p:txBody>
      </p:sp>
    </p:spTree>
    <p:extLst>
      <p:ext uri="{BB962C8B-B14F-4D97-AF65-F5344CB8AC3E}">
        <p14:creationId xmlns:p14="http://schemas.microsoft.com/office/powerpoint/2010/main" val="165903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4" y="243254"/>
            <a:ext cx="9875520" cy="762000"/>
          </a:xfrm>
        </p:spPr>
        <p:txBody>
          <a:bodyPr>
            <a:noAutofit/>
          </a:bodyPr>
          <a:lstStyle/>
          <a:p>
            <a:r>
              <a:rPr lang="en-US" sz="3200" b="1" dirty="0"/>
              <a:t>Problems </a:t>
            </a:r>
            <a:r>
              <a:rPr lang="en-US" sz="3200" b="1" dirty="0">
                <a:solidFill>
                  <a:srgbClr val="FF0000"/>
                </a:solidFill>
              </a:rPr>
              <a:t>NOT</a:t>
            </a:r>
            <a:r>
              <a:rPr lang="en-US" sz="3200" b="1" dirty="0"/>
              <a:t> Suitable for Map-reduce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379" y="1283677"/>
            <a:ext cx="9990405" cy="4914900"/>
          </a:xfrm>
        </p:spPr>
        <p:txBody>
          <a:bodyPr/>
          <a:lstStyle/>
          <a:p>
            <a:pPr marL="457200" lvl="1" indent="0">
              <a:buNone/>
            </a:pPr>
            <a:endParaRPr lang="en-US" sz="2200" dirty="0"/>
          </a:p>
          <a:p>
            <a:r>
              <a:rPr lang="en-US" sz="2600" dirty="0"/>
              <a:t>Large shared data with frequent updates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Online algorithms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Quick response time</a:t>
            </a:r>
          </a:p>
          <a:p>
            <a:pPr lvl="1"/>
            <a:r>
              <a:rPr lang="en-US" sz="2467" dirty="0"/>
              <a:t>In milliseconds</a:t>
            </a:r>
          </a:p>
          <a:p>
            <a:pPr marL="533387" lvl="1" indent="0">
              <a:buNone/>
            </a:pPr>
            <a:endParaRPr lang="en-US" dirty="0"/>
          </a:p>
          <a:p>
            <a:pPr marL="38099" indent="0">
              <a:buNone/>
            </a:pPr>
            <a:endParaRPr lang="en-US" dirty="0"/>
          </a:p>
          <a:p>
            <a:pPr marL="562537" lvl="1" indent="-342891">
              <a:buFont typeface="+mj-lt"/>
              <a:buAutoNum type="arabicPeriod"/>
            </a:pPr>
            <a:endParaRPr lang="en-US" dirty="0"/>
          </a:p>
          <a:p>
            <a:pPr marL="562537" lvl="1" indent="-342891">
              <a:buFont typeface="+mj-lt"/>
              <a:buAutoNum type="arabicPeriod"/>
            </a:pPr>
            <a:endParaRPr lang="en-US" dirty="0"/>
          </a:p>
          <a:p>
            <a:pPr marL="562537" lvl="1" indent="-342891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81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2" y="1066801"/>
            <a:ext cx="313900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Main Components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742932" marR="0" lvl="1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Mapper</a:t>
            </a:r>
          </a:p>
          <a:p>
            <a:pPr marL="742932" marR="0" lvl="1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742932" marR="0" lvl="1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2" y="3704273"/>
            <a:ext cx="9437199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Optional Components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(need based and for optimized execution)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742932" marR="0" lvl="1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Combiner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742932" marR="0" lvl="1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Partitioner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42546" y="111370"/>
            <a:ext cx="9220200" cy="693615"/>
          </a:xfrm>
        </p:spPr>
        <p:txBody>
          <a:bodyPr/>
          <a:lstStyle/>
          <a:p>
            <a:r>
              <a:rPr lang="en-US" sz="3200" b="1" dirty="0"/>
              <a:t>Map-Reduce Algorithm Template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39226-A9EA-588F-9493-2CAAE248F310}"/>
              </a:ext>
            </a:extLst>
          </p:cNvPr>
          <p:cNvSpPr txBox="1"/>
          <p:nvPr/>
        </p:nvSpPr>
        <p:spPr>
          <a:xfrm>
            <a:off x="3400426" y="4135160"/>
            <a:ext cx="8791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mapper is producing diff outputs for same key then before sending it to partition you basically want to reduce it a bit so you can minimize data communication.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DB811-67E9-6273-3500-6FFBEF089CBE}"/>
              </a:ext>
            </a:extLst>
          </p:cNvPr>
          <p:cNvSpPr txBox="1"/>
          <p:nvPr/>
        </p:nvSpPr>
        <p:spPr>
          <a:xfrm>
            <a:off x="3614738" y="5200650"/>
            <a:ext cx="842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reducers which we want to run will be determined by the partitioner.</a:t>
            </a:r>
          </a:p>
        </p:txBody>
      </p:sp>
    </p:spTree>
    <p:extLst>
      <p:ext uri="{BB962C8B-B14F-4D97-AF65-F5344CB8AC3E}">
        <p14:creationId xmlns:p14="http://schemas.microsoft.com/office/powerpoint/2010/main" val="79693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637"/>
            <a:ext cx="10515600" cy="732155"/>
          </a:xfrm>
        </p:spPr>
        <p:txBody>
          <a:bodyPr/>
          <a:lstStyle/>
          <a:p>
            <a:r>
              <a:rPr lang="en-IN" sz="3733" b="1" dirty="0" err="1"/>
              <a:t>Mapreduce</a:t>
            </a:r>
            <a:r>
              <a:rPr lang="en-IN" sz="3733" b="1" dirty="0"/>
              <a:t>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6766"/>
            <a:ext cx="10515600" cy="4860199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map</a:t>
            </a:r>
            <a:r>
              <a:rPr lang="en-IN" sz="3200" dirty="0"/>
              <a:t> function</a:t>
            </a:r>
          </a:p>
          <a:p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/>
              <a:t>K1 -&gt; input key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V1 -&gt; input value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K2 -&gt; output key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V2 -&gt; output value</a:t>
            </a:r>
          </a:p>
          <a:p>
            <a:pPr lvl="1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99457" y="2084852"/>
            <a:ext cx="454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55A51C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map: (K1, V1) → list(K2, V2)</a:t>
            </a:r>
          </a:p>
        </p:txBody>
      </p:sp>
    </p:spTree>
    <p:extLst>
      <p:ext uri="{BB962C8B-B14F-4D97-AF65-F5344CB8AC3E}">
        <p14:creationId xmlns:p14="http://schemas.microsoft.com/office/powerpoint/2010/main" val="328993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637"/>
            <a:ext cx="10515600" cy="732155"/>
          </a:xfrm>
        </p:spPr>
        <p:txBody>
          <a:bodyPr/>
          <a:lstStyle/>
          <a:p>
            <a:r>
              <a:rPr lang="en-IN" sz="3733" b="1" dirty="0" err="1"/>
              <a:t>Mapreduce</a:t>
            </a:r>
            <a:r>
              <a:rPr lang="en-IN" sz="3733" b="1" dirty="0"/>
              <a:t>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6766"/>
            <a:ext cx="10515600" cy="4860199"/>
          </a:xfrm>
        </p:spPr>
        <p:txBody>
          <a:bodyPr/>
          <a:lstStyle/>
          <a:p>
            <a:r>
              <a:rPr lang="en-IN" sz="3200" dirty="0">
                <a:solidFill>
                  <a:srgbClr val="00B050"/>
                </a:solidFill>
              </a:rPr>
              <a:t>reduce</a:t>
            </a:r>
            <a:r>
              <a:rPr lang="en-IN" sz="3200" dirty="0"/>
              <a:t> function</a:t>
            </a:r>
          </a:p>
          <a:p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dirty="0"/>
              <a:t>K2 -&gt; input key</a:t>
            </a:r>
          </a:p>
          <a:p>
            <a:pPr lvl="1"/>
            <a:r>
              <a:rPr lang="en-IN" dirty="0"/>
              <a:t>list(V2) -&gt; list of values associated with a key K2</a:t>
            </a:r>
          </a:p>
          <a:p>
            <a:pPr lvl="1"/>
            <a:r>
              <a:rPr lang="en-IN" dirty="0"/>
              <a:t>K3 -&gt; output key</a:t>
            </a:r>
          </a:p>
          <a:p>
            <a:pPr lvl="1"/>
            <a:r>
              <a:rPr lang="en-IN" dirty="0"/>
              <a:t>V3 -&gt; output value</a:t>
            </a:r>
          </a:p>
          <a:p>
            <a:pPr lvl="1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99456" y="2084852"/>
            <a:ext cx="5700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55A51C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reduce: (K2, list(V2)) → list(K3, V3)</a:t>
            </a:r>
          </a:p>
        </p:txBody>
      </p:sp>
    </p:spTree>
    <p:extLst>
      <p:ext uri="{BB962C8B-B14F-4D97-AF65-F5344CB8AC3E}">
        <p14:creationId xmlns:p14="http://schemas.microsoft.com/office/powerpoint/2010/main" val="140380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715" y="2273522"/>
            <a:ext cx="9220200" cy="1760415"/>
          </a:xfrm>
        </p:spPr>
        <p:txBody>
          <a:bodyPr/>
          <a:lstStyle/>
          <a:p>
            <a:pPr algn="ctr"/>
            <a:br>
              <a:rPr lang="en-US" sz="4000" dirty="0"/>
            </a:br>
            <a:r>
              <a:rPr lang="en-US" sz="4000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2885403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04D0-86F0-4515-8FF6-882D71182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Word Count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Matrix Vector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D27EB-C3E0-40B7-8ABE-05182080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23" y="3824356"/>
            <a:ext cx="4380326" cy="215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99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408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Century Schoolbook</vt:lpstr>
      <vt:lpstr>Office Theme</vt:lpstr>
      <vt:lpstr>Big Data Processing</vt:lpstr>
      <vt:lpstr>Map-reduce System: Inside Look</vt:lpstr>
      <vt:lpstr>   Map-Reduce Algorithm Design </vt:lpstr>
      <vt:lpstr>        Problems Suitable for Map-reduce         </vt:lpstr>
      <vt:lpstr>Problems NOT Suitable for Map-reduce</vt:lpstr>
      <vt:lpstr>Map-Reduce Algorithm Template</vt:lpstr>
      <vt:lpstr>Mapreduce Types</vt:lpstr>
      <vt:lpstr>Mapreduce Types</vt:lpstr>
      <vt:lpstr> Problems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Processing</dc:title>
  <dc:creator>jiaul paik</dc:creator>
  <cp:lastModifiedBy>Subhasini Kumari Gupta</cp:lastModifiedBy>
  <cp:revision>579</cp:revision>
  <dcterms:created xsi:type="dcterms:W3CDTF">2020-05-13T23:12:08Z</dcterms:created>
  <dcterms:modified xsi:type="dcterms:W3CDTF">2025-02-14T12:22:10Z</dcterms:modified>
</cp:coreProperties>
</file>