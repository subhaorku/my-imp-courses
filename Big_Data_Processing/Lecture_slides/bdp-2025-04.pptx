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handoutMasterIdLst>
    <p:handoutMasterId r:id="rId42"/>
  </p:handoutMasterIdLst>
  <p:sldIdLst>
    <p:sldId id="256" r:id="rId2"/>
    <p:sldId id="478" r:id="rId3"/>
    <p:sldId id="479" r:id="rId4"/>
    <p:sldId id="502" r:id="rId5"/>
    <p:sldId id="504" r:id="rId6"/>
    <p:sldId id="505" r:id="rId7"/>
    <p:sldId id="534" r:id="rId8"/>
    <p:sldId id="535" r:id="rId9"/>
    <p:sldId id="536" r:id="rId10"/>
    <p:sldId id="506" r:id="rId11"/>
    <p:sldId id="509" r:id="rId12"/>
    <p:sldId id="510" r:id="rId13"/>
    <p:sldId id="511" r:id="rId14"/>
    <p:sldId id="512" r:id="rId15"/>
    <p:sldId id="513" r:id="rId16"/>
    <p:sldId id="514" r:id="rId17"/>
    <p:sldId id="515" r:id="rId18"/>
    <p:sldId id="516" r:id="rId19"/>
    <p:sldId id="517" r:id="rId20"/>
    <p:sldId id="539" r:id="rId21"/>
    <p:sldId id="518" r:id="rId22"/>
    <p:sldId id="519" r:id="rId23"/>
    <p:sldId id="520" r:id="rId24"/>
    <p:sldId id="537" r:id="rId25"/>
    <p:sldId id="540" r:id="rId26"/>
    <p:sldId id="521" r:id="rId27"/>
    <p:sldId id="541" r:id="rId28"/>
    <p:sldId id="523" r:id="rId29"/>
    <p:sldId id="524" r:id="rId30"/>
    <p:sldId id="525" r:id="rId31"/>
    <p:sldId id="526" r:id="rId32"/>
    <p:sldId id="527" r:id="rId33"/>
    <p:sldId id="528" r:id="rId34"/>
    <p:sldId id="529" r:id="rId35"/>
    <p:sldId id="530" r:id="rId36"/>
    <p:sldId id="531" r:id="rId37"/>
    <p:sldId id="538" r:id="rId38"/>
    <p:sldId id="532" r:id="rId39"/>
    <p:sldId id="53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CAAE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20" autoAdjust="0"/>
    <p:restoredTop sz="94660"/>
  </p:normalViewPr>
  <p:slideViewPr>
    <p:cSldViewPr snapToGrid="0">
      <p:cViewPr>
        <p:scale>
          <a:sx n="83" d="100"/>
          <a:sy n="83" d="100"/>
        </p:scale>
        <p:origin x="874" y="-19"/>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313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BEC899-9F02-491A-8D3A-9F1A2E35BED9}" type="datetimeFigureOut">
              <a:rPr lang="en-IN" smtClean="0"/>
              <a:t>19-02-2025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C7F388-92B4-4CCE-98AB-E3403A750BCE}" type="slidenum">
              <a:rPr lang="en-IN" smtClean="0"/>
              <a:t>‹#›</a:t>
            </a:fld>
            <a:endParaRPr lang="en-IN"/>
          </a:p>
        </p:txBody>
      </p:sp>
    </p:spTree>
    <p:extLst>
      <p:ext uri="{BB962C8B-B14F-4D97-AF65-F5344CB8AC3E}">
        <p14:creationId xmlns:p14="http://schemas.microsoft.com/office/powerpoint/2010/main" val="2860447380"/>
      </p:ext>
    </p:extLst>
  </p:cSld>
  <p:clrMap bg1="dk1" tx1="lt1" bg2="dk2" tx2="lt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9A62B8-ED7E-4D6E-9A93-014178291C11}" type="datetimeFigureOut">
              <a:rPr lang="en-IN" smtClean="0"/>
              <a:t>19-02-2025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FC15D4-91CA-4DB9-8C01-BAE492E5AD48}" type="slidenum">
              <a:rPr lang="en-IN" smtClean="0"/>
              <a:t>‹#›</a:t>
            </a:fld>
            <a:endParaRPr lang="en-IN"/>
          </a:p>
        </p:txBody>
      </p:sp>
    </p:spTree>
    <p:extLst>
      <p:ext uri="{BB962C8B-B14F-4D97-AF65-F5344CB8AC3E}">
        <p14:creationId xmlns:p14="http://schemas.microsoft.com/office/powerpoint/2010/main" val="1912799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2" name="Rectangle 9"/>
          <p:cNvSpPr>
            <a:spLocks noGrp="1" noChangeArrowheads="1"/>
          </p:cNvSpPr>
          <p:nvPr>
            <p:ph type="sldNum" sz="quarter" idx="5"/>
          </p:nvPr>
        </p:nvSpPr>
        <p:spPr>
          <a:noFill/>
        </p:spPr>
        <p:txBody>
          <a:bodyPr/>
          <a:lstStyle/>
          <a:p>
            <a:pPr marL="0" marR="0" lvl="0" indent="0" algn="r" defTabSz="963613" rtl="0" eaLnBrk="1" fontAlgn="base" latinLnBrk="0" hangingPunct="1">
              <a:lnSpc>
                <a:spcPct val="100000"/>
              </a:lnSpc>
              <a:spcBef>
                <a:spcPct val="0"/>
              </a:spcBef>
              <a:spcAft>
                <a:spcPct val="0"/>
              </a:spcAft>
              <a:buClrTx/>
              <a:buSzTx/>
              <a:buFontTx/>
              <a:buNone/>
              <a:tabLst/>
              <a:defRPr/>
            </a:pPr>
            <a:fld id="{F3593648-B6B4-48DF-B44C-E3693731EC71}" type="slidenum">
              <a:rPr kumimoji="0" lang="en-GB"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63613" rtl="0" eaLnBrk="1" fontAlgn="base" latinLnBrk="0" hangingPunct="1">
                <a:lnSpc>
                  <a:spcPct val="100000"/>
                </a:lnSpc>
                <a:spcBef>
                  <a:spcPct val="0"/>
                </a:spcBef>
                <a:spcAft>
                  <a:spcPct val="0"/>
                </a:spcAft>
                <a:buClrTx/>
                <a:buSzTx/>
                <a:buFontTx/>
                <a:buNone/>
                <a:tabLst/>
                <a:defRPr/>
              </a:pPr>
              <a:t>26</a:t>
            </a:fld>
            <a:endParaRPr kumimoji="0" lang="en-GB"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07523" name="Text Box 1"/>
          <p:cNvSpPr txBox="1">
            <a:spLocks noChangeArrowheads="1"/>
          </p:cNvSpPr>
          <p:nvPr/>
        </p:nvSpPr>
        <p:spPr bwMode="auto">
          <a:xfrm>
            <a:off x="1219200" y="720725"/>
            <a:ext cx="4876800" cy="3598863"/>
          </a:xfrm>
          <a:prstGeom prst="rect">
            <a:avLst/>
          </a:prstGeom>
          <a:solidFill>
            <a:srgbClr val="FFFFFF"/>
          </a:solidFill>
          <a:ln w="9360">
            <a:solidFill>
              <a:srgbClr val="000000"/>
            </a:solidFill>
            <a:miter lim="800000"/>
            <a:headEnd/>
            <a:tailEnd/>
          </a:ln>
        </p:spPr>
        <p:txBody>
          <a:bodyPr wrap="none" lIns="96657" tIns="48328" rIns="96657" bIns="48328"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charset="0"/>
              <a:ea typeface="+mn-ea"/>
              <a:cs typeface="+mn-cs"/>
            </a:endParaRPr>
          </a:p>
        </p:txBody>
      </p:sp>
      <p:sp>
        <p:nvSpPr>
          <p:cNvPr id="107524" name="Rectangle 2"/>
          <p:cNvSpPr>
            <a:spLocks noGrp="1" noChangeArrowheads="1"/>
          </p:cNvSpPr>
          <p:nvPr>
            <p:ph type="body"/>
          </p:nvPr>
        </p:nvSpPr>
        <p:spPr>
          <a:xfrm>
            <a:off x="731838" y="4560888"/>
            <a:ext cx="5848350" cy="4319587"/>
          </a:xfrm>
          <a:noFill/>
          <a:ln/>
        </p:spPr>
        <p:txBody>
          <a:bodyPr wrap="none" anchor="ctr"/>
          <a:lstStyle/>
          <a:p>
            <a:endParaRPr lang="en-US"/>
          </a:p>
        </p:txBody>
      </p:sp>
    </p:spTree>
    <p:extLst>
      <p:ext uri="{BB962C8B-B14F-4D97-AF65-F5344CB8AC3E}">
        <p14:creationId xmlns:p14="http://schemas.microsoft.com/office/powerpoint/2010/main" val="1691977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pPr marL="0" marR="0" lvl="0" indent="0" algn="r" defTabSz="963613" rtl="0" eaLnBrk="1" fontAlgn="auto" latinLnBrk="0" hangingPunct="1">
              <a:lnSpc>
                <a:spcPct val="100000"/>
              </a:lnSpc>
              <a:spcBef>
                <a:spcPts val="0"/>
              </a:spcBef>
              <a:spcAft>
                <a:spcPts val="0"/>
              </a:spcAft>
              <a:buClrTx/>
              <a:buSzTx/>
              <a:buFontTx/>
              <a:buNone/>
              <a:tabLst/>
              <a:defRPr/>
            </a:pPr>
            <a:fld id="{2CF7154E-FE2C-4094-9169-5F6DACF2D87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63613"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299" name="Text Box 2"/>
          <p:cNvSpPr txBox="1">
            <a:spLocks noChangeArrowheads="1"/>
          </p:cNvSpPr>
          <p:nvPr/>
        </p:nvSpPr>
        <p:spPr bwMode="auto">
          <a:xfrm>
            <a:off x="1219200" y="720725"/>
            <a:ext cx="4876800" cy="3598863"/>
          </a:xfrm>
          <a:prstGeom prst="rect">
            <a:avLst/>
          </a:prstGeom>
          <a:solidFill>
            <a:srgbClr val="FFFFFF"/>
          </a:solidFill>
          <a:ln w="9360">
            <a:solidFill>
              <a:srgbClr val="000000"/>
            </a:solidFill>
            <a:miter lim="800000"/>
            <a:headEnd/>
            <a:tailEnd/>
          </a:ln>
        </p:spPr>
        <p:txBody>
          <a:bodyPr wrap="none" lIns="94650" tIns="47325" rIns="94650" bIns="47325"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300" name="Rectangle 3"/>
          <p:cNvSpPr>
            <a:spLocks noGrp="1" noChangeArrowheads="1"/>
          </p:cNvSpPr>
          <p:nvPr>
            <p:ph type="body"/>
          </p:nvPr>
        </p:nvSpPr>
        <p:spPr>
          <a:xfrm>
            <a:off x="731838" y="4560888"/>
            <a:ext cx="5845175" cy="4319587"/>
          </a:xfrm>
          <a:noFill/>
          <a:ln/>
        </p:spPr>
        <p:txBody>
          <a:bodyPr wrap="none" anchor="ctr"/>
          <a:lstStyle/>
          <a:p>
            <a:pPr eaLnBrk="1" hangingPunct="1"/>
            <a:endParaRPr lang="en-US"/>
          </a:p>
        </p:txBody>
      </p:sp>
    </p:spTree>
    <p:extLst>
      <p:ext uri="{BB962C8B-B14F-4D97-AF65-F5344CB8AC3E}">
        <p14:creationId xmlns:p14="http://schemas.microsoft.com/office/powerpoint/2010/main" val="1462549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666" name="Rectangle 11"/>
          <p:cNvSpPr>
            <a:spLocks noGrp="1" noChangeArrowheads="1"/>
          </p:cNvSpPr>
          <p:nvPr>
            <p:ph type="sldNum" sz="quarter" idx="5"/>
          </p:nvPr>
        </p:nvSpPr>
        <p:spPr>
          <a:noFill/>
        </p:spPr>
        <p:txBody>
          <a:bodyPr/>
          <a:lstStyle/>
          <a:p>
            <a:pPr marL="0" marR="0" lvl="0" indent="0" algn="r" defTabSz="963613" rtl="0" eaLnBrk="1" fontAlgn="base" latinLnBrk="0" hangingPunct="1">
              <a:lnSpc>
                <a:spcPct val="100000"/>
              </a:lnSpc>
              <a:spcBef>
                <a:spcPct val="0"/>
              </a:spcBef>
              <a:spcAft>
                <a:spcPct val="0"/>
              </a:spcAft>
              <a:buClrTx/>
              <a:buSzTx/>
              <a:buFontTx/>
              <a:buNone/>
              <a:tabLst/>
              <a:defRPr/>
            </a:pPr>
            <a:fld id="{4A63F802-E59E-4480-AB12-5A0E8FB09767}" type="slidenum">
              <a:rPr kumimoji="0" lang="en-GB"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63613" rtl="0" eaLnBrk="1" fontAlgn="base" latinLnBrk="0" hangingPunct="1">
                <a:lnSpc>
                  <a:spcPct val="100000"/>
                </a:lnSpc>
                <a:spcBef>
                  <a:spcPct val="0"/>
                </a:spcBef>
                <a:spcAft>
                  <a:spcPct val="0"/>
                </a:spcAft>
                <a:buClrTx/>
                <a:buSzTx/>
                <a:buFontTx/>
                <a:buNone/>
                <a:tabLst/>
                <a:defRPr/>
              </a:pPr>
              <a:t>33</a:t>
            </a:fld>
            <a:endParaRPr kumimoji="0" lang="en-GB"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3667" name="Text Box 1"/>
          <p:cNvSpPr txBox="1">
            <a:spLocks noChangeArrowheads="1"/>
          </p:cNvSpPr>
          <p:nvPr/>
        </p:nvSpPr>
        <p:spPr bwMode="auto">
          <a:xfrm>
            <a:off x="1219200" y="720725"/>
            <a:ext cx="4876800" cy="3598863"/>
          </a:xfrm>
          <a:prstGeom prst="rect">
            <a:avLst/>
          </a:prstGeom>
          <a:solidFill>
            <a:srgbClr val="FFFFFF"/>
          </a:solidFill>
          <a:ln w="9360">
            <a:solidFill>
              <a:srgbClr val="000000"/>
            </a:solidFill>
            <a:miter lim="800000"/>
            <a:headEnd/>
            <a:tailEnd/>
          </a:ln>
        </p:spPr>
        <p:txBody>
          <a:bodyPr wrap="none" lIns="96657" tIns="48328" rIns="96657" bIns="48328"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charset="0"/>
              <a:ea typeface="+mn-ea"/>
              <a:cs typeface="+mn-cs"/>
            </a:endParaRPr>
          </a:p>
        </p:txBody>
      </p:sp>
      <p:sp>
        <p:nvSpPr>
          <p:cNvPr id="113668" name="Rectangle 2"/>
          <p:cNvSpPr>
            <a:spLocks noGrp="1" noChangeArrowheads="1"/>
          </p:cNvSpPr>
          <p:nvPr>
            <p:ph type="body"/>
          </p:nvPr>
        </p:nvSpPr>
        <p:spPr>
          <a:xfrm>
            <a:off x="731838" y="4560888"/>
            <a:ext cx="5845175" cy="4319587"/>
          </a:xfrm>
          <a:noFill/>
          <a:ln/>
        </p:spPr>
        <p:txBody>
          <a:bodyPr wrap="none" anchor="ctr"/>
          <a:lstStyle/>
          <a:p>
            <a:endParaRPr lang="en-US"/>
          </a:p>
        </p:txBody>
      </p:sp>
    </p:spTree>
    <p:extLst>
      <p:ext uri="{BB962C8B-B14F-4D97-AF65-F5344CB8AC3E}">
        <p14:creationId xmlns:p14="http://schemas.microsoft.com/office/powerpoint/2010/main" val="1089578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FC15D4-91CA-4DB9-8C01-BAE492E5AD48}" type="slidenum">
              <a:rPr lang="en-IN" smtClean="0"/>
              <a:t>35</a:t>
            </a:fld>
            <a:endParaRPr lang="en-IN"/>
          </a:p>
        </p:txBody>
      </p:sp>
    </p:spTree>
    <p:extLst>
      <p:ext uri="{BB962C8B-B14F-4D97-AF65-F5344CB8AC3E}">
        <p14:creationId xmlns:p14="http://schemas.microsoft.com/office/powerpoint/2010/main" val="1396875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19-02-2025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157711649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lvl1pPr>
              <a:defRPr>
                <a:solidFill>
                  <a:schemeClr val="accent4">
                    <a:lumMod val="75000"/>
                  </a:schemeClr>
                </a:solidFill>
              </a:defRPr>
            </a:lvl1pPr>
          </a:lstStyle>
          <a:p>
            <a:r>
              <a:rPr lang="en-US" dirty="0"/>
              <a:t>Click to edit Master title style</a:t>
            </a:r>
            <a:endParaRPr lang="en-IN" dirty="0"/>
          </a:p>
        </p:txBody>
      </p:sp>
      <p:sp>
        <p:nvSpPr>
          <p:cNvPr id="3" name="Content Placeholder 2"/>
          <p:cNvSpPr>
            <a:spLocks noGrp="1"/>
          </p:cNvSpPr>
          <p:nvPr>
            <p:ph idx="1"/>
          </p:nvPr>
        </p:nvSpPr>
        <p:spPr>
          <a:xfrm>
            <a:off x="838200" y="1471749"/>
            <a:ext cx="10515600" cy="4705214"/>
          </a:xfrm>
        </p:spPr>
        <p:txBody>
          <a:bodyPr/>
          <a:lstStyle>
            <a:lvl1pPr>
              <a:defRPr b="1">
                <a:solidFill>
                  <a:srgbClr val="0070C0"/>
                </a:solidFill>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fld id="{4D8581B5-CE63-4C0B-AF1D-F1A23F619540}" type="datetimeFigureOut">
              <a:rPr lang="en-IN" smtClean="0"/>
              <a:t>19-02-2025</a:t>
            </a:fld>
            <a:endParaRPr lang="en-IN"/>
          </a:p>
        </p:txBody>
      </p:sp>
      <p:sp>
        <p:nvSpPr>
          <p:cNvPr id="5" name="Footer Placeholder 4"/>
          <p:cNvSpPr>
            <a:spLocks noGrp="1"/>
          </p:cNvSpPr>
          <p:nvPr>
            <p:ph type="ftr" sz="quarter" idx="11"/>
          </p:nvPr>
        </p:nvSpPr>
        <p:spPr/>
        <p:txBody>
          <a:bodyPr/>
          <a:lstStyle>
            <a:lvl1pPr>
              <a:defRPr b="1">
                <a:solidFill>
                  <a:schemeClr val="bg2">
                    <a:lumMod val="10000"/>
                  </a:schemeClr>
                </a:solidFill>
              </a:defRPr>
            </a:lvl1pPr>
          </a:lstStyle>
          <a:p>
            <a:r>
              <a:rPr lang="en-IN" dirty="0"/>
              <a:t>Jiaul Paik, IIT </a:t>
            </a:r>
            <a:r>
              <a:rPr lang="en-IN" dirty="0" err="1"/>
              <a:t>Kharagpur</a:t>
            </a:r>
            <a:endParaRPr lang="en-IN" dirty="0"/>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57176842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D8581B5-CE63-4C0B-AF1D-F1A23F619540}" type="datetimeFigureOut">
              <a:rPr lang="en-IN" smtClean="0"/>
              <a:t>19-02-2025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030869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D8581B5-CE63-4C0B-AF1D-F1A23F619540}" type="datetimeFigureOut">
              <a:rPr lang="en-IN" smtClean="0"/>
              <a:t>19-02-2025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952376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D8581B5-CE63-4C0B-AF1D-F1A23F619540}" type="datetimeFigureOut">
              <a:rPr lang="en-IN" smtClean="0"/>
              <a:t>19-02-2025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533970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D8581B5-CE63-4C0B-AF1D-F1A23F619540}" type="datetimeFigureOut">
              <a:rPr lang="en-IN" smtClean="0"/>
              <a:t>19-02-2025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659233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8581B5-CE63-4C0B-AF1D-F1A23F619540}" type="datetimeFigureOut">
              <a:rPr lang="en-IN" smtClean="0"/>
              <a:t>19-02-2025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710526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8581B5-CE63-4C0B-AF1D-F1A23F619540}" type="datetimeFigureOut">
              <a:rPr lang="en-IN" smtClean="0"/>
              <a:t>19-02-2025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4020820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8581B5-CE63-4C0B-AF1D-F1A23F619540}" type="datetimeFigureOut">
              <a:rPr lang="en-IN" smtClean="0"/>
              <a:t>19-02-2025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1512170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19-02-2025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778880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19-02-2025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956180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8581B5-CE63-4C0B-AF1D-F1A23F619540}" type="datetimeFigureOut">
              <a:rPr lang="en-IN" smtClean="0"/>
              <a:t>19-02-2025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7DD252-A74E-4E8E-A6B4-FCD6DE8F900F}" type="slidenum">
              <a:rPr lang="en-IN" smtClean="0"/>
              <a:t>‹#›</a:t>
            </a:fld>
            <a:endParaRPr lang="en-IN"/>
          </a:p>
        </p:txBody>
      </p:sp>
    </p:spTree>
    <p:extLst>
      <p:ext uri="{BB962C8B-B14F-4D97-AF65-F5344CB8AC3E}">
        <p14:creationId xmlns:p14="http://schemas.microsoft.com/office/powerpoint/2010/main" val="285816313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5915" y="1122363"/>
            <a:ext cx="9972085" cy="1408401"/>
          </a:xfrm>
        </p:spPr>
        <p:txBody>
          <a:bodyPr>
            <a:normAutofit/>
          </a:bodyPr>
          <a:lstStyle/>
          <a:p>
            <a:r>
              <a:rPr lang="en-US" sz="4800" dirty="0">
                <a:solidFill>
                  <a:schemeClr val="accent4"/>
                </a:solidFill>
                <a:latin typeface="Century Schoolbook" panose="02040604050505020304" pitchFamily="18" charset="0"/>
              </a:rPr>
              <a:t>Big Data Processing</a:t>
            </a:r>
            <a:endParaRPr lang="en-IN" sz="4800" dirty="0">
              <a:solidFill>
                <a:schemeClr val="accent4"/>
              </a:solidFill>
              <a:latin typeface="Century Schoolbook" panose="02040604050505020304" pitchFamily="18" charset="0"/>
            </a:endParaRPr>
          </a:p>
        </p:txBody>
      </p:sp>
      <p:sp>
        <p:nvSpPr>
          <p:cNvPr id="3" name="Subtitle 2"/>
          <p:cNvSpPr>
            <a:spLocks noGrp="1"/>
          </p:cNvSpPr>
          <p:nvPr>
            <p:ph type="subTitle" idx="1"/>
          </p:nvPr>
        </p:nvSpPr>
        <p:spPr>
          <a:xfrm>
            <a:off x="1311564" y="3500438"/>
            <a:ext cx="9144000" cy="1655762"/>
          </a:xfrm>
        </p:spPr>
        <p:txBody>
          <a:bodyPr>
            <a:normAutofit/>
          </a:bodyPr>
          <a:lstStyle/>
          <a:p>
            <a:r>
              <a:rPr lang="en-IN" sz="4400" dirty="0">
                <a:latin typeface="Century Schoolbook" panose="02040604050505020304" pitchFamily="18" charset="0"/>
              </a:rPr>
              <a:t>Jiaul Paik</a:t>
            </a:r>
          </a:p>
          <a:p>
            <a:r>
              <a:rPr lang="en-IN" sz="3200" dirty="0">
                <a:latin typeface="Century Schoolbook" panose="02040604050505020304" pitchFamily="18" charset="0"/>
              </a:rPr>
              <a:t>Lecture 4</a:t>
            </a:r>
          </a:p>
        </p:txBody>
      </p:sp>
    </p:spTree>
    <p:extLst>
      <p:ext uri="{BB962C8B-B14F-4D97-AF65-F5344CB8AC3E}">
        <p14:creationId xmlns:p14="http://schemas.microsoft.com/office/powerpoint/2010/main" val="2733896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3EDCC-9663-4038-82B0-99597344467E}"/>
              </a:ext>
            </a:extLst>
          </p:cNvPr>
          <p:cNvSpPr>
            <a:spLocks noGrp="1"/>
          </p:cNvSpPr>
          <p:nvPr>
            <p:ph type="title"/>
          </p:nvPr>
        </p:nvSpPr>
        <p:spPr>
          <a:xfrm>
            <a:off x="838200" y="2400300"/>
            <a:ext cx="10515600" cy="1802423"/>
          </a:xfrm>
        </p:spPr>
        <p:txBody>
          <a:bodyPr>
            <a:normAutofit fontScale="90000"/>
          </a:bodyPr>
          <a:lstStyle/>
          <a:p>
            <a:pPr algn="ctr"/>
            <a:r>
              <a:rPr lang="en-IN" dirty="0"/>
              <a:t>Multithreading</a:t>
            </a:r>
            <a:br>
              <a:rPr lang="en-IN" dirty="0"/>
            </a:br>
            <a:br>
              <a:rPr lang="en-IN" dirty="0"/>
            </a:br>
            <a:r>
              <a:rPr lang="en-IN" dirty="0"/>
              <a:t>Python Examples</a:t>
            </a:r>
          </a:p>
        </p:txBody>
      </p:sp>
    </p:spTree>
    <p:extLst>
      <p:ext uri="{BB962C8B-B14F-4D97-AF65-F5344CB8AC3E}">
        <p14:creationId xmlns:p14="http://schemas.microsoft.com/office/powerpoint/2010/main" val="885443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B5D0AED7-A0EF-44EE-B159-8017EE87BA44}"/>
              </a:ext>
            </a:extLst>
          </p:cNvPr>
          <p:cNvSpPr/>
          <p:nvPr/>
        </p:nvSpPr>
        <p:spPr>
          <a:xfrm>
            <a:off x="754232" y="5415379"/>
            <a:ext cx="2841224" cy="1233996"/>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4A5E027C-F393-4ADA-8657-269409FDD079}"/>
              </a:ext>
            </a:extLst>
          </p:cNvPr>
          <p:cNvSpPr/>
          <p:nvPr/>
        </p:nvSpPr>
        <p:spPr>
          <a:xfrm>
            <a:off x="754232" y="4847208"/>
            <a:ext cx="3240719" cy="568171"/>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Rounded Corners 11">
            <a:extLst>
              <a:ext uri="{FF2B5EF4-FFF2-40B4-BE49-F238E27FC236}">
                <a16:creationId xmlns:a16="http://schemas.microsoft.com/office/drawing/2014/main" id="{7E9F7E6B-FD5B-4305-BC24-CFB026BF7F49}"/>
              </a:ext>
            </a:extLst>
          </p:cNvPr>
          <p:cNvSpPr/>
          <p:nvPr/>
        </p:nvSpPr>
        <p:spPr>
          <a:xfrm>
            <a:off x="656948" y="3613212"/>
            <a:ext cx="7590407" cy="1233996"/>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C80FDE44-98D0-4E12-80D7-4843E9A0FAA1}"/>
              </a:ext>
            </a:extLst>
          </p:cNvPr>
          <p:cNvSpPr/>
          <p:nvPr/>
        </p:nvSpPr>
        <p:spPr>
          <a:xfrm>
            <a:off x="656948" y="2086252"/>
            <a:ext cx="6312023" cy="1464816"/>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Rounded Corners 9">
            <a:extLst>
              <a:ext uri="{FF2B5EF4-FFF2-40B4-BE49-F238E27FC236}">
                <a16:creationId xmlns:a16="http://schemas.microsoft.com/office/drawing/2014/main" id="{D3552A98-1447-4C72-910B-B01110DDC633}"/>
              </a:ext>
            </a:extLst>
          </p:cNvPr>
          <p:cNvSpPr/>
          <p:nvPr/>
        </p:nvSpPr>
        <p:spPr>
          <a:xfrm>
            <a:off x="656948" y="932155"/>
            <a:ext cx="4492101" cy="1154097"/>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14C4A6D5-A19F-4FE7-B1B9-DF80AEB0BE3C}"/>
              </a:ext>
            </a:extLst>
          </p:cNvPr>
          <p:cNvSpPr>
            <a:spLocks noGrp="1"/>
          </p:cNvSpPr>
          <p:nvPr>
            <p:ph type="title"/>
          </p:nvPr>
        </p:nvSpPr>
        <p:spPr>
          <a:xfrm>
            <a:off x="438705" y="204458"/>
            <a:ext cx="10515600" cy="549275"/>
          </a:xfrm>
        </p:spPr>
        <p:txBody>
          <a:bodyPr>
            <a:normAutofit fontScale="90000"/>
          </a:bodyPr>
          <a:lstStyle/>
          <a:p>
            <a:r>
              <a:rPr lang="en-IN" dirty="0"/>
              <a:t>Finding sum of numbers</a:t>
            </a:r>
          </a:p>
        </p:txBody>
      </p:sp>
      <p:sp>
        <p:nvSpPr>
          <p:cNvPr id="8" name="Rectangle 7">
            <a:extLst>
              <a:ext uri="{FF2B5EF4-FFF2-40B4-BE49-F238E27FC236}">
                <a16:creationId xmlns:a16="http://schemas.microsoft.com/office/drawing/2014/main" id="{76BF0D18-9E8D-416A-AD23-18650931038E}"/>
              </a:ext>
            </a:extLst>
          </p:cNvPr>
          <p:cNvSpPr/>
          <p:nvPr/>
        </p:nvSpPr>
        <p:spPr>
          <a:xfrm>
            <a:off x="754232" y="1021231"/>
            <a:ext cx="7679553" cy="5632311"/>
          </a:xfrm>
          <a:prstGeom prst="rect">
            <a:avLst/>
          </a:prstGeom>
        </p:spPr>
        <p:txBody>
          <a:bodyPr wrap="square">
            <a:spAutoFit/>
          </a:bodyPr>
          <a:lstStyle/>
          <a:p>
            <a:r>
              <a:rPr lang="en-IN" sz="1200" b="1" dirty="0">
                <a:latin typeface="Courier New" panose="02070309020205020404" pitchFamily="49" charset="0"/>
              </a:rPr>
              <a:t>def </a:t>
            </a:r>
            <a:r>
              <a:rPr lang="en-IN" sz="1200" b="1" dirty="0" err="1">
                <a:latin typeface="Courier New" panose="02070309020205020404" pitchFamily="49" charset="0"/>
              </a:rPr>
              <a:t>partSum</a:t>
            </a:r>
            <a:r>
              <a:rPr lang="en-IN" sz="1200" b="1" dirty="0">
                <a:latin typeface="Courier New" panose="02070309020205020404" pitchFamily="49" charset="0"/>
              </a:rPr>
              <a:t>(data, result, id, start, end):</a:t>
            </a:r>
          </a:p>
          <a:p>
            <a:r>
              <a:rPr lang="en-IN" sz="1200" b="1" dirty="0">
                <a:latin typeface="Courier New" panose="02070309020205020404" pitchFamily="49" charset="0"/>
              </a:rPr>
              <a:t>    sum = 0</a:t>
            </a:r>
          </a:p>
          <a:p>
            <a:r>
              <a:rPr lang="en-US" sz="1200" b="1" dirty="0">
                <a:latin typeface="Courier New" panose="02070309020205020404" pitchFamily="49" charset="0"/>
              </a:rPr>
              <a:t>    for </a:t>
            </a:r>
            <a:r>
              <a:rPr lang="en-US" sz="1200" b="1" dirty="0" err="1">
                <a:latin typeface="Courier New" panose="02070309020205020404" pitchFamily="49" charset="0"/>
              </a:rPr>
              <a:t>i</a:t>
            </a:r>
            <a:r>
              <a:rPr lang="en-US" sz="1200" b="1" dirty="0">
                <a:latin typeface="Courier New" panose="02070309020205020404" pitchFamily="49" charset="0"/>
              </a:rPr>
              <a:t> in range(start, end):</a:t>
            </a:r>
          </a:p>
          <a:p>
            <a:r>
              <a:rPr lang="en-IN" sz="1200" b="1" dirty="0">
                <a:latin typeface="Courier New" panose="02070309020205020404" pitchFamily="49" charset="0"/>
              </a:rPr>
              <a:t>      sum = </a:t>
            </a:r>
            <a:r>
              <a:rPr lang="en-IN" sz="1200" b="1" dirty="0" err="1">
                <a:latin typeface="Courier New" panose="02070309020205020404" pitchFamily="49" charset="0"/>
              </a:rPr>
              <a:t>sum+data</a:t>
            </a:r>
            <a:r>
              <a:rPr lang="en-IN" sz="1200" b="1" dirty="0">
                <a:latin typeface="Courier New" panose="02070309020205020404" pitchFamily="49" charset="0"/>
              </a:rPr>
              <a:t>[</a:t>
            </a:r>
            <a:r>
              <a:rPr lang="en-IN" sz="1200" b="1" dirty="0" err="1">
                <a:latin typeface="Courier New" panose="02070309020205020404" pitchFamily="49" charset="0"/>
              </a:rPr>
              <a:t>i</a:t>
            </a:r>
            <a:r>
              <a:rPr lang="en-IN" sz="1200" b="1" dirty="0">
                <a:latin typeface="Courier New" panose="02070309020205020404" pitchFamily="49" charset="0"/>
              </a:rPr>
              <a:t>]</a:t>
            </a:r>
          </a:p>
          <a:p>
            <a:r>
              <a:rPr lang="en-IN" sz="1200" b="1" dirty="0">
                <a:latin typeface="Courier New" panose="02070309020205020404" pitchFamily="49" charset="0"/>
              </a:rPr>
              <a:t>    result[id] = sum</a:t>
            </a:r>
          </a:p>
          <a:p>
            <a:endParaRPr lang="en-IN" sz="1200" b="1" dirty="0">
              <a:latin typeface="Courier New" panose="02070309020205020404" pitchFamily="49" charset="0"/>
            </a:endParaRPr>
          </a:p>
          <a:p>
            <a:r>
              <a:rPr lang="en-IN" sz="1200" b="1" dirty="0">
                <a:latin typeface="Courier New" panose="02070309020205020404" pitchFamily="49" charset="0"/>
              </a:rPr>
              <a:t>from threading import Thread</a:t>
            </a:r>
          </a:p>
          <a:p>
            <a:endParaRPr lang="en-IN" sz="1200" b="1" dirty="0">
              <a:latin typeface="Courier New" panose="02070309020205020404" pitchFamily="49" charset="0"/>
            </a:endParaRPr>
          </a:p>
          <a:p>
            <a:r>
              <a:rPr lang="en-IN" sz="1200" b="1" dirty="0">
                <a:latin typeface="Courier New" panose="02070309020205020404" pitchFamily="49" charset="0"/>
              </a:rPr>
              <a:t>threads = [None] * 5</a:t>
            </a:r>
          </a:p>
          <a:p>
            <a:r>
              <a:rPr lang="en-IN" sz="1200" b="1" dirty="0">
                <a:latin typeface="Courier New" panose="02070309020205020404" pitchFamily="49" charset="0"/>
              </a:rPr>
              <a:t>results = [None] * 5</a:t>
            </a:r>
          </a:p>
          <a:p>
            <a:endParaRPr lang="en-IN" sz="1200" b="1" dirty="0">
              <a:latin typeface="Courier New" panose="02070309020205020404" pitchFamily="49" charset="0"/>
            </a:endParaRPr>
          </a:p>
          <a:p>
            <a:r>
              <a:rPr lang="en-IN" sz="1200" b="1" dirty="0">
                <a:latin typeface="Courier New" panose="02070309020205020404" pitchFamily="49" charset="0"/>
              </a:rPr>
              <a:t>data = [2, 3, 5, 8, 10, 12, 14, 17, 20, 25, 12, 16, 17, 17, 19]</a:t>
            </a:r>
          </a:p>
          <a:p>
            <a:r>
              <a:rPr lang="en-US" sz="1200" b="1" dirty="0">
                <a:latin typeface="Courier New" panose="02070309020205020404" pitchFamily="49" charset="0"/>
              </a:rPr>
              <a:t>size = int(</a:t>
            </a:r>
            <a:r>
              <a:rPr lang="en-US" sz="1200" b="1" dirty="0" err="1">
                <a:latin typeface="Courier New" panose="02070309020205020404" pitchFamily="49" charset="0"/>
              </a:rPr>
              <a:t>len</a:t>
            </a:r>
            <a:r>
              <a:rPr lang="en-US" sz="1200" b="1" dirty="0">
                <a:latin typeface="Courier New" panose="02070309020205020404" pitchFamily="49" charset="0"/>
              </a:rPr>
              <a:t>(data)/</a:t>
            </a:r>
            <a:r>
              <a:rPr lang="en-US" sz="1200" b="1" dirty="0" err="1">
                <a:latin typeface="Courier New" panose="02070309020205020404" pitchFamily="49" charset="0"/>
              </a:rPr>
              <a:t>len</a:t>
            </a:r>
            <a:r>
              <a:rPr lang="en-US" sz="1200" b="1" dirty="0">
                <a:latin typeface="Courier New" panose="02070309020205020404" pitchFamily="49" charset="0"/>
              </a:rPr>
              <a:t>(threads))</a:t>
            </a:r>
          </a:p>
          <a:p>
            <a:endParaRPr lang="en-IN" sz="1200" b="1" dirty="0">
              <a:latin typeface="Courier New" panose="02070309020205020404" pitchFamily="49" charset="0"/>
            </a:endParaRPr>
          </a:p>
          <a:p>
            <a:r>
              <a:rPr lang="en-US" sz="1200" b="1" dirty="0">
                <a:latin typeface="Courier New" panose="02070309020205020404" pitchFamily="49" charset="0"/>
              </a:rPr>
              <a:t>for </a:t>
            </a:r>
            <a:r>
              <a:rPr lang="en-US" sz="1200" b="1" dirty="0" err="1">
                <a:latin typeface="Courier New" panose="02070309020205020404" pitchFamily="49" charset="0"/>
              </a:rPr>
              <a:t>i</a:t>
            </a:r>
            <a:r>
              <a:rPr lang="en-US" sz="1200" b="1" dirty="0">
                <a:latin typeface="Courier New" panose="02070309020205020404" pitchFamily="49" charset="0"/>
              </a:rPr>
              <a:t> in range(</a:t>
            </a:r>
            <a:r>
              <a:rPr lang="en-US" sz="1200" b="1" dirty="0" err="1">
                <a:latin typeface="Courier New" panose="02070309020205020404" pitchFamily="49" charset="0"/>
              </a:rPr>
              <a:t>len</a:t>
            </a:r>
            <a:r>
              <a:rPr lang="en-US" sz="1200" b="1" dirty="0">
                <a:latin typeface="Courier New" panose="02070309020205020404" pitchFamily="49" charset="0"/>
              </a:rPr>
              <a:t>(threads)):</a:t>
            </a:r>
          </a:p>
          <a:p>
            <a:r>
              <a:rPr lang="en-IN" sz="1200" b="1" dirty="0">
                <a:latin typeface="Courier New" panose="02070309020205020404" pitchFamily="49" charset="0"/>
              </a:rPr>
              <a:t>    start = </a:t>
            </a:r>
            <a:r>
              <a:rPr lang="en-IN" sz="1200" b="1" dirty="0" err="1">
                <a:latin typeface="Courier New" panose="02070309020205020404" pitchFamily="49" charset="0"/>
              </a:rPr>
              <a:t>i</a:t>
            </a:r>
            <a:r>
              <a:rPr lang="en-IN" sz="1200" b="1" dirty="0">
                <a:latin typeface="Courier New" panose="02070309020205020404" pitchFamily="49" charset="0"/>
              </a:rPr>
              <a:t>*size</a:t>
            </a:r>
          </a:p>
          <a:p>
            <a:r>
              <a:rPr lang="en-IN" sz="1200" b="1" dirty="0">
                <a:latin typeface="Courier New" panose="02070309020205020404" pitchFamily="49" charset="0"/>
              </a:rPr>
              <a:t>    end = (i+1)*size</a:t>
            </a:r>
          </a:p>
          <a:p>
            <a:r>
              <a:rPr lang="en-US" sz="1200" b="1" dirty="0">
                <a:latin typeface="Courier New" panose="02070309020205020404" pitchFamily="49" charset="0"/>
              </a:rPr>
              <a:t>    threads[</a:t>
            </a:r>
            <a:r>
              <a:rPr lang="en-US" sz="1200" b="1" dirty="0" err="1">
                <a:latin typeface="Courier New" panose="02070309020205020404" pitchFamily="49" charset="0"/>
              </a:rPr>
              <a:t>i</a:t>
            </a:r>
            <a:r>
              <a:rPr lang="en-US" sz="1200" b="1" dirty="0">
                <a:latin typeface="Courier New" panose="02070309020205020404" pitchFamily="49" charset="0"/>
              </a:rPr>
              <a:t>] = Thread(target=</a:t>
            </a:r>
            <a:r>
              <a:rPr lang="en-US" sz="1200" b="1" dirty="0" err="1">
                <a:latin typeface="Courier New" panose="02070309020205020404" pitchFamily="49" charset="0"/>
              </a:rPr>
              <a:t>partSum</a:t>
            </a:r>
            <a:r>
              <a:rPr lang="en-US" sz="1200" b="1" dirty="0">
                <a:latin typeface="Courier New" panose="02070309020205020404" pitchFamily="49" charset="0"/>
              </a:rPr>
              <a:t>, </a:t>
            </a:r>
            <a:r>
              <a:rPr lang="en-US" sz="1200" b="1" dirty="0" err="1">
                <a:latin typeface="Courier New" panose="02070309020205020404" pitchFamily="49" charset="0"/>
              </a:rPr>
              <a:t>args</a:t>
            </a:r>
            <a:r>
              <a:rPr lang="en-US" sz="1200" b="1" dirty="0">
                <a:latin typeface="Courier New" panose="02070309020205020404" pitchFamily="49" charset="0"/>
              </a:rPr>
              <a:t>=(data, results, </a:t>
            </a:r>
            <a:r>
              <a:rPr lang="en-US" sz="1200" b="1" dirty="0" err="1">
                <a:latin typeface="Courier New" panose="02070309020205020404" pitchFamily="49" charset="0"/>
              </a:rPr>
              <a:t>i</a:t>
            </a:r>
            <a:r>
              <a:rPr lang="en-US" sz="1200" b="1" dirty="0">
                <a:latin typeface="Courier New" panose="02070309020205020404" pitchFamily="49" charset="0"/>
              </a:rPr>
              <a:t>, start, end))</a:t>
            </a:r>
          </a:p>
          <a:p>
            <a:r>
              <a:rPr lang="en-IN" sz="1200" b="1" dirty="0">
                <a:latin typeface="Courier New" panose="02070309020205020404" pitchFamily="49" charset="0"/>
              </a:rPr>
              <a:t>    threads[</a:t>
            </a:r>
            <a:r>
              <a:rPr lang="en-IN" sz="1200" b="1" dirty="0" err="1">
                <a:latin typeface="Courier New" panose="02070309020205020404" pitchFamily="49" charset="0"/>
              </a:rPr>
              <a:t>i</a:t>
            </a:r>
            <a:r>
              <a:rPr lang="en-IN" sz="1200" b="1" dirty="0">
                <a:latin typeface="Courier New" panose="02070309020205020404" pitchFamily="49" charset="0"/>
              </a:rPr>
              <a:t>].start()</a:t>
            </a:r>
          </a:p>
          <a:p>
            <a:endParaRPr lang="en-IN" sz="1200" b="1" dirty="0">
              <a:latin typeface="Courier New" panose="02070309020205020404" pitchFamily="49" charset="0"/>
            </a:endParaRPr>
          </a:p>
          <a:p>
            <a:endParaRPr lang="en-IN" sz="1200" b="1" dirty="0">
              <a:latin typeface="Courier New" panose="02070309020205020404" pitchFamily="49" charset="0"/>
            </a:endParaRPr>
          </a:p>
          <a:p>
            <a:r>
              <a:rPr lang="en-US" sz="1200" b="1" dirty="0">
                <a:latin typeface="Courier New" panose="02070309020205020404" pitchFamily="49" charset="0"/>
              </a:rPr>
              <a:t>for </a:t>
            </a:r>
            <a:r>
              <a:rPr lang="en-US" sz="1200" b="1" dirty="0" err="1">
                <a:latin typeface="Courier New" panose="02070309020205020404" pitchFamily="49" charset="0"/>
              </a:rPr>
              <a:t>i</a:t>
            </a:r>
            <a:r>
              <a:rPr lang="en-US" sz="1200" b="1" dirty="0">
                <a:latin typeface="Courier New" panose="02070309020205020404" pitchFamily="49" charset="0"/>
              </a:rPr>
              <a:t> in range(</a:t>
            </a:r>
            <a:r>
              <a:rPr lang="en-US" sz="1200" b="1" dirty="0" err="1">
                <a:latin typeface="Courier New" panose="02070309020205020404" pitchFamily="49" charset="0"/>
              </a:rPr>
              <a:t>len</a:t>
            </a:r>
            <a:r>
              <a:rPr lang="en-US" sz="1200" b="1" dirty="0">
                <a:latin typeface="Courier New" panose="02070309020205020404" pitchFamily="49" charset="0"/>
              </a:rPr>
              <a:t>(threads)):</a:t>
            </a:r>
          </a:p>
          <a:p>
            <a:r>
              <a:rPr lang="en-IN" sz="1200" b="1" dirty="0">
                <a:latin typeface="Courier New" panose="02070309020205020404" pitchFamily="49" charset="0"/>
              </a:rPr>
              <a:t>    threads[</a:t>
            </a:r>
            <a:r>
              <a:rPr lang="en-IN" sz="1200" b="1" dirty="0" err="1">
                <a:latin typeface="Courier New" panose="02070309020205020404" pitchFamily="49" charset="0"/>
              </a:rPr>
              <a:t>i</a:t>
            </a:r>
            <a:r>
              <a:rPr lang="en-IN" sz="1200" b="1" dirty="0">
                <a:latin typeface="Courier New" panose="02070309020205020404" pitchFamily="49" charset="0"/>
              </a:rPr>
              <a:t>].join()</a:t>
            </a:r>
          </a:p>
          <a:p>
            <a:endParaRPr lang="en-IN" sz="1200" b="1" dirty="0">
              <a:latin typeface="Courier New" panose="02070309020205020404" pitchFamily="49" charset="0"/>
            </a:endParaRPr>
          </a:p>
          <a:p>
            <a:r>
              <a:rPr lang="en-IN" sz="1200" b="1" dirty="0">
                <a:latin typeface="Courier New" panose="02070309020205020404" pitchFamily="49" charset="0"/>
              </a:rPr>
              <a:t># final sum </a:t>
            </a:r>
          </a:p>
          <a:p>
            <a:r>
              <a:rPr lang="en-IN" sz="1200" b="1" dirty="0" err="1">
                <a:latin typeface="Courier New" panose="02070309020205020404" pitchFamily="49" charset="0"/>
              </a:rPr>
              <a:t>finalsum</a:t>
            </a:r>
            <a:r>
              <a:rPr lang="en-IN" sz="1200" b="1" dirty="0">
                <a:latin typeface="Courier New" panose="02070309020205020404" pitchFamily="49" charset="0"/>
              </a:rPr>
              <a:t>=0</a:t>
            </a:r>
          </a:p>
          <a:p>
            <a:r>
              <a:rPr lang="en-IN" sz="1200" b="1" dirty="0">
                <a:latin typeface="Courier New" panose="02070309020205020404" pitchFamily="49" charset="0"/>
              </a:rPr>
              <a:t>for </a:t>
            </a:r>
            <a:r>
              <a:rPr lang="en-IN" sz="1200" b="1" dirty="0" err="1">
                <a:latin typeface="Courier New" panose="02070309020205020404" pitchFamily="49" charset="0"/>
              </a:rPr>
              <a:t>i</a:t>
            </a:r>
            <a:r>
              <a:rPr lang="en-IN" sz="1200" b="1" dirty="0">
                <a:latin typeface="Courier New" panose="02070309020205020404" pitchFamily="49" charset="0"/>
              </a:rPr>
              <a:t> in results:</a:t>
            </a:r>
          </a:p>
          <a:p>
            <a:r>
              <a:rPr lang="en-IN" sz="1200" b="1" dirty="0">
                <a:latin typeface="Courier New" panose="02070309020205020404" pitchFamily="49" charset="0"/>
              </a:rPr>
              <a:t> </a:t>
            </a:r>
            <a:r>
              <a:rPr lang="en-IN" sz="1200" b="1" dirty="0" err="1">
                <a:latin typeface="Courier New" panose="02070309020205020404" pitchFamily="49" charset="0"/>
              </a:rPr>
              <a:t>finalsum</a:t>
            </a:r>
            <a:r>
              <a:rPr lang="en-IN" sz="1200" b="1" dirty="0">
                <a:latin typeface="Courier New" panose="02070309020205020404" pitchFamily="49" charset="0"/>
              </a:rPr>
              <a:t> = </a:t>
            </a:r>
            <a:r>
              <a:rPr lang="en-IN" sz="1200" b="1" dirty="0" err="1">
                <a:latin typeface="Courier New" panose="02070309020205020404" pitchFamily="49" charset="0"/>
              </a:rPr>
              <a:t>finalsum+i</a:t>
            </a:r>
            <a:endParaRPr lang="en-IN" sz="1200" b="1" dirty="0">
              <a:latin typeface="Courier New" panose="02070309020205020404" pitchFamily="49" charset="0"/>
            </a:endParaRPr>
          </a:p>
          <a:p>
            <a:r>
              <a:rPr lang="en-IN" sz="1200" b="1" dirty="0">
                <a:latin typeface="Courier New" panose="02070309020205020404" pitchFamily="49" charset="0"/>
              </a:rPr>
              <a:t>print(</a:t>
            </a:r>
            <a:r>
              <a:rPr lang="en-IN" sz="1200" b="1" dirty="0" err="1">
                <a:latin typeface="Courier New" panose="02070309020205020404" pitchFamily="49" charset="0"/>
              </a:rPr>
              <a:t>finalsum</a:t>
            </a:r>
            <a:r>
              <a:rPr lang="en-IN" sz="1200" b="1" dirty="0">
                <a:latin typeface="Courier New" panose="02070309020205020404" pitchFamily="49" charset="0"/>
              </a:rPr>
              <a:t>) </a:t>
            </a:r>
            <a:endParaRPr lang="en-IN" sz="1200" b="1" dirty="0"/>
          </a:p>
        </p:txBody>
      </p:sp>
      <p:sp>
        <p:nvSpPr>
          <p:cNvPr id="15" name="TextBox 14">
            <a:extLst>
              <a:ext uri="{FF2B5EF4-FFF2-40B4-BE49-F238E27FC236}">
                <a16:creationId xmlns:a16="http://schemas.microsoft.com/office/drawing/2014/main" id="{904CF3B9-805A-40FC-BEC6-DC87A62A5BFD}"/>
              </a:ext>
            </a:extLst>
          </p:cNvPr>
          <p:cNvSpPr txBox="1"/>
          <p:nvPr/>
        </p:nvSpPr>
        <p:spPr>
          <a:xfrm>
            <a:off x="6738152" y="1148749"/>
            <a:ext cx="5131533" cy="369332"/>
          </a:xfrm>
          <a:prstGeom prst="rect">
            <a:avLst/>
          </a:prstGeom>
          <a:noFill/>
        </p:spPr>
        <p:txBody>
          <a:bodyPr wrap="none" rtlCol="0">
            <a:spAutoFit/>
          </a:bodyPr>
          <a:lstStyle/>
          <a:p>
            <a:r>
              <a:rPr lang="en-IN" b="1" dirty="0">
                <a:solidFill>
                  <a:srgbClr val="C00000"/>
                </a:solidFill>
              </a:rPr>
              <a:t>Same function on different chunk of data</a:t>
            </a:r>
          </a:p>
        </p:txBody>
      </p:sp>
    </p:spTree>
    <p:extLst>
      <p:ext uri="{BB962C8B-B14F-4D97-AF65-F5344CB8AC3E}">
        <p14:creationId xmlns:p14="http://schemas.microsoft.com/office/powerpoint/2010/main" val="130821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animBg="1"/>
      <p:bldP spid="12" grpId="0" animBg="1"/>
      <p:bldP spid="11"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4A6D5-A19F-4FE7-B1B9-DF80AEB0BE3C}"/>
              </a:ext>
            </a:extLst>
          </p:cNvPr>
          <p:cNvSpPr>
            <a:spLocks noGrp="1"/>
          </p:cNvSpPr>
          <p:nvPr>
            <p:ph type="title"/>
          </p:nvPr>
        </p:nvSpPr>
        <p:spPr>
          <a:xfrm>
            <a:off x="438705" y="115679"/>
            <a:ext cx="10515600" cy="549275"/>
          </a:xfrm>
        </p:spPr>
        <p:txBody>
          <a:bodyPr>
            <a:normAutofit/>
          </a:bodyPr>
          <a:lstStyle/>
          <a:p>
            <a:r>
              <a:rPr lang="en-IN" sz="3200" dirty="0"/>
              <a:t>Finding variance of a set of numbers</a:t>
            </a:r>
          </a:p>
        </p:txBody>
      </p:sp>
      <p:sp>
        <p:nvSpPr>
          <p:cNvPr id="15" name="TextBox 14">
            <a:extLst>
              <a:ext uri="{FF2B5EF4-FFF2-40B4-BE49-F238E27FC236}">
                <a16:creationId xmlns:a16="http://schemas.microsoft.com/office/drawing/2014/main" id="{904CF3B9-805A-40FC-BEC6-DC87A62A5BFD}"/>
              </a:ext>
            </a:extLst>
          </p:cNvPr>
          <p:cNvSpPr txBox="1"/>
          <p:nvPr/>
        </p:nvSpPr>
        <p:spPr>
          <a:xfrm>
            <a:off x="6738152" y="1148749"/>
            <a:ext cx="4905510" cy="369332"/>
          </a:xfrm>
          <a:prstGeom prst="rect">
            <a:avLst/>
          </a:prstGeom>
          <a:noFill/>
        </p:spPr>
        <p:txBody>
          <a:bodyPr wrap="none" rtlCol="0">
            <a:spAutoFit/>
          </a:bodyPr>
          <a:lstStyle/>
          <a:p>
            <a:r>
              <a:rPr lang="en-IN" b="1" dirty="0">
                <a:solidFill>
                  <a:srgbClr val="C00000"/>
                </a:solidFill>
              </a:rPr>
              <a:t>Different functions in different threads</a:t>
            </a:r>
          </a:p>
        </p:txBody>
      </p:sp>
      <p:sp>
        <p:nvSpPr>
          <p:cNvPr id="4" name="Rectangle 3">
            <a:extLst>
              <a:ext uri="{FF2B5EF4-FFF2-40B4-BE49-F238E27FC236}">
                <a16:creationId xmlns:a16="http://schemas.microsoft.com/office/drawing/2014/main" id="{791768B2-0B65-4495-9478-036661685DE2}"/>
              </a:ext>
            </a:extLst>
          </p:cNvPr>
          <p:cNvSpPr/>
          <p:nvPr/>
        </p:nvSpPr>
        <p:spPr>
          <a:xfrm>
            <a:off x="548338" y="847090"/>
            <a:ext cx="10894979" cy="5895231"/>
          </a:xfrm>
          <a:prstGeom prst="rect">
            <a:avLst/>
          </a:prstGeom>
        </p:spPr>
        <p:txBody>
          <a:bodyPr wrap="square">
            <a:spAutoFit/>
          </a:bodyPr>
          <a:lstStyle/>
          <a:p>
            <a:r>
              <a:rPr lang="en-IN" sz="1400" b="1" dirty="0">
                <a:solidFill>
                  <a:schemeClr val="accent6"/>
                </a:solidFill>
              </a:rPr>
              <a:t>def </a:t>
            </a:r>
            <a:r>
              <a:rPr lang="en-IN" sz="1400" b="1" dirty="0" err="1">
                <a:solidFill>
                  <a:schemeClr val="accent6"/>
                </a:solidFill>
              </a:rPr>
              <a:t>calSumOfSquare</a:t>
            </a:r>
            <a:r>
              <a:rPr lang="en-IN" sz="1400" b="1" dirty="0">
                <a:solidFill>
                  <a:schemeClr val="accent6"/>
                </a:solidFill>
              </a:rPr>
              <a:t>(data, res, </a:t>
            </a:r>
            <a:r>
              <a:rPr lang="en-IN" sz="1400" b="1" dirty="0" err="1">
                <a:solidFill>
                  <a:schemeClr val="accent6"/>
                </a:solidFill>
              </a:rPr>
              <a:t>i</a:t>
            </a:r>
            <a:r>
              <a:rPr lang="en-IN" sz="1400" b="1" dirty="0">
                <a:solidFill>
                  <a:schemeClr val="accent6"/>
                </a:solidFill>
              </a:rPr>
              <a:t>):</a:t>
            </a:r>
          </a:p>
          <a:p>
            <a:r>
              <a:rPr lang="en-IN" sz="1400" b="1" dirty="0">
                <a:solidFill>
                  <a:schemeClr val="accent6"/>
                </a:solidFill>
              </a:rPr>
              <a:t>    sum = 0</a:t>
            </a:r>
          </a:p>
          <a:p>
            <a:r>
              <a:rPr lang="en-IN" sz="1400" b="1" dirty="0">
                <a:solidFill>
                  <a:schemeClr val="accent6"/>
                </a:solidFill>
              </a:rPr>
              <a:t>    for n in data:</a:t>
            </a:r>
          </a:p>
          <a:p>
            <a:r>
              <a:rPr lang="en-IN" sz="1400" b="1" dirty="0">
                <a:solidFill>
                  <a:schemeClr val="accent6"/>
                </a:solidFill>
              </a:rPr>
              <a:t>        sum = sum + n*n</a:t>
            </a:r>
          </a:p>
          <a:p>
            <a:r>
              <a:rPr lang="en-IN" sz="1400" b="1" dirty="0">
                <a:solidFill>
                  <a:schemeClr val="accent6"/>
                </a:solidFill>
              </a:rPr>
              <a:t>    res[</a:t>
            </a:r>
            <a:r>
              <a:rPr lang="en-IN" sz="1400" b="1" dirty="0" err="1">
                <a:solidFill>
                  <a:schemeClr val="accent6"/>
                </a:solidFill>
              </a:rPr>
              <a:t>i</a:t>
            </a:r>
            <a:r>
              <a:rPr lang="en-IN" sz="1400" b="1" dirty="0">
                <a:solidFill>
                  <a:schemeClr val="accent6"/>
                </a:solidFill>
              </a:rPr>
              <a:t>] = sum    </a:t>
            </a:r>
          </a:p>
          <a:p>
            <a:endParaRPr lang="en-IN" sz="1400" dirty="0"/>
          </a:p>
          <a:p>
            <a:r>
              <a:rPr lang="en-IN" sz="1400" b="1" dirty="0">
                <a:solidFill>
                  <a:srgbClr val="00B050"/>
                </a:solidFill>
              </a:rPr>
              <a:t>def </a:t>
            </a:r>
            <a:r>
              <a:rPr lang="en-IN" sz="1400" b="1" dirty="0" err="1">
                <a:solidFill>
                  <a:srgbClr val="00B050"/>
                </a:solidFill>
              </a:rPr>
              <a:t>calMean</a:t>
            </a:r>
            <a:r>
              <a:rPr lang="en-IN" sz="1400" b="1" dirty="0">
                <a:solidFill>
                  <a:srgbClr val="00B050"/>
                </a:solidFill>
              </a:rPr>
              <a:t>(data, res, </a:t>
            </a:r>
            <a:r>
              <a:rPr lang="en-IN" sz="1400" b="1" dirty="0" err="1">
                <a:solidFill>
                  <a:srgbClr val="00B050"/>
                </a:solidFill>
              </a:rPr>
              <a:t>i</a:t>
            </a:r>
            <a:r>
              <a:rPr lang="en-IN" sz="1400" b="1" dirty="0">
                <a:solidFill>
                  <a:srgbClr val="00B050"/>
                </a:solidFill>
              </a:rPr>
              <a:t>):</a:t>
            </a:r>
          </a:p>
          <a:p>
            <a:r>
              <a:rPr lang="en-IN" sz="1400" b="1" dirty="0">
                <a:solidFill>
                  <a:srgbClr val="00B050"/>
                </a:solidFill>
              </a:rPr>
              <a:t>    sum = 0</a:t>
            </a:r>
          </a:p>
          <a:p>
            <a:r>
              <a:rPr lang="en-IN" sz="1400" b="1" dirty="0">
                <a:solidFill>
                  <a:srgbClr val="00B050"/>
                </a:solidFill>
              </a:rPr>
              <a:t>    for n in data:</a:t>
            </a:r>
          </a:p>
          <a:p>
            <a:r>
              <a:rPr lang="en-IN" sz="1400" b="1" dirty="0">
                <a:solidFill>
                  <a:srgbClr val="00B050"/>
                </a:solidFill>
              </a:rPr>
              <a:t>        sum = sum + n  </a:t>
            </a:r>
          </a:p>
          <a:p>
            <a:r>
              <a:rPr lang="en-IN" sz="1400" b="1" dirty="0">
                <a:solidFill>
                  <a:srgbClr val="00B050"/>
                </a:solidFill>
              </a:rPr>
              <a:t>    res[</a:t>
            </a:r>
            <a:r>
              <a:rPr lang="en-IN" sz="1400" b="1" dirty="0" err="1">
                <a:solidFill>
                  <a:srgbClr val="00B050"/>
                </a:solidFill>
              </a:rPr>
              <a:t>i</a:t>
            </a:r>
            <a:r>
              <a:rPr lang="en-IN" sz="1400" b="1" dirty="0">
                <a:solidFill>
                  <a:srgbClr val="00B050"/>
                </a:solidFill>
              </a:rPr>
              <a:t>] = sum/</a:t>
            </a:r>
            <a:r>
              <a:rPr lang="en-IN" sz="1400" b="1" dirty="0" err="1">
                <a:solidFill>
                  <a:srgbClr val="00B050"/>
                </a:solidFill>
              </a:rPr>
              <a:t>len</a:t>
            </a:r>
            <a:r>
              <a:rPr lang="en-IN" sz="1400" b="1" dirty="0">
                <a:solidFill>
                  <a:srgbClr val="00B050"/>
                </a:solidFill>
              </a:rPr>
              <a:t>(data)  </a:t>
            </a:r>
            <a:r>
              <a:rPr lang="en-IN" sz="1400" dirty="0"/>
              <a:t>  </a:t>
            </a:r>
          </a:p>
          <a:p>
            <a:r>
              <a:rPr lang="en-IN" sz="1400" dirty="0"/>
              <a:t>                  </a:t>
            </a:r>
          </a:p>
          <a:p>
            <a:r>
              <a:rPr lang="en-IN" sz="1400" b="1" dirty="0">
                <a:solidFill>
                  <a:schemeClr val="tx1">
                    <a:lumMod val="95000"/>
                    <a:lumOff val="5000"/>
                  </a:schemeClr>
                </a:solidFill>
              </a:rPr>
              <a:t>import threading</a:t>
            </a:r>
          </a:p>
          <a:p>
            <a:r>
              <a:rPr lang="en-IN" sz="1400" b="1" dirty="0">
                <a:solidFill>
                  <a:schemeClr val="tx1">
                    <a:lumMod val="95000"/>
                    <a:lumOff val="5000"/>
                  </a:schemeClr>
                </a:solidFill>
              </a:rPr>
              <a:t>data = [2, 3, 5, 8]</a:t>
            </a:r>
          </a:p>
          <a:p>
            <a:r>
              <a:rPr lang="en-IN" sz="1400" b="1" dirty="0">
                <a:solidFill>
                  <a:schemeClr val="tx1">
                    <a:lumMod val="95000"/>
                    <a:lumOff val="5000"/>
                  </a:schemeClr>
                </a:solidFill>
              </a:rPr>
              <a:t>results = [None] * 2</a:t>
            </a:r>
          </a:p>
          <a:p>
            <a:endParaRPr lang="en-IN" sz="1400" dirty="0"/>
          </a:p>
          <a:p>
            <a:r>
              <a:rPr lang="en-IN" sz="1400" b="1" dirty="0" err="1">
                <a:solidFill>
                  <a:srgbClr val="0070C0"/>
                </a:solidFill>
              </a:rPr>
              <a:t>sosThread</a:t>
            </a:r>
            <a:r>
              <a:rPr lang="en-IN" sz="1400" b="1" dirty="0">
                <a:solidFill>
                  <a:srgbClr val="0070C0"/>
                </a:solidFill>
              </a:rPr>
              <a:t> = </a:t>
            </a:r>
            <a:r>
              <a:rPr lang="en-IN" sz="1400" b="1" dirty="0" err="1">
                <a:solidFill>
                  <a:srgbClr val="0070C0"/>
                </a:solidFill>
              </a:rPr>
              <a:t>threading.Thread</a:t>
            </a:r>
            <a:r>
              <a:rPr lang="en-IN" sz="1400" b="1" dirty="0">
                <a:solidFill>
                  <a:srgbClr val="0070C0"/>
                </a:solidFill>
              </a:rPr>
              <a:t>(target=</a:t>
            </a:r>
            <a:r>
              <a:rPr lang="en-IN" sz="1400" b="1" dirty="0" err="1">
                <a:solidFill>
                  <a:srgbClr val="0070C0"/>
                </a:solidFill>
              </a:rPr>
              <a:t>calSumOfSquare</a:t>
            </a:r>
            <a:r>
              <a:rPr lang="en-IN" sz="1400" b="1" dirty="0">
                <a:solidFill>
                  <a:srgbClr val="0070C0"/>
                </a:solidFill>
              </a:rPr>
              <a:t>, </a:t>
            </a:r>
            <a:r>
              <a:rPr lang="en-IN" sz="1400" b="1" dirty="0" err="1">
                <a:solidFill>
                  <a:srgbClr val="0070C0"/>
                </a:solidFill>
              </a:rPr>
              <a:t>args</a:t>
            </a:r>
            <a:r>
              <a:rPr lang="en-IN" sz="1400" b="1" dirty="0">
                <a:solidFill>
                  <a:srgbClr val="0070C0"/>
                </a:solidFill>
              </a:rPr>
              <a:t>=(data, results, 0))</a:t>
            </a:r>
          </a:p>
          <a:p>
            <a:r>
              <a:rPr lang="en-IN" sz="1400" b="1" dirty="0" err="1">
                <a:solidFill>
                  <a:srgbClr val="0070C0"/>
                </a:solidFill>
              </a:rPr>
              <a:t>meanThread</a:t>
            </a:r>
            <a:r>
              <a:rPr lang="en-IN" sz="1400" b="1" dirty="0">
                <a:solidFill>
                  <a:srgbClr val="0070C0"/>
                </a:solidFill>
              </a:rPr>
              <a:t> = </a:t>
            </a:r>
            <a:r>
              <a:rPr lang="en-IN" sz="1400" b="1" dirty="0" err="1">
                <a:solidFill>
                  <a:srgbClr val="0070C0"/>
                </a:solidFill>
              </a:rPr>
              <a:t>threading.Thread</a:t>
            </a:r>
            <a:r>
              <a:rPr lang="en-IN" sz="1400" b="1" dirty="0">
                <a:solidFill>
                  <a:srgbClr val="0070C0"/>
                </a:solidFill>
              </a:rPr>
              <a:t>(target=</a:t>
            </a:r>
            <a:r>
              <a:rPr lang="en-IN" sz="1400" b="1" dirty="0" err="1">
                <a:solidFill>
                  <a:srgbClr val="0070C0"/>
                </a:solidFill>
              </a:rPr>
              <a:t>calMean</a:t>
            </a:r>
            <a:r>
              <a:rPr lang="en-IN" sz="1400" b="1" dirty="0">
                <a:solidFill>
                  <a:srgbClr val="0070C0"/>
                </a:solidFill>
              </a:rPr>
              <a:t>, </a:t>
            </a:r>
            <a:r>
              <a:rPr lang="en-IN" sz="1400" b="1" dirty="0" err="1">
                <a:solidFill>
                  <a:srgbClr val="0070C0"/>
                </a:solidFill>
              </a:rPr>
              <a:t>args</a:t>
            </a:r>
            <a:r>
              <a:rPr lang="en-IN" sz="1400" b="1" dirty="0">
                <a:solidFill>
                  <a:srgbClr val="0070C0"/>
                </a:solidFill>
              </a:rPr>
              <a:t>=(</a:t>
            </a:r>
            <a:r>
              <a:rPr lang="en-IN" sz="1400" b="1" dirty="0" err="1">
                <a:solidFill>
                  <a:srgbClr val="0070C0"/>
                </a:solidFill>
              </a:rPr>
              <a:t>data,results</a:t>
            </a:r>
            <a:r>
              <a:rPr lang="en-IN" sz="1400" b="1" dirty="0">
                <a:solidFill>
                  <a:srgbClr val="0070C0"/>
                </a:solidFill>
              </a:rPr>
              <a:t>, 1))</a:t>
            </a:r>
          </a:p>
          <a:p>
            <a:endParaRPr lang="en-IN" sz="1400" dirty="0"/>
          </a:p>
          <a:p>
            <a:r>
              <a:rPr lang="en-IN" sz="1400" b="1" dirty="0" err="1">
                <a:solidFill>
                  <a:srgbClr val="7030A0"/>
                </a:solidFill>
              </a:rPr>
              <a:t>sosThread.start</a:t>
            </a:r>
            <a:r>
              <a:rPr lang="en-IN" sz="1400" b="1" dirty="0">
                <a:solidFill>
                  <a:srgbClr val="7030A0"/>
                </a:solidFill>
              </a:rPr>
              <a:t>()</a:t>
            </a:r>
          </a:p>
          <a:p>
            <a:r>
              <a:rPr lang="en-IN" sz="1400" b="1" dirty="0" err="1">
                <a:solidFill>
                  <a:srgbClr val="7030A0"/>
                </a:solidFill>
              </a:rPr>
              <a:t>meanThread.start</a:t>
            </a:r>
            <a:r>
              <a:rPr lang="en-IN" sz="1400" b="1" dirty="0">
                <a:solidFill>
                  <a:srgbClr val="7030A0"/>
                </a:solidFill>
              </a:rPr>
              <a:t>()</a:t>
            </a:r>
          </a:p>
          <a:p>
            <a:endParaRPr lang="en-IN" sz="1400" dirty="0"/>
          </a:p>
          <a:p>
            <a:r>
              <a:rPr lang="en-IN" sz="1400" b="1" dirty="0" err="1">
                <a:solidFill>
                  <a:srgbClr val="663300"/>
                </a:solidFill>
              </a:rPr>
              <a:t>sosThread.join</a:t>
            </a:r>
            <a:r>
              <a:rPr lang="en-IN" sz="1400" b="1" dirty="0">
                <a:solidFill>
                  <a:srgbClr val="663300"/>
                </a:solidFill>
              </a:rPr>
              <a:t>()</a:t>
            </a:r>
          </a:p>
          <a:p>
            <a:r>
              <a:rPr lang="en-IN" sz="1400" b="1" dirty="0" err="1">
                <a:solidFill>
                  <a:srgbClr val="663300"/>
                </a:solidFill>
              </a:rPr>
              <a:t>meanThread.join</a:t>
            </a:r>
            <a:r>
              <a:rPr lang="en-IN" sz="1400" b="1" dirty="0">
                <a:solidFill>
                  <a:srgbClr val="663300"/>
                </a:solidFill>
              </a:rPr>
              <a:t>()</a:t>
            </a:r>
          </a:p>
          <a:p>
            <a:endParaRPr lang="en-IN" sz="1400" dirty="0"/>
          </a:p>
          <a:p>
            <a:r>
              <a:rPr lang="en-IN" sz="1400" b="1" dirty="0">
                <a:solidFill>
                  <a:schemeClr val="accent6">
                    <a:lumMod val="50000"/>
                  </a:schemeClr>
                </a:solidFill>
              </a:rPr>
              <a:t>var = results[0]/</a:t>
            </a:r>
            <a:r>
              <a:rPr lang="en-IN" sz="1400" b="1" dirty="0" err="1">
                <a:solidFill>
                  <a:schemeClr val="accent6">
                    <a:lumMod val="50000"/>
                  </a:schemeClr>
                </a:solidFill>
              </a:rPr>
              <a:t>len</a:t>
            </a:r>
            <a:r>
              <a:rPr lang="en-IN" sz="1400" b="1" dirty="0">
                <a:solidFill>
                  <a:schemeClr val="accent6">
                    <a:lumMod val="50000"/>
                  </a:schemeClr>
                </a:solidFill>
              </a:rPr>
              <a:t>(data) - results[1]*results[1] </a:t>
            </a:r>
          </a:p>
          <a:p>
            <a:r>
              <a:rPr lang="en-IN" sz="1400" b="1" dirty="0">
                <a:solidFill>
                  <a:schemeClr val="accent6">
                    <a:lumMod val="50000"/>
                  </a:schemeClr>
                </a:solidFill>
              </a:rPr>
              <a:t>print(var)</a:t>
            </a:r>
          </a:p>
        </p:txBody>
      </p:sp>
    </p:spTree>
    <p:extLst>
      <p:ext uri="{BB962C8B-B14F-4D97-AF65-F5344CB8AC3E}">
        <p14:creationId xmlns:p14="http://schemas.microsoft.com/office/powerpoint/2010/main" val="2146165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6" end="1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19" end="19"/>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20" end="2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22" end="22"/>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
                                            <p:txEl>
                                              <p:pRg st="23" end="23"/>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
                                            <p:txEl>
                                              <p:pRg st="25" end="25"/>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
                                            <p:txEl>
                                              <p:pRg st="26" end="2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F34B1B-2FBA-44BA-A415-448E1BCB4587}"/>
              </a:ext>
            </a:extLst>
          </p:cNvPr>
          <p:cNvSpPr>
            <a:spLocks noGrp="1"/>
          </p:cNvSpPr>
          <p:nvPr>
            <p:ph type="ctrTitle"/>
          </p:nvPr>
        </p:nvSpPr>
        <p:spPr>
          <a:xfrm>
            <a:off x="354106" y="1963272"/>
            <a:ext cx="11483787" cy="1967752"/>
          </a:xfrm>
        </p:spPr>
        <p:txBody>
          <a:bodyPr>
            <a:normAutofit fontScale="90000"/>
          </a:bodyPr>
          <a:lstStyle/>
          <a:p>
            <a:r>
              <a:rPr lang="en-IN" sz="5400" b="1" dirty="0">
                <a:solidFill>
                  <a:schemeClr val="accent4">
                    <a:lumMod val="50000"/>
                  </a:schemeClr>
                </a:solidFill>
              </a:rPr>
              <a:t>An Example Problem</a:t>
            </a:r>
            <a:br>
              <a:rPr lang="en-IN" sz="5400" b="1" dirty="0">
                <a:solidFill>
                  <a:schemeClr val="accent4">
                    <a:lumMod val="50000"/>
                  </a:schemeClr>
                </a:solidFill>
              </a:rPr>
            </a:br>
            <a:br>
              <a:rPr lang="en-IN" sz="5400" b="1" dirty="0">
                <a:solidFill>
                  <a:schemeClr val="accent4">
                    <a:lumMod val="50000"/>
                  </a:schemeClr>
                </a:solidFill>
              </a:rPr>
            </a:br>
            <a:r>
              <a:rPr lang="en-IN" sz="4400" b="1" dirty="0">
                <a:solidFill>
                  <a:srgbClr val="0070C0"/>
                </a:solidFill>
              </a:rPr>
              <a:t>Top k Similarity Search</a:t>
            </a:r>
          </a:p>
        </p:txBody>
      </p:sp>
    </p:spTree>
    <p:extLst>
      <p:ext uri="{BB962C8B-B14F-4D97-AF65-F5344CB8AC3E}">
        <p14:creationId xmlns:p14="http://schemas.microsoft.com/office/powerpoint/2010/main" val="4008987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8CA3A-E083-4DF1-AD30-C4DD522EBCE8}"/>
              </a:ext>
            </a:extLst>
          </p:cNvPr>
          <p:cNvSpPr>
            <a:spLocks noGrp="1"/>
          </p:cNvSpPr>
          <p:nvPr>
            <p:ph type="title"/>
          </p:nvPr>
        </p:nvSpPr>
        <p:spPr>
          <a:xfrm>
            <a:off x="573741" y="162559"/>
            <a:ext cx="10515600" cy="732155"/>
          </a:xfrm>
        </p:spPr>
        <p:txBody>
          <a:bodyPr/>
          <a:lstStyle/>
          <a:p>
            <a:r>
              <a:rPr lang="en-IN" dirty="0"/>
              <a:t>Top k Similarity Search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EBA236-CAE2-42EF-B483-784668BC44F2}"/>
                  </a:ext>
                </a:extLst>
              </p:cNvPr>
              <p:cNvSpPr>
                <a:spLocks noGrp="1"/>
              </p:cNvSpPr>
              <p:nvPr>
                <p:ph idx="1"/>
              </p:nvPr>
            </p:nvSpPr>
            <p:spPr>
              <a:xfrm>
                <a:off x="573741" y="1076393"/>
                <a:ext cx="11170023" cy="4347254"/>
              </a:xfrm>
            </p:spPr>
            <p:txBody>
              <a:bodyPr/>
              <a:lstStyle/>
              <a:p>
                <a:pPr algn="just"/>
                <a:r>
                  <a:rPr lang="en-IN" dirty="0"/>
                  <a:t>Given a set of items: </a:t>
                </a:r>
                <a14:m>
                  <m:oMath xmlns:m="http://schemas.openxmlformats.org/officeDocument/2006/math">
                    <m:r>
                      <a:rPr lang="en-IN" b="1" i="0" smtClean="0">
                        <a:latin typeface="Cambria Math" panose="02040503050406030204" pitchFamily="18" charset="0"/>
                      </a:rPr>
                      <m:t>𝐒</m:t>
                    </m:r>
                    <m:r>
                      <a:rPr lang="en-IN" b="1" i="1" smtClean="0">
                        <a:latin typeface="Cambria Math" panose="02040503050406030204" pitchFamily="18" charset="0"/>
                      </a:rPr>
                      <m:t>={</m:t>
                    </m:r>
                    <m:sSub>
                      <m:sSubPr>
                        <m:ctrlPr>
                          <a:rPr lang="en-IN" b="1" i="1" smtClean="0">
                            <a:latin typeface="Cambria Math" panose="02040503050406030204" pitchFamily="18" charset="0"/>
                          </a:rPr>
                        </m:ctrlPr>
                      </m:sSubPr>
                      <m:e>
                        <m:r>
                          <a:rPr lang="en-IN" b="1" i="1" smtClean="0">
                            <a:latin typeface="Cambria Math" panose="02040503050406030204" pitchFamily="18" charset="0"/>
                          </a:rPr>
                          <m:t>𝑰</m:t>
                        </m:r>
                      </m:e>
                      <m:sub>
                        <m:r>
                          <a:rPr lang="en-IN" b="1" i="1" smtClean="0">
                            <a:latin typeface="Cambria Math" panose="02040503050406030204" pitchFamily="18" charset="0"/>
                          </a:rPr>
                          <m:t>𝟏</m:t>
                        </m:r>
                      </m:sub>
                    </m:sSub>
                    <m:r>
                      <a:rPr lang="en-IN" b="1" i="1" smtClean="0">
                        <a:latin typeface="Cambria Math" panose="02040503050406030204" pitchFamily="18" charset="0"/>
                      </a:rPr>
                      <m:t>, </m:t>
                    </m:r>
                    <m:sSub>
                      <m:sSubPr>
                        <m:ctrlPr>
                          <a:rPr lang="en-IN" b="1" i="1" smtClean="0">
                            <a:latin typeface="Cambria Math" panose="02040503050406030204" pitchFamily="18" charset="0"/>
                          </a:rPr>
                        </m:ctrlPr>
                      </m:sSubPr>
                      <m:e>
                        <m:r>
                          <a:rPr lang="en-IN" b="1" i="1" smtClean="0">
                            <a:latin typeface="Cambria Math" panose="02040503050406030204" pitchFamily="18" charset="0"/>
                          </a:rPr>
                          <m:t>𝑰</m:t>
                        </m:r>
                      </m:e>
                      <m:sub>
                        <m:r>
                          <a:rPr lang="en-IN" b="1" i="1" smtClean="0">
                            <a:latin typeface="Cambria Math" panose="02040503050406030204" pitchFamily="18" charset="0"/>
                          </a:rPr>
                          <m:t>𝟐</m:t>
                        </m:r>
                      </m:sub>
                    </m:sSub>
                    <m:r>
                      <a:rPr lang="en-IN" b="1" i="1" smtClean="0">
                        <a:latin typeface="Cambria Math" panose="02040503050406030204" pitchFamily="18" charset="0"/>
                      </a:rPr>
                      <m:t>, </m:t>
                    </m:r>
                    <m:sSub>
                      <m:sSubPr>
                        <m:ctrlPr>
                          <a:rPr lang="en-IN" b="1" i="1" smtClean="0">
                            <a:latin typeface="Cambria Math" panose="02040503050406030204" pitchFamily="18" charset="0"/>
                          </a:rPr>
                        </m:ctrlPr>
                      </m:sSubPr>
                      <m:e>
                        <m:r>
                          <a:rPr lang="en-IN" b="1" i="1" smtClean="0">
                            <a:latin typeface="Cambria Math" panose="02040503050406030204" pitchFamily="18" charset="0"/>
                          </a:rPr>
                          <m:t>𝑰</m:t>
                        </m:r>
                      </m:e>
                      <m:sub>
                        <m:r>
                          <a:rPr lang="en-IN" b="1" i="1" smtClean="0">
                            <a:latin typeface="Cambria Math" panose="02040503050406030204" pitchFamily="18" charset="0"/>
                          </a:rPr>
                          <m:t>𝟑</m:t>
                        </m:r>
                      </m:sub>
                    </m:sSub>
                    <m:r>
                      <a:rPr lang="en-IN" b="1" i="1" smtClean="0">
                        <a:latin typeface="Cambria Math" panose="02040503050406030204" pitchFamily="18" charset="0"/>
                      </a:rPr>
                      <m:t>, ….. </m:t>
                    </m:r>
                    <m:sSub>
                      <m:sSubPr>
                        <m:ctrlPr>
                          <a:rPr lang="en-IN" b="1" i="1" smtClean="0">
                            <a:latin typeface="Cambria Math" panose="02040503050406030204" pitchFamily="18" charset="0"/>
                          </a:rPr>
                        </m:ctrlPr>
                      </m:sSubPr>
                      <m:e>
                        <m:r>
                          <a:rPr lang="en-IN" b="1" i="1" smtClean="0">
                            <a:latin typeface="Cambria Math" panose="02040503050406030204" pitchFamily="18" charset="0"/>
                          </a:rPr>
                          <m:t>𝑰</m:t>
                        </m:r>
                      </m:e>
                      <m:sub>
                        <m:r>
                          <a:rPr lang="en-IN" b="1" i="1" smtClean="0">
                            <a:latin typeface="Cambria Math" panose="02040503050406030204" pitchFamily="18" charset="0"/>
                          </a:rPr>
                          <m:t>𝒏</m:t>
                        </m:r>
                      </m:sub>
                    </m:sSub>
                    <m:r>
                      <a:rPr lang="en-IN" b="1" i="1" smtClean="0">
                        <a:latin typeface="Cambria Math" panose="02040503050406030204" pitchFamily="18" charset="0"/>
                      </a:rPr>
                      <m:t>}</m:t>
                    </m:r>
                  </m:oMath>
                </a14:m>
                <a:r>
                  <a:rPr lang="en-IN" dirty="0"/>
                  <a:t> and a query item </a:t>
                </a:r>
                <a14:m>
                  <m:oMath xmlns:m="http://schemas.openxmlformats.org/officeDocument/2006/math">
                    <m:sSub>
                      <m:sSubPr>
                        <m:ctrlPr>
                          <a:rPr lang="en-IN" b="1" i="1" smtClean="0">
                            <a:latin typeface="Cambria Math" panose="02040503050406030204" pitchFamily="18" charset="0"/>
                          </a:rPr>
                        </m:ctrlPr>
                      </m:sSubPr>
                      <m:e>
                        <m:r>
                          <a:rPr lang="en-IN" b="1" i="1" smtClean="0">
                            <a:latin typeface="Cambria Math" panose="02040503050406030204" pitchFamily="18" charset="0"/>
                          </a:rPr>
                          <m:t>𝑰</m:t>
                        </m:r>
                      </m:e>
                      <m:sub>
                        <m:r>
                          <a:rPr lang="en-IN" b="1" i="1" smtClean="0">
                            <a:latin typeface="Cambria Math" panose="02040503050406030204" pitchFamily="18" charset="0"/>
                          </a:rPr>
                          <m:t>𝒒</m:t>
                        </m:r>
                      </m:sub>
                    </m:sSub>
                  </m:oMath>
                </a14:m>
                <a:r>
                  <a:rPr lang="en-IN" dirty="0"/>
                  <a:t>, find out top k most similar items to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𝑰</m:t>
                        </m:r>
                      </m:e>
                      <m:sub>
                        <m:r>
                          <a:rPr lang="en-IN" i="1">
                            <a:latin typeface="Cambria Math" panose="02040503050406030204" pitchFamily="18" charset="0"/>
                          </a:rPr>
                          <m:t>𝒒</m:t>
                        </m:r>
                      </m:sub>
                    </m:sSub>
                  </m:oMath>
                </a14:m>
                <a:r>
                  <a:rPr lang="en-IN" dirty="0"/>
                  <a:t>, based on a similarity measure</a:t>
                </a:r>
              </a:p>
              <a:p>
                <a:pPr algn="just"/>
                <a:endParaRPr lang="en-IN" dirty="0"/>
              </a:p>
              <a:p>
                <a:pPr algn="just"/>
                <a:r>
                  <a:rPr lang="en-IN" dirty="0"/>
                  <a:t>Large number of applications: </a:t>
                </a:r>
              </a:p>
              <a:p>
                <a:pPr lvl="1" algn="just"/>
                <a:r>
                  <a:rPr lang="en-IN" dirty="0"/>
                  <a:t>Ranking in search engines </a:t>
                </a:r>
              </a:p>
              <a:p>
                <a:pPr lvl="1" algn="just"/>
                <a:r>
                  <a:rPr lang="en-IN" dirty="0"/>
                  <a:t>Querying on database </a:t>
                </a:r>
              </a:p>
              <a:p>
                <a:pPr lvl="1" algn="just"/>
                <a:r>
                  <a:rPr lang="en-IN" dirty="0"/>
                  <a:t>Finding similar products e-commerce platforms</a:t>
                </a:r>
              </a:p>
              <a:p>
                <a:pPr lvl="1" algn="just"/>
                <a:r>
                  <a:rPr lang="en-IN" dirty="0"/>
                  <a:t>Finding similar patients from medical records </a:t>
                </a:r>
              </a:p>
              <a:p>
                <a:pPr lvl="1" algn="just"/>
                <a:r>
                  <a:rPr lang="en-IN" dirty="0"/>
                  <a:t>And so on ….</a:t>
                </a:r>
              </a:p>
            </p:txBody>
          </p:sp>
        </mc:Choice>
        <mc:Fallback xmlns="">
          <p:sp>
            <p:nvSpPr>
              <p:cNvPr id="3" name="Content Placeholder 2">
                <a:extLst>
                  <a:ext uri="{FF2B5EF4-FFF2-40B4-BE49-F238E27FC236}">
                    <a16:creationId xmlns:a16="http://schemas.microsoft.com/office/drawing/2014/main" id="{13EBA236-CAE2-42EF-B483-784668BC44F2}"/>
                  </a:ext>
                </a:extLst>
              </p:cNvPr>
              <p:cNvSpPr>
                <a:spLocks noGrp="1" noRot="1" noChangeAspect="1" noMove="1" noResize="1" noEditPoints="1" noAdjustHandles="1" noChangeArrowheads="1" noChangeShapeType="1" noTextEdit="1"/>
              </p:cNvSpPr>
              <p:nvPr>
                <p:ph idx="1"/>
              </p:nvPr>
            </p:nvSpPr>
            <p:spPr>
              <a:xfrm>
                <a:off x="573741" y="1076393"/>
                <a:ext cx="11170023" cy="4347254"/>
              </a:xfrm>
              <a:blipFill>
                <a:blip r:embed="rId2"/>
                <a:stretch>
                  <a:fillRect l="-983" t="-2665" r="-1146" b="-1403"/>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0A4BC4AC-3FB0-4E78-8BCE-A887202EE374}"/>
              </a:ext>
            </a:extLst>
          </p:cNvPr>
          <p:cNvSpPr txBox="1"/>
          <p:nvPr/>
        </p:nvSpPr>
        <p:spPr>
          <a:xfrm>
            <a:off x="1075765" y="5898776"/>
            <a:ext cx="3847528" cy="523220"/>
          </a:xfrm>
          <a:prstGeom prst="rect">
            <a:avLst/>
          </a:prstGeom>
          <a:noFill/>
        </p:spPr>
        <p:txBody>
          <a:bodyPr wrap="none" rtlCol="0">
            <a:spAutoFit/>
          </a:bodyPr>
          <a:lstStyle/>
          <a:p>
            <a:r>
              <a:rPr lang="en-IN" sz="2800" b="1" dirty="0">
                <a:solidFill>
                  <a:srgbClr val="00B050"/>
                </a:solidFill>
              </a:rPr>
              <a:t>How do we solve it?</a:t>
            </a:r>
          </a:p>
        </p:txBody>
      </p:sp>
    </p:spTree>
    <p:extLst>
      <p:ext uri="{BB962C8B-B14F-4D97-AF65-F5344CB8AC3E}">
        <p14:creationId xmlns:p14="http://schemas.microsoft.com/office/powerpoint/2010/main" val="1241374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41B725-E592-C8CB-DB46-FCF71AE1CDC0}"/>
              </a:ext>
            </a:extLst>
          </p:cNvPr>
          <p:cNvPicPr>
            <a:picLocks noChangeAspect="1"/>
          </p:cNvPicPr>
          <p:nvPr/>
        </p:nvPicPr>
        <p:blipFill>
          <a:blip r:embed="rId2"/>
          <a:stretch>
            <a:fillRect/>
          </a:stretch>
        </p:blipFill>
        <p:spPr>
          <a:xfrm>
            <a:off x="0" y="191487"/>
            <a:ext cx="12192000" cy="6475026"/>
          </a:xfrm>
          <a:prstGeom prst="rect">
            <a:avLst/>
          </a:prstGeom>
        </p:spPr>
      </p:pic>
    </p:spTree>
    <p:extLst>
      <p:ext uri="{BB962C8B-B14F-4D97-AF65-F5344CB8AC3E}">
        <p14:creationId xmlns:p14="http://schemas.microsoft.com/office/powerpoint/2010/main" val="3431653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A2EED-6F54-C505-CFC8-AE70E84D3AF8}"/>
              </a:ext>
            </a:extLst>
          </p:cNvPr>
          <p:cNvSpPr>
            <a:spLocks noGrp="1"/>
          </p:cNvSpPr>
          <p:nvPr>
            <p:ph type="title"/>
          </p:nvPr>
        </p:nvSpPr>
        <p:spPr/>
        <p:txBody>
          <a:bodyPr>
            <a:normAutofit/>
          </a:bodyPr>
          <a:lstStyle/>
          <a:p>
            <a:r>
              <a:rPr lang="en-US" sz="3200" dirty="0"/>
              <a:t>Limitations of Classical Data Processing Framework</a:t>
            </a:r>
          </a:p>
        </p:txBody>
      </p:sp>
      <p:pic>
        <p:nvPicPr>
          <p:cNvPr id="4" name="Picture 3">
            <a:extLst>
              <a:ext uri="{FF2B5EF4-FFF2-40B4-BE49-F238E27FC236}">
                <a16:creationId xmlns:a16="http://schemas.microsoft.com/office/drawing/2014/main" id="{889C5B9F-B71D-401E-1E57-9AF68BF27EB5}"/>
              </a:ext>
            </a:extLst>
          </p:cNvPr>
          <p:cNvPicPr>
            <a:picLocks noChangeAspect="1"/>
          </p:cNvPicPr>
          <p:nvPr/>
        </p:nvPicPr>
        <p:blipFill>
          <a:blip r:embed="rId2"/>
          <a:stretch>
            <a:fillRect/>
          </a:stretch>
        </p:blipFill>
        <p:spPr>
          <a:xfrm>
            <a:off x="2018731" y="1577289"/>
            <a:ext cx="8661838" cy="4915586"/>
          </a:xfrm>
          <a:prstGeom prst="rect">
            <a:avLst/>
          </a:prstGeom>
        </p:spPr>
      </p:pic>
    </p:spTree>
    <p:extLst>
      <p:ext uri="{BB962C8B-B14F-4D97-AF65-F5344CB8AC3E}">
        <p14:creationId xmlns:p14="http://schemas.microsoft.com/office/powerpoint/2010/main" val="2820166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2C106-D739-92CF-E8B9-F25CF6277C7B}"/>
              </a:ext>
            </a:extLst>
          </p:cNvPr>
          <p:cNvSpPr>
            <a:spLocks noGrp="1"/>
          </p:cNvSpPr>
          <p:nvPr>
            <p:ph type="title"/>
          </p:nvPr>
        </p:nvSpPr>
        <p:spPr/>
        <p:txBody>
          <a:bodyPr/>
          <a:lstStyle/>
          <a:p>
            <a:r>
              <a:rPr lang="en-US" dirty="0"/>
              <a:t>Solution : </a:t>
            </a:r>
          </a:p>
        </p:txBody>
      </p:sp>
      <p:pic>
        <p:nvPicPr>
          <p:cNvPr id="4" name="Picture 3">
            <a:extLst>
              <a:ext uri="{FF2B5EF4-FFF2-40B4-BE49-F238E27FC236}">
                <a16:creationId xmlns:a16="http://schemas.microsoft.com/office/drawing/2014/main" id="{A301EB4D-581E-65E3-D4EC-470080CC0408}"/>
              </a:ext>
            </a:extLst>
          </p:cNvPr>
          <p:cNvPicPr>
            <a:picLocks noChangeAspect="1"/>
          </p:cNvPicPr>
          <p:nvPr/>
        </p:nvPicPr>
        <p:blipFill>
          <a:blip r:embed="rId2"/>
          <a:stretch>
            <a:fillRect/>
          </a:stretch>
        </p:blipFill>
        <p:spPr>
          <a:xfrm>
            <a:off x="1422155" y="1428257"/>
            <a:ext cx="8668960" cy="4944165"/>
          </a:xfrm>
          <a:prstGeom prst="rect">
            <a:avLst/>
          </a:prstGeom>
        </p:spPr>
      </p:pic>
    </p:spTree>
    <p:extLst>
      <p:ext uri="{BB962C8B-B14F-4D97-AF65-F5344CB8AC3E}">
        <p14:creationId xmlns:p14="http://schemas.microsoft.com/office/powerpoint/2010/main" val="3147396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F34B1B-2FBA-44BA-A415-448E1BCB4587}"/>
              </a:ext>
            </a:extLst>
          </p:cNvPr>
          <p:cNvSpPr>
            <a:spLocks noGrp="1"/>
          </p:cNvSpPr>
          <p:nvPr>
            <p:ph type="ctrTitle"/>
          </p:nvPr>
        </p:nvSpPr>
        <p:spPr>
          <a:xfrm>
            <a:off x="923364" y="2235200"/>
            <a:ext cx="10345271" cy="1816847"/>
          </a:xfrm>
        </p:spPr>
        <p:txBody>
          <a:bodyPr>
            <a:normAutofit/>
          </a:bodyPr>
          <a:lstStyle/>
          <a:p>
            <a:r>
              <a:rPr lang="en-IN" b="1" dirty="0">
                <a:solidFill>
                  <a:schemeClr val="accent4">
                    <a:lumMod val="50000"/>
                  </a:schemeClr>
                </a:solidFill>
              </a:rPr>
              <a:t>Cluster Computing for Big Data</a:t>
            </a:r>
          </a:p>
        </p:txBody>
      </p:sp>
    </p:spTree>
    <p:extLst>
      <p:ext uri="{BB962C8B-B14F-4D97-AF65-F5344CB8AC3E}">
        <p14:creationId xmlns:p14="http://schemas.microsoft.com/office/powerpoint/2010/main" val="3285121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371" y="-27384"/>
            <a:ext cx="10515600" cy="732155"/>
          </a:xfrm>
        </p:spPr>
        <p:txBody>
          <a:bodyPr/>
          <a:lstStyle/>
          <a:p>
            <a:r>
              <a:rPr lang="en-IN" sz="3200" dirty="0"/>
              <a:t>Compute Cluster Components</a:t>
            </a:r>
          </a:p>
        </p:txBody>
      </p:sp>
      <p:pic>
        <p:nvPicPr>
          <p:cNvPr id="8" name="Picture 7"/>
          <p:cNvPicPr>
            <a:picLocks noChangeAspect="1"/>
          </p:cNvPicPr>
          <p:nvPr/>
        </p:nvPicPr>
        <p:blipFill>
          <a:blip r:embed="rId2"/>
          <a:stretch>
            <a:fillRect/>
          </a:stretch>
        </p:blipFill>
        <p:spPr>
          <a:xfrm>
            <a:off x="527382" y="1988841"/>
            <a:ext cx="2316681" cy="1757833"/>
          </a:xfrm>
          <a:prstGeom prst="rect">
            <a:avLst/>
          </a:prstGeom>
        </p:spPr>
      </p:pic>
      <p:pic>
        <p:nvPicPr>
          <p:cNvPr id="14" name="Picture 13"/>
          <p:cNvPicPr>
            <a:picLocks noChangeAspect="1"/>
          </p:cNvPicPr>
          <p:nvPr/>
        </p:nvPicPr>
        <p:blipFill>
          <a:blip r:embed="rId3"/>
          <a:stretch>
            <a:fillRect/>
          </a:stretch>
        </p:blipFill>
        <p:spPr>
          <a:xfrm>
            <a:off x="3983766" y="977988"/>
            <a:ext cx="1861473" cy="4348857"/>
          </a:xfrm>
          <a:prstGeom prst="rect">
            <a:avLst/>
          </a:prstGeom>
        </p:spPr>
      </p:pic>
      <p:pic>
        <p:nvPicPr>
          <p:cNvPr id="20" name="Picture 19"/>
          <p:cNvPicPr>
            <a:picLocks noChangeAspect="1"/>
          </p:cNvPicPr>
          <p:nvPr/>
        </p:nvPicPr>
        <p:blipFill>
          <a:blip r:embed="rId4"/>
          <a:stretch>
            <a:fillRect/>
          </a:stretch>
        </p:blipFill>
        <p:spPr>
          <a:xfrm>
            <a:off x="7140384" y="3429000"/>
            <a:ext cx="983573" cy="2097205"/>
          </a:xfrm>
          <a:prstGeom prst="rect">
            <a:avLst/>
          </a:prstGeom>
        </p:spPr>
      </p:pic>
      <p:sp>
        <p:nvSpPr>
          <p:cNvPr id="21" name="Cube 20"/>
          <p:cNvSpPr/>
          <p:nvPr/>
        </p:nvSpPr>
        <p:spPr>
          <a:xfrm>
            <a:off x="7270565" y="1208313"/>
            <a:ext cx="954700" cy="2067587"/>
          </a:xfrm>
          <a:prstGeom prst="cube">
            <a:avLst/>
          </a:prstGeom>
          <a:ln/>
        </p:spPr>
        <p:style>
          <a:lnRef idx="2">
            <a:schemeClr val="accent4"/>
          </a:lnRef>
          <a:fillRef idx="1">
            <a:schemeClr val="lt1"/>
          </a:fillRef>
          <a:effectRef idx="0">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entury Schoolbook" panose="02040604050505020304"/>
              <a:ea typeface="+mn-ea"/>
              <a:cs typeface="+mn-cs"/>
            </a:endParaRPr>
          </a:p>
        </p:txBody>
      </p:sp>
      <p:pic>
        <p:nvPicPr>
          <p:cNvPr id="22" name="Picture 21"/>
          <p:cNvPicPr>
            <a:picLocks noChangeAspect="1"/>
          </p:cNvPicPr>
          <p:nvPr/>
        </p:nvPicPr>
        <p:blipFill>
          <a:blip r:embed="rId2"/>
          <a:stretch>
            <a:fillRect/>
          </a:stretch>
        </p:blipFill>
        <p:spPr>
          <a:xfrm>
            <a:off x="7266980" y="2371252"/>
            <a:ext cx="658632" cy="904648"/>
          </a:xfrm>
          <a:prstGeom prst="rect">
            <a:avLst/>
          </a:prstGeom>
        </p:spPr>
      </p:pic>
      <p:pic>
        <p:nvPicPr>
          <p:cNvPr id="23" name="Picture 22"/>
          <p:cNvPicPr>
            <a:picLocks noChangeAspect="1"/>
          </p:cNvPicPr>
          <p:nvPr/>
        </p:nvPicPr>
        <p:blipFill>
          <a:blip r:embed="rId2"/>
          <a:stretch>
            <a:fillRect/>
          </a:stretch>
        </p:blipFill>
        <p:spPr>
          <a:xfrm>
            <a:off x="7259316" y="1476097"/>
            <a:ext cx="658632" cy="904648"/>
          </a:xfrm>
          <a:prstGeom prst="rect">
            <a:avLst/>
          </a:prstGeom>
        </p:spPr>
      </p:pic>
      <p:sp>
        <p:nvSpPr>
          <p:cNvPr id="24" name="Cube 23"/>
          <p:cNvSpPr/>
          <p:nvPr/>
        </p:nvSpPr>
        <p:spPr>
          <a:xfrm>
            <a:off x="8507515" y="1198820"/>
            <a:ext cx="954700" cy="2067587"/>
          </a:xfrm>
          <a:prstGeom prst="cube">
            <a:avLst/>
          </a:prstGeom>
          <a:ln/>
        </p:spPr>
        <p:style>
          <a:lnRef idx="2">
            <a:schemeClr val="accent4"/>
          </a:lnRef>
          <a:fillRef idx="1">
            <a:schemeClr val="lt1"/>
          </a:fillRef>
          <a:effectRef idx="0">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entury Schoolbook" panose="02040604050505020304"/>
              <a:ea typeface="+mn-ea"/>
              <a:cs typeface="+mn-cs"/>
            </a:endParaRPr>
          </a:p>
        </p:txBody>
      </p:sp>
      <p:pic>
        <p:nvPicPr>
          <p:cNvPr id="25" name="Picture 24"/>
          <p:cNvPicPr>
            <a:picLocks noChangeAspect="1"/>
          </p:cNvPicPr>
          <p:nvPr/>
        </p:nvPicPr>
        <p:blipFill>
          <a:blip r:embed="rId2"/>
          <a:stretch>
            <a:fillRect/>
          </a:stretch>
        </p:blipFill>
        <p:spPr>
          <a:xfrm>
            <a:off x="8503931" y="2361759"/>
            <a:ext cx="658632" cy="904648"/>
          </a:xfrm>
          <a:prstGeom prst="rect">
            <a:avLst/>
          </a:prstGeom>
        </p:spPr>
      </p:pic>
      <p:pic>
        <p:nvPicPr>
          <p:cNvPr id="26" name="Picture 25"/>
          <p:cNvPicPr>
            <a:picLocks noChangeAspect="1"/>
          </p:cNvPicPr>
          <p:nvPr/>
        </p:nvPicPr>
        <p:blipFill>
          <a:blip r:embed="rId2"/>
          <a:stretch>
            <a:fillRect/>
          </a:stretch>
        </p:blipFill>
        <p:spPr>
          <a:xfrm>
            <a:off x="8496267" y="1466604"/>
            <a:ext cx="658632" cy="904648"/>
          </a:xfrm>
          <a:prstGeom prst="rect">
            <a:avLst/>
          </a:prstGeom>
        </p:spPr>
      </p:pic>
      <p:sp>
        <p:nvSpPr>
          <p:cNvPr id="27" name="Cube 26"/>
          <p:cNvSpPr/>
          <p:nvPr/>
        </p:nvSpPr>
        <p:spPr>
          <a:xfrm>
            <a:off x="8472345" y="3473648"/>
            <a:ext cx="954700" cy="2067587"/>
          </a:xfrm>
          <a:prstGeom prst="cube">
            <a:avLst/>
          </a:prstGeom>
          <a:ln/>
        </p:spPr>
        <p:style>
          <a:lnRef idx="2">
            <a:schemeClr val="accent4"/>
          </a:lnRef>
          <a:fillRef idx="1">
            <a:schemeClr val="lt1"/>
          </a:fillRef>
          <a:effectRef idx="0">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entury Schoolbook" panose="02040604050505020304"/>
              <a:ea typeface="+mn-ea"/>
              <a:cs typeface="+mn-cs"/>
            </a:endParaRPr>
          </a:p>
        </p:txBody>
      </p:sp>
      <p:pic>
        <p:nvPicPr>
          <p:cNvPr id="28" name="Picture 27"/>
          <p:cNvPicPr>
            <a:picLocks noChangeAspect="1"/>
          </p:cNvPicPr>
          <p:nvPr/>
        </p:nvPicPr>
        <p:blipFill>
          <a:blip r:embed="rId2"/>
          <a:stretch>
            <a:fillRect/>
          </a:stretch>
        </p:blipFill>
        <p:spPr>
          <a:xfrm>
            <a:off x="8468760" y="4604392"/>
            <a:ext cx="658632" cy="904648"/>
          </a:xfrm>
          <a:prstGeom prst="rect">
            <a:avLst/>
          </a:prstGeom>
        </p:spPr>
      </p:pic>
      <p:pic>
        <p:nvPicPr>
          <p:cNvPr id="29" name="Picture 28"/>
          <p:cNvPicPr>
            <a:picLocks noChangeAspect="1"/>
          </p:cNvPicPr>
          <p:nvPr/>
        </p:nvPicPr>
        <p:blipFill>
          <a:blip r:embed="rId2"/>
          <a:stretch>
            <a:fillRect/>
          </a:stretch>
        </p:blipFill>
        <p:spPr>
          <a:xfrm>
            <a:off x="8461096" y="3709237"/>
            <a:ext cx="658632" cy="904648"/>
          </a:xfrm>
          <a:prstGeom prst="rect">
            <a:avLst/>
          </a:prstGeom>
        </p:spPr>
      </p:pic>
      <p:sp>
        <p:nvSpPr>
          <p:cNvPr id="30" name="Cube 29"/>
          <p:cNvSpPr/>
          <p:nvPr/>
        </p:nvSpPr>
        <p:spPr>
          <a:xfrm>
            <a:off x="10251851" y="2564904"/>
            <a:ext cx="672075" cy="864096"/>
          </a:xfrm>
          <a:prstGeom prst="cube">
            <a:avLst/>
          </a:prstGeom>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entury Schoolbook" panose="02040604050505020304"/>
              <a:ea typeface="+mn-ea"/>
              <a:cs typeface="+mn-cs"/>
            </a:endParaRPr>
          </a:p>
        </p:txBody>
      </p:sp>
      <p:cxnSp>
        <p:nvCxnSpPr>
          <p:cNvPr id="32" name="Straight Connector 31"/>
          <p:cNvCxnSpPr>
            <a:stCxn id="21" idx="0"/>
          </p:cNvCxnSpPr>
          <p:nvPr/>
        </p:nvCxnSpPr>
        <p:spPr>
          <a:xfrm flipV="1">
            <a:off x="7867252" y="452670"/>
            <a:ext cx="50696" cy="755644"/>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7925613" y="463557"/>
            <a:ext cx="2778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a:endCxn id="30" idx="0"/>
          </p:cNvCxnSpPr>
          <p:nvPr/>
        </p:nvCxnSpPr>
        <p:spPr>
          <a:xfrm flipH="1">
            <a:off x="10671898" y="463557"/>
            <a:ext cx="32615" cy="210134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24" idx="0"/>
          </p:cNvCxnSpPr>
          <p:nvPr/>
        </p:nvCxnSpPr>
        <p:spPr>
          <a:xfrm flipV="1">
            <a:off x="9104203" y="704772"/>
            <a:ext cx="15525" cy="494049"/>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9127392" y="730296"/>
            <a:ext cx="11930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a:endCxn id="30" idx="0"/>
          </p:cNvCxnSpPr>
          <p:nvPr/>
        </p:nvCxnSpPr>
        <p:spPr>
          <a:xfrm>
            <a:off x="10320470" y="730296"/>
            <a:ext cx="351428" cy="18346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20" idx="0"/>
            <a:endCxn id="30" idx="2"/>
          </p:cNvCxnSpPr>
          <p:nvPr/>
        </p:nvCxnSpPr>
        <p:spPr>
          <a:xfrm flipV="1">
            <a:off x="7632171" y="3080962"/>
            <a:ext cx="2619680" cy="348039"/>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27" idx="0"/>
            <a:endCxn id="30" idx="2"/>
          </p:cNvCxnSpPr>
          <p:nvPr/>
        </p:nvCxnSpPr>
        <p:spPr>
          <a:xfrm flipV="1">
            <a:off x="9069032" y="3080962"/>
            <a:ext cx="1182819" cy="392687"/>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911424" y="5624082"/>
            <a:ext cx="107273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a:ln>
                  <a:noFill/>
                </a:ln>
                <a:solidFill>
                  <a:prstClr val="black"/>
                </a:solidFill>
                <a:effectLst/>
                <a:uLnTx/>
                <a:uFillTx/>
                <a:latin typeface="Century Schoolbook" panose="02040604050505020304"/>
                <a:ea typeface="+mn-ea"/>
                <a:cs typeface="+mn-cs"/>
              </a:rPr>
              <a:t>server</a:t>
            </a:r>
          </a:p>
        </p:txBody>
      </p:sp>
      <p:sp>
        <p:nvSpPr>
          <p:cNvPr id="49" name="TextBox 48"/>
          <p:cNvSpPr txBox="1"/>
          <p:nvPr/>
        </p:nvSpPr>
        <p:spPr>
          <a:xfrm>
            <a:off x="4059224" y="5629242"/>
            <a:ext cx="235513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Schoolbook" panose="02040604050505020304"/>
                <a:ea typeface="+mn-ea"/>
                <a:cs typeface="+mn-cs"/>
              </a:rPr>
              <a:t>Rack of servers</a:t>
            </a:r>
          </a:p>
        </p:txBody>
      </p:sp>
      <p:sp>
        <p:nvSpPr>
          <p:cNvPr id="50" name="TextBox 49"/>
          <p:cNvSpPr txBox="1"/>
          <p:nvPr/>
        </p:nvSpPr>
        <p:spPr>
          <a:xfrm>
            <a:off x="7307323" y="5744630"/>
            <a:ext cx="185980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Schoolbook" panose="02040604050505020304"/>
                <a:ea typeface="+mn-ea"/>
                <a:cs typeface="+mn-cs"/>
              </a:rPr>
              <a:t>Data centre</a:t>
            </a:r>
          </a:p>
        </p:txBody>
      </p:sp>
      <p:sp>
        <p:nvSpPr>
          <p:cNvPr id="51" name="TextBox 50"/>
          <p:cNvSpPr txBox="1"/>
          <p:nvPr/>
        </p:nvSpPr>
        <p:spPr>
          <a:xfrm>
            <a:off x="10211219" y="3621022"/>
            <a:ext cx="80021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entury Schoolbook" panose="02040604050505020304"/>
                <a:ea typeface="+mn-ea"/>
                <a:cs typeface="+mn-cs"/>
              </a:rPr>
              <a:t>Rack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entury Schoolbook" panose="02040604050505020304"/>
                <a:ea typeface="+mn-ea"/>
                <a:cs typeface="+mn-cs"/>
              </a:rPr>
              <a:t>switch</a:t>
            </a:r>
          </a:p>
        </p:txBody>
      </p:sp>
    </p:spTree>
    <p:extLst>
      <p:ext uri="{BB962C8B-B14F-4D97-AF65-F5344CB8AC3E}">
        <p14:creationId xmlns:p14="http://schemas.microsoft.com/office/powerpoint/2010/main" val="3484563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F34B1B-2FBA-44BA-A415-448E1BCB4587}"/>
              </a:ext>
            </a:extLst>
          </p:cNvPr>
          <p:cNvSpPr>
            <a:spLocks noGrp="1"/>
          </p:cNvSpPr>
          <p:nvPr>
            <p:ph type="ctrTitle"/>
          </p:nvPr>
        </p:nvSpPr>
        <p:spPr>
          <a:xfrm>
            <a:off x="923364" y="2235200"/>
            <a:ext cx="10345271" cy="1816847"/>
          </a:xfrm>
        </p:spPr>
        <p:txBody>
          <a:bodyPr>
            <a:normAutofit/>
          </a:bodyPr>
          <a:lstStyle/>
          <a:p>
            <a:r>
              <a:rPr lang="en-US" b="1" dirty="0">
                <a:solidFill>
                  <a:schemeClr val="accent4">
                    <a:lumMod val="50000"/>
                  </a:schemeClr>
                </a:solidFill>
              </a:rPr>
              <a:t>How to Organize Cluster of Computers?</a:t>
            </a:r>
            <a:endParaRPr lang="en-IN" b="1" dirty="0">
              <a:solidFill>
                <a:schemeClr val="accent4">
                  <a:lumMod val="50000"/>
                </a:schemeClr>
              </a:solidFill>
            </a:endParaRPr>
          </a:p>
        </p:txBody>
      </p:sp>
    </p:spTree>
    <p:extLst>
      <p:ext uri="{BB962C8B-B14F-4D97-AF65-F5344CB8AC3E}">
        <p14:creationId xmlns:p14="http://schemas.microsoft.com/office/powerpoint/2010/main" val="4175668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950" y="186589"/>
            <a:ext cx="9672320" cy="541215"/>
          </a:xfrm>
        </p:spPr>
        <p:txBody>
          <a:bodyPr/>
          <a:lstStyle/>
          <a:p>
            <a:r>
              <a:rPr lang="en-US" sz="3200" b="1" dirty="0">
                <a:solidFill>
                  <a:schemeClr val="tx1"/>
                </a:solidFill>
              </a:rPr>
              <a:t>Cluster Architecture: Rack Servers</a:t>
            </a:r>
          </a:p>
        </p:txBody>
      </p:sp>
      <p:sp>
        <p:nvSpPr>
          <p:cNvPr id="4" name="Rectangle 3"/>
          <p:cNvSpPr>
            <a:spLocks noChangeAspect="1"/>
          </p:cNvSpPr>
          <p:nvPr/>
        </p:nvSpPr>
        <p:spPr>
          <a:xfrm>
            <a:off x="1521911" y="3134171"/>
            <a:ext cx="4145280" cy="1828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rial"/>
              <a:ea typeface="+mn-ea"/>
              <a:cs typeface="+mn-cs"/>
            </a:endParaRPr>
          </a:p>
        </p:txBody>
      </p:sp>
      <p:sp>
        <p:nvSpPr>
          <p:cNvPr id="5" name="Rectangle 4"/>
          <p:cNvSpPr/>
          <p:nvPr/>
        </p:nvSpPr>
        <p:spPr>
          <a:xfrm>
            <a:off x="6421120" y="3134170"/>
            <a:ext cx="4064000" cy="18188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rial"/>
              <a:ea typeface="+mn-ea"/>
              <a:cs typeface="+mn-cs"/>
            </a:endParaRPr>
          </a:p>
        </p:txBody>
      </p:sp>
      <p:sp>
        <p:nvSpPr>
          <p:cNvPr id="6" name="Rectangle 5"/>
          <p:cNvSpPr/>
          <p:nvPr/>
        </p:nvSpPr>
        <p:spPr>
          <a:xfrm>
            <a:off x="2763520" y="2362200"/>
            <a:ext cx="113792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switch</a:t>
            </a:r>
          </a:p>
        </p:txBody>
      </p:sp>
      <p:sp>
        <p:nvSpPr>
          <p:cNvPr id="7" name="Rectangle 6"/>
          <p:cNvSpPr/>
          <p:nvPr/>
        </p:nvSpPr>
        <p:spPr>
          <a:xfrm>
            <a:off x="7844279" y="2362200"/>
            <a:ext cx="105664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switch</a:t>
            </a:r>
          </a:p>
        </p:txBody>
      </p:sp>
      <p:sp>
        <p:nvSpPr>
          <p:cNvPr id="10" name="Rectangle 9"/>
          <p:cNvSpPr>
            <a:spLocks noChangeAspect="1"/>
          </p:cNvSpPr>
          <p:nvPr/>
        </p:nvSpPr>
        <p:spPr>
          <a:xfrm>
            <a:off x="1706879" y="3429000"/>
            <a:ext cx="1153743"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a:ea typeface="+mn-ea"/>
                <a:cs typeface="+mn-cs"/>
              </a:rPr>
              <a:t>computer</a:t>
            </a:r>
          </a:p>
        </p:txBody>
      </p:sp>
      <p:sp>
        <p:nvSpPr>
          <p:cNvPr id="11" name="Rectangle 10"/>
          <p:cNvSpPr>
            <a:spLocks noChangeAspect="1"/>
          </p:cNvSpPr>
          <p:nvPr/>
        </p:nvSpPr>
        <p:spPr>
          <a:xfrm>
            <a:off x="4206240" y="3429000"/>
            <a:ext cx="1248259"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computer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 </a:t>
            </a:r>
          </a:p>
        </p:txBody>
      </p:sp>
      <p:sp>
        <p:nvSpPr>
          <p:cNvPr id="12" name="Rectangle 11"/>
          <p:cNvSpPr/>
          <p:nvPr/>
        </p:nvSpPr>
        <p:spPr>
          <a:xfrm>
            <a:off x="6583680" y="3429000"/>
            <a:ext cx="118872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computer</a:t>
            </a:r>
          </a:p>
        </p:txBody>
      </p:sp>
      <p:sp>
        <p:nvSpPr>
          <p:cNvPr id="13" name="Rectangle 12"/>
          <p:cNvSpPr/>
          <p:nvPr/>
        </p:nvSpPr>
        <p:spPr>
          <a:xfrm>
            <a:off x="9118017" y="3426863"/>
            <a:ext cx="1168984"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computer</a:t>
            </a:r>
          </a:p>
        </p:txBody>
      </p:sp>
      <p:cxnSp>
        <p:nvCxnSpPr>
          <p:cNvPr id="15" name="Straight Connector 14"/>
          <p:cNvCxnSpPr>
            <a:stCxn id="6" idx="2"/>
          </p:cNvCxnSpPr>
          <p:nvPr/>
        </p:nvCxnSpPr>
        <p:spPr>
          <a:xfrm flipH="1">
            <a:off x="2032000" y="2590803"/>
            <a:ext cx="1300480" cy="836063"/>
          </a:xfrm>
          <a:prstGeom prst="line">
            <a:avLst/>
          </a:prstGeom>
        </p:spPr>
        <p:style>
          <a:lnRef idx="3">
            <a:schemeClr val="accent1"/>
          </a:lnRef>
          <a:fillRef idx="0">
            <a:schemeClr val="accent1"/>
          </a:fillRef>
          <a:effectRef idx="2">
            <a:schemeClr val="accent1"/>
          </a:effectRef>
          <a:fontRef idx="minor">
            <a:schemeClr val="tx1"/>
          </a:fontRef>
        </p:style>
      </p:cxnSp>
      <p:cxnSp>
        <p:nvCxnSpPr>
          <p:cNvPr id="17" name="Straight Connector 16"/>
          <p:cNvCxnSpPr/>
          <p:nvPr/>
        </p:nvCxnSpPr>
        <p:spPr>
          <a:xfrm>
            <a:off x="3332480" y="2590803"/>
            <a:ext cx="1544320" cy="836063"/>
          </a:xfrm>
          <a:prstGeom prst="line">
            <a:avLst/>
          </a:prstGeom>
        </p:spPr>
        <p:style>
          <a:lnRef idx="3">
            <a:schemeClr val="accent1"/>
          </a:lnRef>
          <a:fillRef idx="0">
            <a:schemeClr val="accent1"/>
          </a:fillRef>
          <a:effectRef idx="2">
            <a:schemeClr val="accent1"/>
          </a:effectRef>
          <a:fontRef idx="minor">
            <a:schemeClr val="tx1"/>
          </a:fontRef>
        </p:style>
      </p:cxnSp>
      <p:cxnSp>
        <p:nvCxnSpPr>
          <p:cNvPr id="19" name="Straight Connector 18"/>
          <p:cNvCxnSpPr>
            <a:stCxn id="7" idx="2"/>
          </p:cNvCxnSpPr>
          <p:nvPr/>
        </p:nvCxnSpPr>
        <p:spPr>
          <a:xfrm flipH="1">
            <a:off x="6949442" y="2590803"/>
            <a:ext cx="1423159" cy="836063"/>
          </a:xfrm>
          <a:prstGeom prst="line">
            <a:avLst/>
          </a:prstGeom>
        </p:spPr>
        <p:style>
          <a:lnRef idx="3">
            <a:schemeClr val="accent1"/>
          </a:lnRef>
          <a:fillRef idx="0">
            <a:schemeClr val="accent1"/>
          </a:fillRef>
          <a:effectRef idx="2">
            <a:schemeClr val="accent1"/>
          </a:effectRef>
          <a:fontRef idx="minor">
            <a:schemeClr val="tx1"/>
          </a:fontRef>
        </p:style>
      </p:cxnSp>
      <p:cxnSp>
        <p:nvCxnSpPr>
          <p:cNvPr id="21" name="Straight Connector 20"/>
          <p:cNvCxnSpPr/>
          <p:nvPr/>
        </p:nvCxnSpPr>
        <p:spPr>
          <a:xfrm>
            <a:off x="8372601" y="2590803"/>
            <a:ext cx="1421641" cy="836063"/>
          </a:xfrm>
          <a:prstGeom prst="line">
            <a:avLst/>
          </a:prstGeom>
        </p:spPr>
        <p:style>
          <a:lnRef idx="3">
            <a:schemeClr val="accent1"/>
          </a:lnRef>
          <a:fillRef idx="0">
            <a:schemeClr val="accent1"/>
          </a:fillRef>
          <a:effectRef idx="2">
            <a:schemeClr val="accent1"/>
          </a:effectRef>
          <a:fontRef idx="minor">
            <a:schemeClr val="tx1"/>
          </a:fontRef>
        </p:style>
      </p:cxnSp>
      <p:sp>
        <p:nvSpPr>
          <p:cNvPr id="22" name="Rectangle 21"/>
          <p:cNvSpPr/>
          <p:nvPr/>
        </p:nvSpPr>
        <p:spPr>
          <a:xfrm>
            <a:off x="4876800" y="1371600"/>
            <a:ext cx="154432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switch</a:t>
            </a:r>
          </a:p>
        </p:txBody>
      </p:sp>
      <p:cxnSp>
        <p:nvCxnSpPr>
          <p:cNvPr id="24" name="Straight Connector 23"/>
          <p:cNvCxnSpPr/>
          <p:nvPr/>
        </p:nvCxnSpPr>
        <p:spPr>
          <a:xfrm flipH="1">
            <a:off x="3332480" y="1524000"/>
            <a:ext cx="1544320" cy="838200"/>
          </a:xfrm>
          <a:prstGeom prst="line">
            <a:avLst/>
          </a:prstGeom>
        </p:spPr>
        <p:style>
          <a:lnRef idx="3">
            <a:schemeClr val="accent1"/>
          </a:lnRef>
          <a:fillRef idx="0">
            <a:schemeClr val="accent1"/>
          </a:fillRef>
          <a:effectRef idx="2">
            <a:schemeClr val="accent1"/>
          </a:effectRef>
          <a:fontRef idx="minor">
            <a:schemeClr val="tx1"/>
          </a:fontRef>
        </p:style>
      </p:cxnSp>
      <p:cxnSp>
        <p:nvCxnSpPr>
          <p:cNvPr id="26" name="Straight Connector 25"/>
          <p:cNvCxnSpPr>
            <a:endCxn id="7" idx="0"/>
          </p:cNvCxnSpPr>
          <p:nvPr/>
        </p:nvCxnSpPr>
        <p:spPr>
          <a:xfrm>
            <a:off x="6421122" y="1524000"/>
            <a:ext cx="1951479" cy="838200"/>
          </a:xfrm>
          <a:prstGeom prst="line">
            <a:avLst/>
          </a:prstGeom>
        </p:spPr>
        <p:style>
          <a:lnRef idx="3">
            <a:schemeClr val="accent1"/>
          </a:lnRef>
          <a:fillRef idx="0">
            <a:schemeClr val="accent1"/>
          </a:fillRef>
          <a:effectRef idx="2">
            <a:schemeClr val="accent1"/>
          </a:effectRef>
          <a:fontRef idx="minor">
            <a:schemeClr val="tx1"/>
          </a:fontRef>
        </p:style>
      </p:cxnSp>
      <p:sp>
        <p:nvSpPr>
          <p:cNvPr id="27" name="TextBox 26"/>
          <p:cNvSpPr txBox="1"/>
          <p:nvPr/>
        </p:nvSpPr>
        <p:spPr>
          <a:xfrm>
            <a:off x="2915827" y="5106049"/>
            <a:ext cx="74251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Rack 1</a:t>
            </a:r>
          </a:p>
        </p:txBody>
      </p:sp>
      <p:sp>
        <p:nvSpPr>
          <p:cNvPr id="28" name="TextBox 27"/>
          <p:cNvSpPr txBox="1"/>
          <p:nvPr/>
        </p:nvSpPr>
        <p:spPr>
          <a:xfrm>
            <a:off x="8215207" y="5106049"/>
            <a:ext cx="74251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Rack 2</a:t>
            </a:r>
          </a:p>
        </p:txBody>
      </p:sp>
      <p:cxnSp>
        <p:nvCxnSpPr>
          <p:cNvPr id="30" name="Straight Arrow Connector 29"/>
          <p:cNvCxnSpPr/>
          <p:nvPr/>
        </p:nvCxnSpPr>
        <p:spPr>
          <a:xfrm flipV="1">
            <a:off x="6502402" y="1371600"/>
            <a:ext cx="1423159" cy="762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31" name="TextBox 30"/>
          <p:cNvSpPr txBox="1"/>
          <p:nvPr/>
        </p:nvSpPr>
        <p:spPr>
          <a:xfrm>
            <a:off x="8215204" y="1066801"/>
            <a:ext cx="1786066"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Backbone switch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(typically 2-10 </a:t>
            </a:r>
            <a:r>
              <a:rPr kumimoji="0" lang="en-US" sz="1400" b="0" i="0" u="none" strike="noStrike" kern="1200" cap="none" spc="0" normalizeH="0" baseline="0" noProof="0" dirty="0" err="1">
                <a:ln>
                  <a:noFill/>
                </a:ln>
                <a:solidFill>
                  <a:prstClr val="black"/>
                </a:solidFill>
                <a:effectLst/>
                <a:uLnTx/>
                <a:uFillTx/>
                <a:latin typeface="Arial"/>
                <a:ea typeface="+mn-ea"/>
                <a:cs typeface="+mn-cs"/>
              </a:rPr>
              <a:t>gbps</a:t>
            </a:r>
            <a:r>
              <a:rPr kumimoji="0" lang="en-US" sz="1400" b="0" i="0" u="none" strike="noStrike" kern="1200" cap="none" spc="0" normalizeH="0" baseline="0" noProof="0" dirty="0">
                <a:ln>
                  <a:noFill/>
                </a:ln>
                <a:solidFill>
                  <a:prstClr val="black"/>
                </a:solidFill>
                <a:effectLst/>
                <a:uLnTx/>
                <a:uFillTx/>
                <a:latin typeface="Arial"/>
                <a:ea typeface="+mn-ea"/>
                <a:cs typeface="+mn-cs"/>
              </a:rPr>
              <a:t>)</a:t>
            </a:r>
          </a:p>
        </p:txBody>
      </p:sp>
      <p:cxnSp>
        <p:nvCxnSpPr>
          <p:cNvPr id="33" name="Straight Arrow Connector 32"/>
          <p:cNvCxnSpPr/>
          <p:nvPr/>
        </p:nvCxnSpPr>
        <p:spPr>
          <a:xfrm>
            <a:off x="9007217" y="2476500"/>
            <a:ext cx="421264"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34" name="TextBox 33"/>
          <p:cNvSpPr txBox="1"/>
          <p:nvPr/>
        </p:nvSpPr>
        <p:spPr>
          <a:xfrm>
            <a:off x="9525000" y="2057400"/>
            <a:ext cx="168656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1 </a:t>
            </a:r>
            <a:r>
              <a:rPr kumimoji="0" lang="en-US" sz="1400" b="0" i="0" u="none" strike="noStrike" kern="1200" cap="none" spc="0" normalizeH="0" baseline="0" noProof="0" dirty="0" err="1">
                <a:ln>
                  <a:noFill/>
                </a:ln>
                <a:solidFill>
                  <a:prstClr val="black"/>
                </a:solidFill>
                <a:effectLst/>
                <a:uLnTx/>
                <a:uFillTx/>
                <a:latin typeface="Arial"/>
                <a:ea typeface="+mn-ea"/>
                <a:cs typeface="+mn-cs"/>
              </a:rPr>
              <a:t>gbps</a:t>
            </a:r>
            <a:r>
              <a:rPr kumimoji="0" lang="en-US" sz="1400" b="0" i="0" u="none" strike="noStrike" kern="1200" cap="none" spc="0" normalizeH="0" baseline="0" noProof="0" dirty="0">
                <a:ln>
                  <a:noFill/>
                </a:ln>
                <a:solidFill>
                  <a:prstClr val="black"/>
                </a:solidFill>
                <a:effectLst/>
                <a:uLnTx/>
                <a:uFillTx/>
                <a:latin typeface="Arial"/>
                <a:ea typeface="+mn-ea"/>
                <a:cs typeface="+mn-cs"/>
              </a:rPr>
              <a:t> between any pair of nodes</a:t>
            </a:r>
          </a:p>
        </p:txBody>
      </p:sp>
      <p:sp>
        <p:nvSpPr>
          <p:cNvPr id="35" name="TextBox 34"/>
          <p:cNvSpPr txBox="1"/>
          <p:nvPr/>
        </p:nvSpPr>
        <p:spPr>
          <a:xfrm>
            <a:off x="1357063" y="5566874"/>
            <a:ext cx="898355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Each rack typically contains 16-64 commodity computers (nodes)</a:t>
            </a:r>
          </a:p>
        </p:txBody>
      </p:sp>
      <p:sp>
        <p:nvSpPr>
          <p:cNvPr id="3" name="TextBox 2">
            <a:extLst>
              <a:ext uri="{FF2B5EF4-FFF2-40B4-BE49-F238E27FC236}">
                <a16:creationId xmlns:a16="http://schemas.microsoft.com/office/drawing/2014/main" id="{D4A13572-8D5B-E334-96C5-29AB2A167C8E}"/>
              </a:ext>
            </a:extLst>
          </p:cNvPr>
          <p:cNvSpPr txBox="1"/>
          <p:nvPr/>
        </p:nvSpPr>
        <p:spPr>
          <a:xfrm>
            <a:off x="537328" y="727804"/>
            <a:ext cx="7235072" cy="369332"/>
          </a:xfrm>
          <a:prstGeom prst="rect">
            <a:avLst/>
          </a:prstGeom>
          <a:noFill/>
        </p:spPr>
        <p:txBody>
          <a:bodyPr wrap="square" rtlCol="0">
            <a:spAutoFit/>
          </a:bodyPr>
          <a:lstStyle/>
          <a:p>
            <a:r>
              <a:rPr lang="en-US" dirty="0"/>
              <a:t>This is a hierarchical structure or tree-like structure.</a:t>
            </a:r>
          </a:p>
        </p:txBody>
      </p:sp>
      <p:sp>
        <p:nvSpPr>
          <p:cNvPr id="8" name="TextBox 7">
            <a:extLst>
              <a:ext uri="{FF2B5EF4-FFF2-40B4-BE49-F238E27FC236}">
                <a16:creationId xmlns:a16="http://schemas.microsoft.com/office/drawing/2014/main" id="{194654A1-03D4-89AC-1DA5-927CAE296ADC}"/>
              </a:ext>
            </a:extLst>
          </p:cNvPr>
          <p:cNvSpPr txBox="1"/>
          <p:nvPr/>
        </p:nvSpPr>
        <p:spPr>
          <a:xfrm>
            <a:off x="10505" y="1154769"/>
            <a:ext cx="3966291" cy="830997"/>
          </a:xfrm>
          <a:prstGeom prst="rect">
            <a:avLst/>
          </a:prstGeom>
          <a:noFill/>
        </p:spPr>
        <p:txBody>
          <a:bodyPr wrap="square" rtlCol="0">
            <a:spAutoFit/>
          </a:bodyPr>
          <a:lstStyle/>
          <a:p>
            <a:r>
              <a:rPr lang="en-US" sz="1200" dirty="0"/>
              <a:t>First-level switches have much lesser capacity, but backbone switches have much higher capacity because the number of communications required through the backbone switch is much higher.</a:t>
            </a:r>
          </a:p>
        </p:txBody>
      </p:sp>
      <p:sp>
        <p:nvSpPr>
          <p:cNvPr id="9" name="TextBox 8">
            <a:extLst>
              <a:ext uri="{FF2B5EF4-FFF2-40B4-BE49-F238E27FC236}">
                <a16:creationId xmlns:a16="http://schemas.microsoft.com/office/drawing/2014/main" id="{39B061DB-90BF-261E-9F94-DD98410A943A}"/>
              </a:ext>
            </a:extLst>
          </p:cNvPr>
          <p:cNvSpPr txBox="1"/>
          <p:nvPr/>
        </p:nvSpPr>
        <p:spPr>
          <a:xfrm>
            <a:off x="104716" y="5980387"/>
            <a:ext cx="11610109" cy="923330"/>
          </a:xfrm>
          <a:prstGeom prst="rect">
            <a:avLst/>
          </a:prstGeom>
          <a:noFill/>
        </p:spPr>
        <p:txBody>
          <a:bodyPr wrap="square" rtlCol="0">
            <a:spAutoFit/>
          </a:bodyPr>
          <a:lstStyle/>
          <a:p>
            <a:r>
              <a:rPr lang="en-US" dirty="0"/>
              <a:t>We have first level switches responsible for data exchange b/w 2 nodes of same rack. On top of this we have second level switch which are backbone switches ,backbone switches communicate with the first level switches to exchange data from one rack to other rack. </a:t>
            </a:r>
          </a:p>
        </p:txBody>
      </p:sp>
    </p:spTree>
    <p:extLst>
      <p:ext uri="{BB962C8B-B14F-4D97-AF65-F5344CB8AC3E}">
        <p14:creationId xmlns:p14="http://schemas.microsoft.com/office/powerpoint/2010/main" val="1929324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F34B1B-2FBA-44BA-A415-448E1BCB4587}"/>
              </a:ext>
            </a:extLst>
          </p:cNvPr>
          <p:cNvSpPr>
            <a:spLocks noGrp="1"/>
          </p:cNvSpPr>
          <p:nvPr>
            <p:ph type="ctrTitle"/>
          </p:nvPr>
        </p:nvSpPr>
        <p:spPr>
          <a:xfrm>
            <a:off x="923364" y="2235200"/>
            <a:ext cx="10345271" cy="1816847"/>
          </a:xfrm>
        </p:spPr>
        <p:txBody>
          <a:bodyPr>
            <a:normAutofit/>
          </a:bodyPr>
          <a:lstStyle/>
          <a:p>
            <a:r>
              <a:rPr lang="en-US" b="1" dirty="0">
                <a:solidFill>
                  <a:schemeClr val="accent4">
                    <a:lumMod val="50000"/>
                  </a:schemeClr>
                </a:solidFill>
              </a:rPr>
              <a:t>Key challenges in </a:t>
            </a:r>
            <a:br>
              <a:rPr lang="en-US" b="1" dirty="0">
                <a:solidFill>
                  <a:schemeClr val="accent4">
                    <a:lumMod val="50000"/>
                  </a:schemeClr>
                </a:solidFill>
              </a:rPr>
            </a:br>
            <a:r>
              <a:rPr lang="en-US" b="1" dirty="0">
                <a:solidFill>
                  <a:schemeClr val="accent4">
                    <a:lumMod val="50000"/>
                  </a:schemeClr>
                </a:solidFill>
              </a:rPr>
              <a:t>Cluster Computing</a:t>
            </a:r>
            <a:endParaRPr lang="en-IN" b="1" dirty="0">
              <a:solidFill>
                <a:schemeClr val="accent4">
                  <a:lumMod val="50000"/>
                </a:schemeClr>
              </a:solidFill>
            </a:endParaRPr>
          </a:p>
        </p:txBody>
      </p:sp>
    </p:spTree>
    <p:extLst>
      <p:ext uri="{BB962C8B-B14F-4D97-AF65-F5344CB8AC3E}">
        <p14:creationId xmlns:p14="http://schemas.microsoft.com/office/powerpoint/2010/main" val="3977216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7605" y="237566"/>
            <a:ext cx="9875520" cy="541215"/>
          </a:xfrm>
        </p:spPr>
        <p:txBody>
          <a:bodyPr/>
          <a:lstStyle/>
          <a:p>
            <a:r>
              <a:rPr lang="en-US" sz="3200" b="1" dirty="0"/>
              <a:t>Challenge # 1</a:t>
            </a:r>
          </a:p>
        </p:txBody>
      </p:sp>
      <p:sp>
        <p:nvSpPr>
          <p:cNvPr id="3" name="Content Placeholder 2"/>
          <p:cNvSpPr>
            <a:spLocks noGrp="1"/>
          </p:cNvSpPr>
          <p:nvPr>
            <p:ph idx="1"/>
          </p:nvPr>
        </p:nvSpPr>
        <p:spPr>
          <a:xfrm>
            <a:off x="1158241" y="1295400"/>
            <a:ext cx="9875520" cy="3429000"/>
          </a:xfrm>
        </p:spPr>
        <p:txBody>
          <a:bodyPr/>
          <a:lstStyle/>
          <a:p>
            <a:pPr>
              <a:buFont typeface="Arial" panose="020B0604020202020204" pitchFamily="34" charset="0"/>
              <a:buChar char="•"/>
            </a:pPr>
            <a:r>
              <a:rPr lang="en-US" dirty="0"/>
              <a:t>Node failures</a:t>
            </a:r>
          </a:p>
          <a:p>
            <a:pPr>
              <a:buFont typeface="Arial" panose="020B0604020202020204" pitchFamily="34" charset="0"/>
              <a:buChar char="•"/>
            </a:pPr>
            <a:endParaRPr lang="en-US" dirty="0"/>
          </a:p>
          <a:p>
            <a:pPr lvl="1">
              <a:buFont typeface="Arial" panose="020B0604020202020204" pitchFamily="34" charset="0"/>
              <a:buChar char="•"/>
            </a:pPr>
            <a:r>
              <a:rPr lang="en-US" dirty="0"/>
              <a:t>Single server lifetime: 1000 days</a:t>
            </a:r>
          </a:p>
          <a:p>
            <a:pPr lvl="1">
              <a:buFont typeface="Arial" panose="020B0604020202020204" pitchFamily="34" charset="0"/>
              <a:buChar char="•"/>
            </a:pPr>
            <a:endParaRPr lang="en-US" dirty="0"/>
          </a:p>
          <a:p>
            <a:pPr lvl="1">
              <a:buFont typeface="Arial" panose="020B0604020202020204" pitchFamily="34" charset="0"/>
              <a:buChar char="•"/>
            </a:pPr>
            <a:r>
              <a:rPr lang="en-US" dirty="0"/>
              <a:t>1000 servers in a cluster =&gt; 1 failure/day</a:t>
            </a:r>
          </a:p>
          <a:p>
            <a:pPr lvl="1">
              <a:buFont typeface="Arial" panose="020B0604020202020204" pitchFamily="34" charset="0"/>
              <a:buChar char="•"/>
            </a:pPr>
            <a:endParaRPr lang="en-US" dirty="0"/>
          </a:p>
          <a:p>
            <a:pPr lvl="1">
              <a:buFont typeface="Arial" panose="020B0604020202020204" pitchFamily="34" charset="0"/>
              <a:buChar char="•"/>
            </a:pPr>
            <a:r>
              <a:rPr lang="en-US" dirty="0"/>
              <a:t>1M servers in clusters =&gt; 1000 failures/day</a:t>
            </a:r>
          </a:p>
          <a:p>
            <a:pPr lvl="1"/>
            <a:endParaRPr lang="en-US" dirty="0"/>
          </a:p>
          <a:p>
            <a:pPr lvl="1"/>
            <a:endParaRPr lang="en-US" dirty="0"/>
          </a:p>
        </p:txBody>
      </p:sp>
    </p:spTree>
    <p:extLst>
      <p:ext uri="{BB962C8B-B14F-4D97-AF65-F5344CB8AC3E}">
        <p14:creationId xmlns:p14="http://schemas.microsoft.com/office/powerpoint/2010/main" val="905318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487" y="201707"/>
            <a:ext cx="9875520" cy="541215"/>
          </a:xfrm>
        </p:spPr>
        <p:txBody>
          <a:bodyPr/>
          <a:lstStyle/>
          <a:p>
            <a:r>
              <a:rPr lang="en-US" sz="3200" b="1" dirty="0"/>
              <a:t>Consequences of Node Failure</a:t>
            </a:r>
          </a:p>
        </p:txBody>
      </p:sp>
      <p:sp>
        <p:nvSpPr>
          <p:cNvPr id="3" name="Content Placeholder 2"/>
          <p:cNvSpPr>
            <a:spLocks noGrp="1"/>
          </p:cNvSpPr>
          <p:nvPr>
            <p:ph idx="1"/>
          </p:nvPr>
        </p:nvSpPr>
        <p:spPr>
          <a:xfrm>
            <a:off x="914400" y="1295400"/>
            <a:ext cx="10363200" cy="5181600"/>
          </a:xfrm>
        </p:spPr>
        <p:txBody>
          <a:bodyPr/>
          <a:lstStyle/>
          <a:p>
            <a:pPr>
              <a:buFont typeface="Arial" panose="020B0604020202020204" pitchFamily="34" charset="0"/>
              <a:buChar char="•"/>
            </a:pPr>
            <a:r>
              <a:rPr lang="en-US" dirty="0"/>
              <a:t>Data loss</a:t>
            </a:r>
          </a:p>
          <a:p>
            <a:pPr>
              <a:buFont typeface="Arial" panose="020B0604020202020204" pitchFamily="34" charset="0"/>
              <a:buChar char="•"/>
            </a:pPr>
            <a:endParaRPr lang="en-US" dirty="0"/>
          </a:p>
          <a:p>
            <a:pPr>
              <a:buFont typeface="Arial" panose="020B0604020202020204" pitchFamily="34" charset="0"/>
              <a:buChar char="•"/>
            </a:pPr>
            <a:r>
              <a:rPr lang="en-US" dirty="0"/>
              <a:t>Node failure in the middle of long and expensive computation</a:t>
            </a:r>
          </a:p>
          <a:p>
            <a:pPr>
              <a:buFont typeface="Arial" panose="020B0604020202020204" pitchFamily="34" charset="0"/>
              <a:buChar char="•"/>
            </a:pPr>
            <a:endParaRPr lang="en-US" dirty="0"/>
          </a:p>
          <a:p>
            <a:pPr lvl="1">
              <a:buFont typeface="Arial" panose="020B0604020202020204" pitchFamily="34" charset="0"/>
              <a:buChar char="•"/>
            </a:pPr>
            <a:r>
              <a:rPr lang="en-US" dirty="0"/>
              <a:t>Need to restart the computation from scratch</a:t>
            </a:r>
          </a:p>
          <a:p>
            <a:endParaRPr lang="en-US" dirty="0"/>
          </a:p>
        </p:txBody>
      </p:sp>
    </p:spTree>
    <p:extLst>
      <p:ext uri="{BB962C8B-B14F-4D97-AF65-F5344CB8AC3E}">
        <p14:creationId xmlns:p14="http://schemas.microsoft.com/office/powerpoint/2010/main" val="2957023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558" y="237566"/>
            <a:ext cx="9875520" cy="541215"/>
          </a:xfrm>
        </p:spPr>
        <p:txBody>
          <a:bodyPr/>
          <a:lstStyle/>
          <a:p>
            <a:r>
              <a:rPr lang="en-US" sz="3200" b="1" dirty="0"/>
              <a:t>Challenge # 2</a:t>
            </a:r>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Network bottleneck</a:t>
            </a:r>
          </a:p>
          <a:p>
            <a:pPr>
              <a:buFont typeface="Arial" panose="020B0604020202020204" pitchFamily="34" charset="0"/>
              <a:buChar char="•"/>
            </a:pPr>
            <a:endParaRPr lang="en-US" dirty="0"/>
          </a:p>
          <a:p>
            <a:pPr lvl="1">
              <a:buFont typeface="Arial" panose="020B0604020202020204" pitchFamily="34" charset="0"/>
              <a:buChar char="•"/>
            </a:pPr>
            <a:r>
              <a:rPr lang="en-US" dirty="0"/>
              <a:t>Computers in a cluster exchange data through network</a:t>
            </a:r>
          </a:p>
          <a:p>
            <a:pPr lvl="1">
              <a:buFont typeface="Arial" panose="020B0604020202020204" pitchFamily="34" charset="0"/>
              <a:buChar char="•"/>
            </a:pPr>
            <a:endParaRPr lang="en-US" dirty="0"/>
          </a:p>
          <a:p>
            <a:pPr lvl="2">
              <a:buFont typeface="Arial" panose="020B0604020202020204" pitchFamily="34" charset="0"/>
              <a:buChar char="•"/>
            </a:pPr>
            <a:r>
              <a:rPr lang="en-US" dirty="0"/>
              <a:t>Moving 10TB of data through 1 </a:t>
            </a:r>
            <a:r>
              <a:rPr lang="en-US" dirty="0" err="1"/>
              <a:t>gbps</a:t>
            </a:r>
            <a:r>
              <a:rPr lang="en-US" dirty="0"/>
              <a:t> network bandwidth takes 1 day</a:t>
            </a:r>
          </a:p>
          <a:p>
            <a:pPr lvl="1"/>
            <a:endParaRPr lang="en-US" dirty="0"/>
          </a:p>
          <a:p>
            <a:pPr marL="219645" lvl="1" indent="0">
              <a:buNone/>
            </a:pPr>
            <a:endParaRPr lang="en-US" dirty="0"/>
          </a:p>
        </p:txBody>
      </p:sp>
    </p:spTree>
    <p:extLst>
      <p:ext uri="{BB962C8B-B14F-4D97-AF65-F5344CB8AC3E}">
        <p14:creationId xmlns:p14="http://schemas.microsoft.com/office/powerpoint/2010/main" val="2563928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506" y="202857"/>
            <a:ext cx="9875520" cy="541215"/>
          </a:xfrm>
        </p:spPr>
        <p:txBody>
          <a:bodyPr/>
          <a:lstStyle/>
          <a:p>
            <a:r>
              <a:rPr lang="en-US" sz="3200" b="1" dirty="0"/>
              <a:t>Challenge # 3</a:t>
            </a:r>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Distributed Programming is hard!!! </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r>
              <a:rPr lang="en-US" dirty="0"/>
              <a:t>Why?</a:t>
            </a:r>
          </a:p>
          <a:p>
            <a:pPr>
              <a:buFont typeface="Arial" panose="020B0604020202020204" pitchFamily="34" charset="0"/>
              <a:buChar char="•"/>
            </a:pPr>
            <a:endParaRPr lang="en-US" dirty="0"/>
          </a:p>
          <a:p>
            <a:pPr lvl="1">
              <a:buFont typeface="Arial" panose="020B0604020202020204" pitchFamily="34" charset="0"/>
              <a:buChar char="•"/>
            </a:pPr>
            <a:r>
              <a:rPr lang="en-US" dirty="0"/>
              <a:t>The programmer has to manage too many low-level things apart from writing code for the task. The programmer has to ensure that data distribution across machines is fine but in reality data distribution is non-trivial. </a:t>
            </a:r>
          </a:p>
          <a:p>
            <a:pPr lvl="1">
              <a:buFont typeface="Arial" panose="020B0604020202020204" pitchFamily="34" charset="0"/>
              <a:buChar char="•"/>
            </a:pPr>
            <a:r>
              <a:rPr lang="en-US" dirty="0"/>
              <a:t>Avoid Race conditions.(the order of execution in diff machines should be in right order).</a:t>
            </a:r>
          </a:p>
        </p:txBody>
      </p:sp>
    </p:spTree>
    <p:extLst>
      <p:ext uri="{BB962C8B-B14F-4D97-AF65-F5344CB8AC3E}">
        <p14:creationId xmlns:p14="http://schemas.microsoft.com/office/powerpoint/2010/main" val="423006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F34B1B-2FBA-44BA-A415-448E1BCB4587}"/>
              </a:ext>
            </a:extLst>
          </p:cNvPr>
          <p:cNvSpPr>
            <a:spLocks noGrp="1"/>
          </p:cNvSpPr>
          <p:nvPr>
            <p:ph type="ctrTitle"/>
          </p:nvPr>
        </p:nvSpPr>
        <p:spPr>
          <a:xfrm>
            <a:off x="923364" y="2235200"/>
            <a:ext cx="10345271" cy="1816847"/>
          </a:xfrm>
        </p:spPr>
        <p:txBody>
          <a:bodyPr>
            <a:normAutofit fontScale="90000"/>
          </a:bodyPr>
          <a:lstStyle/>
          <a:p>
            <a:r>
              <a:rPr lang="en-US" sz="4400" b="1" dirty="0">
                <a:solidFill>
                  <a:schemeClr val="accent4">
                    <a:lumMod val="50000"/>
                  </a:schemeClr>
                </a:solidFill>
              </a:rPr>
              <a:t>ADDRESSING DIFFICULTIES</a:t>
            </a:r>
            <a:br>
              <a:rPr lang="en-US" sz="4400" b="1" dirty="0">
                <a:solidFill>
                  <a:schemeClr val="accent4">
                    <a:lumMod val="50000"/>
                  </a:schemeClr>
                </a:solidFill>
              </a:rPr>
            </a:br>
            <a:br>
              <a:rPr lang="en-US" sz="4400" b="1">
                <a:solidFill>
                  <a:schemeClr val="accent4">
                    <a:lumMod val="50000"/>
                  </a:schemeClr>
                </a:solidFill>
              </a:rPr>
            </a:br>
            <a:r>
              <a:rPr lang="en-US" sz="4400" b="1">
                <a:solidFill>
                  <a:schemeClr val="accent4">
                    <a:lumMod val="50000"/>
                  </a:schemeClr>
                </a:solidFill>
              </a:rPr>
              <a:t>(MAP-REDUCE FRAMEWORK)</a:t>
            </a:r>
            <a:endParaRPr lang="en-IN" sz="4400" b="1" dirty="0">
              <a:solidFill>
                <a:schemeClr val="accent4">
                  <a:lumMod val="50000"/>
                </a:schemeClr>
              </a:solidFill>
            </a:endParaRPr>
          </a:p>
        </p:txBody>
      </p:sp>
    </p:spTree>
    <p:extLst>
      <p:ext uri="{BB962C8B-B14F-4D97-AF65-F5344CB8AC3E}">
        <p14:creationId xmlns:p14="http://schemas.microsoft.com/office/powerpoint/2010/main" val="3779640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FA7BA0-B9AE-6390-CE4F-E1F3F734EF3A}"/>
              </a:ext>
            </a:extLst>
          </p:cNvPr>
          <p:cNvPicPr>
            <a:picLocks noChangeAspect="1"/>
          </p:cNvPicPr>
          <p:nvPr/>
        </p:nvPicPr>
        <p:blipFill>
          <a:blip r:embed="rId2"/>
          <a:stretch>
            <a:fillRect/>
          </a:stretch>
        </p:blipFill>
        <p:spPr>
          <a:xfrm>
            <a:off x="1551709" y="1020277"/>
            <a:ext cx="9088581" cy="4817445"/>
          </a:xfrm>
          <a:prstGeom prst="rect">
            <a:avLst/>
          </a:prstGeom>
        </p:spPr>
      </p:pic>
    </p:spTree>
    <p:extLst>
      <p:ext uri="{BB962C8B-B14F-4D97-AF65-F5344CB8AC3E}">
        <p14:creationId xmlns:p14="http://schemas.microsoft.com/office/powerpoint/2010/main" val="1199701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177" y="158938"/>
            <a:ext cx="10515600" cy="567204"/>
          </a:xfrm>
        </p:spPr>
        <p:txBody>
          <a:bodyPr>
            <a:normAutofit fontScale="90000"/>
          </a:bodyPr>
          <a:lstStyle/>
          <a:p>
            <a:r>
              <a:rPr lang="en-US" b="1" dirty="0"/>
              <a:t>Stands on the Key Ideas</a:t>
            </a:r>
          </a:p>
        </p:txBody>
      </p:sp>
      <p:sp>
        <p:nvSpPr>
          <p:cNvPr id="3" name="Content Placeholder 2"/>
          <p:cNvSpPr>
            <a:spLocks noGrp="1"/>
          </p:cNvSpPr>
          <p:nvPr>
            <p:ph idx="1"/>
          </p:nvPr>
        </p:nvSpPr>
        <p:spPr>
          <a:xfrm>
            <a:off x="470646" y="959224"/>
            <a:ext cx="10515600" cy="5674657"/>
          </a:xfrm>
        </p:spPr>
        <p:txBody>
          <a:bodyPr>
            <a:normAutofit lnSpcReduction="10000"/>
          </a:bodyPr>
          <a:lstStyle/>
          <a:p>
            <a:pPr marL="514350" indent="-514350">
              <a:buFont typeface="+mj-lt"/>
              <a:buAutoNum type="arabicParenR"/>
            </a:pPr>
            <a:r>
              <a:rPr lang="en-US" dirty="0"/>
              <a:t>The datacenter is the computer</a:t>
            </a:r>
          </a:p>
          <a:p>
            <a:pPr lvl="1"/>
            <a:r>
              <a:rPr lang="en-US" dirty="0"/>
              <a:t>Computers holding data will compute (</a:t>
            </a:r>
            <a:r>
              <a:rPr lang="en-US" dirty="0">
                <a:solidFill>
                  <a:srgbClr val="FF0000"/>
                </a:solidFill>
              </a:rPr>
              <a:t>NOT the central server</a:t>
            </a:r>
            <a:r>
              <a:rPr lang="en-US" dirty="0"/>
              <a:t>)</a:t>
            </a:r>
          </a:p>
          <a:p>
            <a:pPr marL="514350" indent="-514350">
              <a:buFont typeface="+mj-lt"/>
              <a:buAutoNum type="arabicParenR"/>
            </a:pPr>
            <a:endParaRPr lang="en-US" dirty="0"/>
          </a:p>
          <a:p>
            <a:pPr marL="514350" indent="-514350">
              <a:buFont typeface="+mj-lt"/>
              <a:buAutoNum type="arabicParenR"/>
            </a:pPr>
            <a:r>
              <a:rPr lang="en-US" dirty="0"/>
              <a:t>Bring computation to the data</a:t>
            </a:r>
          </a:p>
          <a:p>
            <a:pPr lvl="1"/>
            <a:r>
              <a:rPr lang="en-US" dirty="0"/>
              <a:t>Reduce data communication </a:t>
            </a:r>
          </a:p>
          <a:p>
            <a:pPr marL="0" indent="0">
              <a:buNone/>
            </a:pPr>
            <a:endParaRPr lang="en-US" dirty="0"/>
          </a:p>
          <a:p>
            <a:pPr marL="514350" indent="-514350">
              <a:buFont typeface="+mj-lt"/>
              <a:buAutoNum type="arabicParenR"/>
            </a:pPr>
            <a:r>
              <a:rPr lang="en-US" dirty="0"/>
              <a:t>Programming: Divide and Conquer approach</a:t>
            </a:r>
          </a:p>
          <a:p>
            <a:pPr marL="914400" lvl="1" indent="-457200">
              <a:buFont typeface="+mj-lt"/>
              <a:buAutoNum type="arabicPeriod"/>
            </a:pPr>
            <a:r>
              <a:rPr lang="en-US" dirty="0"/>
              <a:t>Break into independent sub-problems </a:t>
            </a:r>
          </a:p>
          <a:p>
            <a:pPr marL="914400" lvl="1" indent="-457200">
              <a:buFont typeface="+mj-lt"/>
              <a:buAutoNum type="arabicPeriod"/>
            </a:pPr>
            <a:r>
              <a:rPr lang="en-US" dirty="0"/>
              <a:t>Solve them parallelly</a:t>
            </a:r>
          </a:p>
          <a:p>
            <a:pPr marL="914400" lvl="1" indent="-457200">
              <a:buFont typeface="+mj-lt"/>
              <a:buAutoNum type="arabicPeriod"/>
            </a:pPr>
            <a:r>
              <a:rPr lang="en-US" dirty="0"/>
              <a:t>Combine the results</a:t>
            </a:r>
          </a:p>
          <a:p>
            <a:pPr marL="914400" lvl="1" indent="-457200">
              <a:buFont typeface="+mj-lt"/>
              <a:buAutoNum type="arabicPeriod"/>
            </a:pPr>
            <a:endParaRPr lang="en-US" dirty="0"/>
          </a:p>
          <a:p>
            <a:pPr marL="457200" indent="-457200">
              <a:buFont typeface="+mj-lt"/>
              <a:buAutoNum type="arabicParenR"/>
            </a:pPr>
            <a:r>
              <a:rPr lang="en-US" dirty="0"/>
              <a:t>Simple programming model</a:t>
            </a:r>
          </a:p>
          <a:p>
            <a:pPr lvl="1"/>
            <a:r>
              <a:rPr lang="en-US" dirty="0"/>
              <a:t>Map-reduce framework does all other things for the programmer</a:t>
            </a:r>
          </a:p>
        </p:txBody>
      </p:sp>
      <p:sp>
        <p:nvSpPr>
          <p:cNvPr id="4" name="TextBox 3">
            <a:extLst>
              <a:ext uri="{FF2B5EF4-FFF2-40B4-BE49-F238E27FC236}">
                <a16:creationId xmlns:a16="http://schemas.microsoft.com/office/drawing/2014/main" id="{991746A9-DBD1-0E21-AC31-F0772C82A148}"/>
              </a:ext>
            </a:extLst>
          </p:cNvPr>
          <p:cNvSpPr txBox="1"/>
          <p:nvPr/>
        </p:nvSpPr>
        <p:spPr>
          <a:xfrm>
            <a:off x="94268" y="1649691"/>
            <a:ext cx="11849493" cy="600164"/>
          </a:xfrm>
          <a:prstGeom prst="rect">
            <a:avLst/>
          </a:prstGeom>
          <a:noFill/>
        </p:spPr>
        <p:txBody>
          <a:bodyPr wrap="square" rtlCol="0">
            <a:spAutoFit/>
          </a:bodyPr>
          <a:lstStyle/>
          <a:p>
            <a:r>
              <a:rPr lang="en-US" sz="1100" dirty="0"/>
              <a:t>The traditional idea before map-reduce was that I have a big, powerful server, and my data is sitting somewhere else. Whenever I need to compute I will transfer my data to high-computing server and I will process data in the central server and write it back.</a:t>
            </a:r>
          </a:p>
          <a:p>
            <a:r>
              <a:rPr lang="en-US" sz="1100" dirty="0"/>
              <a:t>In map-reduce, since in a data center, multiple computers are storing data so I will move computation to data so as to save cost of data transfer.</a:t>
            </a:r>
          </a:p>
        </p:txBody>
      </p:sp>
    </p:spTree>
    <p:extLst>
      <p:ext uri="{BB962C8B-B14F-4D97-AF65-F5344CB8AC3E}">
        <p14:creationId xmlns:p14="http://schemas.microsoft.com/office/powerpoint/2010/main" val="1293926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F34B1B-2FBA-44BA-A415-448E1BCB4587}"/>
              </a:ext>
            </a:extLst>
          </p:cNvPr>
          <p:cNvSpPr>
            <a:spLocks noGrp="1"/>
          </p:cNvSpPr>
          <p:nvPr>
            <p:ph type="ctrTitle"/>
          </p:nvPr>
        </p:nvSpPr>
        <p:spPr>
          <a:xfrm>
            <a:off x="403415" y="2235200"/>
            <a:ext cx="11304494" cy="1816847"/>
          </a:xfrm>
        </p:spPr>
        <p:txBody>
          <a:bodyPr>
            <a:normAutofit fontScale="90000"/>
          </a:bodyPr>
          <a:lstStyle/>
          <a:p>
            <a:r>
              <a:rPr lang="en-US" b="1" dirty="0">
                <a:solidFill>
                  <a:schemeClr val="accent4">
                    <a:lumMod val="50000"/>
                  </a:schemeClr>
                </a:solidFill>
              </a:rPr>
              <a:t>Programming Model Overview</a:t>
            </a:r>
            <a:br>
              <a:rPr lang="en-US" b="1" dirty="0">
                <a:solidFill>
                  <a:schemeClr val="accent4">
                    <a:lumMod val="50000"/>
                  </a:schemeClr>
                </a:solidFill>
              </a:rPr>
            </a:br>
            <a:r>
              <a:rPr lang="en-US" sz="5400" b="1" dirty="0">
                <a:solidFill>
                  <a:schemeClr val="accent4">
                    <a:lumMod val="50000"/>
                  </a:schemeClr>
                </a:solidFill>
              </a:rPr>
              <a:t>(Map-reduce)</a:t>
            </a:r>
            <a:endParaRPr lang="en-IN" sz="5400" b="1" dirty="0">
              <a:solidFill>
                <a:schemeClr val="accent4">
                  <a:lumMod val="50000"/>
                </a:schemeClr>
              </a:solidFill>
            </a:endParaRPr>
          </a:p>
        </p:txBody>
      </p:sp>
    </p:spTree>
    <p:extLst>
      <p:ext uri="{BB962C8B-B14F-4D97-AF65-F5344CB8AC3E}">
        <p14:creationId xmlns:p14="http://schemas.microsoft.com/office/powerpoint/2010/main" val="29541970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106" y="212725"/>
            <a:ext cx="11147612" cy="732155"/>
          </a:xfrm>
        </p:spPr>
        <p:txBody>
          <a:bodyPr>
            <a:normAutofit fontScale="90000"/>
          </a:bodyPr>
          <a:lstStyle/>
          <a:p>
            <a:r>
              <a:rPr lang="en-IN" b="1" dirty="0"/>
              <a:t>Simple Programming Model: Map-reduce</a:t>
            </a:r>
          </a:p>
        </p:txBody>
      </p:sp>
      <p:sp>
        <p:nvSpPr>
          <p:cNvPr id="3" name="Content Placeholder 2"/>
          <p:cNvSpPr>
            <a:spLocks noGrp="1"/>
          </p:cNvSpPr>
          <p:nvPr>
            <p:ph idx="1"/>
          </p:nvPr>
        </p:nvSpPr>
        <p:spPr>
          <a:xfrm>
            <a:off x="838200" y="1344706"/>
            <a:ext cx="10515600" cy="4832257"/>
          </a:xfrm>
        </p:spPr>
        <p:txBody>
          <a:bodyPr/>
          <a:lstStyle/>
          <a:p>
            <a:r>
              <a:rPr lang="en-US" sz="2667" dirty="0"/>
              <a:t>Simple programing model</a:t>
            </a:r>
          </a:p>
          <a:p>
            <a:pPr lvl="1"/>
            <a:r>
              <a:rPr lang="en-US" sz="2667" dirty="0"/>
              <a:t>Mainly using two functions (map-reduce)</a:t>
            </a:r>
          </a:p>
          <a:p>
            <a:pPr lvl="2">
              <a:buFont typeface="Wingdings" panose="05000000000000000000" pitchFamily="2" charset="2"/>
              <a:buChar char="§"/>
            </a:pPr>
            <a:r>
              <a:rPr lang="en-US" sz="2667" dirty="0">
                <a:solidFill>
                  <a:srgbClr val="00B050"/>
                </a:solidFill>
              </a:rPr>
              <a:t>Map </a:t>
            </a:r>
          </a:p>
          <a:p>
            <a:pPr lvl="2">
              <a:buFont typeface="Wingdings" panose="05000000000000000000" pitchFamily="2" charset="2"/>
              <a:buChar char="§"/>
            </a:pPr>
            <a:r>
              <a:rPr lang="en-US" sz="2667" dirty="0">
                <a:solidFill>
                  <a:srgbClr val="00B050"/>
                </a:solidFill>
              </a:rPr>
              <a:t>Reduce</a:t>
            </a:r>
          </a:p>
          <a:p>
            <a:pPr lvl="1"/>
            <a:endParaRPr lang="en-US" dirty="0"/>
          </a:p>
          <a:p>
            <a:endParaRPr lang="en-IN" dirty="0"/>
          </a:p>
        </p:txBody>
      </p:sp>
      <p:sp>
        <p:nvSpPr>
          <p:cNvPr id="5" name="TextBox 4"/>
          <p:cNvSpPr txBox="1"/>
          <p:nvPr/>
        </p:nvSpPr>
        <p:spPr>
          <a:xfrm>
            <a:off x="838200" y="4035999"/>
            <a:ext cx="10876695" cy="9131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Arial"/>
                <a:ea typeface="+mn-ea"/>
                <a:cs typeface="+mn-cs"/>
              </a:rPr>
              <a:t>Programmer’s responsibility: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0" i="0" u="none" strike="noStrike" kern="1200" cap="none" spc="0" normalizeH="0" baseline="0" noProof="0" dirty="0">
                <a:ln>
                  <a:noFill/>
                </a:ln>
                <a:solidFill>
                  <a:prstClr val="black"/>
                </a:solidFill>
                <a:effectLst/>
                <a:uLnTx/>
                <a:uFillTx/>
                <a:latin typeface="Arial"/>
                <a:ea typeface="+mn-ea"/>
                <a:cs typeface="+mn-cs"/>
              </a:rPr>
              <a:t>   define only two functions, Map and Reduce suitable for your problem</a:t>
            </a:r>
          </a:p>
        </p:txBody>
      </p:sp>
    </p:spTree>
    <p:extLst>
      <p:ext uri="{BB962C8B-B14F-4D97-AF65-F5344CB8AC3E}">
        <p14:creationId xmlns:p14="http://schemas.microsoft.com/office/powerpoint/2010/main" val="2691313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8E1AB62-9E25-A66E-EFAB-C72BBEB45C3C}"/>
              </a:ext>
            </a:extLst>
          </p:cNvPr>
          <p:cNvSpPr txBox="1"/>
          <p:nvPr/>
        </p:nvSpPr>
        <p:spPr>
          <a:xfrm>
            <a:off x="1640264" y="2075659"/>
            <a:ext cx="10624008" cy="1815882"/>
          </a:xfrm>
          <a:prstGeom prst="rect">
            <a:avLst/>
          </a:prstGeom>
          <a:noFill/>
        </p:spPr>
        <p:txBody>
          <a:bodyPr wrap="square" rtlCol="0">
            <a:spAutoFit/>
          </a:bodyPr>
          <a:lstStyle/>
          <a:p>
            <a:pPr marL="457200" indent="-457200">
              <a:buFont typeface="Arial" panose="020B0604020202020204" pitchFamily="34" charset="0"/>
              <a:buChar char="•"/>
            </a:pPr>
            <a:r>
              <a:rPr lang="en-US" sz="2800" dirty="0"/>
              <a:t>Map-Reduce is a simple programming model.</a:t>
            </a:r>
          </a:p>
          <a:p>
            <a:pPr marL="457200" indent="-457200">
              <a:buFont typeface="Arial" panose="020B0604020202020204" pitchFamily="34" charset="0"/>
              <a:buChar char="•"/>
            </a:pPr>
            <a:r>
              <a:rPr lang="en-US" sz="2800" dirty="0"/>
              <a:t>Map-Reduce uses a cluster of low-cost computers.</a:t>
            </a:r>
          </a:p>
          <a:p>
            <a:pPr marL="457200" indent="-457200">
              <a:buFont typeface="Arial" panose="020B0604020202020204" pitchFamily="34" charset="0"/>
              <a:buChar char="•"/>
            </a:pPr>
            <a:r>
              <a:rPr lang="en-US" sz="2800" dirty="0"/>
              <a:t>Map-Reduce is remarkably scalable for batch-processing tasks.</a:t>
            </a:r>
          </a:p>
        </p:txBody>
      </p:sp>
    </p:spTree>
    <p:extLst>
      <p:ext uri="{BB962C8B-B14F-4D97-AF65-F5344CB8AC3E}">
        <p14:creationId xmlns:p14="http://schemas.microsoft.com/office/powerpoint/2010/main" val="305950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98CB31-434A-3531-C131-24192C5B79B4}"/>
              </a:ext>
            </a:extLst>
          </p:cNvPr>
          <p:cNvPicPr>
            <a:picLocks noChangeAspect="1"/>
          </p:cNvPicPr>
          <p:nvPr/>
        </p:nvPicPr>
        <p:blipFill>
          <a:blip r:embed="rId2"/>
          <a:stretch>
            <a:fillRect/>
          </a:stretch>
        </p:blipFill>
        <p:spPr>
          <a:xfrm>
            <a:off x="122549" y="0"/>
            <a:ext cx="4464692" cy="2616690"/>
          </a:xfrm>
          <a:prstGeom prst="rect">
            <a:avLst/>
          </a:prstGeom>
        </p:spPr>
      </p:pic>
      <p:pic>
        <p:nvPicPr>
          <p:cNvPr id="9" name="Picture 8">
            <a:extLst>
              <a:ext uri="{FF2B5EF4-FFF2-40B4-BE49-F238E27FC236}">
                <a16:creationId xmlns:a16="http://schemas.microsoft.com/office/drawing/2014/main" id="{14222F45-9B11-CB7C-D8E6-4304234D6C41}"/>
              </a:ext>
            </a:extLst>
          </p:cNvPr>
          <p:cNvPicPr>
            <a:picLocks noChangeAspect="1"/>
          </p:cNvPicPr>
          <p:nvPr/>
        </p:nvPicPr>
        <p:blipFill>
          <a:blip r:embed="rId3"/>
          <a:stretch>
            <a:fillRect/>
          </a:stretch>
        </p:blipFill>
        <p:spPr>
          <a:xfrm>
            <a:off x="5992695" y="63661"/>
            <a:ext cx="5782482" cy="3267531"/>
          </a:xfrm>
          <a:prstGeom prst="rect">
            <a:avLst/>
          </a:prstGeom>
        </p:spPr>
      </p:pic>
      <p:pic>
        <p:nvPicPr>
          <p:cNvPr id="11" name="Picture 10">
            <a:extLst>
              <a:ext uri="{FF2B5EF4-FFF2-40B4-BE49-F238E27FC236}">
                <a16:creationId xmlns:a16="http://schemas.microsoft.com/office/drawing/2014/main" id="{27161A4F-C6FB-8501-4EE8-FBE3C2CA567B}"/>
              </a:ext>
            </a:extLst>
          </p:cNvPr>
          <p:cNvPicPr>
            <a:picLocks noChangeAspect="1"/>
          </p:cNvPicPr>
          <p:nvPr/>
        </p:nvPicPr>
        <p:blipFill>
          <a:blip r:embed="rId4"/>
          <a:stretch>
            <a:fillRect/>
          </a:stretch>
        </p:blipFill>
        <p:spPr>
          <a:xfrm>
            <a:off x="0" y="2681931"/>
            <a:ext cx="6973273" cy="4112408"/>
          </a:xfrm>
          <a:prstGeom prst="rect">
            <a:avLst/>
          </a:prstGeom>
        </p:spPr>
      </p:pic>
      <p:pic>
        <p:nvPicPr>
          <p:cNvPr id="15" name="Picture 14">
            <a:extLst>
              <a:ext uri="{FF2B5EF4-FFF2-40B4-BE49-F238E27FC236}">
                <a16:creationId xmlns:a16="http://schemas.microsoft.com/office/drawing/2014/main" id="{669050AB-3A37-FB25-EE1D-D3DBA23895F7}"/>
              </a:ext>
            </a:extLst>
          </p:cNvPr>
          <p:cNvPicPr>
            <a:picLocks noChangeAspect="1"/>
          </p:cNvPicPr>
          <p:nvPr/>
        </p:nvPicPr>
        <p:blipFill>
          <a:blip r:embed="rId5"/>
          <a:stretch>
            <a:fillRect/>
          </a:stretch>
        </p:blipFill>
        <p:spPr>
          <a:xfrm>
            <a:off x="6973272" y="3396433"/>
            <a:ext cx="6016863" cy="3412380"/>
          </a:xfrm>
          <a:prstGeom prst="rect">
            <a:avLst/>
          </a:prstGeom>
        </p:spPr>
      </p:pic>
    </p:spTree>
    <p:extLst>
      <p:ext uri="{BB962C8B-B14F-4D97-AF65-F5344CB8AC3E}">
        <p14:creationId xmlns:p14="http://schemas.microsoft.com/office/powerpoint/2010/main" val="3094817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610BF7C-317C-4B66-8E26-8D999EFB7408}"/>
              </a:ext>
            </a:extLst>
          </p:cNvPr>
          <p:cNvSpPr/>
          <p:nvPr/>
        </p:nvSpPr>
        <p:spPr>
          <a:xfrm>
            <a:off x="3333189" y="968188"/>
            <a:ext cx="4475993" cy="1939814"/>
          </a:xfrm>
          <a:prstGeom prst="round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entury Schoolbook" panose="02040604050505020304"/>
              <a:ea typeface="+mn-ea"/>
              <a:cs typeface="+mn-cs"/>
            </a:endParaRPr>
          </a:p>
        </p:txBody>
      </p:sp>
      <p:sp>
        <p:nvSpPr>
          <p:cNvPr id="4" name="Rectangle: Rounded Corners 3">
            <a:extLst>
              <a:ext uri="{FF2B5EF4-FFF2-40B4-BE49-F238E27FC236}">
                <a16:creationId xmlns:a16="http://schemas.microsoft.com/office/drawing/2014/main" id="{F55E3E82-9822-4D92-9646-E81C4E7B4F9C}"/>
              </a:ext>
            </a:extLst>
          </p:cNvPr>
          <p:cNvSpPr/>
          <p:nvPr/>
        </p:nvSpPr>
        <p:spPr>
          <a:xfrm>
            <a:off x="3333189" y="2908002"/>
            <a:ext cx="4475993" cy="857174"/>
          </a:xfrm>
          <a:prstGeom prst="roundRect">
            <a:avLst/>
          </a:prstGeom>
          <a:solidFill>
            <a:schemeClr val="tx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entury Schoolbook" panose="02040604050505020304"/>
              <a:ea typeface="+mn-ea"/>
              <a:cs typeface="+mn-cs"/>
            </a:endParaRPr>
          </a:p>
        </p:txBody>
      </p:sp>
      <p:sp>
        <p:nvSpPr>
          <p:cNvPr id="6" name="Rectangle: Rounded Corners 5">
            <a:extLst>
              <a:ext uri="{FF2B5EF4-FFF2-40B4-BE49-F238E27FC236}">
                <a16:creationId xmlns:a16="http://schemas.microsoft.com/office/drawing/2014/main" id="{1D5E8F46-0C8C-4A5D-820A-B33ECF972742}"/>
              </a:ext>
            </a:extLst>
          </p:cNvPr>
          <p:cNvSpPr/>
          <p:nvPr/>
        </p:nvSpPr>
        <p:spPr>
          <a:xfrm>
            <a:off x="3333189" y="4975412"/>
            <a:ext cx="4475993" cy="1176763"/>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sp>
        <p:nvSpPr>
          <p:cNvPr id="5" name="Rectangle: Rounded Corners 4">
            <a:extLst>
              <a:ext uri="{FF2B5EF4-FFF2-40B4-BE49-F238E27FC236}">
                <a16:creationId xmlns:a16="http://schemas.microsoft.com/office/drawing/2014/main" id="{0719AA54-2192-4F50-8EF0-933768B300CE}"/>
              </a:ext>
            </a:extLst>
          </p:cNvPr>
          <p:cNvSpPr/>
          <p:nvPr/>
        </p:nvSpPr>
        <p:spPr>
          <a:xfrm>
            <a:off x="3333189" y="3765176"/>
            <a:ext cx="4475993" cy="1075765"/>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entury Schoolbook" panose="02040604050505020304"/>
              <a:ea typeface="+mn-ea"/>
              <a:cs typeface="+mn-cs"/>
            </a:endParaRPr>
          </a:p>
        </p:txBody>
      </p:sp>
      <p:pic>
        <p:nvPicPr>
          <p:cNvPr id="17" name="Picture 16"/>
          <p:cNvPicPr>
            <a:picLocks noChangeAspect="1"/>
          </p:cNvPicPr>
          <p:nvPr/>
        </p:nvPicPr>
        <p:blipFill>
          <a:blip r:embed="rId3"/>
          <a:stretch>
            <a:fillRect/>
          </a:stretch>
        </p:blipFill>
        <p:spPr>
          <a:xfrm>
            <a:off x="3333188" y="1057267"/>
            <a:ext cx="4475993" cy="5094908"/>
          </a:xfrm>
          <a:prstGeom prst="rect">
            <a:avLst/>
          </a:prstGeom>
        </p:spPr>
      </p:pic>
      <p:sp>
        <p:nvSpPr>
          <p:cNvPr id="321" name="TextBox 320"/>
          <p:cNvSpPr txBox="1"/>
          <p:nvPr/>
        </p:nvSpPr>
        <p:spPr>
          <a:xfrm>
            <a:off x="329602" y="116524"/>
            <a:ext cx="8427535" cy="64633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0070C0"/>
                </a:solidFill>
                <a:effectLst/>
                <a:uLnTx/>
                <a:uFillTx/>
                <a:latin typeface="Gill Sans"/>
                <a:ea typeface="+mn-ea"/>
                <a:cs typeface="Gill Sans"/>
              </a:rPr>
              <a:t>Map-reduce Programming Model</a:t>
            </a:r>
          </a:p>
        </p:txBody>
      </p:sp>
      <p:sp>
        <p:nvSpPr>
          <p:cNvPr id="7" name="Rectangle: Rounded Corners 6">
            <a:extLst>
              <a:ext uri="{FF2B5EF4-FFF2-40B4-BE49-F238E27FC236}">
                <a16:creationId xmlns:a16="http://schemas.microsoft.com/office/drawing/2014/main" id="{EABC5924-1275-46A6-BE9F-19247438E8F4}"/>
              </a:ext>
            </a:extLst>
          </p:cNvPr>
          <p:cNvSpPr/>
          <p:nvPr/>
        </p:nvSpPr>
        <p:spPr>
          <a:xfrm>
            <a:off x="8265458" y="1694329"/>
            <a:ext cx="3460376" cy="448236"/>
          </a:xfrm>
          <a:prstGeom prst="roundRect">
            <a:avLst/>
          </a:prstGeom>
          <a:solidFill>
            <a:schemeClr val="tx1"/>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Splitting</a:t>
            </a:r>
          </a:p>
        </p:txBody>
      </p:sp>
      <p:sp>
        <p:nvSpPr>
          <p:cNvPr id="16" name="Rectangle: Rounded Corners 15">
            <a:extLst>
              <a:ext uri="{FF2B5EF4-FFF2-40B4-BE49-F238E27FC236}">
                <a16:creationId xmlns:a16="http://schemas.microsoft.com/office/drawing/2014/main" id="{7F430F5F-DFB1-4CFF-BEE5-CFA404DB3CA3}"/>
              </a:ext>
            </a:extLst>
          </p:cNvPr>
          <p:cNvSpPr/>
          <p:nvPr/>
        </p:nvSpPr>
        <p:spPr>
          <a:xfrm>
            <a:off x="7809180" y="3246942"/>
            <a:ext cx="3460377" cy="448236"/>
          </a:xfrm>
          <a:prstGeom prst="roundRect">
            <a:avLst/>
          </a:prstGeom>
          <a:solidFill>
            <a:schemeClr val="tx1"/>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Intermediate combining</a:t>
            </a:r>
          </a:p>
        </p:txBody>
      </p:sp>
      <p:sp>
        <p:nvSpPr>
          <p:cNvPr id="18" name="Rectangle: Rounded Corners 17">
            <a:extLst>
              <a:ext uri="{FF2B5EF4-FFF2-40B4-BE49-F238E27FC236}">
                <a16:creationId xmlns:a16="http://schemas.microsoft.com/office/drawing/2014/main" id="{F937EBAC-843E-4F4B-96F5-107EB040C81E}"/>
              </a:ext>
            </a:extLst>
          </p:cNvPr>
          <p:cNvSpPr/>
          <p:nvPr/>
        </p:nvSpPr>
        <p:spPr>
          <a:xfrm>
            <a:off x="8265458" y="4078940"/>
            <a:ext cx="3460376" cy="448236"/>
          </a:xfrm>
          <a:prstGeom prst="roundRect">
            <a:avLst/>
          </a:prstGeom>
          <a:solidFill>
            <a:schemeClr val="tx1"/>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Shuffling and grouping</a:t>
            </a:r>
          </a:p>
        </p:txBody>
      </p:sp>
      <p:sp>
        <p:nvSpPr>
          <p:cNvPr id="21" name="Rectangle: Rounded Corners 20">
            <a:extLst>
              <a:ext uri="{FF2B5EF4-FFF2-40B4-BE49-F238E27FC236}">
                <a16:creationId xmlns:a16="http://schemas.microsoft.com/office/drawing/2014/main" id="{C156034C-B46B-4B03-B4ED-1F61F17BDCFF}"/>
              </a:ext>
            </a:extLst>
          </p:cNvPr>
          <p:cNvSpPr/>
          <p:nvPr/>
        </p:nvSpPr>
        <p:spPr>
          <a:xfrm>
            <a:off x="8265458" y="5405717"/>
            <a:ext cx="3460376" cy="448236"/>
          </a:xfrm>
          <a:prstGeom prst="roundRect">
            <a:avLst/>
          </a:prstGeom>
          <a:solidFill>
            <a:schemeClr val="tx1"/>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Final combining</a:t>
            </a:r>
          </a:p>
        </p:txBody>
      </p:sp>
      <p:sp>
        <p:nvSpPr>
          <p:cNvPr id="2" name="TextBox 1">
            <a:extLst>
              <a:ext uri="{FF2B5EF4-FFF2-40B4-BE49-F238E27FC236}">
                <a16:creationId xmlns:a16="http://schemas.microsoft.com/office/drawing/2014/main" id="{EB891C8D-250B-9DDE-F1D7-B2DC8AA3D370}"/>
              </a:ext>
            </a:extLst>
          </p:cNvPr>
          <p:cNvSpPr txBox="1"/>
          <p:nvPr/>
        </p:nvSpPr>
        <p:spPr>
          <a:xfrm>
            <a:off x="7682846" y="8802"/>
            <a:ext cx="4509154" cy="769441"/>
          </a:xfrm>
          <a:prstGeom prst="rect">
            <a:avLst/>
          </a:prstGeom>
          <a:noFill/>
        </p:spPr>
        <p:txBody>
          <a:bodyPr wrap="square" rtlCol="0">
            <a:spAutoFit/>
          </a:bodyPr>
          <a:lstStyle/>
          <a:p>
            <a:r>
              <a:rPr lang="en-US" sz="1100" dirty="0">
                <a:solidFill>
                  <a:schemeClr val="bg1"/>
                </a:solidFill>
              </a:rPr>
              <a:t>In the map-reduce programming model, we have </a:t>
            </a:r>
            <a:r>
              <a:rPr lang="en-US" sz="1100" b="1" dirty="0">
                <a:solidFill>
                  <a:schemeClr val="bg1"/>
                </a:solidFill>
              </a:rPr>
              <a:t>input data </a:t>
            </a:r>
            <a:r>
              <a:rPr lang="en-US" sz="1100" dirty="0">
                <a:solidFill>
                  <a:schemeClr val="bg1"/>
                </a:solidFill>
              </a:rPr>
              <a:t>in the form of key-value pairs.</a:t>
            </a:r>
          </a:p>
          <a:p>
            <a:r>
              <a:rPr lang="en-US" sz="1100" dirty="0">
                <a:solidFill>
                  <a:schemeClr val="bg1"/>
                </a:solidFill>
              </a:rPr>
              <a:t>k1 , k2 …. are the file names </a:t>
            </a:r>
          </a:p>
          <a:p>
            <a:r>
              <a:rPr lang="en-US" sz="1100" dirty="0">
                <a:solidFill>
                  <a:schemeClr val="bg1"/>
                </a:solidFill>
              </a:rPr>
              <a:t>v1 , v2 ….. are the corresponding contents of the file.</a:t>
            </a:r>
          </a:p>
        </p:txBody>
      </p:sp>
      <p:sp>
        <p:nvSpPr>
          <p:cNvPr id="8" name="TextBox 7">
            <a:extLst>
              <a:ext uri="{FF2B5EF4-FFF2-40B4-BE49-F238E27FC236}">
                <a16:creationId xmlns:a16="http://schemas.microsoft.com/office/drawing/2014/main" id="{27F377D1-CE0B-EDAC-F6DB-1329F797115E}"/>
              </a:ext>
            </a:extLst>
          </p:cNvPr>
          <p:cNvSpPr txBox="1"/>
          <p:nvPr/>
        </p:nvSpPr>
        <p:spPr>
          <a:xfrm>
            <a:off x="7789963" y="929694"/>
            <a:ext cx="3983751" cy="769441"/>
          </a:xfrm>
          <a:prstGeom prst="rect">
            <a:avLst/>
          </a:prstGeom>
          <a:noFill/>
        </p:spPr>
        <p:txBody>
          <a:bodyPr wrap="square" rtlCol="0">
            <a:spAutoFit/>
          </a:bodyPr>
          <a:lstStyle/>
          <a:p>
            <a:r>
              <a:rPr lang="en-US" sz="1100" dirty="0">
                <a:solidFill>
                  <a:schemeClr val="bg1"/>
                </a:solidFill>
              </a:rPr>
              <a:t>Individual map functions will work on individual files to give intermediate results in key-value pair form.</a:t>
            </a:r>
          </a:p>
          <a:p>
            <a:r>
              <a:rPr lang="en-US" sz="1100" dirty="0">
                <a:solidFill>
                  <a:schemeClr val="bg1"/>
                </a:solidFill>
              </a:rPr>
              <a:t>These map functions process different files in parallel computers.</a:t>
            </a:r>
          </a:p>
        </p:txBody>
      </p:sp>
      <p:sp>
        <p:nvSpPr>
          <p:cNvPr id="9" name="TextBox 8">
            <a:extLst>
              <a:ext uri="{FF2B5EF4-FFF2-40B4-BE49-F238E27FC236}">
                <a16:creationId xmlns:a16="http://schemas.microsoft.com/office/drawing/2014/main" id="{019DACEE-0551-414A-308B-41EE3B69581A}"/>
              </a:ext>
            </a:extLst>
          </p:cNvPr>
          <p:cNvSpPr txBox="1"/>
          <p:nvPr/>
        </p:nvSpPr>
        <p:spPr>
          <a:xfrm>
            <a:off x="7809179" y="2665105"/>
            <a:ext cx="4115726" cy="600164"/>
          </a:xfrm>
          <a:prstGeom prst="rect">
            <a:avLst/>
          </a:prstGeom>
          <a:noFill/>
        </p:spPr>
        <p:txBody>
          <a:bodyPr wrap="square" rtlCol="0">
            <a:spAutoFit/>
          </a:bodyPr>
          <a:lstStyle/>
          <a:p>
            <a:r>
              <a:rPr lang="en-US" sz="1100" dirty="0">
                <a:solidFill>
                  <a:schemeClr val="bg1"/>
                </a:solidFill>
              </a:rPr>
              <a:t>Combine the values present in one computer based on the same key and intermediate combined results are still in the same computer.</a:t>
            </a:r>
          </a:p>
        </p:txBody>
      </p:sp>
      <p:sp>
        <p:nvSpPr>
          <p:cNvPr id="10" name="TextBox 9">
            <a:extLst>
              <a:ext uri="{FF2B5EF4-FFF2-40B4-BE49-F238E27FC236}">
                <a16:creationId xmlns:a16="http://schemas.microsoft.com/office/drawing/2014/main" id="{9CB77751-1F46-90D9-FE81-A17DDF2E3703}"/>
              </a:ext>
            </a:extLst>
          </p:cNvPr>
          <p:cNvSpPr txBox="1"/>
          <p:nvPr/>
        </p:nvSpPr>
        <p:spPr>
          <a:xfrm>
            <a:off x="7789963" y="3656728"/>
            <a:ext cx="4382821" cy="430887"/>
          </a:xfrm>
          <a:prstGeom prst="rect">
            <a:avLst/>
          </a:prstGeom>
          <a:noFill/>
        </p:spPr>
        <p:txBody>
          <a:bodyPr wrap="square" rtlCol="0">
            <a:spAutoFit/>
          </a:bodyPr>
          <a:lstStyle/>
          <a:p>
            <a:r>
              <a:rPr lang="en-US" sz="1100" dirty="0">
                <a:solidFill>
                  <a:schemeClr val="bg1"/>
                </a:solidFill>
              </a:rPr>
              <a:t>The partition function will take the keys and decide to which machine the values of a particular key should go.</a:t>
            </a:r>
          </a:p>
        </p:txBody>
      </p:sp>
      <p:sp>
        <p:nvSpPr>
          <p:cNvPr id="11" name="TextBox 10">
            <a:extLst>
              <a:ext uri="{FF2B5EF4-FFF2-40B4-BE49-F238E27FC236}">
                <a16:creationId xmlns:a16="http://schemas.microsoft.com/office/drawing/2014/main" id="{E4919ACF-3100-A789-B66B-5C9F6A84891D}"/>
              </a:ext>
            </a:extLst>
          </p:cNvPr>
          <p:cNvSpPr txBox="1"/>
          <p:nvPr/>
        </p:nvSpPr>
        <p:spPr>
          <a:xfrm>
            <a:off x="7890234" y="4527176"/>
            <a:ext cx="4100661" cy="900246"/>
          </a:xfrm>
          <a:prstGeom prst="rect">
            <a:avLst/>
          </a:prstGeom>
          <a:noFill/>
        </p:spPr>
        <p:txBody>
          <a:bodyPr wrap="square" rtlCol="0">
            <a:spAutoFit/>
          </a:bodyPr>
          <a:lstStyle/>
          <a:p>
            <a:r>
              <a:rPr lang="en-US" sz="1050" dirty="0">
                <a:solidFill>
                  <a:schemeClr val="bg1"/>
                </a:solidFill>
              </a:rPr>
              <a:t>The partition function will send the values of the keys here and there based on a hash function.</a:t>
            </a:r>
          </a:p>
          <a:p>
            <a:r>
              <a:rPr lang="en-US" sz="1050" dirty="0" err="1">
                <a:solidFill>
                  <a:schemeClr val="bg1"/>
                </a:solidFill>
              </a:rPr>
              <a:t>Hash_val</a:t>
            </a:r>
            <a:r>
              <a:rPr lang="en-US" sz="1050" dirty="0">
                <a:solidFill>
                  <a:schemeClr val="bg1"/>
                </a:solidFill>
              </a:rPr>
              <a:t>(key) = </a:t>
            </a:r>
            <a:r>
              <a:rPr lang="en-US" sz="1050" dirty="0" err="1">
                <a:solidFill>
                  <a:schemeClr val="bg1"/>
                </a:solidFill>
              </a:rPr>
              <a:t>machine_id</a:t>
            </a:r>
            <a:r>
              <a:rPr lang="en-US" sz="1050" dirty="0">
                <a:solidFill>
                  <a:schemeClr val="bg1"/>
                </a:solidFill>
              </a:rPr>
              <a:t> </a:t>
            </a:r>
          </a:p>
          <a:p>
            <a:r>
              <a:rPr lang="en-US" sz="1050" dirty="0">
                <a:solidFill>
                  <a:schemeClr val="bg1"/>
                </a:solidFill>
              </a:rPr>
              <a:t>Partition </a:t>
            </a:r>
            <a:r>
              <a:rPr lang="en-US" sz="1050" dirty="0" err="1">
                <a:solidFill>
                  <a:schemeClr val="bg1"/>
                </a:solidFill>
              </a:rPr>
              <a:t>func</a:t>
            </a:r>
            <a:r>
              <a:rPr lang="en-US" sz="1050" dirty="0">
                <a:solidFill>
                  <a:schemeClr val="bg1"/>
                </a:solidFill>
              </a:rPr>
              <a:t> is applied only on keys. But due to hash collisions data for diff keys can also be on same machine</a:t>
            </a:r>
          </a:p>
        </p:txBody>
      </p:sp>
      <p:sp>
        <p:nvSpPr>
          <p:cNvPr id="12" name="TextBox 11">
            <a:extLst>
              <a:ext uri="{FF2B5EF4-FFF2-40B4-BE49-F238E27FC236}">
                <a16:creationId xmlns:a16="http://schemas.microsoft.com/office/drawing/2014/main" id="{13CB9280-25C1-711B-2852-0A511A74D4D6}"/>
              </a:ext>
            </a:extLst>
          </p:cNvPr>
          <p:cNvSpPr txBox="1"/>
          <p:nvPr/>
        </p:nvSpPr>
        <p:spPr>
          <a:xfrm>
            <a:off x="19216" y="3902222"/>
            <a:ext cx="3252135" cy="1107996"/>
          </a:xfrm>
          <a:prstGeom prst="rect">
            <a:avLst/>
          </a:prstGeom>
          <a:noFill/>
        </p:spPr>
        <p:txBody>
          <a:bodyPr wrap="square" rtlCol="0">
            <a:spAutoFit/>
          </a:bodyPr>
          <a:lstStyle/>
          <a:p>
            <a:r>
              <a:rPr lang="en-US" sz="1100" dirty="0">
                <a:solidFill>
                  <a:schemeClr val="bg1"/>
                </a:solidFill>
              </a:rPr>
              <a:t>After the partition function, all the data of a particular key will be on a particular machine decided by the hash function.</a:t>
            </a:r>
          </a:p>
          <a:p>
            <a:endParaRPr lang="en-US" sz="1100" dirty="0">
              <a:solidFill>
                <a:schemeClr val="bg1"/>
              </a:solidFill>
            </a:endParaRPr>
          </a:p>
          <a:p>
            <a:r>
              <a:rPr lang="en-US" sz="1100" dirty="0">
                <a:solidFill>
                  <a:schemeClr val="bg1"/>
                </a:solidFill>
              </a:rPr>
              <a:t>Then we will group values by key because you want to perform operations based on keys.</a:t>
            </a:r>
          </a:p>
        </p:txBody>
      </p:sp>
      <p:sp>
        <p:nvSpPr>
          <p:cNvPr id="13" name="TextBox 12">
            <a:extLst>
              <a:ext uri="{FF2B5EF4-FFF2-40B4-BE49-F238E27FC236}">
                <a16:creationId xmlns:a16="http://schemas.microsoft.com/office/drawing/2014/main" id="{44F51963-948C-0DFA-F87C-7F81BDAB1F42}"/>
              </a:ext>
            </a:extLst>
          </p:cNvPr>
          <p:cNvSpPr txBox="1"/>
          <p:nvPr/>
        </p:nvSpPr>
        <p:spPr>
          <a:xfrm>
            <a:off x="8050155" y="5888344"/>
            <a:ext cx="2451305" cy="600164"/>
          </a:xfrm>
          <a:prstGeom prst="rect">
            <a:avLst/>
          </a:prstGeom>
          <a:noFill/>
        </p:spPr>
        <p:txBody>
          <a:bodyPr wrap="square" rtlCol="0">
            <a:spAutoFit/>
          </a:bodyPr>
          <a:lstStyle/>
          <a:p>
            <a:r>
              <a:rPr lang="en-US" sz="1100" dirty="0">
                <a:solidFill>
                  <a:schemeClr val="bg1"/>
                </a:solidFill>
              </a:rPr>
              <a:t>Then we apply the reduce function to combine the results produced by each worker to get the final output</a:t>
            </a:r>
          </a:p>
        </p:txBody>
      </p:sp>
    </p:spTree>
    <p:extLst>
      <p:ext uri="{BB962C8B-B14F-4D97-AF65-F5344CB8AC3E}">
        <p14:creationId xmlns:p14="http://schemas.microsoft.com/office/powerpoint/2010/main" val="365623850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5" grpId="0" animBg="1"/>
      <p:bldP spid="7" grpId="0" animBg="1"/>
      <p:bldP spid="16" grpId="0" animBg="1"/>
      <p:bldP spid="18" grpId="0" animBg="1"/>
      <p:bldP spid="2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266B7D-463F-2407-C223-4822197132FA}"/>
              </a:ext>
            </a:extLst>
          </p:cNvPr>
          <p:cNvPicPr>
            <a:picLocks noChangeAspect="1"/>
          </p:cNvPicPr>
          <p:nvPr/>
        </p:nvPicPr>
        <p:blipFill>
          <a:blip r:embed="rId2"/>
          <a:stretch>
            <a:fillRect/>
          </a:stretch>
        </p:blipFill>
        <p:spPr>
          <a:xfrm>
            <a:off x="0" y="335280"/>
            <a:ext cx="12070079" cy="6522720"/>
          </a:xfrm>
          <a:prstGeom prst="rect">
            <a:avLst/>
          </a:prstGeom>
        </p:spPr>
      </p:pic>
      <p:sp>
        <p:nvSpPr>
          <p:cNvPr id="6" name="TextBox 5">
            <a:extLst>
              <a:ext uri="{FF2B5EF4-FFF2-40B4-BE49-F238E27FC236}">
                <a16:creationId xmlns:a16="http://schemas.microsoft.com/office/drawing/2014/main" id="{7A5AADDA-6A72-F80C-FA07-F32D2523884D}"/>
              </a:ext>
            </a:extLst>
          </p:cNvPr>
          <p:cNvSpPr txBox="1"/>
          <p:nvPr/>
        </p:nvSpPr>
        <p:spPr>
          <a:xfrm>
            <a:off x="121921" y="2967335"/>
            <a:ext cx="2164080" cy="923330"/>
          </a:xfrm>
          <a:prstGeom prst="rect">
            <a:avLst/>
          </a:prstGeom>
          <a:noFill/>
        </p:spPr>
        <p:txBody>
          <a:bodyPr wrap="square" rtlCol="0">
            <a:spAutoFit/>
          </a:bodyPr>
          <a:lstStyle/>
          <a:p>
            <a:r>
              <a:rPr lang="en-US" dirty="0"/>
              <a:t>1&gt;We have small </a:t>
            </a:r>
            <a:r>
              <a:rPr lang="en-US" dirty="0" err="1"/>
              <a:t>small</a:t>
            </a:r>
            <a:r>
              <a:rPr lang="en-US" dirty="0"/>
              <a:t> files , chunks of files</a:t>
            </a:r>
          </a:p>
        </p:txBody>
      </p:sp>
      <p:sp>
        <p:nvSpPr>
          <p:cNvPr id="7" name="TextBox 6">
            <a:extLst>
              <a:ext uri="{FF2B5EF4-FFF2-40B4-BE49-F238E27FC236}">
                <a16:creationId xmlns:a16="http://schemas.microsoft.com/office/drawing/2014/main" id="{2036D44E-3527-3AAF-7351-1F80831E512B}"/>
              </a:ext>
            </a:extLst>
          </p:cNvPr>
          <p:cNvSpPr txBox="1"/>
          <p:nvPr/>
        </p:nvSpPr>
        <p:spPr>
          <a:xfrm>
            <a:off x="2179320" y="2068175"/>
            <a:ext cx="2743200" cy="923330"/>
          </a:xfrm>
          <a:prstGeom prst="rect">
            <a:avLst/>
          </a:prstGeom>
          <a:noFill/>
        </p:spPr>
        <p:txBody>
          <a:bodyPr wrap="square" rtlCol="0">
            <a:spAutoFit/>
          </a:bodyPr>
          <a:lstStyle/>
          <a:p>
            <a:r>
              <a:rPr lang="en-US" dirty="0"/>
              <a:t>2&gt;Then we apply map </a:t>
            </a:r>
            <a:r>
              <a:rPr lang="en-US" dirty="0" err="1"/>
              <a:t>func</a:t>
            </a:r>
            <a:r>
              <a:rPr lang="en-US" dirty="0"/>
              <a:t> on each of the splits </a:t>
            </a:r>
          </a:p>
        </p:txBody>
      </p:sp>
      <p:sp>
        <p:nvSpPr>
          <p:cNvPr id="8" name="TextBox 7">
            <a:extLst>
              <a:ext uri="{FF2B5EF4-FFF2-40B4-BE49-F238E27FC236}">
                <a16:creationId xmlns:a16="http://schemas.microsoft.com/office/drawing/2014/main" id="{CD9C0DFD-5686-9BBD-0FA0-6933C5456502}"/>
              </a:ext>
            </a:extLst>
          </p:cNvPr>
          <p:cNvSpPr txBox="1"/>
          <p:nvPr/>
        </p:nvSpPr>
        <p:spPr>
          <a:xfrm>
            <a:off x="4495800" y="590847"/>
            <a:ext cx="1280160" cy="1477328"/>
          </a:xfrm>
          <a:prstGeom prst="rect">
            <a:avLst/>
          </a:prstGeom>
          <a:noFill/>
        </p:spPr>
        <p:txBody>
          <a:bodyPr wrap="square" rtlCol="0">
            <a:spAutoFit/>
          </a:bodyPr>
          <a:lstStyle/>
          <a:p>
            <a:r>
              <a:rPr lang="en-US" dirty="0"/>
              <a:t>3&gt; map </a:t>
            </a:r>
            <a:r>
              <a:rPr lang="en-US" dirty="0" err="1"/>
              <a:t>func</a:t>
            </a:r>
            <a:r>
              <a:rPr lang="en-US" dirty="0"/>
              <a:t> is writing data in LFS </a:t>
            </a:r>
          </a:p>
        </p:txBody>
      </p:sp>
      <p:sp>
        <p:nvSpPr>
          <p:cNvPr id="9" name="TextBox 8">
            <a:extLst>
              <a:ext uri="{FF2B5EF4-FFF2-40B4-BE49-F238E27FC236}">
                <a16:creationId xmlns:a16="http://schemas.microsoft.com/office/drawing/2014/main" id="{281A2EE3-52F5-7CC1-D2CF-02D2EDCDB3D3}"/>
              </a:ext>
            </a:extLst>
          </p:cNvPr>
          <p:cNvSpPr txBox="1"/>
          <p:nvPr/>
        </p:nvSpPr>
        <p:spPr>
          <a:xfrm>
            <a:off x="8580120" y="1791176"/>
            <a:ext cx="3383280" cy="1477328"/>
          </a:xfrm>
          <a:prstGeom prst="rect">
            <a:avLst/>
          </a:prstGeom>
          <a:noFill/>
        </p:spPr>
        <p:txBody>
          <a:bodyPr wrap="square" rtlCol="0">
            <a:spAutoFit/>
          </a:bodyPr>
          <a:lstStyle/>
          <a:p>
            <a:r>
              <a:rPr lang="en-US" dirty="0"/>
              <a:t>4&gt; then it comes to reduce fun and every reduce </a:t>
            </a:r>
            <a:r>
              <a:rPr lang="en-US" dirty="0" err="1"/>
              <a:t>func</a:t>
            </a:r>
            <a:r>
              <a:rPr lang="en-US" dirty="0"/>
              <a:t> will produce one separate file. Reduce phase writes o/p on DFS</a:t>
            </a:r>
          </a:p>
        </p:txBody>
      </p:sp>
    </p:spTree>
    <p:extLst>
      <p:ext uri="{BB962C8B-B14F-4D97-AF65-F5344CB8AC3E}">
        <p14:creationId xmlns:p14="http://schemas.microsoft.com/office/powerpoint/2010/main" val="39680203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F34B1B-2FBA-44BA-A415-448E1BCB4587}"/>
              </a:ext>
            </a:extLst>
          </p:cNvPr>
          <p:cNvSpPr>
            <a:spLocks noGrp="1"/>
          </p:cNvSpPr>
          <p:nvPr>
            <p:ph type="ctrTitle"/>
          </p:nvPr>
        </p:nvSpPr>
        <p:spPr>
          <a:xfrm>
            <a:off x="354106" y="2070847"/>
            <a:ext cx="11483787" cy="2178424"/>
          </a:xfrm>
        </p:spPr>
        <p:txBody>
          <a:bodyPr>
            <a:normAutofit fontScale="90000"/>
          </a:bodyPr>
          <a:lstStyle/>
          <a:p>
            <a:r>
              <a:rPr lang="en-US" sz="5400" b="1" dirty="0">
                <a:solidFill>
                  <a:schemeClr val="accent4">
                    <a:lumMod val="50000"/>
                  </a:schemeClr>
                </a:solidFill>
              </a:rPr>
              <a:t>Storing Big Data in Cluster</a:t>
            </a:r>
            <a:br>
              <a:rPr lang="en-US" sz="5400" b="1" dirty="0">
                <a:solidFill>
                  <a:schemeClr val="accent4">
                    <a:lumMod val="50000"/>
                  </a:schemeClr>
                </a:solidFill>
              </a:rPr>
            </a:br>
            <a:br>
              <a:rPr lang="en-US" sz="5400" b="1" dirty="0">
                <a:solidFill>
                  <a:schemeClr val="accent4">
                    <a:lumMod val="50000"/>
                  </a:schemeClr>
                </a:solidFill>
              </a:rPr>
            </a:br>
            <a:r>
              <a:rPr lang="en-US" sz="4900" b="1" dirty="0">
                <a:solidFill>
                  <a:schemeClr val="accent4">
                    <a:lumMod val="50000"/>
                  </a:schemeClr>
                </a:solidFill>
              </a:rPr>
              <a:t>Hadoop Distributed Filesystem</a:t>
            </a:r>
            <a:endParaRPr lang="en-IN" sz="4900" b="1" dirty="0">
              <a:solidFill>
                <a:schemeClr val="accent4">
                  <a:lumMod val="50000"/>
                </a:schemeClr>
              </a:solidFill>
            </a:endParaRPr>
          </a:p>
        </p:txBody>
      </p:sp>
      <p:sp>
        <p:nvSpPr>
          <p:cNvPr id="2" name="TextBox 1">
            <a:extLst>
              <a:ext uri="{FF2B5EF4-FFF2-40B4-BE49-F238E27FC236}">
                <a16:creationId xmlns:a16="http://schemas.microsoft.com/office/drawing/2014/main" id="{1D1C21F5-A043-0FC0-826B-EB543B0EC9D4}"/>
              </a:ext>
            </a:extLst>
          </p:cNvPr>
          <p:cNvSpPr txBox="1"/>
          <p:nvPr/>
        </p:nvSpPr>
        <p:spPr>
          <a:xfrm>
            <a:off x="1027522" y="263951"/>
            <a:ext cx="9530499" cy="1200329"/>
          </a:xfrm>
          <a:prstGeom prst="rect">
            <a:avLst/>
          </a:prstGeom>
          <a:noFill/>
        </p:spPr>
        <p:txBody>
          <a:bodyPr wrap="square" rtlCol="0">
            <a:spAutoFit/>
          </a:bodyPr>
          <a:lstStyle/>
          <a:p>
            <a:r>
              <a:rPr lang="en-US" dirty="0"/>
              <a:t>A File System is nothing but the organization of files and folders in a nice way so that we can do most of the regular things efficiently.</a:t>
            </a:r>
          </a:p>
          <a:p>
            <a:endParaRPr lang="en-US" dirty="0"/>
          </a:p>
          <a:p>
            <a:r>
              <a:rPr lang="en-US" dirty="0"/>
              <a:t>File system helps us to store data efficiently and retrieving those files is also very easy.</a:t>
            </a:r>
          </a:p>
        </p:txBody>
      </p:sp>
    </p:spTree>
    <p:extLst>
      <p:ext uri="{BB962C8B-B14F-4D97-AF65-F5344CB8AC3E}">
        <p14:creationId xmlns:p14="http://schemas.microsoft.com/office/powerpoint/2010/main" val="24809177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8"/>
          <p:cNvSpPr>
            <a:spLocks noGrp="1" noChangeArrowheads="1"/>
          </p:cNvSpPr>
          <p:nvPr>
            <p:ph type="title"/>
          </p:nvPr>
        </p:nvSpPr>
        <p:spPr>
          <a:xfrm>
            <a:off x="623392" y="164638"/>
            <a:ext cx="10515600" cy="567597"/>
          </a:xfrm>
        </p:spPr>
        <p:txBody>
          <a:bodyPr>
            <a:normAutofit fontScale="90000"/>
          </a:bodyPr>
          <a:lstStyle/>
          <a:p>
            <a:pPr eaLnBrk="1" hangingPunct="1"/>
            <a:r>
              <a:rPr lang="en-GB" sz="4000" dirty="0"/>
              <a:t>Why distributed filesystem (DFS)?</a:t>
            </a:r>
          </a:p>
        </p:txBody>
      </p:sp>
      <p:sp>
        <p:nvSpPr>
          <p:cNvPr id="41987" name="Rectangle 9"/>
          <p:cNvSpPr>
            <a:spLocks noGrp="1" noChangeArrowheads="1"/>
          </p:cNvSpPr>
          <p:nvPr>
            <p:ph type="body" idx="1"/>
          </p:nvPr>
        </p:nvSpPr>
        <p:spPr>
          <a:xfrm>
            <a:off x="838200" y="1378339"/>
            <a:ext cx="10515600" cy="2736461"/>
          </a:xfrm>
        </p:spPr>
        <p:txBody>
          <a:bodyPr>
            <a:noAutofit/>
          </a:bodyPr>
          <a:lstStyle/>
          <a:p>
            <a:pPr eaLnBrk="1" hangingPunct="1"/>
            <a:r>
              <a:rPr lang="en-GB" sz="2400" dirty="0"/>
              <a:t>When data is very large, single machine can’t store</a:t>
            </a:r>
          </a:p>
          <a:p>
            <a:pPr eaLnBrk="1" hangingPunct="1"/>
            <a:endParaRPr lang="en-GB" sz="2400" dirty="0"/>
          </a:p>
          <a:p>
            <a:pPr eaLnBrk="1" hangingPunct="1"/>
            <a:r>
              <a:rPr lang="en-GB" sz="2400" dirty="0"/>
              <a:t>Need to store the data in many machines </a:t>
            </a:r>
          </a:p>
          <a:p>
            <a:pPr eaLnBrk="1" hangingPunct="1"/>
            <a:endParaRPr lang="en-GB" sz="2400" dirty="0"/>
          </a:p>
          <a:p>
            <a:pPr eaLnBrk="1" hangingPunct="1"/>
            <a:r>
              <a:rPr lang="en-GB" sz="2400" dirty="0"/>
              <a:t>Data needs to be partitioned and stored </a:t>
            </a:r>
          </a:p>
          <a:p>
            <a:pPr eaLnBrk="1" hangingPunct="1"/>
            <a:endParaRPr lang="en-GB" sz="2400" dirty="0"/>
          </a:p>
          <a:p>
            <a:pPr eaLnBrk="1" hangingPunct="1"/>
            <a:endParaRPr lang="en-GB" sz="2400" dirty="0"/>
          </a:p>
        </p:txBody>
      </p:sp>
      <p:sp>
        <p:nvSpPr>
          <p:cNvPr id="2" name="Rectangle: Rounded Corners 1">
            <a:extLst>
              <a:ext uri="{FF2B5EF4-FFF2-40B4-BE49-F238E27FC236}">
                <a16:creationId xmlns:a16="http://schemas.microsoft.com/office/drawing/2014/main" id="{63AB4D8B-D304-410F-A775-FDF8B9D7E7EE}"/>
              </a:ext>
            </a:extLst>
          </p:cNvPr>
          <p:cNvSpPr/>
          <p:nvPr/>
        </p:nvSpPr>
        <p:spPr>
          <a:xfrm>
            <a:off x="950259" y="4455459"/>
            <a:ext cx="10067365" cy="1461247"/>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C00000"/>
                </a:solidFill>
                <a:effectLst/>
                <a:uLnTx/>
                <a:uFillTx/>
                <a:latin typeface="Century Schoolbook" panose="02040604050505020304"/>
                <a:ea typeface="+mn-ea"/>
                <a:cs typeface="+mn-cs"/>
              </a:rPr>
              <a:t>Filesystem that manages the storage across a network of machines </a:t>
            </a:r>
          </a:p>
        </p:txBody>
      </p:sp>
      <p:sp>
        <p:nvSpPr>
          <p:cNvPr id="3" name="TextBox 2">
            <a:extLst>
              <a:ext uri="{FF2B5EF4-FFF2-40B4-BE49-F238E27FC236}">
                <a16:creationId xmlns:a16="http://schemas.microsoft.com/office/drawing/2014/main" id="{08E7A095-3612-DD4C-6FE8-DB5D4E268215}"/>
              </a:ext>
            </a:extLst>
          </p:cNvPr>
          <p:cNvSpPr txBox="1"/>
          <p:nvPr/>
        </p:nvSpPr>
        <p:spPr>
          <a:xfrm>
            <a:off x="2214513" y="6099142"/>
            <a:ext cx="9437016" cy="369332"/>
          </a:xfrm>
          <a:prstGeom prst="rect">
            <a:avLst/>
          </a:prstGeom>
          <a:noFill/>
        </p:spPr>
        <p:txBody>
          <a:bodyPr wrap="square" rtlCol="0">
            <a:spAutoFit/>
          </a:bodyPr>
          <a:lstStyle/>
          <a:p>
            <a:r>
              <a:rPr lang="en-US" dirty="0"/>
              <a:t>We use DFS when we have to handle large volumes of data.</a:t>
            </a:r>
          </a:p>
        </p:txBody>
      </p:sp>
    </p:spTree>
    <p:extLst>
      <p:ext uri="{BB962C8B-B14F-4D97-AF65-F5344CB8AC3E}">
        <p14:creationId xmlns:p14="http://schemas.microsoft.com/office/powerpoint/2010/main" val="1040173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Design Principles of DFS</a:t>
            </a:r>
          </a:p>
        </p:txBody>
      </p:sp>
      <p:sp>
        <p:nvSpPr>
          <p:cNvPr id="3" name="Content Placeholder 2"/>
          <p:cNvSpPr>
            <a:spLocks noGrp="1"/>
          </p:cNvSpPr>
          <p:nvPr>
            <p:ph idx="1"/>
          </p:nvPr>
        </p:nvSpPr>
        <p:spPr/>
        <p:txBody>
          <a:bodyPr>
            <a:normAutofit/>
          </a:bodyPr>
          <a:lstStyle/>
          <a:p>
            <a:r>
              <a:rPr lang="en-IN" dirty="0"/>
              <a:t>Very large files </a:t>
            </a:r>
          </a:p>
          <a:p>
            <a:pPr lvl="1"/>
            <a:r>
              <a:rPr lang="en-IN" dirty="0"/>
              <a:t>Hundreds on terabytes or even petabytes</a:t>
            </a:r>
          </a:p>
          <a:p>
            <a:pPr lvl="1"/>
            <a:endParaRPr lang="en-IN" dirty="0"/>
          </a:p>
          <a:p>
            <a:r>
              <a:rPr lang="en-IN" dirty="0"/>
              <a:t>Streaming data access</a:t>
            </a:r>
          </a:p>
          <a:p>
            <a:pPr lvl="1"/>
            <a:r>
              <a:rPr lang="en-IN" dirty="0"/>
              <a:t>Basic idea: write once, but read many times </a:t>
            </a:r>
          </a:p>
          <a:p>
            <a:pPr lvl="1"/>
            <a:endParaRPr lang="en-IN" dirty="0"/>
          </a:p>
          <a:p>
            <a:r>
              <a:rPr lang="en-IN" dirty="0"/>
              <a:t>Commodity hardware</a:t>
            </a:r>
          </a:p>
          <a:p>
            <a:pPr lvl="1"/>
            <a:r>
              <a:rPr lang="en-IN" dirty="0"/>
              <a:t>Uses cluster of commodity </a:t>
            </a:r>
            <a:r>
              <a:rPr lang="en-IN" dirty="0" err="1"/>
              <a:t>hardwares</a:t>
            </a:r>
            <a:endParaRPr lang="en-IN" dirty="0"/>
          </a:p>
          <a:p>
            <a:pPr lvl="2"/>
            <a:r>
              <a:rPr lang="en-IN" dirty="0"/>
              <a:t>chance of node failure is high </a:t>
            </a:r>
          </a:p>
          <a:p>
            <a:pPr lvl="1"/>
            <a:r>
              <a:rPr lang="en-IN" dirty="0"/>
              <a:t>DFS is designed to handle such failures</a:t>
            </a:r>
          </a:p>
          <a:p>
            <a:pPr lvl="1"/>
            <a:endParaRPr lang="en-IN" dirty="0"/>
          </a:p>
        </p:txBody>
      </p:sp>
    </p:spTree>
    <p:extLst>
      <p:ext uri="{BB962C8B-B14F-4D97-AF65-F5344CB8AC3E}">
        <p14:creationId xmlns:p14="http://schemas.microsoft.com/office/powerpoint/2010/main" val="1308301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391" y="224118"/>
            <a:ext cx="9875520" cy="533399"/>
          </a:xfrm>
        </p:spPr>
        <p:txBody>
          <a:bodyPr>
            <a:noAutofit/>
          </a:bodyPr>
          <a:lstStyle/>
          <a:p>
            <a:r>
              <a:rPr lang="en-US" sz="3200" dirty="0"/>
              <a:t>Distributed File System: Data persistence</a:t>
            </a:r>
          </a:p>
        </p:txBody>
      </p:sp>
      <p:sp>
        <p:nvSpPr>
          <p:cNvPr id="3" name="Content Placeholder 2"/>
          <p:cNvSpPr>
            <a:spLocks noGrp="1"/>
          </p:cNvSpPr>
          <p:nvPr>
            <p:ph idx="1"/>
          </p:nvPr>
        </p:nvSpPr>
        <p:spPr>
          <a:xfrm>
            <a:off x="1158241" y="838200"/>
            <a:ext cx="9875520" cy="5791200"/>
          </a:xfrm>
        </p:spPr>
        <p:txBody>
          <a:bodyPr/>
          <a:lstStyle/>
          <a:p>
            <a:endParaRPr lang="en-US" sz="2400" dirty="0"/>
          </a:p>
          <a:p>
            <a:r>
              <a:rPr lang="en-US" sz="2400" dirty="0"/>
              <a:t>Data is kept in chunks, spread across machines</a:t>
            </a:r>
          </a:p>
          <a:p>
            <a:endParaRPr lang="en-US" sz="2400" dirty="0"/>
          </a:p>
          <a:p>
            <a:endParaRPr lang="en-US" sz="2400" dirty="0"/>
          </a:p>
          <a:p>
            <a:r>
              <a:rPr lang="en-US" sz="2400" dirty="0"/>
              <a:t>Each chunk is replicated on different nodes</a:t>
            </a:r>
          </a:p>
          <a:p>
            <a:pPr lvl="1"/>
            <a:endParaRPr lang="en-US" dirty="0"/>
          </a:p>
          <a:p>
            <a:pPr lvl="1"/>
            <a:r>
              <a:rPr lang="en-US" b="0" dirty="0"/>
              <a:t>Ensures persistence</a:t>
            </a:r>
          </a:p>
          <a:p>
            <a:pPr lvl="1"/>
            <a:endParaRPr lang="en-US" dirty="0"/>
          </a:p>
          <a:p>
            <a:pPr marL="990600" lvl="2" indent="0">
              <a:buNone/>
            </a:pPr>
            <a:endParaRPr lang="en-US" dirty="0"/>
          </a:p>
          <a:p>
            <a:pPr lvl="2"/>
            <a:endParaRPr lang="en-US" dirty="0"/>
          </a:p>
          <a:p>
            <a:pPr lvl="2"/>
            <a:endParaRPr lang="en-US" dirty="0"/>
          </a:p>
          <a:p>
            <a:pPr lvl="2"/>
            <a:endParaRPr lang="en-US" dirty="0"/>
          </a:p>
          <a:p>
            <a:pPr marL="439303" lvl="2" indent="0">
              <a:buNone/>
            </a:pPr>
            <a:r>
              <a:rPr lang="en-US" dirty="0"/>
              <a:t>   </a:t>
            </a:r>
          </a:p>
          <a:p>
            <a:pPr lvl="2"/>
            <a:endParaRPr lang="en-US" dirty="0"/>
          </a:p>
          <a:p>
            <a:pPr lvl="2"/>
            <a:endParaRPr lang="en-US" dirty="0"/>
          </a:p>
        </p:txBody>
      </p:sp>
      <p:sp>
        <p:nvSpPr>
          <p:cNvPr id="4" name="TextBox 3">
            <a:extLst>
              <a:ext uri="{FF2B5EF4-FFF2-40B4-BE49-F238E27FC236}">
                <a16:creationId xmlns:a16="http://schemas.microsoft.com/office/drawing/2014/main" id="{C9885D8D-A316-D4A6-B92D-E7ECF0D54D74}"/>
              </a:ext>
            </a:extLst>
          </p:cNvPr>
          <p:cNvSpPr txBox="1"/>
          <p:nvPr/>
        </p:nvSpPr>
        <p:spPr>
          <a:xfrm>
            <a:off x="952107" y="4213781"/>
            <a:ext cx="10831398" cy="1200329"/>
          </a:xfrm>
          <a:prstGeom prst="rect">
            <a:avLst/>
          </a:prstGeom>
          <a:noFill/>
        </p:spPr>
        <p:txBody>
          <a:bodyPr wrap="square" rtlCol="0">
            <a:spAutoFit/>
          </a:bodyPr>
          <a:lstStyle/>
          <a:p>
            <a:r>
              <a:rPr lang="en-US" dirty="0"/>
              <a:t>Suppose you break the data in 5 chunks and you replicate each chunk twice so now you have 10 chunks to store.</a:t>
            </a:r>
          </a:p>
          <a:p>
            <a:endParaRPr lang="en-US" dirty="0"/>
          </a:p>
          <a:p>
            <a:r>
              <a:rPr lang="en-US" dirty="0"/>
              <a:t>We won’t put a chunk &amp; its replica together in same machine.</a:t>
            </a:r>
          </a:p>
        </p:txBody>
      </p:sp>
    </p:spTree>
    <p:extLst>
      <p:ext uri="{BB962C8B-B14F-4D97-AF65-F5344CB8AC3E}">
        <p14:creationId xmlns:p14="http://schemas.microsoft.com/office/powerpoint/2010/main" val="3877960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341" y="137469"/>
            <a:ext cx="9875520" cy="533399"/>
          </a:xfrm>
        </p:spPr>
        <p:txBody>
          <a:bodyPr>
            <a:noAutofit/>
          </a:bodyPr>
          <a:lstStyle/>
          <a:p>
            <a:r>
              <a:rPr lang="en-US" sz="3200" dirty="0"/>
              <a:t>Distributed File System: Chunk Servers</a:t>
            </a:r>
          </a:p>
        </p:txBody>
      </p:sp>
      <p:sp>
        <p:nvSpPr>
          <p:cNvPr id="3" name="Content Placeholder 2"/>
          <p:cNvSpPr>
            <a:spLocks noGrp="1"/>
          </p:cNvSpPr>
          <p:nvPr>
            <p:ph idx="1"/>
          </p:nvPr>
        </p:nvSpPr>
        <p:spPr>
          <a:xfrm>
            <a:off x="1158241" y="838200"/>
            <a:ext cx="9875520" cy="5791200"/>
          </a:xfrm>
        </p:spPr>
        <p:txBody>
          <a:bodyPr/>
          <a:lstStyle/>
          <a:p>
            <a:pPr>
              <a:buFont typeface="Arial" panose="020B0604020202020204" pitchFamily="34" charset="0"/>
              <a:buChar char="•"/>
            </a:pPr>
            <a:r>
              <a:rPr lang="en-US" dirty="0"/>
              <a:t>Example:</a:t>
            </a:r>
          </a:p>
          <a:p>
            <a:pPr lvl="2">
              <a:buFont typeface="Arial" panose="020B0604020202020204" pitchFamily="34" charset="0"/>
              <a:buChar char="•"/>
            </a:pPr>
            <a:r>
              <a:rPr lang="en-US" dirty="0"/>
              <a:t>We have two files, A and B</a:t>
            </a:r>
          </a:p>
          <a:p>
            <a:pPr lvl="2">
              <a:buFont typeface="Arial" panose="020B0604020202020204" pitchFamily="34" charset="0"/>
              <a:buChar char="•"/>
            </a:pPr>
            <a:r>
              <a:rPr lang="en-US" dirty="0"/>
              <a:t>3 computers</a:t>
            </a:r>
          </a:p>
          <a:p>
            <a:pPr lvl="2">
              <a:buFont typeface="Arial" panose="020B0604020202020204" pitchFamily="34" charset="0"/>
              <a:buChar char="•"/>
            </a:pPr>
            <a:r>
              <a:rPr lang="en-US" dirty="0"/>
              <a:t>2 times replication of data</a:t>
            </a:r>
          </a:p>
          <a:p>
            <a:pPr lvl="2"/>
            <a:endParaRPr lang="en-US" dirty="0"/>
          </a:p>
          <a:p>
            <a:pPr lvl="2"/>
            <a:endParaRPr lang="en-US" dirty="0"/>
          </a:p>
          <a:p>
            <a:pPr lvl="2"/>
            <a:endParaRPr lang="en-US" dirty="0"/>
          </a:p>
          <a:p>
            <a:pPr lvl="2"/>
            <a:endParaRPr lang="en-US" dirty="0"/>
          </a:p>
          <a:p>
            <a:pPr marL="439303" lvl="2" indent="0">
              <a:buNone/>
            </a:pPr>
            <a:r>
              <a:rPr lang="en-US" dirty="0"/>
              <a:t>   </a:t>
            </a:r>
          </a:p>
          <a:p>
            <a:pPr lvl="2"/>
            <a:endParaRPr lang="en-US" dirty="0"/>
          </a:p>
          <a:p>
            <a:pPr lvl="2"/>
            <a:endParaRPr lang="en-US" dirty="0"/>
          </a:p>
        </p:txBody>
      </p:sp>
      <p:sp>
        <p:nvSpPr>
          <p:cNvPr id="4" name="Rectangle 3"/>
          <p:cNvSpPr/>
          <p:nvPr/>
        </p:nvSpPr>
        <p:spPr>
          <a:xfrm>
            <a:off x="2514601" y="3733800"/>
            <a:ext cx="1402079" cy="1066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Schoolbook" panose="02040604050505020304"/>
              <a:ea typeface="+mn-ea"/>
              <a:cs typeface="+mn-cs"/>
            </a:endParaRPr>
          </a:p>
        </p:txBody>
      </p:sp>
      <p:sp>
        <p:nvSpPr>
          <p:cNvPr id="5" name="Rectangle 4"/>
          <p:cNvSpPr/>
          <p:nvPr/>
        </p:nvSpPr>
        <p:spPr>
          <a:xfrm>
            <a:off x="4627879" y="3733800"/>
            <a:ext cx="1300480" cy="1066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Schoolbook" panose="02040604050505020304"/>
              <a:ea typeface="+mn-ea"/>
              <a:cs typeface="+mn-cs"/>
            </a:endParaRPr>
          </a:p>
        </p:txBody>
      </p:sp>
      <p:sp>
        <p:nvSpPr>
          <p:cNvPr id="6" name="Rectangle 5"/>
          <p:cNvSpPr/>
          <p:nvPr/>
        </p:nvSpPr>
        <p:spPr>
          <a:xfrm>
            <a:off x="6497319" y="3733800"/>
            <a:ext cx="1341120" cy="1066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Schoolbook" panose="02040604050505020304"/>
              <a:ea typeface="+mn-ea"/>
              <a:cs typeface="+mn-cs"/>
            </a:endParaRPr>
          </a:p>
        </p:txBody>
      </p:sp>
      <p:sp>
        <p:nvSpPr>
          <p:cNvPr id="7" name="Rectangle 6"/>
          <p:cNvSpPr/>
          <p:nvPr/>
        </p:nvSpPr>
        <p:spPr>
          <a:xfrm>
            <a:off x="2595879" y="3849880"/>
            <a:ext cx="48768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Schoolbook" panose="02040604050505020304"/>
                <a:ea typeface="+mn-ea"/>
                <a:cs typeface="+mn-cs"/>
              </a:rPr>
              <a:t>a1</a:t>
            </a:r>
          </a:p>
        </p:txBody>
      </p:sp>
      <p:sp>
        <p:nvSpPr>
          <p:cNvPr id="8" name="Rectangle 7"/>
          <p:cNvSpPr/>
          <p:nvPr/>
        </p:nvSpPr>
        <p:spPr>
          <a:xfrm>
            <a:off x="3286759" y="3849880"/>
            <a:ext cx="52832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Schoolbook" panose="02040604050505020304"/>
                <a:ea typeface="+mn-ea"/>
                <a:cs typeface="+mn-cs"/>
              </a:rPr>
              <a:t>a2</a:t>
            </a:r>
          </a:p>
        </p:txBody>
      </p:sp>
      <p:sp>
        <p:nvSpPr>
          <p:cNvPr id="9" name="Rectangle 8"/>
          <p:cNvSpPr/>
          <p:nvPr/>
        </p:nvSpPr>
        <p:spPr>
          <a:xfrm>
            <a:off x="2600817" y="4308860"/>
            <a:ext cx="48768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Schoolbook" panose="02040604050505020304"/>
                <a:ea typeface="+mn-ea"/>
                <a:cs typeface="+mn-cs"/>
              </a:rPr>
              <a:t>a3</a:t>
            </a:r>
          </a:p>
        </p:txBody>
      </p:sp>
      <p:sp>
        <p:nvSpPr>
          <p:cNvPr id="10" name="Rectangle 9"/>
          <p:cNvSpPr/>
          <p:nvPr/>
        </p:nvSpPr>
        <p:spPr>
          <a:xfrm>
            <a:off x="3327399" y="4308860"/>
            <a:ext cx="48768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Schoolbook" panose="02040604050505020304"/>
                <a:ea typeface="+mn-ea"/>
                <a:cs typeface="+mn-cs"/>
              </a:rPr>
              <a:t>b1</a:t>
            </a:r>
          </a:p>
        </p:txBody>
      </p:sp>
      <p:sp>
        <p:nvSpPr>
          <p:cNvPr id="11" name="Rectangle 10"/>
          <p:cNvSpPr/>
          <p:nvPr/>
        </p:nvSpPr>
        <p:spPr>
          <a:xfrm>
            <a:off x="4709159" y="3819257"/>
            <a:ext cx="48768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Schoolbook" panose="02040604050505020304"/>
                <a:ea typeface="+mn-ea"/>
                <a:cs typeface="+mn-cs"/>
              </a:rPr>
              <a:t>b1</a:t>
            </a:r>
          </a:p>
        </p:txBody>
      </p:sp>
      <p:sp>
        <p:nvSpPr>
          <p:cNvPr id="12" name="Rectangle 11"/>
          <p:cNvSpPr/>
          <p:nvPr/>
        </p:nvSpPr>
        <p:spPr>
          <a:xfrm>
            <a:off x="5400039" y="3835280"/>
            <a:ext cx="48768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Schoolbook" panose="02040604050505020304"/>
                <a:ea typeface="+mn-ea"/>
                <a:cs typeface="+mn-cs"/>
              </a:rPr>
              <a:t>a1</a:t>
            </a:r>
          </a:p>
        </p:txBody>
      </p:sp>
      <p:sp>
        <p:nvSpPr>
          <p:cNvPr id="13" name="Rectangle 12"/>
          <p:cNvSpPr/>
          <p:nvPr/>
        </p:nvSpPr>
        <p:spPr>
          <a:xfrm>
            <a:off x="4709159" y="4308860"/>
            <a:ext cx="48768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Schoolbook" panose="02040604050505020304"/>
                <a:ea typeface="+mn-ea"/>
                <a:cs typeface="+mn-cs"/>
              </a:rPr>
              <a:t>b2</a:t>
            </a:r>
          </a:p>
        </p:txBody>
      </p:sp>
      <p:sp>
        <p:nvSpPr>
          <p:cNvPr id="14" name="Rectangle 13"/>
          <p:cNvSpPr/>
          <p:nvPr/>
        </p:nvSpPr>
        <p:spPr>
          <a:xfrm>
            <a:off x="5400039" y="4316337"/>
            <a:ext cx="48768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Schoolbook" panose="02040604050505020304"/>
                <a:ea typeface="+mn-ea"/>
                <a:cs typeface="+mn-cs"/>
              </a:rPr>
              <a:t>a2</a:t>
            </a:r>
          </a:p>
        </p:txBody>
      </p:sp>
      <p:sp>
        <p:nvSpPr>
          <p:cNvPr id="15" name="Rectangle 14"/>
          <p:cNvSpPr/>
          <p:nvPr/>
        </p:nvSpPr>
        <p:spPr>
          <a:xfrm>
            <a:off x="6537959" y="3811780"/>
            <a:ext cx="48768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Schoolbook" panose="02040604050505020304"/>
                <a:ea typeface="+mn-ea"/>
                <a:cs typeface="+mn-cs"/>
              </a:rPr>
              <a:t>a3</a:t>
            </a:r>
          </a:p>
        </p:txBody>
      </p:sp>
      <p:sp>
        <p:nvSpPr>
          <p:cNvPr id="16" name="Rectangle 15"/>
          <p:cNvSpPr/>
          <p:nvPr/>
        </p:nvSpPr>
        <p:spPr>
          <a:xfrm>
            <a:off x="7269479" y="3811780"/>
            <a:ext cx="48768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sp>
        <p:nvSpPr>
          <p:cNvPr id="17" name="Rectangle 16"/>
          <p:cNvSpPr/>
          <p:nvPr/>
        </p:nvSpPr>
        <p:spPr>
          <a:xfrm>
            <a:off x="6537959" y="4308860"/>
            <a:ext cx="48768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Schoolbook" panose="02040604050505020304"/>
                <a:ea typeface="+mn-ea"/>
                <a:cs typeface="+mn-cs"/>
              </a:rPr>
              <a:t>b2</a:t>
            </a:r>
          </a:p>
        </p:txBody>
      </p:sp>
      <p:sp>
        <p:nvSpPr>
          <p:cNvPr id="18" name="Rectangle 17"/>
          <p:cNvSpPr/>
          <p:nvPr/>
        </p:nvSpPr>
        <p:spPr>
          <a:xfrm>
            <a:off x="7269479" y="4308860"/>
            <a:ext cx="48768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sp>
        <p:nvSpPr>
          <p:cNvPr id="21" name="TextBox 20"/>
          <p:cNvSpPr txBox="1"/>
          <p:nvPr/>
        </p:nvSpPr>
        <p:spPr>
          <a:xfrm>
            <a:off x="3124200" y="2971801"/>
            <a:ext cx="327044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Schoolbook" panose="02040604050505020304"/>
                <a:ea typeface="+mn-ea"/>
                <a:cs typeface="+mn-cs"/>
              </a:rPr>
              <a:t>The Chunk Servers</a:t>
            </a:r>
          </a:p>
        </p:txBody>
      </p:sp>
      <p:sp>
        <p:nvSpPr>
          <p:cNvPr id="22" name="Rectangle 21"/>
          <p:cNvSpPr/>
          <p:nvPr/>
        </p:nvSpPr>
        <p:spPr>
          <a:xfrm>
            <a:off x="2497202" y="5105401"/>
            <a:ext cx="5503799" cy="50353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Schoolbook" panose="02040604050505020304"/>
                <a:ea typeface="+mn-ea"/>
                <a:cs typeface="+mn-cs"/>
              </a:rPr>
              <a:t>Chunk servers also serve as compute nodes</a:t>
            </a:r>
          </a:p>
        </p:txBody>
      </p:sp>
      <p:sp>
        <p:nvSpPr>
          <p:cNvPr id="23" name="Rectangle 22"/>
          <p:cNvSpPr/>
          <p:nvPr/>
        </p:nvSpPr>
        <p:spPr>
          <a:xfrm>
            <a:off x="2702558" y="5888215"/>
            <a:ext cx="4566921" cy="304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Schoolbook" panose="02040604050505020304"/>
                <a:ea typeface="+mn-ea"/>
                <a:cs typeface="+mn-cs"/>
              </a:rPr>
              <a:t>Bring computation to the data</a:t>
            </a:r>
          </a:p>
        </p:txBody>
      </p:sp>
      <p:sp>
        <p:nvSpPr>
          <p:cNvPr id="19" name="Rectangle 18"/>
          <p:cNvSpPr/>
          <p:nvPr/>
        </p:nvSpPr>
        <p:spPr>
          <a:xfrm>
            <a:off x="6446519" y="1406140"/>
            <a:ext cx="2250440" cy="38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Schoolbook" panose="02040604050505020304"/>
                <a:ea typeface="+mn-ea"/>
                <a:cs typeface="+mn-cs"/>
              </a:rPr>
              <a:t>a1         a2         a3    </a:t>
            </a:r>
          </a:p>
        </p:txBody>
      </p:sp>
      <p:sp>
        <p:nvSpPr>
          <p:cNvPr id="24" name="Rectangle 23"/>
          <p:cNvSpPr/>
          <p:nvPr/>
        </p:nvSpPr>
        <p:spPr>
          <a:xfrm>
            <a:off x="9282778" y="1371600"/>
            <a:ext cx="1309023" cy="4155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Schoolbook" panose="02040604050505020304"/>
                <a:ea typeface="+mn-ea"/>
                <a:cs typeface="+mn-cs"/>
              </a:rPr>
              <a:t>b1         b2</a:t>
            </a:r>
          </a:p>
        </p:txBody>
      </p:sp>
      <p:cxnSp>
        <p:nvCxnSpPr>
          <p:cNvPr id="28" name="Straight Connector 27"/>
          <p:cNvCxnSpPr/>
          <p:nvPr/>
        </p:nvCxnSpPr>
        <p:spPr>
          <a:xfrm>
            <a:off x="7076439" y="1406140"/>
            <a:ext cx="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7706359" y="1406140"/>
            <a:ext cx="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24" idx="0"/>
            <a:endCxn id="24" idx="2"/>
          </p:cNvCxnSpPr>
          <p:nvPr/>
        </p:nvCxnSpPr>
        <p:spPr>
          <a:xfrm>
            <a:off x="9937288" y="1371600"/>
            <a:ext cx="0" cy="415540"/>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177941" y="1808162"/>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Schoolbook" panose="02040604050505020304"/>
                <a:ea typeface="+mn-ea"/>
                <a:cs typeface="+mn-cs"/>
              </a:rPr>
              <a:t>A</a:t>
            </a:r>
          </a:p>
        </p:txBody>
      </p:sp>
      <p:sp>
        <p:nvSpPr>
          <p:cNvPr id="35" name="TextBox 34"/>
          <p:cNvSpPr txBox="1"/>
          <p:nvPr/>
        </p:nvSpPr>
        <p:spPr>
          <a:xfrm>
            <a:off x="9774678" y="1825913"/>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Schoolbook" panose="02040604050505020304"/>
                <a:ea typeface="+mn-ea"/>
                <a:cs typeface="+mn-cs"/>
              </a:rPr>
              <a:t>B</a:t>
            </a:r>
          </a:p>
        </p:txBody>
      </p:sp>
    </p:spTree>
    <p:extLst>
      <p:ext uri="{BB962C8B-B14F-4D97-AF65-F5344CB8AC3E}">
        <p14:creationId xmlns:p14="http://schemas.microsoft.com/office/powerpoint/2010/main" val="528537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1" grpId="0"/>
      <p:bldP spid="22" grpId="0" animBg="1"/>
      <p:bldP spid="2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5842" name="TextBox 3"/>
          <p:cNvSpPr txBox="1">
            <a:spLocks noChangeArrowheads="1"/>
          </p:cNvSpPr>
          <p:nvPr/>
        </p:nvSpPr>
        <p:spPr bwMode="auto">
          <a:xfrm>
            <a:off x="290495" y="6213310"/>
            <a:ext cx="1941557" cy="246221"/>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charset="0"/>
                <a:ea typeface="+mn-ea"/>
                <a:cs typeface="+mn-cs"/>
              </a:rPr>
              <a:t>(</a:t>
            </a:r>
            <a:r>
              <a:rPr kumimoji="0" lang="en-US" sz="1000" b="0" i="0" u="none" strike="noStrike" kern="1200" cap="none" spc="0" normalizeH="0" baseline="0" noProof="0" dirty="0" err="1">
                <a:ln>
                  <a:noFill/>
                </a:ln>
                <a:solidFill>
                  <a:srgbClr val="000000"/>
                </a:solidFill>
                <a:effectLst/>
                <a:uLnTx/>
                <a:uFillTx/>
                <a:latin typeface="Arial" charset="0"/>
                <a:ea typeface="+mn-ea"/>
                <a:cs typeface="+mn-cs"/>
              </a:rPr>
              <a:t>Ghemawat</a:t>
            </a:r>
            <a:r>
              <a:rPr kumimoji="0" lang="en-US" sz="1000" b="0" i="0" u="none" strike="noStrike" kern="1200" cap="none" spc="0" normalizeH="0" baseline="0" noProof="0" dirty="0">
                <a:ln>
                  <a:noFill/>
                </a:ln>
                <a:solidFill>
                  <a:srgbClr val="000000"/>
                </a:solidFill>
                <a:effectLst/>
                <a:uLnTx/>
                <a:uFillTx/>
                <a:latin typeface="Arial" charset="0"/>
                <a:ea typeface="+mn-ea"/>
                <a:cs typeface="+mn-cs"/>
              </a:rPr>
              <a:t> et al., SOSP 2003)</a:t>
            </a:r>
          </a:p>
        </p:txBody>
      </p:sp>
      <p:sp>
        <p:nvSpPr>
          <p:cNvPr id="113" name="Rectangle 6"/>
          <p:cNvSpPr>
            <a:spLocks noChangeArrowheads="1"/>
          </p:cNvSpPr>
          <p:nvPr/>
        </p:nvSpPr>
        <p:spPr bwMode="auto">
          <a:xfrm>
            <a:off x="2712720" y="2133600"/>
            <a:ext cx="1097280" cy="60960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cxnSp>
        <p:nvCxnSpPr>
          <p:cNvPr id="114" name="Straight Arrow Connector 53"/>
          <p:cNvCxnSpPr>
            <a:cxnSpLocks noChangeShapeType="1"/>
          </p:cNvCxnSpPr>
          <p:nvPr/>
        </p:nvCxnSpPr>
        <p:spPr bwMode="auto">
          <a:xfrm>
            <a:off x="3810000" y="2514601"/>
            <a:ext cx="2057400" cy="1588"/>
          </a:xfrm>
          <a:prstGeom prst="straightConnector1">
            <a:avLst/>
          </a:prstGeom>
          <a:noFill/>
          <a:ln w="9525" algn="ctr">
            <a:solidFill>
              <a:sysClr val="windowText" lastClr="000000"/>
            </a:solidFill>
            <a:round/>
            <a:headEnd/>
            <a:tailEnd type="triangle" w="med" len="med"/>
          </a:ln>
        </p:spPr>
      </p:cxnSp>
      <p:cxnSp>
        <p:nvCxnSpPr>
          <p:cNvPr id="115" name="Straight Arrow Connector 55"/>
          <p:cNvCxnSpPr>
            <a:cxnSpLocks noChangeShapeType="1"/>
          </p:cNvCxnSpPr>
          <p:nvPr/>
        </p:nvCxnSpPr>
        <p:spPr bwMode="auto">
          <a:xfrm rot="10800000">
            <a:off x="3810000" y="2667001"/>
            <a:ext cx="2057400" cy="1588"/>
          </a:xfrm>
          <a:prstGeom prst="straightConnector1">
            <a:avLst/>
          </a:prstGeom>
          <a:noFill/>
          <a:ln w="9525" algn="ctr">
            <a:solidFill>
              <a:sysClr val="windowText" lastClr="000000"/>
            </a:solidFill>
            <a:round/>
            <a:headEnd/>
            <a:tailEnd type="triangle" w="med" len="med"/>
          </a:ln>
        </p:spPr>
      </p:cxnSp>
      <p:sp>
        <p:nvSpPr>
          <p:cNvPr id="116" name="TextBox 58"/>
          <p:cNvSpPr txBox="1">
            <a:spLocks noChangeArrowheads="1"/>
          </p:cNvSpPr>
          <p:nvPr/>
        </p:nvSpPr>
        <p:spPr bwMode="auto">
          <a:xfrm>
            <a:off x="4177513" y="2286002"/>
            <a:ext cx="1406154" cy="261610"/>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(file name, block id)</a:t>
            </a:r>
          </a:p>
        </p:txBody>
      </p:sp>
      <p:sp>
        <p:nvSpPr>
          <p:cNvPr id="117" name="TextBox 59"/>
          <p:cNvSpPr txBox="1">
            <a:spLocks noChangeArrowheads="1"/>
          </p:cNvSpPr>
          <p:nvPr/>
        </p:nvSpPr>
        <p:spPr bwMode="auto">
          <a:xfrm>
            <a:off x="4025114" y="2667002"/>
            <a:ext cx="1689886" cy="261610"/>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(block id, block location)</a:t>
            </a:r>
          </a:p>
        </p:txBody>
      </p:sp>
      <p:sp>
        <p:nvSpPr>
          <p:cNvPr id="118" name="TextBox 69"/>
          <p:cNvSpPr txBox="1">
            <a:spLocks noChangeArrowheads="1"/>
          </p:cNvSpPr>
          <p:nvPr/>
        </p:nvSpPr>
        <p:spPr bwMode="auto">
          <a:xfrm>
            <a:off x="6210300" y="3581402"/>
            <a:ext cx="1680268" cy="261610"/>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instructions to datanode</a:t>
            </a:r>
          </a:p>
        </p:txBody>
      </p:sp>
      <p:sp>
        <p:nvSpPr>
          <p:cNvPr id="119" name="TextBox 70"/>
          <p:cNvSpPr txBox="1">
            <a:spLocks noChangeArrowheads="1"/>
          </p:cNvSpPr>
          <p:nvPr/>
        </p:nvSpPr>
        <p:spPr bwMode="auto">
          <a:xfrm>
            <a:off x="7113591" y="3962402"/>
            <a:ext cx="1116011" cy="261610"/>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datanode state</a:t>
            </a:r>
          </a:p>
        </p:txBody>
      </p:sp>
      <p:cxnSp>
        <p:nvCxnSpPr>
          <p:cNvPr id="120" name="Straight Arrow Connector 71"/>
          <p:cNvCxnSpPr>
            <a:cxnSpLocks noChangeShapeType="1"/>
          </p:cNvCxnSpPr>
          <p:nvPr/>
        </p:nvCxnSpPr>
        <p:spPr bwMode="auto">
          <a:xfrm>
            <a:off x="3505200" y="4343401"/>
            <a:ext cx="2362200" cy="1588"/>
          </a:xfrm>
          <a:prstGeom prst="straightConnector1">
            <a:avLst/>
          </a:prstGeom>
          <a:noFill/>
          <a:ln w="9525" algn="ctr">
            <a:solidFill>
              <a:sysClr val="windowText" lastClr="000000"/>
            </a:solidFill>
            <a:round/>
            <a:headEnd/>
            <a:tailEnd type="triangle" w="med" len="med"/>
          </a:ln>
        </p:spPr>
      </p:cxnSp>
      <p:sp>
        <p:nvSpPr>
          <p:cNvPr id="121" name="TextBox 72"/>
          <p:cNvSpPr txBox="1">
            <a:spLocks noChangeArrowheads="1"/>
          </p:cNvSpPr>
          <p:nvPr/>
        </p:nvSpPr>
        <p:spPr bwMode="auto">
          <a:xfrm>
            <a:off x="3886200" y="4081464"/>
            <a:ext cx="1499128" cy="261610"/>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(block id, byte range)</a:t>
            </a:r>
          </a:p>
        </p:txBody>
      </p:sp>
      <p:cxnSp>
        <p:nvCxnSpPr>
          <p:cNvPr id="122" name="Straight Arrow Connector 73"/>
          <p:cNvCxnSpPr>
            <a:cxnSpLocks noChangeShapeType="1"/>
          </p:cNvCxnSpPr>
          <p:nvPr/>
        </p:nvCxnSpPr>
        <p:spPr bwMode="auto">
          <a:xfrm rot="5400000" flipH="1" flipV="1">
            <a:off x="2705895" y="3542507"/>
            <a:ext cx="1600200" cy="1588"/>
          </a:xfrm>
          <a:prstGeom prst="straightConnector1">
            <a:avLst/>
          </a:prstGeom>
          <a:noFill/>
          <a:ln w="9525" algn="ctr">
            <a:solidFill>
              <a:sysClr val="windowText" lastClr="000000"/>
            </a:solidFill>
            <a:round/>
            <a:headEnd/>
            <a:tailEnd/>
          </a:ln>
        </p:spPr>
      </p:cxnSp>
      <p:cxnSp>
        <p:nvCxnSpPr>
          <p:cNvPr id="123" name="Shape 79"/>
          <p:cNvCxnSpPr>
            <a:cxnSpLocks noChangeShapeType="1"/>
          </p:cNvCxnSpPr>
          <p:nvPr/>
        </p:nvCxnSpPr>
        <p:spPr bwMode="auto">
          <a:xfrm rot="10800000">
            <a:off x="3048000" y="2743200"/>
            <a:ext cx="2819400" cy="1752600"/>
          </a:xfrm>
          <a:prstGeom prst="bentConnector2">
            <a:avLst/>
          </a:prstGeom>
          <a:noFill/>
          <a:ln w="38100" cap="flat" cmpd="sng" algn="ctr">
            <a:solidFill>
              <a:sysClr val="windowText" lastClr="000000"/>
            </a:solidFill>
            <a:prstDash val="solid"/>
            <a:headEnd/>
            <a:tailEnd type="triangle" w="med" len="med"/>
          </a:ln>
          <a:effectLst>
            <a:outerShdw blurRad="40000" dist="23000" dir="5400000" rotWithShape="0">
              <a:srgbClr val="000000">
                <a:alpha val="35000"/>
              </a:srgbClr>
            </a:outerShdw>
          </a:effectLst>
        </p:spPr>
      </p:cxnSp>
      <p:sp>
        <p:nvSpPr>
          <p:cNvPr id="124" name="TextBox 84"/>
          <p:cNvSpPr txBox="1">
            <a:spLocks noChangeArrowheads="1"/>
          </p:cNvSpPr>
          <p:nvPr/>
        </p:nvSpPr>
        <p:spPr bwMode="auto">
          <a:xfrm>
            <a:off x="3886202" y="4495802"/>
            <a:ext cx="827471" cy="261610"/>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block data</a:t>
            </a:r>
          </a:p>
        </p:txBody>
      </p:sp>
      <p:sp>
        <p:nvSpPr>
          <p:cNvPr id="125" name="Rectangle 6"/>
          <p:cNvSpPr>
            <a:spLocks noChangeArrowheads="1"/>
          </p:cNvSpPr>
          <p:nvPr/>
        </p:nvSpPr>
        <p:spPr bwMode="auto">
          <a:xfrm>
            <a:off x="5867400" y="1828800"/>
            <a:ext cx="3124200" cy="175260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ysClr val="windowText" lastClr="000000"/>
              </a:solidFill>
              <a:effectLst/>
              <a:uLnTx/>
              <a:uFillTx/>
              <a:latin typeface="Arial" pitchFamily="34" charset="0"/>
              <a:ea typeface="+mn-ea"/>
              <a:cs typeface="Arial" pitchFamily="34" charset="0"/>
            </a:endParaRPr>
          </a:p>
        </p:txBody>
      </p:sp>
      <p:sp>
        <p:nvSpPr>
          <p:cNvPr id="126" name="Rectangle 4"/>
          <p:cNvSpPr>
            <a:spLocks noChangeArrowheads="1"/>
          </p:cNvSpPr>
          <p:nvPr/>
        </p:nvSpPr>
        <p:spPr bwMode="auto">
          <a:xfrm>
            <a:off x="5867400" y="1828800"/>
            <a:ext cx="3124200" cy="304800"/>
          </a:xfrm>
          <a:prstGeom prst="rect">
            <a:avLst/>
          </a:prstGeom>
          <a:solidFill>
            <a:sysClr val="windowText" lastClr="000000"/>
          </a:solid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B050"/>
                </a:solidFill>
                <a:effectLst/>
                <a:uLnTx/>
                <a:uFillTx/>
                <a:latin typeface="Arial" pitchFamily="34" charset="0"/>
                <a:ea typeface="+mn-ea"/>
                <a:cs typeface="Arial" pitchFamily="34" charset="0"/>
              </a:rPr>
              <a:t>HDFS namenode</a:t>
            </a:r>
          </a:p>
        </p:txBody>
      </p:sp>
      <p:grpSp>
        <p:nvGrpSpPr>
          <p:cNvPr id="127" name="Group 126"/>
          <p:cNvGrpSpPr/>
          <p:nvPr/>
        </p:nvGrpSpPr>
        <p:grpSpPr>
          <a:xfrm>
            <a:off x="5867401" y="3581404"/>
            <a:ext cx="1676401" cy="1676402"/>
            <a:chOff x="1828800" y="4572000"/>
            <a:chExt cx="1676400" cy="1676401"/>
          </a:xfrm>
        </p:grpSpPr>
        <p:grpSp>
          <p:nvGrpSpPr>
            <p:cNvPr id="128" name="Group 80"/>
            <p:cNvGrpSpPr/>
            <p:nvPr/>
          </p:nvGrpSpPr>
          <p:grpSpPr>
            <a:xfrm>
              <a:off x="1828800" y="5257800"/>
              <a:ext cx="1676400" cy="990601"/>
              <a:chOff x="1828800" y="5257800"/>
              <a:chExt cx="1676400" cy="990601"/>
            </a:xfrm>
          </p:grpSpPr>
          <p:sp>
            <p:nvSpPr>
              <p:cNvPr id="131" name="Rectangle 6"/>
              <p:cNvSpPr>
                <a:spLocks noChangeArrowheads="1"/>
              </p:cNvSpPr>
              <p:nvPr/>
            </p:nvSpPr>
            <p:spPr bwMode="auto">
              <a:xfrm>
                <a:off x="1828800" y="5257800"/>
                <a:ext cx="1676400" cy="60960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sp>
            <p:nvSpPr>
              <p:cNvPr id="132" name="Rectangle 4"/>
              <p:cNvSpPr>
                <a:spLocks noChangeArrowheads="1"/>
              </p:cNvSpPr>
              <p:nvPr/>
            </p:nvSpPr>
            <p:spPr bwMode="auto">
              <a:xfrm>
                <a:off x="1828800" y="5257800"/>
                <a:ext cx="1676400" cy="304800"/>
              </a:xfrm>
              <a:prstGeom prst="rect">
                <a:avLst/>
              </a:prstGeom>
              <a:solidFill>
                <a:sysClr val="windowText" lastClr="000000"/>
              </a:solid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B0F0"/>
                    </a:solidFill>
                    <a:effectLst/>
                    <a:uLnTx/>
                    <a:uFillTx/>
                    <a:latin typeface="Arial" pitchFamily="34" charset="0"/>
                    <a:ea typeface="+mn-ea"/>
                    <a:cs typeface="Arial" pitchFamily="34" charset="0"/>
                  </a:rPr>
                  <a:t>HDFS datanode</a:t>
                </a:r>
              </a:p>
            </p:txBody>
          </p:sp>
          <p:sp>
            <p:nvSpPr>
              <p:cNvPr id="133" name="Rectangle 35"/>
              <p:cNvSpPr>
                <a:spLocks noChangeArrowheads="1"/>
              </p:cNvSpPr>
              <p:nvPr/>
            </p:nvSpPr>
            <p:spPr bwMode="auto">
              <a:xfrm>
                <a:off x="1828800" y="5562600"/>
                <a:ext cx="1676400" cy="304800"/>
              </a:xfrm>
              <a:prstGeom prst="rect">
                <a:avLst/>
              </a:prstGeom>
              <a:no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Arial" pitchFamily="34" charset="0"/>
                    <a:ea typeface="+mn-ea"/>
                    <a:cs typeface="Arial" pitchFamily="34" charset="0"/>
                  </a:rPr>
                  <a:t>Linux file system</a:t>
                </a:r>
              </a:p>
            </p:txBody>
          </p:sp>
          <p:sp>
            <p:nvSpPr>
              <p:cNvPr id="134" name="Flowchart: Magnetic Disk 36"/>
              <p:cNvSpPr>
                <a:spLocks noChangeArrowheads="1"/>
              </p:cNvSpPr>
              <p:nvPr/>
            </p:nvSpPr>
            <p:spPr bwMode="auto">
              <a:xfrm>
                <a:off x="2099102" y="5943601"/>
                <a:ext cx="304800" cy="304800"/>
              </a:xfrm>
              <a:prstGeom prst="flowChartMagneticDisk">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sp>
            <p:nvSpPr>
              <p:cNvPr id="135" name="Flowchart: Magnetic Disk 37"/>
              <p:cNvSpPr>
                <a:spLocks noChangeArrowheads="1"/>
              </p:cNvSpPr>
              <p:nvPr/>
            </p:nvSpPr>
            <p:spPr bwMode="auto">
              <a:xfrm>
                <a:off x="2632502" y="5943601"/>
                <a:ext cx="304800" cy="304800"/>
              </a:xfrm>
              <a:prstGeom prst="flowChartMagneticDisk">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cxnSp>
            <p:nvCxnSpPr>
              <p:cNvPr id="136" name="Straight Connector 38"/>
              <p:cNvCxnSpPr>
                <a:cxnSpLocks noChangeShapeType="1"/>
              </p:cNvCxnSpPr>
              <p:nvPr/>
            </p:nvCxnSpPr>
            <p:spPr bwMode="auto">
              <a:xfrm rot="5400000">
                <a:off x="1832403" y="5981701"/>
                <a:ext cx="228600" cy="3175"/>
              </a:xfrm>
              <a:prstGeom prst="line">
                <a:avLst/>
              </a:prstGeom>
              <a:noFill/>
              <a:ln w="9525" algn="ctr">
                <a:solidFill>
                  <a:sysClr val="windowText" lastClr="000000"/>
                </a:solidFill>
                <a:round/>
                <a:headEnd/>
                <a:tailEnd/>
              </a:ln>
            </p:spPr>
          </p:cxnSp>
          <p:cxnSp>
            <p:nvCxnSpPr>
              <p:cNvPr id="137" name="Straight Connector 39"/>
              <p:cNvCxnSpPr>
                <a:cxnSpLocks noChangeShapeType="1"/>
                <a:endCxn id="134" idx="2"/>
              </p:cNvCxnSpPr>
              <p:nvPr/>
            </p:nvCxnSpPr>
            <p:spPr bwMode="auto">
              <a:xfrm>
                <a:off x="1946702" y="6096001"/>
                <a:ext cx="152400" cy="1588"/>
              </a:xfrm>
              <a:prstGeom prst="line">
                <a:avLst/>
              </a:prstGeom>
              <a:noFill/>
              <a:ln w="9525" algn="ctr">
                <a:solidFill>
                  <a:sysClr val="windowText" lastClr="000000"/>
                </a:solidFill>
                <a:round/>
                <a:headEnd/>
                <a:tailEnd/>
              </a:ln>
            </p:spPr>
          </p:cxnSp>
          <p:cxnSp>
            <p:nvCxnSpPr>
              <p:cNvPr id="138" name="Straight Connector 40"/>
              <p:cNvCxnSpPr>
                <a:cxnSpLocks noChangeShapeType="1"/>
              </p:cNvCxnSpPr>
              <p:nvPr/>
            </p:nvCxnSpPr>
            <p:spPr bwMode="auto">
              <a:xfrm rot="5400000">
                <a:off x="2365803" y="5980113"/>
                <a:ext cx="228600" cy="3175"/>
              </a:xfrm>
              <a:prstGeom prst="line">
                <a:avLst/>
              </a:prstGeom>
              <a:noFill/>
              <a:ln w="9525" algn="ctr">
                <a:solidFill>
                  <a:sysClr val="windowText" lastClr="000000"/>
                </a:solidFill>
                <a:round/>
                <a:headEnd/>
                <a:tailEnd/>
              </a:ln>
            </p:spPr>
          </p:cxnSp>
          <p:cxnSp>
            <p:nvCxnSpPr>
              <p:cNvPr id="139" name="Straight Connector 41"/>
              <p:cNvCxnSpPr>
                <a:cxnSpLocks noChangeShapeType="1"/>
              </p:cNvCxnSpPr>
              <p:nvPr/>
            </p:nvCxnSpPr>
            <p:spPr bwMode="auto">
              <a:xfrm>
                <a:off x="2480102" y="6094414"/>
                <a:ext cx="152400" cy="3175"/>
              </a:xfrm>
              <a:prstGeom prst="line">
                <a:avLst/>
              </a:prstGeom>
              <a:noFill/>
              <a:ln w="9525" algn="ctr">
                <a:solidFill>
                  <a:sysClr val="windowText" lastClr="000000"/>
                </a:solidFill>
                <a:round/>
                <a:headEnd/>
                <a:tailEnd/>
              </a:ln>
            </p:spPr>
          </p:cxnSp>
          <p:sp>
            <p:nvSpPr>
              <p:cNvPr id="140" name="TextBox 42"/>
              <p:cNvSpPr txBox="1">
                <a:spLocks noChangeArrowheads="1"/>
              </p:cNvSpPr>
              <p:nvPr/>
            </p:nvSpPr>
            <p:spPr bwMode="auto">
              <a:xfrm>
                <a:off x="3089703" y="5910263"/>
                <a:ext cx="364202" cy="307777"/>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rPr>
                  <a:t>…</a:t>
                </a:r>
              </a:p>
            </p:txBody>
          </p:sp>
        </p:grpSp>
        <p:cxnSp>
          <p:nvCxnSpPr>
            <p:cNvPr id="129" name="Straight Arrow Connector 60"/>
            <p:cNvCxnSpPr>
              <a:cxnSpLocks noChangeShapeType="1"/>
            </p:cNvCxnSpPr>
            <p:nvPr/>
          </p:nvCxnSpPr>
          <p:spPr bwMode="auto">
            <a:xfrm rot="5400000">
              <a:off x="1866106" y="4914106"/>
              <a:ext cx="685800" cy="1587"/>
            </a:xfrm>
            <a:prstGeom prst="straightConnector1">
              <a:avLst/>
            </a:prstGeom>
            <a:noFill/>
            <a:ln w="9525" algn="ctr">
              <a:solidFill>
                <a:sysClr val="windowText" lastClr="000000"/>
              </a:solidFill>
              <a:round/>
              <a:headEnd/>
              <a:tailEnd type="triangle" w="med" len="med"/>
            </a:ln>
          </p:spPr>
        </p:cxnSp>
        <p:cxnSp>
          <p:nvCxnSpPr>
            <p:cNvPr id="130" name="Straight Arrow Connector 64"/>
            <p:cNvCxnSpPr>
              <a:cxnSpLocks noChangeShapeType="1"/>
            </p:cNvCxnSpPr>
            <p:nvPr/>
          </p:nvCxnSpPr>
          <p:spPr bwMode="auto">
            <a:xfrm rot="5400000" flipH="1" flipV="1">
              <a:off x="1713706" y="4914106"/>
              <a:ext cx="685800" cy="1587"/>
            </a:xfrm>
            <a:prstGeom prst="straightConnector1">
              <a:avLst/>
            </a:prstGeom>
            <a:noFill/>
            <a:ln w="9525" algn="ctr">
              <a:solidFill>
                <a:sysClr val="windowText" lastClr="000000"/>
              </a:solidFill>
              <a:round/>
              <a:headEnd/>
              <a:tailEnd type="triangle" w="med" len="med"/>
            </a:ln>
          </p:spPr>
        </p:cxnSp>
      </p:grpSp>
      <p:grpSp>
        <p:nvGrpSpPr>
          <p:cNvPr id="141" name="Group 140"/>
          <p:cNvGrpSpPr/>
          <p:nvPr/>
        </p:nvGrpSpPr>
        <p:grpSpPr>
          <a:xfrm>
            <a:off x="8001001" y="3581404"/>
            <a:ext cx="1676401" cy="1676402"/>
            <a:chOff x="1828800" y="4572000"/>
            <a:chExt cx="1676400" cy="1676401"/>
          </a:xfrm>
        </p:grpSpPr>
        <p:grpSp>
          <p:nvGrpSpPr>
            <p:cNvPr id="142" name="Group 80"/>
            <p:cNvGrpSpPr/>
            <p:nvPr/>
          </p:nvGrpSpPr>
          <p:grpSpPr>
            <a:xfrm>
              <a:off x="1828800" y="5257800"/>
              <a:ext cx="1676400" cy="990601"/>
              <a:chOff x="1828800" y="5257800"/>
              <a:chExt cx="1676400" cy="990601"/>
            </a:xfrm>
          </p:grpSpPr>
          <p:sp>
            <p:nvSpPr>
              <p:cNvPr id="145" name="Rectangle 6"/>
              <p:cNvSpPr>
                <a:spLocks noChangeArrowheads="1"/>
              </p:cNvSpPr>
              <p:nvPr/>
            </p:nvSpPr>
            <p:spPr bwMode="auto">
              <a:xfrm>
                <a:off x="1828800" y="5257800"/>
                <a:ext cx="1676400" cy="60960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sp>
            <p:nvSpPr>
              <p:cNvPr id="146" name="Rectangle 4"/>
              <p:cNvSpPr>
                <a:spLocks noChangeArrowheads="1"/>
              </p:cNvSpPr>
              <p:nvPr/>
            </p:nvSpPr>
            <p:spPr bwMode="auto">
              <a:xfrm>
                <a:off x="1828800" y="5257800"/>
                <a:ext cx="1676400" cy="304800"/>
              </a:xfrm>
              <a:prstGeom prst="rect">
                <a:avLst/>
              </a:prstGeom>
              <a:solidFill>
                <a:sysClr val="windowText" lastClr="000000"/>
              </a:solid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B0F0"/>
                    </a:solidFill>
                    <a:effectLst/>
                    <a:uLnTx/>
                    <a:uFillTx/>
                    <a:latin typeface="Arial" pitchFamily="34" charset="0"/>
                    <a:ea typeface="+mn-ea"/>
                    <a:cs typeface="Arial" pitchFamily="34" charset="0"/>
                  </a:rPr>
                  <a:t>HDFS datanode</a:t>
                </a:r>
              </a:p>
            </p:txBody>
          </p:sp>
          <p:sp>
            <p:nvSpPr>
              <p:cNvPr id="147" name="Rectangle 35"/>
              <p:cNvSpPr>
                <a:spLocks noChangeArrowheads="1"/>
              </p:cNvSpPr>
              <p:nvPr/>
            </p:nvSpPr>
            <p:spPr bwMode="auto">
              <a:xfrm>
                <a:off x="1828800" y="5562600"/>
                <a:ext cx="1676400" cy="304800"/>
              </a:xfrm>
              <a:prstGeom prst="rect">
                <a:avLst/>
              </a:prstGeom>
              <a:no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Arial" pitchFamily="34" charset="0"/>
                    <a:ea typeface="+mn-ea"/>
                    <a:cs typeface="Arial" pitchFamily="34" charset="0"/>
                  </a:rPr>
                  <a:t>Linux file system</a:t>
                </a:r>
              </a:p>
            </p:txBody>
          </p:sp>
          <p:sp>
            <p:nvSpPr>
              <p:cNvPr id="148" name="Flowchart: Magnetic Disk 36"/>
              <p:cNvSpPr>
                <a:spLocks noChangeArrowheads="1"/>
              </p:cNvSpPr>
              <p:nvPr/>
            </p:nvSpPr>
            <p:spPr bwMode="auto">
              <a:xfrm>
                <a:off x="2099102" y="5943601"/>
                <a:ext cx="304800" cy="304800"/>
              </a:xfrm>
              <a:prstGeom prst="flowChartMagneticDisk">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sp>
            <p:nvSpPr>
              <p:cNvPr id="149" name="Flowchart: Magnetic Disk 37"/>
              <p:cNvSpPr>
                <a:spLocks noChangeArrowheads="1"/>
              </p:cNvSpPr>
              <p:nvPr/>
            </p:nvSpPr>
            <p:spPr bwMode="auto">
              <a:xfrm>
                <a:off x="2632502" y="5943601"/>
                <a:ext cx="304800" cy="304800"/>
              </a:xfrm>
              <a:prstGeom prst="flowChartMagneticDisk">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cxnSp>
            <p:nvCxnSpPr>
              <p:cNvPr id="150" name="Straight Connector 38"/>
              <p:cNvCxnSpPr>
                <a:cxnSpLocks noChangeShapeType="1"/>
              </p:cNvCxnSpPr>
              <p:nvPr/>
            </p:nvCxnSpPr>
            <p:spPr bwMode="auto">
              <a:xfrm rot="5400000">
                <a:off x="1832403" y="5981701"/>
                <a:ext cx="228600" cy="3175"/>
              </a:xfrm>
              <a:prstGeom prst="line">
                <a:avLst/>
              </a:prstGeom>
              <a:noFill/>
              <a:ln w="9525" algn="ctr">
                <a:solidFill>
                  <a:sysClr val="windowText" lastClr="000000"/>
                </a:solidFill>
                <a:round/>
                <a:headEnd/>
                <a:tailEnd/>
              </a:ln>
            </p:spPr>
          </p:cxnSp>
          <p:cxnSp>
            <p:nvCxnSpPr>
              <p:cNvPr id="151" name="Straight Connector 39"/>
              <p:cNvCxnSpPr>
                <a:cxnSpLocks noChangeShapeType="1"/>
                <a:endCxn id="148" idx="2"/>
              </p:cNvCxnSpPr>
              <p:nvPr/>
            </p:nvCxnSpPr>
            <p:spPr bwMode="auto">
              <a:xfrm>
                <a:off x="1946702" y="6096001"/>
                <a:ext cx="152400" cy="1588"/>
              </a:xfrm>
              <a:prstGeom prst="line">
                <a:avLst/>
              </a:prstGeom>
              <a:noFill/>
              <a:ln w="9525" algn="ctr">
                <a:solidFill>
                  <a:sysClr val="windowText" lastClr="000000"/>
                </a:solidFill>
                <a:round/>
                <a:headEnd/>
                <a:tailEnd/>
              </a:ln>
            </p:spPr>
          </p:cxnSp>
          <p:cxnSp>
            <p:nvCxnSpPr>
              <p:cNvPr id="152" name="Straight Connector 40"/>
              <p:cNvCxnSpPr>
                <a:cxnSpLocks noChangeShapeType="1"/>
              </p:cNvCxnSpPr>
              <p:nvPr/>
            </p:nvCxnSpPr>
            <p:spPr bwMode="auto">
              <a:xfrm rot="5400000">
                <a:off x="2365803" y="5980113"/>
                <a:ext cx="228600" cy="3175"/>
              </a:xfrm>
              <a:prstGeom prst="line">
                <a:avLst/>
              </a:prstGeom>
              <a:noFill/>
              <a:ln w="9525" algn="ctr">
                <a:solidFill>
                  <a:sysClr val="windowText" lastClr="000000"/>
                </a:solidFill>
                <a:round/>
                <a:headEnd/>
                <a:tailEnd/>
              </a:ln>
            </p:spPr>
          </p:cxnSp>
          <p:cxnSp>
            <p:nvCxnSpPr>
              <p:cNvPr id="153" name="Straight Connector 41"/>
              <p:cNvCxnSpPr>
                <a:cxnSpLocks noChangeShapeType="1"/>
              </p:cNvCxnSpPr>
              <p:nvPr/>
            </p:nvCxnSpPr>
            <p:spPr bwMode="auto">
              <a:xfrm>
                <a:off x="2480102" y="6094414"/>
                <a:ext cx="152400" cy="3175"/>
              </a:xfrm>
              <a:prstGeom prst="line">
                <a:avLst/>
              </a:prstGeom>
              <a:noFill/>
              <a:ln w="9525" algn="ctr">
                <a:solidFill>
                  <a:sysClr val="windowText" lastClr="000000"/>
                </a:solidFill>
                <a:round/>
                <a:headEnd/>
                <a:tailEnd/>
              </a:ln>
            </p:spPr>
          </p:cxnSp>
          <p:sp>
            <p:nvSpPr>
              <p:cNvPr id="154" name="TextBox 42"/>
              <p:cNvSpPr txBox="1">
                <a:spLocks noChangeArrowheads="1"/>
              </p:cNvSpPr>
              <p:nvPr/>
            </p:nvSpPr>
            <p:spPr bwMode="auto">
              <a:xfrm>
                <a:off x="3089703" y="5910263"/>
                <a:ext cx="364202" cy="307777"/>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rPr>
                  <a:t>…</a:t>
                </a:r>
              </a:p>
            </p:txBody>
          </p:sp>
        </p:grpSp>
        <p:cxnSp>
          <p:nvCxnSpPr>
            <p:cNvPr id="143" name="Straight Arrow Connector 60"/>
            <p:cNvCxnSpPr>
              <a:cxnSpLocks noChangeShapeType="1"/>
            </p:cNvCxnSpPr>
            <p:nvPr/>
          </p:nvCxnSpPr>
          <p:spPr bwMode="auto">
            <a:xfrm rot="5400000">
              <a:off x="1866106" y="4914106"/>
              <a:ext cx="685800" cy="1587"/>
            </a:xfrm>
            <a:prstGeom prst="straightConnector1">
              <a:avLst/>
            </a:prstGeom>
            <a:noFill/>
            <a:ln w="9525" algn="ctr">
              <a:solidFill>
                <a:sysClr val="windowText" lastClr="000000"/>
              </a:solidFill>
              <a:round/>
              <a:headEnd/>
              <a:tailEnd type="triangle" w="med" len="med"/>
            </a:ln>
          </p:spPr>
        </p:cxnSp>
        <p:cxnSp>
          <p:nvCxnSpPr>
            <p:cNvPr id="144" name="Straight Arrow Connector 64"/>
            <p:cNvCxnSpPr>
              <a:cxnSpLocks noChangeShapeType="1"/>
            </p:cNvCxnSpPr>
            <p:nvPr/>
          </p:nvCxnSpPr>
          <p:spPr bwMode="auto">
            <a:xfrm rot="5400000" flipH="1" flipV="1">
              <a:off x="1713706" y="4914106"/>
              <a:ext cx="685800" cy="1587"/>
            </a:xfrm>
            <a:prstGeom prst="straightConnector1">
              <a:avLst/>
            </a:prstGeom>
            <a:noFill/>
            <a:ln w="9525" algn="ctr">
              <a:solidFill>
                <a:sysClr val="windowText" lastClr="000000"/>
              </a:solidFill>
              <a:round/>
              <a:headEnd/>
              <a:tailEnd type="triangle" w="med" len="med"/>
            </a:ln>
          </p:spPr>
        </p:cxnSp>
      </p:grpSp>
      <p:sp>
        <p:nvSpPr>
          <p:cNvPr id="155" name="TextBox 9"/>
          <p:cNvSpPr txBox="1">
            <a:spLocks noChangeArrowheads="1"/>
          </p:cNvSpPr>
          <p:nvPr/>
        </p:nvSpPr>
        <p:spPr bwMode="auto">
          <a:xfrm>
            <a:off x="6172202" y="2359027"/>
            <a:ext cx="1266693" cy="276999"/>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rPr>
              <a:t>File namespace</a:t>
            </a:r>
            <a:endParaRPr kumimoji="0" lang="en-US" sz="1400" b="0" i="0" u="none" strike="noStrike" kern="1200" cap="none" spc="0" normalizeH="0" baseline="0" noProof="0" dirty="0">
              <a:ln>
                <a:noFill/>
              </a:ln>
              <a:solidFill>
                <a:srgbClr val="000000"/>
              </a:solidFill>
              <a:effectLst/>
              <a:uLnTx/>
              <a:uFillTx/>
              <a:latin typeface="Arial" pitchFamily="34" charset="0"/>
              <a:ea typeface="+mn-ea"/>
              <a:cs typeface="Arial" pitchFamily="34" charset="0"/>
            </a:endParaRPr>
          </a:p>
        </p:txBody>
      </p:sp>
      <p:sp>
        <p:nvSpPr>
          <p:cNvPr id="156" name="TextBox 10"/>
          <p:cNvSpPr txBox="1">
            <a:spLocks noChangeArrowheads="1"/>
          </p:cNvSpPr>
          <p:nvPr/>
        </p:nvSpPr>
        <p:spPr bwMode="auto">
          <a:xfrm>
            <a:off x="7800976" y="2162177"/>
            <a:ext cx="705642" cy="276999"/>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rPr>
              <a:t>/</a:t>
            </a:r>
            <a:r>
              <a:rPr kumimoji="0" lang="en-US" sz="1200" b="0" i="0" u="none" strike="noStrike" kern="1200" cap="none" spc="0" normalizeH="0" baseline="0" noProof="0" dirty="0" err="1">
                <a:ln>
                  <a:noFill/>
                </a:ln>
                <a:solidFill>
                  <a:srgbClr val="000000"/>
                </a:solidFill>
                <a:effectLst/>
                <a:uLnTx/>
                <a:uFillTx/>
                <a:latin typeface="Arial" pitchFamily="34" charset="0"/>
                <a:ea typeface="+mn-ea"/>
                <a:cs typeface="Arial" pitchFamily="34" charset="0"/>
              </a:rPr>
              <a:t>foo</a:t>
            </a:r>
            <a:r>
              <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rPr>
              <a:t>/bar</a:t>
            </a:r>
            <a:endParaRPr kumimoji="0" lang="en-US" sz="1400" b="0" i="0" u="none" strike="noStrike" kern="1200" cap="none" spc="0" normalizeH="0" baseline="0" noProof="0" dirty="0">
              <a:ln>
                <a:noFill/>
              </a:ln>
              <a:solidFill>
                <a:srgbClr val="000000"/>
              </a:solidFill>
              <a:effectLst/>
              <a:uLnTx/>
              <a:uFillTx/>
              <a:latin typeface="Arial" pitchFamily="34" charset="0"/>
              <a:ea typeface="+mn-ea"/>
              <a:cs typeface="Arial" pitchFamily="34" charset="0"/>
            </a:endParaRPr>
          </a:p>
        </p:txBody>
      </p:sp>
      <p:cxnSp>
        <p:nvCxnSpPr>
          <p:cNvPr id="157" name="Straight Connector 11"/>
          <p:cNvCxnSpPr>
            <a:cxnSpLocks noChangeShapeType="1"/>
          </p:cNvCxnSpPr>
          <p:nvPr/>
        </p:nvCxnSpPr>
        <p:spPr bwMode="auto">
          <a:xfrm rot="5400000">
            <a:off x="6473825" y="2640014"/>
            <a:ext cx="411163" cy="404813"/>
          </a:xfrm>
          <a:prstGeom prst="line">
            <a:avLst/>
          </a:prstGeom>
          <a:noFill/>
          <a:ln w="25400" cap="flat" cmpd="sng" algn="ctr">
            <a:solidFill>
              <a:sysClr val="windowText" lastClr="000000"/>
            </a:solidFill>
            <a:prstDash val="solid"/>
            <a:headEnd/>
            <a:tailEnd/>
          </a:ln>
          <a:effectLst>
            <a:outerShdw blurRad="40000" dist="20000" dir="5400000" rotWithShape="0">
              <a:srgbClr val="000000">
                <a:alpha val="38000"/>
              </a:srgbClr>
            </a:outerShdw>
          </a:effectLst>
        </p:spPr>
      </p:cxnSp>
      <p:cxnSp>
        <p:nvCxnSpPr>
          <p:cNvPr id="158" name="Straight Connector 12"/>
          <p:cNvCxnSpPr>
            <a:cxnSpLocks noChangeShapeType="1"/>
          </p:cNvCxnSpPr>
          <p:nvPr/>
        </p:nvCxnSpPr>
        <p:spPr bwMode="auto">
          <a:xfrm rot="16200000" flipH="1">
            <a:off x="6886576" y="2625727"/>
            <a:ext cx="258763" cy="280987"/>
          </a:xfrm>
          <a:prstGeom prst="line">
            <a:avLst/>
          </a:prstGeom>
          <a:noFill/>
          <a:ln w="25400" cap="flat" cmpd="sng" algn="ctr">
            <a:solidFill>
              <a:sysClr val="windowText" lastClr="000000"/>
            </a:solidFill>
            <a:prstDash val="solid"/>
            <a:headEnd/>
            <a:tailEnd/>
          </a:ln>
          <a:effectLst>
            <a:outerShdw blurRad="40000" dist="20000" dir="5400000" rotWithShape="0">
              <a:srgbClr val="000000">
                <a:alpha val="38000"/>
              </a:srgbClr>
            </a:outerShdw>
          </a:effectLst>
        </p:spPr>
      </p:cxnSp>
      <p:cxnSp>
        <p:nvCxnSpPr>
          <p:cNvPr id="159" name="Straight Connector 13"/>
          <p:cNvCxnSpPr>
            <a:cxnSpLocks noChangeShapeType="1"/>
          </p:cNvCxnSpPr>
          <p:nvPr/>
        </p:nvCxnSpPr>
        <p:spPr bwMode="auto">
          <a:xfrm rot="16200000" flipH="1">
            <a:off x="6819900" y="3238500"/>
            <a:ext cx="228600" cy="0"/>
          </a:xfrm>
          <a:prstGeom prst="line">
            <a:avLst/>
          </a:prstGeom>
          <a:noFill/>
          <a:ln w="25400" cap="flat" cmpd="sng" algn="ctr">
            <a:solidFill>
              <a:sysClr val="windowText" lastClr="000000"/>
            </a:solidFill>
            <a:prstDash val="solid"/>
            <a:headEnd/>
            <a:tailEnd/>
          </a:ln>
          <a:effectLst>
            <a:outerShdw blurRad="40000" dist="20000" dir="5400000" rotWithShape="0">
              <a:srgbClr val="000000">
                <a:alpha val="38000"/>
              </a:srgbClr>
            </a:outerShdw>
          </a:effectLst>
        </p:spPr>
      </p:cxnSp>
      <p:cxnSp>
        <p:nvCxnSpPr>
          <p:cNvPr id="160" name="Straight Connector 14"/>
          <p:cNvCxnSpPr>
            <a:cxnSpLocks noChangeShapeType="1"/>
          </p:cNvCxnSpPr>
          <p:nvPr/>
        </p:nvCxnSpPr>
        <p:spPr bwMode="auto">
          <a:xfrm rot="10800000" flipV="1">
            <a:off x="6705600" y="3124200"/>
            <a:ext cx="228600" cy="228600"/>
          </a:xfrm>
          <a:prstGeom prst="line">
            <a:avLst/>
          </a:prstGeom>
          <a:noFill/>
          <a:ln w="25400" cap="flat" cmpd="sng" algn="ctr">
            <a:solidFill>
              <a:sysClr val="windowText" lastClr="000000"/>
            </a:solidFill>
            <a:prstDash val="solid"/>
            <a:headEnd/>
            <a:tailEnd/>
          </a:ln>
          <a:effectLst>
            <a:outerShdw blurRad="40000" dist="20000" dir="5400000" rotWithShape="0">
              <a:srgbClr val="000000">
                <a:alpha val="38000"/>
              </a:srgbClr>
            </a:outerShdw>
          </a:effectLst>
        </p:spPr>
      </p:cxnSp>
      <p:cxnSp>
        <p:nvCxnSpPr>
          <p:cNvPr id="161" name="Straight Connector 15"/>
          <p:cNvCxnSpPr>
            <a:cxnSpLocks noChangeShapeType="1"/>
          </p:cNvCxnSpPr>
          <p:nvPr/>
        </p:nvCxnSpPr>
        <p:spPr bwMode="auto">
          <a:xfrm rot="16200000" flipH="1">
            <a:off x="6765925" y="2755900"/>
            <a:ext cx="228600" cy="0"/>
          </a:xfrm>
          <a:prstGeom prst="line">
            <a:avLst/>
          </a:prstGeom>
          <a:noFill/>
          <a:ln w="25400" cap="flat" cmpd="sng" algn="ctr">
            <a:solidFill>
              <a:sysClr val="windowText" lastClr="000000"/>
            </a:solidFill>
            <a:prstDash val="solid"/>
            <a:headEnd/>
            <a:tailEnd/>
          </a:ln>
          <a:effectLst>
            <a:outerShdw blurRad="40000" dist="20000" dir="5400000" rotWithShape="0">
              <a:srgbClr val="000000">
                <a:alpha val="38000"/>
              </a:srgbClr>
            </a:outerShdw>
          </a:effectLst>
        </p:spPr>
      </p:cxnSp>
      <p:cxnSp>
        <p:nvCxnSpPr>
          <p:cNvPr id="162" name="Straight Connector 16"/>
          <p:cNvCxnSpPr>
            <a:cxnSpLocks noChangeShapeType="1"/>
          </p:cNvCxnSpPr>
          <p:nvPr/>
        </p:nvCxnSpPr>
        <p:spPr bwMode="auto">
          <a:xfrm rot="16200000" flipH="1">
            <a:off x="6556375" y="2979739"/>
            <a:ext cx="228600" cy="0"/>
          </a:xfrm>
          <a:prstGeom prst="line">
            <a:avLst/>
          </a:prstGeom>
          <a:noFill/>
          <a:ln w="25400" cap="flat" cmpd="sng" algn="ctr">
            <a:solidFill>
              <a:sysClr val="windowText" lastClr="000000"/>
            </a:solidFill>
            <a:prstDash val="solid"/>
            <a:headEnd/>
            <a:tailEnd/>
          </a:ln>
          <a:effectLst>
            <a:outerShdw blurRad="40000" dist="20000" dir="5400000" rotWithShape="0">
              <a:srgbClr val="000000">
                <a:alpha val="38000"/>
              </a:srgbClr>
            </a:outerShdw>
          </a:effectLst>
        </p:spPr>
      </p:cxnSp>
      <p:sp>
        <p:nvSpPr>
          <p:cNvPr id="163" name="Rectangle 21"/>
          <p:cNvSpPr>
            <a:spLocks noChangeArrowheads="1"/>
          </p:cNvSpPr>
          <p:nvPr/>
        </p:nvSpPr>
        <p:spPr bwMode="auto">
          <a:xfrm>
            <a:off x="7924800" y="2438400"/>
            <a:ext cx="838200" cy="22860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ysClr val="windowText" lastClr="000000"/>
                </a:solidFill>
                <a:effectLst/>
                <a:uLnTx/>
                <a:uFillTx/>
                <a:latin typeface="Arial" pitchFamily="34" charset="0"/>
                <a:ea typeface="+mn-ea"/>
                <a:cs typeface="Arial" pitchFamily="34" charset="0"/>
              </a:rPr>
              <a:t>block 3df2</a:t>
            </a:r>
          </a:p>
        </p:txBody>
      </p:sp>
      <p:cxnSp>
        <p:nvCxnSpPr>
          <p:cNvPr id="164" name="Straight Connector 26"/>
          <p:cNvCxnSpPr>
            <a:cxnSpLocks noChangeShapeType="1"/>
          </p:cNvCxnSpPr>
          <p:nvPr/>
        </p:nvCxnSpPr>
        <p:spPr bwMode="auto">
          <a:xfrm>
            <a:off x="6665913" y="2865437"/>
            <a:ext cx="533400" cy="487363"/>
          </a:xfrm>
          <a:prstGeom prst="line">
            <a:avLst/>
          </a:prstGeom>
          <a:noFill/>
          <a:ln w="25400" cap="flat" cmpd="sng" algn="ctr">
            <a:solidFill>
              <a:sysClr val="windowText" lastClr="000000"/>
            </a:solidFill>
            <a:prstDash val="solid"/>
            <a:headEnd/>
            <a:tailEnd/>
          </a:ln>
          <a:effectLst>
            <a:outerShdw blurRad="40000" dist="20000" dir="5400000" rotWithShape="0">
              <a:srgbClr val="000000">
                <a:alpha val="38000"/>
              </a:srgbClr>
            </a:outerShdw>
          </a:effectLst>
        </p:spPr>
      </p:cxnSp>
      <p:cxnSp>
        <p:nvCxnSpPr>
          <p:cNvPr id="165" name="Shape 29"/>
          <p:cNvCxnSpPr>
            <a:cxnSpLocks noChangeShapeType="1"/>
            <a:endCxn id="156" idx="1"/>
          </p:cNvCxnSpPr>
          <p:nvPr/>
        </p:nvCxnSpPr>
        <p:spPr bwMode="auto">
          <a:xfrm rot="5400000" flipH="1" flipV="1">
            <a:off x="6998687" y="2512416"/>
            <a:ext cx="1014027" cy="590551"/>
          </a:xfrm>
          <a:prstGeom prst="curvedConnector2">
            <a:avLst/>
          </a:prstGeom>
          <a:noFill/>
          <a:ln w="9525" algn="ctr">
            <a:solidFill>
              <a:sysClr val="windowText" lastClr="000000"/>
            </a:solidFill>
            <a:round/>
            <a:headEnd/>
            <a:tailEnd type="triangle" w="sm" len="sm"/>
          </a:ln>
        </p:spPr>
      </p:cxnSp>
      <p:sp>
        <p:nvSpPr>
          <p:cNvPr id="166" name="Rectangle 4"/>
          <p:cNvSpPr>
            <a:spLocks noChangeArrowheads="1"/>
          </p:cNvSpPr>
          <p:nvPr/>
        </p:nvSpPr>
        <p:spPr bwMode="auto">
          <a:xfrm>
            <a:off x="2712720" y="2133600"/>
            <a:ext cx="1097280" cy="304800"/>
          </a:xfrm>
          <a:prstGeom prst="rect">
            <a:avLst/>
          </a:prstGeom>
          <a:solidFill>
            <a:sysClr val="windowText" lastClr="000000"/>
          </a:solid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ysClr val="window" lastClr="FFFFFF"/>
                </a:solidFill>
                <a:effectLst/>
                <a:uLnTx/>
                <a:uFillTx/>
                <a:latin typeface="Arial" pitchFamily="34" charset="0"/>
                <a:ea typeface="+mn-ea"/>
                <a:cs typeface="Arial" pitchFamily="34" charset="0"/>
              </a:rPr>
              <a:t>Application</a:t>
            </a:r>
          </a:p>
        </p:txBody>
      </p:sp>
      <p:sp>
        <p:nvSpPr>
          <p:cNvPr id="167" name="Rectangle 35"/>
          <p:cNvSpPr>
            <a:spLocks noChangeArrowheads="1"/>
          </p:cNvSpPr>
          <p:nvPr/>
        </p:nvSpPr>
        <p:spPr bwMode="auto">
          <a:xfrm>
            <a:off x="2712720" y="2438400"/>
            <a:ext cx="1097280" cy="304800"/>
          </a:xfrm>
          <a:prstGeom prst="rect">
            <a:avLst/>
          </a:prstGeom>
          <a:no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ysClr val="windowText" lastClr="000000"/>
                </a:solidFill>
                <a:effectLst/>
                <a:uLnTx/>
                <a:uFillTx/>
                <a:latin typeface="Arial" pitchFamily="34" charset="0"/>
                <a:ea typeface="+mn-ea"/>
                <a:cs typeface="Arial" pitchFamily="34" charset="0"/>
              </a:rPr>
              <a:t>HDFS Client</a:t>
            </a:r>
          </a:p>
        </p:txBody>
      </p:sp>
      <p:sp>
        <p:nvSpPr>
          <p:cNvPr id="168" name="Rectangle 21"/>
          <p:cNvSpPr>
            <a:spLocks noChangeArrowheads="1"/>
          </p:cNvSpPr>
          <p:nvPr/>
        </p:nvSpPr>
        <p:spPr bwMode="auto">
          <a:xfrm>
            <a:off x="7924800" y="2667000"/>
            <a:ext cx="838200" cy="22860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ysClr val="windowText" lastClr="000000"/>
              </a:solidFill>
              <a:effectLst/>
              <a:uLnTx/>
              <a:uFillTx/>
              <a:latin typeface="Arial" pitchFamily="34" charset="0"/>
              <a:ea typeface="+mn-ea"/>
              <a:cs typeface="Arial" pitchFamily="34" charset="0"/>
            </a:endParaRPr>
          </a:p>
        </p:txBody>
      </p:sp>
      <p:sp>
        <p:nvSpPr>
          <p:cNvPr id="169" name="Rectangle 21"/>
          <p:cNvSpPr>
            <a:spLocks noChangeArrowheads="1"/>
          </p:cNvSpPr>
          <p:nvPr/>
        </p:nvSpPr>
        <p:spPr bwMode="auto">
          <a:xfrm>
            <a:off x="7924800" y="2895600"/>
            <a:ext cx="838200" cy="22860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ysClr val="windowText" lastClr="000000"/>
              </a:solidFill>
              <a:effectLst/>
              <a:uLnTx/>
              <a:uFillTx/>
              <a:latin typeface="Arial" pitchFamily="34" charset="0"/>
              <a:ea typeface="+mn-ea"/>
              <a:cs typeface="Arial" pitchFamily="34" charset="0"/>
            </a:endParaRPr>
          </a:p>
        </p:txBody>
      </p:sp>
      <p:sp>
        <p:nvSpPr>
          <p:cNvPr id="170" name="Rectangle 21"/>
          <p:cNvSpPr>
            <a:spLocks noChangeArrowheads="1"/>
          </p:cNvSpPr>
          <p:nvPr/>
        </p:nvSpPr>
        <p:spPr bwMode="auto">
          <a:xfrm>
            <a:off x="7924800" y="3124200"/>
            <a:ext cx="838200" cy="22860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ysClr val="windowText" lastClr="000000"/>
              </a:solidFill>
              <a:effectLst/>
              <a:uLnTx/>
              <a:uFillTx/>
              <a:latin typeface="Arial" pitchFamily="34" charset="0"/>
              <a:ea typeface="+mn-ea"/>
              <a:cs typeface="Arial" pitchFamily="34" charset="0"/>
            </a:endParaRPr>
          </a:p>
        </p:txBody>
      </p:sp>
      <p:sp>
        <p:nvSpPr>
          <p:cNvPr id="171" name="Title 170"/>
          <p:cNvSpPr>
            <a:spLocks noGrp="1"/>
          </p:cNvSpPr>
          <p:nvPr>
            <p:ph type="title"/>
          </p:nvPr>
        </p:nvSpPr>
        <p:spPr>
          <a:xfrm>
            <a:off x="457200" y="236135"/>
            <a:ext cx="10515600" cy="761876"/>
          </a:xfrm>
        </p:spPr>
        <p:txBody>
          <a:bodyPr/>
          <a:lstStyle/>
          <a:p>
            <a:r>
              <a:rPr lang="en-US" dirty="0">
                <a:solidFill>
                  <a:schemeClr val="accent4">
                    <a:lumMod val="75000"/>
                  </a:schemeClr>
                </a:solidFill>
              </a:rPr>
              <a:t>HDFS (Hadoop) Architecture</a:t>
            </a:r>
          </a:p>
        </p:txBody>
      </p:sp>
      <p:sp>
        <p:nvSpPr>
          <p:cNvPr id="2" name="TextBox 1"/>
          <p:cNvSpPr txBox="1"/>
          <p:nvPr/>
        </p:nvSpPr>
        <p:spPr>
          <a:xfrm>
            <a:off x="6309136" y="1205210"/>
            <a:ext cx="251062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err="1">
                <a:ln>
                  <a:noFill/>
                </a:ln>
                <a:solidFill>
                  <a:srgbClr val="C00000"/>
                </a:solidFill>
                <a:effectLst/>
                <a:uLnTx/>
                <a:uFillTx/>
                <a:latin typeface="Century Schoolbook" panose="02040604050505020304"/>
                <a:ea typeface="+mn-ea"/>
                <a:cs typeface="+mn-cs"/>
              </a:rPr>
              <a:t>namenode</a:t>
            </a:r>
            <a:r>
              <a:rPr kumimoji="0" lang="en-IN" sz="1400" b="1" i="0" u="none" strike="noStrike" kern="1200" cap="none" spc="0" normalizeH="0" baseline="0" noProof="0" dirty="0">
                <a:ln>
                  <a:noFill/>
                </a:ln>
                <a:solidFill>
                  <a:srgbClr val="C00000"/>
                </a:solidFill>
                <a:effectLst/>
                <a:uLnTx/>
                <a:uFillTx/>
                <a:latin typeface="Century Schoolbook" panose="02040604050505020304"/>
                <a:ea typeface="+mn-ea"/>
                <a:cs typeface="+mn-cs"/>
              </a:rPr>
              <a:t> = master node</a:t>
            </a:r>
          </a:p>
        </p:txBody>
      </p:sp>
      <p:sp>
        <p:nvSpPr>
          <p:cNvPr id="3" name="TextBox 2">
            <a:extLst>
              <a:ext uri="{FF2B5EF4-FFF2-40B4-BE49-F238E27FC236}">
                <a16:creationId xmlns:a16="http://schemas.microsoft.com/office/drawing/2014/main" id="{1EE6415F-7443-70AB-F696-0ABA4E4CE54C}"/>
              </a:ext>
            </a:extLst>
          </p:cNvPr>
          <p:cNvSpPr txBox="1"/>
          <p:nvPr/>
        </p:nvSpPr>
        <p:spPr>
          <a:xfrm>
            <a:off x="8804703" y="105459"/>
            <a:ext cx="3010879" cy="1785104"/>
          </a:xfrm>
          <a:prstGeom prst="rect">
            <a:avLst/>
          </a:prstGeom>
          <a:noFill/>
        </p:spPr>
        <p:txBody>
          <a:bodyPr wrap="square" rtlCol="0">
            <a:spAutoFit/>
          </a:bodyPr>
          <a:lstStyle/>
          <a:p>
            <a:r>
              <a:rPr lang="en-US" sz="1100" dirty="0">
                <a:solidFill>
                  <a:schemeClr val="bg1"/>
                </a:solidFill>
              </a:rPr>
              <a:t>Master Node stores the metadata about where the files are stored.</a:t>
            </a:r>
          </a:p>
          <a:p>
            <a:endParaRPr lang="en-US" sz="1100" dirty="0">
              <a:solidFill>
                <a:schemeClr val="bg1"/>
              </a:solidFill>
            </a:endParaRPr>
          </a:p>
          <a:p>
            <a:r>
              <a:rPr lang="en-US" sz="1100" dirty="0">
                <a:solidFill>
                  <a:schemeClr val="bg1"/>
                </a:solidFill>
              </a:rPr>
              <a:t>Master Node is the manager who will know which all machines are alive, and which all machines are dead, it will maintain the lists and tables about which particular data is stored in which machine </a:t>
            </a:r>
          </a:p>
          <a:p>
            <a:r>
              <a:rPr lang="en-US" sz="1100" dirty="0">
                <a:solidFill>
                  <a:schemeClr val="bg1"/>
                </a:solidFill>
              </a:rPr>
              <a:t>In-order to ensure reliability you can also replicate the master node.</a:t>
            </a:r>
          </a:p>
        </p:txBody>
      </p:sp>
      <p:sp>
        <p:nvSpPr>
          <p:cNvPr id="4" name="TextBox 3">
            <a:extLst>
              <a:ext uri="{FF2B5EF4-FFF2-40B4-BE49-F238E27FC236}">
                <a16:creationId xmlns:a16="http://schemas.microsoft.com/office/drawing/2014/main" id="{55470B05-F07F-A03C-A92E-CAFC5FA6AB6E}"/>
              </a:ext>
            </a:extLst>
          </p:cNvPr>
          <p:cNvSpPr txBox="1"/>
          <p:nvPr/>
        </p:nvSpPr>
        <p:spPr>
          <a:xfrm>
            <a:off x="79376" y="853310"/>
            <a:ext cx="2583290" cy="1954381"/>
          </a:xfrm>
          <a:prstGeom prst="rect">
            <a:avLst/>
          </a:prstGeom>
          <a:noFill/>
        </p:spPr>
        <p:txBody>
          <a:bodyPr wrap="square" rtlCol="0">
            <a:spAutoFit/>
          </a:bodyPr>
          <a:lstStyle/>
          <a:p>
            <a:r>
              <a:rPr lang="en-US" sz="1100" dirty="0">
                <a:solidFill>
                  <a:schemeClr val="bg1"/>
                </a:solidFill>
              </a:rPr>
              <a:t>In HDFS Architecture we have HDFS </a:t>
            </a:r>
            <a:r>
              <a:rPr lang="en-US" sz="1100" dirty="0" err="1">
                <a:solidFill>
                  <a:schemeClr val="bg1"/>
                </a:solidFill>
              </a:rPr>
              <a:t>Datanode</a:t>
            </a:r>
            <a:r>
              <a:rPr lang="en-US" sz="1100" dirty="0">
                <a:solidFill>
                  <a:schemeClr val="bg1"/>
                </a:solidFill>
              </a:rPr>
              <a:t> and each HDFS </a:t>
            </a:r>
            <a:r>
              <a:rPr lang="en-US" sz="1100" dirty="0" err="1">
                <a:solidFill>
                  <a:schemeClr val="bg1"/>
                </a:solidFill>
              </a:rPr>
              <a:t>Datanode</a:t>
            </a:r>
            <a:r>
              <a:rPr lang="en-US" sz="1100" dirty="0">
                <a:solidFill>
                  <a:schemeClr val="bg1"/>
                </a:solidFill>
              </a:rPr>
              <a:t> has a Linux File system(i.e. local file system).</a:t>
            </a:r>
          </a:p>
          <a:p>
            <a:endParaRPr lang="en-US" sz="1100" dirty="0">
              <a:solidFill>
                <a:schemeClr val="bg1"/>
              </a:solidFill>
            </a:endParaRPr>
          </a:p>
          <a:p>
            <a:r>
              <a:rPr lang="en-US" sz="1100" dirty="0">
                <a:solidFill>
                  <a:schemeClr val="bg1"/>
                </a:solidFill>
              </a:rPr>
              <a:t>On top of this we have a HDFS </a:t>
            </a:r>
            <a:r>
              <a:rPr lang="en-US" sz="1100" dirty="0" err="1">
                <a:solidFill>
                  <a:schemeClr val="bg1"/>
                </a:solidFill>
              </a:rPr>
              <a:t>namenode</a:t>
            </a:r>
            <a:r>
              <a:rPr lang="en-US" sz="1100" dirty="0">
                <a:solidFill>
                  <a:schemeClr val="bg1"/>
                </a:solidFill>
              </a:rPr>
              <a:t>, </a:t>
            </a:r>
            <a:r>
              <a:rPr lang="en-US" sz="1100" dirty="0" err="1">
                <a:solidFill>
                  <a:schemeClr val="bg1"/>
                </a:solidFill>
              </a:rPr>
              <a:t>namenode</a:t>
            </a:r>
            <a:r>
              <a:rPr lang="en-US" sz="1100" dirty="0">
                <a:solidFill>
                  <a:schemeClr val="bg1"/>
                </a:solidFill>
              </a:rPr>
              <a:t> is kind of organizer of all the file chunks in DFS.</a:t>
            </a:r>
          </a:p>
          <a:p>
            <a:endParaRPr lang="en-US" sz="1100" dirty="0">
              <a:solidFill>
                <a:schemeClr val="bg1"/>
              </a:solidFill>
            </a:endParaRPr>
          </a:p>
          <a:p>
            <a:endParaRPr lang="en-US" sz="1100" dirty="0">
              <a:solidFill>
                <a:schemeClr val="bg1"/>
              </a:solidFill>
            </a:endParaRPr>
          </a:p>
        </p:txBody>
      </p:sp>
      <p:sp>
        <p:nvSpPr>
          <p:cNvPr id="7" name="TextBox 6">
            <a:extLst>
              <a:ext uri="{FF2B5EF4-FFF2-40B4-BE49-F238E27FC236}">
                <a16:creationId xmlns:a16="http://schemas.microsoft.com/office/drawing/2014/main" id="{9A618788-7E49-05C4-942C-AFE26F52860D}"/>
              </a:ext>
            </a:extLst>
          </p:cNvPr>
          <p:cNvSpPr txBox="1"/>
          <p:nvPr/>
        </p:nvSpPr>
        <p:spPr>
          <a:xfrm>
            <a:off x="51413" y="2711482"/>
            <a:ext cx="3116342" cy="3231654"/>
          </a:xfrm>
          <a:prstGeom prst="rect">
            <a:avLst/>
          </a:prstGeom>
          <a:noFill/>
        </p:spPr>
        <p:txBody>
          <a:bodyPr wrap="square" rtlCol="0">
            <a:spAutoFit/>
          </a:bodyPr>
          <a:lstStyle/>
          <a:p>
            <a:r>
              <a:rPr lang="en-US" sz="1200" dirty="0">
                <a:solidFill>
                  <a:schemeClr val="bg1"/>
                </a:solidFill>
              </a:rPr>
              <a:t>HDFS </a:t>
            </a:r>
            <a:r>
              <a:rPr lang="en-US" sz="1200" dirty="0" err="1">
                <a:solidFill>
                  <a:schemeClr val="bg1"/>
                </a:solidFill>
              </a:rPr>
              <a:t>DataNode</a:t>
            </a:r>
            <a:r>
              <a:rPr lang="en-US" sz="1200" dirty="0">
                <a:solidFill>
                  <a:schemeClr val="bg1"/>
                </a:solidFill>
              </a:rPr>
              <a:t> will store the data and the computation which you will be performing will be there.</a:t>
            </a:r>
          </a:p>
          <a:p>
            <a:endParaRPr lang="en-US" sz="1200" dirty="0">
              <a:solidFill>
                <a:schemeClr val="bg1"/>
              </a:solidFill>
            </a:endParaRPr>
          </a:p>
          <a:p>
            <a:r>
              <a:rPr lang="en-US" sz="1200" dirty="0" err="1">
                <a:solidFill>
                  <a:schemeClr val="bg1"/>
                </a:solidFill>
              </a:rPr>
              <a:t>Namenode</a:t>
            </a:r>
            <a:r>
              <a:rPr lang="en-US" sz="1200" dirty="0">
                <a:solidFill>
                  <a:schemeClr val="bg1"/>
                </a:solidFill>
              </a:rPr>
              <a:t> manages the file system Namespace.</a:t>
            </a:r>
          </a:p>
          <a:p>
            <a:r>
              <a:rPr lang="en-US" sz="1200" dirty="0">
                <a:solidFill>
                  <a:schemeClr val="bg1"/>
                </a:solidFill>
              </a:rPr>
              <a:t>It holds file/directory structure, file-to-block mapping, metadata(ownership, access permission) etc.</a:t>
            </a:r>
          </a:p>
          <a:p>
            <a:r>
              <a:rPr lang="en-US" sz="1200" dirty="0" err="1">
                <a:solidFill>
                  <a:schemeClr val="bg1"/>
                </a:solidFill>
              </a:rPr>
              <a:t>Namenode</a:t>
            </a:r>
            <a:r>
              <a:rPr lang="en-US" sz="1200" dirty="0">
                <a:solidFill>
                  <a:schemeClr val="bg1"/>
                </a:solidFill>
              </a:rPr>
              <a:t> will coordinate the file operations. It will direct the clients to the </a:t>
            </a:r>
            <a:r>
              <a:rPr lang="en-US" sz="1200" dirty="0" err="1">
                <a:solidFill>
                  <a:schemeClr val="bg1"/>
                </a:solidFill>
              </a:rPr>
              <a:t>datanodes</a:t>
            </a:r>
            <a:r>
              <a:rPr lang="en-US" sz="1200" dirty="0">
                <a:solidFill>
                  <a:schemeClr val="bg1"/>
                </a:solidFill>
              </a:rPr>
              <a:t> for read and write operation. But no data flows through the </a:t>
            </a:r>
            <a:r>
              <a:rPr lang="en-US" sz="1200" dirty="0" err="1">
                <a:solidFill>
                  <a:schemeClr val="bg1"/>
                </a:solidFill>
              </a:rPr>
              <a:t>namenode</a:t>
            </a:r>
            <a:r>
              <a:rPr lang="en-US" sz="1200" dirty="0">
                <a:solidFill>
                  <a:schemeClr val="bg1"/>
                </a:solidFill>
              </a:rPr>
              <a:t>.</a:t>
            </a:r>
          </a:p>
          <a:p>
            <a:r>
              <a:rPr lang="en-US" sz="1200" dirty="0" err="1">
                <a:solidFill>
                  <a:schemeClr val="bg1"/>
                </a:solidFill>
              </a:rPr>
              <a:t>Namenode</a:t>
            </a:r>
            <a:r>
              <a:rPr lang="en-US" sz="1200" dirty="0">
                <a:solidFill>
                  <a:schemeClr val="bg1"/>
                </a:solidFill>
              </a:rPr>
              <a:t> maintains the communication with the </a:t>
            </a:r>
            <a:r>
              <a:rPr lang="en-US" sz="1200" dirty="0" err="1">
                <a:solidFill>
                  <a:schemeClr val="bg1"/>
                </a:solidFill>
              </a:rPr>
              <a:t>datanodes</a:t>
            </a:r>
            <a:r>
              <a:rPr lang="en-US" sz="1200" dirty="0">
                <a:solidFill>
                  <a:schemeClr val="bg1"/>
                </a:solidFill>
              </a:rPr>
              <a:t>, Block re-replication on node failure , rebalancing if some node is not responding</a:t>
            </a:r>
          </a:p>
        </p:txBody>
      </p:sp>
    </p:spTree>
    <p:extLst>
      <p:ext uri="{BB962C8B-B14F-4D97-AF65-F5344CB8AC3E}">
        <p14:creationId xmlns:p14="http://schemas.microsoft.com/office/powerpoint/2010/main" val="32407282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HDFS</a:t>
            </a:r>
          </a:p>
        </p:txBody>
      </p:sp>
      <p:sp>
        <p:nvSpPr>
          <p:cNvPr id="57" name="Rectangle 6"/>
          <p:cNvSpPr>
            <a:spLocks noChangeArrowheads="1"/>
          </p:cNvSpPr>
          <p:nvPr/>
        </p:nvSpPr>
        <p:spPr bwMode="auto">
          <a:xfrm>
            <a:off x="6248400" y="1981200"/>
            <a:ext cx="1981200" cy="914400"/>
          </a:xfrm>
          <a:prstGeom prst="rect">
            <a:avLst/>
          </a:prstGeom>
          <a:solidFill>
            <a:sysClr val="window" lastClr="FFFFFF"/>
          </a:soli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sp>
        <p:nvSpPr>
          <p:cNvPr id="58" name="Rectangle 35"/>
          <p:cNvSpPr>
            <a:spLocks noChangeArrowheads="1"/>
          </p:cNvSpPr>
          <p:nvPr/>
        </p:nvSpPr>
        <p:spPr bwMode="auto">
          <a:xfrm>
            <a:off x="6248400" y="2286000"/>
            <a:ext cx="1981200" cy="609600"/>
          </a:xfrm>
          <a:prstGeom prst="rect">
            <a:avLst/>
          </a:prstGeom>
          <a:no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ysClr val="windowText" lastClr="000000"/>
              </a:solidFill>
              <a:effectLst/>
              <a:uLnTx/>
              <a:uFillTx/>
              <a:latin typeface="Arial" pitchFamily="34" charset="0"/>
              <a:ea typeface="+mn-ea"/>
              <a:cs typeface="Arial" pitchFamily="34" charset="0"/>
            </a:endParaRPr>
          </a:p>
        </p:txBody>
      </p:sp>
      <p:sp>
        <p:nvSpPr>
          <p:cNvPr id="59" name="Rectangle 6"/>
          <p:cNvSpPr>
            <a:spLocks noChangeArrowheads="1"/>
          </p:cNvSpPr>
          <p:nvPr/>
        </p:nvSpPr>
        <p:spPr bwMode="auto">
          <a:xfrm>
            <a:off x="4114800" y="1981200"/>
            <a:ext cx="1981200" cy="914400"/>
          </a:xfrm>
          <a:prstGeom prst="rect">
            <a:avLst/>
          </a:prstGeom>
          <a:solidFill>
            <a:sysClr val="window" lastClr="FFFFFF"/>
          </a:soli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sp>
        <p:nvSpPr>
          <p:cNvPr id="60" name="Rectangle 6"/>
          <p:cNvSpPr>
            <a:spLocks noChangeArrowheads="1"/>
          </p:cNvSpPr>
          <p:nvPr/>
        </p:nvSpPr>
        <p:spPr bwMode="auto">
          <a:xfrm>
            <a:off x="5181600" y="3352800"/>
            <a:ext cx="1981200" cy="1600200"/>
          </a:xfrm>
          <a:prstGeom prst="rect">
            <a:avLst/>
          </a:prstGeom>
          <a:solidFill>
            <a:sysClr val="window" lastClr="FFFFFF"/>
          </a:soli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sp>
        <p:nvSpPr>
          <p:cNvPr id="61" name="Rectangle 6"/>
          <p:cNvSpPr>
            <a:spLocks noChangeArrowheads="1"/>
          </p:cNvSpPr>
          <p:nvPr/>
        </p:nvSpPr>
        <p:spPr bwMode="auto">
          <a:xfrm>
            <a:off x="7239000" y="3352800"/>
            <a:ext cx="1981200" cy="1600200"/>
          </a:xfrm>
          <a:prstGeom prst="rect">
            <a:avLst/>
          </a:prstGeom>
          <a:solidFill>
            <a:sysClr val="window" lastClr="FFFFFF"/>
          </a:soli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sp>
        <p:nvSpPr>
          <p:cNvPr id="62" name="Rectangle 6"/>
          <p:cNvSpPr>
            <a:spLocks noChangeArrowheads="1"/>
          </p:cNvSpPr>
          <p:nvPr/>
        </p:nvSpPr>
        <p:spPr bwMode="auto">
          <a:xfrm>
            <a:off x="3124200" y="3352800"/>
            <a:ext cx="1981200" cy="1600200"/>
          </a:xfrm>
          <a:prstGeom prst="rect">
            <a:avLst/>
          </a:prstGeom>
          <a:solidFill>
            <a:sysClr val="window" lastClr="FFFFFF"/>
          </a:soli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cxnSp>
        <p:nvCxnSpPr>
          <p:cNvPr id="63" name="Straight Arrow Connector 53"/>
          <p:cNvCxnSpPr>
            <a:cxnSpLocks noChangeShapeType="1"/>
            <a:stCxn id="107" idx="2"/>
            <a:endCxn id="70" idx="0"/>
          </p:cNvCxnSpPr>
          <p:nvPr/>
        </p:nvCxnSpPr>
        <p:spPr bwMode="auto">
          <a:xfrm rot="5400000">
            <a:off x="4038600" y="2819400"/>
            <a:ext cx="1143000" cy="990600"/>
          </a:xfrm>
          <a:prstGeom prst="straightConnector1">
            <a:avLst/>
          </a:prstGeom>
          <a:noFill/>
          <a:ln w="25400" cap="flat" cmpd="sng" algn="ctr">
            <a:solidFill>
              <a:sysClr val="windowText" lastClr="000000"/>
            </a:solidFill>
            <a:prstDash val="solid"/>
            <a:headEnd/>
            <a:tailEnd type="none" w="med" len="med"/>
          </a:ln>
          <a:effectLst>
            <a:outerShdw blurRad="40000" dist="20000" dir="5400000" rotWithShape="0">
              <a:srgbClr val="000000">
                <a:alpha val="38000"/>
              </a:srgbClr>
            </a:outerShdw>
          </a:effectLst>
        </p:spPr>
      </p:cxnSp>
      <p:cxnSp>
        <p:nvCxnSpPr>
          <p:cNvPr id="64" name="Straight Arrow Connector 53"/>
          <p:cNvCxnSpPr>
            <a:cxnSpLocks noChangeShapeType="1"/>
            <a:stCxn id="107" idx="2"/>
            <a:endCxn id="82" idx="0"/>
          </p:cNvCxnSpPr>
          <p:nvPr/>
        </p:nvCxnSpPr>
        <p:spPr bwMode="auto">
          <a:xfrm rot="16200000" flipH="1">
            <a:off x="5067300" y="2781300"/>
            <a:ext cx="1143000" cy="1066800"/>
          </a:xfrm>
          <a:prstGeom prst="straightConnector1">
            <a:avLst/>
          </a:prstGeom>
          <a:noFill/>
          <a:ln w="25400" cap="flat" cmpd="sng" algn="ctr">
            <a:solidFill>
              <a:sysClr val="windowText" lastClr="000000"/>
            </a:solidFill>
            <a:prstDash val="solid"/>
            <a:headEnd/>
            <a:tailEnd type="none" w="med" len="med"/>
          </a:ln>
          <a:effectLst>
            <a:outerShdw blurRad="40000" dist="20000" dir="5400000" rotWithShape="0">
              <a:srgbClr val="000000">
                <a:alpha val="38000"/>
              </a:srgbClr>
            </a:outerShdw>
          </a:effectLst>
        </p:spPr>
      </p:cxnSp>
      <p:cxnSp>
        <p:nvCxnSpPr>
          <p:cNvPr id="65" name="Straight Arrow Connector 53"/>
          <p:cNvCxnSpPr>
            <a:cxnSpLocks noChangeShapeType="1"/>
            <a:stCxn id="107" idx="2"/>
            <a:endCxn id="94" idx="0"/>
          </p:cNvCxnSpPr>
          <p:nvPr/>
        </p:nvCxnSpPr>
        <p:spPr bwMode="auto">
          <a:xfrm rot="16200000" flipH="1">
            <a:off x="6096000" y="1752600"/>
            <a:ext cx="1143000" cy="3124200"/>
          </a:xfrm>
          <a:prstGeom prst="straightConnector1">
            <a:avLst/>
          </a:prstGeom>
          <a:noFill/>
          <a:ln w="25400" cap="flat" cmpd="sng" algn="ctr">
            <a:solidFill>
              <a:sysClr val="windowText" lastClr="000000"/>
            </a:solidFill>
            <a:prstDash val="solid"/>
            <a:headEnd/>
            <a:tailEnd type="none" w="med" len="med"/>
          </a:ln>
          <a:effectLst>
            <a:outerShdw blurRad="40000" dist="20000" dir="5400000" rotWithShape="0">
              <a:srgbClr val="000000">
                <a:alpha val="38000"/>
              </a:srgbClr>
            </a:outerShdw>
          </a:effectLst>
        </p:spPr>
      </p:cxnSp>
      <p:cxnSp>
        <p:nvCxnSpPr>
          <p:cNvPr id="66" name="Straight Arrow Connector 53"/>
          <p:cNvCxnSpPr>
            <a:cxnSpLocks noChangeShapeType="1"/>
            <a:stCxn id="109" idx="2"/>
            <a:endCxn id="79" idx="0"/>
          </p:cNvCxnSpPr>
          <p:nvPr/>
        </p:nvCxnSpPr>
        <p:spPr bwMode="auto">
          <a:xfrm rot="5400000">
            <a:off x="5295900" y="1562100"/>
            <a:ext cx="762000" cy="3124200"/>
          </a:xfrm>
          <a:prstGeom prst="straightConnector1">
            <a:avLst/>
          </a:prstGeom>
          <a:noFill/>
          <a:ln w="25400" cap="flat" cmpd="sng" algn="ctr">
            <a:solidFill>
              <a:sysClr val="windowText" lastClr="000000"/>
            </a:solidFill>
            <a:prstDash val="sysDash"/>
            <a:headEnd/>
            <a:tailEnd type="none" w="med" len="med"/>
          </a:ln>
          <a:effectLst>
            <a:outerShdw blurRad="40000" dist="20000" dir="5400000" rotWithShape="0">
              <a:srgbClr val="000000">
                <a:alpha val="38000"/>
              </a:srgbClr>
            </a:outerShdw>
          </a:effectLst>
        </p:spPr>
      </p:cxnSp>
      <p:cxnSp>
        <p:nvCxnSpPr>
          <p:cNvPr id="67" name="Straight Arrow Connector 53"/>
          <p:cNvCxnSpPr>
            <a:cxnSpLocks noChangeShapeType="1"/>
            <a:stCxn id="109" idx="2"/>
            <a:endCxn id="91" idx="0"/>
          </p:cNvCxnSpPr>
          <p:nvPr/>
        </p:nvCxnSpPr>
        <p:spPr bwMode="auto">
          <a:xfrm rot="5400000">
            <a:off x="6324600" y="2590800"/>
            <a:ext cx="762000" cy="1066800"/>
          </a:xfrm>
          <a:prstGeom prst="straightConnector1">
            <a:avLst/>
          </a:prstGeom>
          <a:noFill/>
          <a:ln w="25400" cap="flat" cmpd="sng" algn="ctr">
            <a:solidFill>
              <a:sysClr val="windowText" lastClr="000000"/>
            </a:solidFill>
            <a:prstDash val="sysDash"/>
            <a:headEnd/>
            <a:tailEnd type="none" w="med" len="med"/>
          </a:ln>
          <a:effectLst>
            <a:outerShdw blurRad="40000" dist="20000" dir="5400000" rotWithShape="0">
              <a:srgbClr val="000000">
                <a:alpha val="38000"/>
              </a:srgbClr>
            </a:outerShdw>
          </a:effectLst>
        </p:spPr>
      </p:cxnSp>
      <p:cxnSp>
        <p:nvCxnSpPr>
          <p:cNvPr id="68" name="Straight Arrow Connector 53"/>
          <p:cNvCxnSpPr>
            <a:cxnSpLocks noChangeShapeType="1"/>
            <a:stCxn id="109" idx="2"/>
            <a:endCxn id="103" idx="0"/>
          </p:cNvCxnSpPr>
          <p:nvPr/>
        </p:nvCxnSpPr>
        <p:spPr bwMode="auto">
          <a:xfrm rot="16200000" flipH="1">
            <a:off x="7353300" y="2628900"/>
            <a:ext cx="762000" cy="990600"/>
          </a:xfrm>
          <a:prstGeom prst="straightConnector1">
            <a:avLst/>
          </a:prstGeom>
          <a:noFill/>
          <a:ln w="25400" cap="flat" cmpd="sng" algn="ctr">
            <a:solidFill>
              <a:sysClr val="windowText" lastClr="000000"/>
            </a:solidFill>
            <a:prstDash val="sysDash"/>
            <a:headEnd/>
            <a:tailEnd type="none" w="med" len="med"/>
          </a:ln>
          <a:effectLst>
            <a:outerShdw blurRad="40000" dist="20000" dir="5400000" rotWithShape="0">
              <a:srgbClr val="000000">
                <a:alpha val="38000"/>
              </a:srgbClr>
            </a:outerShdw>
          </a:effectLst>
        </p:spPr>
      </p:cxnSp>
      <p:sp>
        <p:nvSpPr>
          <p:cNvPr id="69" name="Rectangle 6"/>
          <p:cNvSpPr>
            <a:spLocks noChangeArrowheads="1"/>
          </p:cNvSpPr>
          <p:nvPr/>
        </p:nvSpPr>
        <p:spPr bwMode="auto">
          <a:xfrm>
            <a:off x="3276600" y="3886200"/>
            <a:ext cx="1676400" cy="60960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sp>
        <p:nvSpPr>
          <p:cNvPr id="70" name="Rectangle 4"/>
          <p:cNvSpPr>
            <a:spLocks noChangeArrowheads="1"/>
          </p:cNvSpPr>
          <p:nvPr/>
        </p:nvSpPr>
        <p:spPr bwMode="auto">
          <a:xfrm>
            <a:off x="3276600" y="3886200"/>
            <a:ext cx="1676400" cy="304800"/>
          </a:xfrm>
          <a:prstGeom prst="rect">
            <a:avLst/>
          </a:prstGeom>
          <a:solidFill>
            <a:sysClr val="windowText" lastClr="000000">
              <a:lumMod val="65000"/>
              <a:lumOff val="35000"/>
            </a:sysClr>
          </a:solid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err="1">
                <a:ln>
                  <a:noFill/>
                </a:ln>
                <a:solidFill>
                  <a:sysClr val="window" lastClr="FFFFFF"/>
                </a:solidFill>
                <a:effectLst/>
                <a:uLnTx/>
                <a:uFillTx/>
                <a:latin typeface="Arial" pitchFamily="34" charset="0"/>
                <a:ea typeface="+mn-ea"/>
                <a:cs typeface="Arial" pitchFamily="34" charset="0"/>
              </a:rPr>
              <a:t>datanode</a:t>
            </a:r>
            <a:r>
              <a:rPr kumimoji="0" lang="en-US" sz="1200" b="1" i="0" u="none" strike="noStrike" kern="0" cap="none" spc="0" normalizeH="0" baseline="0" noProof="0" dirty="0">
                <a:ln>
                  <a:noFill/>
                </a:ln>
                <a:solidFill>
                  <a:sysClr val="window" lastClr="FFFFFF"/>
                </a:solidFill>
                <a:effectLst/>
                <a:uLnTx/>
                <a:uFillTx/>
                <a:latin typeface="Arial" pitchFamily="34" charset="0"/>
                <a:ea typeface="+mn-ea"/>
                <a:cs typeface="Arial" pitchFamily="34" charset="0"/>
              </a:rPr>
              <a:t> daemon</a:t>
            </a:r>
          </a:p>
        </p:txBody>
      </p:sp>
      <p:sp>
        <p:nvSpPr>
          <p:cNvPr id="71" name="Rectangle 35"/>
          <p:cNvSpPr>
            <a:spLocks noChangeArrowheads="1"/>
          </p:cNvSpPr>
          <p:nvPr/>
        </p:nvSpPr>
        <p:spPr bwMode="auto">
          <a:xfrm>
            <a:off x="3276600" y="4191000"/>
            <a:ext cx="1676400" cy="304800"/>
          </a:xfrm>
          <a:prstGeom prst="rect">
            <a:avLst/>
          </a:prstGeom>
          <a:no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Arial" pitchFamily="34" charset="0"/>
                <a:ea typeface="+mn-ea"/>
                <a:cs typeface="Arial" pitchFamily="34" charset="0"/>
              </a:rPr>
              <a:t>Linux file system</a:t>
            </a:r>
          </a:p>
        </p:txBody>
      </p:sp>
      <p:sp>
        <p:nvSpPr>
          <p:cNvPr id="72" name="Flowchart: Magnetic Disk 36"/>
          <p:cNvSpPr>
            <a:spLocks noChangeArrowheads="1"/>
          </p:cNvSpPr>
          <p:nvPr/>
        </p:nvSpPr>
        <p:spPr bwMode="auto">
          <a:xfrm>
            <a:off x="3546903" y="4572001"/>
            <a:ext cx="304800" cy="304800"/>
          </a:xfrm>
          <a:prstGeom prst="flowChartMagneticDisk">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sp>
        <p:nvSpPr>
          <p:cNvPr id="73" name="Flowchart: Magnetic Disk 37"/>
          <p:cNvSpPr>
            <a:spLocks noChangeArrowheads="1"/>
          </p:cNvSpPr>
          <p:nvPr/>
        </p:nvSpPr>
        <p:spPr bwMode="auto">
          <a:xfrm>
            <a:off x="4080303" y="4572001"/>
            <a:ext cx="304800" cy="304800"/>
          </a:xfrm>
          <a:prstGeom prst="flowChartMagneticDisk">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cxnSp>
        <p:nvCxnSpPr>
          <p:cNvPr id="74" name="Straight Connector 38"/>
          <p:cNvCxnSpPr>
            <a:cxnSpLocks noChangeShapeType="1"/>
          </p:cNvCxnSpPr>
          <p:nvPr/>
        </p:nvCxnSpPr>
        <p:spPr bwMode="auto">
          <a:xfrm rot="5400000">
            <a:off x="3280203" y="4610103"/>
            <a:ext cx="228600" cy="3175"/>
          </a:xfrm>
          <a:prstGeom prst="line">
            <a:avLst/>
          </a:prstGeom>
          <a:noFill/>
          <a:ln w="9525" algn="ctr">
            <a:solidFill>
              <a:sysClr val="windowText" lastClr="000000"/>
            </a:solidFill>
            <a:round/>
            <a:headEnd/>
            <a:tailEnd/>
          </a:ln>
        </p:spPr>
      </p:cxnSp>
      <p:cxnSp>
        <p:nvCxnSpPr>
          <p:cNvPr id="75" name="Straight Connector 39"/>
          <p:cNvCxnSpPr>
            <a:cxnSpLocks noChangeShapeType="1"/>
            <a:endCxn id="72" idx="2"/>
          </p:cNvCxnSpPr>
          <p:nvPr/>
        </p:nvCxnSpPr>
        <p:spPr bwMode="auto">
          <a:xfrm>
            <a:off x="3394503" y="4724402"/>
            <a:ext cx="152400" cy="1588"/>
          </a:xfrm>
          <a:prstGeom prst="line">
            <a:avLst/>
          </a:prstGeom>
          <a:noFill/>
          <a:ln w="9525" algn="ctr">
            <a:solidFill>
              <a:sysClr val="windowText" lastClr="000000"/>
            </a:solidFill>
            <a:round/>
            <a:headEnd/>
            <a:tailEnd/>
          </a:ln>
        </p:spPr>
      </p:cxnSp>
      <p:cxnSp>
        <p:nvCxnSpPr>
          <p:cNvPr id="76" name="Straight Connector 40"/>
          <p:cNvCxnSpPr>
            <a:cxnSpLocks noChangeShapeType="1"/>
          </p:cNvCxnSpPr>
          <p:nvPr/>
        </p:nvCxnSpPr>
        <p:spPr bwMode="auto">
          <a:xfrm rot="5400000">
            <a:off x="3813603" y="4608515"/>
            <a:ext cx="228600" cy="3175"/>
          </a:xfrm>
          <a:prstGeom prst="line">
            <a:avLst/>
          </a:prstGeom>
          <a:noFill/>
          <a:ln w="9525" algn="ctr">
            <a:solidFill>
              <a:sysClr val="windowText" lastClr="000000"/>
            </a:solidFill>
            <a:round/>
            <a:headEnd/>
            <a:tailEnd/>
          </a:ln>
        </p:spPr>
      </p:cxnSp>
      <p:cxnSp>
        <p:nvCxnSpPr>
          <p:cNvPr id="77" name="Straight Connector 41"/>
          <p:cNvCxnSpPr>
            <a:cxnSpLocks noChangeShapeType="1"/>
          </p:cNvCxnSpPr>
          <p:nvPr/>
        </p:nvCxnSpPr>
        <p:spPr bwMode="auto">
          <a:xfrm>
            <a:off x="3927903" y="4722817"/>
            <a:ext cx="152400" cy="3175"/>
          </a:xfrm>
          <a:prstGeom prst="line">
            <a:avLst/>
          </a:prstGeom>
          <a:noFill/>
          <a:ln w="9525" algn="ctr">
            <a:solidFill>
              <a:sysClr val="windowText" lastClr="000000"/>
            </a:solidFill>
            <a:round/>
            <a:headEnd/>
            <a:tailEnd/>
          </a:ln>
        </p:spPr>
      </p:cxnSp>
      <p:sp>
        <p:nvSpPr>
          <p:cNvPr id="78" name="TextBox 42"/>
          <p:cNvSpPr txBox="1">
            <a:spLocks noChangeArrowheads="1"/>
          </p:cNvSpPr>
          <p:nvPr/>
        </p:nvSpPr>
        <p:spPr bwMode="auto">
          <a:xfrm>
            <a:off x="4537501" y="4538666"/>
            <a:ext cx="389850" cy="338554"/>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itchFamily="34" charset="0"/>
                <a:ea typeface="+mn-ea"/>
                <a:cs typeface="Arial" pitchFamily="34" charset="0"/>
              </a:rPr>
              <a:t>…</a:t>
            </a:r>
          </a:p>
        </p:txBody>
      </p:sp>
      <p:sp>
        <p:nvSpPr>
          <p:cNvPr id="79" name="Rectangle 4"/>
          <p:cNvSpPr>
            <a:spLocks noChangeArrowheads="1"/>
          </p:cNvSpPr>
          <p:nvPr/>
        </p:nvSpPr>
        <p:spPr bwMode="auto">
          <a:xfrm>
            <a:off x="3276600" y="3505200"/>
            <a:ext cx="16764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err="1">
                <a:ln>
                  <a:noFill/>
                </a:ln>
                <a:solidFill>
                  <a:srgbClr val="000000"/>
                </a:solidFill>
                <a:effectLst/>
                <a:uLnTx/>
                <a:uFillTx/>
                <a:latin typeface="Arial" pitchFamily="34" charset="0"/>
                <a:ea typeface="+mn-ea"/>
                <a:cs typeface="Arial" pitchFamily="34" charset="0"/>
              </a:rPr>
              <a:t>tasktracker</a:t>
            </a:r>
            <a:endParaRPr kumimoji="0" lang="en-US" sz="1200" b="1" i="0" u="none" strike="noStrike" kern="0" cap="none" spc="0" normalizeH="0" baseline="0" noProof="0" dirty="0">
              <a:ln>
                <a:noFill/>
              </a:ln>
              <a:solidFill>
                <a:srgbClr val="000000"/>
              </a:solidFill>
              <a:effectLst/>
              <a:uLnTx/>
              <a:uFillTx/>
              <a:latin typeface="Arial" pitchFamily="34" charset="0"/>
              <a:ea typeface="+mn-ea"/>
              <a:cs typeface="Arial" pitchFamily="34" charset="0"/>
            </a:endParaRPr>
          </a:p>
        </p:txBody>
      </p:sp>
      <p:sp>
        <p:nvSpPr>
          <p:cNvPr id="80" name="Rectangle 4"/>
          <p:cNvSpPr>
            <a:spLocks noChangeArrowheads="1"/>
          </p:cNvSpPr>
          <p:nvPr/>
        </p:nvSpPr>
        <p:spPr bwMode="auto">
          <a:xfrm>
            <a:off x="3124200" y="4953000"/>
            <a:ext cx="1981200" cy="304800"/>
          </a:xfrm>
          <a:prstGeom prst="rect">
            <a:avLst/>
          </a:prstGeom>
          <a:solidFill>
            <a:sysClr val="windowText" lastClr="000000"/>
          </a:solid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ysClr val="window" lastClr="FFFFFF"/>
                </a:solidFill>
                <a:effectLst/>
                <a:uLnTx/>
                <a:uFillTx/>
                <a:latin typeface="Arial" pitchFamily="34" charset="0"/>
                <a:ea typeface="+mn-ea"/>
                <a:cs typeface="Arial" pitchFamily="34" charset="0"/>
              </a:rPr>
              <a:t>slave node</a:t>
            </a:r>
          </a:p>
        </p:txBody>
      </p:sp>
      <p:sp>
        <p:nvSpPr>
          <p:cNvPr id="81" name="Rectangle 6"/>
          <p:cNvSpPr>
            <a:spLocks noChangeArrowheads="1"/>
          </p:cNvSpPr>
          <p:nvPr/>
        </p:nvSpPr>
        <p:spPr bwMode="auto">
          <a:xfrm>
            <a:off x="5334000" y="3886200"/>
            <a:ext cx="1676400" cy="60960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sp>
        <p:nvSpPr>
          <p:cNvPr id="82" name="Rectangle 4"/>
          <p:cNvSpPr>
            <a:spLocks noChangeArrowheads="1"/>
          </p:cNvSpPr>
          <p:nvPr/>
        </p:nvSpPr>
        <p:spPr bwMode="auto">
          <a:xfrm>
            <a:off x="5334000" y="3886200"/>
            <a:ext cx="1676400" cy="304800"/>
          </a:xfrm>
          <a:prstGeom prst="rect">
            <a:avLst/>
          </a:prstGeom>
          <a:solidFill>
            <a:sysClr val="windowText" lastClr="000000">
              <a:lumMod val="65000"/>
              <a:lumOff val="35000"/>
            </a:sysClr>
          </a:solid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err="1">
                <a:ln>
                  <a:noFill/>
                </a:ln>
                <a:solidFill>
                  <a:sysClr val="window" lastClr="FFFFFF"/>
                </a:solidFill>
                <a:effectLst/>
                <a:uLnTx/>
                <a:uFillTx/>
                <a:latin typeface="Arial" pitchFamily="34" charset="0"/>
                <a:ea typeface="+mn-ea"/>
                <a:cs typeface="Arial" pitchFamily="34" charset="0"/>
              </a:rPr>
              <a:t>datanode</a:t>
            </a:r>
            <a:r>
              <a:rPr kumimoji="0" lang="en-US" sz="1200" b="1" i="0" u="none" strike="noStrike" kern="0" cap="none" spc="0" normalizeH="0" baseline="0" noProof="0" dirty="0">
                <a:ln>
                  <a:noFill/>
                </a:ln>
                <a:solidFill>
                  <a:sysClr val="window" lastClr="FFFFFF"/>
                </a:solidFill>
                <a:effectLst/>
                <a:uLnTx/>
                <a:uFillTx/>
                <a:latin typeface="Arial" pitchFamily="34" charset="0"/>
                <a:ea typeface="+mn-ea"/>
                <a:cs typeface="Arial" pitchFamily="34" charset="0"/>
              </a:rPr>
              <a:t> daemon</a:t>
            </a:r>
          </a:p>
        </p:txBody>
      </p:sp>
      <p:sp>
        <p:nvSpPr>
          <p:cNvPr id="83" name="Rectangle 35"/>
          <p:cNvSpPr>
            <a:spLocks noChangeArrowheads="1"/>
          </p:cNvSpPr>
          <p:nvPr/>
        </p:nvSpPr>
        <p:spPr bwMode="auto">
          <a:xfrm>
            <a:off x="5334000" y="4191000"/>
            <a:ext cx="1676400" cy="304800"/>
          </a:xfrm>
          <a:prstGeom prst="rect">
            <a:avLst/>
          </a:prstGeom>
          <a:no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Arial" pitchFamily="34" charset="0"/>
                <a:ea typeface="+mn-ea"/>
                <a:cs typeface="Arial" pitchFamily="34" charset="0"/>
              </a:rPr>
              <a:t>Linux file system</a:t>
            </a:r>
          </a:p>
        </p:txBody>
      </p:sp>
      <p:sp>
        <p:nvSpPr>
          <p:cNvPr id="84" name="Flowchart: Magnetic Disk 36"/>
          <p:cNvSpPr>
            <a:spLocks noChangeArrowheads="1"/>
          </p:cNvSpPr>
          <p:nvPr/>
        </p:nvSpPr>
        <p:spPr bwMode="auto">
          <a:xfrm>
            <a:off x="5604303" y="4572001"/>
            <a:ext cx="304800" cy="304800"/>
          </a:xfrm>
          <a:prstGeom prst="flowChartMagneticDisk">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sp>
        <p:nvSpPr>
          <p:cNvPr id="85" name="Flowchart: Magnetic Disk 37"/>
          <p:cNvSpPr>
            <a:spLocks noChangeArrowheads="1"/>
          </p:cNvSpPr>
          <p:nvPr/>
        </p:nvSpPr>
        <p:spPr bwMode="auto">
          <a:xfrm>
            <a:off x="6137703" y="4572001"/>
            <a:ext cx="304800" cy="304800"/>
          </a:xfrm>
          <a:prstGeom prst="flowChartMagneticDisk">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cxnSp>
        <p:nvCxnSpPr>
          <p:cNvPr id="86" name="Straight Connector 38"/>
          <p:cNvCxnSpPr>
            <a:cxnSpLocks noChangeShapeType="1"/>
          </p:cNvCxnSpPr>
          <p:nvPr/>
        </p:nvCxnSpPr>
        <p:spPr bwMode="auto">
          <a:xfrm rot="5400000">
            <a:off x="5337603" y="4610103"/>
            <a:ext cx="228600" cy="3175"/>
          </a:xfrm>
          <a:prstGeom prst="line">
            <a:avLst/>
          </a:prstGeom>
          <a:noFill/>
          <a:ln w="9525" algn="ctr">
            <a:solidFill>
              <a:sysClr val="windowText" lastClr="000000"/>
            </a:solidFill>
            <a:round/>
            <a:headEnd/>
            <a:tailEnd/>
          </a:ln>
        </p:spPr>
      </p:cxnSp>
      <p:cxnSp>
        <p:nvCxnSpPr>
          <p:cNvPr id="87" name="Straight Connector 39"/>
          <p:cNvCxnSpPr>
            <a:cxnSpLocks noChangeShapeType="1"/>
            <a:endCxn id="84" idx="2"/>
          </p:cNvCxnSpPr>
          <p:nvPr/>
        </p:nvCxnSpPr>
        <p:spPr bwMode="auto">
          <a:xfrm>
            <a:off x="5451903" y="4724402"/>
            <a:ext cx="152400" cy="1588"/>
          </a:xfrm>
          <a:prstGeom prst="line">
            <a:avLst/>
          </a:prstGeom>
          <a:noFill/>
          <a:ln w="9525" algn="ctr">
            <a:solidFill>
              <a:sysClr val="windowText" lastClr="000000"/>
            </a:solidFill>
            <a:round/>
            <a:headEnd/>
            <a:tailEnd/>
          </a:ln>
        </p:spPr>
      </p:cxnSp>
      <p:cxnSp>
        <p:nvCxnSpPr>
          <p:cNvPr id="88" name="Straight Connector 40"/>
          <p:cNvCxnSpPr>
            <a:cxnSpLocks noChangeShapeType="1"/>
          </p:cNvCxnSpPr>
          <p:nvPr/>
        </p:nvCxnSpPr>
        <p:spPr bwMode="auto">
          <a:xfrm rot="5400000">
            <a:off x="5871003" y="4608515"/>
            <a:ext cx="228600" cy="3175"/>
          </a:xfrm>
          <a:prstGeom prst="line">
            <a:avLst/>
          </a:prstGeom>
          <a:noFill/>
          <a:ln w="9525" algn="ctr">
            <a:solidFill>
              <a:sysClr val="windowText" lastClr="000000"/>
            </a:solidFill>
            <a:round/>
            <a:headEnd/>
            <a:tailEnd/>
          </a:ln>
        </p:spPr>
      </p:cxnSp>
      <p:cxnSp>
        <p:nvCxnSpPr>
          <p:cNvPr id="89" name="Straight Connector 41"/>
          <p:cNvCxnSpPr>
            <a:cxnSpLocks noChangeShapeType="1"/>
          </p:cNvCxnSpPr>
          <p:nvPr/>
        </p:nvCxnSpPr>
        <p:spPr bwMode="auto">
          <a:xfrm>
            <a:off x="5985303" y="4722817"/>
            <a:ext cx="152400" cy="3175"/>
          </a:xfrm>
          <a:prstGeom prst="line">
            <a:avLst/>
          </a:prstGeom>
          <a:noFill/>
          <a:ln w="9525" algn="ctr">
            <a:solidFill>
              <a:sysClr val="windowText" lastClr="000000"/>
            </a:solidFill>
            <a:round/>
            <a:headEnd/>
            <a:tailEnd/>
          </a:ln>
        </p:spPr>
      </p:cxnSp>
      <p:sp>
        <p:nvSpPr>
          <p:cNvPr id="90" name="TextBox 42"/>
          <p:cNvSpPr txBox="1">
            <a:spLocks noChangeArrowheads="1"/>
          </p:cNvSpPr>
          <p:nvPr/>
        </p:nvSpPr>
        <p:spPr bwMode="auto">
          <a:xfrm>
            <a:off x="6594901" y="4538666"/>
            <a:ext cx="389850" cy="338554"/>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itchFamily="34" charset="0"/>
                <a:ea typeface="+mn-ea"/>
                <a:cs typeface="Arial" pitchFamily="34" charset="0"/>
              </a:rPr>
              <a:t>…</a:t>
            </a:r>
          </a:p>
        </p:txBody>
      </p:sp>
      <p:sp>
        <p:nvSpPr>
          <p:cNvPr id="91" name="Rectangle 4"/>
          <p:cNvSpPr>
            <a:spLocks noChangeArrowheads="1"/>
          </p:cNvSpPr>
          <p:nvPr/>
        </p:nvSpPr>
        <p:spPr bwMode="auto">
          <a:xfrm>
            <a:off x="5334000" y="3505200"/>
            <a:ext cx="16764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err="1">
                <a:ln>
                  <a:noFill/>
                </a:ln>
                <a:solidFill>
                  <a:srgbClr val="000000"/>
                </a:solidFill>
                <a:effectLst/>
                <a:uLnTx/>
                <a:uFillTx/>
                <a:latin typeface="Arial" pitchFamily="34" charset="0"/>
                <a:ea typeface="+mn-ea"/>
                <a:cs typeface="Arial" pitchFamily="34" charset="0"/>
              </a:rPr>
              <a:t>tasktracker</a:t>
            </a:r>
            <a:endParaRPr kumimoji="0" lang="en-US" sz="1200" b="1" i="0" u="none" strike="noStrike" kern="0" cap="none" spc="0" normalizeH="0" baseline="0" noProof="0" dirty="0">
              <a:ln>
                <a:noFill/>
              </a:ln>
              <a:solidFill>
                <a:srgbClr val="000000"/>
              </a:solidFill>
              <a:effectLst/>
              <a:uLnTx/>
              <a:uFillTx/>
              <a:latin typeface="Arial" pitchFamily="34" charset="0"/>
              <a:ea typeface="+mn-ea"/>
              <a:cs typeface="Arial" pitchFamily="34" charset="0"/>
            </a:endParaRPr>
          </a:p>
        </p:txBody>
      </p:sp>
      <p:sp>
        <p:nvSpPr>
          <p:cNvPr id="92" name="Rectangle 4"/>
          <p:cNvSpPr>
            <a:spLocks noChangeArrowheads="1"/>
          </p:cNvSpPr>
          <p:nvPr/>
        </p:nvSpPr>
        <p:spPr bwMode="auto">
          <a:xfrm>
            <a:off x="5181600" y="4953000"/>
            <a:ext cx="1981200" cy="304800"/>
          </a:xfrm>
          <a:prstGeom prst="rect">
            <a:avLst/>
          </a:prstGeom>
          <a:solidFill>
            <a:sysClr val="windowText" lastClr="000000"/>
          </a:solid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ysClr val="window" lastClr="FFFFFF"/>
                </a:solidFill>
                <a:effectLst/>
                <a:uLnTx/>
                <a:uFillTx/>
                <a:latin typeface="Arial" pitchFamily="34" charset="0"/>
                <a:ea typeface="+mn-ea"/>
                <a:cs typeface="Arial" pitchFamily="34" charset="0"/>
              </a:rPr>
              <a:t>slave node</a:t>
            </a:r>
          </a:p>
        </p:txBody>
      </p:sp>
      <p:sp>
        <p:nvSpPr>
          <p:cNvPr id="93" name="Rectangle 6"/>
          <p:cNvSpPr>
            <a:spLocks noChangeArrowheads="1"/>
          </p:cNvSpPr>
          <p:nvPr/>
        </p:nvSpPr>
        <p:spPr bwMode="auto">
          <a:xfrm>
            <a:off x="7391400" y="3886200"/>
            <a:ext cx="1676400" cy="60960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sp>
        <p:nvSpPr>
          <p:cNvPr id="94" name="Rectangle 4"/>
          <p:cNvSpPr>
            <a:spLocks noChangeArrowheads="1"/>
          </p:cNvSpPr>
          <p:nvPr/>
        </p:nvSpPr>
        <p:spPr bwMode="auto">
          <a:xfrm>
            <a:off x="7391400" y="3886200"/>
            <a:ext cx="1676400" cy="304800"/>
          </a:xfrm>
          <a:prstGeom prst="rect">
            <a:avLst/>
          </a:prstGeom>
          <a:solidFill>
            <a:sysClr val="windowText" lastClr="000000">
              <a:lumMod val="65000"/>
              <a:lumOff val="35000"/>
            </a:sysClr>
          </a:solid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err="1">
                <a:ln>
                  <a:noFill/>
                </a:ln>
                <a:solidFill>
                  <a:sysClr val="window" lastClr="FFFFFF"/>
                </a:solidFill>
                <a:effectLst/>
                <a:uLnTx/>
                <a:uFillTx/>
                <a:latin typeface="Arial" pitchFamily="34" charset="0"/>
                <a:ea typeface="+mn-ea"/>
                <a:cs typeface="Arial" pitchFamily="34" charset="0"/>
              </a:rPr>
              <a:t>datanode</a:t>
            </a:r>
            <a:r>
              <a:rPr kumimoji="0" lang="en-US" sz="1200" b="1" i="0" u="none" strike="noStrike" kern="0" cap="none" spc="0" normalizeH="0" baseline="0" noProof="0" dirty="0">
                <a:ln>
                  <a:noFill/>
                </a:ln>
                <a:solidFill>
                  <a:sysClr val="window" lastClr="FFFFFF"/>
                </a:solidFill>
                <a:effectLst/>
                <a:uLnTx/>
                <a:uFillTx/>
                <a:latin typeface="Arial" pitchFamily="34" charset="0"/>
                <a:ea typeface="+mn-ea"/>
                <a:cs typeface="Arial" pitchFamily="34" charset="0"/>
              </a:rPr>
              <a:t> daemon</a:t>
            </a:r>
          </a:p>
        </p:txBody>
      </p:sp>
      <p:sp>
        <p:nvSpPr>
          <p:cNvPr id="95" name="Rectangle 35"/>
          <p:cNvSpPr>
            <a:spLocks noChangeArrowheads="1"/>
          </p:cNvSpPr>
          <p:nvPr/>
        </p:nvSpPr>
        <p:spPr bwMode="auto">
          <a:xfrm>
            <a:off x="7391400" y="4191000"/>
            <a:ext cx="1676400" cy="304800"/>
          </a:xfrm>
          <a:prstGeom prst="rect">
            <a:avLst/>
          </a:prstGeom>
          <a:no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Arial" pitchFamily="34" charset="0"/>
                <a:ea typeface="+mn-ea"/>
                <a:cs typeface="Arial" pitchFamily="34" charset="0"/>
              </a:rPr>
              <a:t>Linux file system</a:t>
            </a:r>
          </a:p>
        </p:txBody>
      </p:sp>
      <p:sp>
        <p:nvSpPr>
          <p:cNvPr id="96" name="Flowchart: Magnetic Disk 36"/>
          <p:cNvSpPr>
            <a:spLocks noChangeArrowheads="1"/>
          </p:cNvSpPr>
          <p:nvPr/>
        </p:nvSpPr>
        <p:spPr bwMode="auto">
          <a:xfrm>
            <a:off x="7661703" y="4572001"/>
            <a:ext cx="304800" cy="304800"/>
          </a:xfrm>
          <a:prstGeom prst="flowChartMagneticDisk">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sp>
        <p:nvSpPr>
          <p:cNvPr id="97" name="Flowchart: Magnetic Disk 37"/>
          <p:cNvSpPr>
            <a:spLocks noChangeArrowheads="1"/>
          </p:cNvSpPr>
          <p:nvPr/>
        </p:nvSpPr>
        <p:spPr bwMode="auto">
          <a:xfrm>
            <a:off x="8195103" y="4572001"/>
            <a:ext cx="304800" cy="304800"/>
          </a:xfrm>
          <a:prstGeom prst="flowChartMagneticDisk">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headEnd/>
            <a:tailEnd/>
          </a:ln>
          <a:effectLst>
            <a:outerShdw blurRad="40000" dist="20000" dir="5400000" rotWithShape="0">
              <a:srgbClr val="000000">
                <a:alpha val="3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Arial" pitchFamily="34" charset="0"/>
              <a:ea typeface="+mn-ea"/>
              <a:cs typeface="Arial" pitchFamily="34" charset="0"/>
            </a:endParaRPr>
          </a:p>
        </p:txBody>
      </p:sp>
      <p:cxnSp>
        <p:nvCxnSpPr>
          <p:cNvPr id="98" name="Straight Connector 38"/>
          <p:cNvCxnSpPr>
            <a:cxnSpLocks noChangeShapeType="1"/>
          </p:cNvCxnSpPr>
          <p:nvPr/>
        </p:nvCxnSpPr>
        <p:spPr bwMode="auto">
          <a:xfrm rot="5400000">
            <a:off x="7395003" y="4610103"/>
            <a:ext cx="228600" cy="3175"/>
          </a:xfrm>
          <a:prstGeom prst="line">
            <a:avLst/>
          </a:prstGeom>
          <a:noFill/>
          <a:ln w="9525" algn="ctr">
            <a:solidFill>
              <a:sysClr val="windowText" lastClr="000000"/>
            </a:solidFill>
            <a:round/>
            <a:headEnd/>
            <a:tailEnd/>
          </a:ln>
        </p:spPr>
      </p:cxnSp>
      <p:cxnSp>
        <p:nvCxnSpPr>
          <p:cNvPr id="99" name="Straight Connector 39"/>
          <p:cNvCxnSpPr>
            <a:cxnSpLocks noChangeShapeType="1"/>
            <a:endCxn id="96" idx="2"/>
          </p:cNvCxnSpPr>
          <p:nvPr/>
        </p:nvCxnSpPr>
        <p:spPr bwMode="auto">
          <a:xfrm>
            <a:off x="7509303" y="4724402"/>
            <a:ext cx="152400" cy="1588"/>
          </a:xfrm>
          <a:prstGeom prst="line">
            <a:avLst/>
          </a:prstGeom>
          <a:noFill/>
          <a:ln w="9525" algn="ctr">
            <a:solidFill>
              <a:sysClr val="windowText" lastClr="000000"/>
            </a:solidFill>
            <a:round/>
            <a:headEnd/>
            <a:tailEnd/>
          </a:ln>
        </p:spPr>
      </p:cxnSp>
      <p:cxnSp>
        <p:nvCxnSpPr>
          <p:cNvPr id="100" name="Straight Connector 40"/>
          <p:cNvCxnSpPr>
            <a:cxnSpLocks noChangeShapeType="1"/>
          </p:cNvCxnSpPr>
          <p:nvPr/>
        </p:nvCxnSpPr>
        <p:spPr bwMode="auto">
          <a:xfrm rot="5400000">
            <a:off x="7928403" y="4608515"/>
            <a:ext cx="228600" cy="3175"/>
          </a:xfrm>
          <a:prstGeom prst="line">
            <a:avLst/>
          </a:prstGeom>
          <a:noFill/>
          <a:ln w="9525" algn="ctr">
            <a:solidFill>
              <a:sysClr val="windowText" lastClr="000000"/>
            </a:solidFill>
            <a:round/>
            <a:headEnd/>
            <a:tailEnd/>
          </a:ln>
        </p:spPr>
      </p:cxnSp>
      <p:cxnSp>
        <p:nvCxnSpPr>
          <p:cNvPr id="101" name="Straight Connector 41"/>
          <p:cNvCxnSpPr>
            <a:cxnSpLocks noChangeShapeType="1"/>
          </p:cNvCxnSpPr>
          <p:nvPr/>
        </p:nvCxnSpPr>
        <p:spPr bwMode="auto">
          <a:xfrm>
            <a:off x="8042703" y="4722817"/>
            <a:ext cx="152400" cy="3175"/>
          </a:xfrm>
          <a:prstGeom prst="line">
            <a:avLst/>
          </a:prstGeom>
          <a:noFill/>
          <a:ln w="9525" algn="ctr">
            <a:solidFill>
              <a:sysClr val="windowText" lastClr="000000"/>
            </a:solidFill>
            <a:round/>
            <a:headEnd/>
            <a:tailEnd/>
          </a:ln>
        </p:spPr>
      </p:cxnSp>
      <p:sp>
        <p:nvSpPr>
          <p:cNvPr id="102" name="TextBox 42"/>
          <p:cNvSpPr txBox="1">
            <a:spLocks noChangeArrowheads="1"/>
          </p:cNvSpPr>
          <p:nvPr/>
        </p:nvSpPr>
        <p:spPr bwMode="auto">
          <a:xfrm>
            <a:off x="8652301" y="4538666"/>
            <a:ext cx="389850" cy="338554"/>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itchFamily="34" charset="0"/>
                <a:ea typeface="+mn-ea"/>
                <a:cs typeface="Arial" pitchFamily="34" charset="0"/>
              </a:rPr>
              <a:t>…</a:t>
            </a:r>
          </a:p>
        </p:txBody>
      </p:sp>
      <p:sp>
        <p:nvSpPr>
          <p:cNvPr id="103" name="Rectangle 4"/>
          <p:cNvSpPr>
            <a:spLocks noChangeArrowheads="1"/>
          </p:cNvSpPr>
          <p:nvPr/>
        </p:nvSpPr>
        <p:spPr bwMode="auto">
          <a:xfrm>
            <a:off x="7391400" y="3505200"/>
            <a:ext cx="16764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err="1">
                <a:ln>
                  <a:noFill/>
                </a:ln>
                <a:solidFill>
                  <a:srgbClr val="000000"/>
                </a:solidFill>
                <a:effectLst/>
                <a:uLnTx/>
                <a:uFillTx/>
                <a:latin typeface="Arial" pitchFamily="34" charset="0"/>
                <a:ea typeface="+mn-ea"/>
                <a:cs typeface="Arial" pitchFamily="34" charset="0"/>
              </a:rPr>
              <a:t>tasktracker</a:t>
            </a:r>
            <a:endParaRPr kumimoji="0" lang="en-US" sz="1200" b="1" i="0" u="none" strike="noStrike" kern="0" cap="none" spc="0" normalizeH="0" baseline="0" noProof="0" dirty="0">
              <a:ln>
                <a:noFill/>
              </a:ln>
              <a:solidFill>
                <a:srgbClr val="000000"/>
              </a:solidFill>
              <a:effectLst/>
              <a:uLnTx/>
              <a:uFillTx/>
              <a:latin typeface="Arial" pitchFamily="34" charset="0"/>
              <a:ea typeface="+mn-ea"/>
              <a:cs typeface="Arial" pitchFamily="34" charset="0"/>
            </a:endParaRPr>
          </a:p>
        </p:txBody>
      </p:sp>
      <p:sp>
        <p:nvSpPr>
          <p:cNvPr id="104" name="Rectangle 4"/>
          <p:cNvSpPr>
            <a:spLocks noChangeArrowheads="1"/>
          </p:cNvSpPr>
          <p:nvPr/>
        </p:nvSpPr>
        <p:spPr bwMode="auto">
          <a:xfrm>
            <a:off x="7239000" y="4953000"/>
            <a:ext cx="1981200" cy="304800"/>
          </a:xfrm>
          <a:prstGeom prst="rect">
            <a:avLst/>
          </a:prstGeom>
          <a:solidFill>
            <a:sysClr val="windowText" lastClr="000000"/>
          </a:solid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ysClr val="window" lastClr="FFFFFF"/>
                </a:solidFill>
                <a:effectLst/>
                <a:uLnTx/>
                <a:uFillTx/>
                <a:latin typeface="Arial" pitchFamily="34" charset="0"/>
                <a:ea typeface="+mn-ea"/>
                <a:cs typeface="Arial" pitchFamily="34" charset="0"/>
              </a:rPr>
              <a:t>slave node</a:t>
            </a:r>
          </a:p>
        </p:txBody>
      </p:sp>
      <p:sp>
        <p:nvSpPr>
          <p:cNvPr id="105" name="Rectangle 4"/>
          <p:cNvSpPr>
            <a:spLocks noChangeArrowheads="1"/>
          </p:cNvSpPr>
          <p:nvPr/>
        </p:nvSpPr>
        <p:spPr bwMode="auto">
          <a:xfrm>
            <a:off x="4114800" y="1981200"/>
            <a:ext cx="1981200" cy="304800"/>
          </a:xfrm>
          <a:prstGeom prst="rect">
            <a:avLst/>
          </a:prstGeom>
          <a:solidFill>
            <a:sysClr val="windowText" lastClr="000000"/>
          </a:solid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err="1">
                <a:ln>
                  <a:noFill/>
                </a:ln>
                <a:solidFill>
                  <a:sysClr val="window" lastClr="FFFFFF"/>
                </a:solidFill>
                <a:effectLst/>
                <a:uLnTx/>
                <a:uFillTx/>
                <a:latin typeface="Arial" pitchFamily="34" charset="0"/>
                <a:ea typeface="+mn-ea"/>
                <a:cs typeface="Arial" pitchFamily="34" charset="0"/>
              </a:rPr>
              <a:t>namenode</a:t>
            </a:r>
            <a:endParaRPr kumimoji="0" lang="en-US" sz="1200" b="1" i="0" u="none" strike="noStrike" kern="0" cap="none" spc="0" normalizeH="0" baseline="0" noProof="0" dirty="0">
              <a:ln>
                <a:noFill/>
              </a:ln>
              <a:solidFill>
                <a:sysClr val="window" lastClr="FFFFFF"/>
              </a:solidFill>
              <a:effectLst/>
              <a:uLnTx/>
              <a:uFillTx/>
              <a:latin typeface="Arial" pitchFamily="34" charset="0"/>
              <a:ea typeface="+mn-ea"/>
              <a:cs typeface="Arial" pitchFamily="34" charset="0"/>
            </a:endParaRPr>
          </a:p>
        </p:txBody>
      </p:sp>
      <p:sp>
        <p:nvSpPr>
          <p:cNvPr id="106" name="Rectangle 35"/>
          <p:cNvSpPr>
            <a:spLocks noChangeArrowheads="1"/>
          </p:cNvSpPr>
          <p:nvPr/>
        </p:nvSpPr>
        <p:spPr bwMode="auto">
          <a:xfrm>
            <a:off x="4114800" y="2286000"/>
            <a:ext cx="1981200" cy="609600"/>
          </a:xfrm>
          <a:prstGeom prst="rect">
            <a:avLst/>
          </a:prstGeom>
          <a:no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ysClr val="windowText" lastClr="000000"/>
              </a:solidFill>
              <a:effectLst/>
              <a:uLnTx/>
              <a:uFillTx/>
              <a:latin typeface="Arial" pitchFamily="34" charset="0"/>
              <a:ea typeface="+mn-ea"/>
              <a:cs typeface="Arial" pitchFamily="34" charset="0"/>
            </a:endParaRPr>
          </a:p>
        </p:txBody>
      </p:sp>
      <p:sp>
        <p:nvSpPr>
          <p:cNvPr id="107" name="Rectangle 4"/>
          <p:cNvSpPr>
            <a:spLocks noChangeArrowheads="1"/>
          </p:cNvSpPr>
          <p:nvPr/>
        </p:nvSpPr>
        <p:spPr bwMode="auto">
          <a:xfrm>
            <a:off x="4267200" y="2438400"/>
            <a:ext cx="1676400" cy="304800"/>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err="1">
                <a:ln>
                  <a:noFill/>
                </a:ln>
                <a:solidFill>
                  <a:srgbClr val="000000"/>
                </a:solidFill>
                <a:effectLst/>
                <a:uLnTx/>
                <a:uFillTx/>
                <a:latin typeface="Arial" pitchFamily="34" charset="0"/>
                <a:ea typeface="+mn-ea"/>
                <a:cs typeface="Arial" pitchFamily="34" charset="0"/>
              </a:rPr>
              <a:t>namenode</a:t>
            </a:r>
            <a:r>
              <a:rPr kumimoji="0" lang="en-US" sz="1200" b="1" i="0" u="none" strike="noStrike" kern="0" cap="none" spc="0" normalizeH="0" baseline="0" noProof="0" dirty="0">
                <a:ln>
                  <a:noFill/>
                </a:ln>
                <a:solidFill>
                  <a:srgbClr val="000000"/>
                </a:solidFill>
                <a:effectLst/>
                <a:uLnTx/>
                <a:uFillTx/>
                <a:latin typeface="Arial" pitchFamily="34" charset="0"/>
                <a:ea typeface="+mn-ea"/>
                <a:cs typeface="Arial" pitchFamily="34" charset="0"/>
              </a:rPr>
              <a:t> daemon</a:t>
            </a:r>
          </a:p>
        </p:txBody>
      </p:sp>
      <p:sp>
        <p:nvSpPr>
          <p:cNvPr id="108" name="Rectangle 4"/>
          <p:cNvSpPr>
            <a:spLocks noChangeArrowheads="1"/>
          </p:cNvSpPr>
          <p:nvPr/>
        </p:nvSpPr>
        <p:spPr bwMode="auto">
          <a:xfrm>
            <a:off x="6248400" y="1981200"/>
            <a:ext cx="1981200" cy="304800"/>
          </a:xfrm>
          <a:prstGeom prst="rect">
            <a:avLst/>
          </a:prstGeom>
          <a:solidFill>
            <a:sysClr val="windowText" lastClr="000000"/>
          </a:solidFill>
          <a:ln w="9525" algn="ctr">
            <a:solidFill>
              <a:sysClr val="windowText" lastClr="000000"/>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ysClr val="window" lastClr="FFFFFF"/>
                </a:solidFill>
                <a:effectLst/>
                <a:uLnTx/>
                <a:uFillTx/>
                <a:latin typeface="Arial" pitchFamily="34" charset="0"/>
                <a:ea typeface="+mn-ea"/>
                <a:cs typeface="Arial" pitchFamily="34" charset="0"/>
              </a:rPr>
              <a:t>job submission node</a:t>
            </a:r>
          </a:p>
        </p:txBody>
      </p:sp>
      <p:sp>
        <p:nvSpPr>
          <p:cNvPr id="109" name="Rectangle 4"/>
          <p:cNvSpPr>
            <a:spLocks noChangeArrowheads="1"/>
          </p:cNvSpPr>
          <p:nvPr/>
        </p:nvSpPr>
        <p:spPr bwMode="auto">
          <a:xfrm>
            <a:off x="6400800" y="2438400"/>
            <a:ext cx="1676400" cy="30480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err="1">
                <a:ln>
                  <a:noFill/>
                </a:ln>
                <a:solidFill>
                  <a:srgbClr val="000000"/>
                </a:solidFill>
                <a:effectLst/>
                <a:uLnTx/>
                <a:uFillTx/>
                <a:latin typeface="Arial" pitchFamily="34" charset="0"/>
                <a:ea typeface="+mn-ea"/>
                <a:cs typeface="Arial" pitchFamily="34" charset="0"/>
              </a:rPr>
              <a:t>jobtracker</a:t>
            </a:r>
            <a:endParaRPr kumimoji="0" lang="en-US" sz="1200" b="1" i="0" u="none" strike="noStrike" kern="0" cap="none" spc="0" normalizeH="0" baseline="0" noProof="0" dirty="0">
              <a:ln>
                <a:noFill/>
              </a:ln>
              <a:solidFill>
                <a:srgbClr val="000000"/>
              </a:solidFill>
              <a:effectLst/>
              <a:uLnTx/>
              <a:uFillTx/>
              <a:latin typeface="Arial" pitchFamily="34" charset="0"/>
              <a:ea typeface="+mn-ea"/>
              <a:cs typeface="Arial" pitchFamily="34" charset="0"/>
            </a:endParaRPr>
          </a:p>
        </p:txBody>
      </p:sp>
      <p:sp>
        <p:nvSpPr>
          <p:cNvPr id="3" name="TextBox 2">
            <a:extLst>
              <a:ext uri="{FF2B5EF4-FFF2-40B4-BE49-F238E27FC236}">
                <a16:creationId xmlns:a16="http://schemas.microsoft.com/office/drawing/2014/main" id="{F4ACDDF5-1ECD-9E2F-D746-9453BD07F6B6}"/>
              </a:ext>
            </a:extLst>
          </p:cNvPr>
          <p:cNvSpPr txBox="1"/>
          <p:nvPr/>
        </p:nvSpPr>
        <p:spPr>
          <a:xfrm>
            <a:off x="46057" y="1045308"/>
            <a:ext cx="12145943" cy="3693319"/>
          </a:xfrm>
          <a:prstGeom prst="rect">
            <a:avLst/>
          </a:prstGeom>
          <a:noFill/>
        </p:spPr>
        <p:txBody>
          <a:bodyPr wrap="square" rtlCol="0">
            <a:spAutoFit/>
          </a:bodyPr>
          <a:lstStyle/>
          <a:p>
            <a:r>
              <a:rPr lang="en-US" dirty="0"/>
              <a:t>Daemon means background processes.</a:t>
            </a:r>
          </a:p>
          <a:p>
            <a:endParaRPr lang="en-US" dirty="0"/>
          </a:p>
          <a:p>
            <a:r>
              <a:rPr lang="en-US" dirty="0" err="1"/>
              <a:t>Jobtracker</a:t>
            </a:r>
            <a:r>
              <a:rPr lang="en-US" dirty="0"/>
              <a:t> is where you submit a job and it will track the progress of the job(</a:t>
            </a:r>
            <a:r>
              <a:rPr lang="en-US" dirty="0" err="1"/>
              <a:t>finished,continuing,killed</a:t>
            </a:r>
            <a:r>
              <a:rPr lang="en-US" dirty="0"/>
              <a:t> ?)</a:t>
            </a:r>
          </a:p>
          <a:p>
            <a:r>
              <a:rPr lang="en-US" dirty="0"/>
              <a:t>You have lots of worker nodes</a:t>
            </a:r>
          </a:p>
          <a:p>
            <a:r>
              <a:rPr lang="en-US" dirty="0"/>
              <a:t>,each worker node is having Local File </a:t>
            </a:r>
          </a:p>
          <a:p>
            <a:r>
              <a:rPr lang="en-US" dirty="0" err="1"/>
              <a:t>systemLinux</a:t>
            </a:r>
            <a:r>
              <a:rPr lang="en-US" dirty="0"/>
              <a:t> file </a:t>
            </a:r>
            <a:r>
              <a:rPr lang="en-US" dirty="0" err="1"/>
              <a:t>system.Each</a:t>
            </a:r>
            <a:r>
              <a:rPr lang="en-US" dirty="0"/>
              <a:t> worker</a:t>
            </a:r>
          </a:p>
          <a:p>
            <a:r>
              <a:rPr lang="en-US" dirty="0"/>
              <a:t>Node is running </a:t>
            </a:r>
            <a:r>
              <a:rPr lang="en-US" dirty="0" err="1"/>
              <a:t>tasktracker</a:t>
            </a:r>
            <a:r>
              <a:rPr lang="en-US" dirty="0"/>
              <a:t> , which </a:t>
            </a:r>
          </a:p>
          <a:p>
            <a:r>
              <a:rPr lang="en-US" dirty="0"/>
              <a:t>keeps Track of progress of the work</a:t>
            </a:r>
          </a:p>
          <a:p>
            <a:r>
              <a:rPr lang="en-US" dirty="0"/>
              <a:t> running in that particular </a:t>
            </a:r>
          </a:p>
          <a:p>
            <a:r>
              <a:rPr lang="en-US" dirty="0" err="1"/>
              <a:t>Node.Namenode</a:t>
            </a:r>
            <a:r>
              <a:rPr lang="en-US" dirty="0"/>
              <a:t> daemon and </a:t>
            </a:r>
          </a:p>
          <a:p>
            <a:r>
              <a:rPr lang="en-US" dirty="0" err="1"/>
              <a:t>Jobtracker</a:t>
            </a:r>
            <a:r>
              <a:rPr lang="en-US" dirty="0"/>
              <a:t> daemon interact</a:t>
            </a:r>
          </a:p>
          <a:p>
            <a:r>
              <a:rPr lang="en-US" dirty="0"/>
              <a:t>with all the </a:t>
            </a:r>
            <a:r>
              <a:rPr lang="en-US" dirty="0" err="1"/>
              <a:t>tasktracker</a:t>
            </a:r>
            <a:r>
              <a:rPr lang="en-US" dirty="0"/>
              <a:t> of all</a:t>
            </a:r>
          </a:p>
          <a:p>
            <a:r>
              <a:rPr lang="en-US" dirty="0"/>
              <a:t>the nodes.</a:t>
            </a:r>
          </a:p>
        </p:txBody>
      </p:sp>
      <p:sp>
        <p:nvSpPr>
          <p:cNvPr id="4" name="TextBox 3">
            <a:extLst>
              <a:ext uri="{FF2B5EF4-FFF2-40B4-BE49-F238E27FC236}">
                <a16:creationId xmlns:a16="http://schemas.microsoft.com/office/drawing/2014/main" id="{B1FF177E-4E13-9918-102F-8F739BD54567}"/>
              </a:ext>
            </a:extLst>
          </p:cNvPr>
          <p:cNvSpPr txBox="1"/>
          <p:nvPr/>
        </p:nvSpPr>
        <p:spPr>
          <a:xfrm>
            <a:off x="326571" y="5447211"/>
            <a:ext cx="11390812" cy="1477328"/>
          </a:xfrm>
          <a:prstGeom prst="rect">
            <a:avLst/>
          </a:prstGeom>
          <a:noFill/>
        </p:spPr>
        <p:txBody>
          <a:bodyPr wrap="square" rtlCol="0">
            <a:spAutoFit/>
          </a:bodyPr>
          <a:lstStyle/>
          <a:p>
            <a:r>
              <a:rPr lang="en-US" dirty="0"/>
              <a:t>NN : Master of HDFS</a:t>
            </a:r>
          </a:p>
          <a:p>
            <a:r>
              <a:rPr lang="en-US" dirty="0"/>
              <a:t>JT : Coordinator for map-reduce jobs.</a:t>
            </a:r>
          </a:p>
          <a:p>
            <a:r>
              <a:rPr lang="en-US" dirty="0"/>
              <a:t>On each of the worker machines we have :</a:t>
            </a:r>
          </a:p>
          <a:p>
            <a:r>
              <a:rPr lang="en-US" dirty="0"/>
              <a:t>                 </a:t>
            </a:r>
            <a:r>
              <a:rPr lang="en-US" dirty="0" err="1"/>
              <a:t>TaskTracker</a:t>
            </a:r>
            <a:r>
              <a:rPr lang="en-US" dirty="0"/>
              <a:t>(TT) : Contains multiple tasks slots</a:t>
            </a:r>
          </a:p>
          <a:p>
            <a:r>
              <a:rPr lang="en-US" dirty="0"/>
              <a:t>                  </a:t>
            </a:r>
            <a:r>
              <a:rPr lang="en-US" dirty="0" err="1"/>
              <a:t>DataNode</a:t>
            </a:r>
            <a:r>
              <a:rPr lang="en-US" dirty="0"/>
              <a:t>(DN)  :  Serves as HDFS </a:t>
            </a:r>
            <a:r>
              <a:rPr lang="en-US" dirty="0" err="1"/>
              <a:t>datablocks</a:t>
            </a:r>
            <a:r>
              <a:rPr lang="en-US" dirty="0"/>
              <a:t>.</a:t>
            </a:r>
          </a:p>
        </p:txBody>
      </p:sp>
    </p:spTree>
    <p:extLst>
      <p:ext uri="{BB962C8B-B14F-4D97-AF65-F5344CB8AC3E}">
        <p14:creationId xmlns:p14="http://schemas.microsoft.com/office/powerpoint/2010/main" val="17520608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9625" y="205327"/>
            <a:ext cx="10515600" cy="732155"/>
          </a:xfrm>
        </p:spPr>
        <p:txBody>
          <a:bodyPr/>
          <a:lstStyle/>
          <a:p>
            <a:r>
              <a:rPr lang="en-IN" dirty="0" err="1"/>
              <a:t>Namenode</a:t>
            </a:r>
            <a:endParaRPr lang="en-IN" dirty="0"/>
          </a:p>
        </p:txBody>
      </p:sp>
      <p:sp>
        <p:nvSpPr>
          <p:cNvPr id="3" name="Content Placeholder 2"/>
          <p:cNvSpPr>
            <a:spLocks noGrp="1"/>
          </p:cNvSpPr>
          <p:nvPr>
            <p:ph idx="1"/>
          </p:nvPr>
        </p:nvSpPr>
        <p:spPr>
          <a:xfrm>
            <a:off x="838200" y="1207363"/>
            <a:ext cx="10515600" cy="4969600"/>
          </a:xfrm>
        </p:spPr>
        <p:txBody>
          <a:bodyPr>
            <a:normAutofit fontScale="92500" lnSpcReduction="10000"/>
          </a:bodyPr>
          <a:lstStyle/>
          <a:p>
            <a:r>
              <a:rPr lang="en-US" dirty="0"/>
              <a:t>Maintains the filesystem tree and the metadata for all the files and directories </a:t>
            </a:r>
          </a:p>
          <a:p>
            <a:pPr lvl="1"/>
            <a:r>
              <a:rPr lang="en-US" b="1" dirty="0"/>
              <a:t>This information is stored on the local disk in two files: </a:t>
            </a:r>
          </a:p>
          <a:p>
            <a:pPr lvl="2"/>
            <a:r>
              <a:rPr lang="en-US" b="1" dirty="0"/>
              <a:t>the namespace image and the edit log. </a:t>
            </a:r>
          </a:p>
          <a:p>
            <a:pPr lvl="1"/>
            <a:endParaRPr lang="en-US" b="1" dirty="0"/>
          </a:p>
          <a:p>
            <a:r>
              <a:rPr lang="en-US" dirty="0"/>
              <a:t>Knows the </a:t>
            </a:r>
            <a:r>
              <a:rPr lang="en-US" dirty="0" err="1"/>
              <a:t>datanodes</a:t>
            </a:r>
            <a:r>
              <a:rPr lang="en-US" dirty="0"/>
              <a:t> on which all the blocks for a given file are located </a:t>
            </a:r>
          </a:p>
          <a:p>
            <a:endParaRPr lang="en-US" dirty="0"/>
          </a:p>
          <a:p>
            <a:r>
              <a:rPr lang="en-US" dirty="0"/>
              <a:t>But, it does not store block locations persistently, </a:t>
            </a:r>
          </a:p>
          <a:p>
            <a:pPr lvl="1"/>
            <a:r>
              <a:rPr lang="en-US" dirty="0"/>
              <a:t>this information is reconstructed from </a:t>
            </a:r>
            <a:r>
              <a:rPr lang="en-US" dirty="0" err="1"/>
              <a:t>datanodes</a:t>
            </a:r>
            <a:r>
              <a:rPr lang="en-US" dirty="0"/>
              <a:t> when the system starts.</a:t>
            </a:r>
          </a:p>
          <a:p>
            <a:pPr lvl="1"/>
            <a:endParaRPr lang="en-US" dirty="0"/>
          </a:p>
          <a:p>
            <a:pPr lvl="1"/>
            <a:r>
              <a:rPr lang="en-US" dirty="0"/>
              <a:t>Through name node no data transfer </a:t>
            </a:r>
            <a:r>
              <a:rPr lang="en-US" dirty="0" err="1"/>
              <a:t>happens,data</a:t>
            </a:r>
            <a:r>
              <a:rPr lang="en-US" dirty="0"/>
              <a:t> transfer will be through the cables b/w different </a:t>
            </a:r>
            <a:r>
              <a:rPr lang="en-US" dirty="0" err="1"/>
              <a:t>datanodes</a:t>
            </a:r>
            <a:r>
              <a:rPr lang="en-US" dirty="0"/>
              <a:t>.</a:t>
            </a:r>
            <a:endParaRPr lang="en-IN" dirty="0"/>
          </a:p>
        </p:txBody>
      </p:sp>
    </p:spTree>
    <p:extLst>
      <p:ext uri="{BB962C8B-B14F-4D97-AF65-F5344CB8AC3E}">
        <p14:creationId xmlns:p14="http://schemas.microsoft.com/office/powerpoint/2010/main" val="62155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Datanode</a:t>
            </a:r>
            <a:endParaRPr lang="en-IN" dirty="0"/>
          </a:p>
        </p:txBody>
      </p:sp>
      <p:sp>
        <p:nvSpPr>
          <p:cNvPr id="3" name="Content Placeholder 2"/>
          <p:cNvSpPr>
            <a:spLocks noGrp="1"/>
          </p:cNvSpPr>
          <p:nvPr>
            <p:ph idx="1"/>
          </p:nvPr>
        </p:nvSpPr>
        <p:spPr/>
        <p:txBody>
          <a:bodyPr/>
          <a:lstStyle/>
          <a:p>
            <a:endParaRPr lang="en-US" dirty="0"/>
          </a:p>
          <a:p>
            <a:r>
              <a:rPr lang="en-US" dirty="0" err="1"/>
              <a:t>Datanodes</a:t>
            </a:r>
            <a:r>
              <a:rPr lang="en-US" dirty="0"/>
              <a:t> are the workhorses of the </a:t>
            </a:r>
            <a:r>
              <a:rPr lang="en-US" dirty="0" err="1"/>
              <a:t>filesystem</a:t>
            </a:r>
            <a:r>
              <a:rPr lang="en-US" dirty="0"/>
              <a:t>. </a:t>
            </a:r>
          </a:p>
          <a:p>
            <a:endParaRPr lang="en-US" dirty="0"/>
          </a:p>
          <a:p>
            <a:r>
              <a:rPr lang="en-US" dirty="0"/>
              <a:t>They store and retrieve blocks when they are told to (by clients or the </a:t>
            </a:r>
            <a:r>
              <a:rPr lang="en-US" dirty="0" err="1"/>
              <a:t>namenode</a:t>
            </a:r>
            <a:r>
              <a:rPr lang="en-US" dirty="0"/>
              <a:t>)</a:t>
            </a:r>
          </a:p>
          <a:p>
            <a:endParaRPr lang="en-US" dirty="0"/>
          </a:p>
          <a:p>
            <a:r>
              <a:rPr lang="en-US" dirty="0"/>
              <a:t>They report back to the </a:t>
            </a:r>
            <a:r>
              <a:rPr lang="en-US" dirty="0" err="1"/>
              <a:t>namenode</a:t>
            </a:r>
            <a:r>
              <a:rPr lang="en-US" dirty="0"/>
              <a:t> periodically with lists of blocks that they are storing.</a:t>
            </a:r>
            <a:endParaRPr lang="en-IN" dirty="0"/>
          </a:p>
        </p:txBody>
      </p:sp>
    </p:spTree>
    <p:extLst>
      <p:ext uri="{BB962C8B-B14F-4D97-AF65-F5344CB8AC3E}">
        <p14:creationId xmlns:p14="http://schemas.microsoft.com/office/powerpoint/2010/main" val="940036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CA3CA-E4D2-2077-65F1-B3E828C927F0}"/>
              </a:ext>
            </a:extLst>
          </p:cNvPr>
          <p:cNvSpPr>
            <a:spLocks noGrp="1"/>
          </p:cNvSpPr>
          <p:nvPr>
            <p:ph type="title"/>
          </p:nvPr>
        </p:nvSpPr>
        <p:spPr/>
        <p:txBody>
          <a:bodyPr/>
          <a:lstStyle/>
          <a:p>
            <a:r>
              <a:rPr lang="en-US" dirty="0"/>
              <a:t>Physical View</a:t>
            </a:r>
          </a:p>
        </p:txBody>
      </p:sp>
      <p:pic>
        <p:nvPicPr>
          <p:cNvPr id="5" name="Picture 4">
            <a:extLst>
              <a:ext uri="{FF2B5EF4-FFF2-40B4-BE49-F238E27FC236}">
                <a16:creationId xmlns:a16="http://schemas.microsoft.com/office/drawing/2014/main" id="{F5374808-2F4B-83AC-3C13-D943DACA129C}"/>
              </a:ext>
            </a:extLst>
          </p:cNvPr>
          <p:cNvPicPr>
            <a:picLocks noChangeAspect="1"/>
          </p:cNvPicPr>
          <p:nvPr/>
        </p:nvPicPr>
        <p:blipFill>
          <a:blip r:embed="rId2"/>
          <a:stretch>
            <a:fillRect/>
          </a:stretch>
        </p:blipFill>
        <p:spPr>
          <a:xfrm>
            <a:off x="161109" y="1491276"/>
            <a:ext cx="8487960" cy="4887007"/>
          </a:xfrm>
          <a:prstGeom prst="rect">
            <a:avLst/>
          </a:prstGeom>
        </p:spPr>
      </p:pic>
      <p:sp>
        <p:nvSpPr>
          <p:cNvPr id="6" name="TextBox 5">
            <a:extLst>
              <a:ext uri="{FF2B5EF4-FFF2-40B4-BE49-F238E27FC236}">
                <a16:creationId xmlns:a16="http://schemas.microsoft.com/office/drawing/2014/main" id="{C32B5B01-B042-C2A3-742A-AEFFD2C9C945}"/>
              </a:ext>
            </a:extLst>
          </p:cNvPr>
          <p:cNvSpPr txBox="1"/>
          <p:nvPr/>
        </p:nvSpPr>
        <p:spPr>
          <a:xfrm>
            <a:off x="8649069" y="191974"/>
            <a:ext cx="3381822" cy="6186309"/>
          </a:xfrm>
          <a:prstGeom prst="rect">
            <a:avLst/>
          </a:prstGeom>
          <a:noFill/>
        </p:spPr>
        <p:txBody>
          <a:bodyPr wrap="square" rtlCol="0">
            <a:spAutoFit/>
          </a:bodyPr>
          <a:lstStyle/>
          <a:p>
            <a:r>
              <a:rPr lang="en-US" dirty="0"/>
              <a:t>You have 2 kinds of file systems in Cluster Computing Framework, one is Distributed File system  and other is local file system which every node a cluster has. LFS is accessible by local machine only but DFS is accessible by all the nodes of the cluster.</a:t>
            </a:r>
          </a:p>
          <a:p>
            <a:endParaRPr lang="en-US" dirty="0"/>
          </a:p>
          <a:p>
            <a:r>
              <a:rPr lang="en-US" dirty="0"/>
              <a:t>Intermediate files(on local disk), intermediate files means the output produced by map tasks you write on local disk.</a:t>
            </a:r>
          </a:p>
          <a:p>
            <a:endParaRPr lang="en-US" dirty="0"/>
          </a:p>
          <a:p>
            <a:r>
              <a:rPr lang="en-US" dirty="0"/>
              <a:t>When map phase is done all map tasks are writing their o/p on LFS but in reduced phase all reduce workers are writing o/p on DFS.</a:t>
            </a:r>
          </a:p>
        </p:txBody>
      </p:sp>
    </p:spTree>
    <p:extLst>
      <p:ext uri="{BB962C8B-B14F-4D97-AF65-F5344CB8AC3E}">
        <p14:creationId xmlns:p14="http://schemas.microsoft.com/office/powerpoint/2010/main" val="33404860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HDFS Blocks</a:t>
            </a:r>
          </a:p>
        </p:txBody>
      </p:sp>
      <p:sp>
        <p:nvSpPr>
          <p:cNvPr id="3" name="Content Placeholder 2"/>
          <p:cNvSpPr>
            <a:spLocks noGrp="1"/>
          </p:cNvSpPr>
          <p:nvPr>
            <p:ph idx="1"/>
          </p:nvPr>
        </p:nvSpPr>
        <p:spPr>
          <a:xfrm>
            <a:off x="591127" y="945277"/>
            <a:ext cx="10515600" cy="4705214"/>
          </a:xfrm>
        </p:spPr>
        <p:txBody>
          <a:bodyPr/>
          <a:lstStyle/>
          <a:p>
            <a:r>
              <a:rPr lang="en-IN" dirty="0"/>
              <a:t>Blocks</a:t>
            </a:r>
          </a:p>
          <a:p>
            <a:pPr lvl="1"/>
            <a:r>
              <a:rPr lang="en-IN" dirty="0"/>
              <a:t>Disk block size: minimum amount of data it can read and write</a:t>
            </a:r>
          </a:p>
          <a:p>
            <a:pPr lvl="1"/>
            <a:r>
              <a:rPr lang="en-IN" dirty="0"/>
              <a:t>Typical size: 128 MB</a:t>
            </a:r>
          </a:p>
          <a:p>
            <a:pPr lvl="1"/>
            <a:endParaRPr lang="en-IN" dirty="0"/>
          </a:p>
          <a:p>
            <a:r>
              <a:rPr lang="en-IN" dirty="0"/>
              <a:t>Why HDFS blocks are larger?</a:t>
            </a:r>
          </a:p>
          <a:p>
            <a:pPr lvl="1"/>
            <a:r>
              <a:rPr lang="en-IN" dirty="0"/>
              <a:t>Goal is to minimize the cost of seek</a:t>
            </a:r>
          </a:p>
          <a:p>
            <a:pPr lvl="1"/>
            <a:r>
              <a:rPr lang="en-US" dirty="0"/>
              <a:t>The time it takes to transfer the data from the disk can be significantly longer than the time to seek to the start of the block. </a:t>
            </a:r>
          </a:p>
        </p:txBody>
      </p:sp>
      <p:sp>
        <p:nvSpPr>
          <p:cNvPr id="4" name="TextBox 3">
            <a:extLst>
              <a:ext uri="{FF2B5EF4-FFF2-40B4-BE49-F238E27FC236}">
                <a16:creationId xmlns:a16="http://schemas.microsoft.com/office/drawing/2014/main" id="{69805ECF-9F37-210B-2D97-C180AC7FE949}"/>
              </a:ext>
            </a:extLst>
          </p:cNvPr>
          <p:cNvSpPr txBox="1"/>
          <p:nvPr/>
        </p:nvSpPr>
        <p:spPr>
          <a:xfrm>
            <a:off x="378691" y="4385311"/>
            <a:ext cx="11222182" cy="2031325"/>
          </a:xfrm>
          <a:prstGeom prst="rect">
            <a:avLst/>
          </a:prstGeom>
          <a:noFill/>
        </p:spPr>
        <p:txBody>
          <a:bodyPr wrap="square" rtlCol="0">
            <a:spAutoFit/>
          </a:bodyPr>
          <a:lstStyle/>
          <a:p>
            <a:r>
              <a:rPr lang="en-US" dirty="0"/>
              <a:t>My note: In HDFS we have relatively larger blocks (128 MB) for 2 reasons : </a:t>
            </a:r>
          </a:p>
          <a:p>
            <a:pPr marL="285750" indent="-285750">
              <a:buFont typeface="Arial" panose="020B0604020202020204" pitchFamily="34" charset="0"/>
              <a:buChar char="•"/>
            </a:pPr>
            <a:r>
              <a:rPr lang="en-US" dirty="0"/>
              <a:t>Minimizing the seek cost: - Hard drives take time to move the read write head to correct location (seek time) and By having a larger block size we can minimize the number of seeks because we can read larger data in one go</a:t>
            </a:r>
          </a:p>
          <a:p>
            <a:pPr marL="285750" indent="-285750">
              <a:buFont typeface="Arial" panose="020B0604020202020204" pitchFamily="34" charset="0"/>
              <a:buChar char="•"/>
            </a:pPr>
            <a:r>
              <a:rPr lang="en-US" dirty="0"/>
              <a:t>Optimizing the data transfer: - Once the read/write head is pointed we can read large amount of data or write large amount of data efficiently. Since seek time is costly we prioritize reading/ writing larger blocks rather than going for multiple smaller blocks.</a:t>
            </a:r>
          </a:p>
        </p:txBody>
      </p:sp>
    </p:spTree>
    <p:extLst>
      <p:ext uri="{BB962C8B-B14F-4D97-AF65-F5344CB8AC3E}">
        <p14:creationId xmlns:p14="http://schemas.microsoft.com/office/powerpoint/2010/main" val="250529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HDFS Blocks</a:t>
            </a:r>
          </a:p>
        </p:txBody>
      </p:sp>
      <p:sp>
        <p:nvSpPr>
          <p:cNvPr id="3" name="Content Placeholder 2"/>
          <p:cNvSpPr>
            <a:spLocks noGrp="1"/>
          </p:cNvSpPr>
          <p:nvPr>
            <p:ph idx="1"/>
          </p:nvPr>
        </p:nvSpPr>
        <p:spPr/>
        <p:txBody>
          <a:bodyPr/>
          <a:lstStyle/>
          <a:p>
            <a:r>
              <a:rPr lang="en-IN" sz="2667" dirty="0"/>
              <a:t>A file is made of a number of blocks</a:t>
            </a:r>
          </a:p>
          <a:p>
            <a:endParaRPr lang="en-IN" sz="2667" dirty="0"/>
          </a:p>
          <a:p>
            <a:r>
              <a:rPr lang="en-IN" sz="2667" dirty="0"/>
              <a:t>Command to know the list of blocks for each file in HDFS</a:t>
            </a:r>
          </a:p>
          <a:p>
            <a:endParaRPr lang="en-IN" dirty="0"/>
          </a:p>
          <a:p>
            <a:pPr marL="0" indent="0">
              <a:buNone/>
            </a:pPr>
            <a:r>
              <a:rPr lang="en-IN" dirty="0"/>
              <a:t>       </a:t>
            </a:r>
          </a:p>
        </p:txBody>
      </p:sp>
      <p:sp>
        <p:nvSpPr>
          <p:cNvPr id="4" name="TextBox 3"/>
          <p:cNvSpPr txBox="1"/>
          <p:nvPr/>
        </p:nvSpPr>
        <p:spPr>
          <a:xfrm>
            <a:off x="2351585" y="3309128"/>
            <a:ext cx="4275529"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667" b="1" i="0" u="none" strike="noStrike" kern="1200" cap="none" spc="0" normalizeH="0" baseline="0" noProof="0" dirty="0" err="1">
                <a:ln>
                  <a:noFill/>
                </a:ln>
                <a:solidFill>
                  <a:prstClr val="black"/>
                </a:solidFill>
                <a:effectLst/>
                <a:uLnTx/>
                <a:uFillTx/>
                <a:latin typeface="Century Schoolbook" panose="02040604050505020304"/>
                <a:ea typeface="+mn-ea"/>
                <a:cs typeface="+mn-cs"/>
              </a:rPr>
              <a:t>hdfs</a:t>
            </a:r>
            <a:r>
              <a:rPr kumimoji="0" lang="en-IN" sz="2667" b="1"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IN" sz="2667" b="1" i="0" u="none" strike="noStrike" kern="1200" cap="none" spc="0" normalizeH="0" baseline="0" noProof="0" dirty="0" err="1">
                <a:ln>
                  <a:noFill/>
                </a:ln>
                <a:solidFill>
                  <a:prstClr val="black"/>
                </a:solidFill>
                <a:effectLst/>
                <a:uLnTx/>
                <a:uFillTx/>
                <a:latin typeface="Century Schoolbook" panose="02040604050505020304"/>
                <a:ea typeface="+mn-ea"/>
                <a:cs typeface="+mn-cs"/>
              </a:rPr>
              <a:t>fsck</a:t>
            </a:r>
            <a:r>
              <a:rPr kumimoji="0" lang="en-IN" sz="2667" b="1" i="0" u="none" strike="noStrike" kern="1200" cap="none" spc="0" normalizeH="0" baseline="0" noProof="0" dirty="0">
                <a:ln>
                  <a:noFill/>
                </a:ln>
                <a:solidFill>
                  <a:prstClr val="black"/>
                </a:solidFill>
                <a:effectLst/>
                <a:uLnTx/>
                <a:uFillTx/>
                <a:latin typeface="Century Schoolbook" panose="02040604050505020304"/>
                <a:ea typeface="+mn-ea"/>
                <a:cs typeface="+mn-cs"/>
              </a:rPr>
              <a:t> / -files -blocks</a:t>
            </a:r>
            <a:endParaRPr kumimoji="0" lang="en-IN" sz="2667" b="0" i="0" u="none" strike="noStrike" kern="1200" cap="none" spc="0" normalizeH="0" baseline="0" noProof="0" dirty="0">
              <a:ln>
                <a:noFill/>
              </a:ln>
              <a:solidFill>
                <a:prstClr val="black"/>
              </a:solidFill>
              <a:effectLst/>
              <a:uLnTx/>
              <a:uFillTx/>
              <a:latin typeface="Century Schoolbook" panose="02040604050505020304"/>
              <a:ea typeface="+mn-ea"/>
              <a:cs typeface="+mn-cs"/>
            </a:endParaRPr>
          </a:p>
        </p:txBody>
      </p:sp>
    </p:spTree>
    <p:extLst>
      <p:ext uri="{BB962C8B-B14F-4D97-AF65-F5344CB8AC3E}">
        <p14:creationId xmlns:p14="http://schemas.microsoft.com/office/powerpoint/2010/main" val="4248446466"/>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3439</TotalTime>
  <Words>2439</Words>
  <Application>Microsoft Office PowerPoint</Application>
  <PresentationFormat>Widescreen</PresentationFormat>
  <Paragraphs>369</Paragraphs>
  <Slides>39</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Arial</vt:lpstr>
      <vt:lpstr>Calibri</vt:lpstr>
      <vt:lpstr>Cambria Math</vt:lpstr>
      <vt:lpstr>Century Schoolbook</vt:lpstr>
      <vt:lpstr>Courier New</vt:lpstr>
      <vt:lpstr>Gill Sans</vt:lpstr>
      <vt:lpstr>Wingdings</vt:lpstr>
      <vt:lpstr>Office Theme</vt:lpstr>
      <vt:lpstr>Big Data Processing</vt:lpstr>
      <vt:lpstr>Multithreading  Python Examples</vt:lpstr>
      <vt:lpstr>Finding sum of numbers</vt:lpstr>
      <vt:lpstr>Finding variance of a set of numbers</vt:lpstr>
      <vt:lpstr>An Example Problem  Top k Similarity Search</vt:lpstr>
      <vt:lpstr>Top k Similarity Search</vt:lpstr>
      <vt:lpstr>PowerPoint Presentation</vt:lpstr>
      <vt:lpstr>Limitations of Classical Data Processing Framework</vt:lpstr>
      <vt:lpstr>Solution : </vt:lpstr>
      <vt:lpstr>Cluster Computing for Big Data</vt:lpstr>
      <vt:lpstr>Compute Cluster Components</vt:lpstr>
      <vt:lpstr>How to Organize Cluster of Computers?</vt:lpstr>
      <vt:lpstr>Cluster Architecture: Rack Servers</vt:lpstr>
      <vt:lpstr>Key challenges in  Cluster Computing</vt:lpstr>
      <vt:lpstr>Challenge # 1</vt:lpstr>
      <vt:lpstr>Consequences of Node Failure</vt:lpstr>
      <vt:lpstr>Challenge # 2</vt:lpstr>
      <vt:lpstr>Challenge # 3</vt:lpstr>
      <vt:lpstr>ADDRESSING DIFFICULTIES  (MAP-REDUCE FRAMEWORK)</vt:lpstr>
      <vt:lpstr>PowerPoint Presentation</vt:lpstr>
      <vt:lpstr>Stands on the Key Ideas</vt:lpstr>
      <vt:lpstr>Programming Model Overview (Map-reduce)</vt:lpstr>
      <vt:lpstr>Simple Programming Model: Map-reduce</vt:lpstr>
      <vt:lpstr>PowerPoint Presentation</vt:lpstr>
      <vt:lpstr>PowerPoint Presentation</vt:lpstr>
      <vt:lpstr>PowerPoint Presentation</vt:lpstr>
      <vt:lpstr>PowerPoint Presentation</vt:lpstr>
      <vt:lpstr>Storing Big Data in Cluster  Hadoop Distributed Filesystem</vt:lpstr>
      <vt:lpstr>Why distributed filesystem (DFS)?</vt:lpstr>
      <vt:lpstr>Design Principles of DFS</vt:lpstr>
      <vt:lpstr>Distributed File System: Data persistence</vt:lpstr>
      <vt:lpstr>Distributed File System: Chunk Servers</vt:lpstr>
      <vt:lpstr>HDFS (Hadoop) Architecture</vt:lpstr>
      <vt:lpstr>HDFS</vt:lpstr>
      <vt:lpstr>Namenode</vt:lpstr>
      <vt:lpstr>Datanode</vt:lpstr>
      <vt:lpstr>Physical View</vt:lpstr>
      <vt:lpstr>HDFS Blocks</vt:lpstr>
      <vt:lpstr>HDFS Blocks</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Processing</dc:title>
  <dc:creator>jiaul paik</dc:creator>
  <cp:lastModifiedBy>Subhasini Kumari Gupta</cp:lastModifiedBy>
  <cp:revision>640</cp:revision>
  <dcterms:created xsi:type="dcterms:W3CDTF">2020-05-13T23:12:08Z</dcterms:created>
  <dcterms:modified xsi:type="dcterms:W3CDTF">2025-02-19T10:44:24Z</dcterms:modified>
</cp:coreProperties>
</file>