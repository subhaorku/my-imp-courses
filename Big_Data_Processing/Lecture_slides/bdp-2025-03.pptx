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6" r:id="rId2"/>
    <p:sldId id="438" r:id="rId3"/>
    <p:sldId id="503" r:id="rId4"/>
    <p:sldId id="295" r:id="rId5"/>
    <p:sldId id="473" r:id="rId6"/>
    <p:sldId id="474" r:id="rId7"/>
    <p:sldId id="294" r:id="rId8"/>
    <p:sldId id="475" r:id="rId9"/>
    <p:sldId id="293" r:id="rId10"/>
    <p:sldId id="292" r:id="rId11"/>
    <p:sldId id="298" r:id="rId12"/>
    <p:sldId id="301" r:id="rId13"/>
    <p:sldId id="302" r:id="rId14"/>
    <p:sldId id="300" r:id="rId15"/>
    <p:sldId id="352" r:id="rId16"/>
    <p:sldId id="290" r:id="rId17"/>
    <p:sldId id="510" r:id="rId18"/>
    <p:sldId id="289" r:id="rId19"/>
    <p:sldId id="304" r:id="rId20"/>
    <p:sldId id="306" r:id="rId21"/>
    <p:sldId id="316" r:id="rId22"/>
    <p:sldId id="315" r:id="rId23"/>
    <p:sldId id="308" r:id="rId24"/>
    <p:sldId id="317" r:id="rId25"/>
    <p:sldId id="477" r:id="rId26"/>
    <p:sldId id="507" r:id="rId27"/>
    <p:sldId id="506" r:id="rId28"/>
    <p:sldId id="508" r:id="rId29"/>
    <p:sldId id="509" r:id="rId30"/>
    <p:sldId id="478" r:id="rId31"/>
    <p:sldId id="479" r:id="rId32"/>
    <p:sldId id="502" r:id="rId33"/>
    <p:sldId id="504" r:id="rId34"/>
    <p:sldId id="50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3" autoAdjust="0"/>
    <p:restoredTop sz="94660"/>
  </p:normalViewPr>
  <p:slideViewPr>
    <p:cSldViewPr snapToGrid="0">
      <p:cViewPr varScale="1">
        <p:scale>
          <a:sx n="81" d="100"/>
          <a:sy n="81" d="100"/>
        </p:scale>
        <p:origin x="667"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15-02-2025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15-02-2025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15-02-2025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15-02-2025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15-02-2025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15-02-2025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15-02-2025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3</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357" y="360920"/>
            <a:ext cx="9875520" cy="541213"/>
          </a:xfrm>
        </p:spPr>
        <p:txBody>
          <a:bodyPr>
            <a:noAutofit/>
          </a:bodyPr>
          <a:lstStyle/>
          <a:p>
            <a:r>
              <a:rPr lang="en-US" sz="4000" b="1" dirty="0">
                <a:solidFill>
                  <a:srgbClr val="00B050"/>
                </a:solidFill>
              </a:rPr>
              <a:t>Parallel Processing for Big Data</a:t>
            </a:r>
          </a:p>
        </p:txBody>
      </p:sp>
      <p:sp>
        <p:nvSpPr>
          <p:cNvPr id="3" name="Content Placeholder 2"/>
          <p:cNvSpPr>
            <a:spLocks noGrp="1"/>
          </p:cNvSpPr>
          <p:nvPr>
            <p:ph idx="1"/>
          </p:nvPr>
        </p:nvSpPr>
        <p:spPr>
          <a:xfrm>
            <a:off x="914400" y="1237129"/>
            <a:ext cx="10444480" cy="4885765"/>
          </a:xfrm>
        </p:spPr>
        <p:txBody>
          <a:bodyPr>
            <a:normAutofit/>
          </a:bodyPr>
          <a:lstStyle/>
          <a:p>
            <a:pPr marL="0" indent="0">
              <a:buNone/>
            </a:pPr>
            <a:r>
              <a:rPr lang="en-US" sz="2400" dirty="0">
                <a:solidFill>
                  <a:schemeClr val="tx1"/>
                </a:solidFill>
              </a:rPr>
              <a:t> </a:t>
            </a:r>
          </a:p>
        </p:txBody>
      </p:sp>
      <p:sp>
        <p:nvSpPr>
          <p:cNvPr id="5" name="Rectangle 4"/>
          <p:cNvSpPr/>
          <p:nvPr/>
        </p:nvSpPr>
        <p:spPr>
          <a:xfrm>
            <a:off x="1869440" y="1524000"/>
            <a:ext cx="585216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                                     BIG  DATA</a:t>
            </a:r>
          </a:p>
        </p:txBody>
      </p:sp>
      <p:cxnSp>
        <p:nvCxnSpPr>
          <p:cNvPr id="11" name="Straight Connector 10"/>
          <p:cNvCxnSpPr/>
          <p:nvPr/>
        </p:nvCxnSpPr>
        <p:spPr>
          <a:xfrm>
            <a:off x="3169920" y="1524000"/>
            <a:ext cx="0" cy="609600"/>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p:cNvCxnSpPr/>
          <p:nvPr/>
        </p:nvCxnSpPr>
        <p:spPr>
          <a:xfrm>
            <a:off x="4800600" y="1524000"/>
            <a:ext cx="0" cy="609600"/>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Connector 14"/>
          <p:cNvCxnSpPr/>
          <p:nvPr/>
        </p:nvCxnSpPr>
        <p:spPr>
          <a:xfrm>
            <a:off x="6225627" y="1524000"/>
            <a:ext cx="0" cy="60960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Straight Arrow Connector 16"/>
          <p:cNvCxnSpPr/>
          <p:nvPr/>
        </p:nvCxnSpPr>
        <p:spPr>
          <a:xfrm flipH="1">
            <a:off x="2316480" y="2133600"/>
            <a:ext cx="284480" cy="5978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Straight Arrow Connector 19"/>
          <p:cNvCxnSpPr/>
          <p:nvPr/>
        </p:nvCxnSpPr>
        <p:spPr>
          <a:xfrm flipH="1">
            <a:off x="3860801" y="2133601"/>
            <a:ext cx="284481" cy="6083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p:cNvCxnSpPr/>
          <p:nvPr/>
        </p:nvCxnSpPr>
        <p:spPr>
          <a:xfrm>
            <a:off x="5527041" y="2133604"/>
            <a:ext cx="170268" cy="61619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p:cNvCxnSpPr>
            <a:cxnSpLocks/>
          </p:cNvCxnSpPr>
          <p:nvPr/>
        </p:nvCxnSpPr>
        <p:spPr>
          <a:xfrm>
            <a:off x="7385727" y="2133604"/>
            <a:ext cx="0" cy="59779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p:nvPr/>
        </p:nvCxnSpPr>
        <p:spPr>
          <a:xfrm>
            <a:off x="2316480" y="3548093"/>
            <a:ext cx="2357120" cy="47870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p:cNvCxnSpPr/>
          <p:nvPr/>
        </p:nvCxnSpPr>
        <p:spPr>
          <a:xfrm>
            <a:off x="3860802" y="3558605"/>
            <a:ext cx="812801" cy="46819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p:cNvCxnSpPr/>
          <p:nvPr/>
        </p:nvCxnSpPr>
        <p:spPr>
          <a:xfrm flipH="1">
            <a:off x="4673601" y="3566489"/>
            <a:ext cx="1023708" cy="4603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p:cNvCxnSpPr/>
          <p:nvPr/>
        </p:nvCxnSpPr>
        <p:spPr>
          <a:xfrm flipH="1">
            <a:off x="4673604" y="3566489"/>
            <a:ext cx="2682241" cy="4603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p:cNvSpPr txBox="1"/>
          <p:nvPr/>
        </p:nvSpPr>
        <p:spPr>
          <a:xfrm>
            <a:off x="8036340" y="1607806"/>
            <a:ext cx="3188693" cy="338554"/>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 1. Split data into small chunks</a:t>
            </a:r>
          </a:p>
        </p:txBody>
      </p:sp>
      <p:sp>
        <p:nvSpPr>
          <p:cNvPr id="35" name="TextBox 34"/>
          <p:cNvSpPr txBox="1"/>
          <p:nvPr/>
        </p:nvSpPr>
        <p:spPr>
          <a:xfrm>
            <a:off x="8155303" y="2339287"/>
            <a:ext cx="2877711" cy="58477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2. Send different chunks to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different workers</a:t>
            </a:r>
          </a:p>
        </p:txBody>
      </p:sp>
      <p:sp>
        <p:nvSpPr>
          <p:cNvPr id="36" name="TextBox 35"/>
          <p:cNvSpPr txBox="1"/>
          <p:nvPr/>
        </p:nvSpPr>
        <p:spPr>
          <a:xfrm>
            <a:off x="8155303" y="3641551"/>
            <a:ext cx="3174267" cy="584775"/>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3. Collect the results from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different workers and combine</a:t>
            </a:r>
          </a:p>
        </p:txBody>
      </p:sp>
      <p:pic>
        <p:nvPicPr>
          <p:cNvPr id="1026" name="Picture 2" descr="Image result for 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9441" y="2731402"/>
            <a:ext cx="921175" cy="76764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Image result for 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00213" y="2748007"/>
            <a:ext cx="921175" cy="76764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age result for 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5454" y="2780451"/>
            <a:ext cx="921175" cy="76764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Image result for 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0426" y="2746206"/>
            <a:ext cx="921175" cy="76764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Image result for comp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3014" y="4109156"/>
            <a:ext cx="921175" cy="767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17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4" grpId="0"/>
      <p:bldP spid="35"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9A45F0E-FE78-46A0-BBBB-1846662CD72E}"/>
              </a:ext>
            </a:extLst>
          </p:cNvPr>
          <p:cNvSpPr/>
          <p:nvPr/>
        </p:nvSpPr>
        <p:spPr>
          <a:xfrm>
            <a:off x="7046259" y="1524000"/>
            <a:ext cx="5039927" cy="28956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3DFC1BFC-D460-49F2-A750-4ACE43AC1320}"/>
              </a:ext>
            </a:extLst>
          </p:cNvPr>
          <p:cNvSpPr/>
          <p:nvPr/>
        </p:nvSpPr>
        <p:spPr>
          <a:xfrm>
            <a:off x="340659" y="1524000"/>
            <a:ext cx="6580094" cy="2895600"/>
          </a:xfrm>
          <a:prstGeom prst="roundRect">
            <a:avLst/>
          </a:prstGeom>
          <a:solidFill>
            <a:schemeClr val="accent4">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p:cNvSpPr>
            <a:spLocks noGrp="1"/>
          </p:cNvSpPr>
          <p:nvPr>
            <p:ph type="title"/>
          </p:nvPr>
        </p:nvSpPr>
        <p:spPr>
          <a:xfrm>
            <a:off x="257453" y="208076"/>
            <a:ext cx="11505460" cy="732155"/>
          </a:xfrm>
        </p:spPr>
        <p:txBody>
          <a:bodyPr>
            <a:noAutofit/>
          </a:bodyPr>
          <a:lstStyle/>
          <a:p>
            <a:r>
              <a:rPr lang="en-US" sz="3600" dirty="0"/>
              <a:t>Parallel Programming</a:t>
            </a:r>
          </a:p>
        </p:txBody>
      </p:sp>
      <p:sp>
        <p:nvSpPr>
          <p:cNvPr id="3" name="Content Placeholder 2"/>
          <p:cNvSpPr>
            <a:spLocks noGrp="1"/>
          </p:cNvSpPr>
          <p:nvPr>
            <p:ph idx="1"/>
          </p:nvPr>
        </p:nvSpPr>
        <p:spPr>
          <a:xfrm>
            <a:off x="838200" y="1773593"/>
            <a:ext cx="11247986" cy="4705214"/>
          </a:xfrm>
        </p:spPr>
        <p:txBody>
          <a:bodyPr/>
          <a:lstStyle/>
          <a:p>
            <a:pPr marL="0" indent="0">
              <a:buNone/>
            </a:pPr>
            <a:endParaRPr lang="en-US" dirty="0"/>
          </a:p>
          <a:p>
            <a:endParaRPr lang="en-US" dirty="0"/>
          </a:p>
          <a:p>
            <a:endParaRPr lang="en-US" dirty="0"/>
          </a:p>
          <a:p>
            <a:endParaRPr lang="en-US" dirty="0"/>
          </a:p>
        </p:txBody>
      </p:sp>
      <p:pic>
        <p:nvPicPr>
          <p:cNvPr id="100354" name="Object 1"/>
          <p:cNvPicPr>
            <a:picLocks noChangeAspect="1" noChangeArrowheads="1"/>
          </p:cNvPicPr>
          <p:nvPr/>
        </p:nvPicPr>
        <p:blipFill>
          <a:blip r:embed="rId2"/>
          <a:srcRect b="-406"/>
          <a:stretch>
            <a:fillRect/>
          </a:stretch>
        </p:blipFill>
        <p:spPr bwMode="auto">
          <a:xfrm>
            <a:off x="523188" y="1773593"/>
            <a:ext cx="6066484" cy="2310741"/>
          </a:xfrm>
          <a:prstGeom prst="rect">
            <a:avLst/>
          </a:prstGeom>
          <a:noFill/>
          <a:ln w="9525">
            <a:noFill/>
            <a:miter lim="800000"/>
            <a:headEnd/>
            <a:tailEnd/>
          </a:ln>
        </p:spPr>
      </p:pic>
      <p:pic>
        <p:nvPicPr>
          <p:cNvPr id="4" name="Picture 3">
            <a:extLst>
              <a:ext uri="{FF2B5EF4-FFF2-40B4-BE49-F238E27FC236}">
                <a16:creationId xmlns:a16="http://schemas.microsoft.com/office/drawing/2014/main" id="{1BC7BF72-CC51-4DA9-A8D4-0D5302F71B2A}"/>
              </a:ext>
            </a:extLst>
          </p:cNvPr>
          <p:cNvPicPr>
            <a:picLocks noChangeAspect="1"/>
          </p:cNvPicPr>
          <p:nvPr/>
        </p:nvPicPr>
        <p:blipFill>
          <a:blip r:embed="rId3"/>
          <a:stretch>
            <a:fillRect/>
          </a:stretch>
        </p:blipFill>
        <p:spPr>
          <a:xfrm>
            <a:off x="7159678" y="1645403"/>
            <a:ext cx="4836861" cy="2480797"/>
          </a:xfrm>
          <a:prstGeom prst="rect">
            <a:avLst/>
          </a:prstGeom>
        </p:spPr>
      </p:pic>
      <p:sp>
        <p:nvSpPr>
          <p:cNvPr id="9" name="Rectangle: Rounded Corners 8">
            <a:extLst>
              <a:ext uri="{FF2B5EF4-FFF2-40B4-BE49-F238E27FC236}">
                <a16:creationId xmlns:a16="http://schemas.microsoft.com/office/drawing/2014/main" id="{94E52012-D6F6-465F-AB4E-6240CAF6DF97}"/>
              </a:ext>
            </a:extLst>
          </p:cNvPr>
          <p:cNvSpPr/>
          <p:nvPr/>
        </p:nvSpPr>
        <p:spPr>
          <a:xfrm>
            <a:off x="2278959" y="4560928"/>
            <a:ext cx="2554941" cy="39943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Cluster</a:t>
            </a:r>
          </a:p>
        </p:txBody>
      </p:sp>
      <p:sp>
        <p:nvSpPr>
          <p:cNvPr id="11" name="Rectangle: Rounded Corners 10">
            <a:extLst>
              <a:ext uri="{FF2B5EF4-FFF2-40B4-BE49-F238E27FC236}">
                <a16:creationId xmlns:a16="http://schemas.microsoft.com/office/drawing/2014/main" id="{093F8633-6098-4687-809C-D4FBD3D6A231}"/>
              </a:ext>
            </a:extLst>
          </p:cNvPr>
          <p:cNvSpPr/>
          <p:nvPr/>
        </p:nvSpPr>
        <p:spPr>
          <a:xfrm>
            <a:off x="8288751" y="4566108"/>
            <a:ext cx="2554941" cy="39943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Multi-processor</a:t>
            </a:r>
          </a:p>
        </p:txBody>
      </p:sp>
      <p:sp>
        <p:nvSpPr>
          <p:cNvPr id="12" name="Rectangle: Rounded Corners 11">
            <a:extLst>
              <a:ext uri="{FF2B5EF4-FFF2-40B4-BE49-F238E27FC236}">
                <a16:creationId xmlns:a16="http://schemas.microsoft.com/office/drawing/2014/main" id="{C15F8405-7463-46F0-BA8B-DC882C033E61}"/>
              </a:ext>
            </a:extLst>
          </p:cNvPr>
          <p:cNvSpPr/>
          <p:nvPr/>
        </p:nvSpPr>
        <p:spPr>
          <a:xfrm>
            <a:off x="1857617" y="5436960"/>
            <a:ext cx="3397623" cy="39943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Distributed programming</a:t>
            </a:r>
          </a:p>
        </p:txBody>
      </p:sp>
      <p:sp>
        <p:nvSpPr>
          <p:cNvPr id="13" name="Rectangle: Rounded Corners 12">
            <a:extLst>
              <a:ext uri="{FF2B5EF4-FFF2-40B4-BE49-F238E27FC236}">
                <a16:creationId xmlns:a16="http://schemas.microsoft.com/office/drawing/2014/main" id="{A38D1D28-7EE2-429A-84CA-F9C725250E83}"/>
              </a:ext>
            </a:extLst>
          </p:cNvPr>
          <p:cNvSpPr/>
          <p:nvPr/>
        </p:nvSpPr>
        <p:spPr>
          <a:xfrm>
            <a:off x="7654058" y="5436960"/>
            <a:ext cx="3824326" cy="399438"/>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Multi-threaded programming</a:t>
            </a:r>
          </a:p>
        </p:txBody>
      </p:sp>
      <p:pic>
        <p:nvPicPr>
          <p:cNvPr id="10" name="Picture 9">
            <a:extLst>
              <a:ext uri="{FF2B5EF4-FFF2-40B4-BE49-F238E27FC236}">
                <a16:creationId xmlns:a16="http://schemas.microsoft.com/office/drawing/2014/main" id="{37C82AB1-FB32-41CE-A086-75469CFE4012}"/>
              </a:ext>
            </a:extLst>
          </p:cNvPr>
          <p:cNvPicPr>
            <a:picLocks noChangeAspect="1"/>
          </p:cNvPicPr>
          <p:nvPr/>
        </p:nvPicPr>
        <p:blipFill>
          <a:blip r:embed="rId4"/>
          <a:stretch>
            <a:fillRect/>
          </a:stretch>
        </p:blipFill>
        <p:spPr>
          <a:xfrm>
            <a:off x="9833430" y="1645403"/>
            <a:ext cx="1531720" cy="1413685"/>
          </a:xfrm>
          <a:prstGeom prst="rect">
            <a:avLst/>
          </a:prstGeom>
        </p:spPr>
      </p:pic>
    </p:spTree>
    <p:extLst>
      <p:ext uri="{BB962C8B-B14F-4D97-AF65-F5344CB8AC3E}">
        <p14:creationId xmlns:p14="http://schemas.microsoft.com/office/powerpoint/2010/main" val="185273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3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9"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855" y="2696845"/>
            <a:ext cx="10515600" cy="732155"/>
          </a:xfrm>
        </p:spPr>
        <p:txBody>
          <a:bodyPr>
            <a:noAutofit/>
          </a:bodyPr>
          <a:lstStyle/>
          <a:p>
            <a:pPr algn="ctr"/>
            <a:r>
              <a:rPr lang="en-US" dirty="0"/>
              <a:t>Multithreaded Programming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DBA1-033E-41CC-A1C3-2245F7B32207}"/>
              </a:ext>
            </a:extLst>
          </p:cNvPr>
          <p:cNvSpPr>
            <a:spLocks noGrp="1"/>
          </p:cNvSpPr>
          <p:nvPr>
            <p:ph type="title"/>
          </p:nvPr>
        </p:nvSpPr>
        <p:spPr/>
        <p:txBody>
          <a:bodyPr/>
          <a:lstStyle/>
          <a:p>
            <a:r>
              <a:rPr lang="en-IN" dirty="0"/>
              <a:t>What is a thread?</a:t>
            </a:r>
          </a:p>
        </p:txBody>
      </p:sp>
      <p:sp>
        <p:nvSpPr>
          <p:cNvPr id="3" name="Content Placeholder 2">
            <a:extLst>
              <a:ext uri="{FF2B5EF4-FFF2-40B4-BE49-F238E27FC236}">
                <a16:creationId xmlns:a16="http://schemas.microsoft.com/office/drawing/2014/main" id="{2E79537D-964D-4322-A986-58568DA1E864}"/>
              </a:ext>
            </a:extLst>
          </p:cNvPr>
          <p:cNvSpPr>
            <a:spLocks noGrp="1"/>
          </p:cNvSpPr>
          <p:nvPr>
            <p:ph idx="1"/>
          </p:nvPr>
        </p:nvSpPr>
        <p:spPr>
          <a:xfrm>
            <a:off x="838200" y="1471749"/>
            <a:ext cx="10824882" cy="4705214"/>
          </a:xfrm>
        </p:spPr>
        <p:txBody>
          <a:bodyPr/>
          <a:lstStyle/>
          <a:p>
            <a:r>
              <a:rPr lang="en-US" b="0" dirty="0"/>
              <a:t>A </a:t>
            </a:r>
            <a:r>
              <a:rPr lang="en-US" b="0" i="1" dirty="0"/>
              <a:t>thread</a:t>
            </a:r>
            <a:r>
              <a:rPr lang="en-US" b="0" dirty="0"/>
              <a:t> is a single sequential flow of control within a program</a:t>
            </a:r>
          </a:p>
          <a:p>
            <a:pPr lvl="1"/>
            <a:r>
              <a:rPr lang="en-US" dirty="0"/>
              <a:t>A thread can’t run on its own</a:t>
            </a:r>
          </a:p>
          <a:p>
            <a:pPr lvl="1"/>
            <a:r>
              <a:rPr lang="en-US" dirty="0"/>
              <a:t>It must run within a program </a:t>
            </a:r>
            <a:endParaRPr lang="en-IN" dirty="0"/>
          </a:p>
        </p:txBody>
      </p:sp>
      <p:pic>
        <p:nvPicPr>
          <p:cNvPr id="8" name="Picture 7">
            <a:extLst>
              <a:ext uri="{FF2B5EF4-FFF2-40B4-BE49-F238E27FC236}">
                <a16:creationId xmlns:a16="http://schemas.microsoft.com/office/drawing/2014/main" id="{060200E1-554B-40B9-A870-3F0328A14323}"/>
              </a:ext>
            </a:extLst>
          </p:cNvPr>
          <p:cNvPicPr>
            <a:picLocks noChangeAspect="1"/>
          </p:cNvPicPr>
          <p:nvPr/>
        </p:nvPicPr>
        <p:blipFill>
          <a:blip r:embed="rId2"/>
          <a:stretch>
            <a:fillRect/>
          </a:stretch>
        </p:blipFill>
        <p:spPr>
          <a:xfrm>
            <a:off x="4091866" y="3294956"/>
            <a:ext cx="2894010" cy="2182566"/>
          </a:xfrm>
          <a:prstGeom prst="rect">
            <a:avLst/>
          </a:prstGeom>
        </p:spPr>
      </p:pic>
    </p:spTree>
    <p:extLst>
      <p:ext uri="{BB962C8B-B14F-4D97-AF65-F5344CB8AC3E}">
        <p14:creationId xmlns:p14="http://schemas.microsoft.com/office/powerpoint/2010/main" val="212632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B8B5-3C72-49B1-9D72-0D273825F83E}"/>
              </a:ext>
            </a:extLst>
          </p:cNvPr>
          <p:cNvSpPr>
            <a:spLocks noGrp="1"/>
          </p:cNvSpPr>
          <p:nvPr>
            <p:ph type="title"/>
          </p:nvPr>
        </p:nvSpPr>
        <p:spPr/>
        <p:txBody>
          <a:bodyPr/>
          <a:lstStyle/>
          <a:p>
            <a:r>
              <a:rPr lang="en-IN" dirty="0"/>
              <a:t>What is multithreading?</a:t>
            </a:r>
          </a:p>
        </p:txBody>
      </p:sp>
      <p:sp>
        <p:nvSpPr>
          <p:cNvPr id="3" name="Content Placeholder 2">
            <a:extLst>
              <a:ext uri="{FF2B5EF4-FFF2-40B4-BE49-F238E27FC236}">
                <a16:creationId xmlns:a16="http://schemas.microsoft.com/office/drawing/2014/main" id="{57074402-FA95-4C96-8CAD-4A2932C3EC97}"/>
              </a:ext>
            </a:extLst>
          </p:cNvPr>
          <p:cNvSpPr>
            <a:spLocks noGrp="1"/>
          </p:cNvSpPr>
          <p:nvPr>
            <p:ph idx="1"/>
          </p:nvPr>
        </p:nvSpPr>
        <p:spPr/>
        <p:txBody>
          <a:bodyPr/>
          <a:lstStyle/>
          <a:p>
            <a:r>
              <a:rPr lang="en-US" b="0" dirty="0"/>
              <a:t>Multiple threads running at the same time and performing different tasks in a single program</a:t>
            </a:r>
            <a:endParaRPr lang="en-IN" dirty="0"/>
          </a:p>
        </p:txBody>
      </p:sp>
      <p:pic>
        <p:nvPicPr>
          <p:cNvPr id="5" name="Picture 4">
            <a:extLst>
              <a:ext uri="{FF2B5EF4-FFF2-40B4-BE49-F238E27FC236}">
                <a16:creationId xmlns:a16="http://schemas.microsoft.com/office/drawing/2014/main" id="{950063BE-5258-4AB2-AB6A-785F9E6BAE93}"/>
              </a:ext>
            </a:extLst>
          </p:cNvPr>
          <p:cNvPicPr>
            <a:picLocks noChangeAspect="1"/>
          </p:cNvPicPr>
          <p:nvPr/>
        </p:nvPicPr>
        <p:blipFill>
          <a:blip r:embed="rId2"/>
          <a:stretch>
            <a:fillRect/>
          </a:stretch>
        </p:blipFill>
        <p:spPr>
          <a:xfrm>
            <a:off x="3739966" y="3204297"/>
            <a:ext cx="3978276" cy="2545025"/>
          </a:xfrm>
          <a:prstGeom prst="rect">
            <a:avLst/>
          </a:prstGeom>
        </p:spPr>
      </p:pic>
    </p:spTree>
    <p:extLst>
      <p:ext uri="{BB962C8B-B14F-4D97-AF65-F5344CB8AC3E}">
        <p14:creationId xmlns:p14="http://schemas.microsoft.com/office/powerpoint/2010/main" val="551672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Why Multithreading?</a:t>
            </a:r>
          </a:p>
        </p:txBody>
      </p:sp>
      <p:sp>
        <p:nvSpPr>
          <p:cNvPr id="29" name="Content Placeholder 28"/>
          <p:cNvSpPr>
            <a:spLocks noGrp="1"/>
          </p:cNvSpPr>
          <p:nvPr>
            <p:ph idx="1"/>
          </p:nvPr>
        </p:nvSpPr>
        <p:spPr>
          <a:xfrm>
            <a:off x="669303" y="1314420"/>
            <a:ext cx="10515600" cy="4705214"/>
          </a:xfrm>
        </p:spPr>
        <p:txBody>
          <a:bodyPr/>
          <a:lstStyle/>
          <a:p>
            <a:r>
              <a:rPr lang="en-US" dirty="0"/>
              <a:t>Better, more modular way of solving a problem</a:t>
            </a:r>
          </a:p>
          <a:p>
            <a:r>
              <a:rPr lang="en-US" dirty="0"/>
              <a:t>Separate computation from I/O</a:t>
            </a:r>
          </a:p>
          <a:p>
            <a:r>
              <a:rPr lang="en-US" dirty="0"/>
              <a:t>Take advantage of multiprocessors</a:t>
            </a:r>
          </a:p>
        </p:txBody>
      </p:sp>
      <p:sp>
        <p:nvSpPr>
          <p:cNvPr id="2073" name="Rectangle 2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38FB1016-AD4E-42AD-93B6-77EF2EDB654F}"/>
              </a:ext>
            </a:extLst>
          </p:cNvPr>
          <p:cNvPicPr>
            <a:picLocks noChangeAspect="1"/>
          </p:cNvPicPr>
          <p:nvPr/>
        </p:nvPicPr>
        <p:blipFill>
          <a:blip r:embed="rId2"/>
          <a:stretch>
            <a:fillRect/>
          </a:stretch>
        </p:blipFill>
        <p:spPr>
          <a:xfrm>
            <a:off x="6020483" y="3189654"/>
            <a:ext cx="5131426" cy="2987309"/>
          </a:xfrm>
          <a:prstGeom prst="rect">
            <a:avLst/>
          </a:prstGeom>
        </p:spPr>
      </p:pic>
      <p:sp>
        <p:nvSpPr>
          <p:cNvPr id="4" name="TextBox 3">
            <a:extLst>
              <a:ext uri="{FF2B5EF4-FFF2-40B4-BE49-F238E27FC236}">
                <a16:creationId xmlns:a16="http://schemas.microsoft.com/office/drawing/2014/main" id="{5214565B-6D00-1FF6-41D0-9BE7541AC2DC}"/>
              </a:ext>
            </a:extLst>
          </p:cNvPr>
          <p:cNvSpPr txBox="1"/>
          <p:nvPr/>
        </p:nvSpPr>
        <p:spPr>
          <a:xfrm>
            <a:off x="669303" y="3189654"/>
            <a:ext cx="4374037" cy="2308324"/>
          </a:xfrm>
          <a:prstGeom prst="rect">
            <a:avLst/>
          </a:prstGeom>
          <a:noFill/>
        </p:spPr>
        <p:txBody>
          <a:bodyPr wrap="square" rtlCol="0">
            <a:spAutoFit/>
          </a:bodyPr>
          <a:lstStyle/>
          <a:p>
            <a:r>
              <a:rPr lang="en-US" dirty="0"/>
              <a:t>The term </a:t>
            </a:r>
            <a:r>
              <a:rPr lang="en-US" b="1" dirty="0"/>
              <a:t>modular</a:t>
            </a:r>
            <a:r>
              <a:rPr lang="en-US" dirty="0"/>
              <a:t> refers to a design principle where a system or problem is divided into smaller, self-contained, and independent units (called modules) that can work together to perform the overall task. Each module is designed to handle a specific functionality or task.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Multiprocessors</a:t>
            </a:r>
          </a:p>
        </p:txBody>
      </p:sp>
      <p:sp>
        <p:nvSpPr>
          <p:cNvPr id="12312" name="Rectangle 2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2289" name="Group 1"/>
          <p:cNvGrpSpPr>
            <a:grpSpLocks noChangeAspect="1"/>
          </p:cNvGrpSpPr>
          <p:nvPr/>
        </p:nvGrpSpPr>
        <p:grpSpPr bwMode="auto">
          <a:xfrm>
            <a:off x="2387034" y="1501875"/>
            <a:ext cx="6359305" cy="3258163"/>
            <a:chOff x="3108" y="1794"/>
            <a:chExt cx="9400" cy="4952"/>
          </a:xfrm>
        </p:grpSpPr>
        <p:sp>
          <p:nvSpPr>
            <p:cNvPr id="12311" name="AutoShape 23"/>
            <p:cNvSpPr>
              <a:spLocks noChangeAspect="1" noChangeArrowheads="1" noTextEdit="1"/>
            </p:cNvSpPr>
            <p:nvPr/>
          </p:nvSpPr>
          <p:spPr bwMode="auto">
            <a:xfrm>
              <a:off x="3108" y="1794"/>
              <a:ext cx="9400" cy="4952"/>
            </a:xfrm>
            <a:prstGeom prst="rect">
              <a:avLst/>
            </a:prstGeom>
            <a:noFill/>
          </p:spPr>
          <p:txBody>
            <a:bodyPr vert="horz" wrap="square" lIns="91440" tIns="45720" rIns="91440" bIns="45720" numCol="1" anchor="t" anchorCtr="0" compatLnSpc="1">
              <a:prstTxWarp prst="textNoShape">
                <a:avLst/>
              </a:prstTxWarp>
            </a:bodyPr>
            <a:lstStyle/>
            <a:p>
              <a:endParaRPr lang="en-US" sz="4000"/>
            </a:p>
          </p:txBody>
        </p:sp>
        <p:sp>
          <p:nvSpPr>
            <p:cNvPr id="12310" name="Rectangle 22"/>
            <p:cNvSpPr>
              <a:spLocks noChangeArrowheads="1"/>
            </p:cNvSpPr>
            <p:nvPr/>
          </p:nvSpPr>
          <p:spPr bwMode="auto">
            <a:xfrm>
              <a:off x="5208" y="1794"/>
              <a:ext cx="2817" cy="1234"/>
            </a:xfrm>
            <a:prstGeom prst="rect">
              <a:avLst/>
            </a:prstGeom>
            <a:no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309" name="Text Box 21"/>
            <p:cNvSpPr txBox="1">
              <a:spLocks noChangeArrowheads="1"/>
            </p:cNvSpPr>
            <p:nvPr/>
          </p:nvSpPr>
          <p:spPr bwMode="auto">
            <a:xfrm>
              <a:off x="5621" y="2237"/>
              <a:ext cx="2119" cy="412"/>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Shared Memory  </a:t>
              </a:r>
              <a:endParaRPr lang="en-US" sz="4000">
                <a:latin typeface="Arial" pitchFamily="34" charset="0"/>
                <a:cs typeface="Arial" pitchFamily="34" charset="0"/>
              </a:endParaRPr>
            </a:p>
          </p:txBody>
        </p:sp>
        <p:sp>
          <p:nvSpPr>
            <p:cNvPr id="12308" name="Oval 20"/>
            <p:cNvSpPr>
              <a:spLocks noChangeArrowheads="1"/>
            </p:cNvSpPr>
            <p:nvPr/>
          </p:nvSpPr>
          <p:spPr bwMode="auto">
            <a:xfrm>
              <a:off x="3475" y="5497"/>
              <a:ext cx="1200" cy="1234"/>
            </a:xfrm>
            <a:prstGeom prst="ellipse">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307" name="Text Box 19"/>
            <p:cNvSpPr txBox="1">
              <a:spLocks noChangeArrowheads="1"/>
            </p:cNvSpPr>
            <p:nvPr/>
          </p:nvSpPr>
          <p:spPr bwMode="auto">
            <a:xfrm>
              <a:off x="3687" y="5906"/>
              <a:ext cx="865"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CPU  </a:t>
              </a:r>
              <a:endParaRPr lang="en-US" sz="4000">
                <a:latin typeface="Arial" pitchFamily="34" charset="0"/>
                <a:cs typeface="Arial" pitchFamily="34" charset="0"/>
              </a:endParaRPr>
            </a:p>
          </p:txBody>
        </p:sp>
        <p:sp>
          <p:nvSpPr>
            <p:cNvPr id="12306" name="Oval 18"/>
            <p:cNvSpPr>
              <a:spLocks noChangeArrowheads="1"/>
            </p:cNvSpPr>
            <p:nvPr/>
          </p:nvSpPr>
          <p:spPr bwMode="auto">
            <a:xfrm>
              <a:off x="4908" y="5497"/>
              <a:ext cx="1200" cy="1234"/>
            </a:xfrm>
            <a:prstGeom prst="ellipse">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305" name="Text Box 17"/>
            <p:cNvSpPr txBox="1">
              <a:spLocks noChangeArrowheads="1"/>
            </p:cNvSpPr>
            <p:nvPr/>
          </p:nvSpPr>
          <p:spPr bwMode="auto">
            <a:xfrm>
              <a:off x="5121" y="5906"/>
              <a:ext cx="864"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CPU  </a:t>
              </a:r>
              <a:endParaRPr lang="en-US" sz="4000">
                <a:latin typeface="Arial" pitchFamily="34" charset="0"/>
                <a:cs typeface="Arial" pitchFamily="34" charset="0"/>
              </a:endParaRPr>
            </a:p>
          </p:txBody>
        </p:sp>
        <p:sp>
          <p:nvSpPr>
            <p:cNvPr id="12304" name="Oval 16"/>
            <p:cNvSpPr>
              <a:spLocks noChangeArrowheads="1"/>
            </p:cNvSpPr>
            <p:nvPr/>
          </p:nvSpPr>
          <p:spPr bwMode="auto">
            <a:xfrm>
              <a:off x="6841" y="5497"/>
              <a:ext cx="1200" cy="1234"/>
            </a:xfrm>
            <a:prstGeom prst="ellipse">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303" name="Text Box 15"/>
            <p:cNvSpPr txBox="1">
              <a:spLocks noChangeArrowheads="1"/>
            </p:cNvSpPr>
            <p:nvPr/>
          </p:nvSpPr>
          <p:spPr bwMode="auto">
            <a:xfrm>
              <a:off x="7054" y="5906"/>
              <a:ext cx="865"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CPU  </a:t>
              </a:r>
              <a:endParaRPr lang="en-US" sz="4000">
                <a:latin typeface="Arial" pitchFamily="34" charset="0"/>
                <a:cs typeface="Arial" pitchFamily="34" charset="0"/>
              </a:endParaRPr>
            </a:p>
          </p:txBody>
        </p:sp>
        <p:sp>
          <p:nvSpPr>
            <p:cNvPr id="12302" name="Oval 14"/>
            <p:cNvSpPr>
              <a:spLocks noChangeArrowheads="1"/>
            </p:cNvSpPr>
            <p:nvPr/>
          </p:nvSpPr>
          <p:spPr bwMode="auto">
            <a:xfrm>
              <a:off x="8275" y="5497"/>
              <a:ext cx="1200" cy="1234"/>
            </a:xfrm>
            <a:prstGeom prst="ellipse">
              <a:avLst/>
            </a:prstGeom>
            <a:noFill/>
            <a:ln w="9525">
              <a:solidFill>
                <a:srgbClr val="000000"/>
              </a:solidFill>
              <a:round/>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301" name="Text Box 13"/>
            <p:cNvSpPr txBox="1">
              <a:spLocks noChangeArrowheads="1"/>
            </p:cNvSpPr>
            <p:nvPr/>
          </p:nvSpPr>
          <p:spPr bwMode="auto">
            <a:xfrm>
              <a:off x="8487" y="5906"/>
              <a:ext cx="865"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CPU  </a:t>
              </a:r>
              <a:endParaRPr lang="en-US" sz="4000">
                <a:latin typeface="Arial" pitchFamily="34" charset="0"/>
                <a:cs typeface="Arial" pitchFamily="34" charset="0"/>
              </a:endParaRPr>
            </a:p>
          </p:txBody>
        </p:sp>
        <p:sp>
          <p:nvSpPr>
            <p:cNvPr id="12300" name="Text Box 12"/>
            <p:cNvSpPr txBox="1">
              <a:spLocks noChangeArrowheads="1"/>
            </p:cNvSpPr>
            <p:nvPr/>
          </p:nvSpPr>
          <p:spPr bwMode="auto">
            <a:xfrm>
              <a:off x="6121" y="5819"/>
              <a:ext cx="694"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 . . .</a:t>
              </a:r>
              <a:endParaRPr lang="en-US" sz="4000">
                <a:latin typeface="Arial" pitchFamily="34" charset="0"/>
                <a:cs typeface="Arial" pitchFamily="34" charset="0"/>
              </a:endParaRPr>
            </a:p>
          </p:txBody>
        </p:sp>
        <p:sp>
          <p:nvSpPr>
            <p:cNvPr id="12299" name="Rectangle 11"/>
            <p:cNvSpPr>
              <a:spLocks noChangeArrowheads="1"/>
            </p:cNvSpPr>
            <p:nvPr/>
          </p:nvSpPr>
          <p:spPr bwMode="auto">
            <a:xfrm>
              <a:off x="10125" y="5512"/>
              <a:ext cx="1723" cy="1234"/>
            </a:xfrm>
            <a:prstGeom prst="rect">
              <a:avLst/>
            </a:prstGeom>
            <a:no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sz="4000"/>
            </a:p>
          </p:txBody>
        </p:sp>
        <p:sp>
          <p:nvSpPr>
            <p:cNvPr id="12298" name="Text Box 10"/>
            <p:cNvSpPr txBox="1">
              <a:spLocks noChangeArrowheads="1"/>
            </p:cNvSpPr>
            <p:nvPr/>
          </p:nvSpPr>
          <p:spPr bwMode="auto">
            <a:xfrm>
              <a:off x="10175" y="5906"/>
              <a:ext cx="1723" cy="411"/>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Input/output  </a:t>
              </a:r>
              <a:endParaRPr lang="en-US" sz="4000">
                <a:latin typeface="Arial" pitchFamily="34" charset="0"/>
                <a:cs typeface="Arial" pitchFamily="34" charset="0"/>
              </a:endParaRPr>
            </a:p>
          </p:txBody>
        </p:sp>
        <p:sp>
          <p:nvSpPr>
            <p:cNvPr id="12297" name="Line 9"/>
            <p:cNvSpPr>
              <a:spLocks noChangeShapeType="1"/>
            </p:cNvSpPr>
            <p:nvPr/>
          </p:nvSpPr>
          <p:spPr bwMode="auto">
            <a:xfrm flipV="1">
              <a:off x="3108" y="4246"/>
              <a:ext cx="9400" cy="17"/>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6" name="Line 8"/>
            <p:cNvSpPr>
              <a:spLocks noChangeShapeType="1"/>
            </p:cNvSpPr>
            <p:nvPr/>
          </p:nvSpPr>
          <p:spPr bwMode="auto">
            <a:xfrm>
              <a:off x="4058" y="4263"/>
              <a:ext cx="0" cy="123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5" name="Line 7"/>
            <p:cNvSpPr>
              <a:spLocks noChangeShapeType="1"/>
            </p:cNvSpPr>
            <p:nvPr/>
          </p:nvSpPr>
          <p:spPr bwMode="auto">
            <a:xfrm>
              <a:off x="5475" y="4246"/>
              <a:ext cx="0" cy="123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4" name="Line 6"/>
            <p:cNvSpPr>
              <a:spLocks noChangeShapeType="1"/>
            </p:cNvSpPr>
            <p:nvPr/>
          </p:nvSpPr>
          <p:spPr bwMode="auto">
            <a:xfrm>
              <a:off x="6575" y="3028"/>
              <a:ext cx="0" cy="121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3" name="Line 5"/>
            <p:cNvSpPr>
              <a:spLocks noChangeShapeType="1"/>
            </p:cNvSpPr>
            <p:nvPr/>
          </p:nvSpPr>
          <p:spPr bwMode="auto">
            <a:xfrm>
              <a:off x="7425" y="4246"/>
              <a:ext cx="0" cy="123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2" name="Line 4"/>
            <p:cNvSpPr>
              <a:spLocks noChangeShapeType="1"/>
            </p:cNvSpPr>
            <p:nvPr/>
          </p:nvSpPr>
          <p:spPr bwMode="auto">
            <a:xfrm>
              <a:off x="8841" y="4263"/>
              <a:ext cx="0" cy="123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1" name="Line 3"/>
            <p:cNvSpPr>
              <a:spLocks noChangeShapeType="1"/>
            </p:cNvSpPr>
            <p:nvPr/>
          </p:nvSpPr>
          <p:spPr bwMode="auto">
            <a:xfrm>
              <a:off x="10958" y="4246"/>
              <a:ext cx="0" cy="126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4000"/>
            </a:p>
          </p:txBody>
        </p:sp>
        <p:sp>
          <p:nvSpPr>
            <p:cNvPr id="12290" name="Text Box 2"/>
            <p:cNvSpPr txBox="1">
              <a:spLocks noChangeArrowheads="1"/>
            </p:cNvSpPr>
            <p:nvPr/>
          </p:nvSpPr>
          <p:spPr bwMode="auto">
            <a:xfrm>
              <a:off x="8154" y="3660"/>
              <a:ext cx="1637" cy="412"/>
            </a:xfrm>
            <a:prstGeom prst="rect">
              <a:avLst/>
            </a:prstGeom>
            <a:noFill/>
            <a:ln w="9525">
              <a:noFill/>
              <a:miter lim="800000"/>
              <a:headEnd/>
              <a:tailEnd/>
            </a:ln>
          </p:spPr>
          <p:txBody>
            <a:bodyPr vert="horz" wrap="square" lIns="52807" tIns="26403" rIns="52807" bIns="26403" numCol="1" anchor="t" anchorCtr="0" compatLnSpc="1">
              <a:prstTxWarp prst="textNoShape">
                <a:avLst/>
              </a:prstTxWarp>
            </a:bodyPr>
            <a:lstStyle/>
            <a:p>
              <a:pPr fontAlgn="base">
                <a:spcBef>
                  <a:spcPct val="0"/>
                </a:spcBef>
                <a:spcAft>
                  <a:spcPct val="0"/>
                </a:spcAft>
              </a:pPr>
              <a:r>
                <a:rPr lang="en-US" sz="1400" b="1">
                  <a:solidFill>
                    <a:srgbClr val="000000"/>
                  </a:solidFill>
                  <a:latin typeface="Arial" pitchFamily="34" charset="0"/>
                  <a:ea typeface="Times New Roman" pitchFamily="18" charset="0"/>
                  <a:cs typeface="Arial" pitchFamily="34" charset="0"/>
                </a:rPr>
                <a:t>Shared bus  </a:t>
              </a:r>
              <a:endParaRPr lang="en-US" sz="4000">
                <a:latin typeface="Arial" pitchFamily="34" charset="0"/>
                <a:cs typeface="Arial" pitchFamily="34" charset="0"/>
              </a:endParaRPr>
            </a:p>
          </p:txBody>
        </p:sp>
      </p:grpSp>
      <p:sp>
        <p:nvSpPr>
          <p:cNvPr id="28" name="TextBox 27"/>
          <p:cNvSpPr txBox="1"/>
          <p:nvPr/>
        </p:nvSpPr>
        <p:spPr>
          <a:xfrm>
            <a:off x="2387034" y="5444304"/>
            <a:ext cx="7343424" cy="800726"/>
          </a:xfrm>
          <a:prstGeom prst="rect">
            <a:avLst/>
          </a:prstGeom>
          <a:noFill/>
        </p:spPr>
        <p:txBody>
          <a:bodyPr wrap="square" rtlCol="0">
            <a:normAutofit/>
          </a:bodyPr>
          <a:lstStyle/>
          <a:p>
            <a:r>
              <a:rPr lang="en-US" dirty="0"/>
              <a:t>Threads of same process have identical views of memory hierarchy despite being on different physical processors.</a:t>
            </a:r>
          </a:p>
        </p:txBody>
      </p:sp>
    </p:spTree>
    <p:extLst>
      <p:ext uri="{BB962C8B-B14F-4D97-AF65-F5344CB8AC3E}">
        <p14:creationId xmlns:p14="http://schemas.microsoft.com/office/powerpoint/2010/main" val="1358028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Programming support for threads</a:t>
            </a:r>
          </a:p>
        </p:txBody>
      </p:sp>
      <p:sp>
        <p:nvSpPr>
          <p:cNvPr id="3" name="Content Placeholder 2"/>
          <p:cNvSpPr>
            <a:spLocks noGrp="1"/>
          </p:cNvSpPr>
          <p:nvPr>
            <p:ph idx="1"/>
          </p:nvPr>
        </p:nvSpPr>
        <p:spPr/>
        <p:txBody>
          <a:bodyPr>
            <a:normAutofit/>
          </a:bodyPr>
          <a:lstStyle/>
          <a:p>
            <a:r>
              <a:rPr lang="en-US" dirty="0"/>
              <a:t>Threads as a programming abstraction.  </a:t>
            </a:r>
          </a:p>
          <a:p>
            <a:endParaRPr lang="en-US" dirty="0"/>
          </a:p>
          <a:p>
            <a:r>
              <a:rPr lang="en-US" dirty="0"/>
              <a:t>Major operations</a:t>
            </a:r>
          </a:p>
          <a:p>
            <a:pPr lvl="1"/>
            <a:r>
              <a:rPr lang="en-US" dirty="0"/>
              <a:t>dynamically create threads</a:t>
            </a:r>
          </a:p>
          <a:p>
            <a:pPr lvl="1"/>
            <a:r>
              <a:rPr lang="en-US" dirty="0"/>
              <a:t>communicate among threads</a:t>
            </a:r>
          </a:p>
          <a:p>
            <a:pPr lvl="1"/>
            <a:r>
              <a:rPr lang="en-US" dirty="0"/>
              <a:t>synchronize activities of threads (If you don’t synchronize then I may be ending up changing some variable in a bad way which will dismantle the whole computation).</a:t>
            </a:r>
          </a:p>
          <a:p>
            <a:pPr lvl="1"/>
            <a:r>
              <a:rPr lang="en-US" dirty="0"/>
              <a:t>terminate threads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3600" dirty="0"/>
              <a:t>Thread creation and termination</a:t>
            </a:r>
          </a:p>
        </p:txBody>
      </p:sp>
      <p:sp>
        <p:nvSpPr>
          <p:cNvPr id="3" name="Content Placeholder 2"/>
          <p:cNvSpPr>
            <a:spLocks noGrp="1"/>
          </p:cNvSpPr>
          <p:nvPr>
            <p:ph idx="1"/>
          </p:nvPr>
        </p:nvSpPr>
        <p:spPr/>
        <p:txBody>
          <a:bodyPr>
            <a:normAutofit/>
          </a:bodyPr>
          <a:lstStyle/>
          <a:p>
            <a:r>
              <a:rPr lang="en-US" sz="2400" dirty="0"/>
              <a:t>A thread executes some portion of a program</a:t>
            </a:r>
          </a:p>
          <a:p>
            <a:endParaRPr lang="en-US" sz="2400" dirty="0"/>
          </a:p>
          <a:p>
            <a:r>
              <a:rPr lang="en-US" sz="2400" dirty="0"/>
              <a:t>Just like a program, it has an entry point where it begins execution</a:t>
            </a:r>
          </a:p>
          <a:p>
            <a:endParaRPr lang="en-US" sz="2400" dirty="0"/>
          </a:p>
          <a:p>
            <a:r>
              <a:rPr lang="en-US" sz="2400" dirty="0"/>
              <a:t>The entry point is defined as the address of some function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304586" y="4159406"/>
            <a:ext cx="2397513" cy="3010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81132" y="4161264"/>
            <a:ext cx="2397513" cy="30108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pPr lvl="0"/>
            <a:r>
              <a:rPr lang="en-US" sz="3600" dirty="0"/>
              <a:t>Thread creation and termination</a:t>
            </a:r>
          </a:p>
        </p:txBody>
      </p:sp>
      <p:sp>
        <p:nvSpPr>
          <p:cNvPr id="3" name="Content Placeholder 2"/>
          <p:cNvSpPr>
            <a:spLocks noGrp="1"/>
          </p:cNvSpPr>
          <p:nvPr>
            <p:ph idx="1"/>
          </p:nvPr>
        </p:nvSpPr>
        <p:spPr>
          <a:xfrm>
            <a:off x="486323" y="1215090"/>
            <a:ext cx="11189617" cy="1048731"/>
          </a:xfrm>
        </p:spPr>
        <p:txBody>
          <a:bodyPr>
            <a:normAutofit fontScale="47500" lnSpcReduction="20000"/>
          </a:bodyPr>
          <a:lstStyle/>
          <a:p>
            <a:pPr>
              <a:buNone/>
            </a:pPr>
            <a:r>
              <a:rPr lang="en-US" sz="2600" dirty="0" err="1">
                <a:latin typeface="Courier New" pitchFamily="49" charset="0"/>
                <a:cs typeface="Courier New" pitchFamily="49" charset="0"/>
              </a:rPr>
              <a:t>tid_t</a:t>
            </a:r>
            <a:r>
              <a:rPr lang="en-US" sz="2600" dirty="0">
                <a:latin typeface="Courier New" pitchFamily="49" charset="0"/>
                <a:cs typeface="Courier New" pitchFamily="49" charset="0"/>
              </a:rPr>
              <a:t> </a:t>
            </a:r>
            <a:r>
              <a:rPr lang="en-US" sz="2600" dirty="0" err="1">
                <a:latin typeface="Courier New" pitchFamily="49" charset="0"/>
                <a:cs typeface="Courier New" pitchFamily="49" charset="0"/>
              </a:rPr>
              <a:t>thread_create</a:t>
            </a:r>
            <a:r>
              <a:rPr lang="en-US" sz="2600" dirty="0">
                <a:latin typeface="Courier New" pitchFamily="49" charset="0"/>
                <a:cs typeface="Courier New" pitchFamily="49" charset="0"/>
              </a:rPr>
              <a:t> (top-level procedure, </a:t>
            </a:r>
            <a:r>
              <a:rPr lang="en-US" sz="2600" dirty="0" err="1">
                <a:latin typeface="Courier New" pitchFamily="49" charset="0"/>
                <a:cs typeface="Courier New" pitchFamily="49" charset="0"/>
              </a:rPr>
              <a:t>args</a:t>
            </a:r>
            <a:r>
              <a:rPr lang="en-US" sz="2600" dirty="0">
                <a:latin typeface="Courier New" pitchFamily="49" charset="0"/>
                <a:cs typeface="Courier New" pitchFamily="49" charset="0"/>
              </a:rPr>
              <a:t>); </a:t>
            </a:r>
          </a:p>
          <a:p>
            <a:pPr>
              <a:buNone/>
            </a:pPr>
            <a:endParaRPr lang="en-US" sz="2600" dirty="0">
              <a:latin typeface="Courier New" pitchFamily="49" charset="0"/>
              <a:cs typeface="Courier New" pitchFamily="49" charset="0"/>
            </a:endParaRPr>
          </a:p>
          <a:p>
            <a:pPr>
              <a:buNone/>
            </a:pPr>
            <a:r>
              <a:rPr lang="en-US" sz="2600" dirty="0">
                <a:solidFill>
                  <a:schemeClr val="tx1"/>
                </a:solidFill>
                <a:latin typeface="Courier New" pitchFamily="49" charset="0"/>
                <a:cs typeface="Courier New" pitchFamily="49" charset="0"/>
              </a:rPr>
              <a:t>[you can create a thread by using </a:t>
            </a:r>
            <a:r>
              <a:rPr lang="en-US" sz="2600" dirty="0" err="1">
                <a:solidFill>
                  <a:schemeClr val="tx1"/>
                </a:solidFill>
                <a:latin typeface="Courier New" pitchFamily="49" charset="0"/>
                <a:cs typeface="Courier New" pitchFamily="49" charset="0"/>
              </a:rPr>
              <a:t>thread_create</a:t>
            </a:r>
            <a:r>
              <a:rPr lang="en-US" sz="2600" dirty="0">
                <a:solidFill>
                  <a:schemeClr val="tx1"/>
                </a:solidFill>
                <a:latin typeface="Courier New" pitchFamily="49" charset="0"/>
                <a:cs typeface="Courier New" pitchFamily="49" charset="0"/>
              </a:rPr>
              <a:t> command and it returns something called </a:t>
            </a:r>
            <a:r>
              <a:rPr lang="en-US" sz="2600" dirty="0" err="1">
                <a:solidFill>
                  <a:schemeClr val="tx1"/>
                </a:solidFill>
                <a:latin typeface="Courier New" pitchFamily="49" charset="0"/>
                <a:cs typeface="Courier New" pitchFamily="49" charset="0"/>
              </a:rPr>
              <a:t>thread_id</a:t>
            </a:r>
            <a:r>
              <a:rPr lang="en-US" sz="2600" dirty="0">
                <a:solidFill>
                  <a:schemeClr val="tx1"/>
                </a:solidFill>
                <a:latin typeface="Courier New" pitchFamily="49" charset="0"/>
                <a:cs typeface="Courier New" pitchFamily="49" charset="0"/>
              </a:rPr>
              <a:t> or </a:t>
            </a:r>
            <a:r>
              <a:rPr lang="en-US" sz="2600" dirty="0" err="1">
                <a:solidFill>
                  <a:schemeClr val="tx1"/>
                </a:solidFill>
                <a:latin typeface="Courier New" pitchFamily="49" charset="0"/>
                <a:cs typeface="Courier New" pitchFamily="49" charset="0"/>
              </a:rPr>
              <a:t>tid_t</a:t>
            </a:r>
            <a:r>
              <a:rPr lang="en-US" sz="2600" dirty="0">
                <a:solidFill>
                  <a:schemeClr val="tx1"/>
                </a:solidFill>
                <a:latin typeface="Courier New" pitchFamily="49" charset="0"/>
                <a:cs typeface="Courier New" pitchFamily="49" charset="0"/>
              </a:rPr>
              <a:t>]</a:t>
            </a:r>
            <a:r>
              <a:rPr lang="en-US" sz="2600" dirty="0"/>
              <a:t> The </a:t>
            </a:r>
            <a:r>
              <a:rPr lang="en-US" sz="2600" b="1" dirty="0"/>
              <a:t>top-level procedure</a:t>
            </a:r>
            <a:r>
              <a:rPr lang="en-US" sz="2600" dirty="0"/>
              <a:t> refers to the function that will be executed by the newly created thread. This function defines the starting point of execution for the child thread.</a:t>
            </a:r>
            <a:endParaRPr lang="en-US" sz="2600" dirty="0">
              <a:solidFill>
                <a:schemeClr val="tx1"/>
              </a:solidFill>
              <a:latin typeface="Courier New" pitchFamily="49" charset="0"/>
              <a:cs typeface="Courier New" pitchFamily="49" charset="0"/>
            </a:endParaRPr>
          </a:p>
          <a:p>
            <a:endParaRPr lang="en-US" dirty="0"/>
          </a:p>
        </p:txBody>
      </p:sp>
      <p:pic>
        <p:nvPicPr>
          <p:cNvPr id="54274" name="Object 2"/>
          <p:cNvPicPr>
            <a:picLocks noChangeArrowheads="1"/>
          </p:cNvPicPr>
          <p:nvPr/>
        </p:nvPicPr>
        <p:blipFill>
          <a:blip r:embed="rId2"/>
          <a:srcRect l="-1440" t="-7031" r="-2560" b="-1563"/>
          <a:stretch>
            <a:fillRect/>
          </a:stretch>
        </p:blipFill>
        <p:spPr bwMode="auto">
          <a:xfrm>
            <a:off x="1981201" y="2754352"/>
            <a:ext cx="8008357" cy="1706137"/>
          </a:xfrm>
          <a:prstGeom prst="rect">
            <a:avLst/>
          </a:prstGeom>
          <a:noFill/>
          <a:ln w="9525">
            <a:noFill/>
            <a:miter lim="800000"/>
            <a:headEnd/>
            <a:tailEnd/>
          </a:ln>
        </p:spPr>
      </p:pic>
      <p:cxnSp>
        <p:nvCxnSpPr>
          <p:cNvPr id="7" name="Straight Connector 6"/>
          <p:cNvCxnSpPr/>
          <p:nvPr/>
        </p:nvCxnSpPr>
        <p:spPr>
          <a:xfrm rot="5400000" flipH="1" flipV="1">
            <a:off x="3280320" y="4354551"/>
            <a:ext cx="3824868" cy="1588"/>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39BB525-9A57-FF47-1D8B-80E1CC002A50}"/>
              </a:ext>
            </a:extLst>
          </p:cNvPr>
          <p:cNvSpPr txBox="1"/>
          <p:nvPr/>
        </p:nvSpPr>
        <p:spPr>
          <a:xfrm>
            <a:off x="509046" y="4779390"/>
            <a:ext cx="4682913" cy="646331"/>
          </a:xfrm>
          <a:prstGeom prst="rect">
            <a:avLst/>
          </a:prstGeom>
          <a:noFill/>
        </p:spPr>
        <p:txBody>
          <a:bodyPr wrap="square" rtlCol="0">
            <a:spAutoFit/>
          </a:bodyPr>
          <a:lstStyle/>
          <a:p>
            <a:r>
              <a:rPr lang="en-US" dirty="0"/>
              <a:t>Inside main thread you basically write the command to create a thread.</a:t>
            </a:r>
          </a:p>
        </p:txBody>
      </p:sp>
      <p:sp>
        <p:nvSpPr>
          <p:cNvPr id="5" name="TextBox 4">
            <a:extLst>
              <a:ext uri="{FF2B5EF4-FFF2-40B4-BE49-F238E27FC236}">
                <a16:creationId xmlns:a16="http://schemas.microsoft.com/office/drawing/2014/main" id="{C15951AC-E7E2-6C0B-C3AA-0EB644A0AD6D}"/>
              </a:ext>
            </a:extLst>
          </p:cNvPr>
          <p:cNvSpPr txBox="1"/>
          <p:nvPr/>
        </p:nvSpPr>
        <p:spPr>
          <a:xfrm>
            <a:off x="5301386" y="4779390"/>
            <a:ext cx="6717789" cy="1200329"/>
          </a:xfrm>
          <a:prstGeom prst="rect">
            <a:avLst/>
          </a:prstGeom>
          <a:noFill/>
        </p:spPr>
        <p:txBody>
          <a:bodyPr wrap="square" rtlCol="0">
            <a:spAutoFit/>
          </a:bodyPr>
          <a:lstStyle/>
          <a:p>
            <a:r>
              <a:rPr lang="en-US" dirty="0"/>
              <a:t>After the thread create command executes a new branch comes out which is called </a:t>
            </a:r>
            <a:r>
              <a:rPr lang="en-US" dirty="0" err="1"/>
              <a:t>child_thread</a:t>
            </a:r>
            <a:r>
              <a:rPr lang="en-US" dirty="0"/>
              <a:t>. You always create a </a:t>
            </a:r>
          </a:p>
          <a:p>
            <a:r>
              <a:rPr lang="en-US" dirty="0"/>
              <a:t>Thread from some main thread and new branch starts executing sequence of instructions which you want.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268" y="231908"/>
            <a:ext cx="10515600" cy="732155"/>
          </a:xfrm>
        </p:spPr>
        <p:txBody>
          <a:bodyPr/>
          <a:lstStyle/>
          <a:p>
            <a:r>
              <a:rPr lang="en-US" dirty="0"/>
              <a:t>Processes are Protected</a:t>
            </a:r>
          </a:p>
        </p:txBody>
      </p:sp>
      <p:sp>
        <p:nvSpPr>
          <p:cNvPr id="4" name="TextBox 3"/>
          <p:cNvSpPr txBox="1"/>
          <p:nvPr/>
        </p:nvSpPr>
        <p:spPr>
          <a:xfrm>
            <a:off x="3497765" y="1417638"/>
            <a:ext cx="2308303" cy="1692198"/>
          </a:xfrm>
          <a:prstGeom prst="rect">
            <a:avLst/>
          </a:prstGeom>
          <a:noFill/>
          <a:ln w="76200">
            <a:solidFill>
              <a:schemeClr val="tx1"/>
            </a:solidFill>
          </a:ln>
        </p:spPr>
        <p:txBody>
          <a:bodyPr wrap="none" rtlCol="0" anchor="ctr">
            <a:noAutofit/>
          </a:bodyPr>
          <a:lstStyle/>
          <a:p>
            <a:pPr algn="ctr"/>
            <a:r>
              <a:rPr lang="en-US" b="1" dirty="0"/>
              <a:t>Process</a:t>
            </a:r>
          </a:p>
        </p:txBody>
      </p:sp>
      <p:sp>
        <p:nvSpPr>
          <p:cNvPr id="5" name="TextBox 4"/>
          <p:cNvSpPr txBox="1"/>
          <p:nvPr/>
        </p:nvSpPr>
        <p:spPr>
          <a:xfrm>
            <a:off x="2245111" y="3802565"/>
            <a:ext cx="2116874" cy="1382752"/>
          </a:xfrm>
          <a:prstGeom prst="rect">
            <a:avLst/>
          </a:prstGeom>
          <a:noFill/>
          <a:ln w="76200">
            <a:solidFill>
              <a:schemeClr val="tx1"/>
            </a:solidFill>
          </a:ln>
        </p:spPr>
        <p:txBody>
          <a:bodyPr wrap="none" rtlCol="0" anchor="ctr">
            <a:noAutofit/>
          </a:bodyPr>
          <a:lstStyle/>
          <a:p>
            <a:pPr algn="ctr"/>
            <a:r>
              <a:rPr lang="en-US" b="1" dirty="0"/>
              <a:t>Process</a:t>
            </a:r>
          </a:p>
        </p:txBody>
      </p:sp>
      <p:sp>
        <p:nvSpPr>
          <p:cNvPr id="6" name="TextBox 5"/>
          <p:cNvSpPr txBox="1"/>
          <p:nvPr/>
        </p:nvSpPr>
        <p:spPr>
          <a:xfrm>
            <a:off x="4361985" y="4822903"/>
            <a:ext cx="1728440" cy="1589049"/>
          </a:xfrm>
          <a:prstGeom prst="rect">
            <a:avLst/>
          </a:prstGeom>
          <a:noFill/>
          <a:ln w="76200">
            <a:solidFill>
              <a:schemeClr val="tx1"/>
            </a:solidFill>
          </a:ln>
        </p:spPr>
        <p:txBody>
          <a:bodyPr wrap="none" rtlCol="0" anchor="ctr">
            <a:noAutofit/>
          </a:bodyPr>
          <a:lstStyle/>
          <a:p>
            <a:pPr algn="ctr"/>
            <a:r>
              <a:rPr lang="en-US" b="1" dirty="0"/>
              <a:t>Process</a:t>
            </a:r>
          </a:p>
        </p:txBody>
      </p:sp>
      <p:sp>
        <p:nvSpPr>
          <p:cNvPr id="7" name="TextBox 6"/>
          <p:cNvSpPr txBox="1"/>
          <p:nvPr/>
        </p:nvSpPr>
        <p:spPr>
          <a:xfrm>
            <a:off x="6090425" y="3587905"/>
            <a:ext cx="2737624" cy="1597413"/>
          </a:xfrm>
          <a:prstGeom prst="rect">
            <a:avLst/>
          </a:prstGeom>
          <a:noFill/>
          <a:ln w="76200">
            <a:solidFill>
              <a:schemeClr val="tx1"/>
            </a:solidFill>
          </a:ln>
        </p:spPr>
        <p:txBody>
          <a:bodyPr wrap="none" rtlCol="0" anchor="ctr">
            <a:noAutofit/>
          </a:bodyPr>
          <a:lstStyle/>
          <a:p>
            <a:pPr algn="ctr"/>
            <a:r>
              <a:rPr lang="en-US" b="1" dirty="0"/>
              <a:t>Process</a:t>
            </a:r>
          </a:p>
        </p:txBody>
      </p:sp>
      <p:sp>
        <p:nvSpPr>
          <p:cNvPr id="8" name="TextBox 7"/>
          <p:cNvSpPr txBox="1"/>
          <p:nvPr/>
        </p:nvSpPr>
        <p:spPr>
          <a:xfrm>
            <a:off x="7963829" y="1594625"/>
            <a:ext cx="2246971" cy="1993280"/>
          </a:xfrm>
          <a:prstGeom prst="rect">
            <a:avLst/>
          </a:prstGeom>
          <a:noFill/>
          <a:ln w="76200">
            <a:solidFill>
              <a:schemeClr val="tx1"/>
            </a:solidFill>
          </a:ln>
        </p:spPr>
        <p:txBody>
          <a:bodyPr wrap="none" rtlCol="0" anchor="ctr">
            <a:noAutofit/>
          </a:bodyPr>
          <a:lstStyle/>
          <a:p>
            <a:pPr algn="ctr"/>
            <a:r>
              <a:rPr lang="en-US" b="1" dirty="0"/>
              <a:t>Process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Multiple Threads Can Exist in a Single Process Space</a:t>
            </a:r>
          </a:p>
        </p:txBody>
      </p:sp>
      <p:sp>
        <p:nvSpPr>
          <p:cNvPr id="4" name="TextBox 3"/>
          <p:cNvSpPr txBox="1"/>
          <p:nvPr/>
        </p:nvSpPr>
        <p:spPr>
          <a:xfrm>
            <a:off x="3497765" y="1417638"/>
            <a:ext cx="2308303" cy="1692198"/>
          </a:xfrm>
          <a:prstGeom prst="rect">
            <a:avLst/>
          </a:prstGeom>
          <a:noFill/>
          <a:ln w="76200">
            <a:solidFill>
              <a:schemeClr val="tx1"/>
            </a:solidFill>
          </a:ln>
        </p:spPr>
        <p:txBody>
          <a:bodyPr wrap="none" rtlCol="0" anchor="ctr">
            <a:noAutofit/>
          </a:bodyPr>
          <a:lstStyle/>
          <a:p>
            <a:pPr algn="ctr"/>
            <a:r>
              <a:rPr lang="en-US" b="1" dirty="0"/>
              <a:t>Process</a:t>
            </a:r>
          </a:p>
        </p:txBody>
      </p:sp>
      <p:sp>
        <p:nvSpPr>
          <p:cNvPr id="5" name="TextBox 4"/>
          <p:cNvSpPr txBox="1"/>
          <p:nvPr/>
        </p:nvSpPr>
        <p:spPr>
          <a:xfrm>
            <a:off x="2245111" y="3802565"/>
            <a:ext cx="2116874" cy="1382752"/>
          </a:xfrm>
          <a:prstGeom prst="rect">
            <a:avLst/>
          </a:prstGeom>
          <a:noFill/>
          <a:ln w="76200">
            <a:solidFill>
              <a:schemeClr val="tx1"/>
            </a:solidFill>
          </a:ln>
        </p:spPr>
        <p:txBody>
          <a:bodyPr wrap="none" rtlCol="0" anchor="ctr">
            <a:noAutofit/>
          </a:bodyPr>
          <a:lstStyle/>
          <a:p>
            <a:pPr algn="ctr"/>
            <a:r>
              <a:rPr lang="en-US" b="1" dirty="0"/>
              <a:t>Process</a:t>
            </a:r>
          </a:p>
        </p:txBody>
      </p:sp>
      <p:sp>
        <p:nvSpPr>
          <p:cNvPr id="6" name="TextBox 5"/>
          <p:cNvSpPr txBox="1"/>
          <p:nvPr/>
        </p:nvSpPr>
        <p:spPr>
          <a:xfrm>
            <a:off x="4361985" y="4822903"/>
            <a:ext cx="1728440" cy="1589049"/>
          </a:xfrm>
          <a:prstGeom prst="rect">
            <a:avLst/>
          </a:prstGeom>
          <a:noFill/>
          <a:ln w="76200">
            <a:solidFill>
              <a:schemeClr val="tx1"/>
            </a:solidFill>
          </a:ln>
        </p:spPr>
        <p:txBody>
          <a:bodyPr wrap="none" rtlCol="0" anchor="ctr">
            <a:noAutofit/>
          </a:bodyPr>
          <a:lstStyle/>
          <a:p>
            <a:pPr algn="ctr"/>
            <a:r>
              <a:rPr lang="en-US" b="1" dirty="0"/>
              <a:t>Process</a:t>
            </a:r>
          </a:p>
        </p:txBody>
      </p:sp>
      <p:sp>
        <p:nvSpPr>
          <p:cNvPr id="7" name="TextBox 6"/>
          <p:cNvSpPr txBox="1"/>
          <p:nvPr/>
        </p:nvSpPr>
        <p:spPr>
          <a:xfrm>
            <a:off x="6090425" y="3587905"/>
            <a:ext cx="2737624" cy="1597413"/>
          </a:xfrm>
          <a:prstGeom prst="rect">
            <a:avLst/>
          </a:prstGeom>
          <a:noFill/>
          <a:ln w="76200">
            <a:solidFill>
              <a:schemeClr val="tx1"/>
            </a:solidFill>
          </a:ln>
        </p:spPr>
        <p:txBody>
          <a:bodyPr wrap="none" rtlCol="0" anchor="ctr">
            <a:noAutofit/>
          </a:bodyPr>
          <a:lstStyle/>
          <a:p>
            <a:pPr algn="ctr"/>
            <a:r>
              <a:rPr lang="en-US" b="1" dirty="0"/>
              <a:t>Process</a:t>
            </a:r>
          </a:p>
        </p:txBody>
      </p:sp>
      <p:sp>
        <p:nvSpPr>
          <p:cNvPr id="8" name="TextBox 7"/>
          <p:cNvSpPr txBox="1"/>
          <p:nvPr/>
        </p:nvSpPr>
        <p:spPr>
          <a:xfrm>
            <a:off x="7949356" y="1555513"/>
            <a:ext cx="2246971" cy="1993280"/>
          </a:xfrm>
          <a:prstGeom prst="rect">
            <a:avLst/>
          </a:prstGeom>
          <a:noFill/>
          <a:ln w="76200">
            <a:solidFill>
              <a:schemeClr val="tx1"/>
            </a:solidFill>
          </a:ln>
        </p:spPr>
        <p:txBody>
          <a:bodyPr wrap="none" rtlCol="0" anchor="ctr">
            <a:noAutofit/>
          </a:bodyPr>
          <a:lstStyle/>
          <a:p>
            <a:pPr algn="ctr"/>
            <a:r>
              <a:rPr lang="en-US" b="1" dirty="0"/>
              <a:t>Process</a:t>
            </a:r>
          </a:p>
        </p:txBody>
      </p:sp>
      <p:sp>
        <p:nvSpPr>
          <p:cNvPr id="9" name="TextBox 8"/>
          <p:cNvSpPr txBox="1"/>
          <p:nvPr/>
        </p:nvSpPr>
        <p:spPr>
          <a:xfrm>
            <a:off x="3709639" y="1594625"/>
            <a:ext cx="963725" cy="369332"/>
          </a:xfrm>
          <a:prstGeom prst="rect">
            <a:avLst/>
          </a:prstGeom>
          <a:noFill/>
        </p:spPr>
        <p:txBody>
          <a:bodyPr wrap="none" rtlCol="0">
            <a:spAutoFit/>
          </a:bodyPr>
          <a:lstStyle/>
          <a:p>
            <a:r>
              <a:rPr lang="en-US" i="1" dirty="0"/>
              <a:t>Thread</a:t>
            </a:r>
          </a:p>
        </p:txBody>
      </p:sp>
      <p:sp>
        <p:nvSpPr>
          <p:cNvPr id="10" name="TextBox 9"/>
          <p:cNvSpPr txBox="1"/>
          <p:nvPr/>
        </p:nvSpPr>
        <p:spPr>
          <a:xfrm>
            <a:off x="4858132" y="1747025"/>
            <a:ext cx="963725" cy="369332"/>
          </a:xfrm>
          <a:prstGeom prst="rect">
            <a:avLst/>
          </a:prstGeom>
          <a:noFill/>
        </p:spPr>
        <p:txBody>
          <a:bodyPr wrap="none" rtlCol="0">
            <a:spAutoFit/>
          </a:bodyPr>
          <a:lstStyle/>
          <a:p>
            <a:r>
              <a:rPr lang="en-US" i="1" dirty="0"/>
              <a:t>Thread</a:t>
            </a:r>
          </a:p>
        </p:txBody>
      </p:sp>
      <p:sp>
        <p:nvSpPr>
          <p:cNvPr id="11" name="TextBox 10"/>
          <p:cNvSpPr txBox="1"/>
          <p:nvPr/>
        </p:nvSpPr>
        <p:spPr>
          <a:xfrm>
            <a:off x="3592592" y="2574590"/>
            <a:ext cx="963725" cy="369332"/>
          </a:xfrm>
          <a:prstGeom prst="rect">
            <a:avLst/>
          </a:prstGeom>
          <a:noFill/>
        </p:spPr>
        <p:txBody>
          <a:bodyPr wrap="none" rtlCol="0">
            <a:spAutoFit/>
          </a:bodyPr>
          <a:lstStyle/>
          <a:p>
            <a:r>
              <a:rPr lang="en-US" i="1" dirty="0"/>
              <a:t>Thread</a:t>
            </a:r>
          </a:p>
        </p:txBody>
      </p:sp>
      <p:sp>
        <p:nvSpPr>
          <p:cNvPr id="12" name="TextBox 11"/>
          <p:cNvSpPr txBox="1"/>
          <p:nvPr/>
        </p:nvSpPr>
        <p:spPr>
          <a:xfrm>
            <a:off x="4858132" y="2574590"/>
            <a:ext cx="963725" cy="369332"/>
          </a:xfrm>
          <a:prstGeom prst="rect">
            <a:avLst/>
          </a:prstGeom>
          <a:noFill/>
        </p:spPr>
        <p:txBody>
          <a:bodyPr wrap="none" rtlCol="0">
            <a:spAutoFit/>
          </a:bodyPr>
          <a:lstStyle/>
          <a:p>
            <a:r>
              <a:rPr lang="en-US" i="1" dirty="0"/>
              <a:t>Thread</a:t>
            </a:r>
          </a:p>
        </p:txBody>
      </p:sp>
      <p:sp>
        <p:nvSpPr>
          <p:cNvPr id="13" name="TextBox 12"/>
          <p:cNvSpPr txBox="1"/>
          <p:nvPr/>
        </p:nvSpPr>
        <p:spPr>
          <a:xfrm>
            <a:off x="8136631" y="1899425"/>
            <a:ext cx="963725" cy="369332"/>
          </a:xfrm>
          <a:prstGeom prst="rect">
            <a:avLst/>
          </a:prstGeom>
          <a:noFill/>
        </p:spPr>
        <p:txBody>
          <a:bodyPr wrap="none" rtlCol="0">
            <a:spAutoFit/>
          </a:bodyPr>
          <a:lstStyle/>
          <a:p>
            <a:r>
              <a:rPr lang="en-US" i="1" dirty="0"/>
              <a:t>Thread</a:t>
            </a:r>
          </a:p>
        </p:txBody>
      </p:sp>
      <p:sp>
        <p:nvSpPr>
          <p:cNvPr id="14" name="TextBox 13"/>
          <p:cNvSpPr txBox="1"/>
          <p:nvPr/>
        </p:nvSpPr>
        <p:spPr>
          <a:xfrm>
            <a:off x="9285124" y="2051825"/>
            <a:ext cx="963725" cy="369332"/>
          </a:xfrm>
          <a:prstGeom prst="rect">
            <a:avLst/>
          </a:prstGeom>
          <a:noFill/>
        </p:spPr>
        <p:txBody>
          <a:bodyPr wrap="none" rtlCol="0">
            <a:spAutoFit/>
          </a:bodyPr>
          <a:lstStyle/>
          <a:p>
            <a:r>
              <a:rPr lang="en-US" i="1" dirty="0"/>
              <a:t>Thread</a:t>
            </a:r>
          </a:p>
        </p:txBody>
      </p:sp>
      <p:sp>
        <p:nvSpPr>
          <p:cNvPr id="15" name="TextBox 14"/>
          <p:cNvSpPr txBox="1"/>
          <p:nvPr/>
        </p:nvSpPr>
        <p:spPr>
          <a:xfrm>
            <a:off x="8019584" y="2879390"/>
            <a:ext cx="963725" cy="369332"/>
          </a:xfrm>
          <a:prstGeom prst="rect">
            <a:avLst/>
          </a:prstGeom>
          <a:noFill/>
        </p:spPr>
        <p:txBody>
          <a:bodyPr wrap="none" rtlCol="0">
            <a:spAutoFit/>
          </a:bodyPr>
          <a:lstStyle/>
          <a:p>
            <a:r>
              <a:rPr lang="en-US" i="1" dirty="0"/>
              <a:t>Thread</a:t>
            </a:r>
          </a:p>
        </p:txBody>
      </p:sp>
      <p:sp>
        <p:nvSpPr>
          <p:cNvPr id="16" name="TextBox 15"/>
          <p:cNvSpPr txBox="1"/>
          <p:nvPr/>
        </p:nvSpPr>
        <p:spPr>
          <a:xfrm>
            <a:off x="9182981" y="2879390"/>
            <a:ext cx="963725" cy="369332"/>
          </a:xfrm>
          <a:prstGeom prst="rect">
            <a:avLst/>
          </a:prstGeom>
          <a:noFill/>
        </p:spPr>
        <p:txBody>
          <a:bodyPr wrap="none" rtlCol="0">
            <a:spAutoFit/>
          </a:bodyPr>
          <a:lstStyle/>
          <a:p>
            <a:r>
              <a:rPr lang="en-US" i="1" dirty="0"/>
              <a:t>Thread</a:t>
            </a:r>
          </a:p>
        </p:txBody>
      </p:sp>
      <p:sp>
        <p:nvSpPr>
          <p:cNvPr id="17" name="TextBox 16"/>
          <p:cNvSpPr txBox="1"/>
          <p:nvPr/>
        </p:nvSpPr>
        <p:spPr>
          <a:xfrm>
            <a:off x="4553332" y="5062654"/>
            <a:ext cx="963725" cy="369332"/>
          </a:xfrm>
          <a:prstGeom prst="rect">
            <a:avLst/>
          </a:prstGeom>
          <a:noFill/>
        </p:spPr>
        <p:txBody>
          <a:bodyPr wrap="none" rtlCol="0">
            <a:spAutoFit/>
          </a:bodyPr>
          <a:lstStyle/>
          <a:p>
            <a:r>
              <a:rPr lang="en-US" i="1" dirty="0"/>
              <a:t>Thread</a:t>
            </a:r>
          </a:p>
        </p:txBody>
      </p:sp>
      <p:sp>
        <p:nvSpPr>
          <p:cNvPr id="18" name="TextBox 17"/>
          <p:cNvSpPr txBox="1"/>
          <p:nvPr/>
        </p:nvSpPr>
        <p:spPr>
          <a:xfrm>
            <a:off x="7597737" y="3802565"/>
            <a:ext cx="963725" cy="369332"/>
          </a:xfrm>
          <a:prstGeom prst="rect">
            <a:avLst/>
          </a:prstGeom>
          <a:noFill/>
        </p:spPr>
        <p:txBody>
          <a:bodyPr wrap="none" rtlCol="0">
            <a:spAutoFit/>
          </a:bodyPr>
          <a:lstStyle/>
          <a:p>
            <a:r>
              <a:rPr lang="en-US" i="1" dirty="0"/>
              <a:t>Thread</a:t>
            </a:r>
          </a:p>
        </p:txBody>
      </p:sp>
      <p:sp>
        <p:nvSpPr>
          <p:cNvPr id="19" name="TextBox 18"/>
          <p:cNvSpPr txBox="1"/>
          <p:nvPr/>
        </p:nvSpPr>
        <p:spPr>
          <a:xfrm>
            <a:off x="6332197" y="4630130"/>
            <a:ext cx="963725" cy="369332"/>
          </a:xfrm>
          <a:prstGeom prst="rect">
            <a:avLst/>
          </a:prstGeom>
          <a:noFill/>
        </p:spPr>
        <p:txBody>
          <a:bodyPr wrap="none" rtlCol="0">
            <a:spAutoFit/>
          </a:bodyPr>
          <a:lstStyle/>
          <a:p>
            <a:r>
              <a:rPr lang="en-US" i="1" dirty="0"/>
              <a:t>Thread</a:t>
            </a:r>
          </a:p>
        </p:txBody>
      </p:sp>
      <p:sp>
        <p:nvSpPr>
          <p:cNvPr id="20" name="TextBox 19"/>
          <p:cNvSpPr txBox="1"/>
          <p:nvPr/>
        </p:nvSpPr>
        <p:spPr>
          <a:xfrm>
            <a:off x="7597737" y="4630130"/>
            <a:ext cx="963725" cy="369332"/>
          </a:xfrm>
          <a:prstGeom prst="rect">
            <a:avLst/>
          </a:prstGeom>
          <a:noFill/>
        </p:spPr>
        <p:txBody>
          <a:bodyPr wrap="none" rtlCol="0">
            <a:spAutoFit/>
          </a:bodyPr>
          <a:lstStyle/>
          <a:p>
            <a:r>
              <a:rPr lang="en-US" i="1" dirty="0"/>
              <a:t>Thread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3600" dirty="0"/>
              <a:t>Thread creation and termination</a:t>
            </a:r>
          </a:p>
        </p:txBody>
      </p:sp>
      <p:sp>
        <p:nvSpPr>
          <p:cNvPr id="10" name="Content Placeholder 9"/>
          <p:cNvSpPr>
            <a:spLocks noGrp="1"/>
          </p:cNvSpPr>
          <p:nvPr>
            <p:ph idx="1"/>
          </p:nvPr>
        </p:nvSpPr>
        <p:spPr>
          <a:xfrm>
            <a:off x="838200" y="1367161"/>
            <a:ext cx="10676138" cy="4809802"/>
          </a:xfrm>
        </p:spPr>
        <p:txBody>
          <a:bodyPr>
            <a:normAutofit/>
          </a:bodyPr>
          <a:lstStyle/>
          <a:p>
            <a:r>
              <a:rPr lang="en-US" dirty="0"/>
              <a:t>Thread automatically terminates when it exits the top-level function it was created from  </a:t>
            </a:r>
          </a:p>
          <a:p>
            <a:endParaRPr lang="en-US" dirty="0"/>
          </a:p>
          <a:p>
            <a:r>
              <a:rPr lang="en-US" dirty="0"/>
              <a:t>We can explicitly terminate a thread</a:t>
            </a:r>
          </a:p>
          <a:p>
            <a:pPr>
              <a:buNone/>
            </a:pPr>
            <a:r>
              <a:rPr lang="en-US" dirty="0"/>
              <a:t>	        </a:t>
            </a:r>
            <a:r>
              <a:rPr lang="en-US" b="1" dirty="0" err="1">
                <a:solidFill>
                  <a:srgbClr val="00B050"/>
                </a:solidFill>
                <a:latin typeface="Courier New" pitchFamily="49" charset="0"/>
                <a:cs typeface="Courier New" pitchFamily="49" charset="0"/>
              </a:rPr>
              <a:t>thread_terminate</a:t>
            </a:r>
            <a:r>
              <a:rPr lang="en-US" b="1" dirty="0">
                <a:solidFill>
                  <a:srgbClr val="00B050"/>
                </a:solidFill>
                <a:latin typeface="Courier New" pitchFamily="49" charset="0"/>
                <a:cs typeface="Courier New" pitchFamily="49" charset="0"/>
              </a:rPr>
              <a:t> (</a:t>
            </a:r>
            <a:r>
              <a:rPr lang="en-US" b="1" dirty="0" err="1">
                <a:solidFill>
                  <a:srgbClr val="00B050"/>
                </a:solidFill>
                <a:latin typeface="Courier New" pitchFamily="49" charset="0"/>
                <a:cs typeface="Courier New" pitchFamily="49" charset="0"/>
              </a:rPr>
              <a:t>tid</a:t>
            </a:r>
            <a:r>
              <a:rPr lang="en-US" b="1" dirty="0">
                <a:solidFill>
                  <a:srgbClr val="00B050"/>
                </a:solidFill>
                <a:latin typeface="Courier New" pitchFamily="49" charset="0"/>
                <a:cs typeface="Courier New" pitchFamily="49" charset="0"/>
              </a:rPr>
              <a:t>);</a:t>
            </a:r>
            <a:endParaRPr lang="en-US" dirty="0">
              <a:solidFill>
                <a:srgbClr val="00B050"/>
              </a:solidFill>
              <a:latin typeface="Courier New" pitchFamily="49" charset="0"/>
              <a:cs typeface="Courier New" pitchFamily="49" charset="0"/>
            </a:endParaRPr>
          </a:p>
          <a:p>
            <a:pPr>
              <a:buNone/>
            </a:pPr>
            <a:r>
              <a:rPr lang="en-US" dirty="0">
                <a:latin typeface="Courier New" pitchFamily="49" charset="0"/>
                <a:cs typeface="Courier New" pitchFamily="49" charset="0"/>
              </a:rPr>
              <a:t> </a:t>
            </a:r>
          </a:p>
          <a:p>
            <a:pPr marL="457200" lvl="1" indent="0">
              <a:buNone/>
            </a:pPr>
            <a:r>
              <a:rPr lang="en-US" b="1" dirty="0" err="1"/>
              <a:t>tid</a:t>
            </a:r>
            <a:r>
              <a:rPr lang="en-US" dirty="0"/>
              <a:t> is the system-supplied identifier of the thread we wish to terminate.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Communication among threads</a:t>
            </a:r>
          </a:p>
        </p:txBody>
      </p:sp>
      <p:sp>
        <p:nvSpPr>
          <p:cNvPr id="4" name="Content Placeholder 3"/>
          <p:cNvSpPr>
            <a:spLocks noGrp="1"/>
          </p:cNvSpPr>
          <p:nvPr>
            <p:ph idx="1"/>
          </p:nvPr>
        </p:nvSpPr>
        <p:spPr/>
        <p:txBody>
          <a:bodyPr/>
          <a:lstStyle/>
          <a:p>
            <a:r>
              <a:rPr lang="en-US" dirty="0"/>
              <a:t>Threads share the same address space </a:t>
            </a:r>
          </a:p>
          <a:p>
            <a:pPr lvl="1"/>
            <a:r>
              <a:rPr lang="en-US" dirty="0"/>
              <a:t>sharing memory is simple</a:t>
            </a:r>
          </a:p>
          <a:p>
            <a:endParaRPr lang="en-US" dirty="0"/>
          </a:p>
          <a:p>
            <a:endParaRPr lang="en-US" dirty="0"/>
          </a:p>
          <a:p>
            <a:r>
              <a:rPr lang="en-US" dirty="0"/>
              <a:t>Appropriately qualified static variables can be visible to multiple threads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Data race and Non-determinism</a:t>
            </a:r>
          </a:p>
        </p:txBody>
      </p:sp>
      <p:sp>
        <p:nvSpPr>
          <p:cNvPr id="3" name="Content Placeholder 2"/>
          <p:cNvSpPr>
            <a:spLocks noGrp="1"/>
          </p:cNvSpPr>
          <p:nvPr>
            <p:ph idx="1"/>
          </p:nvPr>
        </p:nvSpPr>
        <p:spPr>
          <a:xfrm>
            <a:off x="1578006" y="1404892"/>
            <a:ext cx="9035988" cy="1684537"/>
          </a:xfrm>
        </p:spPr>
        <p:txBody>
          <a:bodyPr>
            <a:normAutofit fontScale="92500" lnSpcReduction="10000"/>
          </a:bodyPr>
          <a:lstStyle/>
          <a:p>
            <a:pPr algn="just"/>
            <a:r>
              <a:rPr lang="en-US" dirty="0"/>
              <a:t>Data Race:</a:t>
            </a:r>
          </a:p>
          <a:p>
            <a:pPr lvl="1" algn="just"/>
            <a:r>
              <a:rPr lang="en-US" dirty="0"/>
              <a:t>A condition in which multiple concurrent threads are simultaneously trying to access a shared variable</a:t>
            </a:r>
          </a:p>
          <a:p>
            <a:pPr lvl="1" algn="just"/>
            <a:endParaRPr lang="en-US" dirty="0"/>
          </a:p>
          <a:p>
            <a:pPr lvl="1" algn="just"/>
            <a:r>
              <a:rPr lang="en-US" dirty="0"/>
              <a:t>and at least one threads trying to modify the shared variable.</a:t>
            </a:r>
          </a:p>
        </p:txBody>
      </p:sp>
      <p:sp>
        <p:nvSpPr>
          <p:cNvPr id="6145" name="Rectangle 1"/>
          <p:cNvSpPr>
            <a:spLocks noChangeArrowheads="1"/>
          </p:cNvSpPr>
          <p:nvPr/>
        </p:nvSpPr>
        <p:spPr bwMode="auto">
          <a:xfrm>
            <a:off x="2618877" y="4276884"/>
            <a:ext cx="6768790" cy="221599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228600" algn="l"/>
                <a:tab pos="1295400" algn="l"/>
              </a:tabLst>
            </a:pPr>
            <a:r>
              <a:rPr lang="en-US" sz="1200" b="1" dirty="0" err="1">
                <a:latin typeface="Courier New" pitchFamily="49" charset="0"/>
                <a:ea typeface="Times New Roman" pitchFamily="18" charset="0"/>
                <a:cs typeface="Courier New" pitchFamily="49" charset="0"/>
              </a:rPr>
              <a:t>int</a:t>
            </a:r>
            <a:r>
              <a:rPr lang="en-US" sz="1200" b="1" dirty="0">
                <a:latin typeface="Courier New" pitchFamily="49" charset="0"/>
                <a:ea typeface="Times New Roman" pitchFamily="18" charset="0"/>
                <a:cs typeface="Courier New" pitchFamily="49" charset="0"/>
              </a:rPr>
              <a:t> flag = 0;  /* shared variable </a:t>
            </a:r>
          </a:p>
          <a:p>
            <a:pPr fontAlgn="base">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initialized to zero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u="sng" dirty="0">
                <a:latin typeface="Courier New" pitchFamily="49" charset="0"/>
                <a:ea typeface="Times New Roman" pitchFamily="18" charset="0"/>
                <a:cs typeface="Courier New" pitchFamily="49" charset="0"/>
              </a:rPr>
              <a:t>Thread 1</a:t>
            </a:r>
            <a:r>
              <a:rPr lang="en-US" sz="1200" dirty="0">
                <a:latin typeface="Arial" pitchFamily="34" charset="0"/>
                <a:ea typeface="Times New Roman" pitchFamily="18" charset="0"/>
                <a:cs typeface="Arial" pitchFamily="34" charset="0"/>
              </a:rPr>
              <a:t>				    </a:t>
            </a:r>
            <a:r>
              <a:rPr lang="en-US" sz="1200" b="1" u="sng" dirty="0">
                <a:latin typeface="Courier New" pitchFamily="49" charset="0"/>
                <a:ea typeface="Times New Roman" pitchFamily="18" charset="0"/>
                <a:cs typeface="Courier New" pitchFamily="49" charset="0"/>
              </a:rPr>
              <a:t>Thread 2</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while (flag == 0) {			    .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 do nothing */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if (flag == 0) flag = 1;</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endParaRPr lang="en-US" dirty="0">
              <a:latin typeface="Arial" pitchFamily="34" charset="0"/>
              <a:cs typeface="Arial" pitchFamily="34" charset="0"/>
            </a:endParaRPr>
          </a:p>
        </p:txBody>
      </p:sp>
      <p:sp>
        <p:nvSpPr>
          <p:cNvPr id="4" name="TextBox 3">
            <a:extLst>
              <a:ext uri="{FF2B5EF4-FFF2-40B4-BE49-F238E27FC236}">
                <a16:creationId xmlns:a16="http://schemas.microsoft.com/office/drawing/2014/main" id="{2CC85540-13E4-1DD0-373B-1B3B9207AC57}"/>
              </a:ext>
            </a:extLst>
          </p:cNvPr>
          <p:cNvSpPr txBox="1"/>
          <p:nvPr/>
        </p:nvSpPr>
        <p:spPr>
          <a:xfrm>
            <a:off x="348792" y="3205113"/>
            <a:ext cx="11632676" cy="646331"/>
          </a:xfrm>
          <a:prstGeom prst="rect">
            <a:avLst/>
          </a:prstGeom>
          <a:noFill/>
        </p:spPr>
        <p:txBody>
          <a:bodyPr wrap="square" rtlCol="0">
            <a:spAutoFit/>
          </a:bodyPr>
          <a:lstStyle/>
          <a:p>
            <a:r>
              <a:rPr lang="en-US" dirty="0"/>
              <a:t>What my threads will do will depend on this variable ‘flag’. Data race is a catastrophic condition in which all threads are racing for that particular piece of data.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2F85-90F4-678A-D036-231220117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BF25E-E5A5-2589-859D-A866B5EF59AD}"/>
              </a:ext>
            </a:extLst>
          </p:cNvPr>
          <p:cNvSpPr>
            <a:spLocks noGrp="1"/>
          </p:cNvSpPr>
          <p:nvPr>
            <p:ph type="title"/>
          </p:nvPr>
        </p:nvSpPr>
        <p:spPr/>
        <p:txBody>
          <a:bodyPr>
            <a:normAutofit/>
          </a:bodyPr>
          <a:lstStyle/>
          <a:p>
            <a:pPr lvl="0"/>
            <a:r>
              <a:rPr lang="en-US" dirty="0"/>
              <a:t>Data race and Non-determinism</a:t>
            </a:r>
          </a:p>
        </p:txBody>
      </p:sp>
      <p:sp>
        <p:nvSpPr>
          <p:cNvPr id="6145" name="Rectangle 1">
            <a:extLst>
              <a:ext uri="{FF2B5EF4-FFF2-40B4-BE49-F238E27FC236}">
                <a16:creationId xmlns:a16="http://schemas.microsoft.com/office/drawing/2014/main" id="{6AAD9419-BBDB-7879-3C7D-1E603CE3E3EB}"/>
              </a:ext>
            </a:extLst>
          </p:cNvPr>
          <p:cNvSpPr>
            <a:spLocks noChangeArrowheads="1"/>
          </p:cNvSpPr>
          <p:nvPr/>
        </p:nvSpPr>
        <p:spPr bwMode="auto">
          <a:xfrm>
            <a:off x="1713904" y="1316867"/>
            <a:ext cx="6768790" cy="221599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228600" algn="l"/>
                <a:tab pos="1295400" algn="l"/>
              </a:tabLst>
            </a:pPr>
            <a:r>
              <a:rPr lang="en-US" sz="1200" b="1" dirty="0" err="1">
                <a:latin typeface="Courier New" pitchFamily="49" charset="0"/>
                <a:ea typeface="Times New Roman" pitchFamily="18" charset="0"/>
                <a:cs typeface="Courier New" pitchFamily="49" charset="0"/>
              </a:rPr>
              <a:t>int</a:t>
            </a:r>
            <a:r>
              <a:rPr lang="en-US" sz="1200" b="1" dirty="0">
                <a:latin typeface="Courier New" pitchFamily="49" charset="0"/>
                <a:ea typeface="Times New Roman" pitchFamily="18" charset="0"/>
                <a:cs typeface="Courier New" pitchFamily="49" charset="0"/>
              </a:rPr>
              <a:t> flag = 0;  /* shared variable </a:t>
            </a:r>
          </a:p>
          <a:p>
            <a:pPr fontAlgn="base">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initialized to zero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u="sng" dirty="0">
                <a:latin typeface="Courier New" pitchFamily="49" charset="0"/>
                <a:ea typeface="Times New Roman" pitchFamily="18" charset="0"/>
                <a:cs typeface="Courier New" pitchFamily="49" charset="0"/>
              </a:rPr>
              <a:t>Thread 1</a:t>
            </a:r>
            <a:r>
              <a:rPr lang="en-US" sz="1200" dirty="0">
                <a:latin typeface="Arial" pitchFamily="34" charset="0"/>
                <a:ea typeface="Times New Roman" pitchFamily="18" charset="0"/>
                <a:cs typeface="Arial" pitchFamily="34" charset="0"/>
              </a:rPr>
              <a:t>				    </a:t>
            </a:r>
            <a:r>
              <a:rPr lang="en-US" sz="1200" b="1" u="sng" dirty="0">
                <a:latin typeface="Courier New" pitchFamily="49" charset="0"/>
                <a:ea typeface="Times New Roman" pitchFamily="18" charset="0"/>
                <a:cs typeface="Courier New" pitchFamily="49" charset="0"/>
              </a:rPr>
              <a:t>Thread 2</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while (flag == 0) {			    .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 do nothing */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if (flag == 0) flag = 1;</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r>
              <a:rPr lang="en-US" sz="1200" b="1" dirty="0">
                <a:latin typeface="Courier New" pitchFamily="49" charset="0"/>
                <a:ea typeface="Times New Roman" pitchFamily="18" charset="0"/>
                <a:cs typeface="Courier New" pitchFamily="49" charset="0"/>
              </a:rPr>
              <a:t>					 	.</a:t>
            </a:r>
            <a:endParaRPr lang="en-US" sz="600" dirty="0">
              <a:latin typeface="Arial" pitchFamily="34" charset="0"/>
              <a:cs typeface="Arial" pitchFamily="34" charset="0"/>
            </a:endParaRPr>
          </a:p>
          <a:p>
            <a:pPr eaLnBrk="0" fontAlgn="base" hangingPunct="0">
              <a:spcBef>
                <a:spcPct val="0"/>
              </a:spcBef>
              <a:spcAft>
                <a:spcPct val="0"/>
              </a:spcAft>
              <a:tabLst>
                <a:tab pos="228600" algn="l"/>
                <a:tab pos="1295400" algn="l"/>
              </a:tabLst>
            </a:pPr>
            <a:endParaRPr lang="en-US" dirty="0">
              <a:latin typeface="Arial" pitchFamily="34" charset="0"/>
              <a:cs typeface="Arial" pitchFamily="34" charset="0"/>
            </a:endParaRPr>
          </a:p>
        </p:txBody>
      </p:sp>
      <p:sp>
        <p:nvSpPr>
          <p:cNvPr id="7" name="TextBox 6">
            <a:extLst>
              <a:ext uri="{FF2B5EF4-FFF2-40B4-BE49-F238E27FC236}">
                <a16:creationId xmlns:a16="http://schemas.microsoft.com/office/drawing/2014/main" id="{423648EC-8E35-50C7-26CD-DFD5953F54DE}"/>
              </a:ext>
            </a:extLst>
          </p:cNvPr>
          <p:cNvSpPr txBox="1"/>
          <p:nvPr/>
        </p:nvSpPr>
        <p:spPr>
          <a:xfrm>
            <a:off x="1027522" y="3429000"/>
            <a:ext cx="10515600" cy="2031325"/>
          </a:xfrm>
          <a:prstGeom prst="rect">
            <a:avLst/>
          </a:prstGeom>
          <a:noFill/>
        </p:spPr>
        <p:txBody>
          <a:bodyPr wrap="square" rtlCol="0">
            <a:spAutoFit/>
          </a:bodyPr>
          <a:lstStyle/>
          <a:p>
            <a:r>
              <a:rPr lang="en-US" dirty="0"/>
              <a:t>Here, flag is a shared variable by both the threads and the shared variable flag has been initialized to 0. Thread 1 continuously checks for the value of flag till it becomes non zero , if value of flag is 0 then it is stuck in infinite loop. But thread 2 is just reading the value of flag and if it is 0 at that time then T2 modifies it to 1. since there is no synchronization so the order of execution of read and write is unpredictable which results in NON DETERMINISM. But if T1 reads the value of flag to be 0 and at the same time Thread 2 modifies its value to be 1 then it can result in some unusual catastrophic result.</a:t>
            </a:r>
          </a:p>
        </p:txBody>
      </p:sp>
    </p:spTree>
    <p:extLst>
      <p:ext uri="{BB962C8B-B14F-4D97-AF65-F5344CB8AC3E}">
        <p14:creationId xmlns:p14="http://schemas.microsoft.com/office/powerpoint/2010/main" val="35366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Data race and Non-determinism</a:t>
            </a:r>
          </a:p>
        </p:txBody>
      </p:sp>
      <p:sp>
        <p:nvSpPr>
          <p:cNvPr id="3" name="Content Placeholder 2"/>
          <p:cNvSpPr>
            <a:spLocks noGrp="1"/>
          </p:cNvSpPr>
          <p:nvPr>
            <p:ph idx="1"/>
          </p:nvPr>
        </p:nvSpPr>
        <p:spPr>
          <a:xfrm>
            <a:off x="1981200" y="1600201"/>
            <a:ext cx="8229600" cy="2469995"/>
          </a:xfrm>
        </p:spPr>
        <p:txBody>
          <a:bodyPr>
            <a:normAutofit fontScale="92500" lnSpcReduction="20000"/>
          </a:bodyPr>
          <a:lstStyle/>
          <a:p>
            <a:pPr>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int</a:t>
            </a:r>
            <a:r>
              <a:rPr lang="en-US" sz="1400" dirty="0">
                <a:latin typeface="Courier New" pitchFamily="49" charset="0"/>
                <a:cs typeface="Courier New" pitchFamily="49" charset="0"/>
              </a:rPr>
              <a:t> count = 0; /* shared variable initialized to zero */</a:t>
            </a:r>
          </a:p>
          <a:p>
            <a:pPr>
              <a:buNone/>
            </a:pPr>
            <a:r>
              <a:rPr lang="en-US" sz="1400" dirty="0">
                <a:latin typeface="Courier New" pitchFamily="49" charset="0"/>
                <a:cs typeface="Courier New" pitchFamily="49" charset="0"/>
              </a:rPr>
              <a:t> </a:t>
            </a:r>
          </a:p>
          <a:p>
            <a:pPr>
              <a:buNone/>
            </a:pPr>
            <a:r>
              <a:rPr lang="en-US" sz="1400" u="sng" dirty="0">
                <a:latin typeface="Courier New" pitchFamily="49" charset="0"/>
                <a:cs typeface="Courier New" pitchFamily="49" charset="0"/>
              </a:rPr>
              <a:t>Thread 1 (T1)</a:t>
            </a:r>
            <a:r>
              <a:rPr lang="en-US" sz="1400" dirty="0">
                <a:latin typeface="Courier New" pitchFamily="49" charset="0"/>
                <a:cs typeface="Courier New" pitchFamily="49" charset="0"/>
              </a:rPr>
              <a:t>	</a:t>
            </a:r>
            <a:r>
              <a:rPr lang="en-US" sz="1400" u="sng" dirty="0">
                <a:latin typeface="Courier New" pitchFamily="49" charset="0"/>
                <a:cs typeface="Courier New" pitchFamily="49" charset="0"/>
              </a:rPr>
              <a:t>Thread 2 (T2)</a:t>
            </a:r>
            <a:r>
              <a:rPr lang="en-US" sz="1400" dirty="0">
                <a:latin typeface="Courier New" pitchFamily="49" charset="0"/>
                <a:cs typeface="Courier New" pitchFamily="49" charset="0"/>
              </a:rPr>
              <a:t>	</a:t>
            </a:r>
            <a:r>
              <a:rPr lang="en-US" sz="1400" u="sng" dirty="0">
                <a:latin typeface="Courier New" pitchFamily="49" charset="0"/>
                <a:cs typeface="Courier New" pitchFamily="49" charset="0"/>
              </a:rPr>
              <a:t>Thread 3 (T3)</a:t>
            </a:r>
            <a:r>
              <a:rPr lang="en-US" sz="1400" dirty="0">
                <a:latin typeface="Courier New" pitchFamily="49" charset="0"/>
                <a:cs typeface="Courier New" pitchFamily="49" charset="0"/>
              </a:rPr>
              <a:t>	</a:t>
            </a:r>
            <a:r>
              <a:rPr lang="en-US" sz="1400" u="sng" dirty="0">
                <a:latin typeface="Courier New" pitchFamily="49" charset="0"/>
                <a:cs typeface="Courier New" pitchFamily="49" charset="0"/>
              </a:rPr>
              <a:t>Thread 4 (T4)</a:t>
            </a:r>
            <a:endParaRPr lang="en-US" sz="1400" dirty="0">
              <a:latin typeface="Courier New" pitchFamily="49" charset="0"/>
              <a:cs typeface="Courier New" pitchFamily="49" charset="0"/>
            </a:endParaRPr>
          </a:p>
          <a:p>
            <a:pPr>
              <a:buNone/>
            </a:pPr>
            <a:endParaRPr lang="en-US" sz="1400" dirty="0">
              <a:latin typeface="Courier New" pitchFamily="49" charset="0"/>
              <a:cs typeface="Courier New" pitchFamily="49" charset="0"/>
            </a:endParaRPr>
          </a:p>
          <a:p>
            <a:pPr>
              <a:buNone/>
            </a:pPr>
            <a:r>
              <a:rPr lang="en-US" sz="1400" dirty="0">
                <a:latin typeface="Courier New" pitchFamily="49" charset="0"/>
                <a:cs typeface="Courier New" pitchFamily="49" charset="0"/>
              </a:rPr>
              <a:t>.			.		    .</a:t>
            </a:r>
          </a:p>
          <a:p>
            <a:pPr>
              <a:buNone/>
            </a:pPr>
            <a:r>
              <a:rPr lang="en-US" sz="1400" dirty="0">
                <a:latin typeface="Courier New" pitchFamily="49" charset="0"/>
                <a:cs typeface="Courier New" pitchFamily="49" charset="0"/>
              </a:rPr>
              <a:t>.			.		    .</a:t>
            </a:r>
          </a:p>
          <a:p>
            <a:pPr>
              <a:buNone/>
            </a:pPr>
            <a:r>
              <a:rPr lang="en-US" sz="1400" dirty="0">
                <a:latin typeface="Courier New" pitchFamily="49" charset="0"/>
                <a:cs typeface="Courier New" pitchFamily="49" charset="0"/>
              </a:rPr>
              <a:t>count++;	  	count++;    	count++;		</a:t>
            </a:r>
            <a:r>
              <a:rPr lang="en-US" sz="1400" dirty="0" err="1">
                <a:latin typeface="Courier New" pitchFamily="49" charset="0"/>
                <a:cs typeface="Courier New" pitchFamily="49" charset="0"/>
              </a:rPr>
              <a:t>printf</a:t>
            </a:r>
            <a:r>
              <a:rPr lang="en-US" sz="1400" dirty="0">
                <a:latin typeface="Courier New" pitchFamily="49" charset="0"/>
                <a:cs typeface="Courier New" pitchFamily="49" charset="0"/>
              </a:rPr>
              <a:t>(count)	</a:t>
            </a:r>
          </a:p>
          <a:p>
            <a:pPr>
              <a:buNone/>
            </a:pPr>
            <a:r>
              <a:rPr lang="en-US" sz="1400" dirty="0">
                <a:latin typeface="Courier New" pitchFamily="49" charset="0"/>
                <a:cs typeface="Courier New" pitchFamily="49" charset="0"/>
              </a:rPr>
              <a:t>.			.		.		.</a:t>
            </a:r>
          </a:p>
          <a:p>
            <a:pPr>
              <a:buNone/>
            </a:pPr>
            <a:r>
              <a:rPr lang="en-US" sz="1400" dirty="0">
                <a:latin typeface="Courier New" pitchFamily="49" charset="0"/>
                <a:cs typeface="Courier New" pitchFamily="49" charset="0"/>
              </a:rPr>
              <a:t>.			.		.		.</a:t>
            </a:r>
          </a:p>
        </p:txBody>
      </p:sp>
      <p:sp>
        <p:nvSpPr>
          <p:cNvPr id="4" name="TextBox 3">
            <a:extLst>
              <a:ext uri="{FF2B5EF4-FFF2-40B4-BE49-F238E27FC236}">
                <a16:creationId xmlns:a16="http://schemas.microsoft.com/office/drawing/2014/main" id="{26A27490-9711-89D1-20BB-5E266F3BA74D}"/>
              </a:ext>
            </a:extLst>
          </p:cNvPr>
          <p:cNvSpPr txBox="1"/>
          <p:nvPr/>
        </p:nvSpPr>
        <p:spPr>
          <a:xfrm>
            <a:off x="1036948" y="4524866"/>
            <a:ext cx="9173852" cy="369332"/>
          </a:xfrm>
          <a:prstGeom prst="rect">
            <a:avLst/>
          </a:prstGeom>
          <a:noFill/>
        </p:spPr>
        <p:txBody>
          <a:bodyPr wrap="square" rtlCol="0">
            <a:spAutoFit/>
          </a:bodyPr>
          <a:lstStyle/>
          <a:p>
            <a:r>
              <a:rPr lang="en-US" dirty="0"/>
              <a:t>What will it print will depend on order of execution of threads.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Data race and Non-determinism</a:t>
            </a:r>
          </a:p>
        </p:txBody>
      </p:sp>
      <p:pic>
        <p:nvPicPr>
          <p:cNvPr id="7170" name="Object 1"/>
          <p:cNvPicPr>
            <a:picLocks noChangeArrowheads="1"/>
          </p:cNvPicPr>
          <p:nvPr/>
        </p:nvPicPr>
        <p:blipFill>
          <a:blip r:embed="rId2"/>
          <a:srcRect t="-536" r="-1671" b="-1607"/>
          <a:stretch>
            <a:fillRect/>
          </a:stretch>
        </p:blipFill>
        <p:spPr bwMode="auto">
          <a:xfrm>
            <a:off x="2775950" y="1401481"/>
            <a:ext cx="5954712" cy="3511550"/>
          </a:xfrm>
          <a:prstGeom prst="rect">
            <a:avLst/>
          </a:prstGeom>
          <a:noFill/>
          <a:ln w="9525">
            <a:noFill/>
            <a:miter lim="800000"/>
            <a:headEnd/>
            <a:tailEnd/>
          </a:ln>
        </p:spPr>
      </p:pic>
      <p:sp>
        <p:nvSpPr>
          <p:cNvPr id="5" name="TextBox 4">
            <a:extLst>
              <a:ext uri="{FF2B5EF4-FFF2-40B4-BE49-F238E27FC236}">
                <a16:creationId xmlns:a16="http://schemas.microsoft.com/office/drawing/2014/main" id="{2EE116C4-6F69-421D-9AFD-BDEC4806736C}"/>
              </a:ext>
            </a:extLst>
          </p:cNvPr>
          <p:cNvSpPr txBox="1"/>
          <p:nvPr/>
        </p:nvSpPr>
        <p:spPr>
          <a:xfrm>
            <a:off x="3313928" y="5426690"/>
            <a:ext cx="4602542" cy="923330"/>
          </a:xfrm>
          <a:prstGeom prst="rect">
            <a:avLst/>
          </a:prstGeom>
          <a:noFill/>
        </p:spPr>
        <p:txBody>
          <a:bodyPr wrap="none" rtlCol="0">
            <a:spAutoFit/>
          </a:bodyPr>
          <a:lstStyle/>
          <a:p>
            <a:pPr algn="ctr"/>
            <a:r>
              <a:rPr lang="en-IN" dirty="0"/>
              <a:t>Output depends on the order of execution</a:t>
            </a:r>
          </a:p>
          <a:p>
            <a:pPr algn="ctr"/>
            <a:endParaRPr lang="en-IN" dirty="0"/>
          </a:p>
          <a:p>
            <a:pPr algn="ctr"/>
            <a:r>
              <a:rPr lang="en-IN" b="1" dirty="0">
                <a:solidFill>
                  <a:srgbClr val="C00000"/>
                </a:solidFill>
              </a:rPr>
              <a:t>Non-deterministic!</a:t>
            </a:r>
          </a:p>
        </p:txBody>
      </p:sp>
      <p:sp>
        <p:nvSpPr>
          <p:cNvPr id="3" name="TextBox 2">
            <a:extLst>
              <a:ext uri="{FF2B5EF4-FFF2-40B4-BE49-F238E27FC236}">
                <a16:creationId xmlns:a16="http://schemas.microsoft.com/office/drawing/2014/main" id="{4359C727-7888-7274-6DA2-6FFE388F4CC8}"/>
              </a:ext>
            </a:extLst>
          </p:cNvPr>
          <p:cNvSpPr txBox="1"/>
          <p:nvPr/>
        </p:nvSpPr>
        <p:spPr>
          <a:xfrm>
            <a:off x="9294829" y="2384981"/>
            <a:ext cx="2686639" cy="2031325"/>
          </a:xfrm>
          <a:prstGeom prst="rect">
            <a:avLst/>
          </a:prstGeom>
          <a:noFill/>
        </p:spPr>
        <p:txBody>
          <a:bodyPr wrap="square" rtlCol="0">
            <a:spAutoFit/>
          </a:bodyPr>
          <a:lstStyle/>
          <a:p>
            <a:r>
              <a:rPr lang="en-US" dirty="0"/>
              <a:t>We want deterministic output </a:t>
            </a:r>
          </a:p>
          <a:p>
            <a:r>
              <a:rPr lang="en-US" dirty="0"/>
              <a:t>Given an input no matter how many times I run the code the output should be same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Data race and Non-determinism</a:t>
            </a:r>
          </a:p>
        </p:txBody>
      </p:sp>
      <p:sp>
        <p:nvSpPr>
          <p:cNvPr id="5" name="Content Placeholder 4"/>
          <p:cNvSpPr>
            <a:spLocks noGrp="1"/>
          </p:cNvSpPr>
          <p:nvPr>
            <p:ph idx="1"/>
          </p:nvPr>
        </p:nvSpPr>
        <p:spPr/>
        <p:txBody>
          <a:bodyPr>
            <a:normAutofit lnSpcReduction="10000"/>
          </a:bodyPr>
          <a:lstStyle/>
          <a:p>
            <a:r>
              <a:rPr lang="en-US" dirty="0"/>
              <a:t>Sequential Programming</a:t>
            </a:r>
          </a:p>
          <a:p>
            <a:pPr lvl="1"/>
            <a:r>
              <a:rPr lang="en-US" dirty="0"/>
              <a:t>Program Order </a:t>
            </a:r>
          </a:p>
          <a:p>
            <a:pPr lvl="1"/>
            <a:r>
              <a:rPr lang="en-US" dirty="0"/>
              <a:t>Deterministic</a:t>
            </a:r>
          </a:p>
          <a:p>
            <a:pPr lvl="1"/>
            <a:endParaRPr lang="en-US" dirty="0"/>
          </a:p>
          <a:p>
            <a:r>
              <a:rPr lang="en-US" dirty="0"/>
              <a:t>Parallel Programming</a:t>
            </a:r>
          </a:p>
          <a:p>
            <a:pPr lvl="1"/>
            <a:r>
              <a:rPr lang="en-US" dirty="0"/>
              <a:t>Within a thread execution is program order</a:t>
            </a:r>
          </a:p>
          <a:p>
            <a:pPr lvl="1"/>
            <a:r>
              <a:rPr lang="en-US" dirty="0"/>
              <a:t>Order of execution of threads determined by a thread scheduler</a:t>
            </a:r>
          </a:p>
          <a:p>
            <a:pPr lvl="1"/>
            <a:r>
              <a:rPr lang="en-US" dirty="0"/>
              <a:t>Non-deterministic</a:t>
            </a:r>
          </a:p>
          <a:p>
            <a:pPr lvl="2"/>
            <a:r>
              <a:rPr lang="en-US" dirty="0"/>
              <a:t>Results may vary</a:t>
            </a:r>
          </a:p>
          <a:p>
            <a:pPr lvl="2"/>
            <a:endParaRPr lang="en-US" dirty="0"/>
          </a:p>
          <a:p>
            <a:pPr marL="914400" lvl="2" indent="0">
              <a:buNone/>
            </a:pPr>
            <a:r>
              <a:rPr lang="en-US" dirty="0"/>
              <a:t>If you have shared variables then you have to take care of the Data race condition. The thread scheduler will decide the order of execution of threads based on the available resources and all and programmer has no control on this thread scheduler.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Synchronization among threads</a:t>
            </a:r>
          </a:p>
        </p:txBody>
      </p:sp>
      <p:sp>
        <p:nvSpPr>
          <p:cNvPr id="16" name="Content Placeholder 15"/>
          <p:cNvSpPr>
            <a:spLocks noGrp="1"/>
          </p:cNvSpPr>
          <p:nvPr>
            <p:ph idx="1"/>
          </p:nvPr>
        </p:nvSpPr>
        <p:spPr/>
        <p:txBody>
          <a:bodyPr>
            <a:normAutofit fontScale="92500" lnSpcReduction="10000"/>
          </a:bodyPr>
          <a:lstStyle/>
          <a:p>
            <a:r>
              <a:rPr lang="en-US" dirty="0"/>
              <a:t>Critical Sections </a:t>
            </a:r>
          </a:p>
          <a:p>
            <a:pPr lvl="1"/>
            <a:r>
              <a:rPr lang="en-US" dirty="0"/>
              <a:t>Sections of code in different threads (or processes) which access the same shared variable(s)</a:t>
            </a:r>
            <a:endParaRPr lang="en-US" b="1" dirty="0"/>
          </a:p>
          <a:p>
            <a:endParaRPr lang="en-US" b="1" dirty="0"/>
          </a:p>
          <a:p>
            <a:r>
              <a:rPr lang="en-US" dirty="0"/>
              <a:t>Need to avoid any two critical sections from being active simultaneously. </a:t>
            </a:r>
            <a:r>
              <a:rPr lang="en-US" sz="1500" dirty="0">
                <a:solidFill>
                  <a:schemeClr val="tx1"/>
                </a:solidFill>
                <a:latin typeface="Arial" panose="020B0604020202020204" pitchFamily="34" charset="0"/>
                <a:cs typeface="Arial" panose="020B0604020202020204" pitchFamily="34" charset="0"/>
              </a:rPr>
              <a:t>if one thread is executing its critical section you let it execute and you force other threads to wait for executing their critical sections</a:t>
            </a:r>
            <a:endParaRPr lang="en-US" sz="1500" dirty="0"/>
          </a:p>
          <a:p>
            <a:endParaRPr lang="en-US" dirty="0"/>
          </a:p>
          <a:p>
            <a:r>
              <a:rPr lang="en-US" dirty="0"/>
              <a:t>Mutual Exclusion </a:t>
            </a:r>
          </a:p>
          <a:p>
            <a:pPr lvl="1"/>
            <a:r>
              <a:rPr lang="en-US" dirty="0"/>
              <a:t>if one is in a critical section it must exclude the other and vice versa.</a:t>
            </a:r>
          </a:p>
          <a:p>
            <a:pPr marL="0" indent="0">
              <a:buNone/>
            </a:pPr>
            <a:endParaRPr lang="en-US" b="1" dirty="0"/>
          </a:p>
          <a:p>
            <a:r>
              <a:rPr lang="en-US" dirty="0"/>
              <a:t>Variables used for this purpose are called </a:t>
            </a:r>
            <a:r>
              <a:rPr lang="en-US" dirty="0">
                <a:solidFill>
                  <a:srgbClr val="C00000"/>
                </a:solidFill>
              </a:rPr>
              <a:t>mutex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2692" y="206317"/>
            <a:ext cx="10515600" cy="566102"/>
          </a:xfrm>
        </p:spPr>
        <p:txBody>
          <a:bodyPr>
            <a:normAutofit fontScale="90000"/>
          </a:bodyPr>
          <a:lstStyle/>
          <a:p>
            <a:pPr lvl="0"/>
            <a:r>
              <a:rPr lang="en-US" dirty="0">
                <a:solidFill>
                  <a:srgbClr val="0070C0"/>
                </a:solidFill>
              </a:rPr>
              <a:t>Synchronization among threads by locking</a:t>
            </a:r>
          </a:p>
        </p:txBody>
      </p:sp>
      <p:sp>
        <p:nvSpPr>
          <p:cNvPr id="8" name="Content Placeholder 7"/>
          <p:cNvSpPr>
            <a:spLocks noGrp="1"/>
          </p:cNvSpPr>
          <p:nvPr>
            <p:ph sz="half" idx="2"/>
          </p:nvPr>
        </p:nvSpPr>
        <p:spPr>
          <a:xfrm>
            <a:off x="2864363" y="2180611"/>
            <a:ext cx="5989590" cy="2677088"/>
          </a:xfrm>
          <a:ln>
            <a:solidFill>
              <a:schemeClr val="tx1"/>
            </a:solidFill>
          </a:ln>
        </p:spPr>
        <p:txBody>
          <a:bodyPr>
            <a:noAutofit/>
          </a:bodyPr>
          <a:lstStyle/>
          <a:p>
            <a:pPr>
              <a:buNone/>
            </a:pPr>
            <a:r>
              <a:rPr lang="en-US" sz="1600" dirty="0">
                <a:solidFill>
                  <a:schemeClr val="bg2"/>
                </a:solidFill>
              </a:rPr>
              <a:t>while(MUTEX == LOCKED)</a:t>
            </a:r>
          </a:p>
          <a:p>
            <a:pPr>
              <a:buNone/>
            </a:pPr>
            <a:r>
              <a:rPr lang="en-US" sz="1600" dirty="0">
                <a:solidFill>
                  <a:schemeClr val="bg2"/>
                </a:solidFill>
              </a:rPr>
              <a:t>    do nothing;</a:t>
            </a:r>
          </a:p>
          <a:p>
            <a:pPr>
              <a:buNone/>
            </a:pPr>
            <a:r>
              <a:rPr lang="en-US" sz="1600" dirty="0">
                <a:solidFill>
                  <a:schemeClr val="bg2"/>
                </a:solidFill>
              </a:rPr>
              <a:t>MUTEX = LOCKED;</a:t>
            </a:r>
          </a:p>
          <a:p>
            <a:pPr>
              <a:buNone/>
            </a:pPr>
            <a:r>
              <a:rPr lang="en-US" sz="1600" dirty="0">
                <a:solidFill>
                  <a:schemeClr val="bg2"/>
                </a:solidFill>
              </a:rPr>
              <a:t>operations involving shared variables</a:t>
            </a:r>
          </a:p>
          <a:p>
            <a:pPr>
              <a:buNone/>
            </a:pPr>
            <a:r>
              <a:rPr lang="en-US" sz="1600" dirty="0">
                <a:solidFill>
                  <a:schemeClr val="bg2"/>
                </a:solidFill>
              </a:rPr>
              <a:t>MUTEX = UNLOCKED;</a:t>
            </a:r>
          </a:p>
        </p:txBody>
      </p:sp>
      <p:cxnSp>
        <p:nvCxnSpPr>
          <p:cNvPr id="12" name="Elbow Connector 11"/>
          <p:cNvCxnSpPr>
            <a:cxnSpLocks/>
            <a:stCxn id="8" idx="2"/>
            <a:endCxn id="8" idx="0"/>
          </p:cNvCxnSpPr>
          <p:nvPr/>
        </p:nvCxnSpPr>
        <p:spPr>
          <a:xfrm rot="5400000" flipH="1">
            <a:off x="4520614" y="3519155"/>
            <a:ext cx="2677088" cy="12700"/>
          </a:xfrm>
          <a:prstGeom prst="bentConnector5">
            <a:avLst>
              <a:gd name="adj1" fmla="val -8539"/>
              <a:gd name="adj2" fmla="val 25381063"/>
              <a:gd name="adj3" fmla="val 108539"/>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54E4BC1-8AB3-212B-9D64-2882D8C3B644}"/>
              </a:ext>
            </a:extLst>
          </p:cNvPr>
          <p:cNvSpPr txBox="1"/>
          <p:nvPr/>
        </p:nvSpPr>
        <p:spPr>
          <a:xfrm>
            <a:off x="5222450" y="2856594"/>
            <a:ext cx="6331539" cy="369332"/>
          </a:xfrm>
          <a:prstGeom prst="rect">
            <a:avLst/>
          </a:prstGeom>
          <a:noFill/>
        </p:spPr>
        <p:txBody>
          <a:bodyPr wrap="square" rtlCol="0">
            <a:spAutoFit/>
          </a:bodyPr>
          <a:lstStyle/>
          <a:p>
            <a:r>
              <a:rPr lang="en-US" dirty="0">
                <a:solidFill>
                  <a:schemeClr val="bg1"/>
                </a:solidFill>
              </a:rPr>
              <a:t>// Only one thread is allowed to take this lock.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Synchronization among threads</a:t>
            </a:r>
          </a:p>
        </p:txBody>
      </p:sp>
      <p:sp>
        <p:nvSpPr>
          <p:cNvPr id="40987" name="Rectangle 27"/>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40961" name="Group 1"/>
          <p:cNvGrpSpPr>
            <a:grpSpLocks noChangeAspect="1"/>
          </p:cNvGrpSpPr>
          <p:nvPr/>
        </p:nvGrpSpPr>
        <p:grpSpPr bwMode="auto">
          <a:xfrm>
            <a:off x="2153285" y="1675896"/>
            <a:ext cx="7915843" cy="3186036"/>
            <a:chOff x="1815" y="7546"/>
            <a:chExt cx="8640" cy="3477"/>
          </a:xfrm>
        </p:grpSpPr>
        <p:sp>
          <p:nvSpPr>
            <p:cNvPr id="40986" name="AutoShape 26"/>
            <p:cNvSpPr>
              <a:spLocks noChangeAspect="1" noChangeArrowheads="1" noTextEdit="1"/>
            </p:cNvSpPr>
            <p:nvPr/>
          </p:nvSpPr>
          <p:spPr bwMode="auto">
            <a:xfrm>
              <a:off x="1815" y="7546"/>
              <a:ext cx="8640" cy="3477"/>
            </a:xfrm>
            <a:prstGeom prst="rect">
              <a:avLst/>
            </a:prstGeom>
            <a:noFill/>
          </p:spPr>
          <p:txBody>
            <a:bodyPr vert="horz" wrap="square" lIns="91440" tIns="45720" rIns="91440" bIns="45720" numCol="1" anchor="t" anchorCtr="0" compatLnSpc="1">
              <a:prstTxWarp prst="textNoShape">
                <a:avLst/>
              </a:prstTxWarp>
            </a:bodyPr>
            <a:lstStyle/>
            <a:p>
              <a:endParaRPr lang="en-US" sz="2800"/>
            </a:p>
          </p:txBody>
        </p:sp>
        <p:grpSp>
          <p:nvGrpSpPr>
            <p:cNvPr id="40982" name="Group 22"/>
            <p:cNvGrpSpPr>
              <a:grpSpLocks/>
            </p:cNvGrpSpPr>
            <p:nvPr/>
          </p:nvGrpSpPr>
          <p:grpSpPr bwMode="auto">
            <a:xfrm>
              <a:off x="2235" y="8135"/>
              <a:ext cx="1800" cy="2888"/>
              <a:chOff x="979" y="2365"/>
              <a:chExt cx="880" cy="1412"/>
            </a:xfrm>
          </p:grpSpPr>
          <p:sp>
            <p:nvSpPr>
              <p:cNvPr id="40985" name="Freeform 25"/>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84" name="Text Box 24"/>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83" name="Freeform 23"/>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40978" name="Group 18"/>
            <p:cNvGrpSpPr>
              <a:grpSpLocks/>
            </p:cNvGrpSpPr>
            <p:nvPr/>
          </p:nvGrpSpPr>
          <p:grpSpPr bwMode="auto">
            <a:xfrm>
              <a:off x="4266" y="8135"/>
              <a:ext cx="1799" cy="2888"/>
              <a:chOff x="979" y="2365"/>
              <a:chExt cx="880" cy="1412"/>
            </a:xfrm>
          </p:grpSpPr>
          <p:sp>
            <p:nvSpPr>
              <p:cNvPr id="40981" name="Freeform 21"/>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80" name="Text Box 20"/>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9" name="Freeform 19"/>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40974" name="Group 14"/>
            <p:cNvGrpSpPr>
              <a:grpSpLocks/>
            </p:cNvGrpSpPr>
            <p:nvPr/>
          </p:nvGrpSpPr>
          <p:grpSpPr bwMode="auto">
            <a:xfrm>
              <a:off x="6378" y="8135"/>
              <a:ext cx="1801" cy="2888"/>
              <a:chOff x="979" y="2365"/>
              <a:chExt cx="880" cy="1412"/>
            </a:xfrm>
          </p:grpSpPr>
          <p:sp>
            <p:nvSpPr>
              <p:cNvPr id="40977" name="Freeform 17"/>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76" name="Text Box 16"/>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5" name="Freeform 15"/>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40970" name="Group 10"/>
            <p:cNvGrpSpPr>
              <a:grpSpLocks/>
            </p:cNvGrpSpPr>
            <p:nvPr/>
          </p:nvGrpSpPr>
          <p:grpSpPr bwMode="auto">
            <a:xfrm>
              <a:off x="8410" y="8135"/>
              <a:ext cx="1800" cy="2888"/>
              <a:chOff x="979" y="2365"/>
              <a:chExt cx="880" cy="1412"/>
            </a:xfrm>
          </p:grpSpPr>
          <p:sp>
            <p:nvSpPr>
              <p:cNvPr id="40973" name="Freeform 13"/>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72" name="Text Box 12"/>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1" name="Freeform 11"/>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sp>
          <p:nvSpPr>
            <p:cNvPr id="40969" name="Line 9"/>
            <p:cNvSpPr>
              <a:spLocks noChangeShapeType="1"/>
            </p:cNvSpPr>
            <p:nvPr/>
          </p:nvSpPr>
          <p:spPr bwMode="auto">
            <a:xfrm>
              <a:off x="1815" y="9696"/>
              <a:ext cx="419"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8" name="Line 8"/>
            <p:cNvSpPr>
              <a:spLocks noChangeShapeType="1"/>
            </p:cNvSpPr>
            <p:nvPr/>
          </p:nvSpPr>
          <p:spPr bwMode="auto">
            <a:xfrm>
              <a:off x="4650" y="8686"/>
              <a:ext cx="4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7" name="Line 7"/>
            <p:cNvSpPr>
              <a:spLocks noChangeShapeType="1"/>
            </p:cNvSpPr>
            <p:nvPr/>
          </p:nvSpPr>
          <p:spPr bwMode="auto">
            <a:xfrm flipV="1">
              <a:off x="6910" y="10465"/>
              <a:ext cx="353" cy="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6" name="Line 6"/>
            <p:cNvSpPr>
              <a:spLocks noChangeShapeType="1"/>
            </p:cNvSpPr>
            <p:nvPr/>
          </p:nvSpPr>
          <p:spPr bwMode="auto">
            <a:xfrm flipH="1">
              <a:off x="10147" y="9415"/>
              <a:ext cx="308"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5" name="Text Box 5"/>
            <p:cNvSpPr txBox="1">
              <a:spLocks noChangeArrowheads="1"/>
            </p:cNvSpPr>
            <p:nvPr/>
          </p:nvSpPr>
          <p:spPr bwMode="auto">
            <a:xfrm>
              <a:off x="2846" y="7559"/>
              <a:ext cx="566" cy="392"/>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T1 </a:t>
              </a:r>
              <a:endParaRPr lang="en-US" sz="2800">
                <a:latin typeface="Arial" pitchFamily="34" charset="0"/>
                <a:cs typeface="Arial" pitchFamily="34" charset="0"/>
              </a:endParaRPr>
            </a:p>
          </p:txBody>
        </p:sp>
        <p:sp>
          <p:nvSpPr>
            <p:cNvPr id="40964" name="Text Box 4"/>
            <p:cNvSpPr txBox="1">
              <a:spLocks noChangeArrowheads="1"/>
            </p:cNvSpPr>
            <p:nvPr/>
          </p:nvSpPr>
          <p:spPr bwMode="auto">
            <a:xfrm>
              <a:off x="4798" y="7546"/>
              <a:ext cx="566" cy="393"/>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T2 </a:t>
              </a:r>
              <a:endParaRPr lang="en-US" sz="2800">
                <a:latin typeface="Arial" pitchFamily="34" charset="0"/>
                <a:cs typeface="Arial" pitchFamily="34" charset="0"/>
              </a:endParaRPr>
            </a:p>
          </p:txBody>
        </p:sp>
        <p:sp>
          <p:nvSpPr>
            <p:cNvPr id="40963" name="Text Box 3"/>
            <p:cNvSpPr txBox="1">
              <a:spLocks noChangeArrowheads="1"/>
            </p:cNvSpPr>
            <p:nvPr/>
          </p:nvSpPr>
          <p:spPr bwMode="auto">
            <a:xfrm>
              <a:off x="6884" y="7559"/>
              <a:ext cx="567" cy="392"/>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T3 </a:t>
              </a:r>
              <a:endParaRPr lang="en-US" sz="2800">
                <a:latin typeface="Arial" pitchFamily="34" charset="0"/>
                <a:cs typeface="Arial" pitchFamily="34" charset="0"/>
              </a:endParaRPr>
            </a:p>
          </p:txBody>
        </p:sp>
        <p:sp>
          <p:nvSpPr>
            <p:cNvPr id="40962" name="Text Box 2"/>
            <p:cNvSpPr txBox="1">
              <a:spLocks noChangeArrowheads="1"/>
            </p:cNvSpPr>
            <p:nvPr/>
          </p:nvSpPr>
          <p:spPr bwMode="auto">
            <a:xfrm>
              <a:off x="8835" y="7546"/>
              <a:ext cx="567" cy="393"/>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T4 </a:t>
              </a:r>
              <a:endParaRPr lang="en-US" sz="2800">
                <a:latin typeface="Arial" pitchFamily="34" charset="0"/>
                <a:cs typeface="Arial" pitchFamily="3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128" y="189229"/>
            <a:ext cx="10515600" cy="732155"/>
          </a:xfrm>
        </p:spPr>
        <p:txBody>
          <a:bodyPr>
            <a:normAutofit/>
          </a:bodyPr>
          <a:lstStyle/>
          <a:p>
            <a:pPr lvl="0"/>
            <a:r>
              <a:rPr lang="en-US" dirty="0"/>
              <a:t>Synchronization among threads</a:t>
            </a:r>
          </a:p>
        </p:txBody>
      </p:sp>
      <p:sp>
        <p:nvSpPr>
          <p:cNvPr id="30" name="Content Placeholder 29"/>
          <p:cNvSpPr>
            <a:spLocks noGrp="1"/>
          </p:cNvSpPr>
          <p:nvPr>
            <p:ph idx="1"/>
          </p:nvPr>
        </p:nvSpPr>
        <p:spPr>
          <a:xfrm>
            <a:off x="544946" y="4752726"/>
            <a:ext cx="11388436" cy="1407924"/>
          </a:xfrm>
        </p:spPr>
        <p:txBody>
          <a:bodyPr>
            <a:noAutofit/>
          </a:bodyPr>
          <a:lstStyle/>
          <a:p>
            <a:r>
              <a:rPr lang="en-US" sz="1600" dirty="0"/>
              <a:t>T1 is </a:t>
            </a:r>
            <a:r>
              <a:rPr lang="en-US" sz="1600" b="1" dirty="0"/>
              <a:t>active</a:t>
            </a:r>
            <a:r>
              <a:rPr lang="en-US" sz="1600" dirty="0"/>
              <a:t> and executing code </a:t>
            </a:r>
            <a:r>
              <a:rPr lang="en-US" sz="1600" b="1" dirty="0"/>
              <a:t>inside</a:t>
            </a:r>
            <a:r>
              <a:rPr lang="en-US" sz="1600" dirty="0"/>
              <a:t> its </a:t>
            </a:r>
            <a:r>
              <a:rPr lang="en-US" sz="1600" b="1" dirty="0"/>
              <a:t>critical section</a:t>
            </a:r>
            <a:r>
              <a:rPr lang="en-US" sz="1600" dirty="0"/>
              <a:t>.  </a:t>
            </a:r>
          </a:p>
          <a:p>
            <a:r>
              <a:rPr lang="en-US" sz="1600" dirty="0"/>
              <a:t>T2 is </a:t>
            </a:r>
            <a:r>
              <a:rPr lang="en-US" sz="1600" b="1" dirty="0"/>
              <a:t>active</a:t>
            </a:r>
            <a:r>
              <a:rPr lang="en-US" sz="1600" dirty="0"/>
              <a:t> and executing code </a:t>
            </a:r>
            <a:r>
              <a:rPr lang="en-US" sz="1600" b="1" dirty="0"/>
              <a:t>outside</a:t>
            </a:r>
            <a:r>
              <a:rPr lang="en-US" sz="1600" dirty="0"/>
              <a:t> its </a:t>
            </a:r>
            <a:r>
              <a:rPr lang="en-US" sz="1600" b="1" dirty="0"/>
              <a:t>critical section</a:t>
            </a:r>
            <a:r>
              <a:rPr lang="en-US" sz="1600" dirty="0"/>
              <a:t>.</a:t>
            </a:r>
          </a:p>
          <a:p>
            <a:r>
              <a:rPr lang="en-US" sz="1600" dirty="0"/>
              <a:t>T3 is </a:t>
            </a:r>
            <a:r>
              <a:rPr lang="en-US" sz="1600" b="1" dirty="0"/>
              <a:t>active</a:t>
            </a:r>
            <a:r>
              <a:rPr lang="en-US" sz="1600" dirty="0"/>
              <a:t> and executing code </a:t>
            </a:r>
            <a:r>
              <a:rPr lang="en-US" sz="1600" b="1" dirty="0"/>
              <a:t>outside</a:t>
            </a:r>
            <a:r>
              <a:rPr lang="en-US" sz="1600" dirty="0"/>
              <a:t> its </a:t>
            </a:r>
            <a:r>
              <a:rPr lang="en-US" sz="1600" b="1" dirty="0"/>
              <a:t>critical section</a:t>
            </a:r>
            <a:r>
              <a:rPr lang="en-US" sz="1600" dirty="0"/>
              <a:t>.</a:t>
            </a:r>
          </a:p>
          <a:p>
            <a:r>
              <a:rPr lang="en-US" sz="1600" dirty="0"/>
              <a:t>T4 is </a:t>
            </a:r>
            <a:r>
              <a:rPr lang="en-US" sz="1600" b="1" dirty="0"/>
              <a:t>blocked </a:t>
            </a:r>
            <a:r>
              <a:rPr lang="en-US" sz="1600" dirty="0"/>
              <a:t>and </a:t>
            </a:r>
            <a:r>
              <a:rPr lang="en-US" sz="1600" b="1" dirty="0"/>
              <a:t>waiting </a:t>
            </a:r>
            <a:r>
              <a:rPr lang="en-US" sz="1600" dirty="0"/>
              <a:t>to get into its </a:t>
            </a:r>
            <a:r>
              <a:rPr lang="en-US" sz="1600" b="1" dirty="0"/>
              <a:t>critical section</a:t>
            </a:r>
            <a:r>
              <a:rPr lang="en-US" sz="1600" dirty="0"/>
              <a:t>. (It will get in once the lock is released by T1).</a:t>
            </a:r>
          </a:p>
          <a:p>
            <a:r>
              <a:rPr lang="en-US" sz="1600" dirty="0"/>
              <a:t>When T1 is done it will UNLOCK the critical section and then T4 will take the lock and get into its critical section.</a:t>
            </a:r>
          </a:p>
          <a:p>
            <a:endParaRPr lang="en-US" sz="1600" dirty="0"/>
          </a:p>
        </p:txBody>
      </p:sp>
      <p:sp>
        <p:nvSpPr>
          <p:cNvPr id="40987" name="Rectangle 27"/>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3" name="Group 1"/>
          <p:cNvGrpSpPr>
            <a:grpSpLocks noChangeAspect="1"/>
          </p:cNvGrpSpPr>
          <p:nvPr/>
        </p:nvGrpSpPr>
        <p:grpSpPr bwMode="auto">
          <a:xfrm>
            <a:off x="1783831" y="1195605"/>
            <a:ext cx="7915843" cy="3186036"/>
            <a:chOff x="1815" y="7546"/>
            <a:chExt cx="8640" cy="3477"/>
          </a:xfrm>
        </p:grpSpPr>
        <p:sp>
          <p:nvSpPr>
            <p:cNvPr id="40986" name="AutoShape 26"/>
            <p:cNvSpPr>
              <a:spLocks noChangeAspect="1" noChangeArrowheads="1" noTextEdit="1"/>
            </p:cNvSpPr>
            <p:nvPr/>
          </p:nvSpPr>
          <p:spPr bwMode="auto">
            <a:xfrm>
              <a:off x="1815" y="7546"/>
              <a:ext cx="8640" cy="3477"/>
            </a:xfrm>
            <a:prstGeom prst="rect">
              <a:avLst/>
            </a:prstGeom>
            <a:noFill/>
          </p:spPr>
          <p:txBody>
            <a:bodyPr vert="horz" wrap="square" lIns="91440" tIns="45720" rIns="91440" bIns="45720" numCol="1" anchor="t" anchorCtr="0" compatLnSpc="1">
              <a:prstTxWarp prst="textNoShape">
                <a:avLst/>
              </a:prstTxWarp>
            </a:bodyPr>
            <a:lstStyle/>
            <a:p>
              <a:endParaRPr lang="en-US" sz="2800"/>
            </a:p>
          </p:txBody>
        </p:sp>
        <p:grpSp>
          <p:nvGrpSpPr>
            <p:cNvPr id="4" name="Group 22"/>
            <p:cNvGrpSpPr>
              <a:grpSpLocks/>
            </p:cNvGrpSpPr>
            <p:nvPr/>
          </p:nvGrpSpPr>
          <p:grpSpPr bwMode="auto">
            <a:xfrm>
              <a:off x="2235" y="8135"/>
              <a:ext cx="1800" cy="2888"/>
              <a:chOff x="979" y="2365"/>
              <a:chExt cx="880" cy="1412"/>
            </a:xfrm>
          </p:grpSpPr>
          <p:sp>
            <p:nvSpPr>
              <p:cNvPr id="40985" name="Freeform 25"/>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84" name="Text Box 24"/>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83" name="Freeform 23"/>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5" name="Group 18"/>
            <p:cNvGrpSpPr>
              <a:grpSpLocks/>
            </p:cNvGrpSpPr>
            <p:nvPr/>
          </p:nvGrpSpPr>
          <p:grpSpPr bwMode="auto">
            <a:xfrm>
              <a:off x="4266" y="8135"/>
              <a:ext cx="1799" cy="2888"/>
              <a:chOff x="979" y="2365"/>
              <a:chExt cx="880" cy="1412"/>
            </a:xfrm>
          </p:grpSpPr>
          <p:sp>
            <p:nvSpPr>
              <p:cNvPr id="40981" name="Freeform 21"/>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80" name="Text Box 20"/>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9" name="Freeform 19"/>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6" name="Group 14"/>
            <p:cNvGrpSpPr>
              <a:grpSpLocks/>
            </p:cNvGrpSpPr>
            <p:nvPr/>
          </p:nvGrpSpPr>
          <p:grpSpPr bwMode="auto">
            <a:xfrm>
              <a:off x="6378" y="8135"/>
              <a:ext cx="1801" cy="2888"/>
              <a:chOff x="979" y="2365"/>
              <a:chExt cx="880" cy="1412"/>
            </a:xfrm>
          </p:grpSpPr>
          <p:sp>
            <p:nvSpPr>
              <p:cNvPr id="40977" name="Freeform 17"/>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76" name="Text Box 16"/>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5" name="Freeform 15"/>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grpSp>
          <p:nvGrpSpPr>
            <p:cNvPr id="7" name="Group 10"/>
            <p:cNvGrpSpPr>
              <a:grpSpLocks/>
            </p:cNvGrpSpPr>
            <p:nvPr/>
          </p:nvGrpSpPr>
          <p:grpSpPr bwMode="auto">
            <a:xfrm>
              <a:off x="8410" y="8135"/>
              <a:ext cx="1800" cy="2888"/>
              <a:chOff x="979" y="2365"/>
              <a:chExt cx="880" cy="1412"/>
            </a:xfrm>
          </p:grpSpPr>
          <p:sp>
            <p:nvSpPr>
              <p:cNvPr id="40973" name="Freeform 13"/>
              <p:cNvSpPr>
                <a:spLocks noChangeAspect="1"/>
              </p:cNvSpPr>
              <p:nvPr/>
            </p:nvSpPr>
            <p:spPr bwMode="auto">
              <a:xfrm>
                <a:off x="1336" y="2365"/>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sp>
            <p:nvSpPr>
              <p:cNvPr id="40972" name="Text Box 12"/>
              <p:cNvSpPr txBox="1">
                <a:spLocks noChangeArrowheads="1"/>
              </p:cNvSpPr>
              <p:nvPr/>
            </p:nvSpPr>
            <p:spPr bwMode="auto">
              <a:xfrm>
                <a:off x="979" y="2991"/>
                <a:ext cx="880" cy="198"/>
              </a:xfrm>
              <a:prstGeom prst="rect">
                <a:avLst/>
              </a:prstGeom>
              <a:solidFill>
                <a:srgbClr val="C0C0C0"/>
              </a:solidFill>
              <a:ln w="9525">
                <a:solidFill>
                  <a:srgbClr val="000000"/>
                </a:solid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a:solidFill>
                      <a:srgbClr val="000000"/>
                    </a:solidFill>
                    <a:latin typeface="Arial" pitchFamily="34" charset="0"/>
                    <a:ea typeface="Times New Roman" pitchFamily="18" charset="0"/>
                    <a:cs typeface="Arial" pitchFamily="34" charset="0"/>
                  </a:rPr>
                  <a:t>Critical section </a:t>
                </a:r>
                <a:endParaRPr lang="en-US" sz="2800">
                  <a:latin typeface="Arial" pitchFamily="34" charset="0"/>
                  <a:cs typeface="Arial" pitchFamily="34" charset="0"/>
                </a:endParaRPr>
              </a:p>
            </p:txBody>
          </p:sp>
          <p:sp>
            <p:nvSpPr>
              <p:cNvPr id="40971" name="Freeform 11"/>
              <p:cNvSpPr>
                <a:spLocks noChangeAspect="1"/>
              </p:cNvSpPr>
              <p:nvPr/>
            </p:nvSpPr>
            <p:spPr bwMode="auto">
              <a:xfrm>
                <a:off x="1336" y="3189"/>
                <a:ext cx="99" cy="588"/>
              </a:xfrm>
              <a:custGeom>
                <a:avLst/>
                <a:gdLst/>
                <a:ahLst/>
                <a:cxnLst>
                  <a:cxn ang="0">
                    <a:pos x="0" y="0"/>
                  </a:cxn>
                  <a:cxn ang="0">
                    <a:pos x="248" y="200"/>
                  </a:cxn>
                  <a:cxn ang="0">
                    <a:pos x="24" y="392"/>
                  </a:cxn>
                  <a:cxn ang="0">
                    <a:pos x="248" y="560"/>
                  </a:cxn>
                  <a:cxn ang="0">
                    <a:pos x="48" y="768"/>
                  </a:cxn>
                  <a:cxn ang="0">
                    <a:pos x="248" y="872"/>
                  </a:cxn>
                  <a:cxn ang="0">
                    <a:pos x="88" y="1048"/>
                  </a:cxn>
                  <a:cxn ang="0">
                    <a:pos x="256" y="1176"/>
                  </a:cxn>
                  <a:cxn ang="0">
                    <a:pos x="72" y="1384"/>
                  </a:cxn>
                  <a:cxn ang="0">
                    <a:pos x="272" y="1536"/>
                  </a:cxn>
                  <a:cxn ang="0">
                    <a:pos x="104" y="1664"/>
                  </a:cxn>
                </a:cxnLst>
                <a:rect l="0" t="0" r="r" b="b"/>
                <a:pathLst>
                  <a:path w="277" h="1664">
                    <a:moveTo>
                      <a:pt x="0" y="0"/>
                    </a:moveTo>
                    <a:cubicBezTo>
                      <a:pt x="122" y="67"/>
                      <a:pt x="244" y="135"/>
                      <a:pt x="248" y="200"/>
                    </a:cubicBezTo>
                    <a:cubicBezTo>
                      <a:pt x="252" y="265"/>
                      <a:pt x="24" y="332"/>
                      <a:pt x="24" y="392"/>
                    </a:cubicBezTo>
                    <a:cubicBezTo>
                      <a:pt x="24" y="452"/>
                      <a:pt x="244" y="497"/>
                      <a:pt x="248" y="560"/>
                    </a:cubicBezTo>
                    <a:cubicBezTo>
                      <a:pt x="252" y="623"/>
                      <a:pt x="48" y="716"/>
                      <a:pt x="48" y="768"/>
                    </a:cubicBezTo>
                    <a:cubicBezTo>
                      <a:pt x="48" y="820"/>
                      <a:pt x="241" y="825"/>
                      <a:pt x="248" y="872"/>
                    </a:cubicBezTo>
                    <a:cubicBezTo>
                      <a:pt x="255" y="919"/>
                      <a:pt x="87" y="997"/>
                      <a:pt x="88" y="1048"/>
                    </a:cubicBezTo>
                    <a:cubicBezTo>
                      <a:pt x="89" y="1099"/>
                      <a:pt x="259" y="1120"/>
                      <a:pt x="256" y="1176"/>
                    </a:cubicBezTo>
                    <a:cubicBezTo>
                      <a:pt x="253" y="1232"/>
                      <a:pt x="69" y="1324"/>
                      <a:pt x="72" y="1384"/>
                    </a:cubicBezTo>
                    <a:cubicBezTo>
                      <a:pt x="75" y="1444"/>
                      <a:pt x="267" y="1489"/>
                      <a:pt x="272" y="1536"/>
                    </a:cubicBezTo>
                    <a:cubicBezTo>
                      <a:pt x="277" y="1583"/>
                      <a:pt x="132" y="1643"/>
                      <a:pt x="104" y="1664"/>
                    </a:cubicBez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sz="2800"/>
              </a:p>
            </p:txBody>
          </p:sp>
        </p:grpSp>
        <p:sp>
          <p:nvSpPr>
            <p:cNvPr id="40969" name="Line 9"/>
            <p:cNvSpPr>
              <a:spLocks noChangeShapeType="1"/>
            </p:cNvSpPr>
            <p:nvPr/>
          </p:nvSpPr>
          <p:spPr bwMode="auto">
            <a:xfrm>
              <a:off x="1815" y="9696"/>
              <a:ext cx="419"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8" name="Line 8"/>
            <p:cNvSpPr>
              <a:spLocks noChangeShapeType="1"/>
            </p:cNvSpPr>
            <p:nvPr/>
          </p:nvSpPr>
          <p:spPr bwMode="auto">
            <a:xfrm>
              <a:off x="4650" y="8686"/>
              <a:ext cx="4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7" name="Line 7"/>
            <p:cNvSpPr>
              <a:spLocks noChangeShapeType="1"/>
            </p:cNvSpPr>
            <p:nvPr/>
          </p:nvSpPr>
          <p:spPr bwMode="auto">
            <a:xfrm flipV="1">
              <a:off x="6910" y="10465"/>
              <a:ext cx="353" cy="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6" name="Line 6"/>
            <p:cNvSpPr>
              <a:spLocks noChangeShapeType="1"/>
            </p:cNvSpPr>
            <p:nvPr/>
          </p:nvSpPr>
          <p:spPr bwMode="auto">
            <a:xfrm flipH="1">
              <a:off x="10147" y="9415"/>
              <a:ext cx="308"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800"/>
            </a:p>
          </p:txBody>
        </p:sp>
        <p:sp>
          <p:nvSpPr>
            <p:cNvPr id="40965" name="Text Box 5"/>
            <p:cNvSpPr txBox="1">
              <a:spLocks noChangeArrowheads="1"/>
            </p:cNvSpPr>
            <p:nvPr/>
          </p:nvSpPr>
          <p:spPr bwMode="auto">
            <a:xfrm>
              <a:off x="2846" y="7559"/>
              <a:ext cx="566" cy="392"/>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T1 </a:t>
              </a:r>
              <a:endParaRPr lang="en-US" sz="2800">
                <a:latin typeface="Arial" pitchFamily="34" charset="0"/>
                <a:cs typeface="Arial" pitchFamily="34" charset="0"/>
              </a:endParaRPr>
            </a:p>
          </p:txBody>
        </p:sp>
        <p:sp>
          <p:nvSpPr>
            <p:cNvPr id="40964" name="Text Box 4"/>
            <p:cNvSpPr txBox="1">
              <a:spLocks noChangeArrowheads="1"/>
            </p:cNvSpPr>
            <p:nvPr/>
          </p:nvSpPr>
          <p:spPr bwMode="auto">
            <a:xfrm>
              <a:off x="4798" y="7546"/>
              <a:ext cx="566" cy="393"/>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T2 </a:t>
              </a:r>
              <a:endParaRPr lang="en-US" sz="2800">
                <a:latin typeface="Arial" pitchFamily="34" charset="0"/>
                <a:cs typeface="Arial" pitchFamily="34" charset="0"/>
              </a:endParaRPr>
            </a:p>
          </p:txBody>
        </p:sp>
        <p:sp>
          <p:nvSpPr>
            <p:cNvPr id="40963" name="Text Box 3"/>
            <p:cNvSpPr txBox="1">
              <a:spLocks noChangeArrowheads="1"/>
            </p:cNvSpPr>
            <p:nvPr/>
          </p:nvSpPr>
          <p:spPr bwMode="auto">
            <a:xfrm>
              <a:off x="6884" y="7559"/>
              <a:ext cx="567" cy="392"/>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T3 </a:t>
              </a:r>
              <a:endParaRPr lang="en-US" sz="2800">
                <a:latin typeface="Arial" pitchFamily="34" charset="0"/>
                <a:cs typeface="Arial" pitchFamily="34" charset="0"/>
              </a:endParaRPr>
            </a:p>
          </p:txBody>
        </p:sp>
        <p:sp>
          <p:nvSpPr>
            <p:cNvPr id="40962" name="Text Box 2"/>
            <p:cNvSpPr txBox="1">
              <a:spLocks noChangeArrowheads="1"/>
            </p:cNvSpPr>
            <p:nvPr/>
          </p:nvSpPr>
          <p:spPr bwMode="auto">
            <a:xfrm>
              <a:off x="8835" y="7546"/>
              <a:ext cx="567" cy="393"/>
            </a:xfrm>
            <a:prstGeom prst="rect">
              <a:avLst/>
            </a:prstGeom>
            <a:noFill/>
            <a:ln w="9525">
              <a:noFill/>
              <a:miter lim="800000"/>
              <a:headEnd/>
              <a:tailEnd/>
            </a:ln>
          </p:spPr>
          <p:txBody>
            <a:bodyPr vert="horz" wrap="square" lIns="74981" tIns="37490" rIns="74981" bIns="37490" numCol="1" anchor="t" anchorCtr="0" compatLnSpc="1">
              <a:prstTxWarp prst="textNoShape">
                <a:avLst/>
              </a:prstTxWarp>
            </a:bodyPr>
            <a:lstStyle/>
            <a:p>
              <a:pPr fontAlgn="base">
                <a:spcBef>
                  <a:spcPct val="0"/>
                </a:spcBef>
                <a:spcAft>
                  <a:spcPct val="0"/>
                </a:spcAft>
              </a:pPr>
              <a:r>
                <a:rPr lang="en-US" sz="1600" b="1">
                  <a:solidFill>
                    <a:srgbClr val="000000"/>
                  </a:solidFill>
                  <a:latin typeface="Arial" pitchFamily="34" charset="0"/>
                  <a:ea typeface="Times New Roman" pitchFamily="18" charset="0"/>
                  <a:cs typeface="Arial" pitchFamily="34" charset="0"/>
                </a:rPr>
                <a:t>T4 </a:t>
              </a:r>
              <a:endParaRPr lang="en-US" sz="2800">
                <a:latin typeface="Arial" pitchFamily="34" charset="0"/>
                <a:cs typeface="Arial" pitchFamily="34"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6AB29-EFD1-43E1-8509-88F85E2FCA3A}"/>
              </a:ext>
            </a:extLst>
          </p:cNvPr>
          <p:cNvSpPr>
            <a:spLocks noGrp="1"/>
          </p:cNvSpPr>
          <p:nvPr>
            <p:ph type="title"/>
          </p:nvPr>
        </p:nvSpPr>
        <p:spPr>
          <a:xfrm>
            <a:off x="363071" y="314959"/>
            <a:ext cx="10515600" cy="732155"/>
          </a:xfrm>
        </p:spPr>
        <p:txBody>
          <a:bodyPr>
            <a:normAutofit/>
          </a:bodyPr>
          <a:lstStyle/>
          <a:p>
            <a:r>
              <a:rPr lang="en-IN" sz="3600" dirty="0"/>
              <a:t>Multithreading programming libraries</a:t>
            </a:r>
          </a:p>
        </p:txBody>
      </p:sp>
      <p:sp>
        <p:nvSpPr>
          <p:cNvPr id="3" name="Content Placeholder 2">
            <a:extLst>
              <a:ext uri="{FF2B5EF4-FFF2-40B4-BE49-F238E27FC236}">
                <a16:creationId xmlns:a16="http://schemas.microsoft.com/office/drawing/2014/main" id="{670C37DB-2766-49BD-8C4E-877CEDFDFCCB}"/>
              </a:ext>
            </a:extLst>
          </p:cNvPr>
          <p:cNvSpPr>
            <a:spLocks noGrp="1"/>
          </p:cNvSpPr>
          <p:nvPr>
            <p:ph idx="1"/>
          </p:nvPr>
        </p:nvSpPr>
        <p:spPr/>
        <p:txBody>
          <a:bodyPr/>
          <a:lstStyle/>
          <a:p>
            <a:endParaRPr lang="en-IN" dirty="0"/>
          </a:p>
          <a:p>
            <a:r>
              <a:rPr lang="en-IN" dirty="0"/>
              <a:t>In C (POSIX): </a:t>
            </a:r>
            <a:r>
              <a:rPr lang="en-IN" b="0" dirty="0" err="1"/>
              <a:t>pthread</a:t>
            </a:r>
            <a:r>
              <a:rPr lang="en-IN" b="0" dirty="0"/>
              <a:t> library </a:t>
            </a:r>
          </a:p>
          <a:p>
            <a:endParaRPr lang="en-IN" dirty="0"/>
          </a:p>
          <a:p>
            <a:r>
              <a:rPr lang="en-IN" dirty="0"/>
              <a:t>In python: </a:t>
            </a:r>
            <a:r>
              <a:rPr lang="en-IN" b="0" dirty="0"/>
              <a:t>threading module</a:t>
            </a:r>
          </a:p>
          <a:p>
            <a:endParaRPr lang="en-IN" b="0" dirty="0"/>
          </a:p>
          <a:p>
            <a:endParaRPr lang="en-IN" b="0" dirty="0"/>
          </a:p>
          <a:p>
            <a:endParaRPr lang="en-IN" b="0" dirty="0"/>
          </a:p>
          <a:p>
            <a:endParaRPr lang="en-IN" b="0" dirty="0"/>
          </a:p>
        </p:txBody>
      </p:sp>
    </p:spTree>
    <p:extLst>
      <p:ext uri="{BB962C8B-B14F-4D97-AF65-F5344CB8AC3E}">
        <p14:creationId xmlns:p14="http://schemas.microsoft.com/office/powerpoint/2010/main" val="2231025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08C8A1-CE1B-C38A-3122-3FEF7B6C07EE}"/>
              </a:ext>
            </a:extLst>
          </p:cNvPr>
          <p:cNvPicPr>
            <a:picLocks noChangeAspect="1"/>
          </p:cNvPicPr>
          <p:nvPr/>
        </p:nvPicPr>
        <p:blipFill>
          <a:blip r:embed="rId2"/>
          <a:stretch>
            <a:fillRect/>
          </a:stretch>
        </p:blipFill>
        <p:spPr>
          <a:xfrm>
            <a:off x="257666" y="768598"/>
            <a:ext cx="9402487" cy="5353797"/>
          </a:xfrm>
          <a:prstGeom prst="rect">
            <a:avLst/>
          </a:prstGeom>
        </p:spPr>
      </p:pic>
      <p:sp>
        <p:nvSpPr>
          <p:cNvPr id="2" name="TextBox 1">
            <a:extLst>
              <a:ext uri="{FF2B5EF4-FFF2-40B4-BE49-F238E27FC236}">
                <a16:creationId xmlns:a16="http://schemas.microsoft.com/office/drawing/2014/main" id="{96A8C3C1-13F4-466B-8940-0DF70E0DA2D9}"/>
              </a:ext>
            </a:extLst>
          </p:cNvPr>
          <p:cNvSpPr txBox="1"/>
          <p:nvPr/>
        </p:nvSpPr>
        <p:spPr>
          <a:xfrm>
            <a:off x="9832157" y="829559"/>
            <a:ext cx="2102177" cy="4616648"/>
          </a:xfrm>
          <a:prstGeom prst="rect">
            <a:avLst/>
          </a:prstGeom>
          <a:noFill/>
        </p:spPr>
        <p:txBody>
          <a:bodyPr wrap="square" rtlCol="0">
            <a:spAutoFit/>
          </a:bodyPr>
          <a:lstStyle/>
          <a:p>
            <a:r>
              <a:rPr lang="en-US" sz="1400" dirty="0" err="1"/>
              <a:t>Thread_mutex_lock</a:t>
            </a:r>
            <a:r>
              <a:rPr lang="en-US" sz="1400" dirty="0"/>
              <a:t> :- Block the execution if MUTEX is already locked so thread has to wait and sit idle until MUTEX becomes available</a:t>
            </a:r>
          </a:p>
          <a:p>
            <a:endParaRPr lang="en-US" sz="1400" dirty="0"/>
          </a:p>
          <a:p>
            <a:endParaRPr lang="en-US" sz="1400" dirty="0"/>
          </a:p>
          <a:p>
            <a:endParaRPr lang="en-US" sz="1400" dirty="0"/>
          </a:p>
          <a:p>
            <a:r>
              <a:rPr lang="en-US" sz="1400" dirty="0" err="1"/>
              <a:t>Thread_mutex_trylock</a:t>
            </a:r>
            <a:r>
              <a:rPr lang="en-US" sz="1400" dirty="0"/>
              <a:t> :-  It will try for the lock ,if lock is available it will take the lock and proceed but if lock is not available then it will return back and continue with its execution so here the thread is not blocked if lock is unavailable.</a:t>
            </a:r>
          </a:p>
        </p:txBody>
      </p:sp>
    </p:spTree>
    <p:extLst>
      <p:ext uri="{BB962C8B-B14F-4D97-AF65-F5344CB8AC3E}">
        <p14:creationId xmlns:p14="http://schemas.microsoft.com/office/powerpoint/2010/main" val="3414247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AEE07D-9CCC-22BD-432E-431FDF4697A4}"/>
              </a:ext>
            </a:extLst>
          </p:cNvPr>
          <p:cNvPicPr>
            <a:picLocks noChangeAspect="1"/>
          </p:cNvPicPr>
          <p:nvPr/>
        </p:nvPicPr>
        <p:blipFill>
          <a:blip r:embed="rId2"/>
          <a:stretch>
            <a:fillRect/>
          </a:stretch>
        </p:blipFill>
        <p:spPr>
          <a:xfrm>
            <a:off x="1251861" y="752101"/>
            <a:ext cx="9688277" cy="5353797"/>
          </a:xfrm>
          <a:prstGeom prst="rect">
            <a:avLst/>
          </a:prstGeom>
        </p:spPr>
      </p:pic>
    </p:spTree>
    <p:extLst>
      <p:ext uri="{BB962C8B-B14F-4D97-AF65-F5344CB8AC3E}">
        <p14:creationId xmlns:p14="http://schemas.microsoft.com/office/powerpoint/2010/main" val="427646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872F36-D900-10D8-2AEA-4EC9B83115BC}"/>
              </a:ext>
            </a:extLst>
          </p:cNvPr>
          <p:cNvPicPr>
            <a:picLocks noChangeAspect="1"/>
          </p:cNvPicPr>
          <p:nvPr/>
        </p:nvPicPr>
        <p:blipFill>
          <a:blip r:embed="rId2"/>
          <a:stretch>
            <a:fillRect/>
          </a:stretch>
        </p:blipFill>
        <p:spPr>
          <a:xfrm>
            <a:off x="1130782" y="1216058"/>
            <a:ext cx="9218724" cy="4108681"/>
          </a:xfrm>
          <a:prstGeom prst="rect">
            <a:avLst/>
          </a:prstGeom>
        </p:spPr>
      </p:pic>
      <p:sp>
        <p:nvSpPr>
          <p:cNvPr id="4" name="TextBox 3">
            <a:extLst>
              <a:ext uri="{FF2B5EF4-FFF2-40B4-BE49-F238E27FC236}">
                <a16:creationId xmlns:a16="http://schemas.microsoft.com/office/drawing/2014/main" id="{1BDCB293-291C-4C10-A101-D18EC27048AD}"/>
              </a:ext>
            </a:extLst>
          </p:cNvPr>
          <p:cNvSpPr txBox="1"/>
          <p:nvPr/>
        </p:nvSpPr>
        <p:spPr>
          <a:xfrm>
            <a:off x="1130782" y="3959258"/>
            <a:ext cx="9332971" cy="923330"/>
          </a:xfrm>
          <a:prstGeom prst="rect">
            <a:avLst/>
          </a:prstGeom>
          <a:noFill/>
        </p:spPr>
        <p:txBody>
          <a:bodyPr wrap="square" rtlCol="0">
            <a:spAutoFit/>
          </a:bodyPr>
          <a:lstStyle/>
          <a:p>
            <a:r>
              <a:rPr lang="en-US" dirty="0">
                <a:solidFill>
                  <a:schemeClr val="bg1"/>
                </a:solidFill>
              </a:rPr>
              <a:t>Deadlock : You are waiting for me and I am waiting for you nothing moves on. </a:t>
            </a:r>
          </a:p>
          <a:p>
            <a:endParaRPr lang="en-US" dirty="0">
              <a:solidFill>
                <a:schemeClr val="bg1"/>
              </a:solidFill>
            </a:endParaRPr>
          </a:p>
          <a:p>
            <a:r>
              <a:rPr lang="en-US" dirty="0" err="1">
                <a:solidFill>
                  <a:schemeClr val="bg1"/>
                </a:solidFill>
              </a:rPr>
              <a:t>Livelock</a:t>
            </a:r>
            <a:r>
              <a:rPr lang="en-US" dirty="0">
                <a:solidFill>
                  <a:schemeClr val="bg1"/>
                </a:solidFill>
              </a:rPr>
              <a:t>: They are busy doing something but they are not able to break the lock.</a:t>
            </a:r>
          </a:p>
        </p:txBody>
      </p:sp>
    </p:spTree>
    <p:extLst>
      <p:ext uri="{BB962C8B-B14F-4D97-AF65-F5344CB8AC3E}">
        <p14:creationId xmlns:p14="http://schemas.microsoft.com/office/powerpoint/2010/main" val="2595194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75212-E88A-E26A-5FF5-27F48F4B40B6}"/>
              </a:ext>
            </a:extLst>
          </p:cNvPr>
          <p:cNvSpPr txBox="1"/>
          <p:nvPr/>
        </p:nvSpPr>
        <p:spPr>
          <a:xfrm>
            <a:off x="716437" y="452487"/>
            <a:ext cx="10850252" cy="2585323"/>
          </a:xfrm>
          <a:prstGeom prst="rect">
            <a:avLst/>
          </a:prstGeom>
          <a:noFill/>
        </p:spPr>
        <p:txBody>
          <a:bodyPr wrap="square" rtlCol="0">
            <a:spAutoFit/>
          </a:bodyPr>
          <a:lstStyle/>
          <a:p>
            <a:r>
              <a:rPr lang="en-US" dirty="0"/>
              <a:t>Deadlock : </a:t>
            </a:r>
          </a:p>
          <a:p>
            <a:r>
              <a:rPr lang="en-US" dirty="0"/>
              <a:t>Deadlock occurs when two or more threads are waiting for each other to release resources, and as a result, none of them can proceed. This leads to a situation where the threads are stuck indefinitely.</a:t>
            </a:r>
          </a:p>
          <a:p>
            <a:r>
              <a:rPr lang="en-US" b="1" dirty="0"/>
              <a:t>Example of Deadlock:</a:t>
            </a:r>
          </a:p>
          <a:p>
            <a:r>
              <a:rPr lang="en-US" dirty="0"/>
              <a:t>Imagine two threads (Thread A and Thread B) and two resources (Resource 1 and Resource 2):</a:t>
            </a:r>
          </a:p>
          <a:p>
            <a:pPr>
              <a:buFont typeface="+mj-lt"/>
              <a:buAutoNum type="arabicPeriod"/>
            </a:pPr>
            <a:r>
              <a:rPr lang="en-US" dirty="0"/>
              <a:t>Thread A locks Resource 1 and needs Resource 2 to continue.</a:t>
            </a:r>
          </a:p>
          <a:p>
            <a:pPr>
              <a:buFont typeface="+mj-lt"/>
              <a:buAutoNum type="arabicPeriod"/>
            </a:pPr>
            <a:r>
              <a:rPr lang="en-US" dirty="0"/>
              <a:t>Thread B locks Resource 2 and needs Resource 1 to continue.</a:t>
            </a:r>
          </a:p>
          <a:p>
            <a:pPr>
              <a:buFont typeface="+mj-lt"/>
              <a:buAutoNum type="arabicPeriod"/>
            </a:pPr>
            <a:r>
              <a:rPr lang="en-US" dirty="0"/>
              <a:t>Both threads are waiting for the other to release the resource, causing a </a:t>
            </a:r>
            <a:r>
              <a:rPr lang="en-US" b="1" dirty="0"/>
              <a:t>deadlock</a:t>
            </a:r>
            <a:r>
              <a:rPr lang="en-US" dirty="0"/>
              <a:t>.</a:t>
            </a:r>
          </a:p>
          <a:p>
            <a:endParaRPr lang="en-US" dirty="0"/>
          </a:p>
        </p:txBody>
      </p:sp>
      <p:sp>
        <p:nvSpPr>
          <p:cNvPr id="3" name="TextBox 2">
            <a:extLst>
              <a:ext uri="{FF2B5EF4-FFF2-40B4-BE49-F238E27FC236}">
                <a16:creationId xmlns:a16="http://schemas.microsoft.com/office/drawing/2014/main" id="{46557649-A128-FCEF-4AB7-954AD623442A}"/>
              </a:ext>
            </a:extLst>
          </p:cNvPr>
          <p:cNvSpPr txBox="1"/>
          <p:nvPr/>
        </p:nvSpPr>
        <p:spPr>
          <a:xfrm>
            <a:off x="716437" y="2799761"/>
            <a:ext cx="11048215" cy="3693319"/>
          </a:xfrm>
          <a:prstGeom prst="rect">
            <a:avLst/>
          </a:prstGeom>
          <a:noFill/>
        </p:spPr>
        <p:txBody>
          <a:bodyPr wrap="square" rtlCol="0">
            <a:spAutoFit/>
          </a:bodyPr>
          <a:lstStyle/>
          <a:p>
            <a:r>
              <a:rPr lang="en-US" dirty="0" err="1"/>
              <a:t>Livelock</a:t>
            </a:r>
            <a:r>
              <a:rPr lang="en-US" dirty="0"/>
              <a:t> : </a:t>
            </a:r>
          </a:p>
          <a:p>
            <a:r>
              <a:rPr lang="en-US" dirty="0" err="1"/>
              <a:t>Livelock</a:t>
            </a:r>
            <a:r>
              <a:rPr lang="en-US" dirty="0"/>
              <a:t> occurs when two or more threads keep responding to each other in such a way that they are unable to make progress. Unlike deadlock, the threads are not stuck but keep changing states, continuously adjusting to each other without making any progress.</a:t>
            </a:r>
          </a:p>
          <a:p>
            <a:r>
              <a:rPr lang="en-US" b="1" dirty="0"/>
              <a:t>Example:</a:t>
            </a:r>
          </a:p>
          <a:p>
            <a:r>
              <a:rPr lang="en-US" dirty="0"/>
              <a:t>Suppose there is a narrow corridor, two people are coming from different </a:t>
            </a:r>
            <a:r>
              <a:rPr lang="en-US" dirty="0" err="1"/>
              <a:t>sides.First</a:t>
            </a:r>
            <a:r>
              <a:rPr lang="en-US" dirty="0"/>
              <a:t> person moves left to right to give space to second person and the 2</a:t>
            </a:r>
            <a:r>
              <a:rPr lang="en-US" baseline="30000" dirty="0"/>
              <a:t>nd</a:t>
            </a:r>
            <a:r>
              <a:rPr lang="en-US" dirty="0"/>
              <a:t> person also moves left to right in same way. Now again when first person moves right to left , the 2</a:t>
            </a:r>
            <a:r>
              <a:rPr lang="en-US" baseline="30000" dirty="0"/>
              <a:t>nd</a:t>
            </a:r>
            <a:r>
              <a:rPr lang="en-US" dirty="0"/>
              <a:t> person does the same, so both are busy doing something but none of them proceed to move ahead.</a:t>
            </a:r>
          </a:p>
          <a:p>
            <a:r>
              <a:rPr lang="en-US" dirty="0"/>
              <a:t>Thread A tries to lock a resource, but notices Thread B might also need it, so it steps back (releases it).</a:t>
            </a:r>
          </a:p>
          <a:p>
            <a:pPr>
              <a:buFont typeface="Arial" panose="020B0604020202020204" pitchFamily="34" charset="0"/>
              <a:buChar char="•"/>
            </a:pPr>
            <a:r>
              <a:rPr lang="en-US" dirty="0"/>
              <a:t>Thread B then notices the same and steps back too.</a:t>
            </a:r>
          </a:p>
          <a:p>
            <a:pPr>
              <a:buFont typeface="Arial" panose="020B0604020202020204" pitchFamily="34" charset="0"/>
              <a:buChar char="•"/>
            </a:pPr>
            <a:r>
              <a:rPr lang="en-US" dirty="0"/>
              <a:t>This goes on repeatedly, so neither thread progresses.</a:t>
            </a:r>
          </a:p>
          <a:p>
            <a:endParaRPr lang="en-US" dirty="0"/>
          </a:p>
        </p:txBody>
      </p:sp>
    </p:spTree>
    <p:extLst>
      <p:ext uri="{BB962C8B-B14F-4D97-AF65-F5344CB8AC3E}">
        <p14:creationId xmlns:p14="http://schemas.microsoft.com/office/powerpoint/2010/main" val="1137563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3EDCC-9663-4038-82B0-99597344467E}"/>
              </a:ext>
            </a:extLst>
          </p:cNvPr>
          <p:cNvSpPr>
            <a:spLocks noGrp="1"/>
          </p:cNvSpPr>
          <p:nvPr>
            <p:ph type="title"/>
          </p:nvPr>
        </p:nvSpPr>
        <p:spPr>
          <a:xfrm>
            <a:off x="838200" y="2877506"/>
            <a:ext cx="10515600" cy="732155"/>
          </a:xfrm>
        </p:spPr>
        <p:txBody>
          <a:bodyPr/>
          <a:lstStyle/>
          <a:p>
            <a:pPr algn="ctr"/>
            <a:r>
              <a:rPr lang="en-IN" dirty="0"/>
              <a:t>Python Examples</a:t>
            </a:r>
          </a:p>
        </p:txBody>
      </p:sp>
    </p:spTree>
    <p:extLst>
      <p:ext uri="{BB962C8B-B14F-4D97-AF65-F5344CB8AC3E}">
        <p14:creationId xmlns:p14="http://schemas.microsoft.com/office/powerpoint/2010/main" val="885443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B5D0AED7-A0EF-44EE-B159-8017EE87BA44}"/>
              </a:ext>
            </a:extLst>
          </p:cNvPr>
          <p:cNvSpPr/>
          <p:nvPr/>
        </p:nvSpPr>
        <p:spPr>
          <a:xfrm>
            <a:off x="754232" y="5415379"/>
            <a:ext cx="2841224" cy="123399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4A5E027C-F393-4ADA-8657-269409FDD079}"/>
              </a:ext>
            </a:extLst>
          </p:cNvPr>
          <p:cNvSpPr/>
          <p:nvPr/>
        </p:nvSpPr>
        <p:spPr>
          <a:xfrm>
            <a:off x="754232" y="4847208"/>
            <a:ext cx="3240719" cy="568171"/>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7E9F7E6B-FD5B-4305-BC24-CFB026BF7F49}"/>
              </a:ext>
            </a:extLst>
          </p:cNvPr>
          <p:cNvSpPr/>
          <p:nvPr/>
        </p:nvSpPr>
        <p:spPr>
          <a:xfrm>
            <a:off x="656948" y="3613212"/>
            <a:ext cx="7590407" cy="123399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C80FDE44-98D0-4E12-80D7-4843E9A0FAA1}"/>
              </a:ext>
            </a:extLst>
          </p:cNvPr>
          <p:cNvSpPr/>
          <p:nvPr/>
        </p:nvSpPr>
        <p:spPr>
          <a:xfrm>
            <a:off x="656948" y="2086252"/>
            <a:ext cx="6312023" cy="146481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Rounded Corners 9">
            <a:extLst>
              <a:ext uri="{FF2B5EF4-FFF2-40B4-BE49-F238E27FC236}">
                <a16:creationId xmlns:a16="http://schemas.microsoft.com/office/drawing/2014/main" id="{D3552A98-1447-4C72-910B-B01110DDC633}"/>
              </a:ext>
            </a:extLst>
          </p:cNvPr>
          <p:cNvSpPr/>
          <p:nvPr/>
        </p:nvSpPr>
        <p:spPr>
          <a:xfrm>
            <a:off x="656948" y="932155"/>
            <a:ext cx="4492101" cy="1154097"/>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14C4A6D5-A19F-4FE7-B1B9-DF80AEB0BE3C}"/>
              </a:ext>
            </a:extLst>
          </p:cNvPr>
          <p:cNvSpPr>
            <a:spLocks noGrp="1"/>
          </p:cNvSpPr>
          <p:nvPr>
            <p:ph type="title"/>
          </p:nvPr>
        </p:nvSpPr>
        <p:spPr>
          <a:xfrm>
            <a:off x="438705" y="204458"/>
            <a:ext cx="10515600" cy="549275"/>
          </a:xfrm>
        </p:spPr>
        <p:txBody>
          <a:bodyPr>
            <a:normAutofit fontScale="90000"/>
          </a:bodyPr>
          <a:lstStyle/>
          <a:p>
            <a:r>
              <a:rPr lang="en-IN" dirty="0"/>
              <a:t>Finding sum of numbers</a:t>
            </a:r>
          </a:p>
        </p:txBody>
      </p:sp>
      <p:sp>
        <p:nvSpPr>
          <p:cNvPr id="8" name="Rectangle 7">
            <a:extLst>
              <a:ext uri="{FF2B5EF4-FFF2-40B4-BE49-F238E27FC236}">
                <a16:creationId xmlns:a16="http://schemas.microsoft.com/office/drawing/2014/main" id="{76BF0D18-9E8D-416A-AD23-18650931038E}"/>
              </a:ext>
            </a:extLst>
          </p:cNvPr>
          <p:cNvSpPr/>
          <p:nvPr/>
        </p:nvSpPr>
        <p:spPr>
          <a:xfrm>
            <a:off x="754232" y="1021231"/>
            <a:ext cx="7679553" cy="5632311"/>
          </a:xfrm>
          <a:prstGeom prst="rect">
            <a:avLst/>
          </a:prstGeom>
        </p:spPr>
        <p:txBody>
          <a:bodyPr wrap="square">
            <a:spAutoFit/>
          </a:bodyPr>
          <a:lstStyle/>
          <a:p>
            <a:r>
              <a:rPr lang="en-IN" sz="1200" b="1" dirty="0">
                <a:latin typeface="Courier New" panose="02070309020205020404" pitchFamily="49" charset="0"/>
              </a:rPr>
              <a:t>def </a:t>
            </a:r>
            <a:r>
              <a:rPr lang="en-IN" sz="1200" b="1" dirty="0" err="1">
                <a:latin typeface="Courier New" panose="02070309020205020404" pitchFamily="49" charset="0"/>
              </a:rPr>
              <a:t>partSum</a:t>
            </a:r>
            <a:r>
              <a:rPr lang="en-IN" sz="1200" b="1" dirty="0">
                <a:latin typeface="Courier New" panose="02070309020205020404" pitchFamily="49" charset="0"/>
              </a:rPr>
              <a:t>(data, result, id, start, end):</a:t>
            </a:r>
          </a:p>
          <a:p>
            <a:r>
              <a:rPr lang="en-IN" sz="1200" b="1" dirty="0">
                <a:latin typeface="Courier New" panose="02070309020205020404" pitchFamily="49" charset="0"/>
              </a:rPr>
              <a:t>    sum = 0</a:t>
            </a:r>
          </a:p>
          <a:p>
            <a:r>
              <a:rPr lang="en-US" sz="1200" b="1" dirty="0">
                <a:latin typeface="Courier New" panose="02070309020205020404" pitchFamily="49" charset="0"/>
              </a:rPr>
              <a:t>    for </a:t>
            </a:r>
            <a:r>
              <a:rPr lang="en-US" sz="1200" b="1" dirty="0" err="1">
                <a:latin typeface="Courier New" panose="02070309020205020404" pitchFamily="49" charset="0"/>
              </a:rPr>
              <a:t>i</a:t>
            </a:r>
            <a:r>
              <a:rPr lang="en-US" sz="1200" b="1" dirty="0">
                <a:latin typeface="Courier New" panose="02070309020205020404" pitchFamily="49" charset="0"/>
              </a:rPr>
              <a:t> in range(start, end):</a:t>
            </a:r>
          </a:p>
          <a:p>
            <a:r>
              <a:rPr lang="en-IN" sz="1200" b="1" dirty="0">
                <a:latin typeface="Courier New" panose="02070309020205020404" pitchFamily="49" charset="0"/>
              </a:rPr>
              <a:t>      sum = </a:t>
            </a:r>
            <a:r>
              <a:rPr lang="en-IN" sz="1200" b="1" dirty="0" err="1">
                <a:latin typeface="Courier New" panose="02070309020205020404" pitchFamily="49" charset="0"/>
              </a:rPr>
              <a:t>sum+data</a:t>
            </a:r>
            <a:r>
              <a:rPr lang="en-IN" sz="1200" b="1" dirty="0">
                <a:latin typeface="Courier New" panose="02070309020205020404" pitchFamily="49" charset="0"/>
              </a:rPr>
              <a:t>[</a:t>
            </a:r>
            <a:r>
              <a:rPr lang="en-IN" sz="1200" b="1" dirty="0" err="1">
                <a:latin typeface="Courier New" panose="02070309020205020404" pitchFamily="49" charset="0"/>
              </a:rPr>
              <a:t>i</a:t>
            </a:r>
            <a:r>
              <a:rPr lang="en-IN" sz="1200" b="1" dirty="0">
                <a:latin typeface="Courier New" panose="02070309020205020404" pitchFamily="49" charset="0"/>
              </a:rPr>
              <a:t>]</a:t>
            </a:r>
          </a:p>
          <a:p>
            <a:r>
              <a:rPr lang="en-IN" sz="1200" b="1" dirty="0">
                <a:latin typeface="Courier New" panose="02070309020205020404" pitchFamily="49" charset="0"/>
              </a:rPr>
              <a:t>    result[id] = sum</a:t>
            </a:r>
          </a:p>
          <a:p>
            <a:endParaRPr lang="en-IN" sz="1200" b="1" dirty="0">
              <a:latin typeface="Courier New" panose="02070309020205020404" pitchFamily="49" charset="0"/>
            </a:endParaRPr>
          </a:p>
          <a:p>
            <a:r>
              <a:rPr lang="en-IN" sz="1200" b="1" dirty="0">
                <a:latin typeface="Courier New" panose="02070309020205020404" pitchFamily="49" charset="0"/>
              </a:rPr>
              <a:t>from threading import Thread</a:t>
            </a:r>
          </a:p>
          <a:p>
            <a:endParaRPr lang="en-IN" sz="1200" b="1" dirty="0">
              <a:latin typeface="Courier New" panose="02070309020205020404" pitchFamily="49" charset="0"/>
            </a:endParaRPr>
          </a:p>
          <a:p>
            <a:r>
              <a:rPr lang="en-IN" sz="1200" b="1" dirty="0">
                <a:latin typeface="Courier New" panose="02070309020205020404" pitchFamily="49" charset="0"/>
              </a:rPr>
              <a:t>threads = [None] * 5</a:t>
            </a:r>
          </a:p>
          <a:p>
            <a:r>
              <a:rPr lang="en-IN" sz="1200" b="1" dirty="0">
                <a:latin typeface="Courier New" panose="02070309020205020404" pitchFamily="49" charset="0"/>
              </a:rPr>
              <a:t>results = [None] * 5</a:t>
            </a:r>
          </a:p>
          <a:p>
            <a:endParaRPr lang="en-IN" sz="1200" b="1" dirty="0">
              <a:latin typeface="Courier New" panose="02070309020205020404" pitchFamily="49" charset="0"/>
            </a:endParaRPr>
          </a:p>
          <a:p>
            <a:r>
              <a:rPr lang="en-IN" sz="1200" b="1" dirty="0">
                <a:latin typeface="Courier New" panose="02070309020205020404" pitchFamily="49" charset="0"/>
              </a:rPr>
              <a:t>data = [2, 3, 5, 8, 10, 12, 14, 17, 20, 25, 12, 16, 17, 17, 19]</a:t>
            </a:r>
          </a:p>
          <a:p>
            <a:r>
              <a:rPr lang="en-US" sz="1200" b="1" dirty="0">
                <a:latin typeface="Courier New" panose="02070309020205020404" pitchFamily="49" charset="0"/>
              </a:rPr>
              <a:t>size = int(</a:t>
            </a:r>
            <a:r>
              <a:rPr lang="en-US" sz="1200" b="1" dirty="0" err="1">
                <a:latin typeface="Courier New" panose="02070309020205020404" pitchFamily="49" charset="0"/>
              </a:rPr>
              <a:t>len</a:t>
            </a:r>
            <a:r>
              <a:rPr lang="en-US" sz="1200" b="1" dirty="0">
                <a:latin typeface="Courier New" panose="02070309020205020404" pitchFamily="49" charset="0"/>
              </a:rPr>
              <a:t>(data)/</a:t>
            </a:r>
            <a:r>
              <a:rPr lang="en-US" sz="1200" b="1" dirty="0" err="1">
                <a:latin typeface="Courier New" panose="02070309020205020404" pitchFamily="49" charset="0"/>
              </a:rPr>
              <a:t>len</a:t>
            </a:r>
            <a:r>
              <a:rPr lang="en-US" sz="1200" b="1" dirty="0">
                <a:latin typeface="Courier New" panose="02070309020205020404" pitchFamily="49" charset="0"/>
              </a:rPr>
              <a:t>(threads))</a:t>
            </a:r>
          </a:p>
          <a:p>
            <a:endParaRPr lang="en-IN" sz="1200" b="1" dirty="0">
              <a:latin typeface="Courier New" panose="02070309020205020404" pitchFamily="49" charset="0"/>
            </a:endParaRPr>
          </a:p>
          <a:p>
            <a:r>
              <a:rPr lang="en-US" sz="1200" b="1" dirty="0">
                <a:latin typeface="Courier New" panose="02070309020205020404" pitchFamily="49" charset="0"/>
              </a:rPr>
              <a:t>for </a:t>
            </a:r>
            <a:r>
              <a:rPr lang="en-US" sz="1200" b="1" dirty="0" err="1">
                <a:latin typeface="Courier New" panose="02070309020205020404" pitchFamily="49" charset="0"/>
              </a:rPr>
              <a:t>i</a:t>
            </a:r>
            <a:r>
              <a:rPr lang="en-US" sz="1200" b="1" dirty="0">
                <a:latin typeface="Courier New" panose="02070309020205020404" pitchFamily="49" charset="0"/>
              </a:rPr>
              <a:t> in range(</a:t>
            </a:r>
            <a:r>
              <a:rPr lang="en-US" sz="1200" b="1" dirty="0" err="1">
                <a:latin typeface="Courier New" panose="02070309020205020404" pitchFamily="49" charset="0"/>
              </a:rPr>
              <a:t>len</a:t>
            </a:r>
            <a:r>
              <a:rPr lang="en-US" sz="1200" b="1" dirty="0">
                <a:latin typeface="Courier New" panose="02070309020205020404" pitchFamily="49" charset="0"/>
              </a:rPr>
              <a:t>(threads)):</a:t>
            </a:r>
          </a:p>
          <a:p>
            <a:r>
              <a:rPr lang="en-IN" sz="1200" b="1" dirty="0">
                <a:latin typeface="Courier New" panose="02070309020205020404" pitchFamily="49" charset="0"/>
              </a:rPr>
              <a:t>    start = </a:t>
            </a:r>
            <a:r>
              <a:rPr lang="en-IN" sz="1200" b="1" dirty="0" err="1">
                <a:latin typeface="Courier New" panose="02070309020205020404" pitchFamily="49" charset="0"/>
              </a:rPr>
              <a:t>i</a:t>
            </a:r>
            <a:r>
              <a:rPr lang="en-IN" sz="1200" b="1" dirty="0">
                <a:latin typeface="Courier New" panose="02070309020205020404" pitchFamily="49" charset="0"/>
              </a:rPr>
              <a:t>*size</a:t>
            </a:r>
          </a:p>
          <a:p>
            <a:r>
              <a:rPr lang="en-IN" sz="1200" b="1" dirty="0">
                <a:latin typeface="Courier New" panose="02070309020205020404" pitchFamily="49" charset="0"/>
              </a:rPr>
              <a:t>    end = (i+1)*size</a:t>
            </a:r>
          </a:p>
          <a:p>
            <a:r>
              <a:rPr lang="en-US" sz="1200" b="1" dirty="0">
                <a:latin typeface="Courier New" panose="02070309020205020404" pitchFamily="49" charset="0"/>
              </a:rPr>
              <a:t>    threads[</a:t>
            </a:r>
            <a:r>
              <a:rPr lang="en-US" sz="1200" b="1" dirty="0" err="1">
                <a:latin typeface="Courier New" panose="02070309020205020404" pitchFamily="49" charset="0"/>
              </a:rPr>
              <a:t>i</a:t>
            </a:r>
            <a:r>
              <a:rPr lang="en-US" sz="1200" b="1" dirty="0">
                <a:latin typeface="Courier New" panose="02070309020205020404" pitchFamily="49" charset="0"/>
              </a:rPr>
              <a:t>] = Thread(target=</a:t>
            </a:r>
            <a:r>
              <a:rPr lang="en-US" sz="1200" b="1" dirty="0" err="1">
                <a:latin typeface="Courier New" panose="02070309020205020404" pitchFamily="49" charset="0"/>
              </a:rPr>
              <a:t>partSum</a:t>
            </a:r>
            <a:r>
              <a:rPr lang="en-US" sz="1200" b="1" dirty="0">
                <a:latin typeface="Courier New" panose="02070309020205020404" pitchFamily="49" charset="0"/>
              </a:rPr>
              <a:t>, </a:t>
            </a:r>
            <a:r>
              <a:rPr lang="en-US" sz="1200" b="1" dirty="0" err="1">
                <a:latin typeface="Courier New" panose="02070309020205020404" pitchFamily="49" charset="0"/>
              </a:rPr>
              <a:t>args</a:t>
            </a:r>
            <a:r>
              <a:rPr lang="en-US" sz="1200" b="1" dirty="0">
                <a:latin typeface="Courier New" panose="02070309020205020404" pitchFamily="49" charset="0"/>
              </a:rPr>
              <a:t>=(data, results, </a:t>
            </a:r>
            <a:r>
              <a:rPr lang="en-US" sz="1200" b="1" dirty="0" err="1">
                <a:latin typeface="Courier New" panose="02070309020205020404" pitchFamily="49" charset="0"/>
              </a:rPr>
              <a:t>i</a:t>
            </a:r>
            <a:r>
              <a:rPr lang="en-US" sz="1200" b="1" dirty="0">
                <a:latin typeface="Courier New" panose="02070309020205020404" pitchFamily="49" charset="0"/>
              </a:rPr>
              <a:t>, start, end))</a:t>
            </a:r>
          </a:p>
          <a:p>
            <a:r>
              <a:rPr lang="en-IN" sz="1200" b="1" dirty="0">
                <a:latin typeface="Courier New" panose="02070309020205020404" pitchFamily="49" charset="0"/>
              </a:rPr>
              <a:t>    threads[</a:t>
            </a:r>
            <a:r>
              <a:rPr lang="en-IN" sz="1200" b="1" dirty="0" err="1">
                <a:latin typeface="Courier New" panose="02070309020205020404" pitchFamily="49" charset="0"/>
              </a:rPr>
              <a:t>i</a:t>
            </a:r>
            <a:r>
              <a:rPr lang="en-IN" sz="1200" b="1" dirty="0">
                <a:latin typeface="Courier New" panose="02070309020205020404" pitchFamily="49" charset="0"/>
              </a:rPr>
              <a:t>].start()                                                           </a:t>
            </a:r>
          </a:p>
          <a:p>
            <a:endParaRPr lang="en-IN" sz="1200" b="1" dirty="0">
              <a:latin typeface="Courier New" panose="02070309020205020404" pitchFamily="49" charset="0"/>
            </a:endParaRPr>
          </a:p>
          <a:p>
            <a:endParaRPr lang="en-IN" sz="1200" b="1" dirty="0">
              <a:latin typeface="Courier New" panose="02070309020205020404" pitchFamily="49" charset="0"/>
            </a:endParaRPr>
          </a:p>
          <a:p>
            <a:r>
              <a:rPr lang="en-US" sz="1200" b="1" dirty="0">
                <a:latin typeface="Courier New" panose="02070309020205020404" pitchFamily="49" charset="0"/>
              </a:rPr>
              <a:t>for </a:t>
            </a:r>
            <a:r>
              <a:rPr lang="en-US" sz="1200" b="1" dirty="0" err="1">
                <a:latin typeface="Courier New" panose="02070309020205020404" pitchFamily="49" charset="0"/>
              </a:rPr>
              <a:t>i</a:t>
            </a:r>
            <a:r>
              <a:rPr lang="en-US" sz="1200" b="1" dirty="0">
                <a:latin typeface="Courier New" panose="02070309020205020404" pitchFamily="49" charset="0"/>
              </a:rPr>
              <a:t> in range(</a:t>
            </a:r>
            <a:r>
              <a:rPr lang="en-US" sz="1200" b="1" dirty="0" err="1">
                <a:latin typeface="Courier New" panose="02070309020205020404" pitchFamily="49" charset="0"/>
              </a:rPr>
              <a:t>len</a:t>
            </a:r>
            <a:r>
              <a:rPr lang="en-US" sz="1200" b="1" dirty="0">
                <a:latin typeface="Courier New" panose="02070309020205020404" pitchFamily="49" charset="0"/>
              </a:rPr>
              <a:t>(threads)):</a:t>
            </a:r>
          </a:p>
          <a:p>
            <a:r>
              <a:rPr lang="en-IN" sz="1200" b="1" dirty="0">
                <a:latin typeface="Courier New" panose="02070309020205020404" pitchFamily="49" charset="0"/>
              </a:rPr>
              <a:t>    threads[</a:t>
            </a:r>
            <a:r>
              <a:rPr lang="en-IN" sz="1200" b="1" dirty="0" err="1">
                <a:latin typeface="Courier New" panose="02070309020205020404" pitchFamily="49" charset="0"/>
              </a:rPr>
              <a:t>i</a:t>
            </a:r>
            <a:r>
              <a:rPr lang="en-IN" sz="1200" b="1" dirty="0">
                <a:latin typeface="Courier New" panose="02070309020205020404" pitchFamily="49" charset="0"/>
              </a:rPr>
              <a:t>].join()                    </a:t>
            </a:r>
          </a:p>
          <a:p>
            <a:endParaRPr lang="en-IN" sz="1200" b="1" dirty="0">
              <a:latin typeface="Courier New" panose="02070309020205020404" pitchFamily="49" charset="0"/>
            </a:endParaRPr>
          </a:p>
          <a:p>
            <a:r>
              <a:rPr lang="en-IN" sz="1200" b="1" dirty="0">
                <a:latin typeface="Courier New" panose="02070309020205020404" pitchFamily="49" charset="0"/>
              </a:rPr>
              <a:t># final sum </a:t>
            </a:r>
          </a:p>
          <a:p>
            <a:r>
              <a:rPr lang="en-IN" sz="1200" b="1" dirty="0" err="1">
                <a:latin typeface="Courier New" panose="02070309020205020404" pitchFamily="49" charset="0"/>
              </a:rPr>
              <a:t>finalsum</a:t>
            </a:r>
            <a:r>
              <a:rPr lang="en-IN" sz="1200" b="1" dirty="0">
                <a:latin typeface="Courier New" panose="02070309020205020404" pitchFamily="49" charset="0"/>
              </a:rPr>
              <a:t>=0</a:t>
            </a:r>
          </a:p>
          <a:p>
            <a:r>
              <a:rPr lang="en-IN" sz="1200" b="1" dirty="0">
                <a:latin typeface="Courier New" panose="02070309020205020404" pitchFamily="49" charset="0"/>
              </a:rPr>
              <a:t>for </a:t>
            </a:r>
            <a:r>
              <a:rPr lang="en-IN" sz="1200" b="1" dirty="0" err="1">
                <a:latin typeface="Courier New" panose="02070309020205020404" pitchFamily="49" charset="0"/>
              </a:rPr>
              <a:t>i</a:t>
            </a:r>
            <a:r>
              <a:rPr lang="en-IN" sz="1200" b="1" dirty="0">
                <a:latin typeface="Courier New" panose="02070309020205020404" pitchFamily="49" charset="0"/>
              </a:rPr>
              <a:t> in results:</a:t>
            </a:r>
          </a:p>
          <a:p>
            <a:r>
              <a:rPr lang="en-IN" sz="1200" b="1" dirty="0">
                <a:latin typeface="Courier New" panose="02070309020205020404" pitchFamily="49" charset="0"/>
              </a:rPr>
              <a:t> </a:t>
            </a:r>
            <a:r>
              <a:rPr lang="en-IN" sz="1200" b="1" dirty="0" err="1">
                <a:latin typeface="Courier New" panose="02070309020205020404" pitchFamily="49" charset="0"/>
              </a:rPr>
              <a:t>finalsum</a:t>
            </a:r>
            <a:r>
              <a:rPr lang="en-IN" sz="1200" b="1" dirty="0">
                <a:latin typeface="Courier New" panose="02070309020205020404" pitchFamily="49" charset="0"/>
              </a:rPr>
              <a:t> = </a:t>
            </a:r>
            <a:r>
              <a:rPr lang="en-IN" sz="1200" b="1" dirty="0" err="1">
                <a:latin typeface="Courier New" panose="02070309020205020404" pitchFamily="49" charset="0"/>
              </a:rPr>
              <a:t>finalsum+i</a:t>
            </a:r>
            <a:endParaRPr lang="en-IN" sz="1200" b="1" dirty="0">
              <a:latin typeface="Courier New" panose="02070309020205020404" pitchFamily="49" charset="0"/>
            </a:endParaRPr>
          </a:p>
          <a:p>
            <a:r>
              <a:rPr lang="en-IN" sz="1200" b="1" dirty="0">
                <a:latin typeface="Courier New" panose="02070309020205020404" pitchFamily="49" charset="0"/>
              </a:rPr>
              <a:t>print(</a:t>
            </a:r>
            <a:r>
              <a:rPr lang="en-IN" sz="1200" b="1" dirty="0" err="1">
                <a:latin typeface="Courier New" panose="02070309020205020404" pitchFamily="49" charset="0"/>
              </a:rPr>
              <a:t>finalsum</a:t>
            </a:r>
            <a:r>
              <a:rPr lang="en-IN" sz="1200" b="1" dirty="0">
                <a:latin typeface="Courier New" panose="02070309020205020404" pitchFamily="49" charset="0"/>
              </a:rPr>
              <a:t>) </a:t>
            </a:r>
            <a:endParaRPr lang="en-IN" sz="1200" b="1" dirty="0"/>
          </a:p>
        </p:txBody>
      </p:sp>
      <p:sp>
        <p:nvSpPr>
          <p:cNvPr id="15" name="TextBox 14">
            <a:extLst>
              <a:ext uri="{FF2B5EF4-FFF2-40B4-BE49-F238E27FC236}">
                <a16:creationId xmlns:a16="http://schemas.microsoft.com/office/drawing/2014/main" id="{904CF3B9-805A-40FC-BEC6-DC87A62A5BFD}"/>
              </a:ext>
            </a:extLst>
          </p:cNvPr>
          <p:cNvSpPr txBox="1"/>
          <p:nvPr/>
        </p:nvSpPr>
        <p:spPr>
          <a:xfrm>
            <a:off x="6738152" y="1148749"/>
            <a:ext cx="5131533" cy="369332"/>
          </a:xfrm>
          <a:prstGeom prst="rect">
            <a:avLst/>
          </a:prstGeom>
          <a:noFill/>
        </p:spPr>
        <p:txBody>
          <a:bodyPr wrap="none" rtlCol="0">
            <a:spAutoFit/>
          </a:bodyPr>
          <a:lstStyle/>
          <a:p>
            <a:r>
              <a:rPr lang="en-IN" b="1" dirty="0">
                <a:solidFill>
                  <a:srgbClr val="C00000"/>
                </a:solidFill>
              </a:rPr>
              <a:t>Same function on different chunk of data</a:t>
            </a:r>
          </a:p>
        </p:txBody>
      </p:sp>
      <p:sp>
        <p:nvSpPr>
          <p:cNvPr id="3" name="TextBox 2">
            <a:extLst>
              <a:ext uri="{FF2B5EF4-FFF2-40B4-BE49-F238E27FC236}">
                <a16:creationId xmlns:a16="http://schemas.microsoft.com/office/drawing/2014/main" id="{0ACD46A0-3772-A3C1-554D-328E7FE2C296}"/>
              </a:ext>
            </a:extLst>
          </p:cNvPr>
          <p:cNvSpPr txBox="1"/>
          <p:nvPr/>
        </p:nvSpPr>
        <p:spPr>
          <a:xfrm>
            <a:off x="8213801" y="4076321"/>
            <a:ext cx="3223967" cy="307777"/>
          </a:xfrm>
          <a:prstGeom prst="rect">
            <a:avLst/>
          </a:prstGeom>
          <a:noFill/>
        </p:spPr>
        <p:txBody>
          <a:bodyPr wrap="square" rtlCol="0">
            <a:spAutoFit/>
          </a:bodyPr>
          <a:lstStyle/>
          <a:p>
            <a:r>
              <a:rPr lang="en-US" sz="1400" dirty="0"/>
              <a:t>Thread creation by OS</a:t>
            </a:r>
          </a:p>
        </p:txBody>
      </p:sp>
      <p:sp>
        <p:nvSpPr>
          <p:cNvPr id="4" name="TextBox 3">
            <a:extLst>
              <a:ext uri="{FF2B5EF4-FFF2-40B4-BE49-F238E27FC236}">
                <a16:creationId xmlns:a16="http://schemas.microsoft.com/office/drawing/2014/main" id="{DA2665F3-6929-15B1-7D34-53F39001961A}"/>
              </a:ext>
            </a:extLst>
          </p:cNvPr>
          <p:cNvSpPr txBox="1"/>
          <p:nvPr/>
        </p:nvSpPr>
        <p:spPr>
          <a:xfrm>
            <a:off x="8213801" y="4348077"/>
            <a:ext cx="3522570" cy="307777"/>
          </a:xfrm>
          <a:prstGeom prst="rect">
            <a:avLst/>
          </a:prstGeom>
          <a:noFill/>
        </p:spPr>
        <p:txBody>
          <a:bodyPr wrap="square" rtlCol="0">
            <a:spAutoFit/>
          </a:bodyPr>
          <a:lstStyle/>
          <a:p>
            <a:r>
              <a:rPr lang="en-US" sz="1400" dirty="0"/>
              <a:t>Start the </a:t>
            </a:r>
            <a:r>
              <a:rPr lang="en-US" sz="1400" dirty="0" err="1"/>
              <a:t>ith</a:t>
            </a:r>
            <a:r>
              <a:rPr lang="en-US" sz="1400" dirty="0"/>
              <a:t> thread, start computing</a:t>
            </a:r>
          </a:p>
        </p:txBody>
      </p:sp>
      <p:sp>
        <p:nvSpPr>
          <p:cNvPr id="6" name="TextBox 5">
            <a:extLst>
              <a:ext uri="{FF2B5EF4-FFF2-40B4-BE49-F238E27FC236}">
                <a16:creationId xmlns:a16="http://schemas.microsoft.com/office/drawing/2014/main" id="{8F7A8711-EE62-D3D3-FA32-FD8E345979B5}"/>
              </a:ext>
            </a:extLst>
          </p:cNvPr>
          <p:cNvSpPr txBox="1"/>
          <p:nvPr/>
        </p:nvSpPr>
        <p:spPr>
          <a:xfrm>
            <a:off x="4092235" y="4916249"/>
            <a:ext cx="8030635" cy="646331"/>
          </a:xfrm>
          <a:prstGeom prst="rect">
            <a:avLst/>
          </a:prstGeom>
          <a:noFill/>
        </p:spPr>
        <p:txBody>
          <a:bodyPr wrap="square" rtlCol="0">
            <a:spAutoFit/>
          </a:bodyPr>
          <a:lstStyle/>
          <a:p>
            <a:r>
              <a:rPr lang="en-US" sz="1200" dirty="0"/>
              <a:t>I am joining all threads to the main thread. Before adding up the results we need to have the results from all child threads. We want to ensure that all child threads have finished their jobs before main thread starts proceeding for adding all the results to get ‘</a:t>
            </a:r>
            <a:r>
              <a:rPr lang="en-US" sz="1200" dirty="0" err="1"/>
              <a:t>finalsum</a:t>
            </a:r>
            <a:r>
              <a:rPr lang="en-US" sz="1200" dirty="0"/>
              <a:t>’ value.</a:t>
            </a:r>
          </a:p>
        </p:txBody>
      </p:sp>
      <p:sp>
        <p:nvSpPr>
          <p:cNvPr id="7" name="TextBox 6">
            <a:extLst>
              <a:ext uri="{FF2B5EF4-FFF2-40B4-BE49-F238E27FC236}">
                <a16:creationId xmlns:a16="http://schemas.microsoft.com/office/drawing/2014/main" id="{DB3BE92E-13B2-026A-DE10-D1ED2A3AC901}"/>
              </a:ext>
            </a:extLst>
          </p:cNvPr>
          <p:cNvSpPr txBox="1"/>
          <p:nvPr/>
        </p:nvSpPr>
        <p:spPr>
          <a:xfrm>
            <a:off x="7066255" y="2486047"/>
            <a:ext cx="4670115" cy="307777"/>
          </a:xfrm>
          <a:prstGeom prst="rect">
            <a:avLst/>
          </a:prstGeom>
          <a:noFill/>
        </p:spPr>
        <p:txBody>
          <a:bodyPr wrap="square" rtlCol="0">
            <a:spAutoFit/>
          </a:bodyPr>
          <a:lstStyle/>
          <a:p>
            <a:r>
              <a:rPr lang="en-US" sz="1400" dirty="0"/>
              <a:t> ‘results’ is an array to store intermediate results</a:t>
            </a:r>
          </a:p>
        </p:txBody>
      </p:sp>
      <p:sp>
        <p:nvSpPr>
          <p:cNvPr id="9" name="TextBox 8">
            <a:extLst>
              <a:ext uri="{FF2B5EF4-FFF2-40B4-BE49-F238E27FC236}">
                <a16:creationId xmlns:a16="http://schemas.microsoft.com/office/drawing/2014/main" id="{371A0718-74D4-3C73-9086-7EAAA42B9DEF}"/>
              </a:ext>
            </a:extLst>
          </p:cNvPr>
          <p:cNvSpPr txBox="1"/>
          <p:nvPr/>
        </p:nvSpPr>
        <p:spPr>
          <a:xfrm>
            <a:off x="5246333" y="702902"/>
            <a:ext cx="5674936" cy="584775"/>
          </a:xfrm>
          <a:prstGeom prst="rect">
            <a:avLst/>
          </a:prstGeom>
          <a:noFill/>
        </p:spPr>
        <p:txBody>
          <a:bodyPr wrap="square" rtlCol="0">
            <a:spAutoFit/>
          </a:bodyPr>
          <a:lstStyle/>
          <a:p>
            <a:r>
              <a:rPr lang="en-US" sz="1600" dirty="0"/>
              <a:t>Here, all threads are executing same function on different chunks of data.</a:t>
            </a:r>
          </a:p>
        </p:txBody>
      </p:sp>
    </p:spTree>
    <p:extLst>
      <p:ext uri="{BB962C8B-B14F-4D97-AF65-F5344CB8AC3E}">
        <p14:creationId xmlns:p14="http://schemas.microsoft.com/office/powerpoint/2010/main" val="13082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11"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4A6D5-A19F-4FE7-B1B9-DF80AEB0BE3C}"/>
              </a:ext>
            </a:extLst>
          </p:cNvPr>
          <p:cNvSpPr>
            <a:spLocks noGrp="1"/>
          </p:cNvSpPr>
          <p:nvPr>
            <p:ph type="title"/>
          </p:nvPr>
        </p:nvSpPr>
        <p:spPr>
          <a:xfrm>
            <a:off x="438705" y="115679"/>
            <a:ext cx="10515600" cy="549275"/>
          </a:xfrm>
        </p:spPr>
        <p:txBody>
          <a:bodyPr>
            <a:normAutofit/>
          </a:bodyPr>
          <a:lstStyle/>
          <a:p>
            <a:r>
              <a:rPr lang="en-IN" sz="3200" dirty="0"/>
              <a:t>Finding variance of a set of numbers</a:t>
            </a:r>
          </a:p>
        </p:txBody>
      </p:sp>
      <p:sp>
        <p:nvSpPr>
          <p:cNvPr id="15" name="TextBox 14">
            <a:extLst>
              <a:ext uri="{FF2B5EF4-FFF2-40B4-BE49-F238E27FC236}">
                <a16:creationId xmlns:a16="http://schemas.microsoft.com/office/drawing/2014/main" id="{904CF3B9-805A-40FC-BEC6-DC87A62A5BFD}"/>
              </a:ext>
            </a:extLst>
          </p:cNvPr>
          <p:cNvSpPr txBox="1"/>
          <p:nvPr/>
        </p:nvSpPr>
        <p:spPr>
          <a:xfrm>
            <a:off x="6738152" y="1148749"/>
            <a:ext cx="4905510" cy="369332"/>
          </a:xfrm>
          <a:prstGeom prst="rect">
            <a:avLst/>
          </a:prstGeom>
          <a:noFill/>
        </p:spPr>
        <p:txBody>
          <a:bodyPr wrap="none" rtlCol="0">
            <a:spAutoFit/>
          </a:bodyPr>
          <a:lstStyle/>
          <a:p>
            <a:r>
              <a:rPr lang="en-IN" b="1" dirty="0">
                <a:solidFill>
                  <a:srgbClr val="C00000"/>
                </a:solidFill>
              </a:rPr>
              <a:t>Different functions in different threads</a:t>
            </a:r>
          </a:p>
        </p:txBody>
      </p:sp>
      <p:sp>
        <p:nvSpPr>
          <p:cNvPr id="4" name="Rectangle 3">
            <a:extLst>
              <a:ext uri="{FF2B5EF4-FFF2-40B4-BE49-F238E27FC236}">
                <a16:creationId xmlns:a16="http://schemas.microsoft.com/office/drawing/2014/main" id="{791768B2-0B65-4495-9478-036661685DE2}"/>
              </a:ext>
            </a:extLst>
          </p:cNvPr>
          <p:cNvSpPr/>
          <p:nvPr/>
        </p:nvSpPr>
        <p:spPr>
          <a:xfrm>
            <a:off x="548338" y="847090"/>
            <a:ext cx="10894979" cy="5895231"/>
          </a:xfrm>
          <a:prstGeom prst="rect">
            <a:avLst/>
          </a:prstGeom>
        </p:spPr>
        <p:txBody>
          <a:bodyPr wrap="square">
            <a:spAutoFit/>
          </a:bodyPr>
          <a:lstStyle/>
          <a:p>
            <a:r>
              <a:rPr lang="en-IN" sz="1400" b="1" dirty="0">
                <a:solidFill>
                  <a:schemeClr val="accent6"/>
                </a:solidFill>
              </a:rPr>
              <a:t>def </a:t>
            </a:r>
            <a:r>
              <a:rPr lang="en-IN" sz="1400" b="1" dirty="0" err="1">
                <a:solidFill>
                  <a:schemeClr val="accent6"/>
                </a:solidFill>
              </a:rPr>
              <a:t>calSumOfSquare</a:t>
            </a:r>
            <a:r>
              <a:rPr lang="en-IN" sz="1400" b="1" dirty="0">
                <a:solidFill>
                  <a:schemeClr val="accent6"/>
                </a:solidFill>
              </a:rPr>
              <a:t>(data, res, </a:t>
            </a:r>
            <a:r>
              <a:rPr lang="en-IN" sz="1400" b="1" dirty="0" err="1">
                <a:solidFill>
                  <a:schemeClr val="accent6"/>
                </a:solidFill>
              </a:rPr>
              <a:t>i</a:t>
            </a:r>
            <a:r>
              <a:rPr lang="en-IN" sz="1400" b="1" dirty="0">
                <a:solidFill>
                  <a:schemeClr val="accent6"/>
                </a:solidFill>
              </a:rPr>
              <a:t>):</a:t>
            </a:r>
          </a:p>
          <a:p>
            <a:r>
              <a:rPr lang="en-IN" sz="1400" b="1" dirty="0">
                <a:solidFill>
                  <a:schemeClr val="accent6"/>
                </a:solidFill>
              </a:rPr>
              <a:t>    sum = 0</a:t>
            </a:r>
          </a:p>
          <a:p>
            <a:r>
              <a:rPr lang="en-IN" sz="1400" b="1" dirty="0">
                <a:solidFill>
                  <a:schemeClr val="accent6"/>
                </a:solidFill>
              </a:rPr>
              <a:t>    for n in data:</a:t>
            </a:r>
          </a:p>
          <a:p>
            <a:r>
              <a:rPr lang="en-IN" sz="1400" b="1" dirty="0">
                <a:solidFill>
                  <a:schemeClr val="accent6"/>
                </a:solidFill>
              </a:rPr>
              <a:t>        sum = sum + n*n</a:t>
            </a:r>
          </a:p>
          <a:p>
            <a:r>
              <a:rPr lang="en-IN" sz="1400" b="1" dirty="0">
                <a:solidFill>
                  <a:schemeClr val="accent6"/>
                </a:solidFill>
              </a:rPr>
              <a:t>    res[</a:t>
            </a:r>
            <a:r>
              <a:rPr lang="en-IN" sz="1400" b="1" dirty="0" err="1">
                <a:solidFill>
                  <a:schemeClr val="accent6"/>
                </a:solidFill>
              </a:rPr>
              <a:t>i</a:t>
            </a:r>
            <a:r>
              <a:rPr lang="en-IN" sz="1400" b="1" dirty="0">
                <a:solidFill>
                  <a:schemeClr val="accent6"/>
                </a:solidFill>
              </a:rPr>
              <a:t>] = sum    </a:t>
            </a:r>
          </a:p>
          <a:p>
            <a:endParaRPr lang="en-IN" sz="1400" dirty="0"/>
          </a:p>
          <a:p>
            <a:r>
              <a:rPr lang="en-IN" sz="1400" b="1" dirty="0">
                <a:solidFill>
                  <a:srgbClr val="00B050"/>
                </a:solidFill>
              </a:rPr>
              <a:t>def </a:t>
            </a:r>
            <a:r>
              <a:rPr lang="en-IN" sz="1400" b="1" dirty="0" err="1">
                <a:solidFill>
                  <a:srgbClr val="00B050"/>
                </a:solidFill>
              </a:rPr>
              <a:t>calMean</a:t>
            </a:r>
            <a:r>
              <a:rPr lang="en-IN" sz="1400" b="1" dirty="0">
                <a:solidFill>
                  <a:srgbClr val="00B050"/>
                </a:solidFill>
              </a:rPr>
              <a:t>(data, res, </a:t>
            </a:r>
            <a:r>
              <a:rPr lang="en-IN" sz="1400" b="1" dirty="0" err="1">
                <a:solidFill>
                  <a:srgbClr val="00B050"/>
                </a:solidFill>
              </a:rPr>
              <a:t>i</a:t>
            </a:r>
            <a:r>
              <a:rPr lang="en-IN" sz="1400" b="1" dirty="0">
                <a:solidFill>
                  <a:srgbClr val="00B050"/>
                </a:solidFill>
              </a:rPr>
              <a:t>):</a:t>
            </a:r>
          </a:p>
          <a:p>
            <a:r>
              <a:rPr lang="en-IN" sz="1400" b="1" dirty="0">
                <a:solidFill>
                  <a:srgbClr val="00B050"/>
                </a:solidFill>
              </a:rPr>
              <a:t>    sum = 0</a:t>
            </a:r>
          </a:p>
          <a:p>
            <a:r>
              <a:rPr lang="en-IN" sz="1400" b="1" dirty="0">
                <a:solidFill>
                  <a:srgbClr val="00B050"/>
                </a:solidFill>
              </a:rPr>
              <a:t>    for n in data:</a:t>
            </a:r>
          </a:p>
          <a:p>
            <a:r>
              <a:rPr lang="en-IN" sz="1400" b="1" dirty="0">
                <a:solidFill>
                  <a:srgbClr val="00B050"/>
                </a:solidFill>
              </a:rPr>
              <a:t>        sum = sum + n  </a:t>
            </a:r>
          </a:p>
          <a:p>
            <a:r>
              <a:rPr lang="en-IN" sz="1400" b="1" dirty="0">
                <a:solidFill>
                  <a:srgbClr val="00B050"/>
                </a:solidFill>
              </a:rPr>
              <a:t>    res[</a:t>
            </a:r>
            <a:r>
              <a:rPr lang="en-IN" sz="1400" b="1" dirty="0" err="1">
                <a:solidFill>
                  <a:srgbClr val="00B050"/>
                </a:solidFill>
              </a:rPr>
              <a:t>i</a:t>
            </a:r>
            <a:r>
              <a:rPr lang="en-IN" sz="1400" b="1" dirty="0">
                <a:solidFill>
                  <a:srgbClr val="00B050"/>
                </a:solidFill>
              </a:rPr>
              <a:t>] = sum/</a:t>
            </a:r>
            <a:r>
              <a:rPr lang="en-IN" sz="1400" b="1" dirty="0" err="1">
                <a:solidFill>
                  <a:srgbClr val="00B050"/>
                </a:solidFill>
              </a:rPr>
              <a:t>len</a:t>
            </a:r>
            <a:r>
              <a:rPr lang="en-IN" sz="1400" b="1" dirty="0">
                <a:solidFill>
                  <a:srgbClr val="00B050"/>
                </a:solidFill>
              </a:rPr>
              <a:t>(data)  </a:t>
            </a:r>
            <a:r>
              <a:rPr lang="en-IN" sz="1400" dirty="0"/>
              <a:t>  </a:t>
            </a:r>
          </a:p>
          <a:p>
            <a:r>
              <a:rPr lang="en-IN" sz="1400" dirty="0"/>
              <a:t>                  </a:t>
            </a:r>
          </a:p>
          <a:p>
            <a:r>
              <a:rPr lang="en-IN" sz="1400" b="1" dirty="0">
                <a:solidFill>
                  <a:schemeClr val="tx1">
                    <a:lumMod val="95000"/>
                    <a:lumOff val="5000"/>
                  </a:schemeClr>
                </a:solidFill>
              </a:rPr>
              <a:t>import threading</a:t>
            </a:r>
          </a:p>
          <a:p>
            <a:r>
              <a:rPr lang="en-IN" sz="1400" b="1" dirty="0">
                <a:solidFill>
                  <a:schemeClr val="tx1">
                    <a:lumMod val="95000"/>
                    <a:lumOff val="5000"/>
                  </a:schemeClr>
                </a:solidFill>
              </a:rPr>
              <a:t>data = [2, 3, 5, 8]</a:t>
            </a:r>
          </a:p>
          <a:p>
            <a:r>
              <a:rPr lang="en-IN" sz="1400" b="1" dirty="0">
                <a:solidFill>
                  <a:schemeClr val="tx1">
                    <a:lumMod val="95000"/>
                    <a:lumOff val="5000"/>
                  </a:schemeClr>
                </a:solidFill>
              </a:rPr>
              <a:t>results = [None] * 2</a:t>
            </a:r>
          </a:p>
          <a:p>
            <a:endParaRPr lang="en-IN" sz="1400" dirty="0"/>
          </a:p>
          <a:p>
            <a:r>
              <a:rPr lang="en-IN" sz="1400" b="1" dirty="0" err="1">
                <a:solidFill>
                  <a:srgbClr val="0070C0"/>
                </a:solidFill>
              </a:rPr>
              <a:t>sosThread</a:t>
            </a:r>
            <a:r>
              <a:rPr lang="en-IN" sz="1400" b="1" dirty="0">
                <a:solidFill>
                  <a:srgbClr val="0070C0"/>
                </a:solidFill>
              </a:rPr>
              <a:t> = </a:t>
            </a:r>
            <a:r>
              <a:rPr lang="en-IN" sz="1400" b="1" dirty="0" err="1">
                <a:solidFill>
                  <a:srgbClr val="0070C0"/>
                </a:solidFill>
              </a:rPr>
              <a:t>threading.Thread</a:t>
            </a:r>
            <a:r>
              <a:rPr lang="en-IN" sz="1400" b="1" dirty="0">
                <a:solidFill>
                  <a:srgbClr val="0070C0"/>
                </a:solidFill>
              </a:rPr>
              <a:t>(target=</a:t>
            </a:r>
            <a:r>
              <a:rPr lang="en-IN" sz="1400" b="1" dirty="0" err="1">
                <a:solidFill>
                  <a:srgbClr val="0070C0"/>
                </a:solidFill>
              </a:rPr>
              <a:t>calSumOfSquare</a:t>
            </a:r>
            <a:r>
              <a:rPr lang="en-IN" sz="1400" b="1" dirty="0">
                <a:solidFill>
                  <a:srgbClr val="0070C0"/>
                </a:solidFill>
              </a:rPr>
              <a:t>, </a:t>
            </a:r>
            <a:r>
              <a:rPr lang="en-IN" sz="1400" b="1" dirty="0" err="1">
                <a:solidFill>
                  <a:srgbClr val="0070C0"/>
                </a:solidFill>
              </a:rPr>
              <a:t>args</a:t>
            </a:r>
            <a:r>
              <a:rPr lang="en-IN" sz="1400" b="1" dirty="0">
                <a:solidFill>
                  <a:srgbClr val="0070C0"/>
                </a:solidFill>
              </a:rPr>
              <a:t>=(data, results, 0))</a:t>
            </a:r>
          </a:p>
          <a:p>
            <a:r>
              <a:rPr lang="en-IN" sz="1400" b="1" dirty="0" err="1">
                <a:solidFill>
                  <a:srgbClr val="0070C0"/>
                </a:solidFill>
              </a:rPr>
              <a:t>meanThread</a:t>
            </a:r>
            <a:r>
              <a:rPr lang="en-IN" sz="1400" b="1" dirty="0">
                <a:solidFill>
                  <a:srgbClr val="0070C0"/>
                </a:solidFill>
              </a:rPr>
              <a:t> = </a:t>
            </a:r>
            <a:r>
              <a:rPr lang="en-IN" sz="1400" b="1" dirty="0" err="1">
                <a:solidFill>
                  <a:srgbClr val="0070C0"/>
                </a:solidFill>
              </a:rPr>
              <a:t>threading.Thread</a:t>
            </a:r>
            <a:r>
              <a:rPr lang="en-IN" sz="1400" b="1" dirty="0">
                <a:solidFill>
                  <a:srgbClr val="0070C0"/>
                </a:solidFill>
              </a:rPr>
              <a:t>(target=</a:t>
            </a:r>
            <a:r>
              <a:rPr lang="en-IN" sz="1400" b="1" dirty="0" err="1">
                <a:solidFill>
                  <a:srgbClr val="0070C0"/>
                </a:solidFill>
              </a:rPr>
              <a:t>calMean</a:t>
            </a:r>
            <a:r>
              <a:rPr lang="en-IN" sz="1400" b="1" dirty="0">
                <a:solidFill>
                  <a:srgbClr val="0070C0"/>
                </a:solidFill>
              </a:rPr>
              <a:t>, </a:t>
            </a:r>
            <a:r>
              <a:rPr lang="en-IN" sz="1400" b="1" dirty="0" err="1">
                <a:solidFill>
                  <a:srgbClr val="0070C0"/>
                </a:solidFill>
              </a:rPr>
              <a:t>args</a:t>
            </a:r>
            <a:r>
              <a:rPr lang="en-IN" sz="1400" b="1" dirty="0">
                <a:solidFill>
                  <a:srgbClr val="0070C0"/>
                </a:solidFill>
              </a:rPr>
              <a:t>=(</a:t>
            </a:r>
            <a:r>
              <a:rPr lang="en-IN" sz="1400" b="1" dirty="0" err="1">
                <a:solidFill>
                  <a:srgbClr val="0070C0"/>
                </a:solidFill>
              </a:rPr>
              <a:t>data,results</a:t>
            </a:r>
            <a:r>
              <a:rPr lang="en-IN" sz="1400" b="1" dirty="0">
                <a:solidFill>
                  <a:srgbClr val="0070C0"/>
                </a:solidFill>
              </a:rPr>
              <a:t>, 1))</a:t>
            </a:r>
          </a:p>
          <a:p>
            <a:endParaRPr lang="en-IN" sz="1400" dirty="0"/>
          </a:p>
          <a:p>
            <a:r>
              <a:rPr lang="en-IN" sz="1400" b="1" dirty="0" err="1">
                <a:solidFill>
                  <a:srgbClr val="7030A0"/>
                </a:solidFill>
              </a:rPr>
              <a:t>sosThread.start</a:t>
            </a:r>
            <a:r>
              <a:rPr lang="en-IN" sz="1400" b="1" dirty="0">
                <a:solidFill>
                  <a:srgbClr val="7030A0"/>
                </a:solidFill>
              </a:rPr>
              <a:t>()</a:t>
            </a:r>
          </a:p>
          <a:p>
            <a:r>
              <a:rPr lang="en-IN" sz="1400" b="1" dirty="0" err="1">
                <a:solidFill>
                  <a:srgbClr val="7030A0"/>
                </a:solidFill>
              </a:rPr>
              <a:t>meanThread.start</a:t>
            </a:r>
            <a:r>
              <a:rPr lang="en-IN" sz="1400" b="1" dirty="0">
                <a:solidFill>
                  <a:srgbClr val="7030A0"/>
                </a:solidFill>
              </a:rPr>
              <a:t>()</a:t>
            </a:r>
          </a:p>
          <a:p>
            <a:endParaRPr lang="en-IN" sz="1400" dirty="0"/>
          </a:p>
          <a:p>
            <a:r>
              <a:rPr lang="en-IN" sz="1400" b="1" dirty="0" err="1">
                <a:solidFill>
                  <a:srgbClr val="663300"/>
                </a:solidFill>
              </a:rPr>
              <a:t>sosThread.join</a:t>
            </a:r>
            <a:r>
              <a:rPr lang="en-IN" sz="1400" b="1" dirty="0">
                <a:solidFill>
                  <a:srgbClr val="663300"/>
                </a:solidFill>
              </a:rPr>
              <a:t>()</a:t>
            </a:r>
          </a:p>
          <a:p>
            <a:r>
              <a:rPr lang="en-IN" sz="1400" b="1" dirty="0" err="1">
                <a:solidFill>
                  <a:srgbClr val="663300"/>
                </a:solidFill>
              </a:rPr>
              <a:t>meanThread.join</a:t>
            </a:r>
            <a:r>
              <a:rPr lang="en-IN" sz="1400" b="1" dirty="0">
                <a:solidFill>
                  <a:srgbClr val="663300"/>
                </a:solidFill>
              </a:rPr>
              <a:t>()</a:t>
            </a:r>
          </a:p>
          <a:p>
            <a:endParaRPr lang="en-IN" sz="1400" dirty="0"/>
          </a:p>
          <a:p>
            <a:r>
              <a:rPr lang="en-IN" sz="1400" b="1" dirty="0">
                <a:solidFill>
                  <a:schemeClr val="accent6">
                    <a:lumMod val="50000"/>
                  </a:schemeClr>
                </a:solidFill>
              </a:rPr>
              <a:t>var = results[0]/</a:t>
            </a:r>
            <a:r>
              <a:rPr lang="en-IN" sz="1400" b="1" dirty="0" err="1">
                <a:solidFill>
                  <a:schemeClr val="accent6">
                    <a:lumMod val="50000"/>
                  </a:schemeClr>
                </a:solidFill>
              </a:rPr>
              <a:t>len</a:t>
            </a:r>
            <a:r>
              <a:rPr lang="en-IN" sz="1400" b="1" dirty="0">
                <a:solidFill>
                  <a:schemeClr val="accent6">
                    <a:lumMod val="50000"/>
                  </a:schemeClr>
                </a:solidFill>
              </a:rPr>
              <a:t>(data) - results[1]*results[1] </a:t>
            </a:r>
          </a:p>
          <a:p>
            <a:r>
              <a:rPr lang="en-IN" sz="1400" b="1" dirty="0">
                <a:solidFill>
                  <a:schemeClr val="accent6">
                    <a:lumMod val="50000"/>
                  </a:schemeClr>
                </a:solidFill>
              </a:rPr>
              <a:t>print(var)</a:t>
            </a:r>
          </a:p>
        </p:txBody>
      </p:sp>
    </p:spTree>
    <p:extLst>
      <p:ext uri="{BB962C8B-B14F-4D97-AF65-F5344CB8AC3E}">
        <p14:creationId xmlns:p14="http://schemas.microsoft.com/office/powerpoint/2010/main" val="214616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9" end="1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22" end="2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23" end="2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25" end="2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26" end="2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F34B1B-2FBA-44BA-A415-448E1BCB4587}"/>
              </a:ext>
            </a:extLst>
          </p:cNvPr>
          <p:cNvSpPr>
            <a:spLocks noGrp="1"/>
          </p:cNvSpPr>
          <p:nvPr>
            <p:ph type="ctrTitle"/>
          </p:nvPr>
        </p:nvSpPr>
        <p:spPr>
          <a:xfrm>
            <a:off x="354106" y="1963272"/>
            <a:ext cx="11483787" cy="1967752"/>
          </a:xfrm>
        </p:spPr>
        <p:txBody>
          <a:bodyPr>
            <a:normAutofit fontScale="90000"/>
          </a:bodyPr>
          <a:lstStyle/>
          <a:p>
            <a:r>
              <a:rPr lang="en-IN" sz="5400" b="1" dirty="0">
                <a:solidFill>
                  <a:schemeClr val="accent4">
                    <a:lumMod val="50000"/>
                  </a:schemeClr>
                </a:solidFill>
              </a:rPr>
              <a:t>An Example Problem</a:t>
            </a:r>
            <a:br>
              <a:rPr lang="en-IN" sz="5400" b="1" dirty="0">
                <a:solidFill>
                  <a:schemeClr val="accent4">
                    <a:lumMod val="50000"/>
                  </a:schemeClr>
                </a:solidFill>
              </a:rPr>
            </a:br>
            <a:br>
              <a:rPr lang="en-IN" sz="5400" b="1" dirty="0">
                <a:solidFill>
                  <a:schemeClr val="accent4">
                    <a:lumMod val="50000"/>
                  </a:schemeClr>
                </a:solidFill>
              </a:rPr>
            </a:br>
            <a:r>
              <a:rPr lang="en-IN" sz="4400" b="1" dirty="0">
                <a:solidFill>
                  <a:srgbClr val="0070C0"/>
                </a:solidFill>
              </a:rPr>
              <a:t>Top k Similarity Search</a:t>
            </a:r>
          </a:p>
        </p:txBody>
      </p:sp>
    </p:spTree>
    <p:extLst>
      <p:ext uri="{BB962C8B-B14F-4D97-AF65-F5344CB8AC3E}">
        <p14:creationId xmlns:p14="http://schemas.microsoft.com/office/powerpoint/2010/main" val="4008987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CA3A-E083-4DF1-AD30-C4DD522EBCE8}"/>
              </a:ext>
            </a:extLst>
          </p:cNvPr>
          <p:cNvSpPr>
            <a:spLocks noGrp="1"/>
          </p:cNvSpPr>
          <p:nvPr>
            <p:ph type="title"/>
          </p:nvPr>
        </p:nvSpPr>
        <p:spPr>
          <a:xfrm>
            <a:off x="573741" y="162559"/>
            <a:ext cx="10515600" cy="732155"/>
          </a:xfrm>
        </p:spPr>
        <p:txBody>
          <a:bodyPr/>
          <a:lstStyle/>
          <a:p>
            <a:r>
              <a:rPr lang="en-IN" dirty="0"/>
              <a:t>Top k Similarity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BA236-CAE2-42EF-B483-784668BC44F2}"/>
                  </a:ext>
                </a:extLst>
              </p:cNvPr>
              <p:cNvSpPr>
                <a:spLocks noGrp="1"/>
              </p:cNvSpPr>
              <p:nvPr>
                <p:ph idx="1"/>
              </p:nvPr>
            </p:nvSpPr>
            <p:spPr>
              <a:xfrm>
                <a:off x="573741" y="1076393"/>
                <a:ext cx="11170023" cy="4347254"/>
              </a:xfrm>
            </p:spPr>
            <p:txBody>
              <a:bodyPr/>
              <a:lstStyle/>
              <a:p>
                <a:pPr algn="just"/>
                <a:r>
                  <a:rPr lang="en-IN" dirty="0"/>
                  <a:t>Given a set of items: </a:t>
                </a:r>
                <a14:m>
                  <m:oMath xmlns:m="http://schemas.openxmlformats.org/officeDocument/2006/math">
                    <m:r>
                      <a:rPr lang="en-IN" b="1" i="0" smtClean="0">
                        <a:latin typeface="Cambria Math" panose="02040503050406030204" pitchFamily="18" charset="0"/>
                      </a:rPr>
                      <m:t>𝐒</m:t>
                    </m:r>
                    <m:r>
                      <a:rPr lang="en-IN" b="1" i="1" smtClean="0">
                        <a:latin typeface="Cambria Math" panose="02040503050406030204" pitchFamily="18" charset="0"/>
                      </a:rPr>
                      <m:t>={</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𝟏</m:t>
                        </m:r>
                      </m:sub>
                    </m:sSub>
                    <m:r>
                      <a:rPr lang="en-IN" b="1" i="1" smtClean="0">
                        <a:latin typeface="Cambria Math" panose="02040503050406030204" pitchFamily="18" charset="0"/>
                      </a:rPr>
                      <m:t>,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𝟐</m:t>
                        </m:r>
                      </m:sub>
                    </m:sSub>
                    <m:r>
                      <a:rPr lang="en-IN" b="1" i="1" smtClean="0">
                        <a:latin typeface="Cambria Math" panose="02040503050406030204" pitchFamily="18" charset="0"/>
                      </a:rPr>
                      <m:t>,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𝟑</m:t>
                        </m:r>
                      </m:sub>
                    </m:sSub>
                    <m:r>
                      <a:rPr lang="en-IN" b="1" i="1" smtClean="0">
                        <a:latin typeface="Cambria Math" panose="02040503050406030204" pitchFamily="18" charset="0"/>
                      </a:rPr>
                      <m:t>, ….. </m:t>
                    </m:r>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𝒏</m:t>
                        </m:r>
                      </m:sub>
                    </m:sSub>
                    <m:r>
                      <a:rPr lang="en-IN" b="1" i="1" smtClean="0">
                        <a:latin typeface="Cambria Math" panose="02040503050406030204" pitchFamily="18" charset="0"/>
                      </a:rPr>
                      <m:t>}</m:t>
                    </m:r>
                  </m:oMath>
                </a14:m>
                <a:r>
                  <a:rPr lang="en-IN" dirty="0"/>
                  <a:t> and a query item </a:t>
                </a:r>
                <a14:m>
                  <m:oMath xmlns:m="http://schemas.openxmlformats.org/officeDocument/2006/math">
                    <m:sSub>
                      <m:sSubPr>
                        <m:ctrlPr>
                          <a:rPr lang="en-IN" b="1" i="1" smtClean="0">
                            <a:latin typeface="Cambria Math" panose="02040503050406030204" pitchFamily="18" charset="0"/>
                          </a:rPr>
                        </m:ctrlPr>
                      </m:sSubPr>
                      <m:e>
                        <m:r>
                          <a:rPr lang="en-IN" b="1" i="1" smtClean="0">
                            <a:latin typeface="Cambria Math" panose="02040503050406030204" pitchFamily="18" charset="0"/>
                          </a:rPr>
                          <m:t>𝑰</m:t>
                        </m:r>
                      </m:e>
                      <m:sub>
                        <m:r>
                          <a:rPr lang="en-IN" b="1" i="1" smtClean="0">
                            <a:latin typeface="Cambria Math" panose="02040503050406030204" pitchFamily="18" charset="0"/>
                          </a:rPr>
                          <m:t>𝒒</m:t>
                        </m:r>
                      </m:sub>
                    </m:sSub>
                  </m:oMath>
                </a14:m>
                <a:r>
                  <a:rPr lang="en-IN" dirty="0"/>
                  <a:t>, find out top k most similar items to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𝑰</m:t>
                        </m:r>
                      </m:e>
                      <m:sub>
                        <m:r>
                          <a:rPr lang="en-IN" i="1">
                            <a:latin typeface="Cambria Math" panose="02040503050406030204" pitchFamily="18" charset="0"/>
                          </a:rPr>
                          <m:t>𝒒</m:t>
                        </m:r>
                      </m:sub>
                    </m:sSub>
                  </m:oMath>
                </a14:m>
                <a:r>
                  <a:rPr lang="en-IN" dirty="0"/>
                  <a:t>, based on a similarity measure</a:t>
                </a:r>
              </a:p>
              <a:p>
                <a:pPr algn="just"/>
                <a:endParaRPr lang="en-IN" dirty="0"/>
              </a:p>
              <a:p>
                <a:pPr algn="just"/>
                <a:r>
                  <a:rPr lang="en-IN" dirty="0"/>
                  <a:t>Large number of applications: </a:t>
                </a:r>
              </a:p>
              <a:p>
                <a:pPr lvl="1" algn="just"/>
                <a:r>
                  <a:rPr lang="en-IN" dirty="0"/>
                  <a:t>Ranking in search engines </a:t>
                </a:r>
              </a:p>
              <a:p>
                <a:pPr lvl="1" algn="just"/>
                <a:r>
                  <a:rPr lang="en-IN" dirty="0"/>
                  <a:t>Querying on database </a:t>
                </a:r>
              </a:p>
              <a:p>
                <a:pPr lvl="1" algn="just"/>
                <a:r>
                  <a:rPr lang="en-IN" dirty="0"/>
                  <a:t>Finding similar products e-commerce platforms</a:t>
                </a:r>
              </a:p>
              <a:p>
                <a:pPr lvl="1" algn="just"/>
                <a:r>
                  <a:rPr lang="en-IN" dirty="0"/>
                  <a:t>Finding similar patients from medical records </a:t>
                </a:r>
              </a:p>
              <a:p>
                <a:pPr lvl="1" algn="just"/>
                <a:r>
                  <a:rPr lang="en-IN" dirty="0"/>
                  <a:t>And so on ….</a:t>
                </a:r>
              </a:p>
            </p:txBody>
          </p:sp>
        </mc:Choice>
        <mc:Fallback xmlns="">
          <p:sp>
            <p:nvSpPr>
              <p:cNvPr id="3" name="Content Placeholder 2">
                <a:extLst>
                  <a:ext uri="{FF2B5EF4-FFF2-40B4-BE49-F238E27FC236}">
                    <a16:creationId xmlns:a16="http://schemas.microsoft.com/office/drawing/2014/main" id="{13EBA236-CAE2-42EF-B483-784668BC44F2}"/>
                  </a:ext>
                </a:extLst>
              </p:cNvPr>
              <p:cNvSpPr>
                <a:spLocks noGrp="1" noRot="1" noChangeAspect="1" noMove="1" noResize="1" noEditPoints="1" noAdjustHandles="1" noChangeArrowheads="1" noChangeShapeType="1" noTextEdit="1"/>
              </p:cNvSpPr>
              <p:nvPr>
                <p:ph idx="1"/>
              </p:nvPr>
            </p:nvSpPr>
            <p:spPr>
              <a:xfrm>
                <a:off x="573741" y="1076393"/>
                <a:ext cx="11170023" cy="4347254"/>
              </a:xfrm>
              <a:blipFill>
                <a:blip r:embed="rId2"/>
                <a:stretch>
                  <a:fillRect l="-983" t="-2665" r="-1146" b="-1403"/>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0A4BC4AC-3FB0-4E78-8BCE-A887202EE374}"/>
              </a:ext>
            </a:extLst>
          </p:cNvPr>
          <p:cNvSpPr txBox="1"/>
          <p:nvPr/>
        </p:nvSpPr>
        <p:spPr>
          <a:xfrm>
            <a:off x="1075765" y="5898776"/>
            <a:ext cx="3847528" cy="523220"/>
          </a:xfrm>
          <a:prstGeom prst="rect">
            <a:avLst/>
          </a:prstGeom>
          <a:noFill/>
        </p:spPr>
        <p:txBody>
          <a:bodyPr wrap="none" rtlCol="0">
            <a:spAutoFit/>
          </a:bodyPr>
          <a:lstStyle/>
          <a:p>
            <a:r>
              <a:rPr lang="en-IN" sz="2800" b="1" dirty="0">
                <a:solidFill>
                  <a:srgbClr val="00B050"/>
                </a:solidFill>
              </a:rPr>
              <a:t>How do we solve it?</a:t>
            </a:r>
          </a:p>
        </p:txBody>
      </p:sp>
    </p:spTree>
    <p:extLst>
      <p:ext uri="{BB962C8B-B14F-4D97-AF65-F5344CB8AC3E}">
        <p14:creationId xmlns:p14="http://schemas.microsoft.com/office/powerpoint/2010/main" val="124137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3124</TotalTime>
  <Words>2310</Words>
  <Application>Microsoft Office PowerPoint</Application>
  <PresentationFormat>Widescreen</PresentationFormat>
  <Paragraphs>301</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Cambria Math</vt:lpstr>
      <vt:lpstr>Century Schoolbook</vt:lpstr>
      <vt:lpstr>Courier New</vt:lpstr>
      <vt:lpstr>Office Theme</vt:lpstr>
      <vt:lpstr>Big Data Processing</vt:lpstr>
      <vt:lpstr>Parallel Processing for Big Data</vt:lpstr>
      <vt:lpstr>Parallel Programming</vt:lpstr>
      <vt:lpstr>Multithreaded Programming</vt:lpstr>
      <vt:lpstr>What is a thread?</vt:lpstr>
      <vt:lpstr>What is multithreading?</vt:lpstr>
      <vt:lpstr>Why Multithreading?</vt:lpstr>
      <vt:lpstr>Multiprocessors</vt:lpstr>
      <vt:lpstr>Programming support for threads</vt:lpstr>
      <vt:lpstr>Thread creation and termination</vt:lpstr>
      <vt:lpstr>Thread creation and termination</vt:lpstr>
      <vt:lpstr>Processes are Protected</vt:lpstr>
      <vt:lpstr>Multiple Threads Can Exist in a Single Process Space</vt:lpstr>
      <vt:lpstr>Thread creation and termination</vt:lpstr>
      <vt:lpstr>Communication among threads</vt:lpstr>
      <vt:lpstr>Data race and Non-determinism</vt:lpstr>
      <vt:lpstr>Data race and Non-determinism</vt:lpstr>
      <vt:lpstr>Data race and Non-determinism</vt:lpstr>
      <vt:lpstr>Data race and Non-determinism</vt:lpstr>
      <vt:lpstr>Data race and Non-determinism</vt:lpstr>
      <vt:lpstr>Synchronization among threads</vt:lpstr>
      <vt:lpstr>Synchronization among threads by locking</vt:lpstr>
      <vt:lpstr>Synchronization among threads</vt:lpstr>
      <vt:lpstr>Synchronization among threads</vt:lpstr>
      <vt:lpstr>Multithreading programming libraries</vt:lpstr>
      <vt:lpstr>PowerPoint Presentation</vt:lpstr>
      <vt:lpstr>PowerPoint Presentation</vt:lpstr>
      <vt:lpstr>PowerPoint Presentation</vt:lpstr>
      <vt:lpstr>PowerPoint Presentation</vt:lpstr>
      <vt:lpstr>Python Examples</vt:lpstr>
      <vt:lpstr>Finding sum of numbers</vt:lpstr>
      <vt:lpstr>Finding variance of a set of numbers</vt:lpstr>
      <vt:lpstr>An Example Problem  Top k Similarity Search</vt:lpstr>
      <vt:lpstr>Top k Similarity Search</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580</cp:revision>
  <dcterms:created xsi:type="dcterms:W3CDTF">2020-05-13T23:12:08Z</dcterms:created>
  <dcterms:modified xsi:type="dcterms:W3CDTF">2025-02-15T12:57:23Z</dcterms:modified>
</cp:coreProperties>
</file>