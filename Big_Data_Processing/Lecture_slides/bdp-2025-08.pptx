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6" r:id="rId2"/>
    <p:sldId id="550" r:id="rId3"/>
    <p:sldId id="554" r:id="rId4"/>
    <p:sldId id="503" r:id="rId5"/>
    <p:sldId id="504" r:id="rId6"/>
    <p:sldId id="566" r:id="rId7"/>
    <p:sldId id="567" r:id="rId8"/>
    <p:sldId id="568" r:id="rId9"/>
    <p:sldId id="569" r:id="rId10"/>
    <p:sldId id="570" r:id="rId11"/>
    <p:sldId id="571" r:id="rId12"/>
    <p:sldId id="572" r:id="rId13"/>
    <p:sldId id="560" r:id="rId14"/>
    <p:sldId id="350" r:id="rId15"/>
    <p:sldId id="575" r:id="rId16"/>
    <p:sldId id="352" r:id="rId17"/>
    <p:sldId id="356" r:id="rId18"/>
    <p:sldId id="369" r:id="rId19"/>
    <p:sldId id="561" r:id="rId20"/>
    <p:sldId id="562" r:id="rId21"/>
    <p:sldId id="563" r:id="rId22"/>
    <p:sldId id="564" r:id="rId23"/>
    <p:sldId id="362" r:id="rId24"/>
    <p:sldId id="363" r:id="rId25"/>
    <p:sldId id="364" r:id="rId26"/>
    <p:sldId id="576" r:id="rId27"/>
    <p:sldId id="394" r:id="rId28"/>
    <p:sldId id="578" r:id="rId29"/>
    <p:sldId id="577" r:id="rId30"/>
    <p:sldId id="508" r:id="rId31"/>
    <p:sldId id="509" r:id="rId32"/>
    <p:sldId id="510" r:id="rId33"/>
    <p:sldId id="573" r:id="rId34"/>
    <p:sldId id="512" r:id="rId35"/>
    <p:sldId id="565" r:id="rId36"/>
    <p:sldId id="57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CAAE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11" autoAdjust="0"/>
    <p:restoredTop sz="94660"/>
  </p:normalViewPr>
  <p:slideViewPr>
    <p:cSldViewPr snapToGrid="0">
      <p:cViewPr varScale="1">
        <p:scale>
          <a:sx n="81" d="100"/>
          <a:sy n="81" d="100"/>
        </p:scale>
        <p:origin x="931" y="53"/>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BEC899-9F02-491A-8D3A-9F1A2E35BED9}" type="datetimeFigureOut">
              <a:rPr lang="en-IN" smtClean="0"/>
              <a:t>19-02-2025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C7F388-92B4-4CCE-98AB-E3403A750BCE}" type="slidenum">
              <a:rPr lang="en-IN" smtClean="0"/>
              <a:t>‹#›</a:t>
            </a:fld>
            <a:endParaRPr lang="en-IN"/>
          </a:p>
        </p:txBody>
      </p:sp>
    </p:spTree>
    <p:extLst>
      <p:ext uri="{BB962C8B-B14F-4D97-AF65-F5344CB8AC3E}">
        <p14:creationId xmlns:p14="http://schemas.microsoft.com/office/powerpoint/2010/main" val="2860447380"/>
      </p:ext>
    </p:extLst>
  </p:cSld>
  <p:clrMap bg1="dk1" tx1="lt1" bg2="dk2" tx2="lt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A62B8-ED7E-4D6E-9A93-014178291C11}" type="datetimeFigureOut">
              <a:rPr lang="en-IN" smtClean="0"/>
              <a:t>19-02-2025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FC15D4-91CA-4DB9-8C01-BAE492E5AD48}" type="slidenum">
              <a:rPr lang="en-IN" smtClean="0"/>
              <a:t>‹#›</a:t>
            </a:fld>
            <a:endParaRPr lang="en-IN"/>
          </a:p>
        </p:txBody>
      </p:sp>
    </p:spTree>
    <p:extLst>
      <p:ext uri="{BB962C8B-B14F-4D97-AF65-F5344CB8AC3E}">
        <p14:creationId xmlns:p14="http://schemas.microsoft.com/office/powerpoint/2010/main" val="1912799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7711649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lvl1pPr>
              <a:defRPr>
                <a:solidFill>
                  <a:schemeClr val="accent4">
                    <a:lumMod val="75000"/>
                  </a:schemeClr>
                </a:solidFill>
              </a:defRPr>
            </a:lvl1pPr>
          </a:lstStyle>
          <a:p>
            <a:r>
              <a:rPr lang="en-US" dirty="0"/>
              <a:t>Click to edit Master title style</a:t>
            </a:r>
            <a:endParaRPr lang="en-IN" dirty="0"/>
          </a:p>
        </p:txBody>
      </p:sp>
      <p:sp>
        <p:nvSpPr>
          <p:cNvPr id="3" name="Content Placeholder 2"/>
          <p:cNvSpPr>
            <a:spLocks noGrp="1"/>
          </p:cNvSpPr>
          <p:nvPr>
            <p:ph idx="1"/>
          </p:nvPr>
        </p:nvSpPr>
        <p:spPr>
          <a:xfrm>
            <a:off x="838200" y="1471749"/>
            <a:ext cx="10515600" cy="4705214"/>
          </a:xfrm>
        </p:spPr>
        <p:txBody>
          <a:bodyPr/>
          <a:lstStyle>
            <a:lvl1pPr>
              <a:defRPr b="1">
                <a:solidFill>
                  <a:srgbClr val="0070C0"/>
                </a:solidFill>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lvl1pPr>
              <a:defRPr b="1">
                <a:solidFill>
                  <a:schemeClr val="bg2">
                    <a:lumMod val="10000"/>
                  </a:schemeClr>
                </a:solidFill>
              </a:defRPr>
            </a:lvl1pPr>
          </a:lstStyle>
          <a:p>
            <a:r>
              <a:rPr lang="en-IN" dirty="0"/>
              <a:t>Jiaul Paik, IIT </a:t>
            </a:r>
            <a:r>
              <a:rPr lang="en-IN" dirty="0" err="1"/>
              <a:t>Kharagpur</a:t>
            </a:r>
            <a:endParaRPr lang="en-IN" dirty="0"/>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57176842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030869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D8581B5-CE63-4C0B-AF1D-F1A23F619540}" type="datetimeFigureOut">
              <a:rPr lang="en-IN" smtClean="0"/>
              <a:t>19-02-2025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952376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D8581B5-CE63-4C0B-AF1D-F1A23F619540}" type="datetimeFigureOut">
              <a:rPr lang="en-IN" smtClean="0"/>
              <a:t>19-02-2025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533970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D8581B5-CE63-4C0B-AF1D-F1A23F619540}" type="datetimeFigureOut">
              <a:rPr lang="en-IN" smtClean="0"/>
              <a:t>19-02-2025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659233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8581B5-CE63-4C0B-AF1D-F1A23F619540}" type="datetimeFigureOut">
              <a:rPr lang="en-IN" smtClean="0"/>
              <a:t>19-02-2025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1052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19-02-2025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4020820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D8581B5-CE63-4C0B-AF1D-F1A23F619540}" type="datetimeFigureOut">
              <a:rPr lang="en-IN" smtClean="0"/>
              <a:t>19-02-2025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1512170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3778880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D8581B5-CE63-4C0B-AF1D-F1A23F619540}" type="datetimeFigureOut">
              <a:rPr lang="en-IN" smtClean="0"/>
              <a:t>19-02-2025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7DD252-A74E-4E8E-A6B4-FCD6DE8F900F}" type="slidenum">
              <a:rPr lang="en-IN" smtClean="0"/>
              <a:t>‹#›</a:t>
            </a:fld>
            <a:endParaRPr lang="en-IN"/>
          </a:p>
        </p:txBody>
      </p:sp>
    </p:spTree>
    <p:extLst>
      <p:ext uri="{BB962C8B-B14F-4D97-AF65-F5344CB8AC3E}">
        <p14:creationId xmlns:p14="http://schemas.microsoft.com/office/powerpoint/2010/main" val="2956180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8581B5-CE63-4C0B-AF1D-F1A23F619540}" type="datetimeFigureOut">
              <a:rPr lang="en-IN" smtClean="0"/>
              <a:t>19-02-2025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7DD252-A74E-4E8E-A6B4-FCD6DE8F900F}" type="slidenum">
              <a:rPr lang="en-IN" smtClean="0"/>
              <a:t>‹#›</a:t>
            </a:fld>
            <a:endParaRPr lang="en-IN"/>
          </a:p>
        </p:txBody>
      </p:sp>
    </p:spTree>
    <p:extLst>
      <p:ext uri="{BB962C8B-B14F-4D97-AF65-F5344CB8AC3E}">
        <p14:creationId xmlns:p14="http://schemas.microsoft.com/office/powerpoint/2010/main" val="285816313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5915" y="1122363"/>
            <a:ext cx="9972085" cy="1408401"/>
          </a:xfrm>
        </p:spPr>
        <p:txBody>
          <a:bodyPr>
            <a:normAutofit/>
          </a:bodyPr>
          <a:lstStyle/>
          <a:p>
            <a:r>
              <a:rPr lang="en-US" sz="4800" dirty="0">
                <a:solidFill>
                  <a:schemeClr val="accent4"/>
                </a:solidFill>
                <a:latin typeface="Century Schoolbook" panose="02040604050505020304" pitchFamily="18" charset="0"/>
              </a:rPr>
              <a:t>Big Data Processing</a:t>
            </a:r>
            <a:endParaRPr lang="en-IN" sz="4800" dirty="0">
              <a:solidFill>
                <a:schemeClr val="accent4"/>
              </a:solidFill>
              <a:latin typeface="Century Schoolbook" panose="02040604050505020304" pitchFamily="18" charset="0"/>
            </a:endParaRPr>
          </a:p>
        </p:txBody>
      </p:sp>
      <p:sp>
        <p:nvSpPr>
          <p:cNvPr id="3" name="Subtitle 2"/>
          <p:cNvSpPr>
            <a:spLocks noGrp="1"/>
          </p:cNvSpPr>
          <p:nvPr>
            <p:ph type="subTitle" idx="1"/>
          </p:nvPr>
        </p:nvSpPr>
        <p:spPr>
          <a:xfrm>
            <a:off x="1311564" y="3500438"/>
            <a:ext cx="9144000" cy="1655762"/>
          </a:xfrm>
        </p:spPr>
        <p:txBody>
          <a:bodyPr>
            <a:normAutofit/>
          </a:bodyPr>
          <a:lstStyle/>
          <a:p>
            <a:r>
              <a:rPr lang="en-IN" sz="4400" dirty="0">
                <a:latin typeface="Century Schoolbook" panose="02040604050505020304" pitchFamily="18" charset="0"/>
              </a:rPr>
              <a:t>Jiaul Paik</a:t>
            </a:r>
          </a:p>
          <a:p>
            <a:r>
              <a:rPr lang="en-IN" sz="3200" dirty="0">
                <a:latin typeface="Century Schoolbook" panose="02040604050505020304" pitchFamily="18" charset="0"/>
              </a:rPr>
              <a:t>Lecture 8</a:t>
            </a:r>
          </a:p>
        </p:txBody>
      </p:sp>
    </p:spTree>
    <p:extLst>
      <p:ext uri="{BB962C8B-B14F-4D97-AF65-F5344CB8AC3E}">
        <p14:creationId xmlns:p14="http://schemas.microsoft.com/office/powerpoint/2010/main" val="2733896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0715" y="2273522"/>
            <a:ext cx="9220200" cy="1760415"/>
          </a:xfrm>
        </p:spPr>
        <p:txBody>
          <a:bodyPr/>
          <a:lstStyle/>
          <a:p>
            <a:pPr algn="ctr"/>
            <a:br>
              <a:rPr lang="en-US" sz="4000" dirty="0"/>
            </a:br>
            <a:r>
              <a:rPr lang="en-US" sz="4000" b="1" dirty="0">
                <a:solidFill>
                  <a:srgbClr val="0070C0"/>
                </a:solidFill>
              </a:rPr>
              <a:t>Map-Reduce Algorithm Design</a:t>
            </a:r>
          </a:p>
        </p:txBody>
      </p:sp>
    </p:spTree>
    <p:extLst>
      <p:ext uri="{BB962C8B-B14F-4D97-AF65-F5344CB8AC3E}">
        <p14:creationId xmlns:p14="http://schemas.microsoft.com/office/powerpoint/2010/main" val="234444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302" y="2320030"/>
            <a:ext cx="10745395" cy="2217940"/>
          </a:xfrm>
        </p:spPr>
        <p:txBody>
          <a:bodyPr>
            <a:normAutofit/>
          </a:bodyPr>
          <a:lstStyle/>
          <a:p>
            <a:pPr algn="ctr"/>
            <a:r>
              <a:rPr lang="en-US" b="1" dirty="0">
                <a:solidFill>
                  <a:schemeClr val="accent6">
                    <a:lumMod val="75000"/>
                  </a:schemeClr>
                </a:solidFill>
              </a:rPr>
              <a:t>Joining Tables in Database</a:t>
            </a:r>
            <a:endParaRPr lang="en-US" dirty="0">
              <a:solidFill>
                <a:schemeClr val="accent6">
                  <a:lumMod val="75000"/>
                </a:schemeClr>
              </a:solidFill>
            </a:endParaRPr>
          </a:p>
        </p:txBody>
      </p:sp>
    </p:spTree>
    <p:extLst>
      <p:ext uri="{BB962C8B-B14F-4D97-AF65-F5344CB8AC3E}">
        <p14:creationId xmlns:p14="http://schemas.microsoft.com/office/powerpoint/2010/main" val="3626061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74252" y="258884"/>
            <a:ext cx="9875520" cy="541215"/>
          </a:xfrm>
        </p:spPr>
        <p:txBody>
          <a:bodyPr>
            <a:noAutofit/>
          </a:bodyPr>
          <a:lstStyle/>
          <a:p>
            <a:r>
              <a:rPr lang="en-US" sz="3200" b="1" dirty="0"/>
              <a:t>Database Table Join</a:t>
            </a:r>
          </a:p>
        </p:txBody>
      </p:sp>
      <p:sp>
        <p:nvSpPr>
          <p:cNvPr id="12291" name="Rectangle 3"/>
          <p:cNvSpPr>
            <a:spLocks noGrp="1" noChangeArrowheads="1"/>
          </p:cNvSpPr>
          <p:nvPr>
            <p:ph type="body" idx="1"/>
          </p:nvPr>
        </p:nvSpPr>
        <p:spPr>
          <a:xfrm>
            <a:off x="914400" y="1066800"/>
            <a:ext cx="10796954" cy="1524000"/>
          </a:xfrm>
        </p:spPr>
        <p:txBody>
          <a:bodyPr/>
          <a:lstStyle/>
          <a:p>
            <a:pPr marL="38099" indent="0">
              <a:buNone/>
            </a:pPr>
            <a:r>
              <a:rPr lang="en-US" b="1" dirty="0"/>
              <a:t>Compute the natural join: </a:t>
            </a:r>
            <a:r>
              <a:rPr lang="en-US" dirty="0">
                <a:solidFill>
                  <a:srgbClr val="00B0F0"/>
                </a:solidFill>
              </a:rPr>
              <a:t>T1(A,B) ⋈ T2(B,C)</a:t>
            </a:r>
          </a:p>
          <a:p>
            <a:pPr marL="0" indent="0">
              <a:buNone/>
            </a:pPr>
            <a:r>
              <a:rPr lang="en-US" sz="2400" b="0" dirty="0"/>
              <a:t>(combine rows from T1 and T2 s.t rows have common value in column B)</a:t>
            </a:r>
          </a:p>
        </p:txBody>
      </p:sp>
      <p:graphicFrame>
        <p:nvGraphicFramePr>
          <p:cNvPr id="9" name="Table 8"/>
          <p:cNvGraphicFramePr>
            <a:graphicFrameLocks noGrp="1"/>
          </p:cNvGraphicFramePr>
          <p:nvPr/>
        </p:nvGraphicFramePr>
        <p:xfrm>
          <a:off x="1300480" y="3581400"/>
          <a:ext cx="2357120" cy="1854200"/>
        </p:xfrm>
        <a:graphic>
          <a:graphicData uri="http://schemas.openxmlformats.org/drawingml/2006/table">
            <a:tbl>
              <a:tblPr firstRow="1">
                <a:tableStyleId>{21E4AEA4-8DFA-4A89-87EB-49C32662AFE0}</a:tableStyleId>
              </a:tblPr>
              <a:tblGrid>
                <a:gridCol w="1178560">
                  <a:extLst>
                    <a:ext uri="{9D8B030D-6E8A-4147-A177-3AD203B41FA5}">
                      <a16:colId xmlns:a16="http://schemas.microsoft.com/office/drawing/2014/main" val="20000"/>
                    </a:ext>
                  </a:extLst>
                </a:gridCol>
                <a:gridCol w="1178560">
                  <a:extLst>
                    <a:ext uri="{9D8B030D-6E8A-4147-A177-3AD203B41FA5}">
                      <a16:colId xmlns:a16="http://schemas.microsoft.com/office/drawing/2014/main" val="20001"/>
                    </a:ext>
                  </a:extLst>
                </a:gridCol>
              </a:tblGrid>
              <a:tr h="370840">
                <a:tc>
                  <a:txBody>
                    <a:bodyPr/>
                    <a:lstStyle/>
                    <a:p>
                      <a:pPr algn="ctr"/>
                      <a:r>
                        <a:rPr lang="en-US" sz="1500" dirty="0"/>
                        <a:t>A</a:t>
                      </a:r>
                      <a:endParaRPr lang="en-US" sz="1500" b="1" dirty="0">
                        <a:latin typeface="Arial" pitchFamily="34" charset="0"/>
                        <a:cs typeface="Arial" pitchFamily="34" charset="0"/>
                      </a:endParaRPr>
                    </a:p>
                  </a:txBody>
                  <a:tcPr marL="97536" marR="97536"/>
                </a:tc>
                <a:tc>
                  <a:txBody>
                    <a:bodyPr/>
                    <a:lstStyle/>
                    <a:p>
                      <a:pPr algn="ctr"/>
                      <a:r>
                        <a:rPr lang="en-US" sz="1500" dirty="0"/>
                        <a:t>B</a:t>
                      </a:r>
                      <a:endParaRPr lang="en-US" sz="1500" b="1" dirty="0">
                        <a:latin typeface="Arial" pitchFamily="34" charset="0"/>
                        <a:cs typeface="Arial" pitchFamily="34" charset="0"/>
                      </a:endParaRPr>
                    </a:p>
                  </a:txBody>
                  <a:tcPr marL="97536" marR="97536"/>
                </a:tc>
                <a:extLst>
                  <a:ext uri="{0D108BD9-81ED-4DB2-BD59-A6C34878D82A}">
                    <a16:rowId xmlns:a16="http://schemas.microsoft.com/office/drawing/2014/main" val="10000"/>
                  </a:ext>
                </a:extLst>
              </a:tr>
              <a:tr h="370840">
                <a:tc>
                  <a:txBody>
                    <a:bodyPr/>
                    <a:lstStyle/>
                    <a:p>
                      <a:pPr algn="ctr"/>
                      <a:r>
                        <a:rPr lang="en-US" sz="1500" dirty="0"/>
                        <a:t>a</a:t>
                      </a:r>
                      <a:r>
                        <a:rPr lang="en-US" sz="1500" baseline="-25000" dirty="0"/>
                        <a:t>1</a:t>
                      </a:r>
                      <a:endParaRPr lang="en-US" sz="1500" baseline="-25000" dirty="0">
                        <a:latin typeface="Arial" pitchFamily="34" charset="0"/>
                        <a:cs typeface="Arial" pitchFamily="34" charset="0"/>
                      </a:endParaRPr>
                    </a:p>
                  </a:txBody>
                  <a:tcPr marL="97536" marR="97536"/>
                </a:tc>
                <a:tc>
                  <a:txBody>
                    <a:bodyPr/>
                    <a:lstStyle/>
                    <a:p>
                      <a:pPr algn="ctr"/>
                      <a:r>
                        <a:rPr lang="en-US" sz="1500" dirty="0"/>
                        <a:t>b</a:t>
                      </a:r>
                      <a:r>
                        <a:rPr lang="en-US" sz="1500" baseline="-25000" dirty="0"/>
                        <a:t>1</a:t>
                      </a:r>
                      <a:endParaRPr lang="en-US" sz="1500" baseline="-25000" dirty="0">
                        <a:latin typeface="Arial" pitchFamily="34" charset="0"/>
                        <a:cs typeface="Arial" pitchFamily="34" charset="0"/>
                      </a:endParaRPr>
                    </a:p>
                  </a:txBody>
                  <a:tcPr marL="97536" marR="97536"/>
                </a:tc>
                <a:extLst>
                  <a:ext uri="{0D108BD9-81ED-4DB2-BD59-A6C34878D82A}">
                    <a16:rowId xmlns:a16="http://schemas.microsoft.com/office/drawing/2014/main" val="10001"/>
                  </a:ext>
                </a:extLst>
              </a:tr>
              <a:tr h="370840">
                <a:tc>
                  <a:txBody>
                    <a:bodyPr/>
                    <a:lstStyle/>
                    <a:p>
                      <a:pPr algn="ctr"/>
                      <a:r>
                        <a:rPr lang="en-US" sz="1500" dirty="0"/>
                        <a:t>a</a:t>
                      </a:r>
                      <a:r>
                        <a:rPr lang="en-US" sz="1500" baseline="-25000" dirty="0"/>
                        <a:t>2</a:t>
                      </a:r>
                      <a:endParaRPr lang="en-US" sz="1500" baseline="-25000" dirty="0">
                        <a:latin typeface="Arial" pitchFamily="34" charset="0"/>
                        <a:cs typeface="Arial" pitchFamily="34" charset="0"/>
                      </a:endParaRPr>
                    </a:p>
                  </a:txBody>
                  <a:tcPr marL="97536" marR="97536"/>
                </a:tc>
                <a:tc>
                  <a:txBody>
                    <a:bodyPr/>
                    <a:lstStyle/>
                    <a:p>
                      <a:pPr algn="ctr"/>
                      <a:r>
                        <a:rPr lang="en-US" sz="1500" dirty="0"/>
                        <a:t>b</a:t>
                      </a:r>
                      <a:r>
                        <a:rPr lang="en-US" sz="1500" baseline="-25000" dirty="0"/>
                        <a:t>1</a:t>
                      </a:r>
                      <a:endParaRPr lang="en-US" sz="1500" baseline="-25000" dirty="0">
                        <a:latin typeface="Arial" pitchFamily="34" charset="0"/>
                        <a:cs typeface="Arial" pitchFamily="34" charset="0"/>
                      </a:endParaRPr>
                    </a:p>
                  </a:txBody>
                  <a:tcPr marL="97536" marR="97536"/>
                </a:tc>
                <a:extLst>
                  <a:ext uri="{0D108BD9-81ED-4DB2-BD59-A6C34878D82A}">
                    <a16:rowId xmlns:a16="http://schemas.microsoft.com/office/drawing/2014/main" val="10002"/>
                  </a:ext>
                </a:extLst>
              </a:tr>
              <a:tr h="370840">
                <a:tc>
                  <a:txBody>
                    <a:bodyPr/>
                    <a:lstStyle/>
                    <a:p>
                      <a:pPr algn="ctr"/>
                      <a:r>
                        <a:rPr lang="en-US" sz="1500" dirty="0"/>
                        <a:t>a</a:t>
                      </a:r>
                      <a:r>
                        <a:rPr lang="en-US" sz="1500" baseline="-25000" dirty="0"/>
                        <a:t>3</a:t>
                      </a:r>
                      <a:endParaRPr lang="en-US" sz="1500" baseline="-25000" dirty="0">
                        <a:latin typeface="Arial" pitchFamily="34" charset="0"/>
                        <a:cs typeface="Arial" pitchFamily="34" charset="0"/>
                      </a:endParaRPr>
                    </a:p>
                  </a:txBody>
                  <a:tcPr marL="97536" marR="97536"/>
                </a:tc>
                <a:tc>
                  <a:txBody>
                    <a:bodyPr/>
                    <a:lstStyle/>
                    <a:p>
                      <a:pPr algn="ctr"/>
                      <a:r>
                        <a:rPr lang="en-US" sz="1500" dirty="0"/>
                        <a:t>b</a:t>
                      </a:r>
                      <a:r>
                        <a:rPr lang="en-US" sz="1500" baseline="-25000" dirty="0"/>
                        <a:t>2</a:t>
                      </a:r>
                      <a:endParaRPr lang="en-US" sz="1500" baseline="-25000" dirty="0">
                        <a:latin typeface="Arial" pitchFamily="34" charset="0"/>
                        <a:cs typeface="Arial" pitchFamily="34" charset="0"/>
                      </a:endParaRPr>
                    </a:p>
                  </a:txBody>
                  <a:tcPr marL="97536" marR="97536"/>
                </a:tc>
                <a:extLst>
                  <a:ext uri="{0D108BD9-81ED-4DB2-BD59-A6C34878D82A}">
                    <a16:rowId xmlns:a16="http://schemas.microsoft.com/office/drawing/2014/main" val="10003"/>
                  </a:ext>
                </a:extLst>
              </a:tr>
              <a:tr h="370840">
                <a:tc>
                  <a:txBody>
                    <a:bodyPr/>
                    <a:lstStyle/>
                    <a:p>
                      <a:pPr algn="ctr"/>
                      <a:r>
                        <a:rPr lang="en-US" sz="1500" dirty="0"/>
                        <a:t>a</a:t>
                      </a:r>
                      <a:r>
                        <a:rPr lang="en-US" sz="1500" baseline="-25000" dirty="0"/>
                        <a:t>4</a:t>
                      </a:r>
                      <a:endParaRPr lang="en-US" sz="1500" baseline="-25000" dirty="0">
                        <a:latin typeface="Arial" pitchFamily="34" charset="0"/>
                        <a:cs typeface="Arial" pitchFamily="34" charset="0"/>
                      </a:endParaRPr>
                    </a:p>
                  </a:txBody>
                  <a:tcPr marL="97536" marR="97536"/>
                </a:tc>
                <a:tc>
                  <a:txBody>
                    <a:bodyPr/>
                    <a:lstStyle/>
                    <a:p>
                      <a:pPr algn="ctr"/>
                      <a:r>
                        <a:rPr lang="en-US" sz="1500" dirty="0"/>
                        <a:t>b</a:t>
                      </a:r>
                      <a:r>
                        <a:rPr lang="en-US" sz="1500" baseline="-25000" dirty="0"/>
                        <a:t>3</a:t>
                      </a:r>
                      <a:endParaRPr lang="en-US" sz="1500" baseline="-25000" dirty="0">
                        <a:latin typeface="Arial" pitchFamily="34" charset="0"/>
                        <a:cs typeface="Arial" pitchFamily="34" charset="0"/>
                      </a:endParaRPr>
                    </a:p>
                  </a:txBody>
                  <a:tcPr marL="97536" marR="97536"/>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nvGraphicFramePr>
        <p:xfrm>
          <a:off x="4395285" y="3919264"/>
          <a:ext cx="2357120" cy="1483360"/>
        </p:xfrm>
        <a:graphic>
          <a:graphicData uri="http://schemas.openxmlformats.org/drawingml/2006/table">
            <a:tbl>
              <a:tblPr firstRow="1">
                <a:tableStyleId>{21E4AEA4-8DFA-4A89-87EB-49C32662AFE0}</a:tableStyleId>
              </a:tblPr>
              <a:tblGrid>
                <a:gridCol w="1178560">
                  <a:extLst>
                    <a:ext uri="{9D8B030D-6E8A-4147-A177-3AD203B41FA5}">
                      <a16:colId xmlns:a16="http://schemas.microsoft.com/office/drawing/2014/main" val="20000"/>
                    </a:ext>
                  </a:extLst>
                </a:gridCol>
                <a:gridCol w="1178560">
                  <a:extLst>
                    <a:ext uri="{9D8B030D-6E8A-4147-A177-3AD203B41FA5}">
                      <a16:colId xmlns:a16="http://schemas.microsoft.com/office/drawing/2014/main" val="20001"/>
                    </a:ext>
                  </a:extLst>
                </a:gridCol>
              </a:tblGrid>
              <a:tr h="370840">
                <a:tc>
                  <a:txBody>
                    <a:bodyPr/>
                    <a:lstStyle/>
                    <a:p>
                      <a:pPr algn="ctr"/>
                      <a:r>
                        <a:rPr lang="en-US" sz="1500" dirty="0"/>
                        <a:t>B</a:t>
                      </a:r>
                      <a:endParaRPr lang="en-US" sz="1500" b="1" dirty="0">
                        <a:latin typeface="Arial" pitchFamily="34" charset="0"/>
                        <a:cs typeface="Arial" pitchFamily="34" charset="0"/>
                      </a:endParaRPr>
                    </a:p>
                  </a:txBody>
                  <a:tcPr marL="97536" marR="97536"/>
                </a:tc>
                <a:tc>
                  <a:txBody>
                    <a:bodyPr/>
                    <a:lstStyle/>
                    <a:p>
                      <a:pPr algn="ctr"/>
                      <a:r>
                        <a:rPr lang="en-US" sz="1500" dirty="0"/>
                        <a:t>C</a:t>
                      </a:r>
                      <a:endParaRPr lang="en-US" sz="1500" b="1" dirty="0">
                        <a:latin typeface="Arial" pitchFamily="34" charset="0"/>
                        <a:cs typeface="Arial" pitchFamily="34" charset="0"/>
                      </a:endParaRPr>
                    </a:p>
                  </a:txBody>
                  <a:tcPr marL="97536" marR="97536"/>
                </a:tc>
                <a:extLst>
                  <a:ext uri="{0D108BD9-81ED-4DB2-BD59-A6C34878D82A}">
                    <a16:rowId xmlns:a16="http://schemas.microsoft.com/office/drawing/2014/main" val="10000"/>
                  </a:ext>
                </a:extLst>
              </a:tr>
              <a:tr h="370840">
                <a:tc>
                  <a:txBody>
                    <a:bodyPr/>
                    <a:lstStyle/>
                    <a:p>
                      <a:pPr algn="ctr"/>
                      <a:r>
                        <a:rPr lang="en-US" sz="1500" dirty="0"/>
                        <a:t>b</a:t>
                      </a:r>
                      <a:r>
                        <a:rPr lang="en-US" sz="1500" baseline="-25000" dirty="0"/>
                        <a:t>2</a:t>
                      </a:r>
                      <a:endParaRPr lang="en-US" sz="1500" baseline="-25000" dirty="0">
                        <a:latin typeface="Arial" pitchFamily="34" charset="0"/>
                        <a:cs typeface="Arial" pitchFamily="34" charset="0"/>
                      </a:endParaRPr>
                    </a:p>
                  </a:txBody>
                  <a:tcPr marL="97536" marR="97536"/>
                </a:tc>
                <a:tc>
                  <a:txBody>
                    <a:bodyPr/>
                    <a:lstStyle/>
                    <a:p>
                      <a:pPr algn="ctr"/>
                      <a:r>
                        <a:rPr lang="en-US" sz="1500" dirty="0"/>
                        <a:t>c</a:t>
                      </a:r>
                      <a:r>
                        <a:rPr lang="en-US" sz="1500" baseline="-25000" dirty="0"/>
                        <a:t>1</a:t>
                      </a:r>
                      <a:endParaRPr lang="en-US" sz="1500" baseline="-25000" dirty="0">
                        <a:latin typeface="Arial" pitchFamily="34" charset="0"/>
                        <a:cs typeface="Arial" pitchFamily="34" charset="0"/>
                      </a:endParaRPr>
                    </a:p>
                  </a:txBody>
                  <a:tcPr marL="97536" marR="97536"/>
                </a:tc>
                <a:extLst>
                  <a:ext uri="{0D108BD9-81ED-4DB2-BD59-A6C34878D82A}">
                    <a16:rowId xmlns:a16="http://schemas.microsoft.com/office/drawing/2014/main" val="10001"/>
                  </a:ext>
                </a:extLst>
              </a:tr>
              <a:tr h="370840">
                <a:tc>
                  <a:txBody>
                    <a:bodyPr/>
                    <a:lstStyle/>
                    <a:p>
                      <a:pPr algn="ctr"/>
                      <a:r>
                        <a:rPr lang="en-US" sz="1500" dirty="0"/>
                        <a:t>b</a:t>
                      </a:r>
                      <a:r>
                        <a:rPr lang="en-US" sz="1500" baseline="-25000" dirty="0"/>
                        <a:t>2</a:t>
                      </a:r>
                      <a:endParaRPr lang="en-US" sz="1500" baseline="-25000" dirty="0">
                        <a:latin typeface="Arial" pitchFamily="34" charset="0"/>
                        <a:cs typeface="Arial" pitchFamily="34" charset="0"/>
                      </a:endParaRPr>
                    </a:p>
                  </a:txBody>
                  <a:tcPr marL="97536" marR="97536"/>
                </a:tc>
                <a:tc>
                  <a:txBody>
                    <a:bodyPr/>
                    <a:lstStyle/>
                    <a:p>
                      <a:pPr algn="ctr"/>
                      <a:r>
                        <a:rPr lang="en-US" sz="1500" dirty="0"/>
                        <a:t>c</a:t>
                      </a:r>
                      <a:r>
                        <a:rPr lang="en-US" sz="1500" baseline="-25000" dirty="0"/>
                        <a:t>2</a:t>
                      </a:r>
                      <a:endParaRPr lang="en-US" sz="1500" baseline="-25000" dirty="0">
                        <a:latin typeface="Arial" pitchFamily="34" charset="0"/>
                        <a:cs typeface="Arial" pitchFamily="34" charset="0"/>
                      </a:endParaRPr>
                    </a:p>
                  </a:txBody>
                  <a:tcPr marL="97536" marR="97536"/>
                </a:tc>
                <a:extLst>
                  <a:ext uri="{0D108BD9-81ED-4DB2-BD59-A6C34878D82A}">
                    <a16:rowId xmlns:a16="http://schemas.microsoft.com/office/drawing/2014/main" val="10002"/>
                  </a:ext>
                </a:extLst>
              </a:tr>
              <a:tr h="370840">
                <a:tc>
                  <a:txBody>
                    <a:bodyPr/>
                    <a:lstStyle/>
                    <a:p>
                      <a:pPr algn="ctr"/>
                      <a:r>
                        <a:rPr lang="en-US" sz="1500" dirty="0"/>
                        <a:t>b</a:t>
                      </a:r>
                      <a:r>
                        <a:rPr lang="en-US" sz="1500" baseline="-25000" dirty="0"/>
                        <a:t>3</a:t>
                      </a:r>
                      <a:endParaRPr lang="en-US" sz="1500" baseline="-25000" dirty="0">
                        <a:latin typeface="Arial" pitchFamily="34" charset="0"/>
                        <a:cs typeface="Arial" pitchFamily="34" charset="0"/>
                      </a:endParaRPr>
                    </a:p>
                  </a:txBody>
                  <a:tcPr marL="97536" marR="97536"/>
                </a:tc>
                <a:tc>
                  <a:txBody>
                    <a:bodyPr/>
                    <a:lstStyle/>
                    <a:p>
                      <a:pPr algn="ctr"/>
                      <a:r>
                        <a:rPr lang="en-US" sz="1500" dirty="0"/>
                        <a:t>c</a:t>
                      </a:r>
                      <a:r>
                        <a:rPr lang="en-US" sz="1500" baseline="-25000" dirty="0"/>
                        <a:t>3</a:t>
                      </a:r>
                      <a:endParaRPr lang="en-US" sz="1500" baseline="-25000" dirty="0">
                        <a:latin typeface="Arial" pitchFamily="34" charset="0"/>
                        <a:cs typeface="Arial" pitchFamily="34" charset="0"/>
                      </a:endParaRPr>
                    </a:p>
                  </a:txBody>
                  <a:tcPr marL="97536" marR="97536"/>
                </a:tc>
                <a:extLst>
                  <a:ext uri="{0D108BD9-81ED-4DB2-BD59-A6C34878D82A}">
                    <a16:rowId xmlns:a16="http://schemas.microsoft.com/office/drawing/2014/main" val="10003"/>
                  </a:ext>
                </a:extLst>
              </a:tr>
            </a:tbl>
          </a:graphicData>
        </a:graphic>
      </p:graphicFrame>
      <p:sp>
        <p:nvSpPr>
          <p:cNvPr id="10" name="Rectangle 9"/>
          <p:cNvSpPr/>
          <p:nvPr/>
        </p:nvSpPr>
        <p:spPr>
          <a:xfrm>
            <a:off x="3801169" y="4495804"/>
            <a:ext cx="439544"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a:ea typeface="+mn-ea"/>
                <a:cs typeface="+mn-cs"/>
              </a:rPr>
              <a:t>⋈</a:t>
            </a:r>
          </a:p>
        </p:txBody>
      </p:sp>
      <p:graphicFrame>
        <p:nvGraphicFramePr>
          <p:cNvPr id="14" name="Table 13"/>
          <p:cNvGraphicFramePr>
            <a:graphicFrameLocks noGrp="1"/>
          </p:cNvGraphicFramePr>
          <p:nvPr/>
        </p:nvGraphicFramePr>
        <p:xfrm>
          <a:off x="7802881" y="3851187"/>
          <a:ext cx="2357121" cy="1483360"/>
        </p:xfrm>
        <a:graphic>
          <a:graphicData uri="http://schemas.openxmlformats.org/drawingml/2006/table">
            <a:tbl>
              <a:tblPr firstRow="1">
                <a:tableStyleId>{F5AB1C69-6EDB-4FF4-983F-18BD219EF322}</a:tableStyleId>
              </a:tblPr>
              <a:tblGrid>
                <a:gridCol w="785707">
                  <a:extLst>
                    <a:ext uri="{9D8B030D-6E8A-4147-A177-3AD203B41FA5}">
                      <a16:colId xmlns:a16="http://schemas.microsoft.com/office/drawing/2014/main" val="20000"/>
                    </a:ext>
                  </a:extLst>
                </a:gridCol>
                <a:gridCol w="785707">
                  <a:extLst>
                    <a:ext uri="{9D8B030D-6E8A-4147-A177-3AD203B41FA5}">
                      <a16:colId xmlns:a16="http://schemas.microsoft.com/office/drawing/2014/main" val="20001"/>
                    </a:ext>
                  </a:extLst>
                </a:gridCol>
                <a:gridCol w="785707">
                  <a:extLst>
                    <a:ext uri="{9D8B030D-6E8A-4147-A177-3AD203B41FA5}">
                      <a16:colId xmlns:a16="http://schemas.microsoft.com/office/drawing/2014/main" val="20002"/>
                    </a:ext>
                  </a:extLst>
                </a:gridCol>
              </a:tblGrid>
              <a:tr h="370840">
                <a:tc>
                  <a:txBody>
                    <a:bodyPr/>
                    <a:lstStyle/>
                    <a:p>
                      <a:pPr algn="ctr"/>
                      <a:r>
                        <a:rPr lang="en-US" sz="1500" dirty="0"/>
                        <a:t>A</a:t>
                      </a:r>
                      <a:endParaRPr lang="en-US" sz="1500" b="1" dirty="0">
                        <a:latin typeface="Arial" pitchFamily="34" charset="0"/>
                        <a:cs typeface="Arial" pitchFamily="34" charset="0"/>
                      </a:endParaRPr>
                    </a:p>
                  </a:txBody>
                  <a:tcPr marL="97536" marR="97536"/>
                </a:tc>
                <a:tc>
                  <a:txBody>
                    <a:bodyPr/>
                    <a:lstStyle/>
                    <a:p>
                      <a:pPr algn="ctr"/>
                      <a:r>
                        <a:rPr lang="en-US" sz="1500" dirty="0"/>
                        <a:t>B</a:t>
                      </a:r>
                      <a:endParaRPr lang="en-US" sz="1500" b="1" dirty="0">
                        <a:latin typeface="Arial" pitchFamily="34" charset="0"/>
                        <a:cs typeface="Arial" pitchFamily="34" charset="0"/>
                      </a:endParaRPr>
                    </a:p>
                  </a:txBody>
                  <a:tcPr marL="97536" marR="97536"/>
                </a:tc>
                <a:tc>
                  <a:txBody>
                    <a:bodyPr/>
                    <a:lstStyle/>
                    <a:p>
                      <a:pPr algn="ctr"/>
                      <a:r>
                        <a:rPr lang="en-US" sz="1500" dirty="0"/>
                        <a:t>C</a:t>
                      </a:r>
                      <a:endParaRPr lang="en-US" sz="1500" b="1" dirty="0">
                        <a:latin typeface="Arial" pitchFamily="34" charset="0"/>
                        <a:cs typeface="Arial" pitchFamily="34" charset="0"/>
                      </a:endParaRPr>
                    </a:p>
                  </a:txBody>
                  <a:tcPr marL="97536" marR="97536"/>
                </a:tc>
                <a:extLst>
                  <a:ext uri="{0D108BD9-81ED-4DB2-BD59-A6C34878D82A}">
                    <a16:rowId xmlns:a16="http://schemas.microsoft.com/office/drawing/2014/main" val="10000"/>
                  </a:ext>
                </a:extLst>
              </a:tr>
              <a:tr h="370840">
                <a:tc>
                  <a:txBody>
                    <a:bodyPr/>
                    <a:lstStyle/>
                    <a:p>
                      <a:pPr algn="ctr"/>
                      <a:r>
                        <a:rPr lang="en-US" sz="1500" dirty="0"/>
                        <a:t>a</a:t>
                      </a:r>
                      <a:r>
                        <a:rPr lang="en-US" sz="1500" baseline="-25000" dirty="0"/>
                        <a:t>3</a:t>
                      </a:r>
                      <a:endParaRPr lang="en-US" sz="1500" baseline="-25000" dirty="0">
                        <a:latin typeface="Arial" pitchFamily="34" charset="0"/>
                        <a:cs typeface="Arial" pitchFamily="34" charset="0"/>
                      </a:endParaRPr>
                    </a:p>
                  </a:txBody>
                  <a:tcPr marL="97536" marR="97536"/>
                </a:tc>
                <a:tc>
                  <a:txBody>
                    <a:bodyPr/>
                    <a:lstStyle/>
                    <a:p>
                      <a:pPr marL="0" marR="0" indent="0" algn="ctr" defTabSz="732173" rtl="0" eaLnBrk="1" fontAlgn="auto" latinLnBrk="0" hangingPunct="1">
                        <a:lnSpc>
                          <a:spcPct val="100000"/>
                        </a:lnSpc>
                        <a:spcBef>
                          <a:spcPts val="0"/>
                        </a:spcBef>
                        <a:spcAft>
                          <a:spcPts val="0"/>
                        </a:spcAft>
                        <a:buClrTx/>
                        <a:buSzTx/>
                        <a:buFontTx/>
                        <a:buNone/>
                        <a:tabLst/>
                        <a:defRPr/>
                      </a:pPr>
                      <a:r>
                        <a:rPr lang="en-US" sz="1500" dirty="0"/>
                        <a:t>b</a:t>
                      </a:r>
                      <a:r>
                        <a:rPr lang="en-US" sz="1500" baseline="-25000" dirty="0"/>
                        <a:t>2</a:t>
                      </a:r>
                      <a:endParaRPr lang="en-US" sz="1500" baseline="-25000" dirty="0">
                        <a:latin typeface="Arial" pitchFamily="34" charset="0"/>
                        <a:cs typeface="Arial" pitchFamily="34" charset="0"/>
                      </a:endParaRPr>
                    </a:p>
                  </a:txBody>
                  <a:tcPr marL="97536" marR="97536"/>
                </a:tc>
                <a:tc>
                  <a:txBody>
                    <a:bodyPr/>
                    <a:lstStyle/>
                    <a:p>
                      <a:pPr algn="ctr"/>
                      <a:r>
                        <a:rPr lang="en-US" sz="1500" dirty="0"/>
                        <a:t>c</a:t>
                      </a:r>
                      <a:r>
                        <a:rPr lang="en-US" sz="1500" baseline="-25000" dirty="0"/>
                        <a:t>1</a:t>
                      </a:r>
                      <a:endParaRPr lang="en-US" sz="1500" baseline="-25000" dirty="0">
                        <a:latin typeface="Arial" pitchFamily="34" charset="0"/>
                        <a:cs typeface="Arial" pitchFamily="34" charset="0"/>
                      </a:endParaRPr>
                    </a:p>
                  </a:txBody>
                  <a:tcPr marL="97536" marR="97536"/>
                </a:tc>
                <a:extLst>
                  <a:ext uri="{0D108BD9-81ED-4DB2-BD59-A6C34878D82A}">
                    <a16:rowId xmlns:a16="http://schemas.microsoft.com/office/drawing/2014/main" val="10001"/>
                  </a:ext>
                </a:extLst>
              </a:tr>
              <a:tr h="370840">
                <a:tc>
                  <a:txBody>
                    <a:bodyPr/>
                    <a:lstStyle/>
                    <a:p>
                      <a:pPr algn="ctr"/>
                      <a:r>
                        <a:rPr lang="en-US" sz="1500" dirty="0"/>
                        <a:t>a</a:t>
                      </a:r>
                      <a:r>
                        <a:rPr lang="en-US" sz="1500" baseline="-25000" dirty="0"/>
                        <a:t>3</a:t>
                      </a:r>
                      <a:endParaRPr lang="en-US" sz="1500" baseline="-25000" dirty="0">
                        <a:latin typeface="Arial" pitchFamily="34" charset="0"/>
                        <a:cs typeface="Arial" pitchFamily="34" charset="0"/>
                      </a:endParaRPr>
                    </a:p>
                  </a:txBody>
                  <a:tcPr marL="97536" marR="97536"/>
                </a:tc>
                <a:tc>
                  <a:txBody>
                    <a:bodyPr/>
                    <a:lstStyle/>
                    <a:p>
                      <a:pPr marL="0" marR="0" indent="0" algn="ctr" defTabSz="732173" rtl="0" eaLnBrk="1" fontAlgn="auto" latinLnBrk="0" hangingPunct="1">
                        <a:lnSpc>
                          <a:spcPct val="100000"/>
                        </a:lnSpc>
                        <a:spcBef>
                          <a:spcPts val="0"/>
                        </a:spcBef>
                        <a:spcAft>
                          <a:spcPts val="0"/>
                        </a:spcAft>
                        <a:buClrTx/>
                        <a:buSzTx/>
                        <a:buFontTx/>
                        <a:buNone/>
                        <a:tabLst/>
                        <a:defRPr/>
                      </a:pPr>
                      <a:r>
                        <a:rPr lang="en-US" sz="1500" dirty="0"/>
                        <a:t>b</a:t>
                      </a:r>
                      <a:r>
                        <a:rPr lang="en-US" sz="1500" baseline="-25000" dirty="0"/>
                        <a:t>2</a:t>
                      </a:r>
                      <a:endParaRPr lang="en-US" sz="1500" baseline="-25000" dirty="0">
                        <a:latin typeface="Arial" pitchFamily="34" charset="0"/>
                        <a:cs typeface="Arial" pitchFamily="34" charset="0"/>
                      </a:endParaRPr>
                    </a:p>
                  </a:txBody>
                  <a:tcPr marL="97536" marR="97536"/>
                </a:tc>
                <a:tc>
                  <a:txBody>
                    <a:bodyPr/>
                    <a:lstStyle/>
                    <a:p>
                      <a:pPr algn="ctr"/>
                      <a:r>
                        <a:rPr lang="en-US" sz="1500" dirty="0"/>
                        <a:t>c</a:t>
                      </a:r>
                      <a:r>
                        <a:rPr lang="en-US" sz="1500" baseline="-25000" dirty="0"/>
                        <a:t>2</a:t>
                      </a:r>
                      <a:endParaRPr lang="en-US" sz="1500" baseline="-25000" dirty="0">
                        <a:latin typeface="Arial" pitchFamily="34" charset="0"/>
                        <a:cs typeface="Arial" pitchFamily="34" charset="0"/>
                      </a:endParaRPr>
                    </a:p>
                  </a:txBody>
                  <a:tcPr marL="97536" marR="97536"/>
                </a:tc>
                <a:extLst>
                  <a:ext uri="{0D108BD9-81ED-4DB2-BD59-A6C34878D82A}">
                    <a16:rowId xmlns:a16="http://schemas.microsoft.com/office/drawing/2014/main" val="10002"/>
                  </a:ext>
                </a:extLst>
              </a:tr>
              <a:tr h="370840">
                <a:tc>
                  <a:txBody>
                    <a:bodyPr/>
                    <a:lstStyle/>
                    <a:p>
                      <a:pPr algn="ctr"/>
                      <a:r>
                        <a:rPr lang="en-US" sz="1500" dirty="0"/>
                        <a:t>a</a:t>
                      </a:r>
                      <a:r>
                        <a:rPr lang="en-US" sz="1500" baseline="-25000" dirty="0"/>
                        <a:t>4</a:t>
                      </a:r>
                      <a:endParaRPr lang="en-US" sz="1500" baseline="-25000" dirty="0">
                        <a:latin typeface="Arial" pitchFamily="34" charset="0"/>
                        <a:cs typeface="Arial" pitchFamily="34" charset="0"/>
                      </a:endParaRPr>
                    </a:p>
                  </a:txBody>
                  <a:tcPr marL="97536" marR="97536"/>
                </a:tc>
                <a:tc>
                  <a:txBody>
                    <a:bodyPr/>
                    <a:lstStyle/>
                    <a:p>
                      <a:pPr marL="0" marR="0" indent="0" algn="ctr" defTabSz="732173" rtl="0" eaLnBrk="1" fontAlgn="auto" latinLnBrk="0" hangingPunct="1">
                        <a:lnSpc>
                          <a:spcPct val="100000"/>
                        </a:lnSpc>
                        <a:spcBef>
                          <a:spcPts val="0"/>
                        </a:spcBef>
                        <a:spcAft>
                          <a:spcPts val="0"/>
                        </a:spcAft>
                        <a:buClrTx/>
                        <a:buSzTx/>
                        <a:buFontTx/>
                        <a:buNone/>
                        <a:tabLst/>
                        <a:defRPr/>
                      </a:pPr>
                      <a:r>
                        <a:rPr lang="en-US" sz="1500" dirty="0"/>
                        <a:t>b</a:t>
                      </a:r>
                      <a:r>
                        <a:rPr lang="en-US" sz="1500" baseline="-25000" dirty="0"/>
                        <a:t>3</a:t>
                      </a:r>
                      <a:endParaRPr lang="en-US" sz="1500" baseline="-25000" dirty="0">
                        <a:latin typeface="Arial" pitchFamily="34" charset="0"/>
                        <a:cs typeface="Arial" pitchFamily="34" charset="0"/>
                      </a:endParaRPr>
                    </a:p>
                  </a:txBody>
                  <a:tcPr marL="97536" marR="97536"/>
                </a:tc>
                <a:tc>
                  <a:txBody>
                    <a:bodyPr/>
                    <a:lstStyle/>
                    <a:p>
                      <a:pPr algn="ctr"/>
                      <a:r>
                        <a:rPr lang="en-US" sz="1500" dirty="0"/>
                        <a:t>c</a:t>
                      </a:r>
                      <a:r>
                        <a:rPr lang="en-US" sz="1500" baseline="-25000" dirty="0"/>
                        <a:t>3</a:t>
                      </a:r>
                      <a:endParaRPr lang="en-US" sz="1500" baseline="-25000" dirty="0">
                        <a:latin typeface="Arial" pitchFamily="34" charset="0"/>
                        <a:cs typeface="Arial" pitchFamily="34" charset="0"/>
                      </a:endParaRPr>
                    </a:p>
                  </a:txBody>
                  <a:tcPr marL="97536" marR="97536"/>
                </a:tc>
                <a:extLst>
                  <a:ext uri="{0D108BD9-81ED-4DB2-BD59-A6C34878D82A}">
                    <a16:rowId xmlns:a16="http://schemas.microsoft.com/office/drawing/2014/main" val="10003"/>
                  </a:ext>
                </a:extLst>
              </a:tr>
            </a:tbl>
          </a:graphicData>
        </a:graphic>
      </p:graphicFrame>
      <p:sp>
        <p:nvSpPr>
          <p:cNvPr id="15" name="Rectangle 14"/>
          <p:cNvSpPr/>
          <p:nvPr/>
        </p:nvSpPr>
        <p:spPr>
          <a:xfrm>
            <a:off x="7091171" y="4495802"/>
            <a:ext cx="364202"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a:ea typeface="+mn-ea"/>
                <a:cs typeface="+mn-cs"/>
              </a:rPr>
              <a:t>=</a:t>
            </a:r>
          </a:p>
        </p:txBody>
      </p:sp>
      <p:sp>
        <p:nvSpPr>
          <p:cNvPr id="2" name="TextBox 1"/>
          <p:cNvSpPr txBox="1"/>
          <p:nvPr/>
        </p:nvSpPr>
        <p:spPr>
          <a:xfrm>
            <a:off x="2111381" y="3124201"/>
            <a:ext cx="39305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mn-ea"/>
                <a:cs typeface="Arial" pitchFamily="34" charset="0"/>
              </a:rPr>
              <a:t>T1</a:t>
            </a:r>
          </a:p>
        </p:txBody>
      </p:sp>
      <p:sp>
        <p:nvSpPr>
          <p:cNvPr id="16" name="TextBox 15"/>
          <p:cNvSpPr txBox="1"/>
          <p:nvPr/>
        </p:nvSpPr>
        <p:spPr>
          <a:xfrm>
            <a:off x="5315484" y="3493533"/>
            <a:ext cx="39305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mn-ea"/>
                <a:cs typeface="Arial" pitchFamily="34" charset="0"/>
              </a:rPr>
              <a:t>T2</a:t>
            </a:r>
          </a:p>
        </p:txBody>
      </p:sp>
      <p:sp>
        <p:nvSpPr>
          <p:cNvPr id="3" name="TextBox 2"/>
          <p:cNvSpPr txBox="1"/>
          <p:nvPr/>
        </p:nvSpPr>
        <p:spPr>
          <a:xfrm>
            <a:off x="3741309" y="4431691"/>
            <a:ext cx="468398" cy="50276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srgbClr val="00B0F0"/>
                </a:solidFill>
                <a:effectLst/>
                <a:uLnTx/>
                <a:uFillTx/>
                <a:latin typeface="Century Schoolbook" panose="02040604050505020304"/>
                <a:ea typeface="+mn-ea"/>
                <a:cs typeface="+mn-cs"/>
              </a:rPr>
              <a:t>⋈</a:t>
            </a:r>
            <a:endParaRPr kumimoji="0" lang="en-IN" sz="2667" b="0" i="0" u="none" strike="noStrike" kern="1200" cap="none" spc="0" normalizeH="0" baseline="0" noProof="0" dirty="0">
              <a:ln>
                <a:noFill/>
              </a:ln>
              <a:solidFill>
                <a:prstClr val="black"/>
              </a:solidFill>
              <a:effectLst/>
              <a:uLnTx/>
              <a:uFillTx/>
              <a:latin typeface="Century Schoolbook" panose="02040604050505020304"/>
              <a:ea typeface="+mn-ea"/>
              <a:cs typeface="+mn-cs"/>
            </a:endParaRPr>
          </a:p>
        </p:txBody>
      </p:sp>
      <p:sp>
        <p:nvSpPr>
          <p:cNvPr id="5" name="TextBox 4"/>
          <p:cNvSpPr txBox="1"/>
          <p:nvPr/>
        </p:nvSpPr>
        <p:spPr>
          <a:xfrm>
            <a:off x="7091171" y="4389107"/>
            <a:ext cx="43313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prstClr val="black"/>
                </a:solidFill>
                <a:effectLst/>
                <a:uLnTx/>
                <a:uFillTx/>
                <a:latin typeface="Century Schoolbook" panose="02040604050505020304"/>
                <a:ea typeface="+mn-ea"/>
                <a:cs typeface="+mn-cs"/>
              </a:rPr>
              <a:t>=</a:t>
            </a:r>
          </a:p>
        </p:txBody>
      </p:sp>
    </p:spTree>
    <p:extLst>
      <p:ext uri="{BB962C8B-B14F-4D97-AF65-F5344CB8AC3E}">
        <p14:creationId xmlns:p14="http://schemas.microsoft.com/office/powerpoint/2010/main" val="1262369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23392" y="104557"/>
            <a:ext cx="10515600" cy="732155"/>
          </a:xfrm>
        </p:spPr>
        <p:txBody>
          <a:bodyPr/>
          <a:lstStyle/>
          <a:p>
            <a:r>
              <a:rPr lang="en-US" sz="3200" dirty="0"/>
              <a:t>Map-Reduce Join</a:t>
            </a:r>
          </a:p>
        </p:txBody>
      </p:sp>
      <p:sp>
        <p:nvSpPr>
          <p:cNvPr id="21507" name="Rectangle 3"/>
          <p:cNvSpPr>
            <a:spLocks noGrp="1" noChangeArrowheads="1"/>
          </p:cNvSpPr>
          <p:nvPr>
            <p:ph type="body" idx="1"/>
          </p:nvPr>
        </p:nvSpPr>
        <p:spPr>
          <a:xfrm>
            <a:off x="1198880" y="1295402"/>
            <a:ext cx="10288768" cy="5257801"/>
          </a:xfrm>
        </p:spPr>
        <p:txBody>
          <a:bodyPr/>
          <a:lstStyle/>
          <a:p>
            <a:r>
              <a:rPr lang="en-US" b="1" dirty="0"/>
              <a:t>Map process</a:t>
            </a:r>
          </a:p>
          <a:p>
            <a:endParaRPr lang="en-US" b="1" dirty="0"/>
          </a:p>
          <a:p>
            <a:pPr lvl="1"/>
            <a:r>
              <a:rPr lang="en-US" b="0" dirty="0"/>
              <a:t>Each row (</a:t>
            </a:r>
            <a:r>
              <a:rPr lang="en-US" b="0" dirty="0" err="1"/>
              <a:t>a,b</a:t>
            </a:r>
            <a:r>
              <a:rPr lang="en-US" b="0" dirty="0"/>
              <a:t>) from T1 into key-value pair </a:t>
            </a:r>
            <a:r>
              <a:rPr lang="en-US" b="0" dirty="0">
                <a:solidFill>
                  <a:srgbClr val="C00000"/>
                </a:solidFill>
              </a:rPr>
              <a:t>(b,(a,T1))</a:t>
            </a:r>
          </a:p>
          <a:p>
            <a:pPr lvl="1"/>
            <a:r>
              <a:rPr lang="en-US" b="0" dirty="0"/>
              <a:t>Each row (</a:t>
            </a:r>
            <a:r>
              <a:rPr lang="en-US" b="0" dirty="0" err="1"/>
              <a:t>b,c</a:t>
            </a:r>
            <a:r>
              <a:rPr lang="en-US" b="0" dirty="0"/>
              <a:t>) from T2 into </a:t>
            </a:r>
            <a:r>
              <a:rPr lang="en-US" b="0" dirty="0">
                <a:solidFill>
                  <a:srgbClr val="C00000"/>
                </a:solidFill>
              </a:rPr>
              <a:t>(b,(c,T2))</a:t>
            </a:r>
            <a:endParaRPr lang="en-US" i="1" dirty="0"/>
          </a:p>
          <a:p>
            <a:pPr marL="1391095" lvl="8" indent="0">
              <a:buNone/>
            </a:pPr>
            <a:endParaRPr lang="en-US" i="1" dirty="0"/>
          </a:p>
          <a:p>
            <a:r>
              <a:rPr lang="en-US" dirty="0"/>
              <a:t>Reduce process</a:t>
            </a:r>
          </a:p>
          <a:p>
            <a:endParaRPr lang="en-US" dirty="0"/>
          </a:p>
          <a:p>
            <a:pPr lvl="1"/>
            <a:r>
              <a:rPr lang="en-US" b="0" dirty="0"/>
              <a:t>Each reduce process matches all the pairs </a:t>
            </a:r>
            <a:r>
              <a:rPr lang="en-US" b="0" dirty="0">
                <a:solidFill>
                  <a:srgbClr val="C00000"/>
                </a:solidFill>
              </a:rPr>
              <a:t>(b,(a,T1)) </a:t>
            </a:r>
            <a:r>
              <a:rPr lang="en-US" b="0" dirty="0"/>
              <a:t>with all </a:t>
            </a:r>
            <a:r>
              <a:rPr lang="en-US" b="0" dirty="0">
                <a:solidFill>
                  <a:srgbClr val="C00000"/>
                </a:solidFill>
              </a:rPr>
              <a:t>(b,(c,T2)) </a:t>
            </a:r>
            <a:r>
              <a:rPr lang="en-US" b="0" dirty="0"/>
              <a:t>and outputs </a:t>
            </a:r>
            <a:r>
              <a:rPr lang="en-US" b="0" dirty="0">
                <a:solidFill>
                  <a:srgbClr val="C00000"/>
                </a:solidFill>
              </a:rPr>
              <a:t>(</a:t>
            </a:r>
            <a:r>
              <a:rPr lang="en-US" b="0" dirty="0" err="1">
                <a:solidFill>
                  <a:srgbClr val="C00000"/>
                </a:solidFill>
              </a:rPr>
              <a:t>a,b,c</a:t>
            </a:r>
            <a:r>
              <a:rPr lang="en-US" b="0" dirty="0">
                <a:solidFill>
                  <a:srgbClr val="C00000"/>
                </a:solidFill>
              </a:rPr>
              <a:t>)</a:t>
            </a:r>
          </a:p>
        </p:txBody>
      </p:sp>
      <p:pic>
        <p:nvPicPr>
          <p:cNvPr id="2" name="Picture 1"/>
          <p:cNvPicPr>
            <a:picLocks noChangeAspect="1"/>
          </p:cNvPicPr>
          <p:nvPr/>
        </p:nvPicPr>
        <p:blipFill>
          <a:blip r:embed="rId2"/>
          <a:stretch>
            <a:fillRect/>
          </a:stretch>
        </p:blipFill>
        <p:spPr>
          <a:xfrm>
            <a:off x="5615947" y="164637"/>
            <a:ext cx="5871701" cy="1536171"/>
          </a:xfrm>
          <a:prstGeom prst="rect">
            <a:avLst/>
          </a:prstGeom>
        </p:spPr>
      </p:pic>
    </p:spTree>
    <p:extLst>
      <p:ext uri="{BB962C8B-B14F-4D97-AF65-F5344CB8AC3E}">
        <p14:creationId xmlns:p14="http://schemas.microsoft.com/office/powerpoint/2010/main" val="2453532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DBD9C6-6CFA-9DDF-AF66-79FD55AD3920}"/>
              </a:ext>
            </a:extLst>
          </p:cNvPr>
          <p:cNvPicPr>
            <a:picLocks noChangeAspect="1"/>
          </p:cNvPicPr>
          <p:nvPr/>
        </p:nvPicPr>
        <p:blipFill>
          <a:blip r:embed="rId2"/>
          <a:stretch>
            <a:fillRect/>
          </a:stretch>
        </p:blipFill>
        <p:spPr>
          <a:xfrm>
            <a:off x="1058267" y="800100"/>
            <a:ext cx="9072134" cy="4734219"/>
          </a:xfrm>
          <a:prstGeom prst="rect">
            <a:avLst/>
          </a:prstGeom>
        </p:spPr>
      </p:pic>
    </p:spTree>
    <p:extLst>
      <p:ext uri="{BB962C8B-B14F-4D97-AF65-F5344CB8AC3E}">
        <p14:creationId xmlns:p14="http://schemas.microsoft.com/office/powerpoint/2010/main" val="1782076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C5F6A-D1A0-DF9B-8703-9888E2BD6A2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1DD57C-05E2-B0FB-1BA8-542468B3C47B}"/>
              </a:ext>
            </a:extLst>
          </p:cNvPr>
          <p:cNvPicPr>
            <a:picLocks noChangeAspect="1"/>
          </p:cNvPicPr>
          <p:nvPr/>
        </p:nvPicPr>
        <p:blipFill>
          <a:blip r:embed="rId2"/>
          <a:stretch>
            <a:fillRect/>
          </a:stretch>
        </p:blipFill>
        <p:spPr>
          <a:xfrm>
            <a:off x="1814945" y="1069741"/>
            <a:ext cx="7242852" cy="4415163"/>
          </a:xfrm>
          <a:prstGeom prst="rect">
            <a:avLst/>
          </a:prstGeom>
        </p:spPr>
      </p:pic>
    </p:spTree>
    <p:extLst>
      <p:ext uri="{BB962C8B-B14F-4D97-AF65-F5344CB8AC3E}">
        <p14:creationId xmlns:p14="http://schemas.microsoft.com/office/powerpoint/2010/main" val="36758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AE99F-B4BA-8DB7-D2DE-5AB0A5D59D7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E34446-9BC0-E049-3423-34AC5535E33E}"/>
              </a:ext>
            </a:extLst>
          </p:cNvPr>
          <p:cNvPicPr>
            <a:picLocks noChangeAspect="1"/>
          </p:cNvPicPr>
          <p:nvPr/>
        </p:nvPicPr>
        <p:blipFill>
          <a:blip r:embed="rId2"/>
          <a:stretch>
            <a:fillRect/>
          </a:stretch>
        </p:blipFill>
        <p:spPr>
          <a:xfrm>
            <a:off x="1856509" y="1188224"/>
            <a:ext cx="7159311" cy="3784041"/>
          </a:xfrm>
          <a:prstGeom prst="rect">
            <a:avLst/>
          </a:prstGeom>
        </p:spPr>
      </p:pic>
    </p:spTree>
    <p:extLst>
      <p:ext uri="{BB962C8B-B14F-4D97-AF65-F5344CB8AC3E}">
        <p14:creationId xmlns:p14="http://schemas.microsoft.com/office/powerpoint/2010/main" val="3750543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1DBA1-07FE-EE0D-D192-995FA3E97E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AA7238-0D08-5573-90CF-560DE3F2FDB8}"/>
              </a:ext>
            </a:extLst>
          </p:cNvPr>
          <p:cNvPicPr>
            <a:picLocks noChangeAspect="1"/>
          </p:cNvPicPr>
          <p:nvPr/>
        </p:nvPicPr>
        <p:blipFill>
          <a:blip r:embed="rId2"/>
          <a:stretch>
            <a:fillRect/>
          </a:stretch>
        </p:blipFill>
        <p:spPr>
          <a:xfrm>
            <a:off x="1828800" y="1036781"/>
            <a:ext cx="7730836" cy="4333953"/>
          </a:xfrm>
          <a:prstGeom prst="rect">
            <a:avLst/>
          </a:prstGeom>
        </p:spPr>
      </p:pic>
    </p:spTree>
    <p:extLst>
      <p:ext uri="{BB962C8B-B14F-4D97-AF65-F5344CB8AC3E}">
        <p14:creationId xmlns:p14="http://schemas.microsoft.com/office/powerpoint/2010/main" val="348632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BF943-2149-F3A5-D16E-DE62B74DD3E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5DBA578-983A-0D4D-2A74-B3127F8BE789}"/>
              </a:ext>
            </a:extLst>
          </p:cNvPr>
          <p:cNvPicPr>
            <a:picLocks noChangeAspect="1"/>
          </p:cNvPicPr>
          <p:nvPr/>
        </p:nvPicPr>
        <p:blipFill>
          <a:blip r:embed="rId2"/>
          <a:stretch>
            <a:fillRect/>
          </a:stretch>
        </p:blipFill>
        <p:spPr>
          <a:xfrm>
            <a:off x="1634836" y="964526"/>
            <a:ext cx="7699203" cy="4203008"/>
          </a:xfrm>
          <a:prstGeom prst="rect">
            <a:avLst/>
          </a:prstGeom>
        </p:spPr>
      </p:pic>
    </p:spTree>
    <p:extLst>
      <p:ext uri="{BB962C8B-B14F-4D97-AF65-F5344CB8AC3E}">
        <p14:creationId xmlns:p14="http://schemas.microsoft.com/office/powerpoint/2010/main" val="2624433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7BEB3-540A-0482-2504-AC64A7159C0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5E0B8BD-204D-ED4D-6963-E6B92E236B31}"/>
              </a:ext>
            </a:extLst>
          </p:cNvPr>
          <p:cNvPicPr>
            <a:picLocks noChangeAspect="1"/>
          </p:cNvPicPr>
          <p:nvPr/>
        </p:nvPicPr>
        <p:blipFill>
          <a:blip r:embed="rId2"/>
          <a:stretch>
            <a:fillRect/>
          </a:stretch>
        </p:blipFill>
        <p:spPr>
          <a:xfrm>
            <a:off x="1797881" y="1205345"/>
            <a:ext cx="7179833" cy="3714525"/>
          </a:xfrm>
          <a:prstGeom prst="rect">
            <a:avLst/>
          </a:prstGeom>
        </p:spPr>
      </p:pic>
    </p:spTree>
    <p:extLst>
      <p:ext uri="{BB962C8B-B14F-4D97-AF65-F5344CB8AC3E}">
        <p14:creationId xmlns:p14="http://schemas.microsoft.com/office/powerpoint/2010/main" val="1624588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ED3BB-A7BD-0DB2-5986-110B1617A70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1409DDD-332B-0E82-E09F-2999BF56EEE5}"/>
              </a:ext>
            </a:extLst>
          </p:cNvPr>
          <p:cNvPicPr>
            <a:picLocks noChangeAspect="1"/>
          </p:cNvPicPr>
          <p:nvPr/>
        </p:nvPicPr>
        <p:blipFill>
          <a:blip r:embed="rId2"/>
          <a:stretch>
            <a:fillRect/>
          </a:stretch>
        </p:blipFill>
        <p:spPr>
          <a:xfrm>
            <a:off x="3038048" y="728285"/>
            <a:ext cx="6115904" cy="5401429"/>
          </a:xfrm>
          <a:prstGeom prst="rect">
            <a:avLst/>
          </a:prstGeom>
        </p:spPr>
      </p:pic>
    </p:spTree>
    <p:extLst>
      <p:ext uri="{BB962C8B-B14F-4D97-AF65-F5344CB8AC3E}">
        <p14:creationId xmlns:p14="http://schemas.microsoft.com/office/powerpoint/2010/main" val="4293150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5223" y="2842330"/>
            <a:ext cx="9618102" cy="1845080"/>
          </a:xfrm>
        </p:spPr>
        <p:txBody>
          <a:bodyPr>
            <a:normAutofit fontScale="90000"/>
          </a:bodyPr>
          <a:lstStyle/>
          <a:p>
            <a:pPr algn="ctr"/>
            <a:br>
              <a:rPr lang="en-US" sz="4000" dirty="0"/>
            </a:br>
            <a:r>
              <a:rPr lang="en-US" sz="4000" b="1" dirty="0">
                <a:solidFill>
                  <a:srgbClr val="0070C0"/>
                </a:solidFill>
              </a:rPr>
              <a:t>Increasing Scalability of MR Algorithm</a:t>
            </a:r>
            <a:br>
              <a:rPr lang="en-US" sz="4000" dirty="0"/>
            </a:br>
            <a:r>
              <a:rPr lang="en-US" sz="4000" dirty="0"/>
              <a:t> </a:t>
            </a:r>
            <a:br>
              <a:rPr lang="en-US" sz="4000" dirty="0"/>
            </a:br>
            <a:r>
              <a:rPr lang="en-US" sz="4000" b="1" dirty="0">
                <a:solidFill>
                  <a:srgbClr val="00B050"/>
                </a:solidFill>
              </a:rPr>
              <a:t>Value-to-Key</a:t>
            </a:r>
            <a:r>
              <a:rPr lang="en-US" sz="4000" dirty="0"/>
              <a:t> </a:t>
            </a:r>
            <a:r>
              <a:rPr lang="en-US" sz="4000" b="1" dirty="0"/>
              <a:t>Design Pattern</a:t>
            </a:r>
            <a:br>
              <a:rPr lang="en-US" sz="4000" dirty="0"/>
            </a:br>
            <a:endParaRPr lang="en-US" sz="4000" dirty="0"/>
          </a:p>
        </p:txBody>
      </p:sp>
    </p:spTree>
    <p:extLst>
      <p:ext uri="{BB962C8B-B14F-4D97-AF65-F5344CB8AC3E}">
        <p14:creationId xmlns:p14="http://schemas.microsoft.com/office/powerpoint/2010/main" val="373771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215" y="2506460"/>
            <a:ext cx="10745395" cy="1845080"/>
          </a:xfrm>
        </p:spPr>
        <p:txBody>
          <a:bodyPr>
            <a:normAutofit fontScale="90000"/>
          </a:bodyPr>
          <a:lstStyle/>
          <a:p>
            <a:pPr algn="ctr"/>
            <a:br>
              <a:rPr lang="en-US" sz="4000" dirty="0"/>
            </a:br>
            <a:r>
              <a:rPr lang="en-US" b="1" dirty="0">
                <a:solidFill>
                  <a:schemeClr val="accent6">
                    <a:lumMod val="75000"/>
                  </a:schemeClr>
                </a:solidFill>
              </a:rPr>
              <a:t>Why Google had to Invent Map-Reduce?</a:t>
            </a:r>
            <a:br>
              <a:rPr lang="en-US" dirty="0">
                <a:solidFill>
                  <a:schemeClr val="accent6">
                    <a:lumMod val="75000"/>
                  </a:schemeClr>
                </a:solidFill>
              </a:rPr>
            </a:br>
            <a:endParaRPr lang="en-US" dirty="0">
              <a:solidFill>
                <a:schemeClr val="accent6">
                  <a:lumMod val="75000"/>
                </a:schemeClr>
              </a:solidFill>
            </a:endParaRPr>
          </a:p>
        </p:txBody>
      </p:sp>
    </p:spTree>
    <p:extLst>
      <p:ext uri="{BB962C8B-B14F-4D97-AF65-F5344CB8AC3E}">
        <p14:creationId xmlns:p14="http://schemas.microsoft.com/office/powerpoint/2010/main" val="1094567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5932A-8073-2902-9F46-DCE71A3C122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353AB5F-E33D-18DB-5051-27BC6A832032}"/>
              </a:ext>
            </a:extLst>
          </p:cNvPr>
          <p:cNvPicPr>
            <a:picLocks noChangeAspect="1"/>
          </p:cNvPicPr>
          <p:nvPr/>
        </p:nvPicPr>
        <p:blipFill>
          <a:blip r:embed="rId2"/>
          <a:stretch>
            <a:fillRect/>
          </a:stretch>
        </p:blipFill>
        <p:spPr>
          <a:xfrm>
            <a:off x="1122219" y="1492996"/>
            <a:ext cx="8879969" cy="4223543"/>
          </a:xfrm>
          <a:prstGeom prst="rect">
            <a:avLst/>
          </a:prstGeom>
        </p:spPr>
      </p:pic>
    </p:spTree>
    <p:extLst>
      <p:ext uri="{BB962C8B-B14F-4D97-AF65-F5344CB8AC3E}">
        <p14:creationId xmlns:p14="http://schemas.microsoft.com/office/powerpoint/2010/main" val="666506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6" name="Rectangle 35"/>
          <p:cNvSpPr/>
          <p:nvPr/>
        </p:nvSpPr>
        <p:spPr>
          <a:xfrm>
            <a:off x="5953014" y="826532"/>
            <a:ext cx="3648881" cy="5804699"/>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Century Schoolbook" panose="02040604050505020304"/>
              <a:ea typeface="+mn-ea"/>
              <a:cs typeface="+mn-cs"/>
            </a:endParaRPr>
          </a:p>
        </p:txBody>
      </p:sp>
      <p:sp>
        <p:nvSpPr>
          <p:cNvPr id="33" name="Rectangle 32"/>
          <p:cNvSpPr/>
          <p:nvPr/>
        </p:nvSpPr>
        <p:spPr>
          <a:xfrm>
            <a:off x="2063552" y="826532"/>
            <a:ext cx="3801411" cy="5804699"/>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Century Schoolbook" panose="02040604050505020304"/>
              <a:ea typeface="+mn-ea"/>
              <a:cs typeface="+mn-cs"/>
            </a:endParaRPr>
          </a:p>
        </p:txBody>
      </p:sp>
      <p:sp>
        <p:nvSpPr>
          <p:cNvPr id="23" name="Rectangle 21"/>
          <p:cNvSpPr>
            <a:spLocks noChangeArrowheads="1"/>
          </p:cNvSpPr>
          <p:nvPr/>
        </p:nvSpPr>
        <p:spPr bwMode="auto">
          <a:xfrm>
            <a:off x="2472473" y="2091683"/>
            <a:ext cx="6781800" cy="3124200"/>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sp>
        <p:nvSpPr>
          <p:cNvPr id="5" name="AutoShape 3"/>
          <p:cNvSpPr>
            <a:spLocks noChangeArrowheads="1"/>
          </p:cNvSpPr>
          <p:nvPr/>
        </p:nvSpPr>
        <p:spPr bwMode="auto">
          <a:xfrm>
            <a:off x="6892073" y="1101083"/>
            <a:ext cx="1905000" cy="762000"/>
          </a:xfrm>
          <a:prstGeom prst="flowChartMultidocumen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Gill Sans"/>
                <a:ea typeface="+mn-ea"/>
                <a:cs typeface="Gill Sans"/>
              </a:rPr>
              <a:t>Documents</a:t>
            </a:r>
          </a:p>
        </p:txBody>
      </p:sp>
      <p:sp>
        <p:nvSpPr>
          <p:cNvPr id="7" name="AutoShape 5"/>
          <p:cNvSpPr>
            <a:spLocks noChangeArrowheads="1"/>
          </p:cNvSpPr>
          <p:nvPr/>
        </p:nvSpPr>
        <p:spPr bwMode="auto">
          <a:xfrm>
            <a:off x="2929673" y="5520683"/>
            <a:ext cx="1676400" cy="762000"/>
          </a:xfrm>
          <a:prstGeom prst="flowChartMultidocumen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Gill Sans"/>
                <a:ea typeface="+mn-ea"/>
                <a:cs typeface="Gill Sans"/>
              </a:rPr>
              <a:t>Results</a:t>
            </a:r>
          </a:p>
        </p:txBody>
      </p:sp>
      <p:sp>
        <p:nvSpPr>
          <p:cNvPr id="8" name="Rectangle 6"/>
          <p:cNvSpPr>
            <a:spLocks noChangeArrowheads="1"/>
          </p:cNvSpPr>
          <p:nvPr/>
        </p:nvSpPr>
        <p:spPr bwMode="auto">
          <a:xfrm>
            <a:off x="2929673" y="2396483"/>
            <a:ext cx="1676400" cy="6858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Representation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Function</a:t>
            </a:r>
          </a:p>
        </p:txBody>
      </p:sp>
      <p:sp>
        <p:nvSpPr>
          <p:cNvPr id="9" name="Rectangle 7"/>
          <p:cNvSpPr>
            <a:spLocks noChangeArrowheads="1"/>
          </p:cNvSpPr>
          <p:nvPr/>
        </p:nvSpPr>
        <p:spPr bwMode="auto">
          <a:xfrm>
            <a:off x="6923824" y="2396483"/>
            <a:ext cx="1676400" cy="68580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ill Sans"/>
                <a:ea typeface="+mn-ea"/>
                <a:cs typeface="Gill Sans"/>
              </a:rPr>
              <a:t>Representation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ill Sans"/>
                <a:ea typeface="+mn-ea"/>
                <a:cs typeface="Gill Sans"/>
              </a:rPr>
              <a:t>Function</a:t>
            </a:r>
          </a:p>
        </p:txBody>
      </p:sp>
      <p:sp>
        <p:nvSpPr>
          <p:cNvPr id="10" name="Text Box 8"/>
          <p:cNvSpPr txBox="1">
            <a:spLocks noChangeArrowheads="1"/>
          </p:cNvSpPr>
          <p:nvPr/>
        </p:nvSpPr>
        <p:spPr bwMode="auto">
          <a:xfrm>
            <a:off x="2701074" y="3310884"/>
            <a:ext cx="2018117" cy="338554"/>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ill Sans"/>
                <a:ea typeface="+mn-ea"/>
                <a:cs typeface="Gill Sans"/>
              </a:rPr>
              <a:t>Query Representation</a:t>
            </a:r>
          </a:p>
        </p:txBody>
      </p:sp>
      <p:sp>
        <p:nvSpPr>
          <p:cNvPr id="11" name="Text Box 9"/>
          <p:cNvSpPr txBox="1">
            <a:spLocks noChangeArrowheads="1"/>
          </p:cNvSpPr>
          <p:nvPr/>
        </p:nvSpPr>
        <p:spPr bwMode="auto">
          <a:xfrm>
            <a:off x="6458687" y="3310884"/>
            <a:ext cx="2374240" cy="338554"/>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ill Sans"/>
                <a:ea typeface="+mn-ea"/>
                <a:cs typeface="Gill Sans"/>
              </a:rPr>
              <a:t>Document Representation</a:t>
            </a:r>
          </a:p>
        </p:txBody>
      </p:sp>
      <p:sp>
        <p:nvSpPr>
          <p:cNvPr id="12" name="Rectangle 10"/>
          <p:cNvSpPr>
            <a:spLocks noChangeArrowheads="1"/>
          </p:cNvSpPr>
          <p:nvPr/>
        </p:nvSpPr>
        <p:spPr bwMode="auto">
          <a:xfrm>
            <a:off x="2929673" y="4225283"/>
            <a:ext cx="1676400" cy="685800"/>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Ranking</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Function</a:t>
            </a:r>
          </a:p>
        </p:txBody>
      </p:sp>
      <p:sp>
        <p:nvSpPr>
          <p:cNvPr id="13" name="Line 11"/>
          <p:cNvSpPr>
            <a:spLocks noChangeShapeType="1"/>
          </p:cNvSpPr>
          <p:nvPr/>
        </p:nvSpPr>
        <p:spPr bwMode="auto">
          <a:xfrm>
            <a:off x="3767873" y="3082283"/>
            <a:ext cx="0" cy="3048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sp>
        <p:nvSpPr>
          <p:cNvPr id="14" name="Line 12"/>
          <p:cNvSpPr>
            <a:spLocks noChangeShapeType="1"/>
          </p:cNvSpPr>
          <p:nvPr/>
        </p:nvSpPr>
        <p:spPr bwMode="auto">
          <a:xfrm>
            <a:off x="7762024" y="3082283"/>
            <a:ext cx="0" cy="3048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sp>
        <p:nvSpPr>
          <p:cNvPr id="15" name="AutoShape 13"/>
          <p:cNvSpPr>
            <a:spLocks noChangeArrowheads="1"/>
          </p:cNvSpPr>
          <p:nvPr/>
        </p:nvSpPr>
        <p:spPr bwMode="auto">
          <a:xfrm>
            <a:off x="7076224" y="3996683"/>
            <a:ext cx="1371600" cy="1066800"/>
          </a:xfrm>
          <a:prstGeom prst="can">
            <a:avLst>
              <a:gd name="adj" fmla="val 25000"/>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Gill Sans"/>
                <a:ea typeface="+mn-ea"/>
                <a:cs typeface="Gill Sans"/>
              </a:rPr>
              <a:t>Index</a:t>
            </a:r>
          </a:p>
        </p:txBody>
      </p:sp>
      <p:sp>
        <p:nvSpPr>
          <p:cNvPr id="16" name="Line 14"/>
          <p:cNvSpPr>
            <a:spLocks noChangeShapeType="1"/>
          </p:cNvSpPr>
          <p:nvPr/>
        </p:nvSpPr>
        <p:spPr bwMode="auto">
          <a:xfrm>
            <a:off x="7762024" y="3691883"/>
            <a:ext cx="0" cy="3048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sp>
        <p:nvSpPr>
          <p:cNvPr id="17" name="Line 15"/>
          <p:cNvSpPr>
            <a:spLocks noChangeShapeType="1"/>
          </p:cNvSpPr>
          <p:nvPr/>
        </p:nvSpPr>
        <p:spPr bwMode="auto">
          <a:xfrm>
            <a:off x="3788512" y="1786883"/>
            <a:ext cx="0" cy="6096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sp>
        <p:nvSpPr>
          <p:cNvPr id="18" name="Line 16"/>
          <p:cNvSpPr>
            <a:spLocks noChangeShapeType="1"/>
          </p:cNvSpPr>
          <p:nvPr/>
        </p:nvSpPr>
        <p:spPr bwMode="auto">
          <a:xfrm>
            <a:off x="7730273" y="1863083"/>
            <a:ext cx="0" cy="5334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sp>
        <p:nvSpPr>
          <p:cNvPr id="19" name="Line 17"/>
          <p:cNvSpPr>
            <a:spLocks noChangeShapeType="1"/>
          </p:cNvSpPr>
          <p:nvPr/>
        </p:nvSpPr>
        <p:spPr bwMode="auto">
          <a:xfrm flipH="1">
            <a:off x="4606073" y="4606283"/>
            <a:ext cx="2438400" cy="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sp>
        <p:nvSpPr>
          <p:cNvPr id="20" name="Line 18"/>
          <p:cNvSpPr>
            <a:spLocks noChangeShapeType="1"/>
          </p:cNvSpPr>
          <p:nvPr/>
        </p:nvSpPr>
        <p:spPr bwMode="auto">
          <a:xfrm flipH="1">
            <a:off x="3767873" y="4911083"/>
            <a:ext cx="0" cy="6096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sp>
        <p:nvSpPr>
          <p:cNvPr id="21" name="Rectangle 19"/>
          <p:cNvSpPr>
            <a:spLocks noChangeArrowheads="1"/>
          </p:cNvSpPr>
          <p:nvPr/>
        </p:nvSpPr>
        <p:spPr bwMode="auto">
          <a:xfrm>
            <a:off x="2472473" y="2091683"/>
            <a:ext cx="6781800" cy="3124200"/>
          </a:xfrm>
          <a:prstGeom prst="rect">
            <a:avLst/>
          </a:prstGeom>
          <a:noFill/>
          <a:ln w="25400">
            <a:solidFill>
              <a:schemeClr val="bg1"/>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sp>
        <p:nvSpPr>
          <p:cNvPr id="22" name="Line 20"/>
          <p:cNvSpPr>
            <a:spLocks noChangeShapeType="1"/>
          </p:cNvSpPr>
          <p:nvPr/>
        </p:nvSpPr>
        <p:spPr bwMode="auto">
          <a:xfrm>
            <a:off x="3767873" y="3615683"/>
            <a:ext cx="0" cy="609600"/>
          </a:xfrm>
          <a:prstGeom prst="line">
            <a:avLst/>
          </a:prstGeom>
          <a:ln>
            <a:headEnd/>
            <a:tailEnd type="triangle" w="med" len="med"/>
          </a:ln>
        </p:spPr>
        <p:style>
          <a:lnRef idx="2">
            <a:schemeClr val="dk1"/>
          </a:lnRef>
          <a:fillRef idx="0">
            <a:schemeClr val="dk1"/>
          </a:fillRef>
          <a:effectRef idx="1">
            <a:schemeClr val="dk1"/>
          </a:effectRef>
          <a:fontRef idx="minor">
            <a:schemeClr val="tx1"/>
          </a:fontRef>
        </p:style>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cxnSp>
        <p:nvCxnSpPr>
          <p:cNvPr id="24" name="Straight Connector 23"/>
          <p:cNvCxnSpPr>
            <a:cxnSpLocks noChangeShapeType="1"/>
            <a:stCxn id="23" idx="0"/>
            <a:endCxn id="23" idx="2"/>
          </p:cNvCxnSpPr>
          <p:nvPr/>
        </p:nvCxnSpPr>
        <p:spPr bwMode="auto">
          <a:xfrm rot="16200000" flipH="1">
            <a:off x="4301275" y="3653785"/>
            <a:ext cx="3124200" cy="3175"/>
          </a:xfrm>
          <a:prstGeom prst="line">
            <a:avLst/>
          </a:prstGeom>
          <a:noFill/>
          <a:ln w="15875" algn="ctr">
            <a:solidFill>
              <a:schemeClr val="bg1"/>
            </a:solidFill>
            <a:prstDash val="dash"/>
            <a:round/>
            <a:headEnd/>
            <a:tailEnd/>
          </a:ln>
        </p:spPr>
      </p:cxnSp>
      <p:sp>
        <p:nvSpPr>
          <p:cNvPr id="25" name="TextBox 24"/>
          <p:cNvSpPr txBox="1">
            <a:spLocks noChangeArrowheads="1"/>
          </p:cNvSpPr>
          <p:nvPr/>
        </p:nvSpPr>
        <p:spPr bwMode="auto">
          <a:xfrm>
            <a:off x="5825275" y="2091684"/>
            <a:ext cx="739305" cy="338554"/>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Gill Sans"/>
                <a:ea typeface="+mn-ea"/>
                <a:cs typeface="Gill Sans"/>
              </a:rPr>
              <a:t>offline</a:t>
            </a:r>
          </a:p>
        </p:txBody>
      </p:sp>
      <p:sp>
        <p:nvSpPr>
          <p:cNvPr id="26" name="TextBox 25"/>
          <p:cNvSpPr txBox="1">
            <a:spLocks noChangeArrowheads="1"/>
          </p:cNvSpPr>
          <p:nvPr/>
        </p:nvSpPr>
        <p:spPr bwMode="auto">
          <a:xfrm>
            <a:off x="5099788" y="2091684"/>
            <a:ext cx="718466" cy="338554"/>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Gill Sans"/>
                <a:ea typeface="+mn-ea"/>
                <a:cs typeface="Gill Sans"/>
              </a:rPr>
              <a:t>online</a:t>
            </a:r>
          </a:p>
        </p:txBody>
      </p:sp>
      <p:sp>
        <p:nvSpPr>
          <p:cNvPr id="30" name="Title 1"/>
          <p:cNvSpPr txBox="1">
            <a:spLocks/>
          </p:cNvSpPr>
          <p:nvPr/>
        </p:nvSpPr>
        <p:spPr>
          <a:xfrm>
            <a:off x="314245" y="97410"/>
            <a:ext cx="9144000" cy="551917"/>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C00000"/>
                </a:solidFill>
                <a:effectLst/>
                <a:uLnTx/>
                <a:uFillTx/>
                <a:latin typeface="Gill Sans"/>
                <a:ea typeface="+mn-ea"/>
                <a:cs typeface="Gill Sans"/>
              </a:rPr>
              <a:t>Search Engine Architecture</a:t>
            </a:r>
          </a:p>
        </p:txBody>
      </p:sp>
      <p:sp>
        <p:nvSpPr>
          <p:cNvPr id="4" name="TextBox 3"/>
          <p:cNvSpPr txBox="1"/>
          <p:nvPr/>
        </p:nvSpPr>
        <p:spPr>
          <a:xfrm>
            <a:off x="10193132" y="6461954"/>
            <a:ext cx="175400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entury Schoolbook" panose="02040604050505020304"/>
                <a:ea typeface="+mn-ea"/>
                <a:cs typeface="+mn-cs"/>
              </a:rPr>
              <a:t>Source: Jimmy Lin</a:t>
            </a:r>
          </a:p>
        </p:txBody>
      </p:sp>
      <p:sp>
        <p:nvSpPr>
          <p:cNvPr id="27" name="Oval 26"/>
          <p:cNvSpPr/>
          <p:nvPr/>
        </p:nvSpPr>
        <p:spPr>
          <a:xfrm>
            <a:off x="3048545" y="1101083"/>
            <a:ext cx="1557528" cy="503715"/>
          </a:xfrm>
          <a:prstGeom prst="ellipse">
            <a:avLst/>
          </a:prstGeom>
          <a:ln/>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white"/>
                </a:solidFill>
                <a:effectLst/>
                <a:uLnTx/>
                <a:uFillTx/>
                <a:latin typeface="Century Schoolbook" panose="02040604050505020304"/>
                <a:ea typeface="+mn-ea"/>
                <a:cs typeface="+mn-cs"/>
              </a:rPr>
              <a:t>query</a:t>
            </a:r>
          </a:p>
        </p:txBody>
      </p:sp>
      <p:sp>
        <p:nvSpPr>
          <p:cNvPr id="37" name="TextBox 36"/>
          <p:cNvSpPr txBox="1"/>
          <p:nvPr/>
        </p:nvSpPr>
        <p:spPr>
          <a:xfrm>
            <a:off x="193431" y="3029498"/>
            <a:ext cx="1849531"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00B050"/>
                </a:solidFill>
                <a:effectLst/>
                <a:uLnTx/>
                <a:uFillTx/>
                <a:latin typeface="Century Schoolbook" panose="02040604050505020304"/>
                <a:ea typeface="+mn-ea"/>
                <a:cs typeface="+mn-cs"/>
              </a:rPr>
              <a:t>Retrieval </a:t>
            </a:r>
          </a:p>
        </p:txBody>
      </p:sp>
      <p:sp>
        <p:nvSpPr>
          <p:cNvPr id="38" name="TextBox 37"/>
          <p:cNvSpPr txBox="1"/>
          <p:nvPr/>
        </p:nvSpPr>
        <p:spPr>
          <a:xfrm>
            <a:off x="9737157" y="3105917"/>
            <a:ext cx="182472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400" b="1" i="0" u="none" strike="noStrike" kern="1200" cap="none" spc="0" normalizeH="0" baseline="0" noProof="0" dirty="0">
                <a:ln>
                  <a:noFill/>
                </a:ln>
                <a:solidFill>
                  <a:srgbClr val="00B050"/>
                </a:solidFill>
                <a:effectLst/>
                <a:uLnTx/>
                <a:uFillTx/>
                <a:latin typeface="Century Schoolbook" panose="02040604050505020304"/>
                <a:ea typeface="+mn-ea"/>
                <a:cs typeface="+mn-cs"/>
              </a:rPr>
              <a:t>Indexing </a:t>
            </a:r>
          </a:p>
        </p:txBody>
      </p:sp>
    </p:spTree>
    <p:extLst>
      <p:ext uri="{BB962C8B-B14F-4D97-AF65-F5344CB8AC3E}">
        <p14:creationId xmlns:p14="http://schemas.microsoft.com/office/powerpoint/2010/main" val="2760948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98" name="Rectangle 7"/>
          <p:cNvSpPr>
            <a:spLocks noChangeArrowheads="1"/>
          </p:cNvSpPr>
          <p:nvPr/>
        </p:nvSpPr>
        <p:spPr bwMode="auto">
          <a:xfrm>
            <a:off x="7379209" y="3093490"/>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80" name="Rectangle 6"/>
          <p:cNvSpPr>
            <a:spLocks noChangeArrowheads="1"/>
          </p:cNvSpPr>
          <p:nvPr/>
        </p:nvSpPr>
        <p:spPr bwMode="auto">
          <a:xfrm>
            <a:off x="6644641" y="2329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1" name="Rectangle 7"/>
          <p:cNvSpPr>
            <a:spLocks noChangeArrowheads="1"/>
          </p:cNvSpPr>
          <p:nvPr/>
        </p:nvSpPr>
        <p:spPr bwMode="auto">
          <a:xfrm>
            <a:off x="6644641" y="2710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2" name="Rectangle 8"/>
          <p:cNvSpPr>
            <a:spLocks noChangeArrowheads="1"/>
          </p:cNvSpPr>
          <p:nvPr/>
        </p:nvSpPr>
        <p:spPr bwMode="auto">
          <a:xfrm>
            <a:off x="6644641" y="3093490"/>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83" name="Rectangle 10"/>
          <p:cNvSpPr>
            <a:spLocks noChangeArrowheads="1"/>
          </p:cNvSpPr>
          <p:nvPr/>
        </p:nvSpPr>
        <p:spPr bwMode="auto">
          <a:xfrm>
            <a:off x="6644641" y="3853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4" name="Rectangle 16"/>
          <p:cNvSpPr>
            <a:spLocks noChangeArrowheads="1"/>
          </p:cNvSpPr>
          <p:nvPr/>
        </p:nvSpPr>
        <p:spPr bwMode="auto">
          <a:xfrm>
            <a:off x="6644641" y="3472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5" name="Rectangle 18"/>
          <p:cNvSpPr>
            <a:spLocks noChangeArrowheads="1"/>
          </p:cNvSpPr>
          <p:nvPr/>
        </p:nvSpPr>
        <p:spPr bwMode="auto">
          <a:xfrm>
            <a:off x="6644641" y="4234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6" name="Rectangle 19"/>
          <p:cNvSpPr>
            <a:spLocks noChangeArrowheads="1"/>
          </p:cNvSpPr>
          <p:nvPr/>
        </p:nvSpPr>
        <p:spPr bwMode="auto">
          <a:xfrm>
            <a:off x="6644641" y="1950487"/>
            <a:ext cx="284163" cy="300039"/>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7" name="Rectangle 34"/>
          <p:cNvSpPr>
            <a:spLocks noChangeArrowheads="1"/>
          </p:cNvSpPr>
          <p:nvPr/>
        </p:nvSpPr>
        <p:spPr bwMode="auto">
          <a:xfrm>
            <a:off x="6644641" y="4615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8" name="Rectangle 34"/>
          <p:cNvSpPr>
            <a:spLocks noChangeArrowheads="1"/>
          </p:cNvSpPr>
          <p:nvPr/>
        </p:nvSpPr>
        <p:spPr bwMode="auto">
          <a:xfrm>
            <a:off x="6644641" y="4996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9" name="Rectangle 34"/>
          <p:cNvSpPr>
            <a:spLocks noChangeArrowheads="1"/>
          </p:cNvSpPr>
          <p:nvPr/>
        </p:nvSpPr>
        <p:spPr bwMode="auto">
          <a:xfrm>
            <a:off x="6652580" y="5377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79" name="Rectangle 85"/>
          <p:cNvSpPr>
            <a:spLocks noChangeArrowheads="1"/>
          </p:cNvSpPr>
          <p:nvPr/>
        </p:nvSpPr>
        <p:spPr bwMode="black">
          <a:xfrm>
            <a:off x="5907247" y="1947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0" name="Rectangle 86"/>
          <p:cNvSpPr>
            <a:spLocks noChangeArrowheads="1"/>
          </p:cNvSpPr>
          <p:nvPr/>
        </p:nvSpPr>
        <p:spPr bwMode="black">
          <a:xfrm>
            <a:off x="5907247" y="2328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1" name="Rectangle 87"/>
          <p:cNvSpPr>
            <a:spLocks noChangeArrowheads="1"/>
          </p:cNvSpPr>
          <p:nvPr/>
        </p:nvSpPr>
        <p:spPr bwMode="black">
          <a:xfrm>
            <a:off x="5907247" y="2709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2" name="Rectangle 88"/>
          <p:cNvSpPr>
            <a:spLocks noChangeArrowheads="1"/>
          </p:cNvSpPr>
          <p:nvPr/>
        </p:nvSpPr>
        <p:spPr bwMode="black">
          <a:xfrm>
            <a:off x="5907247" y="4233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3" name="Rectangle 89"/>
          <p:cNvSpPr>
            <a:spLocks noChangeArrowheads="1"/>
          </p:cNvSpPr>
          <p:nvPr/>
        </p:nvSpPr>
        <p:spPr bwMode="black">
          <a:xfrm>
            <a:off x="5907247" y="3471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4" name="Rectangle 90"/>
          <p:cNvSpPr>
            <a:spLocks noChangeArrowheads="1"/>
          </p:cNvSpPr>
          <p:nvPr/>
        </p:nvSpPr>
        <p:spPr bwMode="black">
          <a:xfrm>
            <a:off x="5907247" y="3852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5" name="Rectangle 91"/>
          <p:cNvSpPr>
            <a:spLocks noChangeArrowheads="1"/>
          </p:cNvSpPr>
          <p:nvPr/>
        </p:nvSpPr>
        <p:spPr bwMode="black">
          <a:xfrm>
            <a:off x="5907247" y="3090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86" name="Rectangle 92"/>
          <p:cNvSpPr>
            <a:spLocks noChangeArrowheads="1"/>
          </p:cNvSpPr>
          <p:nvPr/>
        </p:nvSpPr>
        <p:spPr bwMode="black">
          <a:xfrm>
            <a:off x="5907247" y="4614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7" name="Rectangle 19"/>
          <p:cNvSpPr>
            <a:spLocks noChangeArrowheads="1"/>
          </p:cNvSpPr>
          <p:nvPr/>
        </p:nvSpPr>
        <p:spPr bwMode="auto">
          <a:xfrm>
            <a:off x="4599939" y="1950487"/>
            <a:ext cx="1150939" cy="300039"/>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blue</a:t>
            </a:r>
          </a:p>
        </p:txBody>
      </p:sp>
      <p:sp>
        <p:nvSpPr>
          <p:cNvPr id="88" name="Rectangle 19"/>
          <p:cNvSpPr>
            <a:spLocks noChangeArrowheads="1"/>
          </p:cNvSpPr>
          <p:nvPr/>
        </p:nvSpPr>
        <p:spPr bwMode="auto">
          <a:xfrm>
            <a:off x="4599939" y="2329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cat</a:t>
            </a:r>
          </a:p>
        </p:txBody>
      </p:sp>
      <p:sp>
        <p:nvSpPr>
          <p:cNvPr id="89" name="Rectangle 19"/>
          <p:cNvSpPr>
            <a:spLocks noChangeArrowheads="1"/>
          </p:cNvSpPr>
          <p:nvPr/>
        </p:nvSpPr>
        <p:spPr bwMode="auto">
          <a:xfrm>
            <a:off x="4599939" y="2710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egg</a:t>
            </a:r>
          </a:p>
        </p:txBody>
      </p:sp>
      <p:sp>
        <p:nvSpPr>
          <p:cNvPr id="90" name="Rectangle 19"/>
          <p:cNvSpPr>
            <a:spLocks noChangeArrowheads="1"/>
          </p:cNvSpPr>
          <p:nvPr/>
        </p:nvSpPr>
        <p:spPr bwMode="auto">
          <a:xfrm>
            <a:off x="4599939" y="3092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fish</a:t>
            </a:r>
          </a:p>
        </p:txBody>
      </p:sp>
      <p:sp>
        <p:nvSpPr>
          <p:cNvPr id="91" name="Rectangle 19"/>
          <p:cNvSpPr>
            <a:spLocks noChangeArrowheads="1"/>
          </p:cNvSpPr>
          <p:nvPr/>
        </p:nvSpPr>
        <p:spPr bwMode="auto">
          <a:xfrm>
            <a:off x="4599939" y="3472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green</a:t>
            </a:r>
          </a:p>
        </p:txBody>
      </p:sp>
      <p:sp>
        <p:nvSpPr>
          <p:cNvPr id="92" name="Rectangle 19"/>
          <p:cNvSpPr>
            <a:spLocks noChangeArrowheads="1"/>
          </p:cNvSpPr>
          <p:nvPr/>
        </p:nvSpPr>
        <p:spPr bwMode="auto">
          <a:xfrm>
            <a:off x="4599939" y="3853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ham</a:t>
            </a:r>
          </a:p>
        </p:txBody>
      </p:sp>
      <p:sp>
        <p:nvSpPr>
          <p:cNvPr id="93" name="Rectangle 19"/>
          <p:cNvSpPr>
            <a:spLocks noChangeArrowheads="1"/>
          </p:cNvSpPr>
          <p:nvPr/>
        </p:nvSpPr>
        <p:spPr bwMode="auto">
          <a:xfrm>
            <a:off x="4599939" y="4234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hat</a:t>
            </a:r>
          </a:p>
        </p:txBody>
      </p:sp>
      <p:sp>
        <p:nvSpPr>
          <p:cNvPr id="94" name="Rectangle 19"/>
          <p:cNvSpPr>
            <a:spLocks noChangeArrowheads="1"/>
          </p:cNvSpPr>
          <p:nvPr/>
        </p:nvSpPr>
        <p:spPr bwMode="auto">
          <a:xfrm>
            <a:off x="4599939" y="4615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one</a:t>
            </a:r>
          </a:p>
        </p:txBody>
      </p:sp>
      <p:cxnSp>
        <p:nvCxnSpPr>
          <p:cNvPr id="103" name="Straight Arrow Connector 227"/>
          <p:cNvCxnSpPr>
            <a:cxnSpLocks noChangeShapeType="1"/>
            <a:stCxn id="87" idx="3"/>
            <a:endCxn id="79" idx="1"/>
          </p:cNvCxnSpPr>
          <p:nvPr/>
        </p:nvCxnSpPr>
        <p:spPr bwMode="auto">
          <a:xfrm flipV="1">
            <a:off x="5750878" y="2099920"/>
            <a:ext cx="156369" cy="587"/>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4" name="Straight Arrow Connector 228"/>
          <p:cNvCxnSpPr>
            <a:cxnSpLocks noChangeShapeType="1"/>
            <a:stCxn id="79" idx="3"/>
            <a:endCxn id="163" idx="1"/>
          </p:cNvCxnSpPr>
          <p:nvPr/>
        </p:nvCxnSpPr>
        <p:spPr bwMode="auto">
          <a:xfrm>
            <a:off x="6181362" y="2099920"/>
            <a:ext cx="177181" cy="587"/>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5" name="Straight Arrow Connector 231"/>
          <p:cNvCxnSpPr>
            <a:cxnSpLocks noChangeShapeType="1"/>
            <a:stCxn id="88" idx="3"/>
            <a:endCxn id="80" idx="1"/>
          </p:cNvCxnSpPr>
          <p:nvPr/>
        </p:nvCxnSpPr>
        <p:spPr bwMode="auto">
          <a:xfrm>
            <a:off x="5750878" y="2479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6" name="Straight Arrow Connector 232"/>
          <p:cNvCxnSpPr>
            <a:cxnSpLocks noChangeShapeType="1"/>
            <a:stCxn id="80" idx="3"/>
            <a:endCxn id="157" idx="1"/>
          </p:cNvCxnSpPr>
          <p:nvPr/>
        </p:nvCxnSpPr>
        <p:spPr bwMode="auto">
          <a:xfrm flipV="1">
            <a:off x="6181362" y="2479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7" name="Straight Arrow Connector 233"/>
          <p:cNvCxnSpPr>
            <a:cxnSpLocks noChangeShapeType="1"/>
            <a:stCxn id="89" idx="3"/>
            <a:endCxn id="81" idx="1"/>
          </p:cNvCxnSpPr>
          <p:nvPr/>
        </p:nvCxnSpPr>
        <p:spPr bwMode="auto">
          <a:xfrm>
            <a:off x="5750878" y="2860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8" name="Straight Arrow Connector 234"/>
          <p:cNvCxnSpPr>
            <a:cxnSpLocks noChangeShapeType="1"/>
            <a:stCxn id="81" idx="3"/>
            <a:endCxn id="158" idx="1"/>
          </p:cNvCxnSpPr>
          <p:nvPr/>
        </p:nvCxnSpPr>
        <p:spPr bwMode="auto">
          <a:xfrm flipV="1">
            <a:off x="6181362" y="2860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9" name="Straight Arrow Connector 235"/>
          <p:cNvCxnSpPr>
            <a:cxnSpLocks noChangeShapeType="1"/>
            <a:stCxn id="90" idx="3"/>
            <a:endCxn id="85" idx="1"/>
          </p:cNvCxnSpPr>
          <p:nvPr/>
        </p:nvCxnSpPr>
        <p:spPr bwMode="auto">
          <a:xfrm flipV="1">
            <a:off x="5750878" y="3242920"/>
            <a:ext cx="156369" cy="1"/>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0" name="Straight Arrow Connector 236"/>
          <p:cNvCxnSpPr>
            <a:cxnSpLocks noChangeShapeType="1"/>
            <a:stCxn id="85" idx="3"/>
            <a:endCxn id="159" idx="1"/>
          </p:cNvCxnSpPr>
          <p:nvPr/>
        </p:nvCxnSpPr>
        <p:spPr bwMode="auto">
          <a:xfrm>
            <a:off x="6181362" y="3242920"/>
            <a:ext cx="177181" cy="58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1" name="Straight Arrow Connector 237"/>
          <p:cNvCxnSpPr>
            <a:cxnSpLocks noChangeShapeType="1"/>
            <a:stCxn id="91" idx="3"/>
            <a:endCxn id="83" idx="1"/>
          </p:cNvCxnSpPr>
          <p:nvPr/>
        </p:nvCxnSpPr>
        <p:spPr bwMode="auto">
          <a:xfrm>
            <a:off x="5750878" y="3622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2" name="Straight Arrow Connector 238"/>
          <p:cNvCxnSpPr>
            <a:cxnSpLocks noChangeShapeType="1"/>
            <a:stCxn id="83" idx="3"/>
            <a:endCxn id="161" idx="1"/>
          </p:cNvCxnSpPr>
          <p:nvPr/>
        </p:nvCxnSpPr>
        <p:spPr bwMode="auto">
          <a:xfrm flipV="1">
            <a:off x="6181362" y="3622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3" name="Straight Arrow Connector 239"/>
          <p:cNvCxnSpPr>
            <a:cxnSpLocks noChangeShapeType="1"/>
            <a:stCxn id="92" idx="3"/>
            <a:endCxn id="84" idx="1"/>
          </p:cNvCxnSpPr>
          <p:nvPr/>
        </p:nvCxnSpPr>
        <p:spPr bwMode="auto">
          <a:xfrm>
            <a:off x="5750878" y="4003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4" name="Straight Arrow Connector 240"/>
          <p:cNvCxnSpPr>
            <a:cxnSpLocks noChangeShapeType="1"/>
            <a:stCxn id="84" idx="3"/>
            <a:endCxn id="160" idx="1"/>
          </p:cNvCxnSpPr>
          <p:nvPr/>
        </p:nvCxnSpPr>
        <p:spPr bwMode="auto">
          <a:xfrm flipV="1">
            <a:off x="6181362" y="4003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5" name="Straight Arrow Connector 241"/>
          <p:cNvCxnSpPr>
            <a:cxnSpLocks noChangeShapeType="1"/>
            <a:stCxn id="93" idx="3"/>
            <a:endCxn id="82" idx="1"/>
          </p:cNvCxnSpPr>
          <p:nvPr/>
        </p:nvCxnSpPr>
        <p:spPr bwMode="auto">
          <a:xfrm>
            <a:off x="5750878" y="4384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6" name="Straight Arrow Connector 242"/>
          <p:cNvCxnSpPr>
            <a:cxnSpLocks noChangeShapeType="1"/>
            <a:stCxn id="82" idx="3"/>
            <a:endCxn id="162" idx="1"/>
          </p:cNvCxnSpPr>
          <p:nvPr/>
        </p:nvCxnSpPr>
        <p:spPr bwMode="auto">
          <a:xfrm flipV="1">
            <a:off x="6181362" y="4384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7" name="Straight Arrow Connector 243"/>
          <p:cNvCxnSpPr>
            <a:cxnSpLocks noChangeShapeType="1"/>
            <a:stCxn id="94" idx="3"/>
            <a:endCxn id="86" idx="1"/>
          </p:cNvCxnSpPr>
          <p:nvPr/>
        </p:nvCxnSpPr>
        <p:spPr bwMode="auto">
          <a:xfrm>
            <a:off x="5750878" y="4765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8" name="Straight Arrow Connector 244"/>
          <p:cNvCxnSpPr>
            <a:cxnSpLocks noChangeShapeType="1"/>
            <a:stCxn id="86" idx="3"/>
            <a:endCxn id="164" idx="1"/>
          </p:cNvCxnSpPr>
          <p:nvPr/>
        </p:nvCxnSpPr>
        <p:spPr bwMode="auto">
          <a:xfrm flipV="1">
            <a:off x="6181362" y="4765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sp>
        <p:nvSpPr>
          <p:cNvPr id="137" name="Rectangle 92"/>
          <p:cNvSpPr>
            <a:spLocks noChangeArrowheads="1"/>
          </p:cNvSpPr>
          <p:nvPr/>
        </p:nvSpPr>
        <p:spPr bwMode="black">
          <a:xfrm>
            <a:off x="5907247" y="4995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38" name="Rectangle 19"/>
          <p:cNvSpPr>
            <a:spLocks noChangeArrowheads="1"/>
          </p:cNvSpPr>
          <p:nvPr/>
        </p:nvSpPr>
        <p:spPr bwMode="auto">
          <a:xfrm>
            <a:off x="4599939" y="4996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red</a:t>
            </a:r>
          </a:p>
        </p:txBody>
      </p:sp>
      <p:cxnSp>
        <p:nvCxnSpPr>
          <p:cNvPr id="139" name="Straight Arrow Connector 243"/>
          <p:cNvCxnSpPr>
            <a:cxnSpLocks noChangeShapeType="1"/>
            <a:stCxn id="138" idx="3"/>
            <a:endCxn id="137" idx="1"/>
          </p:cNvCxnSpPr>
          <p:nvPr/>
        </p:nvCxnSpPr>
        <p:spPr bwMode="auto">
          <a:xfrm>
            <a:off x="5750878" y="5146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40" name="Straight Arrow Connector 244"/>
          <p:cNvCxnSpPr>
            <a:cxnSpLocks noChangeShapeType="1"/>
            <a:stCxn id="137" idx="3"/>
            <a:endCxn id="166" idx="1"/>
          </p:cNvCxnSpPr>
          <p:nvPr/>
        </p:nvCxnSpPr>
        <p:spPr bwMode="auto">
          <a:xfrm flipV="1">
            <a:off x="6181362" y="5146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sp>
        <p:nvSpPr>
          <p:cNvPr id="142" name="Rectangle 92"/>
          <p:cNvSpPr>
            <a:spLocks noChangeArrowheads="1"/>
          </p:cNvSpPr>
          <p:nvPr/>
        </p:nvSpPr>
        <p:spPr bwMode="black">
          <a:xfrm>
            <a:off x="5907247" y="5376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43" name="Rectangle 19"/>
          <p:cNvSpPr>
            <a:spLocks noChangeArrowheads="1"/>
          </p:cNvSpPr>
          <p:nvPr/>
        </p:nvSpPr>
        <p:spPr bwMode="auto">
          <a:xfrm>
            <a:off x="4607877" y="5377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two</a:t>
            </a:r>
          </a:p>
        </p:txBody>
      </p:sp>
      <p:cxnSp>
        <p:nvCxnSpPr>
          <p:cNvPr id="144" name="Straight Arrow Connector 243"/>
          <p:cNvCxnSpPr>
            <a:cxnSpLocks noChangeShapeType="1"/>
            <a:stCxn id="143" idx="3"/>
            <a:endCxn id="142" idx="1"/>
          </p:cNvCxnSpPr>
          <p:nvPr/>
        </p:nvCxnSpPr>
        <p:spPr bwMode="auto">
          <a:xfrm>
            <a:off x="5758816" y="5527921"/>
            <a:ext cx="14843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45" name="Straight Arrow Connector 244"/>
          <p:cNvCxnSpPr>
            <a:cxnSpLocks noChangeShapeType="1"/>
            <a:stCxn id="142" idx="3"/>
            <a:endCxn id="167" idx="1"/>
          </p:cNvCxnSpPr>
          <p:nvPr/>
        </p:nvCxnSpPr>
        <p:spPr bwMode="auto">
          <a:xfrm flipV="1">
            <a:off x="6181362" y="5527921"/>
            <a:ext cx="18511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sp>
        <p:nvSpPr>
          <p:cNvPr id="157" name="Rectangle 6"/>
          <p:cNvSpPr>
            <a:spLocks noChangeArrowheads="1"/>
          </p:cNvSpPr>
          <p:nvPr/>
        </p:nvSpPr>
        <p:spPr bwMode="auto">
          <a:xfrm>
            <a:off x="6358543" y="2329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158" name="Rectangle 7"/>
          <p:cNvSpPr>
            <a:spLocks noChangeArrowheads="1"/>
          </p:cNvSpPr>
          <p:nvPr/>
        </p:nvSpPr>
        <p:spPr bwMode="auto">
          <a:xfrm>
            <a:off x="6358543" y="2710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4</a:t>
            </a:r>
          </a:p>
        </p:txBody>
      </p:sp>
      <p:sp>
        <p:nvSpPr>
          <p:cNvPr id="159" name="Rectangle 8"/>
          <p:cNvSpPr>
            <a:spLocks noChangeArrowheads="1"/>
          </p:cNvSpPr>
          <p:nvPr/>
        </p:nvSpPr>
        <p:spPr bwMode="auto">
          <a:xfrm>
            <a:off x="6358543" y="3093490"/>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60" name="Rectangle 10"/>
          <p:cNvSpPr>
            <a:spLocks noChangeArrowheads="1"/>
          </p:cNvSpPr>
          <p:nvPr/>
        </p:nvSpPr>
        <p:spPr bwMode="auto">
          <a:xfrm>
            <a:off x="6358543" y="3853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4</a:t>
            </a:r>
          </a:p>
        </p:txBody>
      </p:sp>
      <p:sp>
        <p:nvSpPr>
          <p:cNvPr id="161" name="Rectangle 16"/>
          <p:cNvSpPr>
            <a:spLocks noChangeArrowheads="1"/>
          </p:cNvSpPr>
          <p:nvPr/>
        </p:nvSpPr>
        <p:spPr bwMode="auto">
          <a:xfrm>
            <a:off x="6358543" y="3472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4</a:t>
            </a:r>
          </a:p>
        </p:txBody>
      </p:sp>
      <p:sp>
        <p:nvSpPr>
          <p:cNvPr id="162" name="Rectangle 18"/>
          <p:cNvSpPr>
            <a:spLocks noChangeArrowheads="1"/>
          </p:cNvSpPr>
          <p:nvPr/>
        </p:nvSpPr>
        <p:spPr bwMode="auto">
          <a:xfrm>
            <a:off x="6358543" y="4234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163" name="Rectangle 19"/>
          <p:cNvSpPr>
            <a:spLocks noChangeArrowheads="1"/>
          </p:cNvSpPr>
          <p:nvPr/>
        </p:nvSpPr>
        <p:spPr bwMode="auto">
          <a:xfrm>
            <a:off x="6358543" y="1950487"/>
            <a:ext cx="284163" cy="300039"/>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64" name="Rectangle 34"/>
          <p:cNvSpPr>
            <a:spLocks noChangeArrowheads="1"/>
          </p:cNvSpPr>
          <p:nvPr/>
        </p:nvSpPr>
        <p:spPr bwMode="auto">
          <a:xfrm>
            <a:off x="6358543" y="4615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65" name="Rectangle 7"/>
          <p:cNvSpPr>
            <a:spLocks noChangeArrowheads="1"/>
          </p:cNvSpPr>
          <p:nvPr/>
        </p:nvSpPr>
        <p:spPr bwMode="auto">
          <a:xfrm>
            <a:off x="7101841" y="3093490"/>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66" name="Rectangle 34"/>
          <p:cNvSpPr>
            <a:spLocks noChangeArrowheads="1"/>
          </p:cNvSpPr>
          <p:nvPr/>
        </p:nvSpPr>
        <p:spPr bwMode="auto">
          <a:xfrm>
            <a:off x="6358543" y="4996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67" name="Rectangle 34"/>
          <p:cNvSpPr>
            <a:spLocks noChangeArrowheads="1"/>
          </p:cNvSpPr>
          <p:nvPr/>
        </p:nvSpPr>
        <p:spPr bwMode="auto">
          <a:xfrm>
            <a:off x="6366481" y="5377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cxnSp>
        <p:nvCxnSpPr>
          <p:cNvPr id="194" name="Straight Arrow Connector 236"/>
          <p:cNvCxnSpPr>
            <a:cxnSpLocks noChangeShapeType="1"/>
            <a:stCxn id="182" idx="3"/>
            <a:endCxn id="165" idx="1"/>
          </p:cNvCxnSpPr>
          <p:nvPr/>
        </p:nvCxnSpPr>
        <p:spPr bwMode="auto">
          <a:xfrm>
            <a:off x="6928804" y="3243507"/>
            <a:ext cx="173037" cy="1588"/>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grpSp>
        <p:nvGrpSpPr>
          <p:cNvPr id="148" name="Group 16"/>
          <p:cNvGrpSpPr/>
          <p:nvPr/>
        </p:nvGrpSpPr>
        <p:grpSpPr>
          <a:xfrm>
            <a:off x="907666" y="1073380"/>
            <a:ext cx="1940813" cy="490954"/>
            <a:chOff x="762000" y="1905000"/>
            <a:chExt cx="1940812" cy="490954"/>
          </a:xfrm>
        </p:grpSpPr>
        <p:sp>
          <p:nvSpPr>
            <p:cNvPr id="151" name="TextBox 150"/>
            <p:cNvSpPr txBox="1"/>
            <p:nvPr/>
          </p:nvSpPr>
          <p:spPr>
            <a:xfrm>
              <a:off x="838200" y="2057400"/>
              <a:ext cx="1864612"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one fish, two fish</a:t>
              </a:r>
            </a:p>
          </p:txBody>
        </p:sp>
        <p:sp>
          <p:nvSpPr>
            <p:cNvPr id="154" name="TextBox 153"/>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1</a:t>
              </a:r>
            </a:p>
          </p:txBody>
        </p:sp>
      </p:grpSp>
      <p:grpSp>
        <p:nvGrpSpPr>
          <p:cNvPr id="168" name="Group 32"/>
          <p:cNvGrpSpPr/>
          <p:nvPr/>
        </p:nvGrpSpPr>
        <p:grpSpPr>
          <a:xfrm>
            <a:off x="906980" y="1892171"/>
            <a:ext cx="1963255" cy="490954"/>
            <a:chOff x="762000" y="1905000"/>
            <a:chExt cx="1963255" cy="490954"/>
          </a:xfrm>
        </p:grpSpPr>
        <p:sp>
          <p:nvSpPr>
            <p:cNvPr id="169" name="TextBox 168"/>
            <p:cNvSpPr txBox="1"/>
            <p:nvPr/>
          </p:nvSpPr>
          <p:spPr>
            <a:xfrm>
              <a:off x="838200" y="2057400"/>
              <a:ext cx="1887055"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red fish, blue fish</a:t>
              </a:r>
            </a:p>
          </p:txBody>
        </p:sp>
        <p:sp>
          <p:nvSpPr>
            <p:cNvPr id="170" name="TextBox 169"/>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2</a:t>
              </a:r>
            </a:p>
          </p:txBody>
        </p:sp>
      </p:grpSp>
      <p:grpSp>
        <p:nvGrpSpPr>
          <p:cNvPr id="171" name="Group 44"/>
          <p:cNvGrpSpPr/>
          <p:nvPr/>
        </p:nvGrpSpPr>
        <p:grpSpPr>
          <a:xfrm>
            <a:off x="984647" y="2750074"/>
            <a:ext cx="1528842" cy="490954"/>
            <a:chOff x="762000" y="1905000"/>
            <a:chExt cx="1528842" cy="490954"/>
          </a:xfrm>
        </p:grpSpPr>
        <p:sp>
          <p:nvSpPr>
            <p:cNvPr id="172" name="TextBox 171"/>
            <p:cNvSpPr txBox="1"/>
            <p:nvPr/>
          </p:nvSpPr>
          <p:spPr>
            <a:xfrm>
              <a:off x="838200" y="2057400"/>
              <a:ext cx="1452642"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cat in the hat</a:t>
              </a:r>
            </a:p>
          </p:txBody>
        </p:sp>
        <p:sp>
          <p:nvSpPr>
            <p:cNvPr id="173" name="TextBox 172"/>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3</a:t>
              </a:r>
            </a:p>
          </p:txBody>
        </p:sp>
      </p:grpSp>
      <p:grpSp>
        <p:nvGrpSpPr>
          <p:cNvPr id="174" name="Group 44"/>
          <p:cNvGrpSpPr/>
          <p:nvPr/>
        </p:nvGrpSpPr>
        <p:grpSpPr>
          <a:xfrm>
            <a:off x="936799" y="3499510"/>
            <a:ext cx="2255002" cy="490954"/>
            <a:chOff x="762000" y="1905000"/>
            <a:chExt cx="2255003" cy="490954"/>
          </a:xfrm>
        </p:grpSpPr>
        <p:sp>
          <p:nvSpPr>
            <p:cNvPr id="175" name="TextBox 174"/>
            <p:cNvSpPr txBox="1"/>
            <p:nvPr/>
          </p:nvSpPr>
          <p:spPr>
            <a:xfrm>
              <a:off x="838200" y="2057400"/>
              <a:ext cx="2178803"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green eggs and ham</a:t>
              </a:r>
            </a:p>
          </p:txBody>
        </p:sp>
        <p:sp>
          <p:nvSpPr>
            <p:cNvPr id="176" name="TextBox 175"/>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4</a:t>
              </a:r>
            </a:p>
          </p:txBody>
        </p:sp>
      </p:grpSp>
      <p:sp>
        <p:nvSpPr>
          <p:cNvPr id="146" name="TextBox 145"/>
          <p:cNvSpPr txBox="1"/>
          <p:nvPr/>
        </p:nvSpPr>
        <p:spPr>
          <a:xfrm>
            <a:off x="457200" y="83077"/>
            <a:ext cx="2872902" cy="5539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000" b="0" i="0" u="none" strike="noStrike" kern="1200" cap="none" spc="0" normalizeH="0" baseline="0" noProof="0" dirty="0">
                <a:ln>
                  <a:noFill/>
                </a:ln>
                <a:solidFill>
                  <a:prstClr val="black"/>
                </a:solidFill>
                <a:effectLst/>
                <a:uLnTx/>
                <a:uFillTx/>
                <a:latin typeface="Century Schoolbook" panose="02040604050505020304"/>
                <a:ea typeface="+mn-ea"/>
                <a:cs typeface="+mn-cs"/>
              </a:rPr>
              <a:t>Creating Index</a:t>
            </a:r>
          </a:p>
        </p:txBody>
      </p:sp>
      <p:sp>
        <p:nvSpPr>
          <p:cNvPr id="2" name="TextBox 1"/>
          <p:cNvSpPr txBox="1"/>
          <p:nvPr/>
        </p:nvSpPr>
        <p:spPr>
          <a:xfrm>
            <a:off x="3375143" y="77169"/>
            <a:ext cx="5064207"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C00000"/>
                </a:solidFill>
                <a:effectLst/>
                <a:uLnTx/>
                <a:uFillTx/>
                <a:latin typeface="Century Schoolbook" panose="02040604050505020304"/>
                <a:ea typeface="+mn-ea"/>
                <a:cs typeface="+mn-cs"/>
              </a:rPr>
              <a:t>Inverted Index Structure </a:t>
            </a:r>
          </a:p>
        </p:txBody>
      </p:sp>
      <p:sp>
        <p:nvSpPr>
          <p:cNvPr id="3" name="TextBox 2">
            <a:extLst>
              <a:ext uri="{FF2B5EF4-FFF2-40B4-BE49-F238E27FC236}">
                <a16:creationId xmlns:a16="http://schemas.microsoft.com/office/drawing/2014/main" id="{6B37F5E4-154E-DA56-6E03-26B2AE192481}"/>
              </a:ext>
            </a:extLst>
          </p:cNvPr>
          <p:cNvSpPr txBox="1"/>
          <p:nvPr/>
        </p:nvSpPr>
        <p:spPr>
          <a:xfrm>
            <a:off x="3191801" y="1186140"/>
            <a:ext cx="8353406" cy="369332"/>
          </a:xfrm>
          <a:prstGeom prst="rect">
            <a:avLst/>
          </a:prstGeom>
          <a:noFill/>
        </p:spPr>
        <p:txBody>
          <a:bodyPr wrap="square" rtlCol="0">
            <a:spAutoFit/>
          </a:bodyPr>
          <a:lstStyle/>
          <a:p>
            <a:r>
              <a:rPr lang="en-US" dirty="0">
                <a:solidFill>
                  <a:schemeClr val="bg1"/>
                </a:solidFill>
              </a:rPr>
              <a:t>Blue -&gt; </a:t>
            </a:r>
            <a:r>
              <a:rPr lang="en-US" dirty="0" err="1">
                <a:solidFill>
                  <a:schemeClr val="bg1"/>
                </a:solidFill>
              </a:rPr>
              <a:t>num_of_docs_where_it</a:t>
            </a:r>
            <a:r>
              <a:rPr lang="en-US" dirty="0">
                <a:solidFill>
                  <a:schemeClr val="bg1"/>
                </a:solidFill>
              </a:rPr>
              <a:t> appears -&gt; (which doc, </a:t>
            </a:r>
            <a:r>
              <a:rPr lang="en-US" dirty="0" err="1">
                <a:solidFill>
                  <a:schemeClr val="bg1"/>
                </a:solidFill>
              </a:rPr>
              <a:t>freq</a:t>
            </a:r>
            <a:r>
              <a:rPr lang="en-US" dirty="0">
                <a:solidFill>
                  <a:schemeClr val="bg1"/>
                </a:solidFill>
              </a:rPr>
              <a:t> </a:t>
            </a:r>
            <a:r>
              <a:rPr lang="en-US" dirty="0" err="1">
                <a:solidFill>
                  <a:schemeClr val="bg1"/>
                </a:solidFill>
              </a:rPr>
              <a:t>cnt</a:t>
            </a:r>
            <a:r>
              <a:rPr lang="en-US" dirty="0">
                <a:solidFill>
                  <a:schemeClr val="bg1"/>
                </a:solidFill>
              </a:rPr>
              <a:t> in that doc)</a:t>
            </a:r>
          </a:p>
        </p:txBody>
      </p:sp>
      <p:sp>
        <p:nvSpPr>
          <p:cNvPr id="5" name="TextBox 4">
            <a:extLst>
              <a:ext uri="{FF2B5EF4-FFF2-40B4-BE49-F238E27FC236}">
                <a16:creationId xmlns:a16="http://schemas.microsoft.com/office/drawing/2014/main" id="{731470A2-A646-3356-5A97-01F9C130EB37}"/>
              </a:ext>
            </a:extLst>
          </p:cNvPr>
          <p:cNvSpPr txBox="1"/>
          <p:nvPr/>
        </p:nvSpPr>
        <p:spPr>
          <a:xfrm>
            <a:off x="7940740" y="1892171"/>
            <a:ext cx="3190413" cy="4524315"/>
          </a:xfrm>
          <a:prstGeom prst="rect">
            <a:avLst/>
          </a:prstGeom>
          <a:noFill/>
        </p:spPr>
        <p:txBody>
          <a:bodyPr wrap="square" rtlCol="0">
            <a:spAutoFit/>
          </a:bodyPr>
          <a:lstStyle/>
          <a:p>
            <a:r>
              <a:rPr lang="en-US" dirty="0">
                <a:solidFill>
                  <a:schemeClr val="bg1"/>
                </a:solidFill>
              </a:rPr>
              <a:t>Index structure is in dictionary order, words sorted based on dictionary structure</a:t>
            </a:r>
          </a:p>
          <a:p>
            <a:endParaRPr lang="en-US" dirty="0">
              <a:solidFill>
                <a:schemeClr val="bg1"/>
              </a:solidFill>
            </a:endParaRPr>
          </a:p>
          <a:p>
            <a:endParaRPr lang="en-US" dirty="0">
              <a:solidFill>
                <a:schemeClr val="bg1"/>
              </a:solidFill>
            </a:endParaRPr>
          </a:p>
          <a:p>
            <a:r>
              <a:rPr lang="en-US" dirty="0">
                <a:solidFill>
                  <a:schemeClr val="bg1"/>
                </a:solidFill>
              </a:rPr>
              <a:t>Posting list is list of documents for a particular word where u can find that word. </a:t>
            </a:r>
          </a:p>
          <a:p>
            <a:endParaRPr lang="en-US" dirty="0">
              <a:solidFill>
                <a:schemeClr val="bg1"/>
              </a:solidFill>
            </a:endParaRPr>
          </a:p>
          <a:p>
            <a:r>
              <a:rPr lang="en-US" dirty="0">
                <a:solidFill>
                  <a:schemeClr val="bg1"/>
                </a:solidFill>
              </a:rPr>
              <a:t>Posting list is sorted based on doc id.</a:t>
            </a:r>
          </a:p>
          <a:p>
            <a:endParaRPr lang="en-US" dirty="0">
              <a:solidFill>
                <a:schemeClr val="bg1"/>
              </a:solidFill>
            </a:endParaRPr>
          </a:p>
          <a:p>
            <a:r>
              <a:rPr lang="en-US" dirty="0">
                <a:solidFill>
                  <a:schemeClr val="bg1"/>
                </a:solidFill>
              </a:rPr>
              <a:t>The first green box is </a:t>
            </a:r>
            <a:r>
              <a:rPr lang="en-US" dirty="0" err="1">
                <a:solidFill>
                  <a:schemeClr val="bg1"/>
                </a:solidFill>
              </a:rPr>
              <a:t>len</a:t>
            </a:r>
            <a:r>
              <a:rPr lang="en-US" dirty="0">
                <a:solidFill>
                  <a:schemeClr val="bg1"/>
                </a:solidFill>
              </a:rPr>
              <a:t> of posting list</a:t>
            </a:r>
          </a:p>
        </p:txBody>
      </p:sp>
    </p:spTree>
    <p:extLst>
      <p:ext uri="{BB962C8B-B14F-4D97-AF65-F5344CB8AC3E}">
        <p14:creationId xmlns:p14="http://schemas.microsoft.com/office/powerpoint/2010/main" val="2108877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1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3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4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4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5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5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5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6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6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6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6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6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6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6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6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8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8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8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8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8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8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86"/>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87"/>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8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89"/>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9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137" grpId="0" animBg="1"/>
      <p:bldP spid="138" grpId="0" animBg="1"/>
      <p:bldP spid="142" grpId="0" animBg="1"/>
      <p:bldP spid="143"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48" name="Group 16"/>
          <p:cNvGrpSpPr/>
          <p:nvPr/>
        </p:nvGrpSpPr>
        <p:grpSpPr>
          <a:xfrm>
            <a:off x="907666" y="1073380"/>
            <a:ext cx="1940813" cy="490954"/>
            <a:chOff x="762000" y="1905000"/>
            <a:chExt cx="1940812" cy="490954"/>
          </a:xfrm>
        </p:grpSpPr>
        <p:sp>
          <p:nvSpPr>
            <p:cNvPr id="151" name="TextBox 150"/>
            <p:cNvSpPr txBox="1"/>
            <p:nvPr/>
          </p:nvSpPr>
          <p:spPr>
            <a:xfrm>
              <a:off x="838200" y="2057400"/>
              <a:ext cx="1864612"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one fish, two fish</a:t>
              </a:r>
            </a:p>
          </p:txBody>
        </p:sp>
        <p:sp>
          <p:nvSpPr>
            <p:cNvPr id="154" name="TextBox 153"/>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1</a:t>
              </a:r>
            </a:p>
          </p:txBody>
        </p:sp>
      </p:grpSp>
      <p:grpSp>
        <p:nvGrpSpPr>
          <p:cNvPr id="168" name="Group 32"/>
          <p:cNvGrpSpPr/>
          <p:nvPr/>
        </p:nvGrpSpPr>
        <p:grpSpPr>
          <a:xfrm>
            <a:off x="906980" y="1892171"/>
            <a:ext cx="1963255" cy="490954"/>
            <a:chOff x="762000" y="1905000"/>
            <a:chExt cx="1963255" cy="490954"/>
          </a:xfrm>
        </p:grpSpPr>
        <p:sp>
          <p:nvSpPr>
            <p:cNvPr id="169" name="TextBox 168"/>
            <p:cNvSpPr txBox="1"/>
            <p:nvPr/>
          </p:nvSpPr>
          <p:spPr>
            <a:xfrm>
              <a:off x="838200" y="2057400"/>
              <a:ext cx="1887055"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red fish, blue fish</a:t>
              </a:r>
            </a:p>
          </p:txBody>
        </p:sp>
        <p:sp>
          <p:nvSpPr>
            <p:cNvPr id="170" name="TextBox 169"/>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2</a:t>
              </a:r>
            </a:p>
          </p:txBody>
        </p:sp>
      </p:grpSp>
      <p:grpSp>
        <p:nvGrpSpPr>
          <p:cNvPr id="171" name="Group 44"/>
          <p:cNvGrpSpPr/>
          <p:nvPr/>
        </p:nvGrpSpPr>
        <p:grpSpPr>
          <a:xfrm>
            <a:off x="984647" y="2750074"/>
            <a:ext cx="1528842" cy="490954"/>
            <a:chOff x="762000" y="1905000"/>
            <a:chExt cx="1528842" cy="490954"/>
          </a:xfrm>
        </p:grpSpPr>
        <p:sp>
          <p:nvSpPr>
            <p:cNvPr id="172" name="TextBox 171"/>
            <p:cNvSpPr txBox="1"/>
            <p:nvPr/>
          </p:nvSpPr>
          <p:spPr>
            <a:xfrm>
              <a:off x="838200" y="2057400"/>
              <a:ext cx="1452642"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cat in the hat</a:t>
              </a:r>
            </a:p>
          </p:txBody>
        </p:sp>
        <p:sp>
          <p:nvSpPr>
            <p:cNvPr id="173" name="TextBox 172"/>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3</a:t>
              </a:r>
            </a:p>
          </p:txBody>
        </p:sp>
      </p:grpSp>
      <p:grpSp>
        <p:nvGrpSpPr>
          <p:cNvPr id="174" name="Group 44"/>
          <p:cNvGrpSpPr/>
          <p:nvPr/>
        </p:nvGrpSpPr>
        <p:grpSpPr>
          <a:xfrm>
            <a:off x="936799" y="3499510"/>
            <a:ext cx="2255002" cy="490954"/>
            <a:chOff x="762000" y="1905000"/>
            <a:chExt cx="2255003" cy="490954"/>
          </a:xfrm>
        </p:grpSpPr>
        <p:sp>
          <p:nvSpPr>
            <p:cNvPr id="175" name="TextBox 174"/>
            <p:cNvSpPr txBox="1"/>
            <p:nvPr/>
          </p:nvSpPr>
          <p:spPr>
            <a:xfrm>
              <a:off x="838200" y="2057400"/>
              <a:ext cx="2178803"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green eggs and ham</a:t>
              </a:r>
            </a:p>
          </p:txBody>
        </p:sp>
        <p:sp>
          <p:nvSpPr>
            <p:cNvPr id="176" name="TextBox 175"/>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4</a:t>
              </a:r>
            </a:p>
          </p:txBody>
        </p:sp>
      </p:grpSp>
      <p:sp>
        <p:nvSpPr>
          <p:cNvPr id="2" name="TextBox 1"/>
          <p:cNvSpPr txBox="1"/>
          <p:nvPr/>
        </p:nvSpPr>
        <p:spPr>
          <a:xfrm>
            <a:off x="794721" y="126650"/>
            <a:ext cx="8121134"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C00000"/>
                </a:solidFill>
                <a:effectLst/>
                <a:uLnTx/>
                <a:uFillTx/>
                <a:latin typeface="Century Schoolbook" panose="02040604050505020304"/>
                <a:ea typeface="+mn-ea"/>
                <a:cs typeface="+mn-cs"/>
              </a:rPr>
              <a:t>Inverted Index Structure (with positions) </a:t>
            </a:r>
          </a:p>
        </p:txBody>
      </p:sp>
      <p:sp>
        <p:nvSpPr>
          <p:cNvPr id="95" name="Rectangle 19"/>
          <p:cNvSpPr>
            <a:spLocks noChangeArrowheads="1"/>
          </p:cNvSpPr>
          <p:nvPr/>
        </p:nvSpPr>
        <p:spPr bwMode="auto">
          <a:xfrm>
            <a:off x="8587247" y="2357877"/>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[2,4]</a:t>
            </a:r>
          </a:p>
        </p:txBody>
      </p:sp>
      <p:sp>
        <p:nvSpPr>
          <p:cNvPr id="96" name="Rectangle 19"/>
          <p:cNvSpPr>
            <a:spLocks noChangeArrowheads="1"/>
          </p:cNvSpPr>
          <p:nvPr/>
        </p:nvSpPr>
        <p:spPr bwMode="auto">
          <a:xfrm>
            <a:off x="7563119" y="1214877"/>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97" name="Rectangle 19"/>
          <p:cNvSpPr>
            <a:spLocks noChangeArrowheads="1"/>
          </p:cNvSpPr>
          <p:nvPr/>
        </p:nvSpPr>
        <p:spPr bwMode="auto">
          <a:xfrm>
            <a:off x="7563119" y="2357877"/>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[2,4]</a:t>
            </a:r>
          </a:p>
        </p:txBody>
      </p:sp>
      <p:sp>
        <p:nvSpPr>
          <p:cNvPr id="98" name="Rectangle 19"/>
          <p:cNvSpPr>
            <a:spLocks noChangeArrowheads="1"/>
          </p:cNvSpPr>
          <p:nvPr/>
        </p:nvSpPr>
        <p:spPr bwMode="auto">
          <a:xfrm>
            <a:off x="7563119" y="1973829"/>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99" name="Rectangle 19"/>
          <p:cNvSpPr>
            <a:spLocks noChangeArrowheads="1"/>
          </p:cNvSpPr>
          <p:nvPr/>
        </p:nvSpPr>
        <p:spPr bwMode="auto">
          <a:xfrm>
            <a:off x="7563119" y="1589781"/>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00" name="Rectangle 19"/>
          <p:cNvSpPr>
            <a:spLocks noChangeArrowheads="1"/>
          </p:cNvSpPr>
          <p:nvPr/>
        </p:nvSpPr>
        <p:spPr bwMode="auto">
          <a:xfrm>
            <a:off x="7563119" y="2732781"/>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01" name="Rectangle 19"/>
          <p:cNvSpPr>
            <a:spLocks noChangeArrowheads="1"/>
          </p:cNvSpPr>
          <p:nvPr/>
        </p:nvSpPr>
        <p:spPr bwMode="auto">
          <a:xfrm>
            <a:off x="7563119" y="3116829"/>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102" name="Rectangle 19"/>
          <p:cNvSpPr>
            <a:spLocks noChangeArrowheads="1"/>
          </p:cNvSpPr>
          <p:nvPr/>
        </p:nvSpPr>
        <p:spPr bwMode="auto">
          <a:xfrm>
            <a:off x="7563119" y="3500877"/>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19" name="Rectangle 19"/>
          <p:cNvSpPr>
            <a:spLocks noChangeArrowheads="1"/>
          </p:cNvSpPr>
          <p:nvPr/>
        </p:nvSpPr>
        <p:spPr bwMode="auto">
          <a:xfrm>
            <a:off x="7563119" y="3875781"/>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20" name="Rectangle 19"/>
          <p:cNvSpPr>
            <a:spLocks noChangeArrowheads="1"/>
          </p:cNvSpPr>
          <p:nvPr/>
        </p:nvSpPr>
        <p:spPr bwMode="auto">
          <a:xfrm>
            <a:off x="7563119" y="4259829"/>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21" name="Rectangle 19"/>
          <p:cNvSpPr>
            <a:spLocks noChangeArrowheads="1"/>
          </p:cNvSpPr>
          <p:nvPr/>
        </p:nvSpPr>
        <p:spPr bwMode="auto">
          <a:xfrm>
            <a:off x="7563119" y="4643877"/>
            <a:ext cx="284163" cy="300039"/>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122" name="Rectangle 7"/>
          <p:cNvSpPr>
            <a:spLocks noChangeArrowheads="1"/>
          </p:cNvSpPr>
          <p:nvPr/>
        </p:nvSpPr>
        <p:spPr bwMode="auto">
          <a:xfrm>
            <a:off x="8303783" y="2355720"/>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23" name="Rectangle 6"/>
          <p:cNvSpPr>
            <a:spLocks noChangeArrowheads="1"/>
          </p:cNvSpPr>
          <p:nvPr/>
        </p:nvSpPr>
        <p:spPr bwMode="auto">
          <a:xfrm>
            <a:off x="7276607" y="159213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24" name="Rectangle 7"/>
          <p:cNvSpPr>
            <a:spLocks noChangeArrowheads="1"/>
          </p:cNvSpPr>
          <p:nvPr/>
        </p:nvSpPr>
        <p:spPr bwMode="auto">
          <a:xfrm>
            <a:off x="7276607" y="197313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25" name="Rectangle 8"/>
          <p:cNvSpPr>
            <a:spLocks noChangeArrowheads="1"/>
          </p:cNvSpPr>
          <p:nvPr/>
        </p:nvSpPr>
        <p:spPr bwMode="auto">
          <a:xfrm>
            <a:off x="7276607" y="2355720"/>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26" name="Rectangle 10"/>
          <p:cNvSpPr>
            <a:spLocks noChangeArrowheads="1"/>
          </p:cNvSpPr>
          <p:nvPr/>
        </p:nvSpPr>
        <p:spPr bwMode="auto">
          <a:xfrm>
            <a:off x="7276607" y="311613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27" name="Rectangle 16"/>
          <p:cNvSpPr>
            <a:spLocks noChangeArrowheads="1"/>
          </p:cNvSpPr>
          <p:nvPr/>
        </p:nvSpPr>
        <p:spPr bwMode="auto">
          <a:xfrm>
            <a:off x="7276607" y="273513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28" name="Rectangle 18"/>
          <p:cNvSpPr>
            <a:spLocks noChangeArrowheads="1"/>
          </p:cNvSpPr>
          <p:nvPr/>
        </p:nvSpPr>
        <p:spPr bwMode="auto">
          <a:xfrm>
            <a:off x="7276607" y="349713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29" name="Rectangle 19"/>
          <p:cNvSpPr>
            <a:spLocks noChangeArrowheads="1"/>
          </p:cNvSpPr>
          <p:nvPr/>
        </p:nvSpPr>
        <p:spPr bwMode="auto">
          <a:xfrm>
            <a:off x="7276607" y="1212718"/>
            <a:ext cx="284163" cy="300039"/>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30" name="Rectangle 34"/>
          <p:cNvSpPr>
            <a:spLocks noChangeArrowheads="1"/>
          </p:cNvSpPr>
          <p:nvPr/>
        </p:nvSpPr>
        <p:spPr bwMode="auto">
          <a:xfrm>
            <a:off x="7276607" y="387813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31" name="Rectangle 34"/>
          <p:cNvSpPr>
            <a:spLocks noChangeArrowheads="1"/>
          </p:cNvSpPr>
          <p:nvPr/>
        </p:nvSpPr>
        <p:spPr bwMode="auto">
          <a:xfrm>
            <a:off x="7276607" y="425913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32" name="Rectangle 34"/>
          <p:cNvSpPr>
            <a:spLocks noChangeArrowheads="1"/>
          </p:cNvSpPr>
          <p:nvPr/>
        </p:nvSpPr>
        <p:spPr bwMode="auto">
          <a:xfrm>
            <a:off x="7284545" y="464013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33" name="Rectangle 85"/>
          <p:cNvSpPr>
            <a:spLocks noChangeArrowheads="1"/>
          </p:cNvSpPr>
          <p:nvPr/>
        </p:nvSpPr>
        <p:spPr bwMode="black">
          <a:xfrm>
            <a:off x="6539213" y="120954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34" name="Rectangle 86"/>
          <p:cNvSpPr>
            <a:spLocks noChangeArrowheads="1"/>
          </p:cNvSpPr>
          <p:nvPr/>
        </p:nvSpPr>
        <p:spPr bwMode="black">
          <a:xfrm>
            <a:off x="6539213" y="159054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35" name="Rectangle 87"/>
          <p:cNvSpPr>
            <a:spLocks noChangeArrowheads="1"/>
          </p:cNvSpPr>
          <p:nvPr/>
        </p:nvSpPr>
        <p:spPr bwMode="black">
          <a:xfrm>
            <a:off x="6539213" y="197154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36" name="Rectangle 88"/>
          <p:cNvSpPr>
            <a:spLocks noChangeArrowheads="1"/>
          </p:cNvSpPr>
          <p:nvPr/>
        </p:nvSpPr>
        <p:spPr bwMode="black">
          <a:xfrm>
            <a:off x="6539213" y="349554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41" name="Rectangle 89"/>
          <p:cNvSpPr>
            <a:spLocks noChangeArrowheads="1"/>
          </p:cNvSpPr>
          <p:nvPr/>
        </p:nvSpPr>
        <p:spPr bwMode="black">
          <a:xfrm>
            <a:off x="6539213" y="273354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47" name="Rectangle 90"/>
          <p:cNvSpPr>
            <a:spLocks noChangeArrowheads="1"/>
          </p:cNvSpPr>
          <p:nvPr/>
        </p:nvSpPr>
        <p:spPr bwMode="black">
          <a:xfrm>
            <a:off x="6539213" y="311454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49" name="Rectangle 91"/>
          <p:cNvSpPr>
            <a:spLocks noChangeArrowheads="1"/>
          </p:cNvSpPr>
          <p:nvPr/>
        </p:nvSpPr>
        <p:spPr bwMode="black">
          <a:xfrm>
            <a:off x="6539213" y="235254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50" name="Rectangle 92"/>
          <p:cNvSpPr>
            <a:spLocks noChangeArrowheads="1"/>
          </p:cNvSpPr>
          <p:nvPr/>
        </p:nvSpPr>
        <p:spPr bwMode="black">
          <a:xfrm>
            <a:off x="6539213" y="387654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52" name="Rectangle 19"/>
          <p:cNvSpPr>
            <a:spLocks noChangeArrowheads="1"/>
          </p:cNvSpPr>
          <p:nvPr/>
        </p:nvSpPr>
        <p:spPr bwMode="auto">
          <a:xfrm>
            <a:off x="5231904" y="1212718"/>
            <a:ext cx="1150939" cy="300039"/>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blue</a:t>
            </a:r>
          </a:p>
        </p:txBody>
      </p:sp>
      <p:sp>
        <p:nvSpPr>
          <p:cNvPr id="153" name="Rectangle 19"/>
          <p:cNvSpPr>
            <a:spLocks noChangeArrowheads="1"/>
          </p:cNvSpPr>
          <p:nvPr/>
        </p:nvSpPr>
        <p:spPr bwMode="auto">
          <a:xfrm>
            <a:off x="5231904" y="159213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cat</a:t>
            </a:r>
          </a:p>
        </p:txBody>
      </p:sp>
      <p:sp>
        <p:nvSpPr>
          <p:cNvPr id="155" name="Rectangle 19"/>
          <p:cNvSpPr>
            <a:spLocks noChangeArrowheads="1"/>
          </p:cNvSpPr>
          <p:nvPr/>
        </p:nvSpPr>
        <p:spPr bwMode="auto">
          <a:xfrm>
            <a:off x="5231904" y="197313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egg</a:t>
            </a:r>
          </a:p>
        </p:txBody>
      </p:sp>
      <p:sp>
        <p:nvSpPr>
          <p:cNvPr id="156" name="Rectangle 19"/>
          <p:cNvSpPr>
            <a:spLocks noChangeArrowheads="1"/>
          </p:cNvSpPr>
          <p:nvPr/>
        </p:nvSpPr>
        <p:spPr bwMode="auto">
          <a:xfrm>
            <a:off x="5231904" y="235513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fish</a:t>
            </a:r>
          </a:p>
        </p:txBody>
      </p:sp>
      <p:sp>
        <p:nvSpPr>
          <p:cNvPr id="177" name="Rectangle 19"/>
          <p:cNvSpPr>
            <a:spLocks noChangeArrowheads="1"/>
          </p:cNvSpPr>
          <p:nvPr/>
        </p:nvSpPr>
        <p:spPr bwMode="auto">
          <a:xfrm>
            <a:off x="5231904" y="273513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green</a:t>
            </a:r>
          </a:p>
        </p:txBody>
      </p:sp>
      <p:sp>
        <p:nvSpPr>
          <p:cNvPr id="178" name="Rectangle 19"/>
          <p:cNvSpPr>
            <a:spLocks noChangeArrowheads="1"/>
          </p:cNvSpPr>
          <p:nvPr/>
        </p:nvSpPr>
        <p:spPr bwMode="auto">
          <a:xfrm>
            <a:off x="5231904" y="311613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ham</a:t>
            </a:r>
          </a:p>
        </p:txBody>
      </p:sp>
      <p:sp>
        <p:nvSpPr>
          <p:cNvPr id="179" name="Rectangle 19"/>
          <p:cNvSpPr>
            <a:spLocks noChangeArrowheads="1"/>
          </p:cNvSpPr>
          <p:nvPr/>
        </p:nvSpPr>
        <p:spPr bwMode="auto">
          <a:xfrm>
            <a:off x="5231904" y="349713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hat</a:t>
            </a:r>
          </a:p>
        </p:txBody>
      </p:sp>
      <p:sp>
        <p:nvSpPr>
          <p:cNvPr id="190" name="Rectangle 19"/>
          <p:cNvSpPr>
            <a:spLocks noChangeArrowheads="1"/>
          </p:cNvSpPr>
          <p:nvPr/>
        </p:nvSpPr>
        <p:spPr bwMode="auto">
          <a:xfrm>
            <a:off x="5231904" y="387813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one</a:t>
            </a:r>
          </a:p>
        </p:txBody>
      </p:sp>
      <p:cxnSp>
        <p:nvCxnSpPr>
          <p:cNvPr id="191" name="Straight Arrow Connector 227"/>
          <p:cNvCxnSpPr>
            <a:cxnSpLocks noChangeShapeType="1"/>
            <a:stCxn id="152" idx="3"/>
            <a:endCxn id="133" idx="1"/>
          </p:cNvCxnSpPr>
          <p:nvPr/>
        </p:nvCxnSpPr>
        <p:spPr bwMode="auto">
          <a:xfrm flipV="1">
            <a:off x="6382843" y="1362150"/>
            <a:ext cx="156370" cy="588"/>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92" name="Straight Arrow Connector 228"/>
          <p:cNvCxnSpPr>
            <a:cxnSpLocks noChangeShapeType="1"/>
            <a:stCxn id="133" idx="3"/>
            <a:endCxn id="223" idx="1"/>
          </p:cNvCxnSpPr>
          <p:nvPr/>
        </p:nvCxnSpPr>
        <p:spPr bwMode="auto">
          <a:xfrm>
            <a:off x="6813328" y="1362150"/>
            <a:ext cx="177180" cy="588"/>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93" name="Straight Arrow Connector 231"/>
          <p:cNvCxnSpPr>
            <a:cxnSpLocks noChangeShapeType="1"/>
            <a:stCxn id="153" idx="3"/>
            <a:endCxn id="134" idx="1"/>
          </p:cNvCxnSpPr>
          <p:nvPr/>
        </p:nvCxnSpPr>
        <p:spPr bwMode="auto">
          <a:xfrm>
            <a:off x="6382843" y="1742151"/>
            <a:ext cx="15637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95" name="Straight Arrow Connector 232"/>
          <p:cNvCxnSpPr>
            <a:cxnSpLocks noChangeShapeType="1"/>
            <a:stCxn id="134" idx="3"/>
            <a:endCxn id="217" idx="1"/>
          </p:cNvCxnSpPr>
          <p:nvPr/>
        </p:nvCxnSpPr>
        <p:spPr bwMode="auto">
          <a:xfrm flipV="1">
            <a:off x="6813328" y="1742151"/>
            <a:ext cx="17718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96" name="Straight Arrow Connector 233"/>
          <p:cNvCxnSpPr>
            <a:cxnSpLocks noChangeShapeType="1"/>
            <a:stCxn id="155" idx="3"/>
            <a:endCxn id="135" idx="1"/>
          </p:cNvCxnSpPr>
          <p:nvPr/>
        </p:nvCxnSpPr>
        <p:spPr bwMode="auto">
          <a:xfrm>
            <a:off x="6382843" y="2123151"/>
            <a:ext cx="15637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97" name="Straight Arrow Connector 234"/>
          <p:cNvCxnSpPr>
            <a:cxnSpLocks noChangeShapeType="1"/>
            <a:stCxn id="135" idx="3"/>
            <a:endCxn id="218" idx="1"/>
          </p:cNvCxnSpPr>
          <p:nvPr/>
        </p:nvCxnSpPr>
        <p:spPr bwMode="auto">
          <a:xfrm flipV="1">
            <a:off x="6813328" y="2123151"/>
            <a:ext cx="17718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99" name="Straight Arrow Connector 235"/>
          <p:cNvCxnSpPr>
            <a:cxnSpLocks noChangeShapeType="1"/>
            <a:stCxn id="156" idx="3"/>
            <a:endCxn id="149" idx="1"/>
          </p:cNvCxnSpPr>
          <p:nvPr/>
        </p:nvCxnSpPr>
        <p:spPr bwMode="auto">
          <a:xfrm flipV="1">
            <a:off x="6382843" y="2505150"/>
            <a:ext cx="156370" cy="1"/>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00" name="Straight Arrow Connector 236"/>
          <p:cNvCxnSpPr>
            <a:cxnSpLocks noChangeShapeType="1"/>
            <a:stCxn id="149" idx="3"/>
            <a:endCxn id="219" idx="1"/>
          </p:cNvCxnSpPr>
          <p:nvPr/>
        </p:nvCxnSpPr>
        <p:spPr bwMode="auto">
          <a:xfrm>
            <a:off x="6813328" y="2505150"/>
            <a:ext cx="177180" cy="58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01" name="Straight Arrow Connector 237"/>
          <p:cNvCxnSpPr>
            <a:cxnSpLocks noChangeShapeType="1"/>
            <a:stCxn id="177" idx="3"/>
            <a:endCxn id="141" idx="1"/>
          </p:cNvCxnSpPr>
          <p:nvPr/>
        </p:nvCxnSpPr>
        <p:spPr bwMode="auto">
          <a:xfrm>
            <a:off x="6382843" y="2885151"/>
            <a:ext cx="15637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02" name="Straight Arrow Connector 238"/>
          <p:cNvCxnSpPr>
            <a:cxnSpLocks noChangeShapeType="1"/>
            <a:stCxn id="141" idx="3"/>
            <a:endCxn id="221" idx="1"/>
          </p:cNvCxnSpPr>
          <p:nvPr/>
        </p:nvCxnSpPr>
        <p:spPr bwMode="auto">
          <a:xfrm flipV="1">
            <a:off x="6813328" y="2885151"/>
            <a:ext cx="17718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03" name="Straight Arrow Connector 239"/>
          <p:cNvCxnSpPr>
            <a:cxnSpLocks noChangeShapeType="1"/>
            <a:stCxn id="178" idx="3"/>
            <a:endCxn id="147" idx="1"/>
          </p:cNvCxnSpPr>
          <p:nvPr/>
        </p:nvCxnSpPr>
        <p:spPr bwMode="auto">
          <a:xfrm>
            <a:off x="6382843" y="3266151"/>
            <a:ext cx="15637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04" name="Straight Arrow Connector 240"/>
          <p:cNvCxnSpPr>
            <a:cxnSpLocks noChangeShapeType="1"/>
            <a:stCxn id="147" idx="3"/>
            <a:endCxn id="220" idx="1"/>
          </p:cNvCxnSpPr>
          <p:nvPr/>
        </p:nvCxnSpPr>
        <p:spPr bwMode="auto">
          <a:xfrm flipV="1">
            <a:off x="6813328" y="3266151"/>
            <a:ext cx="17718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05" name="Straight Arrow Connector 241"/>
          <p:cNvCxnSpPr>
            <a:cxnSpLocks noChangeShapeType="1"/>
            <a:stCxn id="179" idx="3"/>
            <a:endCxn id="136" idx="1"/>
          </p:cNvCxnSpPr>
          <p:nvPr/>
        </p:nvCxnSpPr>
        <p:spPr bwMode="auto">
          <a:xfrm>
            <a:off x="6382843" y="3647151"/>
            <a:ext cx="15637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06" name="Straight Arrow Connector 242"/>
          <p:cNvCxnSpPr>
            <a:cxnSpLocks noChangeShapeType="1"/>
            <a:stCxn id="136" idx="3"/>
            <a:endCxn id="222" idx="1"/>
          </p:cNvCxnSpPr>
          <p:nvPr/>
        </p:nvCxnSpPr>
        <p:spPr bwMode="auto">
          <a:xfrm flipV="1">
            <a:off x="6813328" y="3647151"/>
            <a:ext cx="17718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07" name="Straight Arrow Connector 243"/>
          <p:cNvCxnSpPr>
            <a:cxnSpLocks noChangeShapeType="1"/>
            <a:stCxn id="190" idx="3"/>
            <a:endCxn id="150" idx="1"/>
          </p:cNvCxnSpPr>
          <p:nvPr/>
        </p:nvCxnSpPr>
        <p:spPr bwMode="auto">
          <a:xfrm>
            <a:off x="6382843" y="4028151"/>
            <a:ext cx="15637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08" name="Straight Arrow Connector 244"/>
          <p:cNvCxnSpPr>
            <a:cxnSpLocks noChangeShapeType="1"/>
            <a:stCxn id="150" idx="3"/>
            <a:endCxn id="224" idx="1"/>
          </p:cNvCxnSpPr>
          <p:nvPr/>
        </p:nvCxnSpPr>
        <p:spPr bwMode="auto">
          <a:xfrm flipV="1">
            <a:off x="6813328" y="4028151"/>
            <a:ext cx="17718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sp>
        <p:nvSpPr>
          <p:cNvPr id="209" name="Rectangle 92"/>
          <p:cNvSpPr>
            <a:spLocks noChangeArrowheads="1"/>
          </p:cNvSpPr>
          <p:nvPr/>
        </p:nvSpPr>
        <p:spPr bwMode="black">
          <a:xfrm>
            <a:off x="6539213" y="425754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210" name="Rectangle 19"/>
          <p:cNvSpPr>
            <a:spLocks noChangeArrowheads="1"/>
          </p:cNvSpPr>
          <p:nvPr/>
        </p:nvSpPr>
        <p:spPr bwMode="auto">
          <a:xfrm>
            <a:off x="5231904" y="425913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red</a:t>
            </a:r>
          </a:p>
        </p:txBody>
      </p:sp>
      <p:cxnSp>
        <p:nvCxnSpPr>
          <p:cNvPr id="211" name="Straight Arrow Connector 243"/>
          <p:cNvCxnSpPr>
            <a:cxnSpLocks noChangeShapeType="1"/>
            <a:stCxn id="210" idx="3"/>
            <a:endCxn id="209" idx="1"/>
          </p:cNvCxnSpPr>
          <p:nvPr/>
        </p:nvCxnSpPr>
        <p:spPr bwMode="auto">
          <a:xfrm>
            <a:off x="6382843" y="4409151"/>
            <a:ext cx="15637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12" name="Straight Arrow Connector 244"/>
          <p:cNvCxnSpPr>
            <a:cxnSpLocks noChangeShapeType="1"/>
            <a:stCxn id="209" idx="3"/>
            <a:endCxn id="226" idx="1"/>
          </p:cNvCxnSpPr>
          <p:nvPr/>
        </p:nvCxnSpPr>
        <p:spPr bwMode="auto">
          <a:xfrm flipV="1">
            <a:off x="6813328" y="4409151"/>
            <a:ext cx="177180"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sp>
        <p:nvSpPr>
          <p:cNvPr id="213" name="Rectangle 92"/>
          <p:cNvSpPr>
            <a:spLocks noChangeArrowheads="1"/>
          </p:cNvSpPr>
          <p:nvPr/>
        </p:nvSpPr>
        <p:spPr bwMode="black">
          <a:xfrm>
            <a:off x="6539213" y="463854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214" name="Rectangle 19"/>
          <p:cNvSpPr>
            <a:spLocks noChangeArrowheads="1"/>
          </p:cNvSpPr>
          <p:nvPr/>
        </p:nvSpPr>
        <p:spPr bwMode="auto">
          <a:xfrm>
            <a:off x="5239843" y="464013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two</a:t>
            </a:r>
          </a:p>
        </p:txBody>
      </p:sp>
      <p:cxnSp>
        <p:nvCxnSpPr>
          <p:cNvPr id="215" name="Straight Arrow Connector 243"/>
          <p:cNvCxnSpPr>
            <a:cxnSpLocks noChangeShapeType="1"/>
            <a:stCxn id="214" idx="3"/>
            <a:endCxn id="213" idx="1"/>
          </p:cNvCxnSpPr>
          <p:nvPr/>
        </p:nvCxnSpPr>
        <p:spPr bwMode="auto">
          <a:xfrm>
            <a:off x="6390782" y="4790151"/>
            <a:ext cx="14843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216" name="Straight Arrow Connector 244"/>
          <p:cNvCxnSpPr>
            <a:cxnSpLocks noChangeShapeType="1"/>
            <a:stCxn id="213" idx="3"/>
            <a:endCxn id="227" idx="1"/>
          </p:cNvCxnSpPr>
          <p:nvPr/>
        </p:nvCxnSpPr>
        <p:spPr bwMode="auto">
          <a:xfrm flipV="1">
            <a:off x="6813328" y="4790151"/>
            <a:ext cx="18511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sp>
        <p:nvSpPr>
          <p:cNvPr id="217" name="Rectangle 6"/>
          <p:cNvSpPr>
            <a:spLocks noChangeArrowheads="1"/>
          </p:cNvSpPr>
          <p:nvPr/>
        </p:nvSpPr>
        <p:spPr bwMode="auto">
          <a:xfrm>
            <a:off x="6990508" y="159213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218" name="Rectangle 7"/>
          <p:cNvSpPr>
            <a:spLocks noChangeArrowheads="1"/>
          </p:cNvSpPr>
          <p:nvPr/>
        </p:nvSpPr>
        <p:spPr bwMode="auto">
          <a:xfrm>
            <a:off x="6990508" y="197313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4</a:t>
            </a:r>
          </a:p>
        </p:txBody>
      </p:sp>
      <p:sp>
        <p:nvSpPr>
          <p:cNvPr id="219" name="Rectangle 8"/>
          <p:cNvSpPr>
            <a:spLocks noChangeArrowheads="1"/>
          </p:cNvSpPr>
          <p:nvPr/>
        </p:nvSpPr>
        <p:spPr bwMode="auto">
          <a:xfrm>
            <a:off x="6990508" y="2355720"/>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220" name="Rectangle 10"/>
          <p:cNvSpPr>
            <a:spLocks noChangeArrowheads="1"/>
          </p:cNvSpPr>
          <p:nvPr/>
        </p:nvSpPr>
        <p:spPr bwMode="auto">
          <a:xfrm>
            <a:off x="6990508" y="311613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4</a:t>
            </a:r>
          </a:p>
        </p:txBody>
      </p:sp>
      <p:sp>
        <p:nvSpPr>
          <p:cNvPr id="221" name="Rectangle 16"/>
          <p:cNvSpPr>
            <a:spLocks noChangeArrowheads="1"/>
          </p:cNvSpPr>
          <p:nvPr/>
        </p:nvSpPr>
        <p:spPr bwMode="auto">
          <a:xfrm>
            <a:off x="6990508" y="273513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4</a:t>
            </a:r>
          </a:p>
        </p:txBody>
      </p:sp>
      <p:sp>
        <p:nvSpPr>
          <p:cNvPr id="222" name="Rectangle 18"/>
          <p:cNvSpPr>
            <a:spLocks noChangeArrowheads="1"/>
          </p:cNvSpPr>
          <p:nvPr/>
        </p:nvSpPr>
        <p:spPr bwMode="auto">
          <a:xfrm>
            <a:off x="6990508" y="349713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223" name="Rectangle 19"/>
          <p:cNvSpPr>
            <a:spLocks noChangeArrowheads="1"/>
          </p:cNvSpPr>
          <p:nvPr/>
        </p:nvSpPr>
        <p:spPr bwMode="auto">
          <a:xfrm>
            <a:off x="6990508" y="1212718"/>
            <a:ext cx="284163" cy="300039"/>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224" name="Rectangle 34"/>
          <p:cNvSpPr>
            <a:spLocks noChangeArrowheads="1"/>
          </p:cNvSpPr>
          <p:nvPr/>
        </p:nvSpPr>
        <p:spPr bwMode="auto">
          <a:xfrm>
            <a:off x="6990508" y="387813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225" name="Rectangle 7"/>
          <p:cNvSpPr>
            <a:spLocks noChangeArrowheads="1"/>
          </p:cNvSpPr>
          <p:nvPr/>
        </p:nvSpPr>
        <p:spPr bwMode="auto">
          <a:xfrm>
            <a:off x="8029463" y="2355720"/>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226" name="Rectangle 34"/>
          <p:cNvSpPr>
            <a:spLocks noChangeArrowheads="1"/>
          </p:cNvSpPr>
          <p:nvPr/>
        </p:nvSpPr>
        <p:spPr bwMode="auto">
          <a:xfrm>
            <a:off x="6990508" y="425913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227" name="Rectangle 34"/>
          <p:cNvSpPr>
            <a:spLocks noChangeArrowheads="1"/>
          </p:cNvSpPr>
          <p:nvPr/>
        </p:nvSpPr>
        <p:spPr bwMode="auto">
          <a:xfrm>
            <a:off x="6998447" y="464013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cxnSp>
        <p:nvCxnSpPr>
          <p:cNvPr id="228" name="Straight Arrow Connector 236"/>
          <p:cNvCxnSpPr>
            <a:cxnSpLocks noChangeShapeType="1"/>
          </p:cNvCxnSpPr>
          <p:nvPr/>
        </p:nvCxnSpPr>
        <p:spPr bwMode="auto">
          <a:xfrm>
            <a:off x="7855727" y="2505738"/>
            <a:ext cx="173037" cy="1588"/>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spTree>
    <p:extLst>
      <p:ext uri="{BB962C8B-B14F-4D97-AF65-F5344CB8AC3E}">
        <p14:creationId xmlns:p14="http://schemas.microsoft.com/office/powerpoint/2010/main" val="1689166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9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9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0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0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0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0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0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0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0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10"/>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1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1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1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1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1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1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1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1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1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2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2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2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2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2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2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2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2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2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2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2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26"/>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27"/>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2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29"/>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3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3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32"/>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228"/>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2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96"/>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9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98"/>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9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0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0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02"/>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19"/>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20"/>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21"/>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96" grpId="0" animBg="1"/>
      <p:bldP spid="97" grpId="0" animBg="1"/>
      <p:bldP spid="98" grpId="0" animBg="1"/>
      <p:bldP spid="99" grpId="0" animBg="1"/>
      <p:bldP spid="100" grpId="0" animBg="1"/>
      <p:bldP spid="101" grpId="0" animBg="1"/>
      <p:bldP spid="102"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41" grpId="0" animBg="1"/>
      <p:bldP spid="147" grpId="0" animBg="1"/>
      <p:bldP spid="149" grpId="0" animBg="1"/>
      <p:bldP spid="150" grpId="0" animBg="1"/>
      <p:bldP spid="152" grpId="0" animBg="1"/>
      <p:bldP spid="153" grpId="0" animBg="1"/>
      <p:bldP spid="155" grpId="0" animBg="1"/>
      <p:bldP spid="156" grpId="0" animBg="1"/>
      <p:bldP spid="177" grpId="0" animBg="1"/>
      <p:bldP spid="178" grpId="0" animBg="1"/>
      <p:bldP spid="179" grpId="0" animBg="1"/>
      <p:bldP spid="190" grpId="0" animBg="1"/>
      <p:bldP spid="209" grpId="0" animBg="1"/>
      <p:bldP spid="210" grpId="0" animBg="1"/>
      <p:bldP spid="213" grpId="0" animBg="1"/>
      <p:bldP spid="214"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98" name="Rectangle 7"/>
          <p:cNvSpPr>
            <a:spLocks noChangeArrowheads="1"/>
          </p:cNvSpPr>
          <p:nvPr/>
        </p:nvSpPr>
        <p:spPr bwMode="auto">
          <a:xfrm>
            <a:off x="7379209" y="3093490"/>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80" name="Rectangle 6"/>
          <p:cNvSpPr>
            <a:spLocks noChangeArrowheads="1"/>
          </p:cNvSpPr>
          <p:nvPr/>
        </p:nvSpPr>
        <p:spPr bwMode="auto">
          <a:xfrm>
            <a:off x="6644641" y="2329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1" name="Rectangle 7"/>
          <p:cNvSpPr>
            <a:spLocks noChangeArrowheads="1"/>
          </p:cNvSpPr>
          <p:nvPr/>
        </p:nvSpPr>
        <p:spPr bwMode="auto">
          <a:xfrm>
            <a:off x="6644641" y="2710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2" name="Rectangle 8"/>
          <p:cNvSpPr>
            <a:spLocks noChangeArrowheads="1"/>
          </p:cNvSpPr>
          <p:nvPr/>
        </p:nvSpPr>
        <p:spPr bwMode="auto">
          <a:xfrm>
            <a:off x="6644641" y="3093490"/>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83" name="Rectangle 10"/>
          <p:cNvSpPr>
            <a:spLocks noChangeArrowheads="1"/>
          </p:cNvSpPr>
          <p:nvPr/>
        </p:nvSpPr>
        <p:spPr bwMode="auto">
          <a:xfrm>
            <a:off x="6644641" y="3853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4" name="Rectangle 16"/>
          <p:cNvSpPr>
            <a:spLocks noChangeArrowheads="1"/>
          </p:cNvSpPr>
          <p:nvPr/>
        </p:nvSpPr>
        <p:spPr bwMode="auto">
          <a:xfrm>
            <a:off x="6644641" y="3472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5" name="Rectangle 18"/>
          <p:cNvSpPr>
            <a:spLocks noChangeArrowheads="1"/>
          </p:cNvSpPr>
          <p:nvPr/>
        </p:nvSpPr>
        <p:spPr bwMode="auto">
          <a:xfrm>
            <a:off x="6644641" y="4234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6" name="Rectangle 19"/>
          <p:cNvSpPr>
            <a:spLocks noChangeArrowheads="1"/>
          </p:cNvSpPr>
          <p:nvPr/>
        </p:nvSpPr>
        <p:spPr bwMode="auto">
          <a:xfrm>
            <a:off x="6644641" y="1950487"/>
            <a:ext cx="284163" cy="300039"/>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7" name="Rectangle 34"/>
          <p:cNvSpPr>
            <a:spLocks noChangeArrowheads="1"/>
          </p:cNvSpPr>
          <p:nvPr/>
        </p:nvSpPr>
        <p:spPr bwMode="auto">
          <a:xfrm>
            <a:off x="6644641" y="4615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8" name="Rectangle 34"/>
          <p:cNvSpPr>
            <a:spLocks noChangeArrowheads="1"/>
          </p:cNvSpPr>
          <p:nvPr/>
        </p:nvSpPr>
        <p:spPr bwMode="auto">
          <a:xfrm>
            <a:off x="6644641" y="4996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89" name="Rectangle 34"/>
          <p:cNvSpPr>
            <a:spLocks noChangeArrowheads="1"/>
          </p:cNvSpPr>
          <p:nvPr/>
        </p:nvSpPr>
        <p:spPr bwMode="auto">
          <a:xfrm>
            <a:off x="6652580" y="5377902"/>
            <a:ext cx="284163" cy="30003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79" name="Rectangle 85"/>
          <p:cNvSpPr>
            <a:spLocks noChangeArrowheads="1"/>
          </p:cNvSpPr>
          <p:nvPr/>
        </p:nvSpPr>
        <p:spPr bwMode="black">
          <a:xfrm>
            <a:off x="5907247" y="1947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0" name="Rectangle 86"/>
          <p:cNvSpPr>
            <a:spLocks noChangeArrowheads="1"/>
          </p:cNvSpPr>
          <p:nvPr/>
        </p:nvSpPr>
        <p:spPr bwMode="black">
          <a:xfrm>
            <a:off x="5907247" y="2328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1" name="Rectangle 87"/>
          <p:cNvSpPr>
            <a:spLocks noChangeArrowheads="1"/>
          </p:cNvSpPr>
          <p:nvPr/>
        </p:nvSpPr>
        <p:spPr bwMode="black">
          <a:xfrm>
            <a:off x="5907247" y="2709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2" name="Rectangle 88"/>
          <p:cNvSpPr>
            <a:spLocks noChangeArrowheads="1"/>
          </p:cNvSpPr>
          <p:nvPr/>
        </p:nvSpPr>
        <p:spPr bwMode="black">
          <a:xfrm>
            <a:off x="5907247" y="4233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3" name="Rectangle 89"/>
          <p:cNvSpPr>
            <a:spLocks noChangeArrowheads="1"/>
          </p:cNvSpPr>
          <p:nvPr/>
        </p:nvSpPr>
        <p:spPr bwMode="black">
          <a:xfrm>
            <a:off x="5907247" y="3471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4" name="Rectangle 90"/>
          <p:cNvSpPr>
            <a:spLocks noChangeArrowheads="1"/>
          </p:cNvSpPr>
          <p:nvPr/>
        </p:nvSpPr>
        <p:spPr bwMode="black">
          <a:xfrm>
            <a:off x="5907247" y="3852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5" name="Rectangle 91"/>
          <p:cNvSpPr>
            <a:spLocks noChangeArrowheads="1"/>
          </p:cNvSpPr>
          <p:nvPr/>
        </p:nvSpPr>
        <p:spPr bwMode="black">
          <a:xfrm>
            <a:off x="5907247" y="3090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86" name="Rectangle 92"/>
          <p:cNvSpPr>
            <a:spLocks noChangeArrowheads="1"/>
          </p:cNvSpPr>
          <p:nvPr/>
        </p:nvSpPr>
        <p:spPr bwMode="black">
          <a:xfrm>
            <a:off x="5907247" y="4614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87" name="Rectangle 19"/>
          <p:cNvSpPr>
            <a:spLocks noChangeArrowheads="1"/>
          </p:cNvSpPr>
          <p:nvPr/>
        </p:nvSpPr>
        <p:spPr bwMode="auto">
          <a:xfrm>
            <a:off x="4599939" y="1950487"/>
            <a:ext cx="1150939" cy="300039"/>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blue</a:t>
            </a:r>
          </a:p>
        </p:txBody>
      </p:sp>
      <p:sp>
        <p:nvSpPr>
          <p:cNvPr id="88" name="Rectangle 19"/>
          <p:cNvSpPr>
            <a:spLocks noChangeArrowheads="1"/>
          </p:cNvSpPr>
          <p:nvPr/>
        </p:nvSpPr>
        <p:spPr bwMode="auto">
          <a:xfrm>
            <a:off x="4599939" y="2329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cat</a:t>
            </a:r>
          </a:p>
        </p:txBody>
      </p:sp>
      <p:sp>
        <p:nvSpPr>
          <p:cNvPr id="89" name="Rectangle 19"/>
          <p:cNvSpPr>
            <a:spLocks noChangeArrowheads="1"/>
          </p:cNvSpPr>
          <p:nvPr/>
        </p:nvSpPr>
        <p:spPr bwMode="auto">
          <a:xfrm>
            <a:off x="4599939" y="2710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egg</a:t>
            </a:r>
          </a:p>
        </p:txBody>
      </p:sp>
      <p:sp>
        <p:nvSpPr>
          <p:cNvPr id="90" name="Rectangle 19"/>
          <p:cNvSpPr>
            <a:spLocks noChangeArrowheads="1"/>
          </p:cNvSpPr>
          <p:nvPr/>
        </p:nvSpPr>
        <p:spPr bwMode="auto">
          <a:xfrm>
            <a:off x="4599939" y="3092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fish</a:t>
            </a:r>
          </a:p>
        </p:txBody>
      </p:sp>
      <p:sp>
        <p:nvSpPr>
          <p:cNvPr id="91" name="Rectangle 19"/>
          <p:cNvSpPr>
            <a:spLocks noChangeArrowheads="1"/>
          </p:cNvSpPr>
          <p:nvPr/>
        </p:nvSpPr>
        <p:spPr bwMode="auto">
          <a:xfrm>
            <a:off x="4599939" y="3472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green</a:t>
            </a:r>
          </a:p>
        </p:txBody>
      </p:sp>
      <p:sp>
        <p:nvSpPr>
          <p:cNvPr id="92" name="Rectangle 19"/>
          <p:cNvSpPr>
            <a:spLocks noChangeArrowheads="1"/>
          </p:cNvSpPr>
          <p:nvPr/>
        </p:nvSpPr>
        <p:spPr bwMode="auto">
          <a:xfrm>
            <a:off x="4599939" y="3853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ham</a:t>
            </a:r>
          </a:p>
        </p:txBody>
      </p:sp>
      <p:sp>
        <p:nvSpPr>
          <p:cNvPr id="93" name="Rectangle 19"/>
          <p:cNvSpPr>
            <a:spLocks noChangeArrowheads="1"/>
          </p:cNvSpPr>
          <p:nvPr/>
        </p:nvSpPr>
        <p:spPr bwMode="auto">
          <a:xfrm>
            <a:off x="4599939" y="4234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hat</a:t>
            </a:r>
          </a:p>
        </p:txBody>
      </p:sp>
      <p:sp>
        <p:nvSpPr>
          <p:cNvPr id="94" name="Rectangle 19"/>
          <p:cNvSpPr>
            <a:spLocks noChangeArrowheads="1"/>
          </p:cNvSpPr>
          <p:nvPr/>
        </p:nvSpPr>
        <p:spPr bwMode="auto">
          <a:xfrm>
            <a:off x="4599939" y="4615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one</a:t>
            </a:r>
          </a:p>
        </p:txBody>
      </p:sp>
      <p:cxnSp>
        <p:nvCxnSpPr>
          <p:cNvPr id="103" name="Straight Arrow Connector 227"/>
          <p:cNvCxnSpPr>
            <a:cxnSpLocks noChangeShapeType="1"/>
            <a:stCxn id="87" idx="3"/>
            <a:endCxn id="79" idx="1"/>
          </p:cNvCxnSpPr>
          <p:nvPr/>
        </p:nvCxnSpPr>
        <p:spPr bwMode="auto">
          <a:xfrm flipV="1">
            <a:off x="5750878" y="2099920"/>
            <a:ext cx="156369" cy="587"/>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4" name="Straight Arrow Connector 228"/>
          <p:cNvCxnSpPr>
            <a:cxnSpLocks noChangeShapeType="1"/>
            <a:stCxn id="79" idx="3"/>
            <a:endCxn id="163" idx="1"/>
          </p:cNvCxnSpPr>
          <p:nvPr/>
        </p:nvCxnSpPr>
        <p:spPr bwMode="auto">
          <a:xfrm>
            <a:off x="6181362" y="2099920"/>
            <a:ext cx="177181" cy="587"/>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5" name="Straight Arrow Connector 231"/>
          <p:cNvCxnSpPr>
            <a:cxnSpLocks noChangeShapeType="1"/>
            <a:stCxn id="88" idx="3"/>
            <a:endCxn id="80" idx="1"/>
          </p:cNvCxnSpPr>
          <p:nvPr/>
        </p:nvCxnSpPr>
        <p:spPr bwMode="auto">
          <a:xfrm>
            <a:off x="5750878" y="2479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6" name="Straight Arrow Connector 232"/>
          <p:cNvCxnSpPr>
            <a:cxnSpLocks noChangeShapeType="1"/>
            <a:stCxn id="80" idx="3"/>
            <a:endCxn id="157" idx="1"/>
          </p:cNvCxnSpPr>
          <p:nvPr/>
        </p:nvCxnSpPr>
        <p:spPr bwMode="auto">
          <a:xfrm flipV="1">
            <a:off x="6181362" y="2479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7" name="Straight Arrow Connector 233"/>
          <p:cNvCxnSpPr>
            <a:cxnSpLocks noChangeShapeType="1"/>
            <a:stCxn id="89" idx="3"/>
            <a:endCxn id="81" idx="1"/>
          </p:cNvCxnSpPr>
          <p:nvPr/>
        </p:nvCxnSpPr>
        <p:spPr bwMode="auto">
          <a:xfrm>
            <a:off x="5750878" y="2860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8" name="Straight Arrow Connector 234"/>
          <p:cNvCxnSpPr>
            <a:cxnSpLocks noChangeShapeType="1"/>
            <a:stCxn id="81" idx="3"/>
            <a:endCxn id="158" idx="1"/>
          </p:cNvCxnSpPr>
          <p:nvPr/>
        </p:nvCxnSpPr>
        <p:spPr bwMode="auto">
          <a:xfrm flipV="1">
            <a:off x="6181362" y="2860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09" name="Straight Arrow Connector 235"/>
          <p:cNvCxnSpPr>
            <a:cxnSpLocks noChangeShapeType="1"/>
            <a:stCxn id="90" idx="3"/>
            <a:endCxn id="85" idx="1"/>
          </p:cNvCxnSpPr>
          <p:nvPr/>
        </p:nvCxnSpPr>
        <p:spPr bwMode="auto">
          <a:xfrm flipV="1">
            <a:off x="5750878" y="3242920"/>
            <a:ext cx="156369" cy="1"/>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0" name="Straight Arrow Connector 236"/>
          <p:cNvCxnSpPr>
            <a:cxnSpLocks noChangeShapeType="1"/>
            <a:stCxn id="85" idx="3"/>
            <a:endCxn id="159" idx="1"/>
          </p:cNvCxnSpPr>
          <p:nvPr/>
        </p:nvCxnSpPr>
        <p:spPr bwMode="auto">
          <a:xfrm>
            <a:off x="6181362" y="3242920"/>
            <a:ext cx="177181" cy="58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1" name="Straight Arrow Connector 237"/>
          <p:cNvCxnSpPr>
            <a:cxnSpLocks noChangeShapeType="1"/>
            <a:stCxn id="91" idx="3"/>
            <a:endCxn id="83" idx="1"/>
          </p:cNvCxnSpPr>
          <p:nvPr/>
        </p:nvCxnSpPr>
        <p:spPr bwMode="auto">
          <a:xfrm>
            <a:off x="5750878" y="3622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2" name="Straight Arrow Connector 238"/>
          <p:cNvCxnSpPr>
            <a:cxnSpLocks noChangeShapeType="1"/>
            <a:stCxn id="83" idx="3"/>
            <a:endCxn id="161" idx="1"/>
          </p:cNvCxnSpPr>
          <p:nvPr/>
        </p:nvCxnSpPr>
        <p:spPr bwMode="auto">
          <a:xfrm flipV="1">
            <a:off x="6181362" y="3622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3" name="Straight Arrow Connector 239"/>
          <p:cNvCxnSpPr>
            <a:cxnSpLocks noChangeShapeType="1"/>
            <a:stCxn id="92" idx="3"/>
            <a:endCxn id="84" idx="1"/>
          </p:cNvCxnSpPr>
          <p:nvPr/>
        </p:nvCxnSpPr>
        <p:spPr bwMode="auto">
          <a:xfrm>
            <a:off x="5750878" y="4003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4" name="Straight Arrow Connector 240"/>
          <p:cNvCxnSpPr>
            <a:cxnSpLocks noChangeShapeType="1"/>
            <a:stCxn id="84" idx="3"/>
            <a:endCxn id="160" idx="1"/>
          </p:cNvCxnSpPr>
          <p:nvPr/>
        </p:nvCxnSpPr>
        <p:spPr bwMode="auto">
          <a:xfrm flipV="1">
            <a:off x="6181362" y="4003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5" name="Straight Arrow Connector 241"/>
          <p:cNvCxnSpPr>
            <a:cxnSpLocks noChangeShapeType="1"/>
            <a:stCxn id="93" idx="3"/>
            <a:endCxn id="82" idx="1"/>
          </p:cNvCxnSpPr>
          <p:nvPr/>
        </p:nvCxnSpPr>
        <p:spPr bwMode="auto">
          <a:xfrm>
            <a:off x="5750878" y="4384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6" name="Straight Arrow Connector 242"/>
          <p:cNvCxnSpPr>
            <a:cxnSpLocks noChangeShapeType="1"/>
            <a:stCxn id="82" idx="3"/>
            <a:endCxn id="162" idx="1"/>
          </p:cNvCxnSpPr>
          <p:nvPr/>
        </p:nvCxnSpPr>
        <p:spPr bwMode="auto">
          <a:xfrm flipV="1">
            <a:off x="6181362" y="4384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7" name="Straight Arrow Connector 243"/>
          <p:cNvCxnSpPr>
            <a:cxnSpLocks noChangeShapeType="1"/>
            <a:stCxn id="94" idx="3"/>
            <a:endCxn id="86" idx="1"/>
          </p:cNvCxnSpPr>
          <p:nvPr/>
        </p:nvCxnSpPr>
        <p:spPr bwMode="auto">
          <a:xfrm>
            <a:off x="5750878" y="4765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18" name="Straight Arrow Connector 244"/>
          <p:cNvCxnSpPr>
            <a:cxnSpLocks noChangeShapeType="1"/>
            <a:stCxn id="86" idx="3"/>
            <a:endCxn id="164" idx="1"/>
          </p:cNvCxnSpPr>
          <p:nvPr/>
        </p:nvCxnSpPr>
        <p:spPr bwMode="auto">
          <a:xfrm flipV="1">
            <a:off x="6181362" y="4765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sp>
        <p:nvSpPr>
          <p:cNvPr id="137" name="Rectangle 92"/>
          <p:cNvSpPr>
            <a:spLocks noChangeArrowheads="1"/>
          </p:cNvSpPr>
          <p:nvPr/>
        </p:nvSpPr>
        <p:spPr bwMode="black">
          <a:xfrm>
            <a:off x="5907247" y="4995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38" name="Rectangle 19"/>
          <p:cNvSpPr>
            <a:spLocks noChangeArrowheads="1"/>
          </p:cNvSpPr>
          <p:nvPr/>
        </p:nvSpPr>
        <p:spPr bwMode="auto">
          <a:xfrm>
            <a:off x="4599939" y="4996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red</a:t>
            </a:r>
          </a:p>
        </p:txBody>
      </p:sp>
      <p:cxnSp>
        <p:nvCxnSpPr>
          <p:cNvPr id="139" name="Straight Arrow Connector 243"/>
          <p:cNvCxnSpPr>
            <a:cxnSpLocks noChangeShapeType="1"/>
            <a:stCxn id="138" idx="3"/>
            <a:endCxn id="137" idx="1"/>
          </p:cNvCxnSpPr>
          <p:nvPr/>
        </p:nvCxnSpPr>
        <p:spPr bwMode="auto">
          <a:xfrm>
            <a:off x="5750878" y="5146921"/>
            <a:ext cx="15636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40" name="Straight Arrow Connector 244"/>
          <p:cNvCxnSpPr>
            <a:cxnSpLocks noChangeShapeType="1"/>
            <a:stCxn id="137" idx="3"/>
            <a:endCxn id="166" idx="1"/>
          </p:cNvCxnSpPr>
          <p:nvPr/>
        </p:nvCxnSpPr>
        <p:spPr bwMode="auto">
          <a:xfrm flipV="1">
            <a:off x="6181362" y="5146921"/>
            <a:ext cx="17718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sp>
        <p:nvSpPr>
          <p:cNvPr id="142" name="Rectangle 92"/>
          <p:cNvSpPr>
            <a:spLocks noChangeArrowheads="1"/>
          </p:cNvSpPr>
          <p:nvPr/>
        </p:nvSpPr>
        <p:spPr bwMode="black">
          <a:xfrm>
            <a:off x="5907247" y="5376313"/>
            <a:ext cx="274115" cy="305214"/>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wrap="none" lIns="90488" tIns="44451" rIns="90488" bIns="44451">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43" name="Rectangle 19"/>
          <p:cNvSpPr>
            <a:spLocks noChangeArrowheads="1"/>
          </p:cNvSpPr>
          <p:nvPr/>
        </p:nvSpPr>
        <p:spPr bwMode="auto">
          <a:xfrm>
            <a:off x="4607877" y="5377902"/>
            <a:ext cx="1150939" cy="300037"/>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two</a:t>
            </a:r>
          </a:p>
        </p:txBody>
      </p:sp>
      <p:cxnSp>
        <p:nvCxnSpPr>
          <p:cNvPr id="144" name="Straight Arrow Connector 243"/>
          <p:cNvCxnSpPr>
            <a:cxnSpLocks noChangeShapeType="1"/>
            <a:stCxn id="143" idx="3"/>
            <a:endCxn id="142" idx="1"/>
          </p:cNvCxnSpPr>
          <p:nvPr/>
        </p:nvCxnSpPr>
        <p:spPr bwMode="auto">
          <a:xfrm>
            <a:off x="5758816" y="5527921"/>
            <a:ext cx="148431"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cxnSp>
        <p:nvCxnSpPr>
          <p:cNvPr id="145" name="Straight Arrow Connector 244"/>
          <p:cNvCxnSpPr>
            <a:cxnSpLocks noChangeShapeType="1"/>
            <a:stCxn id="142" idx="3"/>
            <a:endCxn id="167" idx="1"/>
          </p:cNvCxnSpPr>
          <p:nvPr/>
        </p:nvCxnSpPr>
        <p:spPr bwMode="auto">
          <a:xfrm flipV="1">
            <a:off x="6181362" y="5527921"/>
            <a:ext cx="185119" cy="999"/>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sp>
        <p:nvSpPr>
          <p:cNvPr id="157" name="Rectangle 6"/>
          <p:cNvSpPr>
            <a:spLocks noChangeArrowheads="1"/>
          </p:cNvSpPr>
          <p:nvPr/>
        </p:nvSpPr>
        <p:spPr bwMode="auto">
          <a:xfrm>
            <a:off x="6358543" y="2329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158" name="Rectangle 7"/>
          <p:cNvSpPr>
            <a:spLocks noChangeArrowheads="1"/>
          </p:cNvSpPr>
          <p:nvPr/>
        </p:nvSpPr>
        <p:spPr bwMode="auto">
          <a:xfrm>
            <a:off x="6358543" y="2710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4</a:t>
            </a:r>
          </a:p>
        </p:txBody>
      </p:sp>
      <p:sp>
        <p:nvSpPr>
          <p:cNvPr id="159" name="Rectangle 8"/>
          <p:cNvSpPr>
            <a:spLocks noChangeArrowheads="1"/>
          </p:cNvSpPr>
          <p:nvPr/>
        </p:nvSpPr>
        <p:spPr bwMode="auto">
          <a:xfrm>
            <a:off x="6358543" y="3093490"/>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60" name="Rectangle 10"/>
          <p:cNvSpPr>
            <a:spLocks noChangeArrowheads="1"/>
          </p:cNvSpPr>
          <p:nvPr/>
        </p:nvSpPr>
        <p:spPr bwMode="auto">
          <a:xfrm>
            <a:off x="6358543" y="3853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4</a:t>
            </a:r>
          </a:p>
        </p:txBody>
      </p:sp>
      <p:sp>
        <p:nvSpPr>
          <p:cNvPr id="161" name="Rectangle 16"/>
          <p:cNvSpPr>
            <a:spLocks noChangeArrowheads="1"/>
          </p:cNvSpPr>
          <p:nvPr/>
        </p:nvSpPr>
        <p:spPr bwMode="auto">
          <a:xfrm>
            <a:off x="6358543" y="3472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4</a:t>
            </a:r>
          </a:p>
        </p:txBody>
      </p:sp>
      <p:sp>
        <p:nvSpPr>
          <p:cNvPr id="162" name="Rectangle 18"/>
          <p:cNvSpPr>
            <a:spLocks noChangeArrowheads="1"/>
          </p:cNvSpPr>
          <p:nvPr/>
        </p:nvSpPr>
        <p:spPr bwMode="auto">
          <a:xfrm>
            <a:off x="6358543" y="4234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163" name="Rectangle 19"/>
          <p:cNvSpPr>
            <a:spLocks noChangeArrowheads="1"/>
          </p:cNvSpPr>
          <p:nvPr/>
        </p:nvSpPr>
        <p:spPr bwMode="auto">
          <a:xfrm>
            <a:off x="6358543" y="1950487"/>
            <a:ext cx="284163" cy="300039"/>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64" name="Rectangle 34"/>
          <p:cNvSpPr>
            <a:spLocks noChangeArrowheads="1"/>
          </p:cNvSpPr>
          <p:nvPr/>
        </p:nvSpPr>
        <p:spPr bwMode="auto">
          <a:xfrm>
            <a:off x="6358543" y="4615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65" name="Rectangle 7"/>
          <p:cNvSpPr>
            <a:spLocks noChangeArrowheads="1"/>
          </p:cNvSpPr>
          <p:nvPr/>
        </p:nvSpPr>
        <p:spPr bwMode="auto">
          <a:xfrm>
            <a:off x="7101841" y="3093490"/>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66" name="Rectangle 34"/>
          <p:cNvSpPr>
            <a:spLocks noChangeArrowheads="1"/>
          </p:cNvSpPr>
          <p:nvPr/>
        </p:nvSpPr>
        <p:spPr bwMode="auto">
          <a:xfrm>
            <a:off x="6358543" y="4996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67" name="Rectangle 34"/>
          <p:cNvSpPr>
            <a:spLocks noChangeArrowheads="1"/>
          </p:cNvSpPr>
          <p:nvPr/>
        </p:nvSpPr>
        <p:spPr bwMode="auto">
          <a:xfrm>
            <a:off x="6366481" y="5377902"/>
            <a:ext cx="284163" cy="300037"/>
          </a:xfrm>
          <a:prstGeom prst="rect">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488" tIns="44451" rIns="90488" bIns="44451"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1</a:t>
            </a:r>
          </a:p>
        </p:txBody>
      </p:sp>
      <p:cxnSp>
        <p:nvCxnSpPr>
          <p:cNvPr id="194" name="Straight Arrow Connector 236"/>
          <p:cNvCxnSpPr>
            <a:cxnSpLocks noChangeShapeType="1"/>
            <a:stCxn id="182" idx="3"/>
            <a:endCxn id="165" idx="1"/>
          </p:cNvCxnSpPr>
          <p:nvPr/>
        </p:nvCxnSpPr>
        <p:spPr bwMode="auto">
          <a:xfrm>
            <a:off x="6928804" y="3243507"/>
            <a:ext cx="173037" cy="1588"/>
          </a:xfrm>
          <a:prstGeom prst="straightConnector1">
            <a:avLst/>
          </a:prstGeom>
          <a:ln>
            <a:headEnd/>
            <a:tailEnd type="triangle" w="med" len="med"/>
          </a:ln>
        </p:spPr>
        <p:style>
          <a:lnRef idx="1">
            <a:schemeClr val="dk1"/>
          </a:lnRef>
          <a:fillRef idx="2">
            <a:schemeClr val="dk1"/>
          </a:fillRef>
          <a:effectRef idx="1">
            <a:schemeClr val="dk1"/>
          </a:effectRef>
          <a:fontRef idx="minor">
            <a:schemeClr val="dk1"/>
          </a:fontRef>
        </p:style>
      </p:cxnSp>
      <p:grpSp>
        <p:nvGrpSpPr>
          <p:cNvPr id="148" name="Group 16"/>
          <p:cNvGrpSpPr/>
          <p:nvPr/>
        </p:nvGrpSpPr>
        <p:grpSpPr>
          <a:xfrm>
            <a:off x="907666" y="1073380"/>
            <a:ext cx="1940813" cy="490954"/>
            <a:chOff x="762000" y="1905000"/>
            <a:chExt cx="1940812" cy="490954"/>
          </a:xfrm>
        </p:grpSpPr>
        <p:sp>
          <p:nvSpPr>
            <p:cNvPr id="151" name="TextBox 150"/>
            <p:cNvSpPr txBox="1"/>
            <p:nvPr/>
          </p:nvSpPr>
          <p:spPr>
            <a:xfrm>
              <a:off x="838200" y="2057400"/>
              <a:ext cx="1864612"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one fish, two fish</a:t>
              </a:r>
            </a:p>
          </p:txBody>
        </p:sp>
        <p:sp>
          <p:nvSpPr>
            <p:cNvPr id="154" name="TextBox 153"/>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1</a:t>
              </a:r>
            </a:p>
          </p:txBody>
        </p:sp>
      </p:grpSp>
      <p:grpSp>
        <p:nvGrpSpPr>
          <p:cNvPr id="168" name="Group 32"/>
          <p:cNvGrpSpPr/>
          <p:nvPr/>
        </p:nvGrpSpPr>
        <p:grpSpPr>
          <a:xfrm>
            <a:off x="906980" y="1892171"/>
            <a:ext cx="1963255" cy="490954"/>
            <a:chOff x="762000" y="1905000"/>
            <a:chExt cx="1963255" cy="490954"/>
          </a:xfrm>
        </p:grpSpPr>
        <p:sp>
          <p:nvSpPr>
            <p:cNvPr id="169" name="TextBox 168"/>
            <p:cNvSpPr txBox="1"/>
            <p:nvPr/>
          </p:nvSpPr>
          <p:spPr>
            <a:xfrm>
              <a:off x="838200" y="2057400"/>
              <a:ext cx="1887055"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red fish, blue fish</a:t>
              </a:r>
            </a:p>
          </p:txBody>
        </p:sp>
        <p:sp>
          <p:nvSpPr>
            <p:cNvPr id="170" name="TextBox 169"/>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2</a:t>
              </a:r>
            </a:p>
          </p:txBody>
        </p:sp>
      </p:grpSp>
      <p:grpSp>
        <p:nvGrpSpPr>
          <p:cNvPr id="171" name="Group 44"/>
          <p:cNvGrpSpPr/>
          <p:nvPr/>
        </p:nvGrpSpPr>
        <p:grpSpPr>
          <a:xfrm>
            <a:off x="984647" y="2750074"/>
            <a:ext cx="1528842" cy="490954"/>
            <a:chOff x="762000" y="1905000"/>
            <a:chExt cx="1528842" cy="490954"/>
          </a:xfrm>
        </p:grpSpPr>
        <p:sp>
          <p:nvSpPr>
            <p:cNvPr id="172" name="TextBox 171"/>
            <p:cNvSpPr txBox="1"/>
            <p:nvPr/>
          </p:nvSpPr>
          <p:spPr>
            <a:xfrm>
              <a:off x="838200" y="2057400"/>
              <a:ext cx="1452642"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cat in the hat</a:t>
              </a:r>
            </a:p>
          </p:txBody>
        </p:sp>
        <p:sp>
          <p:nvSpPr>
            <p:cNvPr id="173" name="TextBox 172"/>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3</a:t>
              </a:r>
            </a:p>
          </p:txBody>
        </p:sp>
      </p:grpSp>
      <p:grpSp>
        <p:nvGrpSpPr>
          <p:cNvPr id="174" name="Group 44"/>
          <p:cNvGrpSpPr/>
          <p:nvPr/>
        </p:nvGrpSpPr>
        <p:grpSpPr>
          <a:xfrm>
            <a:off x="936799" y="3499510"/>
            <a:ext cx="2255002" cy="490954"/>
            <a:chOff x="762000" y="1905000"/>
            <a:chExt cx="2255003" cy="490954"/>
          </a:xfrm>
        </p:grpSpPr>
        <p:sp>
          <p:nvSpPr>
            <p:cNvPr id="175" name="TextBox 174"/>
            <p:cNvSpPr txBox="1"/>
            <p:nvPr/>
          </p:nvSpPr>
          <p:spPr>
            <a:xfrm>
              <a:off x="838200" y="2057400"/>
              <a:ext cx="2178803" cy="338554"/>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charset="0"/>
                  <a:ea typeface="+mn-ea"/>
                  <a:cs typeface="+mn-cs"/>
                </a:rPr>
                <a:t>green eggs and ham</a:t>
              </a:r>
            </a:p>
          </p:txBody>
        </p:sp>
        <p:sp>
          <p:nvSpPr>
            <p:cNvPr id="176" name="TextBox 175"/>
            <p:cNvSpPr txBox="1"/>
            <p:nvPr/>
          </p:nvSpPr>
          <p:spPr>
            <a:xfrm>
              <a:off x="762000" y="1905000"/>
              <a:ext cx="603050" cy="276999"/>
            </a:xfrm>
            <a:prstGeom prst="rect">
              <a:avLst/>
            </a:prstGeom>
            <a:noFill/>
            <a:ln>
              <a:noFill/>
            </a:ln>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dirty="0">
                  <a:ln>
                    <a:noFill/>
                  </a:ln>
                  <a:solidFill>
                    <a:srgbClr val="FF0000"/>
                  </a:solidFill>
                  <a:effectLst/>
                  <a:uLnTx/>
                  <a:uFillTx/>
                  <a:latin typeface="Arial" charset="0"/>
                  <a:ea typeface="+mn-ea"/>
                  <a:cs typeface="+mn-cs"/>
                </a:rPr>
                <a:t>Doc 4</a:t>
              </a:r>
            </a:p>
          </p:txBody>
        </p:sp>
      </p:grpSp>
      <p:sp>
        <p:nvSpPr>
          <p:cNvPr id="2" name="TextBox 1"/>
          <p:cNvSpPr txBox="1"/>
          <p:nvPr/>
        </p:nvSpPr>
        <p:spPr>
          <a:xfrm>
            <a:off x="416790" y="146600"/>
            <a:ext cx="479169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0" i="0" u="none" strike="noStrike" kern="1200" cap="none" spc="0" normalizeH="0" baseline="0" noProof="0" dirty="0">
                <a:ln>
                  <a:noFill/>
                </a:ln>
                <a:solidFill>
                  <a:srgbClr val="C00000"/>
                </a:solidFill>
                <a:effectLst/>
                <a:uLnTx/>
                <a:uFillTx/>
                <a:latin typeface="Century Schoolbook" panose="02040604050505020304"/>
                <a:ea typeface="+mn-ea"/>
                <a:cs typeface="+mn-cs"/>
              </a:rPr>
              <a:t>Creating Inverted Index</a:t>
            </a:r>
          </a:p>
        </p:txBody>
      </p:sp>
    </p:spTree>
    <p:extLst>
      <p:ext uri="{BB962C8B-B14F-4D97-AF65-F5344CB8AC3E}">
        <p14:creationId xmlns:p14="http://schemas.microsoft.com/office/powerpoint/2010/main" val="146943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0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1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1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3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3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4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4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4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4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5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5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5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60"/>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6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6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6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6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6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66"/>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67"/>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8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81"/>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8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83"/>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8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8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86"/>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87"/>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88"/>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89"/>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9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137" grpId="0" animBg="1"/>
      <p:bldP spid="138" grpId="0" animBg="1"/>
      <p:bldP spid="142" grpId="0" animBg="1"/>
      <p:bldP spid="143"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478971" y="215205"/>
            <a:ext cx="9144000" cy="6858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C00000"/>
                </a:solidFill>
                <a:effectLst/>
                <a:uLnTx/>
                <a:uFillTx/>
                <a:latin typeface="Gill Sans"/>
                <a:ea typeface="+mn-ea"/>
                <a:cs typeface="Gill Sans"/>
              </a:rPr>
              <a:t>MapReduce: Index Construction</a:t>
            </a:r>
          </a:p>
        </p:txBody>
      </p:sp>
      <p:sp>
        <p:nvSpPr>
          <p:cNvPr id="5" name="TextBox 4"/>
          <p:cNvSpPr txBox="1"/>
          <p:nvPr/>
        </p:nvSpPr>
        <p:spPr>
          <a:xfrm>
            <a:off x="1524000" y="1367136"/>
            <a:ext cx="91440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Gill Sans"/>
                <a:ea typeface="+mn-ea"/>
                <a:cs typeface="Gill Sans"/>
              </a:rPr>
              <a:t>Map over all documents</a:t>
            </a:r>
          </a:p>
        </p:txBody>
      </p:sp>
      <p:sp>
        <p:nvSpPr>
          <p:cNvPr id="6" name="TextBox 5"/>
          <p:cNvSpPr txBox="1"/>
          <p:nvPr/>
        </p:nvSpPr>
        <p:spPr>
          <a:xfrm>
            <a:off x="1430005" y="1828801"/>
            <a:ext cx="7241931" cy="400110"/>
          </a:xfrm>
          <a:prstGeom prst="rect">
            <a:avLst/>
          </a:prstGeom>
          <a:noFill/>
        </p:spPr>
        <p:txBody>
          <a:bodyPr wrap="square" rtlCol="0">
            <a:spAutoFit/>
          </a:bodyPr>
          <a:lstStyle/>
          <a:p>
            <a:pPr marL="342891" marR="0" lvl="0" indent="-342891"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70C0"/>
                </a:solidFill>
                <a:effectLst/>
                <a:uLnTx/>
                <a:uFillTx/>
                <a:latin typeface="Gill Sans"/>
                <a:ea typeface="+mn-ea"/>
                <a:cs typeface="Gill Sans"/>
              </a:rPr>
              <a:t>Emit </a:t>
            </a:r>
            <a:r>
              <a:rPr kumimoji="0" lang="en-US" sz="2000" b="0" i="1" u="none" strike="noStrike" kern="0" cap="none" spc="0" normalizeH="0" baseline="0" noProof="0" dirty="0">
                <a:ln>
                  <a:noFill/>
                </a:ln>
                <a:solidFill>
                  <a:srgbClr val="C00000"/>
                </a:solidFill>
                <a:effectLst/>
                <a:uLnTx/>
                <a:uFillTx/>
                <a:latin typeface="Gill Sans"/>
                <a:ea typeface="+mn-ea"/>
                <a:cs typeface="Gill Sans"/>
              </a:rPr>
              <a:t>term</a:t>
            </a:r>
            <a:r>
              <a:rPr kumimoji="0" lang="en-US" sz="2000" b="0" i="0" u="none" strike="noStrike" kern="0" cap="none" spc="0" normalizeH="0" baseline="0" noProof="0" dirty="0">
                <a:ln>
                  <a:noFill/>
                </a:ln>
                <a:solidFill>
                  <a:srgbClr val="0070C0"/>
                </a:solidFill>
                <a:effectLst/>
                <a:uLnTx/>
                <a:uFillTx/>
                <a:latin typeface="Gill Sans"/>
                <a:ea typeface="+mn-ea"/>
                <a:cs typeface="Gill Sans"/>
              </a:rPr>
              <a:t> as key, (</a:t>
            </a:r>
            <a:r>
              <a:rPr kumimoji="0" lang="en-US" sz="2000" b="0" i="1" u="none" strike="noStrike" kern="0" cap="none" spc="0" normalizeH="0" baseline="0" noProof="0" dirty="0" err="1">
                <a:ln>
                  <a:noFill/>
                </a:ln>
                <a:solidFill>
                  <a:srgbClr val="0070C0"/>
                </a:solidFill>
                <a:effectLst/>
                <a:uLnTx/>
                <a:uFillTx/>
                <a:latin typeface="Gill Sans"/>
                <a:ea typeface="+mn-ea"/>
                <a:cs typeface="Gill Sans"/>
              </a:rPr>
              <a:t>docid</a:t>
            </a:r>
            <a:r>
              <a:rPr kumimoji="0" lang="en-US" sz="2000" b="0" i="0" u="none" strike="noStrike" kern="0" cap="none" spc="0" normalizeH="0" baseline="0" noProof="0" dirty="0">
                <a:ln>
                  <a:noFill/>
                </a:ln>
                <a:solidFill>
                  <a:srgbClr val="0070C0"/>
                </a:solidFill>
                <a:effectLst/>
                <a:uLnTx/>
                <a:uFillTx/>
                <a:latin typeface="Gill Sans"/>
                <a:ea typeface="+mn-ea"/>
                <a:cs typeface="Gill Sans"/>
              </a:rPr>
              <a:t>, </a:t>
            </a:r>
            <a:r>
              <a:rPr kumimoji="0" lang="en-US" sz="2000" b="0" i="1" u="none" strike="noStrike" kern="0" cap="none" spc="0" normalizeH="0" baseline="0" noProof="0" dirty="0" err="1">
                <a:ln>
                  <a:noFill/>
                </a:ln>
                <a:solidFill>
                  <a:srgbClr val="0070C0"/>
                </a:solidFill>
                <a:effectLst/>
                <a:uLnTx/>
                <a:uFillTx/>
                <a:latin typeface="Gill Sans"/>
                <a:ea typeface="+mn-ea"/>
                <a:cs typeface="Gill Sans"/>
              </a:rPr>
              <a:t>tf</a:t>
            </a:r>
            <a:r>
              <a:rPr kumimoji="0" lang="en-US" sz="2000" b="0" i="0" u="none" strike="noStrike" kern="0" cap="none" spc="0" normalizeH="0" baseline="0" noProof="0" dirty="0">
                <a:ln>
                  <a:noFill/>
                </a:ln>
                <a:solidFill>
                  <a:srgbClr val="0070C0"/>
                </a:solidFill>
                <a:effectLst/>
                <a:uLnTx/>
                <a:uFillTx/>
                <a:latin typeface="Gill Sans"/>
                <a:ea typeface="+mn-ea"/>
                <a:cs typeface="Gill Sans"/>
              </a:rPr>
              <a:t>) as </a:t>
            </a:r>
            <a:r>
              <a:rPr kumimoji="0" lang="en-US" sz="2000" b="0" i="0" u="none" strike="noStrike" kern="0" cap="none" spc="0" normalizeH="0" baseline="0" noProof="0" dirty="0">
                <a:ln>
                  <a:noFill/>
                </a:ln>
                <a:solidFill>
                  <a:srgbClr val="C00000"/>
                </a:solidFill>
                <a:effectLst/>
                <a:uLnTx/>
                <a:uFillTx/>
                <a:latin typeface="Gill Sans"/>
                <a:ea typeface="+mn-ea"/>
                <a:cs typeface="Gill Sans"/>
              </a:rPr>
              <a:t>value</a:t>
            </a:r>
          </a:p>
        </p:txBody>
      </p:sp>
      <p:sp>
        <p:nvSpPr>
          <p:cNvPr id="7" name="TextBox 6"/>
          <p:cNvSpPr txBox="1"/>
          <p:nvPr/>
        </p:nvSpPr>
        <p:spPr>
          <a:xfrm>
            <a:off x="1524000" y="3362992"/>
            <a:ext cx="91440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Gill Sans"/>
                <a:ea typeface="+mn-ea"/>
                <a:cs typeface="Gill Sans"/>
              </a:rPr>
              <a:t>Sort/shuffle: group postings by term</a:t>
            </a:r>
          </a:p>
        </p:txBody>
      </p:sp>
      <p:sp>
        <p:nvSpPr>
          <p:cNvPr id="8" name="TextBox 7"/>
          <p:cNvSpPr txBox="1"/>
          <p:nvPr/>
        </p:nvSpPr>
        <p:spPr>
          <a:xfrm>
            <a:off x="1524000" y="4709434"/>
            <a:ext cx="9144000" cy="46166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Gill Sans"/>
                <a:ea typeface="+mn-ea"/>
                <a:cs typeface="Gill Sans"/>
              </a:rPr>
              <a:t>Reduce</a:t>
            </a:r>
          </a:p>
        </p:txBody>
      </p:sp>
      <p:sp>
        <p:nvSpPr>
          <p:cNvPr id="9" name="TextBox 8"/>
          <p:cNvSpPr txBox="1"/>
          <p:nvPr/>
        </p:nvSpPr>
        <p:spPr>
          <a:xfrm>
            <a:off x="1524000" y="5090432"/>
            <a:ext cx="9144000" cy="707886"/>
          </a:xfrm>
          <a:prstGeom prst="rect">
            <a:avLst/>
          </a:prstGeom>
          <a:noFill/>
        </p:spPr>
        <p:txBody>
          <a:bodyPr wrap="square" rtlCol="0">
            <a:spAutoFit/>
          </a:bodyPr>
          <a:lstStyle/>
          <a:p>
            <a:pPr marL="342891" marR="0" lvl="0" indent="-342891"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70C0"/>
                </a:solidFill>
                <a:effectLst/>
                <a:uLnTx/>
                <a:uFillTx/>
                <a:latin typeface="Gill Sans"/>
                <a:ea typeface="+mn-ea"/>
                <a:cs typeface="Gill Sans"/>
              </a:rPr>
              <a:t>Gather and sort the postings (by </a:t>
            </a:r>
            <a:r>
              <a:rPr kumimoji="0" lang="en-US" sz="2000" b="0" i="1" u="none" strike="noStrike" kern="0" cap="none" spc="0" normalizeH="0" baseline="0" noProof="0" dirty="0" err="1">
                <a:ln>
                  <a:noFill/>
                </a:ln>
                <a:solidFill>
                  <a:srgbClr val="0070C0"/>
                </a:solidFill>
                <a:effectLst/>
                <a:uLnTx/>
                <a:uFillTx/>
                <a:latin typeface="Gill Sans"/>
                <a:ea typeface="+mn-ea"/>
                <a:cs typeface="Gill Sans"/>
              </a:rPr>
              <a:t>docid</a:t>
            </a:r>
            <a:r>
              <a:rPr kumimoji="0" lang="en-US" sz="2000" b="0" i="0" u="none" strike="noStrike" kern="0" cap="none" spc="0" normalizeH="0" baseline="0" noProof="0" dirty="0">
                <a:ln>
                  <a:noFill/>
                </a:ln>
                <a:solidFill>
                  <a:srgbClr val="0070C0"/>
                </a:solidFill>
                <a:effectLst/>
                <a:uLnTx/>
                <a:uFillTx/>
                <a:latin typeface="Gill Sans"/>
                <a:ea typeface="+mn-ea"/>
                <a:cs typeface="Gill Sans"/>
              </a:rPr>
              <a:t>)</a:t>
            </a:r>
          </a:p>
          <a:p>
            <a:pPr marL="342891" marR="0" lvl="0" indent="-342891"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2000" b="0" i="0" u="none" strike="noStrike" kern="0" cap="none" spc="0" normalizeH="0" baseline="0" noProof="0" dirty="0">
                <a:ln>
                  <a:noFill/>
                </a:ln>
                <a:solidFill>
                  <a:srgbClr val="0070C0"/>
                </a:solidFill>
                <a:effectLst/>
                <a:uLnTx/>
                <a:uFillTx/>
                <a:latin typeface="Gill Sans"/>
                <a:ea typeface="+mn-ea"/>
                <a:cs typeface="Gill Sans"/>
              </a:rPr>
              <a:t>Write postings to disk</a:t>
            </a:r>
          </a:p>
        </p:txBody>
      </p:sp>
      <p:sp>
        <p:nvSpPr>
          <p:cNvPr id="2" name="TextBox 1">
            <a:extLst>
              <a:ext uri="{FF2B5EF4-FFF2-40B4-BE49-F238E27FC236}">
                <a16:creationId xmlns:a16="http://schemas.microsoft.com/office/drawing/2014/main" id="{F83762DA-A171-6AC7-431F-EFF8A056CE6B}"/>
              </a:ext>
            </a:extLst>
          </p:cNvPr>
          <p:cNvSpPr txBox="1"/>
          <p:nvPr/>
        </p:nvSpPr>
        <p:spPr>
          <a:xfrm>
            <a:off x="7010400" y="360218"/>
            <a:ext cx="4530436" cy="4801314"/>
          </a:xfrm>
          <a:prstGeom prst="rect">
            <a:avLst/>
          </a:prstGeom>
          <a:noFill/>
        </p:spPr>
        <p:txBody>
          <a:bodyPr wrap="square" rtlCol="0">
            <a:spAutoFit/>
          </a:bodyPr>
          <a:lstStyle/>
          <a:p>
            <a:r>
              <a:rPr lang="en-US" dirty="0">
                <a:solidFill>
                  <a:schemeClr val="bg1"/>
                </a:solidFill>
              </a:rPr>
              <a:t>Map over all documents and map on a particular doc will emit term as key and (</a:t>
            </a:r>
            <a:r>
              <a:rPr lang="en-US" dirty="0" err="1">
                <a:solidFill>
                  <a:schemeClr val="bg1"/>
                </a:solidFill>
              </a:rPr>
              <a:t>doc_id,tf</a:t>
            </a:r>
            <a:r>
              <a:rPr lang="en-US" dirty="0">
                <a:solidFill>
                  <a:schemeClr val="bg1"/>
                </a:solidFill>
              </a:rPr>
              <a:t>) as the value.</a:t>
            </a:r>
          </a:p>
          <a:p>
            <a:endParaRPr lang="en-US" dirty="0">
              <a:solidFill>
                <a:schemeClr val="bg1"/>
              </a:solidFill>
            </a:endParaRPr>
          </a:p>
          <a:p>
            <a:r>
              <a:rPr lang="en-US" dirty="0">
                <a:solidFill>
                  <a:schemeClr val="bg1"/>
                </a:solidFill>
              </a:rPr>
              <a:t>Then sort and shuffle,</a:t>
            </a:r>
          </a:p>
          <a:p>
            <a:r>
              <a:rPr lang="en-US" dirty="0">
                <a:solidFill>
                  <a:schemeClr val="bg1"/>
                </a:solidFill>
              </a:rPr>
              <a:t>group postings by term :- group the values for the particular key from all the docs and create the postings </a:t>
            </a:r>
            <a:r>
              <a:rPr lang="en-US" dirty="0" err="1">
                <a:solidFill>
                  <a:schemeClr val="bg1"/>
                </a:solidFill>
              </a:rPr>
              <a:t>list.for</a:t>
            </a:r>
            <a:r>
              <a:rPr lang="en-US" dirty="0">
                <a:solidFill>
                  <a:schemeClr val="bg1"/>
                </a:solidFill>
              </a:rPr>
              <a:t> one key, get all the values</a:t>
            </a:r>
          </a:p>
          <a:p>
            <a:endParaRPr lang="en-US" dirty="0">
              <a:solidFill>
                <a:schemeClr val="bg1"/>
              </a:solidFill>
            </a:endParaRPr>
          </a:p>
          <a:p>
            <a:r>
              <a:rPr lang="en-US" dirty="0">
                <a:solidFill>
                  <a:schemeClr val="bg1"/>
                </a:solidFill>
              </a:rPr>
              <a:t>In reduce step , u collect the list and sort it based on doc id and write postings to disk. In reduce step u take a word as a key and the list of values corresponding to that key and then you sort the list of values based on doc id to get the final fully processed postings list.</a:t>
            </a:r>
          </a:p>
        </p:txBody>
      </p:sp>
    </p:spTree>
    <p:extLst>
      <p:ext uri="{BB962C8B-B14F-4D97-AF65-F5344CB8AC3E}">
        <p14:creationId xmlns:p14="http://schemas.microsoft.com/office/powerpoint/2010/main" val="185220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6" name="Rectangle 25"/>
          <p:cNvSpPr/>
          <p:nvPr/>
        </p:nvSpPr>
        <p:spPr bwMode="ltGray">
          <a:xfrm>
            <a:off x="6865491" y="19812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29" name="Rectangle 28"/>
          <p:cNvSpPr/>
          <p:nvPr/>
        </p:nvSpPr>
        <p:spPr bwMode="ltGray">
          <a:xfrm>
            <a:off x="6865491" y="24384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32" name="Rectangle 31"/>
          <p:cNvSpPr/>
          <p:nvPr/>
        </p:nvSpPr>
        <p:spPr bwMode="ltGray">
          <a:xfrm>
            <a:off x="6865491" y="28956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38" name="Rectangle 37"/>
          <p:cNvSpPr/>
          <p:nvPr/>
        </p:nvSpPr>
        <p:spPr bwMode="ltGray">
          <a:xfrm>
            <a:off x="9339704" y="19812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41" name="Rectangle 40"/>
          <p:cNvSpPr/>
          <p:nvPr/>
        </p:nvSpPr>
        <p:spPr bwMode="ltGray">
          <a:xfrm>
            <a:off x="9339704" y="24384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50" name="Rectangle 49"/>
          <p:cNvSpPr/>
          <p:nvPr/>
        </p:nvSpPr>
        <p:spPr bwMode="ltGray">
          <a:xfrm>
            <a:off x="5257800" y="51816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53" name="Rectangle 52"/>
          <p:cNvSpPr/>
          <p:nvPr/>
        </p:nvSpPr>
        <p:spPr bwMode="ltGray">
          <a:xfrm>
            <a:off x="5943600" y="51816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56" name="Rectangle 55"/>
          <p:cNvSpPr/>
          <p:nvPr/>
        </p:nvSpPr>
        <p:spPr bwMode="ltGray">
          <a:xfrm>
            <a:off x="5257800" y="56388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59" name="Rectangle 58"/>
          <p:cNvSpPr/>
          <p:nvPr/>
        </p:nvSpPr>
        <p:spPr bwMode="ltGray">
          <a:xfrm>
            <a:off x="8610600" y="5833647"/>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62" name="Rectangle 61"/>
          <p:cNvSpPr/>
          <p:nvPr/>
        </p:nvSpPr>
        <p:spPr bwMode="ltGray">
          <a:xfrm>
            <a:off x="5257800" y="60960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65" name="Rectangle 64"/>
          <p:cNvSpPr/>
          <p:nvPr/>
        </p:nvSpPr>
        <p:spPr bwMode="ltGray">
          <a:xfrm>
            <a:off x="5257800" y="47244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68" name="Rectangle 67"/>
          <p:cNvSpPr/>
          <p:nvPr/>
        </p:nvSpPr>
        <p:spPr bwMode="ltGray">
          <a:xfrm>
            <a:off x="8610600" y="4995447"/>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71" name="Rectangle 70"/>
          <p:cNvSpPr/>
          <p:nvPr/>
        </p:nvSpPr>
        <p:spPr bwMode="ltGray">
          <a:xfrm>
            <a:off x="8610600" y="54102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0" name="Rectangle 9"/>
          <p:cNvSpPr/>
          <p:nvPr/>
        </p:nvSpPr>
        <p:spPr bwMode="ltGray">
          <a:xfrm>
            <a:off x="4267200" y="19812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3" name="Rectangle 12"/>
          <p:cNvSpPr/>
          <p:nvPr/>
        </p:nvSpPr>
        <p:spPr bwMode="ltGray">
          <a:xfrm>
            <a:off x="4267200" y="24384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6" name="Rectangle 15"/>
          <p:cNvSpPr/>
          <p:nvPr/>
        </p:nvSpPr>
        <p:spPr bwMode="ltGray">
          <a:xfrm>
            <a:off x="4267200" y="2895600"/>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8" name="Rectangle 7"/>
          <p:cNvSpPr/>
          <p:nvPr/>
        </p:nvSpPr>
        <p:spPr bwMode="ltGray">
          <a:xfrm>
            <a:off x="3982917" y="19812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9" name="TextBox 8"/>
          <p:cNvSpPr txBox="1"/>
          <p:nvPr/>
        </p:nvSpPr>
        <p:spPr>
          <a:xfrm>
            <a:off x="3297117" y="1947447"/>
            <a:ext cx="503664"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one</a:t>
            </a:r>
          </a:p>
        </p:txBody>
      </p:sp>
      <p:sp>
        <p:nvSpPr>
          <p:cNvPr id="11" name="Rectangle 10"/>
          <p:cNvSpPr/>
          <p:nvPr/>
        </p:nvSpPr>
        <p:spPr bwMode="ltGray">
          <a:xfrm>
            <a:off x="3982917" y="24384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2" name="TextBox 11"/>
          <p:cNvSpPr txBox="1"/>
          <p:nvPr/>
        </p:nvSpPr>
        <p:spPr>
          <a:xfrm>
            <a:off x="3297117" y="2404647"/>
            <a:ext cx="508152"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two</a:t>
            </a:r>
          </a:p>
        </p:txBody>
      </p:sp>
      <p:sp>
        <p:nvSpPr>
          <p:cNvPr id="14" name="Rectangle 13"/>
          <p:cNvSpPr/>
          <p:nvPr/>
        </p:nvSpPr>
        <p:spPr bwMode="ltGray">
          <a:xfrm>
            <a:off x="3982917" y="28956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5" name="TextBox 14"/>
          <p:cNvSpPr txBox="1"/>
          <p:nvPr/>
        </p:nvSpPr>
        <p:spPr>
          <a:xfrm>
            <a:off x="3297118" y="2861847"/>
            <a:ext cx="481222"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a:t>
            </a:r>
          </a:p>
        </p:txBody>
      </p:sp>
      <p:grpSp>
        <p:nvGrpSpPr>
          <p:cNvPr id="4" name="Group 16"/>
          <p:cNvGrpSpPr/>
          <p:nvPr/>
        </p:nvGrpSpPr>
        <p:grpSpPr>
          <a:xfrm>
            <a:off x="3068518" y="1261644"/>
            <a:ext cx="1509541" cy="460177"/>
            <a:chOff x="762000" y="1905000"/>
            <a:chExt cx="1509541" cy="460178"/>
          </a:xfrm>
        </p:grpSpPr>
        <p:sp>
          <p:nvSpPr>
            <p:cNvPr id="3" name="TextBox 2"/>
            <p:cNvSpPr txBox="1"/>
            <p:nvPr/>
          </p:nvSpPr>
          <p:spPr>
            <a:xfrm>
              <a:off x="838200" y="2057400"/>
              <a:ext cx="1433341" cy="307778"/>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one fish, two fish</a:t>
              </a:r>
            </a:p>
          </p:txBody>
        </p:sp>
        <p:sp>
          <p:nvSpPr>
            <p:cNvPr id="7" name="TextBox 6"/>
            <p:cNvSpPr txBox="1"/>
            <p:nvPr/>
          </p:nvSpPr>
          <p:spPr>
            <a:xfrm>
              <a:off x="762000" y="1905000"/>
              <a:ext cx="596638" cy="307778"/>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Gill Sans"/>
                  <a:ea typeface="+mn-ea"/>
                  <a:cs typeface="Gill Sans"/>
                </a:rPr>
                <a:t>Doc 1</a:t>
              </a:r>
            </a:p>
          </p:txBody>
        </p:sp>
      </p:grpSp>
      <p:sp>
        <p:nvSpPr>
          <p:cNvPr id="24" name="Rectangle 23"/>
          <p:cNvSpPr/>
          <p:nvPr/>
        </p:nvSpPr>
        <p:spPr bwMode="ltGray">
          <a:xfrm>
            <a:off x="6560691" y="19812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25" name="TextBox 24"/>
          <p:cNvSpPr txBox="1"/>
          <p:nvPr/>
        </p:nvSpPr>
        <p:spPr>
          <a:xfrm>
            <a:off x="5874892" y="1947447"/>
            <a:ext cx="464101"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red</a:t>
            </a:r>
          </a:p>
        </p:txBody>
      </p:sp>
      <p:sp>
        <p:nvSpPr>
          <p:cNvPr id="27" name="Rectangle 26"/>
          <p:cNvSpPr/>
          <p:nvPr/>
        </p:nvSpPr>
        <p:spPr bwMode="ltGray">
          <a:xfrm>
            <a:off x="6560691" y="24384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28" name="TextBox 27"/>
          <p:cNvSpPr txBox="1"/>
          <p:nvPr/>
        </p:nvSpPr>
        <p:spPr>
          <a:xfrm>
            <a:off x="5874891" y="2404647"/>
            <a:ext cx="548548"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blue</a:t>
            </a:r>
          </a:p>
        </p:txBody>
      </p:sp>
      <p:sp>
        <p:nvSpPr>
          <p:cNvPr id="30" name="Rectangle 29"/>
          <p:cNvSpPr/>
          <p:nvPr/>
        </p:nvSpPr>
        <p:spPr bwMode="ltGray">
          <a:xfrm>
            <a:off x="6560691" y="28956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31" name="TextBox 30"/>
          <p:cNvSpPr txBox="1"/>
          <p:nvPr/>
        </p:nvSpPr>
        <p:spPr>
          <a:xfrm>
            <a:off x="5874891" y="2861847"/>
            <a:ext cx="481222"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a:t>
            </a:r>
          </a:p>
        </p:txBody>
      </p:sp>
      <p:grpSp>
        <p:nvGrpSpPr>
          <p:cNvPr id="5" name="Group 32"/>
          <p:cNvGrpSpPr/>
          <p:nvPr/>
        </p:nvGrpSpPr>
        <p:grpSpPr>
          <a:xfrm>
            <a:off x="5646293" y="1261644"/>
            <a:ext cx="1513645" cy="460177"/>
            <a:chOff x="762000" y="1905000"/>
            <a:chExt cx="1513645" cy="460178"/>
          </a:xfrm>
        </p:grpSpPr>
        <p:sp>
          <p:nvSpPr>
            <p:cNvPr id="34" name="TextBox 33"/>
            <p:cNvSpPr txBox="1"/>
            <p:nvPr/>
          </p:nvSpPr>
          <p:spPr>
            <a:xfrm>
              <a:off x="838200" y="2057400"/>
              <a:ext cx="1437445" cy="307778"/>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red fish, blue fish</a:t>
              </a:r>
            </a:p>
          </p:txBody>
        </p:sp>
        <p:sp>
          <p:nvSpPr>
            <p:cNvPr id="35" name="TextBox 34"/>
            <p:cNvSpPr txBox="1"/>
            <p:nvPr/>
          </p:nvSpPr>
          <p:spPr>
            <a:xfrm>
              <a:off x="762000" y="1905000"/>
              <a:ext cx="596638" cy="307778"/>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Gill Sans"/>
                  <a:ea typeface="+mn-ea"/>
                  <a:cs typeface="Gill Sans"/>
                </a:rPr>
                <a:t>Doc 2</a:t>
              </a:r>
            </a:p>
          </p:txBody>
        </p:sp>
      </p:grpSp>
      <p:sp>
        <p:nvSpPr>
          <p:cNvPr id="36" name="Rectangle 35"/>
          <p:cNvSpPr/>
          <p:nvPr/>
        </p:nvSpPr>
        <p:spPr bwMode="ltGray">
          <a:xfrm>
            <a:off x="9034904" y="19812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37" name="TextBox 36"/>
          <p:cNvSpPr txBox="1"/>
          <p:nvPr/>
        </p:nvSpPr>
        <p:spPr>
          <a:xfrm>
            <a:off x="8349104" y="1947447"/>
            <a:ext cx="434286"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cat</a:t>
            </a:r>
          </a:p>
        </p:txBody>
      </p:sp>
      <p:sp>
        <p:nvSpPr>
          <p:cNvPr id="39" name="Rectangle 38"/>
          <p:cNvSpPr/>
          <p:nvPr/>
        </p:nvSpPr>
        <p:spPr bwMode="ltGray">
          <a:xfrm>
            <a:off x="9034904" y="24384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40" name="TextBox 39"/>
          <p:cNvSpPr txBox="1"/>
          <p:nvPr/>
        </p:nvSpPr>
        <p:spPr>
          <a:xfrm>
            <a:off x="8349104" y="2404647"/>
            <a:ext cx="456856"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hat</a:t>
            </a:r>
          </a:p>
        </p:txBody>
      </p:sp>
      <p:grpSp>
        <p:nvGrpSpPr>
          <p:cNvPr id="6" name="Group 44"/>
          <p:cNvGrpSpPr/>
          <p:nvPr/>
        </p:nvGrpSpPr>
        <p:grpSpPr>
          <a:xfrm>
            <a:off x="8120505" y="1261644"/>
            <a:ext cx="1222668" cy="460177"/>
            <a:chOff x="762000" y="1905000"/>
            <a:chExt cx="1222669" cy="460178"/>
          </a:xfrm>
        </p:grpSpPr>
        <p:sp>
          <p:nvSpPr>
            <p:cNvPr id="46" name="TextBox 45"/>
            <p:cNvSpPr txBox="1"/>
            <p:nvPr/>
          </p:nvSpPr>
          <p:spPr>
            <a:xfrm>
              <a:off x="838200" y="2057400"/>
              <a:ext cx="1146469" cy="307778"/>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ill Sans"/>
                  <a:ea typeface="+mn-ea"/>
                  <a:cs typeface="Gill Sans"/>
                </a:rPr>
                <a:t>cat in the hat</a:t>
              </a:r>
            </a:p>
          </p:txBody>
        </p:sp>
        <p:sp>
          <p:nvSpPr>
            <p:cNvPr id="47" name="TextBox 46"/>
            <p:cNvSpPr txBox="1"/>
            <p:nvPr/>
          </p:nvSpPr>
          <p:spPr>
            <a:xfrm>
              <a:off x="762000" y="1905000"/>
              <a:ext cx="596638" cy="307778"/>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Gill Sans"/>
                  <a:ea typeface="+mn-ea"/>
                  <a:cs typeface="Gill Sans"/>
                </a:rPr>
                <a:t>Doc 3</a:t>
              </a:r>
            </a:p>
          </p:txBody>
        </p:sp>
      </p:grpSp>
      <p:sp>
        <p:nvSpPr>
          <p:cNvPr id="48" name="Rectangle 47"/>
          <p:cNvSpPr/>
          <p:nvPr/>
        </p:nvSpPr>
        <p:spPr bwMode="ltGray">
          <a:xfrm>
            <a:off x="4953000" y="51816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49" name="TextBox 48"/>
          <p:cNvSpPr txBox="1"/>
          <p:nvPr/>
        </p:nvSpPr>
        <p:spPr>
          <a:xfrm>
            <a:off x="4267200" y="5147847"/>
            <a:ext cx="481222"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a:t>
            </a:r>
          </a:p>
        </p:txBody>
      </p:sp>
      <p:sp>
        <p:nvSpPr>
          <p:cNvPr id="51" name="Rectangle 50"/>
          <p:cNvSpPr/>
          <p:nvPr/>
        </p:nvSpPr>
        <p:spPr bwMode="ltGray">
          <a:xfrm>
            <a:off x="5638800" y="51816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54" name="Rectangle 53"/>
          <p:cNvSpPr/>
          <p:nvPr/>
        </p:nvSpPr>
        <p:spPr bwMode="ltGray">
          <a:xfrm>
            <a:off x="4953000" y="56388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55" name="TextBox 54"/>
          <p:cNvSpPr txBox="1"/>
          <p:nvPr/>
        </p:nvSpPr>
        <p:spPr>
          <a:xfrm>
            <a:off x="4267200" y="5605047"/>
            <a:ext cx="503664"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one</a:t>
            </a:r>
          </a:p>
        </p:txBody>
      </p:sp>
      <p:sp>
        <p:nvSpPr>
          <p:cNvPr id="57" name="Rectangle 56"/>
          <p:cNvSpPr/>
          <p:nvPr/>
        </p:nvSpPr>
        <p:spPr bwMode="ltGray">
          <a:xfrm>
            <a:off x="8305800" y="5833647"/>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58" name="TextBox 57"/>
          <p:cNvSpPr txBox="1"/>
          <p:nvPr/>
        </p:nvSpPr>
        <p:spPr>
          <a:xfrm>
            <a:off x="7620001" y="5799894"/>
            <a:ext cx="508152"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two</a:t>
            </a:r>
          </a:p>
        </p:txBody>
      </p:sp>
      <p:sp>
        <p:nvSpPr>
          <p:cNvPr id="60" name="Rectangle 59"/>
          <p:cNvSpPr/>
          <p:nvPr/>
        </p:nvSpPr>
        <p:spPr bwMode="ltGray">
          <a:xfrm>
            <a:off x="4953000" y="60960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61" name="TextBox 60"/>
          <p:cNvSpPr txBox="1"/>
          <p:nvPr/>
        </p:nvSpPr>
        <p:spPr>
          <a:xfrm>
            <a:off x="4267201" y="6062247"/>
            <a:ext cx="464101"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red</a:t>
            </a:r>
          </a:p>
        </p:txBody>
      </p:sp>
      <p:sp>
        <p:nvSpPr>
          <p:cNvPr id="63" name="Rectangle 62"/>
          <p:cNvSpPr/>
          <p:nvPr/>
        </p:nvSpPr>
        <p:spPr bwMode="ltGray">
          <a:xfrm>
            <a:off x="4953000" y="47244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64" name="TextBox 63"/>
          <p:cNvSpPr txBox="1"/>
          <p:nvPr/>
        </p:nvSpPr>
        <p:spPr>
          <a:xfrm>
            <a:off x="4267200" y="4690647"/>
            <a:ext cx="434286"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cat</a:t>
            </a:r>
          </a:p>
        </p:txBody>
      </p:sp>
      <p:sp>
        <p:nvSpPr>
          <p:cNvPr id="66" name="Rectangle 65"/>
          <p:cNvSpPr/>
          <p:nvPr/>
        </p:nvSpPr>
        <p:spPr bwMode="ltGray">
          <a:xfrm>
            <a:off x="8305800" y="4995447"/>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67" name="TextBox 66"/>
          <p:cNvSpPr txBox="1"/>
          <p:nvPr/>
        </p:nvSpPr>
        <p:spPr>
          <a:xfrm>
            <a:off x="7620000" y="4961694"/>
            <a:ext cx="548548"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blue</a:t>
            </a:r>
          </a:p>
        </p:txBody>
      </p:sp>
      <p:sp>
        <p:nvSpPr>
          <p:cNvPr id="69" name="Rectangle 68"/>
          <p:cNvSpPr/>
          <p:nvPr/>
        </p:nvSpPr>
        <p:spPr bwMode="ltGray">
          <a:xfrm>
            <a:off x="8305800" y="5410200"/>
            <a:ext cx="304800" cy="304800"/>
          </a:xfrm>
          <a:prstGeom prst="rect">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70" name="TextBox 69"/>
          <p:cNvSpPr txBox="1"/>
          <p:nvPr/>
        </p:nvSpPr>
        <p:spPr>
          <a:xfrm>
            <a:off x="7620000" y="5376447"/>
            <a:ext cx="456856"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hat</a:t>
            </a:r>
          </a:p>
        </p:txBody>
      </p:sp>
      <p:sp>
        <p:nvSpPr>
          <p:cNvPr id="85" name="Rectangle 84"/>
          <p:cNvSpPr>
            <a:spLocks noChangeArrowheads="1"/>
          </p:cNvSpPr>
          <p:nvPr/>
        </p:nvSpPr>
        <p:spPr bwMode="auto">
          <a:xfrm>
            <a:off x="2362200" y="3810000"/>
            <a:ext cx="7848600" cy="381000"/>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Gill Sans"/>
                <a:ea typeface="+mn-ea"/>
                <a:cs typeface="Gill Sans"/>
              </a:rPr>
              <a:t>Shuffle and Sort:</a:t>
            </a:r>
            <a:r>
              <a:rPr kumimoji="0" lang="en-US" sz="1600" b="0" i="0" u="none" strike="noStrike" kern="1200" cap="none" spc="0" normalizeH="0" baseline="0" noProof="0" dirty="0">
                <a:ln>
                  <a:noFill/>
                </a:ln>
                <a:solidFill>
                  <a:srgbClr val="000000"/>
                </a:solidFill>
                <a:effectLst/>
                <a:uLnTx/>
                <a:uFillTx/>
                <a:latin typeface="Gill Sans"/>
                <a:ea typeface="+mn-ea"/>
                <a:cs typeface="Gill Sans"/>
              </a:rPr>
              <a:t> aggregate values by keys</a:t>
            </a:r>
          </a:p>
        </p:txBody>
      </p:sp>
      <p:sp>
        <p:nvSpPr>
          <p:cNvPr id="87" name="TextBox 86"/>
          <p:cNvSpPr txBox="1"/>
          <p:nvPr/>
        </p:nvSpPr>
        <p:spPr>
          <a:xfrm>
            <a:off x="1752602" y="2286002"/>
            <a:ext cx="949299" cy="584775"/>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00B050"/>
                </a:solidFill>
                <a:effectLst/>
                <a:uLnTx/>
                <a:uFillTx/>
                <a:latin typeface="Gill Sans"/>
                <a:ea typeface="+mn-ea"/>
                <a:cs typeface="Gill Sans"/>
              </a:rPr>
              <a:t>Map</a:t>
            </a:r>
          </a:p>
        </p:txBody>
      </p:sp>
      <p:sp>
        <p:nvSpPr>
          <p:cNvPr id="88" name="TextBox 87"/>
          <p:cNvSpPr txBox="1"/>
          <p:nvPr/>
        </p:nvSpPr>
        <p:spPr>
          <a:xfrm>
            <a:off x="1752600" y="5029202"/>
            <a:ext cx="1413336" cy="584775"/>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dirty="0">
                <a:ln>
                  <a:noFill/>
                </a:ln>
                <a:solidFill>
                  <a:srgbClr val="00B050"/>
                </a:solidFill>
                <a:effectLst/>
                <a:uLnTx/>
                <a:uFillTx/>
                <a:latin typeface="Gill Sans"/>
                <a:ea typeface="+mn-ea"/>
                <a:cs typeface="Gill Sans"/>
              </a:rPr>
              <a:t>Reduce</a:t>
            </a:r>
          </a:p>
        </p:txBody>
      </p:sp>
      <p:sp>
        <p:nvSpPr>
          <p:cNvPr id="72" name="Title 1"/>
          <p:cNvSpPr txBox="1">
            <a:spLocks/>
          </p:cNvSpPr>
          <p:nvPr/>
        </p:nvSpPr>
        <p:spPr>
          <a:xfrm>
            <a:off x="719403" y="211723"/>
            <a:ext cx="10449340" cy="626479"/>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C00000"/>
                </a:solidFill>
                <a:effectLst/>
                <a:uLnTx/>
                <a:uFillTx/>
                <a:latin typeface="Gill Sans"/>
                <a:ea typeface="+mn-ea"/>
                <a:cs typeface="Gill Sans"/>
              </a:rPr>
              <a:t>Inverted Index: Basic </a:t>
            </a:r>
            <a:r>
              <a:rPr kumimoji="0" lang="en-US" sz="3600" b="0" i="0" u="none" strike="noStrike" kern="0" cap="none" spc="0" normalizeH="0" baseline="0" noProof="0" dirty="0" err="1">
                <a:ln>
                  <a:noFill/>
                </a:ln>
                <a:solidFill>
                  <a:srgbClr val="C00000"/>
                </a:solidFill>
                <a:effectLst/>
                <a:uLnTx/>
                <a:uFillTx/>
                <a:latin typeface="Gill Sans"/>
                <a:ea typeface="+mn-ea"/>
                <a:cs typeface="Gill Sans"/>
              </a:rPr>
              <a:t>MapReduce</a:t>
            </a:r>
            <a:r>
              <a:rPr kumimoji="0" lang="en-US" sz="3600" b="0" i="0" u="none" strike="noStrike" kern="0" cap="none" spc="0" normalizeH="0" baseline="0" noProof="0" dirty="0">
                <a:ln>
                  <a:noFill/>
                </a:ln>
                <a:solidFill>
                  <a:srgbClr val="C00000"/>
                </a:solidFill>
                <a:effectLst/>
                <a:uLnTx/>
                <a:uFillTx/>
                <a:latin typeface="Gill Sans"/>
                <a:ea typeface="+mn-ea"/>
                <a:cs typeface="Gill Sans"/>
              </a:rPr>
              <a:t> Algorithm</a:t>
            </a:r>
          </a:p>
        </p:txBody>
      </p:sp>
    </p:spTree>
    <p:extLst>
      <p:ext uri="{BB962C8B-B14F-4D97-AF65-F5344CB8AC3E}">
        <p14:creationId xmlns:p14="http://schemas.microsoft.com/office/powerpoint/2010/main" val="1620013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85"/>
                                        </p:tgtEl>
                                        <p:attrNameLst>
                                          <p:attrName>style.visibility</p:attrName>
                                        </p:attrNameLst>
                                      </p:cBhvr>
                                      <p:to>
                                        <p:strVal val="visible"/>
                                      </p:to>
                                    </p:set>
                                    <p:animEffect transition="in" filter="dissolve">
                                      <p:cBhvr>
                                        <p:cTn id="61" dur="500"/>
                                        <p:tgtEl>
                                          <p:spTgt spid="85"/>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8"/>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49"/>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0"/>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51"/>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53"/>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54"/>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55"/>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56"/>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6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61"/>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62"/>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63"/>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64"/>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65"/>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57"/>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58"/>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59"/>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6"/>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7"/>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68"/>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69"/>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70"/>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P spid="32" grpId="0" animBg="1"/>
      <p:bldP spid="38" grpId="0" animBg="1"/>
      <p:bldP spid="41" grpId="0" animBg="1"/>
      <p:bldP spid="50" grpId="0" animBg="1"/>
      <p:bldP spid="53" grpId="0" animBg="1"/>
      <p:bldP spid="56" grpId="0" animBg="1"/>
      <p:bldP spid="59" grpId="0" animBg="1"/>
      <p:bldP spid="62" grpId="0" animBg="1"/>
      <p:bldP spid="65" grpId="0" animBg="1"/>
      <p:bldP spid="68" grpId="0" animBg="1"/>
      <p:bldP spid="71" grpId="0" animBg="1"/>
      <p:bldP spid="10" grpId="0" animBg="1"/>
      <p:bldP spid="13" grpId="0" animBg="1"/>
      <p:bldP spid="16" grpId="0" animBg="1"/>
      <p:bldP spid="8" grpId="0" animBg="1"/>
      <p:bldP spid="9" grpId="0"/>
      <p:bldP spid="11" grpId="0" animBg="1"/>
      <p:bldP spid="12" grpId="0"/>
      <p:bldP spid="14" grpId="0" animBg="1"/>
      <p:bldP spid="15" grpId="0"/>
      <p:bldP spid="24" grpId="0" animBg="1"/>
      <p:bldP spid="25" grpId="0"/>
      <p:bldP spid="27" grpId="0" animBg="1"/>
      <p:bldP spid="28" grpId="0"/>
      <p:bldP spid="30" grpId="0" animBg="1"/>
      <p:bldP spid="31" grpId="0"/>
      <p:bldP spid="36" grpId="0" animBg="1"/>
      <p:bldP spid="37" grpId="0"/>
      <p:bldP spid="39" grpId="0" animBg="1"/>
      <p:bldP spid="40" grpId="0"/>
      <p:bldP spid="48" grpId="0" animBg="1"/>
      <p:bldP spid="49" grpId="0"/>
      <p:bldP spid="51" grpId="0" animBg="1"/>
      <p:bldP spid="54" grpId="0" animBg="1"/>
      <p:bldP spid="55" grpId="0"/>
      <p:bldP spid="57" grpId="0" animBg="1"/>
      <p:bldP spid="58" grpId="0"/>
      <p:bldP spid="60" grpId="0" animBg="1"/>
      <p:bldP spid="61" grpId="0"/>
      <p:bldP spid="63" grpId="0" animBg="1"/>
      <p:bldP spid="64" grpId="0"/>
      <p:bldP spid="66" grpId="0" animBg="1"/>
      <p:bldP spid="67" grpId="0"/>
      <p:bldP spid="69" grpId="0" animBg="1"/>
      <p:bldP spid="70" grpId="0"/>
      <p:bldP spid="8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Title 1"/>
          <p:cNvSpPr txBox="1">
            <a:spLocks/>
          </p:cNvSpPr>
          <p:nvPr/>
        </p:nvSpPr>
        <p:spPr>
          <a:xfrm>
            <a:off x="538065" y="187674"/>
            <a:ext cx="9144000" cy="6858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00B050"/>
                </a:solidFill>
                <a:effectLst/>
                <a:uLnTx/>
                <a:uFillTx/>
                <a:latin typeface="Gill Sans"/>
                <a:ea typeface="+mn-ea"/>
                <a:cs typeface="Gill Sans"/>
              </a:rPr>
              <a:t>Inverted Indexing: Pseudo-Code</a:t>
            </a:r>
          </a:p>
        </p:txBody>
      </p:sp>
      <p:sp>
        <p:nvSpPr>
          <p:cNvPr id="5" name="Text Box 4"/>
          <p:cNvSpPr txBox="1">
            <a:spLocks noChangeArrowheads="1"/>
          </p:cNvSpPr>
          <p:nvPr/>
        </p:nvSpPr>
        <p:spPr bwMode="auto">
          <a:xfrm>
            <a:off x="693716" y="1263270"/>
            <a:ext cx="5402284" cy="5262979"/>
          </a:xfrm>
          <a:prstGeom prst="rect">
            <a:avLst/>
          </a:prstGeom>
          <a:noFill/>
          <a:ln w="9525">
            <a:noFill/>
            <a:miter lim="800000"/>
            <a:headEnd/>
            <a:tailEnd/>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class </a:t>
            </a:r>
            <a:r>
              <a:rPr kumimoji="0" lang="en-US" sz="2400" b="0" i="0" u="none" strike="noStrike" kern="1200" cap="none" spc="0" normalizeH="0" baseline="0" noProof="0" dirty="0">
                <a:ln>
                  <a:noFill/>
                </a:ln>
                <a:solidFill>
                  <a:srgbClr val="00B0F0"/>
                </a:solidFill>
                <a:effectLst/>
                <a:uLnTx/>
                <a:uFillTx/>
                <a:latin typeface="Andale Mono"/>
                <a:ea typeface="+mn-ea"/>
                <a:cs typeface="Andale Mono"/>
              </a:rPr>
              <a:t>Mapper</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400" b="0" i="0" u="none" strike="noStrike" kern="1200" cap="none" spc="0" normalizeH="0" baseline="0" noProof="0" dirty="0">
                <a:ln>
                  <a:noFill/>
                </a:ln>
                <a:solidFill>
                  <a:srgbClr val="00B050"/>
                </a:solidFill>
                <a:effectLst/>
                <a:uLnTx/>
                <a:uFillTx/>
                <a:latin typeface="Andale Mono"/>
                <a:ea typeface="+mn-ea"/>
                <a:cs typeface="Andale Mono"/>
              </a:rPr>
              <a:t>map</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doc)</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counts = new HashMap()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for (term in tokenize(doc))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counts(term) += 1 </a:t>
            </a:r>
            <a:r>
              <a:rPr kumimoji="0" lang="en-US" sz="2400" b="0" i="0" u="none" strike="noStrike" kern="1200" cap="none" spc="0" normalizeH="0" noProof="0" dirty="0">
                <a:ln>
                  <a:noFill/>
                </a:ln>
                <a:solidFill>
                  <a:srgbClr val="000000"/>
                </a:solidFill>
                <a:effectLst/>
                <a:uLnTx/>
                <a:uFillTx/>
                <a:latin typeface="Andale Mono"/>
                <a:ea typeface="+mn-ea"/>
                <a:cs typeface="Andale Mono"/>
              </a:rPr>
              <a:t>  // counting </a:t>
            </a:r>
            <a:r>
              <a:rPr kumimoji="0" lang="en-US" sz="2400" b="0" i="0" u="none" strike="noStrike" kern="1200" cap="none" spc="0" normalizeH="0" noProof="0" dirty="0" err="1">
                <a:ln>
                  <a:noFill/>
                </a:ln>
                <a:solidFill>
                  <a:srgbClr val="000000"/>
                </a:solidFill>
                <a:effectLst/>
                <a:uLnTx/>
                <a:uFillTx/>
                <a:latin typeface="Andale Mono"/>
                <a:ea typeface="+mn-ea"/>
                <a:cs typeface="Andale Mono"/>
              </a:rPr>
              <a:t>freq</a:t>
            </a:r>
            <a:endParaRPr kumimoji="0" lang="en-US" sz="24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for ((term, </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in counts)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emit(term, (</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a:t>
            </a:r>
          </a:p>
        </p:txBody>
      </p:sp>
      <p:sp>
        <p:nvSpPr>
          <p:cNvPr id="2" name="TextBox 1"/>
          <p:cNvSpPr txBox="1"/>
          <p:nvPr/>
        </p:nvSpPr>
        <p:spPr>
          <a:xfrm>
            <a:off x="6096000" y="1263270"/>
            <a:ext cx="5153783" cy="4893647"/>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class </a:t>
            </a:r>
            <a:r>
              <a:rPr kumimoji="0" lang="en-US" sz="2400" b="0" i="0" u="none" strike="noStrike" kern="1200" cap="none" spc="0" normalizeH="0" baseline="0" noProof="0" dirty="0">
                <a:ln>
                  <a:noFill/>
                </a:ln>
                <a:solidFill>
                  <a:srgbClr val="00B0F0"/>
                </a:solidFill>
                <a:effectLst/>
                <a:uLnTx/>
                <a:uFillTx/>
                <a:latin typeface="Andale Mono"/>
                <a:ea typeface="+mn-ea"/>
                <a:cs typeface="Andale Mono"/>
              </a:rPr>
              <a:t>Reducer</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400" b="0" i="0" u="none" strike="noStrike" kern="1200" cap="none" spc="0" normalizeH="0" baseline="0" noProof="0" dirty="0">
                <a:ln>
                  <a:noFill/>
                </a:ln>
                <a:solidFill>
                  <a:srgbClr val="00B050"/>
                </a:solidFill>
                <a:effectLst/>
                <a:uLnTx/>
                <a:uFillTx/>
                <a:latin typeface="Andale Mono"/>
                <a:ea typeface="+mn-ea"/>
                <a:cs typeface="Andale Mono"/>
              </a:rPr>
              <a:t>reduce</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(term, postings: list[(</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p = new List()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for ((</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in postings)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p.append</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400" b="0" i="0" u="none" strike="noStrike" kern="1200" cap="none" spc="0" normalizeH="0" baseline="0" noProof="0" dirty="0" err="1">
                <a:ln>
                  <a:noFill/>
                </a:ln>
                <a:solidFill>
                  <a:srgbClr val="000000"/>
                </a:solidFill>
                <a:effectLst/>
                <a:uLnTx/>
                <a:uFillTx/>
                <a:latin typeface="Andale Mono"/>
                <a:ea typeface="+mn-ea"/>
                <a:cs typeface="Andale Mono"/>
              </a:rPr>
              <a:t>p.sort</a:t>
            </a: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emit(term, 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ndale Mono"/>
                <a:ea typeface="+mn-ea"/>
                <a:cs typeface="Andale Mono"/>
              </a:rPr>
              <a:t>}</a:t>
            </a:r>
          </a:p>
        </p:txBody>
      </p:sp>
    </p:spTree>
    <p:extLst>
      <p:ext uri="{BB962C8B-B14F-4D97-AF65-F5344CB8AC3E}">
        <p14:creationId xmlns:p14="http://schemas.microsoft.com/office/powerpoint/2010/main" val="1649731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Title 1"/>
          <p:cNvSpPr txBox="1">
            <a:spLocks/>
          </p:cNvSpPr>
          <p:nvPr/>
        </p:nvSpPr>
        <p:spPr>
          <a:xfrm>
            <a:off x="917511" y="213539"/>
            <a:ext cx="9144000" cy="6858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C00000"/>
                </a:solidFill>
                <a:effectLst/>
                <a:uLnTx/>
                <a:uFillTx/>
                <a:latin typeface="Gill Sans"/>
                <a:ea typeface="+mn-ea"/>
                <a:cs typeface="Gill Sans"/>
              </a:rPr>
              <a:t>Where is the trouble?</a:t>
            </a:r>
          </a:p>
        </p:txBody>
      </p:sp>
      <p:sp>
        <p:nvSpPr>
          <p:cNvPr id="7" name="Rectangle: Rounded Corners 6">
            <a:extLst>
              <a:ext uri="{FF2B5EF4-FFF2-40B4-BE49-F238E27FC236}">
                <a16:creationId xmlns:a16="http://schemas.microsoft.com/office/drawing/2014/main" id="{2A43AD78-13C7-4B3C-8B35-2AE20A05A677}"/>
              </a:ext>
            </a:extLst>
          </p:cNvPr>
          <p:cNvSpPr/>
          <p:nvPr/>
        </p:nvSpPr>
        <p:spPr>
          <a:xfrm>
            <a:off x="9399137" y="5594730"/>
            <a:ext cx="2032985" cy="6858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dirty="0">
                <a:ln>
                  <a:noFill/>
                </a:ln>
                <a:solidFill>
                  <a:prstClr val="white"/>
                </a:solidFill>
                <a:effectLst/>
                <a:uLnTx/>
                <a:uFillTx/>
                <a:latin typeface="Century Schoolbook" panose="02040604050505020304"/>
                <a:ea typeface="+mn-ea"/>
                <a:cs typeface="+mn-cs"/>
              </a:rPr>
              <a:t>In memory sorting</a:t>
            </a:r>
          </a:p>
        </p:txBody>
      </p:sp>
      <p:sp>
        <p:nvSpPr>
          <p:cNvPr id="9" name="Text Box 4">
            <a:extLst>
              <a:ext uri="{FF2B5EF4-FFF2-40B4-BE49-F238E27FC236}">
                <a16:creationId xmlns:a16="http://schemas.microsoft.com/office/drawing/2014/main" id="{69858FF0-51CC-44BF-8EC3-1DC85B1DCF31}"/>
              </a:ext>
            </a:extLst>
          </p:cNvPr>
          <p:cNvSpPr txBox="1">
            <a:spLocks noChangeArrowheads="1"/>
          </p:cNvSpPr>
          <p:nvPr/>
        </p:nvSpPr>
        <p:spPr bwMode="auto">
          <a:xfrm>
            <a:off x="707571" y="1263270"/>
            <a:ext cx="5021424" cy="4401205"/>
          </a:xfrm>
          <a:prstGeom prst="rect">
            <a:avLst/>
          </a:prstGeom>
          <a:noFill/>
          <a:ln w="9525">
            <a:noFill/>
            <a:miter lim="800000"/>
            <a:headEnd/>
            <a:tailEnd/>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class </a:t>
            </a:r>
            <a:r>
              <a:rPr kumimoji="0" lang="en-US" sz="2000" b="0" i="0" u="none" strike="noStrike" kern="1200" cap="none" spc="0" normalizeH="0" baseline="0" noProof="0" dirty="0">
                <a:ln>
                  <a:noFill/>
                </a:ln>
                <a:solidFill>
                  <a:srgbClr val="00B0F0"/>
                </a:solidFill>
                <a:effectLst/>
                <a:uLnTx/>
                <a:uFillTx/>
                <a:latin typeface="Andale Mono"/>
                <a:ea typeface="+mn-ea"/>
                <a:cs typeface="Andale Mono"/>
              </a:rPr>
              <a:t>Mapper</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a:ln>
                  <a:noFill/>
                </a:ln>
                <a:solidFill>
                  <a:srgbClr val="00B050"/>
                </a:solidFill>
                <a:effectLst/>
                <a:uLnTx/>
                <a:uFillTx/>
                <a:latin typeface="Andale Mono"/>
                <a:ea typeface="+mn-ea"/>
                <a:cs typeface="Andale Mono"/>
              </a:rPr>
              <a:t>map</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doc)</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counts = new HashMap()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for (term in tokenize(doc))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counts(term) += 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for ((term,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in counts)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emit(term,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p:txBody>
      </p:sp>
      <p:sp>
        <p:nvSpPr>
          <p:cNvPr id="10" name="TextBox 9">
            <a:extLst>
              <a:ext uri="{FF2B5EF4-FFF2-40B4-BE49-F238E27FC236}">
                <a16:creationId xmlns:a16="http://schemas.microsoft.com/office/drawing/2014/main" id="{78CFC139-8E5B-41C5-B00D-E374EAE47233}"/>
              </a:ext>
            </a:extLst>
          </p:cNvPr>
          <p:cNvSpPr txBox="1"/>
          <p:nvPr/>
        </p:nvSpPr>
        <p:spPr>
          <a:xfrm>
            <a:off x="6261421" y="1263270"/>
            <a:ext cx="4341125" cy="4093428"/>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class </a:t>
            </a:r>
            <a:r>
              <a:rPr kumimoji="0" lang="en-US" sz="2000" b="0" i="0" u="none" strike="noStrike" kern="1200" cap="none" spc="0" normalizeH="0" baseline="0" noProof="0" dirty="0">
                <a:ln>
                  <a:noFill/>
                </a:ln>
                <a:solidFill>
                  <a:srgbClr val="00B0F0"/>
                </a:solidFill>
                <a:effectLst/>
                <a:uLnTx/>
                <a:uFillTx/>
                <a:latin typeface="Andale Mono"/>
                <a:ea typeface="+mn-ea"/>
                <a:cs typeface="Andale Mono"/>
              </a:rPr>
              <a:t>Reducer</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a:ln>
                  <a:noFill/>
                </a:ln>
                <a:solidFill>
                  <a:srgbClr val="00B050"/>
                </a:solidFill>
                <a:effectLst/>
                <a:uLnTx/>
                <a:uFillTx/>
                <a:latin typeface="Andale Mono"/>
                <a:ea typeface="+mn-ea"/>
                <a:cs typeface="Andale Mono"/>
              </a:rPr>
              <a:t>reduce</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(term, postings: list[(</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p = new List()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for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in postings)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p.append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p.sort</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emit(term, p)</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p:txBody>
      </p:sp>
      <p:cxnSp>
        <p:nvCxnSpPr>
          <p:cNvPr id="5" name="Connector: Elbow 4">
            <a:extLst>
              <a:ext uri="{FF2B5EF4-FFF2-40B4-BE49-F238E27FC236}">
                <a16:creationId xmlns:a16="http://schemas.microsoft.com/office/drawing/2014/main" id="{96A2BB88-51DE-47B8-B06C-A66C58A745DD}"/>
              </a:ext>
            </a:extLst>
          </p:cNvPr>
          <p:cNvCxnSpPr>
            <a:endCxn id="7" idx="0"/>
          </p:cNvCxnSpPr>
          <p:nvPr/>
        </p:nvCxnSpPr>
        <p:spPr>
          <a:xfrm>
            <a:off x="7665855" y="4222376"/>
            <a:ext cx="2749775" cy="1372354"/>
          </a:xfrm>
          <a:prstGeom prst="bentConnector2">
            <a:avLst/>
          </a:prstGeom>
          <a:ln w="47625">
            <a:tailEnd type="triangle"/>
          </a:ln>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01A4F541-EFC2-E866-42F1-ECB33A28C444}"/>
              </a:ext>
            </a:extLst>
          </p:cNvPr>
          <p:cNvSpPr txBox="1"/>
          <p:nvPr/>
        </p:nvSpPr>
        <p:spPr>
          <a:xfrm>
            <a:off x="110837" y="5664475"/>
            <a:ext cx="8936182" cy="1200329"/>
          </a:xfrm>
          <a:prstGeom prst="rect">
            <a:avLst/>
          </a:prstGeom>
          <a:noFill/>
        </p:spPr>
        <p:txBody>
          <a:bodyPr wrap="square" rtlCol="0">
            <a:spAutoFit/>
          </a:bodyPr>
          <a:lstStyle/>
          <a:p>
            <a:r>
              <a:rPr lang="en-US" dirty="0">
                <a:solidFill>
                  <a:schemeClr val="bg1"/>
                </a:solidFill>
              </a:rPr>
              <a:t>The p which u get is not in sorted order so u do </a:t>
            </a:r>
            <a:r>
              <a:rPr lang="en-US" dirty="0" err="1">
                <a:solidFill>
                  <a:schemeClr val="bg1"/>
                </a:solidFill>
              </a:rPr>
              <a:t>p.sort</a:t>
            </a:r>
            <a:r>
              <a:rPr lang="en-US" dirty="0">
                <a:solidFill>
                  <a:schemeClr val="bg1"/>
                </a:solidFill>
              </a:rPr>
              <a:t>() in reduce phase. But this is in memory sorting and length of postings list for a popular word like education is extremely large and hence in memory sorting wont work, so we need to tackle this by value to key design pattern.</a:t>
            </a:r>
          </a:p>
        </p:txBody>
      </p:sp>
    </p:spTree>
    <p:extLst>
      <p:ext uri="{BB962C8B-B14F-4D97-AF65-F5344CB8AC3E}">
        <p14:creationId xmlns:p14="http://schemas.microsoft.com/office/powerpoint/2010/main" val="168570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mph" presetSubtype="2" fill="hold" nodeType="clickEffect">
                                  <p:stCondLst>
                                    <p:cond delay="0"/>
                                  </p:stCondLst>
                                  <p:childTnLst>
                                    <p:animClr clrSpc="rgb" dir="cw">
                                      <p:cBhvr override="childStyle">
                                        <p:cTn id="10" dur="2000" fill="hold"/>
                                        <p:tgtEl>
                                          <p:spTgt spid="10">
                                            <p:txEl>
                                              <p:pRg st="9" end="9"/>
                                            </p:txEl>
                                          </p:spTgt>
                                        </p:tgtEl>
                                        <p:attrNameLst>
                                          <p:attrName>style.color</p:attrName>
                                        </p:attrNameLst>
                                      </p:cBhvr>
                                      <p:to>
                                        <a:srgbClr val="C00000"/>
                                      </p:to>
                                    </p:animClr>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Rectangle 7"/>
          <p:cNvSpPr/>
          <p:nvPr/>
        </p:nvSpPr>
        <p:spPr bwMode="ltGray">
          <a:xfrm>
            <a:off x="3733800" y="19869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0" name="Rectangle 9"/>
          <p:cNvSpPr/>
          <p:nvPr/>
        </p:nvSpPr>
        <p:spPr bwMode="ltGray">
          <a:xfrm>
            <a:off x="3733800" y="42729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4" name="Rectangle 13"/>
          <p:cNvSpPr/>
          <p:nvPr/>
        </p:nvSpPr>
        <p:spPr bwMode="ltGray">
          <a:xfrm>
            <a:off x="3733800" y="29013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19" name="Rectangle 18"/>
          <p:cNvSpPr/>
          <p:nvPr/>
        </p:nvSpPr>
        <p:spPr bwMode="ltGray">
          <a:xfrm>
            <a:off x="3733800" y="24441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22" name="Rectangle 21"/>
          <p:cNvSpPr/>
          <p:nvPr/>
        </p:nvSpPr>
        <p:spPr bwMode="ltGray">
          <a:xfrm>
            <a:off x="3733800" y="33585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25" name="Rectangle 24"/>
          <p:cNvSpPr/>
          <p:nvPr/>
        </p:nvSpPr>
        <p:spPr bwMode="ltGray">
          <a:xfrm>
            <a:off x="3733800" y="38157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6" name="Rectangle 5"/>
          <p:cNvSpPr/>
          <p:nvPr/>
        </p:nvSpPr>
        <p:spPr bwMode="ltGray">
          <a:xfrm>
            <a:off x="3276600" y="1986915"/>
            <a:ext cx="457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7" name="TextBox 6"/>
          <p:cNvSpPr txBox="1"/>
          <p:nvPr/>
        </p:nvSpPr>
        <p:spPr>
          <a:xfrm>
            <a:off x="2286000" y="1953162"/>
            <a:ext cx="481222"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Gill Sans"/>
                <a:ea typeface="+mn-ea"/>
                <a:cs typeface="Gill Sans"/>
              </a:rPr>
              <a:t>fish</a:t>
            </a:r>
          </a:p>
        </p:txBody>
      </p:sp>
      <p:sp>
        <p:nvSpPr>
          <p:cNvPr id="9" name="Rectangle 8"/>
          <p:cNvSpPr/>
          <p:nvPr/>
        </p:nvSpPr>
        <p:spPr bwMode="ltGray">
          <a:xfrm>
            <a:off x="3276600" y="4272915"/>
            <a:ext cx="457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9</a:t>
            </a:r>
          </a:p>
        </p:txBody>
      </p:sp>
      <p:sp>
        <p:nvSpPr>
          <p:cNvPr id="13" name="Rectangle 12"/>
          <p:cNvSpPr/>
          <p:nvPr/>
        </p:nvSpPr>
        <p:spPr bwMode="ltGray">
          <a:xfrm>
            <a:off x="3276600" y="2901315"/>
            <a:ext cx="457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21</a:t>
            </a:r>
          </a:p>
        </p:txBody>
      </p:sp>
      <p:sp>
        <p:nvSpPr>
          <p:cNvPr id="16" name="TextBox 15"/>
          <p:cNvSpPr txBox="1"/>
          <p:nvPr/>
        </p:nvSpPr>
        <p:spPr>
          <a:xfrm>
            <a:off x="3276601" y="1529715"/>
            <a:ext cx="834074"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Gill Sans"/>
                <a:ea typeface="+mn-ea"/>
                <a:cs typeface="Gill Sans"/>
              </a:rPr>
              <a:t>(values)</a:t>
            </a:r>
          </a:p>
        </p:txBody>
      </p:sp>
      <p:sp>
        <p:nvSpPr>
          <p:cNvPr id="17" name="TextBox 16"/>
          <p:cNvSpPr txBox="1"/>
          <p:nvPr/>
        </p:nvSpPr>
        <p:spPr>
          <a:xfrm>
            <a:off x="2209800" y="1529715"/>
            <a:ext cx="590354"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Gill Sans"/>
                <a:ea typeface="+mn-ea"/>
                <a:cs typeface="Gill Sans"/>
              </a:rPr>
              <a:t>(key)</a:t>
            </a:r>
          </a:p>
        </p:txBody>
      </p:sp>
      <p:sp>
        <p:nvSpPr>
          <p:cNvPr id="18" name="Rectangle 17"/>
          <p:cNvSpPr/>
          <p:nvPr/>
        </p:nvSpPr>
        <p:spPr bwMode="ltGray">
          <a:xfrm>
            <a:off x="3276600" y="2444115"/>
            <a:ext cx="457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34</a:t>
            </a:r>
          </a:p>
        </p:txBody>
      </p:sp>
      <p:sp>
        <p:nvSpPr>
          <p:cNvPr id="21" name="Rectangle 20"/>
          <p:cNvSpPr/>
          <p:nvPr/>
        </p:nvSpPr>
        <p:spPr bwMode="ltGray">
          <a:xfrm>
            <a:off x="3276600" y="3358515"/>
            <a:ext cx="457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35</a:t>
            </a:r>
          </a:p>
        </p:txBody>
      </p:sp>
      <p:sp>
        <p:nvSpPr>
          <p:cNvPr id="24" name="Rectangle 23"/>
          <p:cNvSpPr/>
          <p:nvPr/>
        </p:nvSpPr>
        <p:spPr bwMode="ltGray">
          <a:xfrm>
            <a:off x="3276600" y="3815715"/>
            <a:ext cx="457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80</a:t>
            </a:r>
          </a:p>
        </p:txBody>
      </p:sp>
      <p:sp>
        <p:nvSpPr>
          <p:cNvPr id="27" name="Rectangle 26"/>
          <p:cNvSpPr/>
          <p:nvPr/>
        </p:nvSpPr>
        <p:spPr bwMode="ltGray">
          <a:xfrm>
            <a:off x="6858000" y="19869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 1</a:t>
            </a:r>
          </a:p>
        </p:txBody>
      </p:sp>
      <p:sp>
        <p:nvSpPr>
          <p:cNvPr id="30" name="Rectangle 29"/>
          <p:cNvSpPr/>
          <p:nvPr/>
        </p:nvSpPr>
        <p:spPr bwMode="ltGray">
          <a:xfrm>
            <a:off x="6858000" y="24441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 9</a:t>
            </a:r>
          </a:p>
        </p:txBody>
      </p:sp>
      <p:sp>
        <p:nvSpPr>
          <p:cNvPr id="34" name="Rectangle 33"/>
          <p:cNvSpPr/>
          <p:nvPr/>
        </p:nvSpPr>
        <p:spPr bwMode="ltGray">
          <a:xfrm>
            <a:off x="6858000" y="29013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fish,21</a:t>
            </a:r>
          </a:p>
        </p:txBody>
      </p:sp>
      <p:sp>
        <p:nvSpPr>
          <p:cNvPr id="37" name="TextBox 36"/>
          <p:cNvSpPr txBox="1"/>
          <p:nvPr/>
        </p:nvSpPr>
        <p:spPr>
          <a:xfrm>
            <a:off x="7707235" y="1529715"/>
            <a:ext cx="834074"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Gill Sans"/>
                <a:ea typeface="+mn-ea"/>
                <a:cs typeface="Gill Sans"/>
              </a:rPr>
              <a:t>(values)</a:t>
            </a:r>
          </a:p>
        </p:txBody>
      </p:sp>
      <p:sp>
        <p:nvSpPr>
          <p:cNvPr id="38" name="TextBox 37"/>
          <p:cNvSpPr txBox="1"/>
          <p:nvPr/>
        </p:nvSpPr>
        <p:spPr>
          <a:xfrm>
            <a:off x="6858001" y="1529715"/>
            <a:ext cx="668581" cy="338554"/>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Gill Sans"/>
                <a:ea typeface="+mn-ea"/>
                <a:cs typeface="Gill Sans"/>
              </a:rPr>
              <a:t>(keys)</a:t>
            </a:r>
          </a:p>
        </p:txBody>
      </p:sp>
      <p:sp>
        <p:nvSpPr>
          <p:cNvPr id="39" name="Rectangle 38"/>
          <p:cNvSpPr/>
          <p:nvPr/>
        </p:nvSpPr>
        <p:spPr bwMode="ltGray">
          <a:xfrm>
            <a:off x="6858000" y="33585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fish,34</a:t>
            </a:r>
          </a:p>
        </p:txBody>
      </p:sp>
      <p:sp>
        <p:nvSpPr>
          <p:cNvPr id="42" name="Rectangle 41"/>
          <p:cNvSpPr/>
          <p:nvPr/>
        </p:nvSpPr>
        <p:spPr bwMode="ltGray">
          <a:xfrm>
            <a:off x="6858000" y="38157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fish,35</a:t>
            </a:r>
          </a:p>
        </p:txBody>
      </p:sp>
      <p:sp>
        <p:nvSpPr>
          <p:cNvPr id="45" name="Rectangle 44"/>
          <p:cNvSpPr/>
          <p:nvPr/>
        </p:nvSpPr>
        <p:spPr bwMode="ltGray">
          <a:xfrm>
            <a:off x="6858000" y="42729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fish,80</a:t>
            </a:r>
          </a:p>
        </p:txBody>
      </p:sp>
      <p:sp>
        <p:nvSpPr>
          <p:cNvPr id="54" name="TextBox 53"/>
          <p:cNvSpPr txBox="1"/>
          <p:nvPr/>
        </p:nvSpPr>
        <p:spPr>
          <a:xfrm>
            <a:off x="3733801" y="5394568"/>
            <a:ext cx="4242443" cy="461665"/>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63BE"/>
                </a:solidFill>
                <a:effectLst/>
                <a:uLnTx/>
                <a:uFillTx/>
                <a:latin typeface="Gill Sans"/>
                <a:ea typeface="+mn-ea"/>
                <a:cs typeface="Gill Sans"/>
              </a:rPr>
              <a:t>MR framework does the sorting!</a:t>
            </a:r>
          </a:p>
        </p:txBody>
      </p:sp>
      <p:sp>
        <p:nvSpPr>
          <p:cNvPr id="55" name="Right Arrow 54"/>
          <p:cNvSpPr/>
          <p:nvPr/>
        </p:nvSpPr>
        <p:spPr bwMode="auto">
          <a:xfrm>
            <a:off x="5410200" y="3053717"/>
            <a:ext cx="914400" cy="452927"/>
          </a:xfrm>
          <a:prstGeom prst="rightArrow">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600" b="1" i="0" u="none" strike="noStrike" kern="1200" cap="none" spc="0" normalizeH="0" baseline="0" noProof="0">
              <a:ln>
                <a:noFill/>
              </a:ln>
              <a:solidFill>
                <a:srgbClr val="000000"/>
              </a:solidFill>
              <a:effectLst/>
              <a:uLnTx/>
              <a:uFillTx/>
              <a:latin typeface="Gill Sans"/>
              <a:ea typeface="+mn-ea"/>
              <a:cs typeface="Gill Sans"/>
            </a:endParaRPr>
          </a:p>
        </p:txBody>
      </p:sp>
      <p:sp>
        <p:nvSpPr>
          <p:cNvPr id="57" name="Title 1"/>
          <p:cNvSpPr txBox="1">
            <a:spLocks/>
          </p:cNvSpPr>
          <p:nvPr/>
        </p:nvSpPr>
        <p:spPr>
          <a:xfrm>
            <a:off x="564737" y="233771"/>
            <a:ext cx="9144000" cy="6858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C00000"/>
                </a:solidFill>
                <a:effectLst/>
                <a:uLnTx/>
                <a:uFillTx/>
                <a:latin typeface="Gill Sans"/>
                <a:ea typeface="+mn-ea"/>
                <a:cs typeface="Gill Sans"/>
              </a:rPr>
              <a:t>Scalable MR Indexing: Value-to-Key</a:t>
            </a:r>
          </a:p>
        </p:txBody>
      </p:sp>
      <p:sp>
        <p:nvSpPr>
          <p:cNvPr id="58" name="Rectangle 57"/>
          <p:cNvSpPr/>
          <p:nvPr/>
        </p:nvSpPr>
        <p:spPr bwMode="ltGray">
          <a:xfrm>
            <a:off x="8078624" y="19869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59" name="Rectangle 58"/>
          <p:cNvSpPr/>
          <p:nvPr/>
        </p:nvSpPr>
        <p:spPr bwMode="ltGray">
          <a:xfrm>
            <a:off x="8078624" y="42729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60" name="Rectangle 59"/>
          <p:cNvSpPr/>
          <p:nvPr/>
        </p:nvSpPr>
        <p:spPr bwMode="ltGray">
          <a:xfrm>
            <a:off x="8078624" y="29013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61" name="Rectangle 60"/>
          <p:cNvSpPr/>
          <p:nvPr/>
        </p:nvSpPr>
        <p:spPr bwMode="ltGray">
          <a:xfrm>
            <a:off x="8078624" y="24441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62" name="Rectangle 61"/>
          <p:cNvSpPr/>
          <p:nvPr/>
        </p:nvSpPr>
        <p:spPr bwMode="ltGray">
          <a:xfrm>
            <a:off x="8078624" y="33585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63" name="Rectangle 62"/>
          <p:cNvSpPr/>
          <p:nvPr/>
        </p:nvSpPr>
        <p:spPr bwMode="ltGray">
          <a:xfrm>
            <a:off x="8078624" y="38157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2" name="TextBox 1">
            <a:extLst>
              <a:ext uri="{FF2B5EF4-FFF2-40B4-BE49-F238E27FC236}">
                <a16:creationId xmlns:a16="http://schemas.microsoft.com/office/drawing/2014/main" id="{B81A851B-AE71-F8AB-3D1A-6833C3B0370A}"/>
              </a:ext>
            </a:extLst>
          </p:cNvPr>
          <p:cNvSpPr txBox="1"/>
          <p:nvPr/>
        </p:nvSpPr>
        <p:spPr>
          <a:xfrm>
            <a:off x="8866909" y="387927"/>
            <a:ext cx="2923309" cy="2862322"/>
          </a:xfrm>
          <a:prstGeom prst="rect">
            <a:avLst/>
          </a:prstGeom>
          <a:noFill/>
        </p:spPr>
        <p:txBody>
          <a:bodyPr wrap="square" rtlCol="0">
            <a:spAutoFit/>
          </a:bodyPr>
          <a:lstStyle/>
          <a:p>
            <a:r>
              <a:rPr lang="en-US" dirty="0">
                <a:solidFill>
                  <a:schemeClr val="bg1"/>
                </a:solidFill>
              </a:rPr>
              <a:t>We will add one part from value and add it to key.</a:t>
            </a:r>
          </a:p>
          <a:p>
            <a:r>
              <a:rPr lang="en-US" dirty="0">
                <a:solidFill>
                  <a:schemeClr val="bg1"/>
                </a:solidFill>
              </a:rPr>
              <a:t>Now key is (</a:t>
            </a:r>
            <a:r>
              <a:rPr lang="en-US" dirty="0" err="1">
                <a:solidFill>
                  <a:schemeClr val="bg1"/>
                </a:solidFill>
              </a:rPr>
              <a:t>term,doc_id</a:t>
            </a:r>
            <a:r>
              <a:rPr lang="en-US" dirty="0">
                <a:solidFill>
                  <a:schemeClr val="bg1"/>
                </a:solidFill>
              </a:rPr>
              <a:t>) so its composite key and </a:t>
            </a:r>
            <a:r>
              <a:rPr lang="en-US" dirty="0" err="1">
                <a:solidFill>
                  <a:schemeClr val="bg1"/>
                </a:solidFill>
              </a:rPr>
              <a:t>val</a:t>
            </a:r>
            <a:r>
              <a:rPr lang="en-US" dirty="0">
                <a:solidFill>
                  <a:schemeClr val="bg1"/>
                </a:solidFill>
              </a:rPr>
              <a:t> is </a:t>
            </a:r>
            <a:r>
              <a:rPr lang="en-US" dirty="0" err="1">
                <a:solidFill>
                  <a:schemeClr val="bg1"/>
                </a:solidFill>
              </a:rPr>
              <a:t>tf</a:t>
            </a:r>
            <a:r>
              <a:rPr lang="en-US" dirty="0">
                <a:solidFill>
                  <a:schemeClr val="bg1"/>
                </a:solidFill>
              </a:rPr>
              <a:t>. </a:t>
            </a:r>
          </a:p>
          <a:p>
            <a:endParaRPr lang="en-US" dirty="0">
              <a:solidFill>
                <a:schemeClr val="bg1"/>
              </a:solidFill>
            </a:endParaRPr>
          </a:p>
          <a:p>
            <a:r>
              <a:rPr lang="en-US" dirty="0">
                <a:solidFill>
                  <a:schemeClr val="bg1"/>
                </a:solidFill>
              </a:rPr>
              <a:t>MR has inbuilt sorting so it will be sorted in </a:t>
            </a:r>
            <a:r>
              <a:rPr lang="en-US" dirty="0" err="1">
                <a:solidFill>
                  <a:schemeClr val="bg1"/>
                </a:solidFill>
              </a:rPr>
              <a:t>doc_id</a:t>
            </a:r>
            <a:r>
              <a:rPr lang="en-US" dirty="0">
                <a:solidFill>
                  <a:schemeClr val="bg1"/>
                </a:solidFill>
              </a:rPr>
              <a:t> order.</a:t>
            </a:r>
          </a:p>
        </p:txBody>
      </p:sp>
    </p:spTree>
    <p:extLst>
      <p:ext uri="{BB962C8B-B14F-4D97-AF65-F5344CB8AC3E}">
        <p14:creationId xmlns:p14="http://schemas.microsoft.com/office/powerpoint/2010/main" val="147777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0" grpId="0" animBg="1"/>
      <p:bldP spid="34" grpId="0" animBg="1"/>
      <p:bldP spid="37" grpId="0"/>
      <p:bldP spid="38" grpId="0"/>
      <p:bldP spid="39" grpId="0" animBg="1"/>
      <p:bldP spid="42" grpId="0" animBg="1"/>
      <p:bldP spid="45" grpId="0" animBg="1"/>
      <p:bldP spid="54" grpId="0"/>
      <p:bldP spid="58" grpId="0" animBg="1"/>
      <p:bldP spid="59" grpId="0" animBg="1"/>
      <p:bldP spid="60" grpId="0" animBg="1"/>
      <p:bldP spid="61" grpId="0" animBg="1"/>
      <p:bldP spid="62" grpId="0" animBg="1"/>
      <p:bldP spid="6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446949" y="203448"/>
            <a:ext cx="9144000" cy="6858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C00000"/>
                </a:solidFill>
                <a:effectLst/>
                <a:uLnTx/>
                <a:uFillTx/>
                <a:latin typeface="Gill Sans"/>
                <a:ea typeface="+mn-ea"/>
                <a:cs typeface="Gill Sans"/>
              </a:rPr>
              <a:t>Inverted Indexing: Pseudo-Code</a:t>
            </a:r>
          </a:p>
        </p:txBody>
      </p:sp>
      <p:sp>
        <p:nvSpPr>
          <p:cNvPr id="5" name="Text Box 4"/>
          <p:cNvSpPr txBox="1">
            <a:spLocks noChangeArrowheads="1"/>
          </p:cNvSpPr>
          <p:nvPr/>
        </p:nvSpPr>
        <p:spPr bwMode="auto">
          <a:xfrm>
            <a:off x="651589" y="1375238"/>
            <a:ext cx="4536233" cy="4093428"/>
          </a:xfrm>
          <a:prstGeom prst="rect">
            <a:avLst/>
          </a:prstGeom>
          <a:noFill/>
          <a:ln w="9525">
            <a:noFill/>
            <a:miter lim="800000"/>
            <a:headEnd/>
            <a:tailEnd/>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class </a:t>
            </a:r>
            <a:r>
              <a:rPr kumimoji="0" lang="en-US" sz="2000" b="0" i="0" u="none" strike="noStrike" kern="1200" cap="none" spc="0" normalizeH="0" baseline="0" noProof="0" dirty="0">
                <a:ln>
                  <a:noFill/>
                </a:ln>
                <a:solidFill>
                  <a:srgbClr val="00B050"/>
                </a:solidFill>
                <a:effectLst/>
                <a:uLnTx/>
                <a:uFillTx/>
                <a:latin typeface="Andale Mono"/>
                <a:ea typeface="+mn-ea"/>
                <a:cs typeface="Andale Mono"/>
              </a:rPr>
              <a:t>Mapper</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a:ln>
                  <a:noFill/>
                </a:ln>
                <a:solidFill>
                  <a:srgbClr val="00B0F0"/>
                </a:solidFill>
                <a:effectLst/>
                <a:uLnTx/>
                <a:uFillTx/>
                <a:latin typeface="Andale Mono"/>
                <a:ea typeface="+mn-ea"/>
                <a:cs typeface="Andale Mono"/>
              </a:rPr>
              <a:t>map</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doc)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counts = new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HashMap</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for (term in tokenize(doc))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counts(term) += 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for ((term,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in counts)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emit((term,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p:txBody>
      </p:sp>
      <p:sp>
        <p:nvSpPr>
          <p:cNvPr id="2" name="TextBox 1"/>
          <p:cNvSpPr txBox="1"/>
          <p:nvPr/>
        </p:nvSpPr>
        <p:spPr>
          <a:xfrm>
            <a:off x="6772927" y="1260365"/>
            <a:ext cx="4190908" cy="470898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class </a:t>
            </a:r>
            <a:r>
              <a:rPr kumimoji="0" lang="en-US" sz="2000" b="0" i="0" u="none" strike="noStrike" kern="1200" cap="none" spc="0" normalizeH="0" baseline="0" noProof="0" dirty="0">
                <a:ln>
                  <a:noFill/>
                </a:ln>
                <a:solidFill>
                  <a:srgbClr val="00B050"/>
                </a:solidFill>
                <a:effectLst/>
                <a:uLnTx/>
                <a:uFillTx/>
                <a:latin typeface="Andale Mono"/>
                <a:ea typeface="+mn-ea"/>
                <a:cs typeface="Andale Mono"/>
              </a:rPr>
              <a:t>Reducer</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prev</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 null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postings = new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PostingsList</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a:ln>
                  <a:noFill/>
                </a:ln>
                <a:solidFill>
                  <a:srgbClr val="00B0F0"/>
                </a:solidFill>
                <a:effectLst/>
                <a:uLnTx/>
                <a:uFillTx/>
                <a:latin typeface="Andale Mono"/>
                <a:ea typeface="+mn-ea"/>
                <a:cs typeface="Andale Mono"/>
              </a:rPr>
              <a:t>reduce</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(key,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if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key.term</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prev</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&amp;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prev</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 null)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emit(</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prev</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postings)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postings.reset</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postings.append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key.docid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prev</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key.term</a:t>
            </a:r>
            <a:endParaRPr kumimoji="0" lang="en-US" sz="20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p:txBody>
      </p:sp>
    </p:spTree>
    <p:extLst>
      <p:ext uri="{BB962C8B-B14F-4D97-AF65-F5344CB8AC3E}">
        <p14:creationId xmlns:p14="http://schemas.microsoft.com/office/powerpoint/2010/main" val="287889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BCBF2F6-635A-F167-6467-DF56FF431EB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3E64B09-0411-C204-8258-720CFA7E5398}"/>
              </a:ext>
            </a:extLst>
          </p:cNvPr>
          <p:cNvSpPr txBox="1">
            <a:spLocks/>
          </p:cNvSpPr>
          <p:nvPr/>
        </p:nvSpPr>
        <p:spPr>
          <a:xfrm>
            <a:off x="446949" y="203448"/>
            <a:ext cx="9144000" cy="6858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C00000"/>
                </a:solidFill>
                <a:effectLst/>
                <a:uLnTx/>
                <a:uFillTx/>
                <a:latin typeface="Gill Sans"/>
                <a:ea typeface="+mn-ea"/>
                <a:cs typeface="Gill Sans"/>
              </a:rPr>
              <a:t>Inverted Indexing: Pseudo-Code</a:t>
            </a:r>
          </a:p>
        </p:txBody>
      </p:sp>
      <p:sp>
        <p:nvSpPr>
          <p:cNvPr id="5" name="Text Box 4">
            <a:extLst>
              <a:ext uri="{FF2B5EF4-FFF2-40B4-BE49-F238E27FC236}">
                <a16:creationId xmlns:a16="http://schemas.microsoft.com/office/drawing/2014/main" id="{29D99032-E150-1FE5-AAE7-F20CB295E359}"/>
              </a:ext>
            </a:extLst>
          </p:cNvPr>
          <p:cNvSpPr txBox="1">
            <a:spLocks noChangeArrowheads="1"/>
          </p:cNvSpPr>
          <p:nvPr/>
        </p:nvSpPr>
        <p:spPr bwMode="auto">
          <a:xfrm>
            <a:off x="446949" y="1260365"/>
            <a:ext cx="4536233" cy="4093428"/>
          </a:xfrm>
          <a:prstGeom prst="rect">
            <a:avLst/>
          </a:prstGeom>
          <a:noFill/>
          <a:ln w="9525">
            <a:noFill/>
            <a:miter lim="800000"/>
            <a:headEnd/>
            <a:tailEnd/>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class </a:t>
            </a:r>
            <a:r>
              <a:rPr kumimoji="0" lang="en-US" sz="2000" b="0" i="0" u="none" strike="noStrike" kern="1200" cap="none" spc="0" normalizeH="0" baseline="0" noProof="0" dirty="0">
                <a:ln>
                  <a:noFill/>
                </a:ln>
                <a:solidFill>
                  <a:srgbClr val="00B050"/>
                </a:solidFill>
                <a:effectLst/>
                <a:uLnTx/>
                <a:uFillTx/>
                <a:latin typeface="Andale Mono"/>
                <a:ea typeface="+mn-ea"/>
                <a:cs typeface="Andale Mono"/>
              </a:rPr>
              <a:t>Mapper</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a:ln>
                  <a:noFill/>
                </a:ln>
                <a:solidFill>
                  <a:srgbClr val="00B0F0"/>
                </a:solidFill>
                <a:effectLst/>
                <a:uLnTx/>
                <a:uFillTx/>
                <a:latin typeface="Andale Mono"/>
                <a:ea typeface="+mn-ea"/>
                <a:cs typeface="Andale Mono"/>
              </a:rPr>
              <a:t>map</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doc)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counts = new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HashMap</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for (term in tokenize(doc))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counts(term) += 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for ((term,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in counts)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emit((term,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p:txBody>
      </p:sp>
      <p:sp>
        <p:nvSpPr>
          <p:cNvPr id="2" name="TextBox 1">
            <a:extLst>
              <a:ext uri="{FF2B5EF4-FFF2-40B4-BE49-F238E27FC236}">
                <a16:creationId xmlns:a16="http://schemas.microsoft.com/office/drawing/2014/main" id="{D730D44C-D7DA-F6A6-F9D4-82117A308EA7}"/>
              </a:ext>
            </a:extLst>
          </p:cNvPr>
          <p:cNvSpPr txBox="1"/>
          <p:nvPr/>
        </p:nvSpPr>
        <p:spPr>
          <a:xfrm>
            <a:off x="6772927" y="1260365"/>
            <a:ext cx="4190908" cy="470898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class </a:t>
            </a:r>
            <a:r>
              <a:rPr kumimoji="0" lang="en-US" sz="2000" b="0" i="0" u="none" strike="noStrike" kern="1200" cap="none" spc="0" normalizeH="0" baseline="0" noProof="0" dirty="0">
                <a:ln>
                  <a:noFill/>
                </a:ln>
                <a:solidFill>
                  <a:srgbClr val="00B050"/>
                </a:solidFill>
                <a:effectLst/>
                <a:uLnTx/>
                <a:uFillTx/>
                <a:latin typeface="Andale Mono"/>
                <a:ea typeface="+mn-ea"/>
                <a:cs typeface="Andale Mono"/>
              </a:rPr>
              <a:t>Reducer</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prev</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 null</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postings = new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PostingsList</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a:ln>
                  <a:noFill/>
                </a:ln>
                <a:solidFill>
                  <a:srgbClr val="00B0F0"/>
                </a:solidFill>
                <a:effectLst/>
                <a:uLnTx/>
                <a:uFillTx/>
                <a:latin typeface="Andale Mono"/>
                <a:ea typeface="+mn-ea"/>
                <a:cs typeface="Andale Mono"/>
              </a:rPr>
              <a:t>reduce</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(key,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if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key.term</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prev</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&amp;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prev</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 null)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emit(</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prev</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postings)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postings.reset</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postings.append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key.docid</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tf</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prev</a:t>
            </a: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 </a:t>
            </a:r>
            <a:r>
              <a:rPr kumimoji="0" lang="en-US" sz="2000" b="0" i="0" u="none" strike="noStrike" kern="1200" cap="none" spc="0" normalizeH="0" baseline="0" noProof="0" dirty="0" err="1">
                <a:ln>
                  <a:noFill/>
                </a:ln>
                <a:solidFill>
                  <a:srgbClr val="000000"/>
                </a:solidFill>
                <a:effectLst/>
                <a:uLnTx/>
                <a:uFillTx/>
                <a:latin typeface="Andale Mono"/>
                <a:ea typeface="+mn-ea"/>
                <a:cs typeface="Andale Mono"/>
              </a:rPr>
              <a:t>key.term</a:t>
            </a:r>
            <a:endParaRPr kumimoji="0" lang="en-US" sz="2000" b="0" i="0" u="none" strike="noStrike" kern="1200" cap="none" spc="0" normalizeH="0" baseline="0" noProof="0" dirty="0">
              <a:ln>
                <a:noFill/>
              </a:ln>
              <a:solidFill>
                <a:srgbClr val="000000"/>
              </a:solidFill>
              <a:effectLst/>
              <a:uLnTx/>
              <a:uFillTx/>
              <a:latin typeface="Andale Mono"/>
              <a:ea typeface="+mn-ea"/>
              <a:cs typeface="Andale Mono"/>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ndale Mono"/>
                <a:ea typeface="+mn-ea"/>
                <a:cs typeface="Andale Mono"/>
              </a:rPr>
              <a:t>}</a:t>
            </a:r>
          </a:p>
        </p:txBody>
      </p:sp>
      <p:sp>
        <p:nvSpPr>
          <p:cNvPr id="3" name="TextBox 2">
            <a:extLst>
              <a:ext uri="{FF2B5EF4-FFF2-40B4-BE49-F238E27FC236}">
                <a16:creationId xmlns:a16="http://schemas.microsoft.com/office/drawing/2014/main" id="{764D3698-0E6F-286D-1D70-E2C30BCF92BA}"/>
              </a:ext>
            </a:extLst>
          </p:cNvPr>
          <p:cNvSpPr txBox="1"/>
          <p:nvPr/>
        </p:nvSpPr>
        <p:spPr>
          <a:xfrm>
            <a:off x="3673401" y="888654"/>
            <a:ext cx="3004491" cy="4801314"/>
          </a:xfrm>
          <a:prstGeom prst="rect">
            <a:avLst/>
          </a:prstGeom>
          <a:noFill/>
        </p:spPr>
        <p:txBody>
          <a:bodyPr wrap="square" rtlCol="0">
            <a:spAutoFit/>
          </a:bodyPr>
          <a:lstStyle/>
          <a:p>
            <a:r>
              <a:rPr lang="en-US" dirty="0">
                <a:solidFill>
                  <a:schemeClr val="bg1"/>
                </a:solidFill>
              </a:rPr>
              <a:t>After mapper and shuffle and sort, we get : </a:t>
            </a:r>
          </a:p>
          <a:p>
            <a:r>
              <a:rPr lang="en-US" dirty="0">
                <a:solidFill>
                  <a:schemeClr val="bg1"/>
                </a:solidFill>
              </a:rPr>
              <a:t>(w1,id1) , f1</a:t>
            </a:r>
          </a:p>
          <a:p>
            <a:r>
              <a:rPr lang="en-US" dirty="0">
                <a:solidFill>
                  <a:schemeClr val="bg1"/>
                </a:solidFill>
              </a:rPr>
              <a:t>(w1,id2) ,f2</a:t>
            </a:r>
          </a:p>
          <a:p>
            <a:r>
              <a:rPr lang="en-US" dirty="0">
                <a:solidFill>
                  <a:schemeClr val="bg1"/>
                </a:solidFill>
              </a:rPr>
              <a:t>(w2,id2) ,f3</a:t>
            </a:r>
          </a:p>
          <a:p>
            <a:endParaRPr lang="en-US" dirty="0">
              <a:solidFill>
                <a:schemeClr val="bg1"/>
              </a:solidFill>
            </a:endParaRPr>
          </a:p>
          <a:p>
            <a:r>
              <a:rPr lang="en-US" dirty="0">
                <a:solidFill>
                  <a:schemeClr val="bg1"/>
                </a:solidFill>
              </a:rPr>
              <a:t>So, we have to get both of the above together coz its for same term.</a:t>
            </a:r>
          </a:p>
          <a:p>
            <a:endParaRPr lang="en-US" dirty="0">
              <a:solidFill>
                <a:schemeClr val="bg1"/>
              </a:solidFill>
            </a:endParaRPr>
          </a:p>
          <a:p>
            <a:r>
              <a:rPr lang="en-US" dirty="0">
                <a:solidFill>
                  <a:schemeClr val="bg1"/>
                </a:solidFill>
              </a:rPr>
              <a:t>After value to key design we don’t need to do  in-memory sorting, when map reduce will send o/p of mappers to the reducers then it will send it in sorted order of key.</a:t>
            </a:r>
          </a:p>
        </p:txBody>
      </p:sp>
    </p:spTree>
    <p:extLst>
      <p:ext uri="{BB962C8B-B14F-4D97-AF65-F5344CB8AC3E}">
        <p14:creationId xmlns:p14="http://schemas.microsoft.com/office/powerpoint/2010/main" val="339761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3" name="Rounded Rectangle 22"/>
          <p:cNvSpPr/>
          <p:nvPr/>
        </p:nvSpPr>
        <p:spPr>
          <a:xfrm>
            <a:off x="6804056" y="3956315"/>
            <a:ext cx="1920213" cy="457200"/>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IN" sz="1867"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ounded Rectangle 21"/>
          <p:cNvSpPr/>
          <p:nvPr/>
        </p:nvSpPr>
        <p:spPr>
          <a:xfrm>
            <a:off x="6768075" y="3030247"/>
            <a:ext cx="1920213" cy="494764"/>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IN" sz="1867"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p:cNvSpPr txBox="1">
            <a:spLocks/>
          </p:cNvSpPr>
          <p:nvPr/>
        </p:nvSpPr>
        <p:spPr>
          <a:xfrm>
            <a:off x="446949" y="203448"/>
            <a:ext cx="9144000" cy="685800"/>
          </a:xfrm>
          <a:prstGeom prst="rect">
            <a:avLst/>
          </a:prstGeom>
        </p:spPr>
        <p:txBody>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C00000"/>
                </a:solidFill>
                <a:effectLst/>
                <a:uLnTx/>
                <a:uFillTx/>
                <a:latin typeface="Gill Sans"/>
                <a:ea typeface="+mn-ea"/>
                <a:cs typeface="Gill Sans"/>
              </a:rPr>
              <a:t>Custom </a:t>
            </a:r>
            <a:r>
              <a:rPr kumimoji="0" lang="en-US" sz="3600" b="0" i="0" u="none" strike="noStrike" kern="0" cap="none" spc="0" normalizeH="0" baseline="0" noProof="0" dirty="0" err="1">
                <a:ln>
                  <a:noFill/>
                </a:ln>
                <a:solidFill>
                  <a:srgbClr val="C00000"/>
                </a:solidFill>
                <a:effectLst/>
                <a:uLnTx/>
                <a:uFillTx/>
                <a:latin typeface="Gill Sans"/>
                <a:ea typeface="+mn-ea"/>
                <a:cs typeface="Gill Sans"/>
              </a:rPr>
              <a:t>Partitioner</a:t>
            </a:r>
            <a:endParaRPr kumimoji="0" lang="en-US" sz="3600" b="0" i="0" u="none" strike="noStrike" kern="0" cap="none" spc="0" normalizeH="0" baseline="0" noProof="0" dirty="0">
              <a:ln>
                <a:noFill/>
              </a:ln>
              <a:solidFill>
                <a:srgbClr val="C00000"/>
              </a:solidFill>
              <a:effectLst/>
              <a:uLnTx/>
              <a:uFillTx/>
              <a:latin typeface="Gill Sans"/>
              <a:ea typeface="+mn-ea"/>
              <a:cs typeface="Gill Sans"/>
            </a:endParaRPr>
          </a:p>
        </p:txBody>
      </p:sp>
      <p:sp>
        <p:nvSpPr>
          <p:cNvPr id="6" name="Rounded Rectangle 5"/>
          <p:cNvSpPr/>
          <p:nvPr/>
        </p:nvSpPr>
        <p:spPr bwMode="auto">
          <a:xfrm>
            <a:off x="1007435" y="3717032"/>
            <a:ext cx="4416491" cy="1056117"/>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just" defTabSz="914377" rtl="0" eaLnBrk="0" fontAlgn="base" latinLnBrk="0" hangingPunct="0">
              <a:lnSpc>
                <a:spcPct val="100000"/>
              </a:lnSpc>
              <a:spcBef>
                <a:spcPct val="0"/>
              </a:spcBef>
              <a:spcAft>
                <a:spcPct val="0"/>
              </a:spcAft>
              <a:buClrTx/>
              <a:buSzTx/>
              <a:buFontTx/>
              <a:buNone/>
              <a:tabLst/>
              <a:defRPr/>
            </a:pPr>
            <a:r>
              <a:rPr kumimoji="0" lang="en-IN" sz="3000" b="1" i="0" u="none" strike="noStrike" kern="1200" cap="none" spc="0" normalizeH="0" baseline="0" noProof="0" dirty="0">
                <a:ln>
                  <a:noFill/>
                </a:ln>
                <a:solidFill>
                  <a:srgbClr val="C00000"/>
                </a:solidFill>
                <a:effectLst/>
                <a:uLnTx/>
                <a:uFillTx/>
                <a:latin typeface="Bell MT" panose="02020503060305020303" pitchFamily="18" charset="0"/>
                <a:ea typeface="+mn-ea"/>
                <a:cs typeface="+mn-cs"/>
              </a:rPr>
              <a:t>You need to define your own partition function</a:t>
            </a:r>
          </a:p>
        </p:txBody>
      </p:sp>
      <p:sp>
        <p:nvSpPr>
          <p:cNvPr id="7" name="Rectangle 6"/>
          <p:cNvSpPr/>
          <p:nvPr/>
        </p:nvSpPr>
        <p:spPr bwMode="ltGray">
          <a:xfrm>
            <a:off x="6960096" y="31181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 1</a:t>
            </a:r>
          </a:p>
        </p:txBody>
      </p:sp>
      <p:sp>
        <p:nvSpPr>
          <p:cNvPr id="8" name="Rectangle 7"/>
          <p:cNvSpPr/>
          <p:nvPr/>
        </p:nvSpPr>
        <p:spPr bwMode="ltGray">
          <a:xfrm>
            <a:off x="6960096" y="35753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 9</a:t>
            </a:r>
          </a:p>
        </p:txBody>
      </p:sp>
      <p:sp>
        <p:nvSpPr>
          <p:cNvPr id="9" name="Rectangle 8"/>
          <p:cNvSpPr/>
          <p:nvPr/>
        </p:nvSpPr>
        <p:spPr bwMode="ltGray">
          <a:xfrm>
            <a:off x="6960096" y="40325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fish,21</a:t>
            </a:r>
          </a:p>
        </p:txBody>
      </p:sp>
      <p:sp>
        <p:nvSpPr>
          <p:cNvPr id="10" name="TextBox 9"/>
          <p:cNvSpPr txBox="1"/>
          <p:nvPr/>
        </p:nvSpPr>
        <p:spPr>
          <a:xfrm>
            <a:off x="7809331" y="2660915"/>
            <a:ext cx="834074" cy="338554"/>
          </a:xfrm>
          <a:prstGeom prst="rect">
            <a:avLst/>
          </a:prstGeom>
          <a:noFill/>
        </p:spPr>
        <p:txBody>
          <a:bodyPr wrap="none" rtlCol="0">
            <a:sp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Gill Sans"/>
                <a:ea typeface="+mn-ea"/>
                <a:cs typeface="Gill Sans"/>
              </a:rPr>
              <a:t>(values)</a:t>
            </a:r>
          </a:p>
        </p:txBody>
      </p:sp>
      <p:sp>
        <p:nvSpPr>
          <p:cNvPr id="11" name="TextBox 10"/>
          <p:cNvSpPr txBox="1"/>
          <p:nvPr/>
        </p:nvSpPr>
        <p:spPr>
          <a:xfrm>
            <a:off x="6960097" y="2660915"/>
            <a:ext cx="668581" cy="338554"/>
          </a:xfrm>
          <a:prstGeom prst="rect">
            <a:avLst/>
          </a:prstGeom>
          <a:noFill/>
        </p:spPr>
        <p:txBody>
          <a:bodyPr wrap="none" rtlCol="0">
            <a:sp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Gill Sans"/>
                <a:ea typeface="+mn-ea"/>
                <a:cs typeface="Gill Sans"/>
              </a:rPr>
              <a:t>(keys)</a:t>
            </a:r>
          </a:p>
        </p:txBody>
      </p:sp>
      <p:sp>
        <p:nvSpPr>
          <p:cNvPr id="12" name="Rectangle 11"/>
          <p:cNvSpPr/>
          <p:nvPr/>
        </p:nvSpPr>
        <p:spPr bwMode="ltGray">
          <a:xfrm>
            <a:off x="6960096" y="44897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fish,34</a:t>
            </a:r>
          </a:p>
        </p:txBody>
      </p:sp>
      <p:sp>
        <p:nvSpPr>
          <p:cNvPr id="13" name="Rectangle 12"/>
          <p:cNvSpPr/>
          <p:nvPr/>
        </p:nvSpPr>
        <p:spPr bwMode="ltGray">
          <a:xfrm>
            <a:off x="6960096" y="49469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fish,35</a:t>
            </a:r>
          </a:p>
        </p:txBody>
      </p:sp>
      <p:sp>
        <p:nvSpPr>
          <p:cNvPr id="14" name="Rectangle 13"/>
          <p:cNvSpPr/>
          <p:nvPr/>
        </p:nvSpPr>
        <p:spPr bwMode="ltGray">
          <a:xfrm>
            <a:off x="6960096" y="54041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fish,80</a:t>
            </a:r>
          </a:p>
        </p:txBody>
      </p:sp>
      <p:sp>
        <p:nvSpPr>
          <p:cNvPr id="15" name="Rectangle 14"/>
          <p:cNvSpPr/>
          <p:nvPr/>
        </p:nvSpPr>
        <p:spPr bwMode="ltGray">
          <a:xfrm>
            <a:off x="8180720" y="31181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6" name="Rectangle 15"/>
          <p:cNvSpPr/>
          <p:nvPr/>
        </p:nvSpPr>
        <p:spPr bwMode="ltGray">
          <a:xfrm>
            <a:off x="8180720" y="54041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7" name="Rectangle 16"/>
          <p:cNvSpPr/>
          <p:nvPr/>
        </p:nvSpPr>
        <p:spPr bwMode="ltGray">
          <a:xfrm>
            <a:off x="8180720" y="40325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18" name="Rectangle 17"/>
          <p:cNvSpPr/>
          <p:nvPr/>
        </p:nvSpPr>
        <p:spPr bwMode="ltGray">
          <a:xfrm>
            <a:off x="8180720" y="35753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9" name="Rectangle 18"/>
          <p:cNvSpPr/>
          <p:nvPr/>
        </p:nvSpPr>
        <p:spPr bwMode="ltGray">
          <a:xfrm>
            <a:off x="8180720" y="44897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20" name="Rectangle 19"/>
          <p:cNvSpPr/>
          <p:nvPr/>
        </p:nvSpPr>
        <p:spPr bwMode="ltGray">
          <a:xfrm>
            <a:off x="8180720" y="49469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5" name="TextBox 4"/>
          <p:cNvSpPr txBox="1"/>
          <p:nvPr/>
        </p:nvSpPr>
        <p:spPr>
          <a:xfrm>
            <a:off x="719403" y="1689932"/>
            <a:ext cx="7608047" cy="913199"/>
          </a:xfrm>
          <a:prstGeom prst="rect">
            <a:avLst/>
          </a:prstGeom>
          <a:noFill/>
        </p:spPr>
        <p:txBody>
          <a:bodyPr wrap="square" rtlCol="0">
            <a:spAutoFit/>
          </a:bodyPr>
          <a:lstStyle/>
          <a:p>
            <a:pPr marL="380990" marR="0" lvl="0" indent="-38099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667" b="1" i="0" u="none" strike="noStrike" kern="1200" cap="none" spc="0" normalizeH="0" baseline="0" noProof="0" dirty="0">
                <a:ln>
                  <a:noFill/>
                </a:ln>
                <a:solidFill>
                  <a:srgbClr val="0063BE"/>
                </a:solidFill>
                <a:effectLst/>
                <a:uLnTx/>
                <a:uFillTx/>
                <a:latin typeface="Bell MT" panose="02020503060305020303" pitchFamily="18" charset="0"/>
                <a:ea typeface="+mn-ea"/>
                <a:cs typeface="+mn-cs"/>
              </a:rPr>
              <a:t>By default, MR does not ensure data for the same word will come to the same reducer</a:t>
            </a:r>
          </a:p>
        </p:txBody>
      </p:sp>
      <p:sp>
        <p:nvSpPr>
          <p:cNvPr id="21" name="Rounded Rectangle 20"/>
          <p:cNvSpPr/>
          <p:nvPr/>
        </p:nvSpPr>
        <p:spPr>
          <a:xfrm>
            <a:off x="9860748" y="3422915"/>
            <a:ext cx="1056117" cy="350507"/>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reducer</a:t>
            </a:r>
          </a:p>
        </p:txBody>
      </p:sp>
      <p:cxnSp>
        <p:nvCxnSpPr>
          <p:cNvPr id="25" name="Straight Arrow Connector 24"/>
          <p:cNvCxnSpPr>
            <a:stCxn id="22" idx="3"/>
            <a:endCxn id="21" idx="1"/>
          </p:cNvCxnSpPr>
          <p:nvPr/>
        </p:nvCxnSpPr>
        <p:spPr>
          <a:xfrm>
            <a:off x="8688289" y="3277629"/>
            <a:ext cx="1172460" cy="3205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3" idx="3"/>
          </p:cNvCxnSpPr>
          <p:nvPr/>
        </p:nvCxnSpPr>
        <p:spPr>
          <a:xfrm flipV="1">
            <a:off x="8724270" y="3717032"/>
            <a:ext cx="1136479" cy="467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9177437" y="3204072"/>
            <a:ext cx="575799" cy="99520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IN" sz="5867" b="0" i="0" u="none" strike="noStrike" kern="1200" cap="none" spc="0" normalizeH="0" baseline="0" noProof="0" dirty="0">
                <a:ln>
                  <a:noFill/>
                </a:ln>
                <a:solidFill>
                  <a:srgbClr val="C00000"/>
                </a:solidFill>
                <a:effectLst/>
                <a:uLnTx/>
                <a:uFillTx/>
                <a:latin typeface="Calibri" panose="020F0502020204030204"/>
                <a:ea typeface="+mn-ea"/>
                <a:cs typeface="+mn-cs"/>
              </a:rPr>
              <a:t>X</a:t>
            </a:r>
          </a:p>
        </p:txBody>
      </p:sp>
    </p:spTree>
    <p:extLst>
      <p:ext uri="{BB962C8B-B14F-4D97-AF65-F5344CB8AC3E}">
        <p14:creationId xmlns:p14="http://schemas.microsoft.com/office/powerpoint/2010/main" val="3335113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2" grpId="0" animBg="1"/>
      <p:bldP spid="7" grpId="0" animBg="1"/>
      <p:bldP spid="8" grpId="0" animBg="1"/>
      <p:bldP spid="9" grpId="0" animBg="1"/>
      <p:bldP spid="10" grpId="0"/>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F8C1AA-F45A-DC25-13DD-4F255B5558E0}"/>
              </a:ext>
            </a:extLst>
          </p:cNvPr>
          <p:cNvPicPr>
            <a:picLocks noChangeAspect="1"/>
          </p:cNvPicPr>
          <p:nvPr/>
        </p:nvPicPr>
        <p:blipFill>
          <a:blip r:embed="rId2"/>
          <a:stretch>
            <a:fillRect/>
          </a:stretch>
        </p:blipFill>
        <p:spPr>
          <a:xfrm>
            <a:off x="1427019" y="1151991"/>
            <a:ext cx="8898608" cy="4842551"/>
          </a:xfrm>
          <a:prstGeom prst="rect">
            <a:avLst/>
          </a:prstGeom>
        </p:spPr>
      </p:pic>
    </p:spTree>
    <p:extLst>
      <p:ext uri="{BB962C8B-B14F-4D97-AF65-F5344CB8AC3E}">
        <p14:creationId xmlns:p14="http://schemas.microsoft.com/office/powerpoint/2010/main" val="4121361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FFBFD56-73E6-C2B7-609F-26D352AD4EF7}"/>
            </a:ext>
          </a:extLst>
        </p:cNvPr>
        <p:cNvGrpSpPr/>
        <p:nvPr/>
      </p:nvGrpSpPr>
      <p:grpSpPr>
        <a:xfrm>
          <a:off x="0" y="0"/>
          <a:ext cx="0" cy="0"/>
          <a:chOff x="0" y="0"/>
          <a:chExt cx="0" cy="0"/>
        </a:xfrm>
      </p:grpSpPr>
      <p:sp>
        <p:nvSpPr>
          <p:cNvPr id="23" name="Rounded Rectangle 22">
            <a:extLst>
              <a:ext uri="{FF2B5EF4-FFF2-40B4-BE49-F238E27FC236}">
                <a16:creationId xmlns:a16="http://schemas.microsoft.com/office/drawing/2014/main" id="{4A88E2D7-A7F7-9E1B-5E83-6DD71B459DD4}"/>
              </a:ext>
            </a:extLst>
          </p:cNvPr>
          <p:cNvSpPr/>
          <p:nvPr/>
        </p:nvSpPr>
        <p:spPr>
          <a:xfrm>
            <a:off x="6804056" y="3956315"/>
            <a:ext cx="1920213" cy="457200"/>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IN" sz="1867"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ounded Rectangle 21">
            <a:extLst>
              <a:ext uri="{FF2B5EF4-FFF2-40B4-BE49-F238E27FC236}">
                <a16:creationId xmlns:a16="http://schemas.microsoft.com/office/drawing/2014/main" id="{76B03546-6E17-B7EA-8973-B1FC4AE712E6}"/>
              </a:ext>
            </a:extLst>
          </p:cNvPr>
          <p:cNvSpPr/>
          <p:nvPr/>
        </p:nvSpPr>
        <p:spPr>
          <a:xfrm>
            <a:off x="6768075" y="3030247"/>
            <a:ext cx="1920213" cy="494764"/>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IN" sz="1867"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1">
            <a:extLst>
              <a:ext uri="{FF2B5EF4-FFF2-40B4-BE49-F238E27FC236}">
                <a16:creationId xmlns:a16="http://schemas.microsoft.com/office/drawing/2014/main" id="{A0F1F3BB-40DC-9974-A410-ADB32379FEF4}"/>
              </a:ext>
            </a:extLst>
          </p:cNvPr>
          <p:cNvSpPr txBox="1">
            <a:spLocks/>
          </p:cNvSpPr>
          <p:nvPr/>
        </p:nvSpPr>
        <p:spPr>
          <a:xfrm>
            <a:off x="446949" y="203448"/>
            <a:ext cx="9144000" cy="685800"/>
          </a:xfrm>
          <a:prstGeom prst="rect">
            <a:avLst/>
          </a:prstGeom>
        </p:spPr>
        <p:txBody>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C00000"/>
                </a:solidFill>
                <a:effectLst/>
                <a:uLnTx/>
                <a:uFillTx/>
                <a:latin typeface="Gill Sans"/>
                <a:ea typeface="+mn-ea"/>
                <a:cs typeface="Gill Sans"/>
              </a:rPr>
              <a:t>Custom </a:t>
            </a:r>
            <a:r>
              <a:rPr kumimoji="0" lang="en-US" sz="3600" b="0" i="0" u="none" strike="noStrike" kern="0" cap="none" spc="0" normalizeH="0" baseline="0" noProof="0" dirty="0" err="1">
                <a:ln>
                  <a:noFill/>
                </a:ln>
                <a:solidFill>
                  <a:srgbClr val="C00000"/>
                </a:solidFill>
                <a:effectLst/>
                <a:uLnTx/>
                <a:uFillTx/>
                <a:latin typeface="Gill Sans"/>
                <a:ea typeface="+mn-ea"/>
                <a:cs typeface="Gill Sans"/>
              </a:rPr>
              <a:t>Partitioner</a:t>
            </a:r>
            <a:endParaRPr kumimoji="0" lang="en-US" sz="3600" b="0" i="0" u="none" strike="noStrike" kern="0" cap="none" spc="0" normalizeH="0" baseline="0" noProof="0" dirty="0">
              <a:ln>
                <a:noFill/>
              </a:ln>
              <a:solidFill>
                <a:srgbClr val="C00000"/>
              </a:solidFill>
              <a:effectLst/>
              <a:uLnTx/>
              <a:uFillTx/>
              <a:latin typeface="Gill Sans"/>
              <a:ea typeface="+mn-ea"/>
              <a:cs typeface="Gill Sans"/>
            </a:endParaRPr>
          </a:p>
        </p:txBody>
      </p:sp>
      <p:sp>
        <p:nvSpPr>
          <p:cNvPr id="6" name="Rounded Rectangle 5">
            <a:extLst>
              <a:ext uri="{FF2B5EF4-FFF2-40B4-BE49-F238E27FC236}">
                <a16:creationId xmlns:a16="http://schemas.microsoft.com/office/drawing/2014/main" id="{3BCC4652-44B1-7BC5-B85D-12CF41873F77}"/>
              </a:ext>
            </a:extLst>
          </p:cNvPr>
          <p:cNvSpPr/>
          <p:nvPr/>
        </p:nvSpPr>
        <p:spPr bwMode="auto">
          <a:xfrm>
            <a:off x="167462" y="889248"/>
            <a:ext cx="4416491" cy="1056117"/>
          </a:xfrm>
          <a:prstGeom prst="round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lvl="0" indent="0" algn="just" defTabSz="914377" rtl="0" eaLnBrk="0" fontAlgn="base" latinLnBrk="0" hangingPunct="0">
              <a:lnSpc>
                <a:spcPct val="100000"/>
              </a:lnSpc>
              <a:spcBef>
                <a:spcPct val="0"/>
              </a:spcBef>
              <a:spcAft>
                <a:spcPct val="0"/>
              </a:spcAft>
              <a:buClrTx/>
              <a:buSzTx/>
              <a:buFontTx/>
              <a:buNone/>
              <a:tabLst/>
              <a:defRPr/>
            </a:pPr>
            <a:r>
              <a:rPr kumimoji="0" lang="en-IN" sz="3000" b="1" i="0" u="none" strike="noStrike" kern="1200" cap="none" spc="0" normalizeH="0" baseline="0" noProof="0" dirty="0">
                <a:ln>
                  <a:noFill/>
                </a:ln>
                <a:solidFill>
                  <a:srgbClr val="C00000"/>
                </a:solidFill>
                <a:effectLst/>
                <a:uLnTx/>
                <a:uFillTx/>
                <a:latin typeface="Bell MT" panose="02020503060305020303" pitchFamily="18" charset="0"/>
                <a:ea typeface="+mn-ea"/>
                <a:cs typeface="+mn-cs"/>
              </a:rPr>
              <a:t>You need to define your own partition function</a:t>
            </a:r>
          </a:p>
        </p:txBody>
      </p:sp>
      <p:sp>
        <p:nvSpPr>
          <p:cNvPr id="7" name="Rectangle 6">
            <a:extLst>
              <a:ext uri="{FF2B5EF4-FFF2-40B4-BE49-F238E27FC236}">
                <a16:creationId xmlns:a16="http://schemas.microsoft.com/office/drawing/2014/main" id="{0C82F473-E42D-A7CD-C639-BFC27D4CB939}"/>
              </a:ext>
            </a:extLst>
          </p:cNvPr>
          <p:cNvSpPr/>
          <p:nvPr/>
        </p:nvSpPr>
        <p:spPr bwMode="ltGray">
          <a:xfrm>
            <a:off x="6960096" y="31181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 1</a:t>
            </a:r>
          </a:p>
        </p:txBody>
      </p:sp>
      <p:sp>
        <p:nvSpPr>
          <p:cNvPr id="8" name="Rectangle 7">
            <a:extLst>
              <a:ext uri="{FF2B5EF4-FFF2-40B4-BE49-F238E27FC236}">
                <a16:creationId xmlns:a16="http://schemas.microsoft.com/office/drawing/2014/main" id="{C48756F9-13A5-611D-96E1-B42D580FAF87}"/>
              </a:ext>
            </a:extLst>
          </p:cNvPr>
          <p:cNvSpPr/>
          <p:nvPr/>
        </p:nvSpPr>
        <p:spPr bwMode="ltGray">
          <a:xfrm>
            <a:off x="6960096" y="35753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 9</a:t>
            </a:r>
          </a:p>
        </p:txBody>
      </p:sp>
      <p:sp>
        <p:nvSpPr>
          <p:cNvPr id="9" name="Rectangle 8">
            <a:extLst>
              <a:ext uri="{FF2B5EF4-FFF2-40B4-BE49-F238E27FC236}">
                <a16:creationId xmlns:a16="http://schemas.microsoft.com/office/drawing/2014/main" id="{369C85ED-9E05-1AB0-92DA-B702BC3599E6}"/>
              </a:ext>
            </a:extLst>
          </p:cNvPr>
          <p:cNvSpPr/>
          <p:nvPr/>
        </p:nvSpPr>
        <p:spPr bwMode="ltGray">
          <a:xfrm>
            <a:off x="6960096" y="40325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fish,21</a:t>
            </a:r>
          </a:p>
        </p:txBody>
      </p:sp>
      <p:sp>
        <p:nvSpPr>
          <p:cNvPr id="10" name="TextBox 9">
            <a:extLst>
              <a:ext uri="{FF2B5EF4-FFF2-40B4-BE49-F238E27FC236}">
                <a16:creationId xmlns:a16="http://schemas.microsoft.com/office/drawing/2014/main" id="{D5128DB2-2CDA-4CE1-BE54-9DCA6D650E03}"/>
              </a:ext>
            </a:extLst>
          </p:cNvPr>
          <p:cNvSpPr txBox="1"/>
          <p:nvPr/>
        </p:nvSpPr>
        <p:spPr>
          <a:xfrm>
            <a:off x="7809331" y="2660915"/>
            <a:ext cx="834074" cy="338554"/>
          </a:xfrm>
          <a:prstGeom prst="rect">
            <a:avLst/>
          </a:prstGeom>
          <a:noFill/>
        </p:spPr>
        <p:txBody>
          <a:bodyPr wrap="none" rtlCol="0">
            <a:sp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Gill Sans"/>
                <a:ea typeface="+mn-ea"/>
                <a:cs typeface="Gill Sans"/>
              </a:rPr>
              <a:t>(values)</a:t>
            </a:r>
          </a:p>
        </p:txBody>
      </p:sp>
      <p:sp>
        <p:nvSpPr>
          <p:cNvPr id="11" name="TextBox 10">
            <a:extLst>
              <a:ext uri="{FF2B5EF4-FFF2-40B4-BE49-F238E27FC236}">
                <a16:creationId xmlns:a16="http://schemas.microsoft.com/office/drawing/2014/main" id="{10D871DB-0A0B-6B03-4B24-B6A0CA9F0C38}"/>
              </a:ext>
            </a:extLst>
          </p:cNvPr>
          <p:cNvSpPr txBox="1"/>
          <p:nvPr/>
        </p:nvSpPr>
        <p:spPr>
          <a:xfrm>
            <a:off x="6960097" y="2660915"/>
            <a:ext cx="668581" cy="338554"/>
          </a:xfrm>
          <a:prstGeom prst="rect">
            <a:avLst/>
          </a:prstGeom>
          <a:noFill/>
        </p:spPr>
        <p:txBody>
          <a:bodyPr wrap="none" rtlCol="0">
            <a:sp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Gill Sans"/>
                <a:ea typeface="+mn-ea"/>
                <a:cs typeface="Gill Sans"/>
              </a:rPr>
              <a:t>(keys)</a:t>
            </a:r>
          </a:p>
        </p:txBody>
      </p:sp>
      <p:sp>
        <p:nvSpPr>
          <p:cNvPr id="12" name="Rectangle 11">
            <a:extLst>
              <a:ext uri="{FF2B5EF4-FFF2-40B4-BE49-F238E27FC236}">
                <a16:creationId xmlns:a16="http://schemas.microsoft.com/office/drawing/2014/main" id="{B94348AE-5E0D-5FD5-17BF-8553BFD65420}"/>
              </a:ext>
            </a:extLst>
          </p:cNvPr>
          <p:cNvSpPr/>
          <p:nvPr/>
        </p:nvSpPr>
        <p:spPr bwMode="ltGray">
          <a:xfrm>
            <a:off x="6960096" y="44897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fish,34</a:t>
            </a:r>
          </a:p>
        </p:txBody>
      </p:sp>
      <p:sp>
        <p:nvSpPr>
          <p:cNvPr id="13" name="Rectangle 12">
            <a:extLst>
              <a:ext uri="{FF2B5EF4-FFF2-40B4-BE49-F238E27FC236}">
                <a16:creationId xmlns:a16="http://schemas.microsoft.com/office/drawing/2014/main" id="{6F15849D-19FC-99F3-090C-0110F7093B99}"/>
              </a:ext>
            </a:extLst>
          </p:cNvPr>
          <p:cNvSpPr/>
          <p:nvPr/>
        </p:nvSpPr>
        <p:spPr bwMode="ltGray">
          <a:xfrm>
            <a:off x="6960096" y="49469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fish,35</a:t>
            </a:r>
          </a:p>
        </p:txBody>
      </p:sp>
      <p:sp>
        <p:nvSpPr>
          <p:cNvPr id="14" name="Rectangle 13">
            <a:extLst>
              <a:ext uri="{FF2B5EF4-FFF2-40B4-BE49-F238E27FC236}">
                <a16:creationId xmlns:a16="http://schemas.microsoft.com/office/drawing/2014/main" id="{2D68F6C0-8AB2-FEB3-E7F4-C0CA63F2C9DB}"/>
              </a:ext>
            </a:extLst>
          </p:cNvPr>
          <p:cNvSpPr/>
          <p:nvPr/>
        </p:nvSpPr>
        <p:spPr bwMode="ltGray">
          <a:xfrm>
            <a:off x="6960096" y="5404115"/>
            <a:ext cx="838200" cy="304800"/>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fish,80</a:t>
            </a:r>
          </a:p>
        </p:txBody>
      </p:sp>
      <p:sp>
        <p:nvSpPr>
          <p:cNvPr id="15" name="Rectangle 14">
            <a:extLst>
              <a:ext uri="{FF2B5EF4-FFF2-40B4-BE49-F238E27FC236}">
                <a16:creationId xmlns:a16="http://schemas.microsoft.com/office/drawing/2014/main" id="{E5969E98-189C-B235-C130-5D05EA25108F}"/>
              </a:ext>
            </a:extLst>
          </p:cNvPr>
          <p:cNvSpPr/>
          <p:nvPr/>
        </p:nvSpPr>
        <p:spPr bwMode="ltGray">
          <a:xfrm>
            <a:off x="8180720" y="31181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16" name="Rectangle 15">
            <a:extLst>
              <a:ext uri="{FF2B5EF4-FFF2-40B4-BE49-F238E27FC236}">
                <a16:creationId xmlns:a16="http://schemas.microsoft.com/office/drawing/2014/main" id="{24625395-5BCA-7A70-2362-13F5C75F26C6}"/>
              </a:ext>
            </a:extLst>
          </p:cNvPr>
          <p:cNvSpPr/>
          <p:nvPr/>
        </p:nvSpPr>
        <p:spPr bwMode="ltGray">
          <a:xfrm>
            <a:off x="8180720" y="54041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7" name="Rectangle 16">
            <a:extLst>
              <a:ext uri="{FF2B5EF4-FFF2-40B4-BE49-F238E27FC236}">
                <a16:creationId xmlns:a16="http://schemas.microsoft.com/office/drawing/2014/main" id="{597F6BAB-7998-8E8E-A23F-355E5BA53F29}"/>
              </a:ext>
            </a:extLst>
          </p:cNvPr>
          <p:cNvSpPr/>
          <p:nvPr/>
        </p:nvSpPr>
        <p:spPr bwMode="ltGray">
          <a:xfrm>
            <a:off x="8180720" y="40325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18" name="Rectangle 17">
            <a:extLst>
              <a:ext uri="{FF2B5EF4-FFF2-40B4-BE49-F238E27FC236}">
                <a16:creationId xmlns:a16="http://schemas.microsoft.com/office/drawing/2014/main" id="{380E219E-17F0-D296-518E-FF66B2C0879D}"/>
              </a:ext>
            </a:extLst>
          </p:cNvPr>
          <p:cNvSpPr/>
          <p:nvPr/>
        </p:nvSpPr>
        <p:spPr bwMode="ltGray">
          <a:xfrm>
            <a:off x="8180720" y="35753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1</a:t>
            </a:r>
          </a:p>
        </p:txBody>
      </p:sp>
      <p:sp>
        <p:nvSpPr>
          <p:cNvPr id="19" name="Rectangle 18">
            <a:extLst>
              <a:ext uri="{FF2B5EF4-FFF2-40B4-BE49-F238E27FC236}">
                <a16:creationId xmlns:a16="http://schemas.microsoft.com/office/drawing/2014/main" id="{D78C470F-63C1-9F82-FE03-35D965BBA35C}"/>
              </a:ext>
            </a:extLst>
          </p:cNvPr>
          <p:cNvSpPr/>
          <p:nvPr/>
        </p:nvSpPr>
        <p:spPr bwMode="ltGray">
          <a:xfrm>
            <a:off x="8180720" y="44897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2</a:t>
            </a:r>
          </a:p>
        </p:txBody>
      </p:sp>
      <p:sp>
        <p:nvSpPr>
          <p:cNvPr id="20" name="Rectangle 19">
            <a:extLst>
              <a:ext uri="{FF2B5EF4-FFF2-40B4-BE49-F238E27FC236}">
                <a16:creationId xmlns:a16="http://schemas.microsoft.com/office/drawing/2014/main" id="{15815499-16B8-D51F-870F-2C2EAB486C28}"/>
              </a:ext>
            </a:extLst>
          </p:cNvPr>
          <p:cNvSpPr/>
          <p:nvPr/>
        </p:nvSpPr>
        <p:spPr bwMode="ltGray">
          <a:xfrm>
            <a:off x="8180720" y="4946915"/>
            <a:ext cx="304800" cy="304800"/>
          </a:xfrm>
          <a:prstGeom prst="rect">
            <a:avLst/>
          </a:prstGeom>
          <a:ln>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ill Sans"/>
                <a:ea typeface="+mn-ea"/>
                <a:cs typeface="Gill Sans"/>
              </a:rPr>
              <a:t>3</a:t>
            </a:r>
          </a:p>
        </p:txBody>
      </p:sp>
      <p:sp>
        <p:nvSpPr>
          <p:cNvPr id="5" name="TextBox 4">
            <a:extLst>
              <a:ext uri="{FF2B5EF4-FFF2-40B4-BE49-F238E27FC236}">
                <a16:creationId xmlns:a16="http://schemas.microsoft.com/office/drawing/2014/main" id="{EB20AFA6-1C7D-807D-8B16-E568F4139873}"/>
              </a:ext>
            </a:extLst>
          </p:cNvPr>
          <p:cNvSpPr txBox="1"/>
          <p:nvPr/>
        </p:nvSpPr>
        <p:spPr>
          <a:xfrm>
            <a:off x="4583953" y="333824"/>
            <a:ext cx="7608047" cy="913199"/>
          </a:xfrm>
          <a:prstGeom prst="rect">
            <a:avLst/>
          </a:prstGeom>
          <a:noFill/>
        </p:spPr>
        <p:txBody>
          <a:bodyPr wrap="square" rtlCol="0">
            <a:spAutoFit/>
          </a:bodyPr>
          <a:lstStyle/>
          <a:p>
            <a:pPr marL="380990" marR="0" lvl="0" indent="-38099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667" b="1" i="0" u="none" strike="noStrike" kern="1200" cap="none" spc="0" normalizeH="0" baseline="0" noProof="0" dirty="0">
                <a:ln>
                  <a:noFill/>
                </a:ln>
                <a:solidFill>
                  <a:srgbClr val="0063BE"/>
                </a:solidFill>
                <a:effectLst/>
                <a:uLnTx/>
                <a:uFillTx/>
                <a:latin typeface="Bell MT" panose="02020503060305020303" pitchFamily="18" charset="0"/>
                <a:ea typeface="+mn-ea"/>
                <a:cs typeface="+mn-cs"/>
              </a:rPr>
              <a:t>By default, MR does not ensure data for the same word will come to the same reducer</a:t>
            </a:r>
          </a:p>
        </p:txBody>
      </p:sp>
      <p:sp>
        <p:nvSpPr>
          <p:cNvPr id="21" name="Rounded Rectangle 20">
            <a:extLst>
              <a:ext uri="{FF2B5EF4-FFF2-40B4-BE49-F238E27FC236}">
                <a16:creationId xmlns:a16="http://schemas.microsoft.com/office/drawing/2014/main" id="{B5737A36-BDD8-0F9D-7F5C-DFAEACB60378}"/>
              </a:ext>
            </a:extLst>
          </p:cNvPr>
          <p:cNvSpPr/>
          <p:nvPr/>
        </p:nvSpPr>
        <p:spPr>
          <a:xfrm>
            <a:off x="9860748" y="3422915"/>
            <a:ext cx="1056117" cy="350507"/>
          </a:xfrm>
          <a:prstGeom prst="round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IN" sz="1867" b="0" i="0" u="none" strike="noStrike" kern="1200" cap="none" spc="0" normalizeH="0" baseline="0" noProof="0" dirty="0">
                <a:ln>
                  <a:noFill/>
                </a:ln>
                <a:solidFill>
                  <a:prstClr val="white"/>
                </a:solidFill>
                <a:effectLst/>
                <a:uLnTx/>
                <a:uFillTx/>
                <a:latin typeface="Calibri" panose="020F0502020204030204"/>
                <a:ea typeface="+mn-ea"/>
                <a:cs typeface="+mn-cs"/>
              </a:rPr>
              <a:t>reducer</a:t>
            </a:r>
          </a:p>
        </p:txBody>
      </p:sp>
      <p:cxnSp>
        <p:nvCxnSpPr>
          <p:cNvPr id="25" name="Straight Arrow Connector 24">
            <a:extLst>
              <a:ext uri="{FF2B5EF4-FFF2-40B4-BE49-F238E27FC236}">
                <a16:creationId xmlns:a16="http://schemas.microsoft.com/office/drawing/2014/main" id="{411CE09D-7DD2-A6F4-95CD-F51435D5D0F9}"/>
              </a:ext>
            </a:extLst>
          </p:cNvPr>
          <p:cNvCxnSpPr>
            <a:stCxn id="22" idx="3"/>
            <a:endCxn id="21" idx="1"/>
          </p:cNvCxnSpPr>
          <p:nvPr/>
        </p:nvCxnSpPr>
        <p:spPr>
          <a:xfrm>
            <a:off x="8688289" y="3277629"/>
            <a:ext cx="1172460" cy="3205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B8847C7-0F5B-BFFB-1DEF-58769D6BD01F}"/>
              </a:ext>
            </a:extLst>
          </p:cNvPr>
          <p:cNvCxnSpPr>
            <a:stCxn id="23" idx="3"/>
          </p:cNvCxnSpPr>
          <p:nvPr/>
        </p:nvCxnSpPr>
        <p:spPr>
          <a:xfrm flipV="1">
            <a:off x="8724270" y="3717032"/>
            <a:ext cx="1136479" cy="4678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0B6C356-D8CE-716B-5589-A5D0D931553B}"/>
              </a:ext>
            </a:extLst>
          </p:cNvPr>
          <p:cNvSpPr txBox="1"/>
          <p:nvPr/>
        </p:nvSpPr>
        <p:spPr>
          <a:xfrm>
            <a:off x="9177437" y="3204072"/>
            <a:ext cx="575799" cy="995209"/>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IN" sz="5867" b="0" i="0" u="none" strike="noStrike" kern="1200" cap="none" spc="0" normalizeH="0" baseline="0" noProof="0" dirty="0">
                <a:ln>
                  <a:noFill/>
                </a:ln>
                <a:solidFill>
                  <a:srgbClr val="C00000"/>
                </a:solidFill>
                <a:effectLst/>
                <a:uLnTx/>
                <a:uFillTx/>
                <a:latin typeface="Calibri" panose="020F0502020204030204"/>
                <a:ea typeface="+mn-ea"/>
                <a:cs typeface="+mn-cs"/>
              </a:rPr>
              <a:t>X</a:t>
            </a:r>
          </a:p>
        </p:txBody>
      </p:sp>
      <p:sp>
        <p:nvSpPr>
          <p:cNvPr id="2" name="TextBox 1">
            <a:extLst>
              <a:ext uri="{FF2B5EF4-FFF2-40B4-BE49-F238E27FC236}">
                <a16:creationId xmlns:a16="http://schemas.microsoft.com/office/drawing/2014/main" id="{A24F8ED4-DE1E-DA5C-E13F-404DAA751F4B}"/>
              </a:ext>
            </a:extLst>
          </p:cNvPr>
          <p:cNvSpPr txBox="1"/>
          <p:nvPr/>
        </p:nvSpPr>
        <p:spPr>
          <a:xfrm>
            <a:off x="167462" y="2019555"/>
            <a:ext cx="6249594" cy="3693319"/>
          </a:xfrm>
          <a:prstGeom prst="rect">
            <a:avLst/>
          </a:prstGeom>
          <a:noFill/>
        </p:spPr>
        <p:txBody>
          <a:bodyPr wrap="square" rtlCol="0">
            <a:spAutoFit/>
          </a:bodyPr>
          <a:lstStyle/>
          <a:p>
            <a:r>
              <a:rPr lang="en-US" dirty="0">
                <a:solidFill>
                  <a:schemeClr val="bg1"/>
                </a:solidFill>
              </a:rPr>
              <a:t>Because now u have composite key structure : </a:t>
            </a:r>
          </a:p>
          <a:p>
            <a:r>
              <a:rPr lang="en-US" dirty="0">
                <a:solidFill>
                  <a:schemeClr val="bg1"/>
                </a:solidFill>
              </a:rPr>
              <a:t>so, h(fish,5) = a1  and h(fish,2) = a2 now a1 may not be equal to a2 because key structures are diff  AND (fish,5) and (fish,2) are diff things so we need to define our own partitioner function. The objective of it is that data corresponding to same word should go to same reducer otherwise you won’t be able to do anything.</a:t>
            </a:r>
          </a:p>
          <a:p>
            <a:endParaRPr lang="en-US" dirty="0">
              <a:solidFill>
                <a:schemeClr val="bg1"/>
              </a:solidFill>
            </a:endParaRPr>
          </a:p>
          <a:p>
            <a:endParaRPr lang="en-US" dirty="0">
              <a:solidFill>
                <a:schemeClr val="bg1"/>
              </a:solidFill>
            </a:endParaRPr>
          </a:p>
          <a:p>
            <a:r>
              <a:rPr lang="en-US" dirty="0">
                <a:solidFill>
                  <a:schemeClr val="bg1"/>
                </a:solidFill>
              </a:rPr>
              <a:t>Partitioner will take a key : (word, id) and it will generate an integer but this integer value should be same for same word. </a:t>
            </a:r>
          </a:p>
          <a:p>
            <a:r>
              <a:rPr lang="en-US" dirty="0">
                <a:solidFill>
                  <a:schemeClr val="bg1"/>
                </a:solidFill>
              </a:rPr>
              <a:t>Example : hash(word) = n  :: (summation of ASCII(c))%k </a:t>
            </a:r>
          </a:p>
        </p:txBody>
      </p:sp>
    </p:spTree>
    <p:extLst>
      <p:ext uri="{BB962C8B-B14F-4D97-AF65-F5344CB8AC3E}">
        <p14:creationId xmlns:p14="http://schemas.microsoft.com/office/powerpoint/2010/main" val="3202170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2" grpId="0" animBg="1"/>
      <p:bldP spid="7" grpId="0" animBg="1"/>
      <p:bldP spid="8" grpId="0" animBg="1"/>
      <p:bldP spid="9" grpId="0" animBg="1"/>
      <p:bldP spid="10" grpId="0"/>
      <p:bldP spid="11" grpId="0"/>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524000"/>
            <a:ext cx="9076620" cy="2889738"/>
          </a:xfrm>
        </p:spPr>
        <p:txBody>
          <a:bodyPr>
            <a:normAutofit fontScale="90000"/>
          </a:bodyPr>
          <a:lstStyle/>
          <a:p>
            <a:pPr algn="ctr"/>
            <a:br>
              <a:rPr lang="en-US" sz="4000" dirty="0"/>
            </a:br>
            <a:br>
              <a:rPr lang="en-US" sz="4000" dirty="0"/>
            </a:br>
            <a:br>
              <a:rPr lang="en-US" sz="4000" dirty="0"/>
            </a:br>
            <a:br>
              <a:rPr lang="en-US" sz="4000" dirty="0"/>
            </a:br>
            <a:r>
              <a:rPr lang="en-US" sz="4000" b="1" dirty="0"/>
              <a:t>Data Communication in Map-Reduce</a:t>
            </a:r>
            <a:br>
              <a:rPr lang="en-US" sz="4000" dirty="0"/>
            </a:br>
            <a:br>
              <a:rPr lang="en-US" sz="4000" dirty="0"/>
            </a:br>
            <a:r>
              <a:rPr lang="en-US" sz="3000" b="1" dirty="0">
                <a:solidFill>
                  <a:srgbClr val="FF0000"/>
                </a:solidFill>
              </a:rPr>
              <a:t>A Case Study of Bad Map-reduce code</a:t>
            </a:r>
            <a:br>
              <a:rPr lang="en-US" sz="4000" dirty="0"/>
            </a:br>
            <a:endParaRPr lang="en-US" sz="2800" dirty="0"/>
          </a:p>
        </p:txBody>
      </p:sp>
      <p:sp>
        <p:nvSpPr>
          <p:cNvPr id="3" name="TextBox 2"/>
          <p:cNvSpPr txBox="1"/>
          <p:nvPr/>
        </p:nvSpPr>
        <p:spPr>
          <a:xfrm>
            <a:off x="3091852" y="5684885"/>
            <a:ext cx="557652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mn-ea"/>
                <a:cs typeface="+mn-cs"/>
              </a:rPr>
              <a:t>Source: Jeffrey Ullman - Algorithm Design for MapReduce</a:t>
            </a:r>
          </a:p>
        </p:txBody>
      </p:sp>
      <p:sp>
        <p:nvSpPr>
          <p:cNvPr id="4" name="TextBox 3"/>
          <p:cNvSpPr txBox="1"/>
          <p:nvPr/>
        </p:nvSpPr>
        <p:spPr>
          <a:xfrm>
            <a:off x="6407984" y="6059316"/>
            <a:ext cx="501130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entury Schoolbook" panose="02040604050505020304"/>
                <a:ea typeface="+mn-ea"/>
                <a:cs typeface="+mn-cs"/>
              </a:rPr>
              <a:t>Credit: Jeff Ullman, Stanford University</a:t>
            </a:r>
          </a:p>
        </p:txBody>
      </p:sp>
    </p:spTree>
    <p:extLst>
      <p:ext uri="{BB962C8B-B14F-4D97-AF65-F5344CB8AC3E}">
        <p14:creationId xmlns:p14="http://schemas.microsoft.com/office/powerpoint/2010/main" val="6108455"/>
      </p:ext>
    </p:extLst>
  </p:cSld>
  <p:clrMapOvr>
    <a:masterClrMapping/>
  </p:clrMapOvr>
  <p:transition>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4856" y="167054"/>
            <a:ext cx="9875520" cy="541214"/>
          </a:xfrm>
        </p:spPr>
        <p:txBody>
          <a:bodyPr>
            <a:normAutofit fontScale="90000"/>
          </a:bodyPr>
          <a:lstStyle/>
          <a:p>
            <a:r>
              <a:rPr lang="en-US" sz="3600" dirty="0"/>
              <a:t>Drug-Interaction</a:t>
            </a:r>
          </a:p>
        </p:txBody>
      </p:sp>
      <p:sp>
        <p:nvSpPr>
          <p:cNvPr id="2" name="Content Placeholder 1"/>
          <p:cNvSpPr>
            <a:spLocks noGrp="1"/>
          </p:cNvSpPr>
          <p:nvPr>
            <p:ph idx="1"/>
          </p:nvPr>
        </p:nvSpPr>
        <p:spPr>
          <a:xfrm>
            <a:off x="1158240" y="956407"/>
            <a:ext cx="9875520" cy="5181600"/>
          </a:xfrm>
        </p:spPr>
        <p:txBody>
          <a:bodyPr/>
          <a:lstStyle/>
          <a:p>
            <a:r>
              <a:rPr lang="en-US" dirty="0"/>
              <a:t>Data on 3000 drugs</a:t>
            </a:r>
          </a:p>
          <a:p>
            <a:pPr lvl="1"/>
            <a:endParaRPr lang="en-US" dirty="0"/>
          </a:p>
          <a:p>
            <a:pPr lvl="1"/>
            <a:r>
              <a:rPr lang="en-US" b="0" dirty="0"/>
              <a:t>List of patients taking the drug, the date, and diagnosis </a:t>
            </a:r>
          </a:p>
          <a:p>
            <a:pPr lvl="1"/>
            <a:r>
              <a:rPr lang="en-US" b="0" dirty="0"/>
              <a:t>Average 1 MB/drug </a:t>
            </a:r>
          </a:p>
          <a:p>
            <a:pPr lvl="1"/>
            <a:endParaRPr lang="en-US" dirty="0"/>
          </a:p>
          <a:p>
            <a:r>
              <a:rPr lang="en-US" dirty="0"/>
              <a:t>Objective</a:t>
            </a:r>
          </a:p>
          <a:p>
            <a:pPr lvl="1"/>
            <a:r>
              <a:rPr lang="en-US" b="0" dirty="0"/>
              <a:t>Find drug interaction: If two drug taken together, does this increase heart attack</a:t>
            </a:r>
          </a:p>
          <a:p>
            <a:pPr lvl="1"/>
            <a:endParaRPr lang="en-US" dirty="0"/>
          </a:p>
          <a:p>
            <a:pPr lvl="2"/>
            <a:r>
              <a:rPr lang="en-US" dirty="0"/>
              <a:t>Run Chi-square test between every pair of drugs</a:t>
            </a:r>
          </a:p>
          <a:p>
            <a:pPr lvl="1"/>
            <a:endParaRPr lang="en-US" dirty="0"/>
          </a:p>
          <a:p>
            <a:r>
              <a:rPr lang="en-US" dirty="0"/>
              <a:t>Total volume of data: 3 GB</a:t>
            </a:r>
          </a:p>
        </p:txBody>
      </p:sp>
    </p:spTree>
    <p:extLst>
      <p:ext uri="{BB962C8B-B14F-4D97-AF65-F5344CB8AC3E}">
        <p14:creationId xmlns:p14="http://schemas.microsoft.com/office/powerpoint/2010/main" val="3681702854"/>
      </p:ext>
    </p:extLst>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158240" y="228600"/>
            <a:ext cx="9875520" cy="541214"/>
          </a:xfrm>
        </p:spPr>
        <p:txBody>
          <a:bodyPr>
            <a:normAutofit fontScale="90000"/>
          </a:bodyPr>
          <a:lstStyle/>
          <a:p>
            <a:r>
              <a:rPr lang="en-US" sz="3600" dirty="0"/>
              <a:t>Map-Reduce Program</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158240" y="990600"/>
                <a:ext cx="10579669" cy="5181600"/>
              </a:xfrm>
            </p:spPr>
            <p:txBody>
              <a:bodyPr/>
              <a:lstStyle/>
              <a:p>
                <a:r>
                  <a:rPr lang="en-US" dirty="0"/>
                  <a:t>Mapper</a:t>
                </a:r>
              </a:p>
              <a:p>
                <a:endParaRPr lang="en-US" dirty="0"/>
              </a:p>
              <a:p>
                <a:pPr lvl="1"/>
                <a:r>
                  <a:rPr lang="en-US" b="0" dirty="0"/>
                  <a:t>Key = pair of two drugs </a:t>
                </a:r>
                <a14:m>
                  <m:oMath xmlns:m="http://schemas.openxmlformats.org/officeDocument/2006/math">
                    <m:r>
                      <a:rPr lang="en-US" b="0" i="1" smtClean="0">
                        <a:latin typeface="Cambria Math"/>
                      </a:rPr>
                      <m:t>(</m:t>
                    </m:r>
                    <m:r>
                      <a:rPr lang="en-US" b="0" i="1" smtClean="0">
                        <a:latin typeface="Cambria Math"/>
                      </a:rPr>
                      <m:t>𝑖</m:t>
                    </m:r>
                    <m:r>
                      <a:rPr lang="en-US" b="0" i="1" smtClean="0">
                        <a:latin typeface="Cambria Math"/>
                      </a:rPr>
                      <m:t>,</m:t>
                    </m:r>
                    <m:r>
                      <a:rPr lang="en-US" b="0" i="1" smtClean="0">
                        <a:latin typeface="Cambria Math"/>
                      </a:rPr>
                      <m:t>𝑗</m:t>
                    </m:r>
                    <m:r>
                      <a:rPr lang="en-US" b="0" i="1" smtClean="0">
                        <a:latin typeface="Cambria Math"/>
                      </a:rPr>
                      <m:t>)</m:t>
                    </m:r>
                  </m:oMath>
                </a14:m>
                <a:endParaRPr lang="en-US" b="0" dirty="0"/>
              </a:p>
              <a:p>
                <a:pPr lvl="1"/>
                <a:endParaRPr lang="en-US" b="0" dirty="0"/>
              </a:p>
              <a:p>
                <a:pPr lvl="1"/>
                <a:r>
                  <a:rPr lang="en-US" b="0" dirty="0"/>
                  <a:t>Value = Record </a:t>
                </a:r>
                <a14:m>
                  <m:oMath xmlns:m="http://schemas.openxmlformats.org/officeDocument/2006/math">
                    <m:r>
                      <a:rPr lang="en-US" b="0" i="1" smtClean="0">
                        <a:latin typeface="Cambria Math"/>
                      </a:rPr>
                      <m:t>(</m:t>
                    </m:r>
                    <m:r>
                      <a:rPr lang="en-US" b="0" i="1" smtClean="0">
                        <a:latin typeface="Cambria Math"/>
                      </a:rPr>
                      <m:t>𝑅</m:t>
                    </m:r>
                    <m:r>
                      <a:rPr lang="en-US" b="0" i="1" smtClean="0">
                        <a:latin typeface="Cambria Math"/>
                      </a:rPr>
                      <m:t>)</m:t>
                    </m:r>
                  </m:oMath>
                </a14:m>
                <a:r>
                  <a:rPr lang="en-US" b="0" dirty="0"/>
                  <a:t> of any one of these drugs</a:t>
                </a:r>
              </a:p>
              <a:p>
                <a:pPr marL="38100" indent="0">
                  <a:buNone/>
                </a:pPr>
                <a:endParaRPr lang="en-US" dirty="0"/>
              </a:p>
              <a:p>
                <a:r>
                  <a:rPr lang="en-US" dirty="0"/>
                  <a:t>Reducer</a:t>
                </a:r>
              </a:p>
              <a:p>
                <a:pPr lvl="1"/>
                <a:r>
                  <a:rPr lang="en-US" b="0" dirty="0"/>
                  <a:t>Receives the key </a:t>
                </a:r>
                <a14:m>
                  <m:oMath xmlns:m="http://schemas.openxmlformats.org/officeDocument/2006/math">
                    <m:r>
                      <a:rPr lang="en-US" b="0" i="1">
                        <a:latin typeface="Cambria Math"/>
                      </a:rPr>
                      <m:t>(</m:t>
                    </m:r>
                    <m:r>
                      <a:rPr lang="en-US" b="0" i="1">
                        <a:latin typeface="Cambria Math"/>
                      </a:rPr>
                      <m:t>𝑖</m:t>
                    </m:r>
                    <m:r>
                      <a:rPr lang="en-US" b="0" i="1">
                        <a:latin typeface="Cambria Math"/>
                      </a:rPr>
                      <m:t>,</m:t>
                    </m:r>
                    <m:r>
                      <a:rPr lang="en-US" b="0" i="1">
                        <a:latin typeface="Cambria Math"/>
                      </a:rPr>
                      <m:t>𝑗</m:t>
                    </m:r>
                    <m:r>
                      <a:rPr lang="en-US" b="0" i="1">
                        <a:latin typeface="Cambria Math"/>
                      </a:rPr>
                      <m:t>)</m:t>
                    </m:r>
                  </m:oMath>
                </a14:m>
                <a:r>
                  <a:rPr lang="en-US" b="0" dirty="0"/>
                  <a:t> and the list of two values for the key </a:t>
                </a:r>
                <a14:m>
                  <m:oMath xmlns:m="http://schemas.openxmlformats.org/officeDocument/2006/math">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𝑅</m:t>
                        </m:r>
                      </m:e>
                      <m:sub>
                        <m:r>
                          <a:rPr lang="en-US" b="0" i="1" smtClean="0">
                            <a:latin typeface="Cambria Math"/>
                          </a:rPr>
                          <m:t>𝑖</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𝑅</m:t>
                        </m:r>
                      </m:e>
                      <m:sub>
                        <m:r>
                          <a:rPr lang="en-US" b="0" i="1" smtClean="0">
                            <a:latin typeface="Cambria Math"/>
                          </a:rPr>
                          <m:t>𝑗</m:t>
                        </m:r>
                      </m:sub>
                    </m:sSub>
                    <m:r>
                      <a:rPr lang="en-US" b="0" i="1" smtClean="0">
                        <a:latin typeface="Cambria Math"/>
                      </a:rPr>
                      <m:t>]</m:t>
                    </m:r>
                  </m:oMath>
                </a14:m>
                <a:r>
                  <a:rPr lang="en-US" b="0" dirty="0"/>
                  <a:t> </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158240" y="990600"/>
                <a:ext cx="10579669" cy="5181600"/>
              </a:xfrm>
              <a:blipFill>
                <a:blip r:embed="rId2"/>
                <a:stretch>
                  <a:fillRect l="-864"/>
                </a:stretch>
              </a:blipFill>
            </p:spPr>
            <p:txBody>
              <a:bodyPr/>
              <a:lstStyle/>
              <a:p>
                <a:r>
                  <a:rPr lang="en-IN">
                    <a:noFill/>
                  </a:rPr>
                  <a:t> </a:t>
                </a:r>
              </a:p>
            </p:txBody>
          </p:sp>
        </mc:Fallback>
      </mc:AlternateContent>
    </p:spTree>
    <p:extLst>
      <p:ext uri="{BB962C8B-B14F-4D97-AF65-F5344CB8AC3E}">
        <p14:creationId xmlns:p14="http://schemas.microsoft.com/office/powerpoint/2010/main" val="203247660"/>
      </p:ext>
    </p:extLst>
  </p:cSld>
  <p:clrMapOvr>
    <a:masterClrMapping/>
  </p:clrMapOvr>
  <p:transition>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6A23A-9801-99C4-FE20-AA77A01B212E}"/>
            </a:ext>
          </a:extLst>
        </p:cNvPr>
        <p:cNvGrpSpPr/>
        <p:nvPr/>
      </p:nvGrpSpPr>
      <p:grpSpPr>
        <a:xfrm>
          <a:off x="0" y="0"/>
          <a:ext cx="0" cy="0"/>
          <a:chOff x="0" y="0"/>
          <a:chExt cx="0" cy="0"/>
        </a:xfrm>
      </p:grpSpPr>
      <p:sp>
        <p:nvSpPr>
          <p:cNvPr id="21506" name="Rectangle 2">
            <a:extLst>
              <a:ext uri="{FF2B5EF4-FFF2-40B4-BE49-F238E27FC236}">
                <a16:creationId xmlns:a16="http://schemas.microsoft.com/office/drawing/2014/main" id="{ABE586C8-8824-1615-E6E4-A00F9266697F}"/>
              </a:ext>
            </a:extLst>
          </p:cNvPr>
          <p:cNvSpPr>
            <a:spLocks noGrp="1" noChangeArrowheads="1"/>
          </p:cNvSpPr>
          <p:nvPr>
            <p:ph type="title"/>
          </p:nvPr>
        </p:nvSpPr>
        <p:spPr>
          <a:xfrm>
            <a:off x="1158240" y="228600"/>
            <a:ext cx="9875520" cy="541214"/>
          </a:xfrm>
        </p:spPr>
        <p:txBody>
          <a:bodyPr>
            <a:normAutofit fontScale="90000"/>
          </a:bodyPr>
          <a:lstStyle/>
          <a:p>
            <a:r>
              <a:rPr lang="en-US" sz="3600" dirty="0"/>
              <a:t>Map-Reduce Program</a:t>
            </a:r>
          </a:p>
        </p:txBody>
      </p:sp>
      <p:pic>
        <p:nvPicPr>
          <p:cNvPr id="6" name="Picture 5">
            <a:extLst>
              <a:ext uri="{FF2B5EF4-FFF2-40B4-BE49-F238E27FC236}">
                <a16:creationId xmlns:a16="http://schemas.microsoft.com/office/drawing/2014/main" id="{D2CB45E7-10DC-C25D-6777-FF8278C8CE4E}"/>
              </a:ext>
            </a:extLst>
          </p:cNvPr>
          <p:cNvPicPr>
            <a:picLocks noChangeAspect="1"/>
          </p:cNvPicPr>
          <p:nvPr/>
        </p:nvPicPr>
        <p:blipFill>
          <a:blip r:embed="rId2"/>
          <a:stretch>
            <a:fillRect/>
          </a:stretch>
        </p:blipFill>
        <p:spPr>
          <a:xfrm>
            <a:off x="1920241" y="1718133"/>
            <a:ext cx="7514674" cy="4173439"/>
          </a:xfrm>
          <a:prstGeom prst="rect">
            <a:avLst/>
          </a:prstGeom>
        </p:spPr>
      </p:pic>
    </p:spTree>
    <p:extLst>
      <p:ext uri="{BB962C8B-B14F-4D97-AF65-F5344CB8AC3E}">
        <p14:creationId xmlns:p14="http://schemas.microsoft.com/office/powerpoint/2010/main" val="1692184963"/>
      </p:ext>
    </p:extLst>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158240" y="296986"/>
            <a:ext cx="9875520" cy="541214"/>
          </a:xfrm>
        </p:spPr>
        <p:txBody>
          <a:bodyPr>
            <a:normAutofit fontScale="90000"/>
          </a:bodyPr>
          <a:lstStyle/>
          <a:p>
            <a:r>
              <a:rPr lang="en-US" sz="3600" dirty="0"/>
              <a:t>What is wrong with this Algorithm?</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1158241" y="990600"/>
                <a:ext cx="9875520" cy="5181600"/>
              </a:xfrm>
            </p:spPr>
            <p:txBody>
              <a:bodyPr/>
              <a:lstStyle/>
              <a:p>
                <a:r>
                  <a:rPr lang="en-US" dirty="0">
                    <a:latin typeface="+mn-lt"/>
                  </a:rPr>
                  <a:t>Mapper generates 2999 key-value pairs for each drug.</a:t>
                </a:r>
              </a:p>
              <a:p>
                <a:endParaRPr lang="en-US" dirty="0"/>
              </a:p>
              <a:p>
                <a:pPr marL="533400" lvl="1" indent="0">
                  <a:buNone/>
                </a:pPr>
                <a:r>
                  <a:rPr lang="en-US" b="0" dirty="0"/>
                  <a:t>= </a:t>
                </a:r>
                <a14:m>
                  <m:oMath xmlns:m="http://schemas.openxmlformats.org/officeDocument/2006/math">
                    <m:r>
                      <a:rPr lang="en-US" b="0" i="0" smtClean="0">
                        <a:latin typeface="Cambria Math"/>
                      </a:rPr>
                      <m:t>1 </m:t>
                    </m:r>
                    <m:r>
                      <m:rPr>
                        <m:sty m:val="p"/>
                      </m:rPr>
                      <a:rPr lang="en-US" b="0" i="0" smtClean="0">
                        <a:latin typeface="Cambria Math"/>
                      </a:rPr>
                      <m:t>MB</m:t>
                    </m:r>
                    <m:r>
                      <a:rPr lang="en-US" b="0" i="1" smtClean="0">
                        <a:latin typeface="Cambria Math"/>
                      </a:rPr>
                      <m:t>×2999=3 </m:t>
                    </m:r>
                    <m:r>
                      <a:rPr lang="en-US" b="0" i="1" smtClean="0">
                        <a:latin typeface="Cambria Math"/>
                      </a:rPr>
                      <m:t>𝐺𝐵</m:t>
                    </m:r>
                    <m:r>
                      <a:rPr lang="en-US" b="0" i="1" smtClean="0">
                        <a:latin typeface="Cambria Math"/>
                      </a:rPr>
                      <m:t> (</m:t>
                    </m:r>
                    <m:r>
                      <a:rPr lang="en-US" b="0" i="1" smtClean="0">
                        <a:latin typeface="Cambria Math"/>
                      </a:rPr>
                      <m:t>𝑎𝑝𝑝𝑟𝑜𝑥</m:t>
                    </m:r>
                    <m:r>
                      <a:rPr lang="en-US" b="0" i="1" smtClean="0">
                        <a:latin typeface="Cambria Math"/>
                      </a:rPr>
                      <m:t>)</m:t>
                    </m:r>
                  </m:oMath>
                </a14:m>
                <a:endParaRPr lang="en-US" b="0" dirty="0"/>
              </a:p>
              <a:p>
                <a:pPr lvl="1"/>
                <a:endParaRPr lang="en-US" b="0" dirty="0"/>
              </a:p>
              <a:p>
                <a:pPr marL="533400" lvl="1" indent="0">
                  <a:buNone/>
                </a:pPr>
                <a:r>
                  <a:rPr lang="en-US" b="0" dirty="0"/>
                  <a:t>For 3000 drugs</a:t>
                </a:r>
              </a:p>
              <a:p>
                <a:pPr lvl="1"/>
                <a:endParaRPr lang="en-US" b="0" dirty="0"/>
              </a:p>
              <a:p>
                <a:pPr lvl="2"/>
                <a14:m>
                  <m:oMath xmlns:m="http://schemas.openxmlformats.org/officeDocument/2006/math">
                    <m:r>
                      <a:rPr lang="en-US" b="0" i="1" smtClean="0">
                        <a:latin typeface="Cambria Math"/>
                      </a:rPr>
                      <m:t>3 </m:t>
                    </m:r>
                    <m:r>
                      <a:rPr lang="en-US" b="0" i="1" smtClean="0">
                        <a:latin typeface="Cambria Math"/>
                      </a:rPr>
                      <m:t>𝐺𝐵</m:t>
                    </m:r>
                    <m:r>
                      <a:rPr lang="en-US" b="0" i="1" smtClean="0">
                        <a:latin typeface="Cambria Math"/>
                      </a:rPr>
                      <m:t>×3000=9 </m:t>
                    </m:r>
                    <m:r>
                      <a:rPr lang="en-US" b="0" i="1" smtClean="0">
                        <a:latin typeface="Cambria Math"/>
                      </a:rPr>
                      <m:t>𝑇𝐵</m:t>
                    </m:r>
                  </m:oMath>
                </a14:m>
                <a:endParaRPr lang="en-US" dirty="0"/>
              </a:p>
              <a:p>
                <a:pPr lvl="2"/>
                <a:endParaRPr lang="en-US" dirty="0"/>
              </a:p>
              <a:p>
                <a:pPr lvl="2"/>
                <a:r>
                  <a:rPr lang="en-US" dirty="0"/>
                  <a:t>9 TB data communication over 1 </a:t>
                </a:r>
                <a:r>
                  <a:rPr lang="en-US" dirty="0" err="1"/>
                  <a:t>gb</a:t>
                </a:r>
                <a:r>
                  <a:rPr lang="en-US" dirty="0"/>
                  <a:t> </a:t>
                </a:r>
                <a:r>
                  <a:rPr lang="en-US" dirty="0" err="1"/>
                  <a:t>ethernet</a:t>
                </a:r>
                <a:r>
                  <a:rPr lang="en-US" dirty="0"/>
                  <a:t> = 25 hours</a:t>
                </a:r>
              </a:p>
              <a:p>
                <a:endParaRPr lang="en-US"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1158241" y="990600"/>
                <a:ext cx="9875520" cy="5181600"/>
              </a:xfrm>
              <a:blipFill>
                <a:blip r:embed="rId2"/>
                <a:stretch>
                  <a:fillRect l="-926" r="-741"/>
                </a:stretch>
              </a:blipFill>
            </p:spPr>
            <p:txBody>
              <a:bodyPr/>
              <a:lstStyle/>
              <a:p>
                <a:r>
                  <a:rPr lang="en-IN">
                    <a:noFill/>
                  </a:rPr>
                  <a:t> </a:t>
                </a:r>
              </a:p>
            </p:txBody>
          </p:sp>
        </mc:Fallback>
      </mc:AlternateContent>
      <p:sp>
        <p:nvSpPr>
          <p:cNvPr id="3" name="TextBox 2">
            <a:extLst>
              <a:ext uri="{FF2B5EF4-FFF2-40B4-BE49-F238E27FC236}">
                <a16:creationId xmlns:a16="http://schemas.microsoft.com/office/drawing/2014/main" id="{A60BB5E5-F630-75C7-96A2-DBB66BED55EF}"/>
              </a:ext>
            </a:extLst>
          </p:cNvPr>
          <p:cNvSpPr txBox="1"/>
          <p:nvPr/>
        </p:nvSpPr>
        <p:spPr>
          <a:xfrm>
            <a:off x="4728754" y="3899262"/>
            <a:ext cx="4754880" cy="369332"/>
          </a:xfrm>
          <a:prstGeom prst="rect">
            <a:avLst/>
          </a:prstGeom>
          <a:noFill/>
        </p:spPr>
        <p:txBody>
          <a:bodyPr wrap="square" rtlCol="0">
            <a:spAutoFit/>
          </a:bodyPr>
          <a:lstStyle/>
          <a:p>
            <a:r>
              <a:rPr lang="en-US" dirty="0"/>
              <a:t>But originally we had only 3 GB of data</a:t>
            </a:r>
          </a:p>
        </p:txBody>
      </p:sp>
    </p:spTree>
    <p:extLst>
      <p:ext uri="{BB962C8B-B14F-4D97-AF65-F5344CB8AC3E}">
        <p14:creationId xmlns:p14="http://schemas.microsoft.com/office/powerpoint/2010/main" val="1214075676"/>
      </p:ext>
    </p:extLst>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A18D-1E80-4007-A539-0CC0C23C5D8C}"/>
              </a:ext>
            </a:extLst>
          </p:cNvPr>
          <p:cNvSpPr>
            <a:spLocks noGrp="1"/>
          </p:cNvSpPr>
          <p:nvPr>
            <p:ph type="title"/>
          </p:nvPr>
        </p:nvSpPr>
        <p:spPr>
          <a:xfrm>
            <a:off x="838200" y="3062922"/>
            <a:ext cx="10515600" cy="732155"/>
          </a:xfrm>
        </p:spPr>
        <p:txBody>
          <a:bodyPr>
            <a:normAutofit fontScale="90000"/>
          </a:bodyPr>
          <a:lstStyle/>
          <a:p>
            <a:pPr algn="ctr"/>
            <a:r>
              <a:rPr lang="en-IN" dirty="0"/>
              <a:t>How do we design a better MR algorithm?</a:t>
            </a:r>
          </a:p>
        </p:txBody>
      </p:sp>
    </p:spTree>
    <p:extLst>
      <p:ext uri="{BB962C8B-B14F-4D97-AF65-F5344CB8AC3E}">
        <p14:creationId xmlns:p14="http://schemas.microsoft.com/office/powerpoint/2010/main" val="31446850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8ED10-5C47-D12F-C1F5-25D594BC4E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796AD9-FD73-8FF9-7083-B4135DC7ED7B}"/>
              </a:ext>
            </a:extLst>
          </p:cNvPr>
          <p:cNvSpPr txBox="1"/>
          <p:nvPr/>
        </p:nvSpPr>
        <p:spPr>
          <a:xfrm>
            <a:off x="365760" y="522514"/>
            <a:ext cx="11273246" cy="1200329"/>
          </a:xfrm>
          <a:prstGeom prst="rect">
            <a:avLst/>
          </a:prstGeom>
          <a:noFill/>
        </p:spPr>
        <p:txBody>
          <a:bodyPr wrap="square" rtlCol="0">
            <a:spAutoFit/>
          </a:bodyPr>
          <a:lstStyle/>
          <a:p>
            <a:r>
              <a:rPr lang="en-US" dirty="0"/>
              <a:t>Hint :  - In current case we are trying to produce all pairs of possibility which is creating issue. Since every chunks is containing record so can we make use of that?</a:t>
            </a:r>
          </a:p>
          <a:p>
            <a:endParaRPr lang="en-US" dirty="0"/>
          </a:p>
          <a:p>
            <a:endParaRPr lang="en-US" dirty="0"/>
          </a:p>
        </p:txBody>
      </p:sp>
    </p:spTree>
    <p:extLst>
      <p:ext uri="{BB962C8B-B14F-4D97-AF65-F5344CB8AC3E}">
        <p14:creationId xmlns:p14="http://schemas.microsoft.com/office/powerpoint/2010/main" val="227784940"/>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Schoolbook">
      <a:majorFont>
        <a:latin typeface="Century Schoolbook" panose="02040604050505020304"/>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panose="02040604050505020304"/>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3591</TotalTime>
  <Words>2056</Words>
  <Application>Microsoft Office PowerPoint</Application>
  <PresentationFormat>Widescreen</PresentationFormat>
  <Paragraphs>558</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Andale Mono</vt:lpstr>
      <vt:lpstr>Arial</vt:lpstr>
      <vt:lpstr>Bell MT</vt:lpstr>
      <vt:lpstr>Calibri</vt:lpstr>
      <vt:lpstr>Cambria Math</vt:lpstr>
      <vt:lpstr>Century Schoolbook</vt:lpstr>
      <vt:lpstr>Gill Sans</vt:lpstr>
      <vt:lpstr>Office Theme</vt:lpstr>
      <vt:lpstr>Big Data Processing</vt:lpstr>
      <vt:lpstr> Map-Reduce Algorithm Design</vt:lpstr>
      <vt:lpstr>Joining Tables in Database</vt:lpstr>
      <vt:lpstr>Database Table Join</vt:lpstr>
      <vt:lpstr>Map-Reduce Join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Increasing Scalability of MR Algorithm   Value-to-Key Design Pattern </vt:lpstr>
      <vt:lpstr> Why Google had to Invent Map-Reduce?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Data Communication in Map-Reduce  A Case Study of Bad Map-reduce code </vt:lpstr>
      <vt:lpstr>Drug-Interaction</vt:lpstr>
      <vt:lpstr>Map-Reduce Program</vt:lpstr>
      <vt:lpstr>Map-Reduce Program</vt:lpstr>
      <vt:lpstr>What is wrong with this Algorithm?</vt:lpstr>
      <vt:lpstr>How do we design a better MR algorithm?</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Processing</dc:title>
  <dc:creator>jiaul paik</dc:creator>
  <cp:lastModifiedBy>Subhasini Kumari Gupta</cp:lastModifiedBy>
  <cp:revision>686</cp:revision>
  <dcterms:created xsi:type="dcterms:W3CDTF">2020-05-13T23:12:08Z</dcterms:created>
  <dcterms:modified xsi:type="dcterms:W3CDTF">2025-02-19T15:20:01Z</dcterms:modified>
</cp:coreProperties>
</file>