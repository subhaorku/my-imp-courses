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56" r:id="rId2"/>
    <p:sldId id="554" r:id="rId3"/>
    <p:sldId id="555" r:id="rId4"/>
    <p:sldId id="556" r:id="rId5"/>
    <p:sldId id="557" r:id="rId6"/>
    <p:sldId id="558" r:id="rId7"/>
    <p:sldId id="559" r:id="rId8"/>
    <p:sldId id="560" r:id="rId9"/>
    <p:sldId id="561" r:id="rId10"/>
    <p:sldId id="562" r:id="rId11"/>
    <p:sldId id="563" r:id="rId12"/>
    <p:sldId id="564" r:id="rId13"/>
    <p:sldId id="565" r:id="rId14"/>
    <p:sldId id="566" r:id="rId15"/>
    <p:sldId id="567" r:id="rId16"/>
    <p:sldId id="575" r:id="rId17"/>
    <p:sldId id="576" r:id="rId18"/>
    <p:sldId id="577" r:id="rId19"/>
    <p:sldId id="578" r:id="rId20"/>
    <p:sldId id="579" r:id="rId21"/>
    <p:sldId id="580" r:id="rId22"/>
    <p:sldId id="581" r:id="rId23"/>
    <p:sldId id="582" r:id="rId24"/>
    <p:sldId id="58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CAAE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08" autoAdjust="0"/>
    <p:restoredTop sz="94660"/>
  </p:normalViewPr>
  <p:slideViewPr>
    <p:cSldViewPr snapToGrid="0">
      <p:cViewPr varScale="1">
        <p:scale>
          <a:sx n="81" d="100"/>
          <a:sy n="81" d="100"/>
        </p:scale>
        <p:origin x="898" y="53"/>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BEC899-9F02-491A-8D3A-9F1A2E35BED9}" type="datetimeFigureOut">
              <a:rPr lang="en-IN" smtClean="0"/>
              <a:t>19-02-2025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C7F388-92B4-4CCE-98AB-E3403A750BCE}" type="slidenum">
              <a:rPr lang="en-IN" smtClean="0"/>
              <a:t>‹#›</a:t>
            </a:fld>
            <a:endParaRPr lang="en-IN"/>
          </a:p>
        </p:txBody>
      </p:sp>
    </p:spTree>
    <p:extLst>
      <p:ext uri="{BB962C8B-B14F-4D97-AF65-F5344CB8AC3E}">
        <p14:creationId xmlns:p14="http://schemas.microsoft.com/office/powerpoint/2010/main" val="2860447380"/>
      </p:ext>
    </p:extLst>
  </p:cSld>
  <p:clrMap bg1="dk1" tx1="lt1" bg2="dk2" tx2="lt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9A62B8-ED7E-4D6E-9A93-014178291C11}" type="datetimeFigureOut">
              <a:rPr lang="en-IN" smtClean="0"/>
              <a:t>19-02-2025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FC15D4-91CA-4DB9-8C01-BAE492E5AD48}" type="slidenum">
              <a:rPr lang="en-IN" smtClean="0"/>
              <a:t>‹#›</a:t>
            </a:fld>
            <a:endParaRPr lang="en-IN"/>
          </a:p>
        </p:txBody>
      </p:sp>
    </p:spTree>
    <p:extLst>
      <p:ext uri="{BB962C8B-B14F-4D97-AF65-F5344CB8AC3E}">
        <p14:creationId xmlns:p14="http://schemas.microsoft.com/office/powerpoint/2010/main" val="1912799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179BA58-2EF6-4CF0-B254-DF8BFD9A3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46831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FC15D4-91CA-4DB9-8C01-BAE492E5AD4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1252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F8CDA7-E52B-494C-B389-F38CB4400DB8}"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
        <p:nvSpPr>
          <p:cNvPr id="39937" name="Text Box 1"/>
          <p:cNvSpPr txBox="1">
            <a:spLocks noChangeArrowheads="1"/>
          </p:cNvSpPr>
          <p:nvPr/>
        </p:nvSpPr>
        <p:spPr bwMode="auto">
          <a:xfrm>
            <a:off x="1232731" y="719887"/>
            <a:ext cx="4851394" cy="3601064"/>
          </a:xfrm>
          <a:prstGeom prst="rect">
            <a:avLst/>
          </a:prstGeom>
          <a:solidFill>
            <a:srgbClr val="FFFFFF"/>
          </a:solidFill>
          <a:ln w="9525">
            <a:solidFill>
              <a:srgbClr val="000000"/>
            </a:solidFill>
            <a:miter lim="800000"/>
            <a:headEnd/>
            <a:tailEnd/>
          </a:ln>
          <a:effectLst/>
        </p:spPr>
        <p:txBody>
          <a:bodyPr wrap="none" lIns="94855" tIns="47428" rIns="94855" bIns="47428"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938" name="Rectangle 2"/>
          <p:cNvSpPr txBox="1">
            <a:spLocks noGrp="1" noChangeArrowheads="1"/>
          </p:cNvSpPr>
          <p:nvPr>
            <p:ph type="body"/>
          </p:nvPr>
        </p:nvSpPr>
        <p:spPr bwMode="auto">
          <a:xfrm>
            <a:off x="732348" y="4562007"/>
            <a:ext cx="5852160" cy="4320951"/>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525387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19-02-2025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7711649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lvl1pPr>
              <a:defRPr>
                <a:solidFill>
                  <a:schemeClr val="accent4">
                    <a:lumMod val="75000"/>
                  </a:schemeClr>
                </a:solidFill>
              </a:defRPr>
            </a:lvl1pPr>
          </a:lstStyle>
          <a:p>
            <a:r>
              <a:rPr lang="en-US" dirty="0"/>
              <a:t>Click to edit Master title style</a:t>
            </a:r>
            <a:endParaRPr lang="en-IN" dirty="0"/>
          </a:p>
        </p:txBody>
      </p:sp>
      <p:sp>
        <p:nvSpPr>
          <p:cNvPr id="3" name="Content Placeholder 2"/>
          <p:cNvSpPr>
            <a:spLocks noGrp="1"/>
          </p:cNvSpPr>
          <p:nvPr>
            <p:ph idx="1"/>
          </p:nvPr>
        </p:nvSpPr>
        <p:spPr>
          <a:xfrm>
            <a:off x="838200" y="1471749"/>
            <a:ext cx="10515600" cy="4705214"/>
          </a:xfrm>
        </p:spPr>
        <p:txBody>
          <a:bodyPr/>
          <a:lstStyle>
            <a:lvl1pPr>
              <a:defRPr b="1">
                <a:solidFill>
                  <a:srgbClr val="0070C0"/>
                </a:solidFill>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fld id="{4D8581B5-CE63-4C0B-AF1D-F1A23F619540}" type="datetimeFigureOut">
              <a:rPr lang="en-IN" smtClean="0"/>
              <a:t>19-02-2025</a:t>
            </a:fld>
            <a:endParaRPr lang="en-IN"/>
          </a:p>
        </p:txBody>
      </p:sp>
      <p:sp>
        <p:nvSpPr>
          <p:cNvPr id="5" name="Footer Placeholder 4"/>
          <p:cNvSpPr>
            <a:spLocks noGrp="1"/>
          </p:cNvSpPr>
          <p:nvPr>
            <p:ph type="ftr" sz="quarter" idx="11"/>
          </p:nvPr>
        </p:nvSpPr>
        <p:spPr/>
        <p:txBody>
          <a:bodyPr/>
          <a:lstStyle>
            <a:lvl1pPr>
              <a:defRPr b="1">
                <a:solidFill>
                  <a:schemeClr val="bg2">
                    <a:lumMod val="10000"/>
                  </a:schemeClr>
                </a:solidFill>
              </a:defRPr>
            </a:lvl1pPr>
          </a:lstStyle>
          <a:p>
            <a:r>
              <a:rPr lang="en-IN" dirty="0"/>
              <a:t>Jiaul Paik, IIT </a:t>
            </a:r>
            <a:r>
              <a:rPr lang="en-IN" dirty="0" err="1"/>
              <a:t>Kharagpur</a:t>
            </a:r>
            <a:endParaRPr lang="en-IN" dirty="0"/>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57176842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D8581B5-CE63-4C0B-AF1D-F1A23F619540}" type="datetimeFigureOut">
              <a:rPr lang="en-IN" smtClean="0"/>
              <a:t>19-02-2025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030869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D8581B5-CE63-4C0B-AF1D-F1A23F619540}" type="datetimeFigureOut">
              <a:rPr lang="en-IN" smtClean="0"/>
              <a:t>19-02-2025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952376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D8581B5-CE63-4C0B-AF1D-F1A23F619540}" type="datetimeFigureOut">
              <a:rPr lang="en-IN" smtClean="0"/>
              <a:t>19-02-2025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533970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D8581B5-CE63-4C0B-AF1D-F1A23F619540}" type="datetimeFigureOut">
              <a:rPr lang="en-IN" smtClean="0"/>
              <a:t>19-02-2025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659233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8581B5-CE63-4C0B-AF1D-F1A23F619540}" type="datetimeFigureOut">
              <a:rPr lang="en-IN" smtClean="0"/>
              <a:t>19-02-2025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10526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19-02-2025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4020820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19-02-2025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12170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19-02-2025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78880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19-02-2025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956180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8581B5-CE63-4C0B-AF1D-F1A23F619540}" type="datetimeFigureOut">
              <a:rPr lang="en-IN" smtClean="0"/>
              <a:t>19-02-2025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7DD252-A74E-4E8E-A6B4-FCD6DE8F900F}" type="slidenum">
              <a:rPr lang="en-IN" smtClean="0"/>
              <a:t>‹#›</a:t>
            </a:fld>
            <a:endParaRPr lang="en-IN"/>
          </a:p>
        </p:txBody>
      </p:sp>
    </p:spTree>
    <p:extLst>
      <p:ext uri="{BB962C8B-B14F-4D97-AF65-F5344CB8AC3E}">
        <p14:creationId xmlns:p14="http://schemas.microsoft.com/office/powerpoint/2010/main" val="285816313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NUL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5915" y="1122363"/>
            <a:ext cx="9972085" cy="1408401"/>
          </a:xfrm>
        </p:spPr>
        <p:txBody>
          <a:bodyPr>
            <a:normAutofit/>
          </a:bodyPr>
          <a:lstStyle/>
          <a:p>
            <a:r>
              <a:rPr lang="en-US" sz="4800" dirty="0">
                <a:solidFill>
                  <a:schemeClr val="accent4"/>
                </a:solidFill>
                <a:latin typeface="Century Schoolbook" panose="02040604050505020304" pitchFamily="18" charset="0"/>
              </a:rPr>
              <a:t>Big Data Processing</a:t>
            </a:r>
            <a:endParaRPr lang="en-IN" sz="4800" dirty="0">
              <a:solidFill>
                <a:schemeClr val="accent4"/>
              </a:solidFill>
              <a:latin typeface="Century Schoolbook" panose="02040604050505020304" pitchFamily="18" charset="0"/>
            </a:endParaRPr>
          </a:p>
        </p:txBody>
      </p:sp>
      <p:sp>
        <p:nvSpPr>
          <p:cNvPr id="3" name="Subtitle 2"/>
          <p:cNvSpPr>
            <a:spLocks noGrp="1"/>
          </p:cNvSpPr>
          <p:nvPr>
            <p:ph type="subTitle" idx="1"/>
          </p:nvPr>
        </p:nvSpPr>
        <p:spPr>
          <a:xfrm>
            <a:off x="1311564" y="3500438"/>
            <a:ext cx="9144000" cy="1655762"/>
          </a:xfrm>
        </p:spPr>
        <p:txBody>
          <a:bodyPr>
            <a:normAutofit/>
          </a:bodyPr>
          <a:lstStyle/>
          <a:p>
            <a:r>
              <a:rPr lang="en-IN" sz="4400" dirty="0">
                <a:latin typeface="Century Schoolbook" panose="02040604050505020304" pitchFamily="18" charset="0"/>
              </a:rPr>
              <a:t>Jiaul Paik</a:t>
            </a:r>
          </a:p>
          <a:p>
            <a:r>
              <a:rPr lang="en-IN" sz="3200" dirty="0">
                <a:latin typeface="Century Schoolbook" panose="02040604050505020304" pitchFamily="18" charset="0"/>
              </a:rPr>
              <a:t>Lecture 6</a:t>
            </a:r>
          </a:p>
        </p:txBody>
      </p:sp>
    </p:spTree>
    <p:extLst>
      <p:ext uri="{BB962C8B-B14F-4D97-AF65-F5344CB8AC3E}">
        <p14:creationId xmlns:p14="http://schemas.microsoft.com/office/powerpoint/2010/main" val="2733896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B4077-7660-4848-A448-76BCF8D90D4F}"/>
              </a:ext>
            </a:extLst>
          </p:cNvPr>
          <p:cNvSpPr>
            <a:spLocks noGrp="1"/>
          </p:cNvSpPr>
          <p:nvPr>
            <p:ph type="title"/>
          </p:nvPr>
        </p:nvSpPr>
        <p:spPr>
          <a:xfrm>
            <a:off x="838200" y="2326452"/>
            <a:ext cx="10515600" cy="2205095"/>
          </a:xfrm>
        </p:spPr>
        <p:txBody>
          <a:bodyPr>
            <a:noAutofit/>
          </a:bodyPr>
          <a:lstStyle/>
          <a:p>
            <a:pPr algn="ctr"/>
            <a:r>
              <a:rPr lang="en-IN" sz="5400" dirty="0"/>
              <a:t>Programming on Hadoop</a:t>
            </a:r>
            <a:br>
              <a:rPr lang="en-IN" sz="5400" dirty="0"/>
            </a:br>
            <a:br>
              <a:rPr lang="en-IN" sz="5400" dirty="0"/>
            </a:br>
            <a:r>
              <a:rPr lang="en-IN" sz="5400" dirty="0"/>
              <a:t>Map-reduce Model</a:t>
            </a:r>
          </a:p>
        </p:txBody>
      </p:sp>
      <p:sp>
        <p:nvSpPr>
          <p:cNvPr id="3" name="TextBox 2">
            <a:extLst>
              <a:ext uri="{FF2B5EF4-FFF2-40B4-BE49-F238E27FC236}">
                <a16:creationId xmlns:a16="http://schemas.microsoft.com/office/drawing/2014/main" id="{DF316DF6-0CCE-2D67-AC20-8EACEE3BB764}"/>
              </a:ext>
            </a:extLst>
          </p:cNvPr>
          <p:cNvSpPr txBox="1"/>
          <p:nvPr/>
        </p:nvSpPr>
        <p:spPr>
          <a:xfrm>
            <a:off x="3252247" y="4600280"/>
            <a:ext cx="7418895" cy="923330"/>
          </a:xfrm>
          <a:prstGeom prst="rect">
            <a:avLst/>
          </a:prstGeom>
          <a:noFill/>
        </p:spPr>
        <p:txBody>
          <a:bodyPr wrap="square" rtlCol="0">
            <a:spAutoFit/>
          </a:bodyPr>
          <a:lstStyle/>
          <a:p>
            <a:r>
              <a:rPr lang="en-US" dirty="0"/>
              <a:t>Map-reduce  : Programming model for cluster computing</a:t>
            </a:r>
          </a:p>
          <a:p>
            <a:endParaRPr lang="en-US" dirty="0"/>
          </a:p>
          <a:p>
            <a:r>
              <a:rPr lang="en-US" dirty="0"/>
              <a:t>HDFS : Storage model for Cluster Computing</a:t>
            </a:r>
          </a:p>
        </p:txBody>
      </p:sp>
    </p:spTree>
    <p:extLst>
      <p:ext uri="{BB962C8B-B14F-4D97-AF65-F5344CB8AC3E}">
        <p14:creationId xmlns:p14="http://schemas.microsoft.com/office/powerpoint/2010/main" val="1458339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263736" y="218492"/>
            <a:ext cx="9265920" cy="609600"/>
          </a:xfrm>
        </p:spPr>
        <p:txBody>
          <a:bodyPr>
            <a:noAutofit/>
          </a:bodyPr>
          <a:lstStyle/>
          <a:p>
            <a:r>
              <a:rPr lang="en-US" sz="3200" dirty="0"/>
              <a:t> Example Problem: Counting Words</a:t>
            </a:r>
          </a:p>
        </p:txBody>
      </p:sp>
      <p:sp>
        <p:nvSpPr>
          <p:cNvPr id="99331" name="Rectangle 3"/>
          <p:cNvSpPr>
            <a:spLocks noGrp="1" noChangeArrowheads="1"/>
          </p:cNvSpPr>
          <p:nvPr>
            <p:ph type="body" idx="1"/>
          </p:nvPr>
        </p:nvSpPr>
        <p:spPr>
          <a:xfrm>
            <a:off x="514905" y="1046584"/>
            <a:ext cx="10658815" cy="5486400"/>
          </a:xfrm>
        </p:spPr>
        <p:txBody>
          <a:bodyPr/>
          <a:lstStyle/>
          <a:p>
            <a:endParaRPr lang="en-US" dirty="0"/>
          </a:p>
          <a:p>
            <a:endParaRPr lang="en-US" dirty="0"/>
          </a:p>
          <a:p>
            <a:endParaRPr lang="en-US" dirty="0"/>
          </a:p>
          <a:p>
            <a:endParaRPr lang="en-US" dirty="0"/>
          </a:p>
          <a:p>
            <a:pPr lvl="8"/>
            <a:endParaRPr lang="en-US" dirty="0"/>
          </a:p>
          <a:p>
            <a:r>
              <a:rPr lang="en-US" dirty="0"/>
              <a:t>Sample application</a:t>
            </a:r>
          </a:p>
          <a:p>
            <a:pPr lvl="1"/>
            <a:endParaRPr lang="en-US" dirty="0"/>
          </a:p>
          <a:p>
            <a:pPr lvl="1"/>
            <a:r>
              <a:rPr lang="en-US" b="0" dirty="0"/>
              <a:t>Result ranking, Language model</a:t>
            </a:r>
          </a:p>
          <a:p>
            <a:endParaRPr lang="en-US" dirty="0"/>
          </a:p>
          <a:p>
            <a:pPr marL="0" indent="0">
              <a:buNone/>
            </a:pPr>
            <a:r>
              <a:rPr lang="en-US" sz="3200" dirty="0">
                <a:solidFill>
                  <a:srgbClr val="C00000"/>
                </a:solidFill>
              </a:rPr>
              <a:t>How can you solve this using a single machine?</a:t>
            </a:r>
          </a:p>
        </p:txBody>
      </p:sp>
      <p:sp>
        <p:nvSpPr>
          <p:cNvPr id="3" name="Rectangle 2"/>
          <p:cNvSpPr/>
          <p:nvPr/>
        </p:nvSpPr>
        <p:spPr>
          <a:xfrm>
            <a:off x="631789" y="1219200"/>
            <a:ext cx="9338687" cy="1143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38099"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Arial"/>
                <a:ea typeface="+mn-ea"/>
                <a:cs typeface="+mn-cs"/>
              </a:rPr>
              <a:t>We have a huge collection of text document and count the number of times each distinct word appears in the file</a:t>
            </a:r>
          </a:p>
        </p:txBody>
      </p:sp>
    </p:spTree>
    <p:extLst>
      <p:ext uri="{BB962C8B-B14F-4D97-AF65-F5344CB8AC3E}">
        <p14:creationId xmlns:p14="http://schemas.microsoft.com/office/powerpoint/2010/main" val="3880674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331">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331">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33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170" y="448238"/>
            <a:ext cx="9875520" cy="533401"/>
          </a:xfrm>
        </p:spPr>
        <p:txBody>
          <a:bodyPr>
            <a:noAutofit/>
          </a:bodyPr>
          <a:lstStyle/>
          <a:p>
            <a:r>
              <a:rPr lang="en-US" sz="3200" dirty="0"/>
              <a:t> Word Count</a:t>
            </a:r>
          </a:p>
        </p:txBody>
      </p:sp>
      <p:sp>
        <p:nvSpPr>
          <p:cNvPr id="3" name="Content Placeholder 2"/>
          <p:cNvSpPr>
            <a:spLocks noGrp="1"/>
          </p:cNvSpPr>
          <p:nvPr>
            <p:ph idx="1"/>
          </p:nvPr>
        </p:nvSpPr>
        <p:spPr>
          <a:xfrm>
            <a:off x="674147" y="1600200"/>
            <a:ext cx="10621382" cy="4092388"/>
          </a:xfrm>
        </p:spPr>
        <p:txBody>
          <a:bodyPr/>
          <a:lstStyle/>
          <a:p>
            <a:pPr>
              <a:buFont typeface="Arial" panose="020B0604020202020204" pitchFamily="34" charset="0"/>
              <a:buChar char="•"/>
            </a:pPr>
            <a:r>
              <a:rPr lang="en-US" dirty="0">
                <a:solidFill>
                  <a:schemeClr val="tx1"/>
                </a:solidFill>
              </a:rPr>
              <a:t>Case 1: </a:t>
            </a:r>
          </a:p>
          <a:p>
            <a:pPr>
              <a:buFont typeface="Arial" panose="020B0604020202020204" pitchFamily="34" charset="0"/>
              <a:buChar char="•"/>
            </a:pPr>
            <a:endParaRPr lang="en-US" dirty="0">
              <a:solidFill>
                <a:schemeClr val="tx1"/>
              </a:solidFill>
            </a:endParaRPr>
          </a:p>
          <a:p>
            <a:pPr lvl="1">
              <a:buFont typeface="Arial" panose="020B0604020202020204" pitchFamily="34" charset="0"/>
              <a:buChar char="•"/>
            </a:pPr>
            <a:r>
              <a:rPr lang="en-US" dirty="0">
                <a:solidFill>
                  <a:schemeClr val="tx1"/>
                </a:solidFill>
              </a:rPr>
              <a:t>Files too large for memory, but all &lt;word, count&gt; pairs fit in memory</a:t>
            </a:r>
          </a:p>
          <a:p>
            <a:pPr lvl="1">
              <a:buFont typeface="Arial" panose="020B0604020202020204" pitchFamily="34" charset="0"/>
              <a:buChar char="•"/>
            </a:pPr>
            <a:endParaRPr lang="en-US" dirty="0">
              <a:solidFill>
                <a:schemeClr val="tx1"/>
              </a:solidFill>
            </a:endParaRPr>
          </a:p>
          <a:p>
            <a:pPr lvl="1">
              <a:buFont typeface="Arial" panose="020B0604020202020204" pitchFamily="34" charset="0"/>
              <a:buChar char="•"/>
            </a:pPr>
            <a:endParaRPr lang="en-US" dirty="0">
              <a:solidFill>
                <a:schemeClr val="tx1"/>
              </a:solidFill>
            </a:endParaRPr>
          </a:p>
          <a:p>
            <a:pPr lvl="1">
              <a:buFont typeface="Arial" panose="020B0604020202020204" pitchFamily="34" charset="0"/>
              <a:buChar char="•"/>
            </a:pPr>
            <a:r>
              <a:rPr lang="en-US" dirty="0">
                <a:solidFill>
                  <a:schemeClr val="tx1"/>
                </a:solidFill>
              </a:rPr>
              <a:t>You can create a big string array OR you can create  a hash table</a:t>
            </a:r>
          </a:p>
          <a:p>
            <a:pPr lvl="6"/>
            <a:endParaRPr lang="en-US" sz="2400" dirty="0"/>
          </a:p>
          <a:p>
            <a:endParaRPr lang="en-US" dirty="0">
              <a:solidFill>
                <a:schemeClr val="tx1"/>
              </a:solidFill>
            </a:endParaRPr>
          </a:p>
        </p:txBody>
      </p:sp>
    </p:spTree>
    <p:extLst>
      <p:ext uri="{BB962C8B-B14F-4D97-AF65-F5344CB8AC3E}">
        <p14:creationId xmlns:p14="http://schemas.microsoft.com/office/powerpoint/2010/main" val="57550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170" y="221567"/>
            <a:ext cx="9875520" cy="513539"/>
          </a:xfrm>
        </p:spPr>
        <p:txBody>
          <a:bodyPr>
            <a:noAutofit/>
          </a:bodyPr>
          <a:lstStyle/>
          <a:p>
            <a:r>
              <a:rPr lang="en-US" sz="3200" b="1" dirty="0"/>
              <a:t> Word Count</a:t>
            </a:r>
          </a:p>
        </p:txBody>
      </p:sp>
      <p:sp>
        <p:nvSpPr>
          <p:cNvPr id="3" name="Content Placeholder 2"/>
          <p:cNvSpPr>
            <a:spLocks noGrp="1"/>
          </p:cNvSpPr>
          <p:nvPr>
            <p:ph idx="1"/>
          </p:nvPr>
        </p:nvSpPr>
        <p:spPr>
          <a:xfrm>
            <a:off x="582706" y="921433"/>
            <a:ext cx="10874188" cy="5715000"/>
          </a:xfrm>
        </p:spPr>
        <p:txBody>
          <a:bodyPr>
            <a:normAutofit/>
          </a:bodyPr>
          <a:lstStyle/>
          <a:p>
            <a:pPr>
              <a:buFont typeface="Arial" panose="020B0604020202020204" pitchFamily="34" charset="0"/>
              <a:buChar char="•"/>
            </a:pPr>
            <a:r>
              <a:rPr lang="en-US" dirty="0">
                <a:solidFill>
                  <a:schemeClr val="tx1"/>
                </a:solidFill>
              </a:rPr>
              <a:t>Case 2:  </a:t>
            </a:r>
            <a:r>
              <a:rPr lang="en-US" sz="2200" dirty="0">
                <a:solidFill>
                  <a:schemeClr val="tx1"/>
                </a:solidFill>
              </a:rPr>
              <a:t>All &lt;word, count&gt; pairs do not fit in memory, but fit into disk</a:t>
            </a:r>
          </a:p>
          <a:p>
            <a:pPr>
              <a:buFont typeface="Arial" panose="020B0604020202020204" pitchFamily="34" charset="0"/>
              <a:buChar char="•"/>
            </a:pPr>
            <a:endParaRPr lang="en-US" dirty="0">
              <a:solidFill>
                <a:schemeClr val="tx1"/>
              </a:solidFill>
            </a:endParaRPr>
          </a:p>
          <a:p>
            <a:pPr lvl="1">
              <a:buFont typeface="Arial" panose="020B0604020202020204" pitchFamily="34" charset="0"/>
              <a:buChar char="•"/>
            </a:pPr>
            <a:r>
              <a:rPr lang="en-US" dirty="0">
                <a:solidFill>
                  <a:schemeClr val="tx1"/>
                </a:solidFill>
              </a:rPr>
              <a:t>A possible approach (write computer programs/functions for each step)</a:t>
            </a:r>
          </a:p>
          <a:p>
            <a:pPr lvl="6">
              <a:buFont typeface="Arial" panose="020B0604020202020204" pitchFamily="34" charset="0"/>
              <a:buChar char="•"/>
            </a:pPr>
            <a:endParaRPr lang="en-US" dirty="0"/>
          </a:p>
          <a:p>
            <a:pPr marL="1701852" lvl="7" indent="-457189">
              <a:buFont typeface="+mj-lt"/>
              <a:buAutoNum type="arabicPeriod"/>
            </a:pPr>
            <a:r>
              <a:rPr lang="en-US" dirty="0"/>
              <a:t>Break the text document into sequence of words</a:t>
            </a:r>
          </a:p>
          <a:p>
            <a:pPr marL="1701852" lvl="7" indent="-457189">
              <a:buFont typeface="+mj-lt"/>
              <a:buAutoNum type="arabicPeriod"/>
            </a:pPr>
            <a:endParaRPr lang="en-US" dirty="0"/>
          </a:p>
          <a:p>
            <a:pPr marL="1701852" lvl="7" indent="-457189">
              <a:buFont typeface="+mj-lt"/>
              <a:buAutoNum type="arabicPeriod"/>
            </a:pPr>
            <a:endParaRPr lang="en-US" dirty="0"/>
          </a:p>
          <a:p>
            <a:pPr marL="1701852" lvl="7" indent="-457189">
              <a:buFont typeface="+mj-lt"/>
              <a:buAutoNum type="arabicPeriod"/>
            </a:pPr>
            <a:r>
              <a:rPr lang="en-US" dirty="0"/>
              <a:t>Sort the words</a:t>
            </a:r>
          </a:p>
          <a:p>
            <a:pPr marL="1485863" lvl="3" indent="0">
              <a:buNone/>
            </a:pPr>
            <a:r>
              <a:rPr lang="en-US" sz="2000" dirty="0"/>
              <a:t>   (</a:t>
            </a:r>
            <a:r>
              <a:rPr lang="en-US" sz="2000" b="1" dirty="0"/>
              <a:t>this will bring the same words together</a:t>
            </a:r>
            <a:r>
              <a:rPr lang="en-US" sz="2000" dirty="0"/>
              <a:t>)</a:t>
            </a:r>
          </a:p>
          <a:p>
            <a:pPr marL="1485863" lvl="3" indent="0">
              <a:buNone/>
            </a:pPr>
            <a:endParaRPr lang="en-US" sz="2000" dirty="0"/>
          </a:p>
          <a:p>
            <a:pPr marL="1244664" lvl="7" indent="0">
              <a:buNone/>
            </a:pPr>
            <a:r>
              <a:rPr lang="en-US" dirty="0"/>
              <a:t>3.   Count the frequencies in a single pass</a:t>
            </a:r>
          </a:p>
          <a:p>
            <a:pPr indent="-457189"/>
            <a:endParaRPr lang="en-US" b="1" dirty="0">
              <a:solidFill>
                <a:schemeClr val="tx1"/>
              </a:solidFill>
            </a:endParaRPr>
          </a:p>
          <a:p>
            <a:pPr>
              <a:buFont typeface="Arial" panose="020B0604020202020204" pitchFamily="34" charset="0"/>
              <a:buChar char="•"/>
            </a:pPr>
            <a:endParaRPr lang="en-US" dirty="0">
              <a:solidFill>
                <a:schemeClr val="tx1"/>
              </a:solidFill>
            </a:endParaRPr>
          </a:p>
          <a:p>
            <a:pPr marL="0" indent="0">
              <a:buNone/>
            </a:pPr>
            <a:r>
              <a:rPr lang="en-US" dirty="0">
                <a:solidFill>
                  <a:schemeClr val="tx1"/>
                </a:solidFill>
              </a:rPr>
              <a:t> </a:t>
            </a:r>
            <a:r>
              <a:rPr lang="en-US" dirty="0">
                <a:solidFill>
                  <a:srgbClr val="FF0000"/>
                </a:solidFill>
              </a:rPr>
              <a:t>This captures the essence of Map-Reduce model</a:t>
            </a:r>
          </a:p>
          <a:p>
            <a:endParaRPr lang="en-US" dirty="0">
              <a:solidFill>
                <a:schemeClr val="tx1"/>
              </a:solidFill>
            </a:endParaRPr>
          </a:p>
        </p:txBody>
      </p:sp>
      <p:sp>
        <p:nvSpPr>
          <p:cNvPr id="4" name="Rectangle 3"/>
          <p:cNvSpPr/>
          <p:nvPr/>
        </p:nvSpPr>
        <p:spPr>
          <a:xfrm>
            <a:off x="8839200" y="2788333"/>
            <a:ext cx="2057400" cy="457200"/>
          </a:xfrm>
          <a:prstGeom prst="rect">
            <a:avLst/>
          </a:prstGeom>
          <a:solidFill>
            <a:srgbClr val="00B050"/>
          </a:solidFill>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00000"/>
                </a:solidFill>
                <a:effectLst/>
                <a:uLnTx/>
                <a:uFillTx/>
                <a:latin typeface="Arial"/>
                <a:ea typeface="+mn-ea"/>
                <a:cs typeface="+mn-cs"/>
              </a:rPr>
              <a:t>getWords</a:t>
            </a:r>
            <a:r>
              <a:rPr kumimoji="0" lang="en-US" sz="1400" b="0" i="0" u="none" strike="noStrike" kern="1200" cap="none" spc="0" normalizeH="0" baseline="0" noProof="0" dirty="0">
                <a:ln>
                  <a:noFill/>
                </a:ln>
                <a:solidFill>
                  <a:srgbClr val="000000"/>
                </a:solidFill>
                <a:effectLst/>
                <a:uLnTx/>
                <a:uFillTx/>
                <a:latin typeface="Arial"/>
                <a:ea typeface="+mn-ea"/>
                <a:cs typeface="+mn-cs"/>
              </a:rPr>
              <a:t>(</a:t>
            </a:r>
            <a:r>
              <a:rPr kumimoji="0" lang="en-US" sz="1400" b="0" i="0" u="none" strike="noStrike" kern="1200" cap="none" spc="0" normalizeH="0" baseline="0" noProof="0" dirty="0" err="1">
                <a:ln>
                  <a:noFill/>
                </a:ln>
                <a:solidFill>
                  <a:srgbClr val="000000"/>
                </a:solidFill>
                <a:effectLst/>
                <a:uLnTx/>
                <a:uFillTx/>
                <a:latin typeface="Arial"/>
                <a:ea typeface="+mn-ea"/>
                <a:cs typeface="+mn-cs"/>
              </a:rPr>
              <a:t>textFile</a:t>
            </a:r>
            <a:r>
              <a:rPr kumimoji="0" lang="en-US" sz="1400" b="0" i="0" u="none" strike="noStrike" kern="1200" cap="none" spc="0" normalizeH="0" baseline="0" noProof="0" dirty="0">
                <a:ln>
                  <a:noFill/>
                </a:ln>
                <a:solidFill>
                  <a:srgbClr val="000000"/>
                </a:solidFill>
                <a:effectLst/>
                <a:uLnTx/>
                <a:uFillTx/>
                <a:latin typeface="Arial"/>
                <a:ea typeface="+mn-ea"/>
                <a:cs typeface="+mn-cs"/>
              </a:rPr>
              <a:t>)</a:t>
            </a:r>
          </a:p>
        </p:txBody>
      </p:sp>
      <p:sp>
        <p:nvSpPr>
          <p:cNvPr id="5" name="Rectangle 4"/>
          <p:cNvSpPr/>
          <p:nvPr/>
        </p:nvSpPr>
        <p:spPr>
          <a:xfrm>
            <a:off x="8950960" y="3778933"/>
            <a:ext cx="1869440" cy="304800"/>
          </a:xfrm>
          <a:prstGeom prst="rect">
            <a:avLst/>
          </a:prstGeom>
          <a:solidFill>
            <a:srgbClr val="00B050"/>
          </a:solidFill>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00000"/>
                </a:solidFill>
                <a:effectLst/>
                <a:uLnTx/>
                <a:uFillTx/>
                <a:latin typeface="Arial"/>
                <a:ea typeface="+mn-ea"/>
                <a:cs typeface="+mn-cs"/>
              </a:rPr>
              <a:t>sortWords</a:t>
            </a:r>
            <a:r>
              <a:rPr kumimoji="0" lang="en-US" sz="1400" b="0" i="0" u="none" strike="noStrike" kern="1200" cap="none" spc="0" normalizeH="0" baseline="0" noProof="0" dirty="0">
                <a:ln>
                  <a:noFill/>
                </a:ln>
                <a:solidFill>
                  <a:srgbClr val="000000"/>
                </a:solidFill>
                <a:effectLst/>
                <a:uLnTx/>
                <a:uFillTx/>
                <a:latin typeface="Arial"/>
                <a:ea typeface="+mn-ea"/>
                <a:cs typeface="+mn-cs"/>
              </a:rPr>
              <a:t>(list)</a:t>
            </a:r>
          </a:p>
        </p:txBody>
      </p:sp>
      <p:sp>
        <p:nvSpPr>
          <p:cNvPr id="7" name="Rectangle 6"/>
          <p:cNvSpPr/>
          <p:nvPr/>
        </p:nvSpPr>
        <p:spPr>
          <a:xfrm>
            <a:off x="8950960" y="4617133"/>
            <a:ext cx="2057400" cy="304800"/>
          </a:xfrm>
          <a:prstGeom prst="rect">
            <a:avLst/>
          </a:prstGeom>
          <a:solidFill>
            <a:srgbClr val="00B050"/>
          </a:solidFill>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00000"/>
                </a:solidFill>
                <a:effectLst/>
                <a:uLnTx/>
                <a:uFillTx/>
                <a:latin typeface="Arial"/>
                <a:ea typeface="+mn-ea"/>
                <a:cs typeface="+mn-cs"/>
              </a:rPr>
              <a:t>countWords</a:t>
            </a:r>
            <a:r>
              <a:rPr kumimoji="0" lang="en-US" sz="1400" b="0" i="0" u="none" strike="noStrike" kern="1200" cap="none" spc="0" normalizeH="0" baseline="0" noProof="0" dirty="0">
                <a:ln>
                  <a:noFill/>
                </a:ln>
                <a:solidFill>
                  <a:srgbClr val="000000"/>
                </a:solidFill>
                <a:effectLst/>
                <a:uLnTx/>
                <a:uFillTx/>
                <a:latin typeface="Arial"/>
                <a:ea typeface="+mn-ea"/>
                <a:cs typeface="+mn-cs"/>
              </a:rPr>
              <a:t>(sorted list)</a:t>
            </a:r>
          </a:p>
        </p:txBody>
      </p:sp>
      <p:sp>
        <p:nvSpPr>
          <p:cNvPr id="8" name="Down Arrow 7"/>
          <p:cNvSpPr/>
          <p:nvPr/>
        </p:nvSpPr>
        <p:spPr>
          <a:xfrm>
            <a:off x="9735275" y="3245533"/>
            <a:ext cx="243840"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9" name="Down Arrow 8"/>
          <p:cNvSpPr/>
          <p:nvPr/>
        </p:nvSpPr>
        <p:spPr>
          <a:xfrm>
            <a:off x="9763760" y="4103674"/>
            <a:ext cx="243840" cy="5134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4281608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88874DED-071E-4306-9CDF-6264B64A0930}"/>
              </a:ext>
            </a:extLst>
          </p:cNvPr>
          <p:cNvSpPr/>
          <p:nvPr/>
        </p:nvSpPr>
        <p:spPr>
          <a:xfrm>
            <a:off x="8390965" y="1729070"/>
            <a:ext cx="1048870" cy="275278"/>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sp>
        <p:nvSpPr>
          <p:cNvPr id="10" name="Rectangle: Rounded Corners 9">
            <a:extLst>
              <a:ext uri="{FF2B5EF4-FFF2-40B4-BE49-F238E27FC236}">
                <a16:creationId xmlns:a16="http://schemas.microsoft.com/office/drawing/2014/main" id="{982011C5-E891-49E5-82B1-1C1781EE8954}"/>
              </a:ext>
            </a:extLst>
          </p:cNvPr>
          <p:cNvSpPr/>
          <p:nvPr/>
        </p:nvSpPr>
        <p:spPr>
          <a:xfrm>
            <a:off x="5477435" y="1658696"/>
            <a:ext cx="874279" cy="433965"/>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sp>
        <p:nvSpPr>
          <p:cNvPr id="8" name="Rectangle: Rounded Corners 7">
            <a:extLst>
              <a:ext uri="{FF2B5EF4-FFF2-40B4-BE49-F238E27FC236}">
                <a16:creationId xmlns:a16="http://schemas.microsoft.com/office/drawing/2014/main" id="{2D723AC0-0564-40D7-AC62-DFC91D392A70}"/>
              </a:ext>
            </a:extLst>
          </p:cNvPr>
          <p:cNvSpPr/>
          <p:nvPr/>
        </p:nvSpPr>
        <p:spPr>
          <a:xfrm>
            <a:off x="1019169" y="1658696"/>
            <a:ext cx="3454217" cy="433965"/>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sp>
        <p:nvSpPr>
          <p:cNvPr id="2" name="Title 1"/>
          <p:cNvSpPr>
            <a:spLocks noGrp="1"/>
          </p:cNvSpPr>
          <p:nvPr>
            <p:ph type="title"/>
          </p:nvPr>
        </p:nvSpPr>
        <p:spPr>
          <a:xfrm>
            <a:off x="336758" y="180693"/>
            <a:ext cx="9875520" cy="541215"/>
          </a:xfrm>
        </p:spPr>
        <p:txBody>
          <a:bodyPr/>
          <a:lstStyle/>
          <a:p>
            <a:r>
              <a:rPr lang="en-US" sz="3200" dirty="0"/>
              <a:t>Map-Reduce: In a Nutshell</a:t>
            </a:r>
          </a:p>
        </p:txBody>
      </p:sp>
      <p:sp>
        <p:nvSpPr>
          <p:cNvPr id="4" name="Content Placeholder 3"/>
          <p:cNvSpPr txBox="1">
            <a:spLocks noGrp="1"/>
          </p:cNvSpPr>
          <p:nvPr>
            <p:ph idx="1"/>
          </p:nvPr>
        </p:nvSpPr>
        <p:spPr>
          <a:xfrm>
            <a:off x="542500" y="1658696"/>
            <a:ext cx="9464037" cy="433965"/>
          </a:xfrm>
          <a:prstGeom prst="rect">
            <a:avLst/>
          </a:prstGeom>
          <a:noFill/>
        </p:spPr>
        <p:txBody>
          <a:bodyPr wrap="square" rtlCol="0">
            <a:spAutoFit/>
          </a:bodyPr>
          <a:lstStyle/>
          <a:p>
            <a:pPr marL="533387" lvl="1" indent="0">
              <a:buNone/>
            </a:pPr>
            <a:r>
              <a:rPr lang="en-US" b="1" dirty="0" err="1">
                <a:solidFill>
                  <a:schemeClr val="tx1"/>
                </a:solidFill>
                <a:latin typeface="Courier New" pitchFamily="49" charset="0"/>
              </a:rPr>
              <a:t>getWords</a:t>
            </a:r>
            <a:r>
              <a:rPr lang="en-US" b="1" dirty="0">
                <a:solidFill>
                  <a:schemeClr val="tx1"/>
                </a:solidFill>
                <a:latin typeface="Courier New" pitchFamily="49" charset="0"/>
              </a:rPr>
              <a:t>(</a:t>
            </a:r>
            <a:r>
              <a:rPr lang="en-US" b="1" dirty="0" err="1">
                <a:solidFill>
                  <a:schemeClr val="tx1"/>
                </a:solidFill>
                <a:latin typeface="Courier New" pitchFamily="49" charset="0"/>
              </a:rPr>
              <a:t>dataFile</a:t>
            </a:r>
            <a:r>
              <a:rPr lang="en-US" b="1" dirty="0">
                <a:solidFill>
                  <a:schemeClr val="tx1"/>
                </a:solidFill>
                <a:latin typeface="Courier New" pitchFamily="49" charset="0"/>
              </a:rPr>
              <a:t>)      sort            count</a:t>
            </a:r>
          </a:p>
        </p:txBody>
      </p:sp>
      <p:sp>
        <p:nvSpPr>
          <p:cNvPr id="5" name="Rectangle 4"/>
          <p:cNvSpPr/>
          <p:nvPr/>
        </p:nvSpPr>
        <p:spPr>
          <a:xfrm>
            <a:off x="1219200" y="2919641"/>
            <a:ext cx="3901440" cy="9906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a:ea typeface="+mn-ea"/>
                <a:cs typeface="+mn-cs"/>
              </a:rPr>
              <a:t>Map</a:t>
            </a:r>
          </a:p>
          <a:p>
            <a:pPr marL="0" marR="0" lvl="1"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extract something you care about (here word and count)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Rectangle 5"/>
          <p:cNvSpPr/>
          <p:nvPr/>
        </p:nvSpPr>
        <p:spPr>
          <a:xfrm>
            <a:off x="5306433" y="2915204"/>
            <a:ext cx="2438400" cy="9144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a:ea typeface="+mn-ea"/>
                <a:cs typeface="+mn-cs"/>
              </a:rPr>
              <a:t>Group by key</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   (sort and shuffle)</a:t>
            </a:r>
          </a:p>
        </p:txBody>
      </p:sp>
      <p:sp>
        <p:nvSpPr>
          <p:cNvPr id="7" name="Rectangle 6"/>
          <p:cNvSpPr/>
          <p:nvPr/>
        </p:nvSpPr>
        <p:spPr>
          <a:xfrm>
            <a:off x="8298511" y="2955276"/>
            <a:ext cx="3088640" cy="9144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a:ea typeface="+mn-ea"/>
                <a:cs typeface="+mn-cs"/>
              </a:rPr>
              <a:t>Reduce</a:t>
            </a:r>
          </a:p>
          <a:p>
            <a:pPr marL="0" marR="0" lvl="1"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rial"/>
                <a:ea typeface="+mn-ea"/>
                <a:cs typeface="+mn-cs"/>
              </a:rPr>
              <a:t>   </a:t>
            </a:r>
            <a:r>
              <a:rPr kumimoji="0" lang="en-US" sz="1400" b="0" i="0" u="none" strike="noStrike" kern="1200" cap="none" spc="0" normalizeH="0" baseline="0" noProof="0" dirty="0">
                <a:ln>
                  <a:noFill/>
                </a:ln>
                <a:solidFill>
                  <a:prstClr val="black"/>
                </a:solidFill>
                <a:effectLst/>
                <a:uLnTx/>
                <a:uFillTx/>
                <a:latin typeface="Arial"/>
                <a:ea typeface="+mn-ea"/>
                <a:cs typeface="+mn-cs"/>
              </a:rPr>
              <a:t>Aggregate, summarize</a:t>
            </a:r>
          </a:p>
        </p:txBody>
      </p:sp>
      <p:cxnSp>
        <p:nvCxnSpPr>
          <p:cNvPr id="9" name="Straight Arrow Connector 8"/>
          <p:cNvCxnSpPr/>
          <p:nvPr/>
        </p:nvCxnSpPr>
        <p:spPr>
          <a:xfrm>
            <a:off x="3088640" y="2158351"/>
            <a:ext cx="0" cy="891515"/>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3" name="Straight Arrow Connector 12"/>
          <p:cNvCxnSpPr/>
          <p:nvPr/>
        </p:nvCxnSpPr>
        <p:spPr>
          <a:xfrm>
            <a:off x="8904660" y="2130242"/>
            <a:ext cx="0" cy="9196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5" name="Straight Arrow Connector 14"/>
          <p:cNvCxnSpPr/>
          <p:nvPr/>
        </p:nvCxnSpPr>
        <p:spPr>
          <a:xfrm>
            <a:off x="5999989" y="2200369"/>
            <a:ext cx="0" cy="677255"/>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6" name="TextBox 15"/>
          <p:cNvSpPr txBox="1"/>
          <p:nvPr/>
        </p:nvSpPr>
        <p:spPr>
          <a:xfrm>
            <a:off x="1019169" y="4648201"/>
            <a:ext cx="7860165" cy="1631216"/>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49E39"/>
                </a:solidFill>
                <a:effectLst/>
                <a:uLnTx/>
                <a:uFillTx/>
                <a:latin typeface="Arial"/>
                <a:ea typeface="+mn-ea"/>
                <a:cs typeface="+mn-cs"/>
              </a:rPr>
              <a:t>Summary</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549E39"/>
              </a:solidFill>
              <a:effectLst/>
              <a:uLnTx/>
              <a:uFillTx/>
              <a:latin typeface="Arial"/>
              <a:ea typeface="+mn-ea"/>
              <a:cs typeface="+mn-cs"/>
            </a:endParaRPr>
          </a:p>
          <a:p>
            <a:pPr marL="792680" marR="0" lvl="1" indent="-457189"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549E39"/>
                </a:solidFill>
                <a:effectLst/>
                <a:uLnTx/>
                <a:uFillTx/>
                <a:latin typeface="Arial"/>
                <a:ea typeface="+mn-ea"/>
                <a:cs typeface="+mn-cs"/>
              </a:rPr>
              <a:t>Structure remains the same</a:t>
            </a:r>
          </a:p>
          <a:p>
            <a:pPr marL="792680" marR="0" lvl="1" indent="-457189" algn="just" defTabSz="914400" rtl="0" eaLnBrk="1" fontAlgn="auto" latinLnBrk="0" hangingPunct="1">
              <a:lnSpc>
                <a:spcPct val="100000"/>
              </a:lnSpc>
              <a:spcBef>
                <a:spcPts val="0"/>
              </a:spcBef>
              <a:spcAft>
                <a:spcPts val="0"/>
              </a:spcAft>
              <a:buClrTx/>
              <a:buSzTx/>
              <a:buFont typeface="+mj-lt"/>
              <a:buAutoNum type="arabicPeriod"/>
              <a:tabLst/>
              <a:defRPr/>
            </a:pPr>
            <a:endParaRPr kumimoji="0" lang="en-US" sz="2000" b="0" i="0" u="none" strike="noStrike" kern="1200" cap="none" spc="0" normalizeH="0" baseline="0" noProof="0" dirty="0">
              <a:ln>
                <a:noFill/>
              </a:ln>
              <a:solidFill>
                <a:srgbClr val="549E39"/>
              </a:solidFill>
              <a:effectLst/>
              <a:uLnTx/>
              <a:uFillTx/>
              <a:latin typeface="Arial"/>
              <a:ea typeface="+mn-ea"/>
              <a:cs typeface="+mn-cs"/>
            </a:endParaRPr>
          </a:p>
          <a:p>
            <a:pPr marL="792680" marR="0" lvl="1" indent="-457189"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1" i="0" u="none" strike="noStrike" kern="1200" cap="none" spc="0" normalizeH="0" baseline="0" noProof="0" dirty="0">
                <a:ln>
                  <a:noFill/>
                </a:ln>
                <a:solidFill>
                  <a:srgbClr val="0070C0"/>
                </a:solidFill>
                <a:effectLst/>
                <a:uLnTx/>
                <a:uFillTx/>
                <a:latin typeface="Arial"/>
                <a:ea typeface="+mn-ea"/>
                <a:cs typeface="+mn-cs"/>
              </a:rPr>
              <a:t>Map</a:t>
            </a:r>
            <a:r>
              <a:rPr kumimoji="0" lang="en-US" sz="2000" b="1" i="0" u="none" strike="noStrike" kern="1200" cap="none" spc="0" normalizeH="0" baseline="0" noProof="0" dirty="0">
                <a:ln>
                  <a:noFill/>
                </a:ln>
                <a:solidFill>
                  <a:srgbClr val="549E39"/>
                </a:solidFill>
                <a:effectLst/>
                <a:uLnTx/>
                <a:uFillTx/>
                <a:latin typeface="Arial"/>
                <a:ea typeface="+mn-ea"/>
                <a:cs typeface="+mn-cs"/>
              </a:rPr>
              <a:t> </a:t>
            </a:r>
            <a:r>
              <a:rPr kumimoji="0" lang="en-US" sz="2000" b="0" i="0" u="none" strike="noStrike" kern="1200" cap="none" spc="0" normalizeH="0" baseline="0" noProof="0" dirty="0">
                <a:ln>
                  <a:noFill/>
                </a:ln>
                <a:solidFill>
                  <a:srgbClr val="549E39"/>
                </a:solidFill>
                <a:effectLst/>
                <a:uLnTx/>
                <a:uFillTx/>
                <a:latin typeface="Arial"/>
                <a:ea typeface="+mn-ea"/>
                <a:cs typeface="+mn-cs"/>
              </a:rPr>
              <a:t>and </a:t>
            </a:r>
            <a:r>
              <a:rPr kumimoji="0" lang="en-US" sz="2000" b="1" i="0" u="none" strike="noStrike" kern="1200" cap="none" spc="0" normalizeH="0" baseline="0" noProof="0" dirty="0">
                <a:ln>
                  <a:noFill/>
                </a:ln>
                <a:solidFill>
                  <a:srgbClr val="0070C0"/>
                </a:solidFill>
                <a:effectLst/>
                <a:uLnTx/>
                <a:uFillTx/>
                <a:latin typeface="Arial"/>
                <a:ea typeface="+mn-ea"/>
                <a:cs typeface="+mn-cs"/>
              </a:rPr>
              <a:t>Reduce</a:t>
            </a:r>
            <a:r>
              <a:rPr kumimoji="0" lang="en-US" sz="2000" b="1" i="0" u="none" strike="noStrike" kern="1200" cap="none" spc="0" normalizeH="0" baseline="0" noProof="0" dirty="0">
                <a:ln>
                  <a:noFill/>
                </a:ln>
                <a:solidFill>
                  <a:srgbClr val="549E39"/>
                </a:solidFill>
                <a:effectLst/>
                <a:uLnTx/>
                <a:uFillTx/>
                <a:latin typeface="Arial"/>
                <a:ea typeface="+mn-ea"/>
                <a:cs typeface="+mn-cs"/>
              </a:rPr>
              <a:t> </a:t>
            </a:r>
            <a:r>
              <a:rPr kumimoji="0" lang="en-US" sz="2000" b="0" i="0" u="none" strike="noStrike" kern="1200" cap="none" spc="0" normalizeH="0" baseline="0" noProof="0" dirty="0">
                <a:ln>
                  <a:noFill/>
                </a:ln>
                <a:solidFill>
                  <a:srgbClr val="549E39"/>
                </a:solidFill>
                <a:effectLst/>
                <a:uLnTx/>
                <a:uFillTx/>
                <a:latin typeface="Arial"/>
                <a:ea typeface="+mn-ea"/>
                <a:cs typeface="+mn-cs"/>
              </a:rPr>
              <a:t>to be defined by the user to fit the problem</a:t>
            </a:r>
          </a:p>
        </p:txBody>
      </p:sp>
      <p:sp>
        <p:nvSpPr>
          <p:cNvPr id="3" name="Right Arrow 2"/>
          <p:cNvSpPr/>
          <p:nvPr/>
        </p:nvSpPr>
        <p:spPr>
          <a:xfrm>
            <a:off x="4786838" y="1729070"/>
            <a:ext cx="487680" cy="242316"/>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rial"/>
              <a:ea typeface="+mn-ea"/>
              <a:cs typeface="+mn-cs"/>
            </a:endParaRPr>
          </a:p>
        </p:txBody>
      </p:sp>
      <p:sp>
        <p:nvSpPr>
          <p:cNvPr id="12" name="Right Arrow 11"/>
          <p:cNvSpPr/>
          <p:nvPr/>
        </p:nvSpPr>
        <p:spPr>
          <a:xfrm>
            <a:off x="7152847" y="1762032"/>
            <a:ext cx="487680" cy="242316"/>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  </a:t>
            </a:r>
          </a:p>
        </p:txBody>
      </p:sp>
    </p:spTree>
    <p:extLst>
      <p:ext uri="{BB962C8B-B14F-4D97-AF65-F5344CB8AC3E}">
        <p14:creationId xmlns:p14="http://schemas.microsoft.com/office/powerpoint/2010/main" val="243328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426720" y="234662"/>
            <a:ext cx="9875520" cy="541215"/>
          </a:xfrm>
        </p:spPr>
        <p:txBody>
          <a:bodyPr/>
          <a:lstStyle/>
          <a:p>
            <a:r>
              <a:rPr lang="en-US" sz="3200" dirty="0">
                <a:solidFill>
                  <a:srgbClr val="C00000"/>
                </a:solidFill>
              </a:rPr>
              <a:t>Map-Reduce: </a:t>
            </a:r>
            <a:r>
              <a:rPr lang="en-US" sz="3200" dirty="0">
                <a:solidFill>
                  <a:srgbClr val="00B050"/>
                </a:solidFill>
              </a:rPr>
              <a:t>Map</a:t>
            </a:r>
            <a:r>
              <a:rPr lang="en-US" sz="3200" dirty="0">
                <a:solidFill>
                  <a:srgbClr val="C00000"/>
                </a:solidFill>
              </a:rPr>
              <a:t> Step</a:t>
            </a:r>
          </a:p>
        </p:txBody>
      </p:sp>
      <p:grpSp>
        <p:nvGrpSpPr>
          <p:cNvPr id="108565" name="Group 21"/>
          <p:cNvGrpSpPr>
            <a:grpSpLocks/>
          </p:cNvGrpSpPr>
          <p:nvPr/>
        </p:nvGrpSpPr>
        <p:grpSpPr bwMode="auto">
          <a:xfrm>
            <a:off x="2032000" y="3810000"/>
            <a:ext cx="1300480" cy="381000"/>
            <a:chOff x="240" y="2016"/>
            <a:chExt cx="768" cy="240"/>
          </a:xfrm>
        </p:grpSpPr>
        <p:sp>
          <p:nvSpPr>
            <p:cNvPr id="108548" name="Rectangle 4"/>
            <p:cNvSpPr>
              <a:spLocks noChangeArrowheads="1"/>
            </p:cNvSpPr>
            <p:nvPr/>
          </p:nvSpPr>
          <p:spPr bwMode="auto">
            <a:xfrm>
              <a:off x="576" y="2016"/>
              <a:ext cx="432" cy="24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c2</a:t>
              </a:r>
            </a:p>
          </p:txBody>
        </p:sp>
        <p:sp>
          <p:nvSpPr>
            <p:cNvPr id="108549" name="AutoShape 5"/>
            <p:cNvSpPr>
              <a:spLocks noChangeArrowheads="1"/>
            </p:cNvSpPr>
            <p:nvPr/>
          </p:nvSpPr>
          <p:spPr bwMode="auto">
            <a:xfrm>
              <a:off x="240" y="2016"/>
              <a:ext cx="288" cy="240"/>
            </a:xfrm>
            <a:prstGeom prst="triangle">
              <a:avLst>
                <a:gd name="adj" fmla="val 50000"/>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f2</a:t>
              </a:r>
            </a:p>
          </p:txBody>
        </p:sp>
      </p:grpSp>
      <p:grpSp>
        <p:nvGrpSpPr>
          <p:cNvPr id="108580" name="Group 36"/>
          <p:cNvGrpSpPr>
            <a:grpSpLocks/>
          </p:cNvGrpSpPr>
          <p:nvPr/>
        </p:nvGrpSpPr>
        <p:grpSpPr bwMode="auto">
          <a:xfrm>
            <a:off x="4632960" y="2514600"/>
            <a:ext cx="1788160" cy="1219200"/>
            <a:chOff x="1776" y="1152"/>
            <a:chExt cx="1056" cy="768"/>
          </a:xfrm>
        </p:grpSpPr>
        <p:grpSp>
          <p:nvGrpSpPr>
            <p:cNvPr id="108554" name="Group 10"/>
            <p:cNvGrpSpPr>
              <a:grpSpLocks/>
            </p:cNvGrpSpPr>
            <p:nvPr/>
          </p:nvGrpSpPr>
          <p:grpSpPr bwMode="auto">
            <a:xfrm>
              <a:off x="1776" y="1152"/>
              <a:ext cx="1056" cy="336"/>
              <a:chOff x="2256" y="1344"/>
              <a:chExt cx="1056" cy="336"/>
            </a:xfrm>
          </p:grpSpPr>
          <p:sp>
            <p:nvSpPr>
              <p:cNvPr id="108552" name="AutoShape 8"/>
              <p:cNvSpPr>
                <a:spLocks noChangeArrowheads="1"/>
              </p:cNvSpPr>
              <p:nvPr/>
            </p:nvSpPr>
            <p:spPr bwMode="auto">
              <a:xfrm>
                <a:off x="2256" y="1344"/>
                <a:ext cx="432" cy="336"/>
              </a:xfrm>
              <a:prstGeom prst="diamond">
                <a:avLst/>
              </a:prstGeom>
              <a:solidFill>
                <a:srgbClr val="99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k1</a:t>
                </a:r>
              </a:p>
            </p:txBody>
          </p:sp>
          <p:sp>
            <p:nvSpPr>
              <p:cNvPr id="108553" name="AutoShape 9"/>
              <p:cNvSpPr>
                <a:spLocks noChangeArrowheads="1"/>
              </p:cNvSpPr>
              <p:nvPr/>
            </p:nvSpPr>
            <p:spPr bwMode="auto">
              <a:xfrm>
                <a:off x="2688" y="1344"/>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v1</a:t>
                </a:r>
              </a:p>
            </p:txBody>
          </p:sp>
        </p:grpSp>
        <p:grpSp>
          <p:nvGrpSpPr>
            <p:cNvPr id="108555" name="Group 11"/>
            <p:cNvGrpSpPr>
              <a:grpSpLocks/>
            </p:cNvGrpSpPr>
            <p:nvPr/>
          </p:nvGrpSpPr>
          <p:grpSpPr bwMode="auto">
            <a:xfrm>
              <a:off x="1776" y="1584"/>
              <a:ext cx="1056" cy="336"/>
              <a:chOff x="2256" y="1344"/>
              <a:chExt cx="1056" cy="336"/>
            </a:xfrm>
          </p:grpSpPr>
          <p:sp>
            <p:nvSpPr>
              <p:cNvPr id="108556" name="AutoShape 12"/>
              <p:cNvSpPr>
                <a:spLocks noChangeArrowheads="1"/>
              </p:cNvSpPr>
              <p:nvPr/>
            </p:nvSpPr>
            <p:spPr bwMode="auto">
              <a:xfrm>
                <a:off x="2256" y="1344"/>
                <a:ext cx="432" cy="336"/>
              </a:xfrm>
              <a:prstGeom prst="diamond">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k2</a:t>
                </a:r>
              </a:p>
            </p:txBody>
          </p:sp>
          <p:sp>
            <p:nvSpPr>
              <p:cNvPr id="108557" name="AutoShape 13"/>
              <p:cNvSpPr>
                <a:spLocks noChangeArrowheads="1"/>
              </p:cNvSpPr>
              <p:nvPr/>
            </p:nvSpPr>
            <p:spPr bwMode="auto">
              <a:xfrm>
                <a:off x="2688" y="1344"/>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v2</a:t>
                </a:r>
              </a:p>
            </p:txBody>
          </p:sp>
        </p:grpSp>
      </p:grpSp>
      <p:grpSp>
        <p:nvGrpSpPr>
          <p:cNvPr id="108579" name="Group 35"/>
          <p:cNvGrpSpPr>
            <a:grpSpLocks/>
          </p:cNvGrpSpPr>
          <p:nvPr/>
        </p:nvGrpSpPr>
        <p:grpSpPr bwMode="auto">
          <a:xfrm>
            <a:off x="3495040" y="2895600"/>
            <a:ext cx="812800" cy="609600"/>
            <a:chOff x="1104" y="1296"/>
            <a:chExt cx="480" cy="384"/>
          </a:xfrm>
        </p:grpSpPr>
        <p:sp>
          <p:nvSpPr>
            <p:cNvPr id="108563" name="AutoShape 19"/>
            <p:cNvSpPr>
              <a:spLocks noChangeArrowheads="1"/>
            </p:cNvSpPr>
            <p:nvPr/>
          </p:nvSpPr>
          <p:spPr bwMode="auto">
            <a:xfrm>
              <a:off x="1152" y="1488"/>
              <a:ext cx="432" cy="192"/>
            </a:xfrm>
            <a:prstGeom prst="rightArrow">
              <a:avLst>
                <a:gd name="adj1" fmla="val 50000"/>
                <a:gd name="adj2" fmla="val 56250"/>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rial"/>
                <a:ea typeface="+mn-ea"/>
                <a:cs typeface="+mn-cs"/>
              </a:endParaRPr>
            </a:p>
          </p:txBody>
        </p:sp>
        <p:sp>
          <p:nvSpPr>
            <p:cNvPr id="108564" name="Text Box 20"/>
            <p:cNvSpPr txBox="1">
              <a:spLocks noChangeArrowheads="1"/>
            </p:cNvSpPr>
            <p:nvPr/>
          </p:nvSpPr>
          <p:spPr bwMode="auto">
            <a:xfrm>
              <a:off x="1104" y="1296"/>
              <a:ext cx="327"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a:ea typeface="+mn-ea"/>
                  <a:cs typeface="+mn-cs"/>
                </a:rPr>
                <a:t>map</a:t>
              </a:r>
            </a:p>
          </p:txBody>
        </p:sp>
      </p:grpSp>
      <p:grpSp>
        <p:nvGrpSpPr>
          <p:cNvPr id="108569" name="Group 25"/>
          <p:cNvGrpSpPr>
            <a:grpSpLocks/>
          </p:cNvGrpSpPr>
          <p:nvPr/>
        </p:nvGrpSpPr>
        <p:grpSpPr bwMode="auto">
          <a:xfrm>
            <a:off x="2032000" y="3124200"/>
            <a:ext cx="1300480" cy="381000"/>
            <a:chOff x="240" y="2016"/>
            <a:chExt cx="768" cy="240"/>
          </a:xfrm>
        </p:grpSpPr>
        <p:sp>
          <p:nvSpPr>
            <p:cNvPr id="108570" name="Rectangle 26"/>
            <p:cNvSpPr>
              <a:spLocks noChangeArrowheads="1"/>
            </p:cNvSpPr>
            <p:nvPr/>
          </p:nvSpPr>
          <p:spPr bwMode="auto">
            <a:xfrm>
              <a:off x="576" y="2016"/>
              <a:ext cx="432" cy="240"/>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c1</a:t>
              </a:r>
            </a:p>
          </p:txBody>
        </p:sp>
        <p:sp>
          <p:nvSpPr>
            <p:cNvPr id="108571" name="AutoShape 27"/>
            <p:cNvSpPr>
              <a:spLocks noChangeArrowheads="1"/>
            </p:cNvSpPr>
            <p:nvPr/>
          </p:nvSpPr>
          <p:spPr bwMode="auto">
            <a:xfrm>
              <a:off x="240" y="2016"/>
              <a:ext cx="288" cy="240"/>
            </a:xfrm>
            <a:prstGeom prst="triangle">
              <a:avLst>
                <a:gd name="adj" fmla="val 50000"/>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f1</a:t>
              </a:r>
            </a:p>
          </p:txBody>
        </p:sp>
      </p:grpSp>
      <p:grpSp>
        <p:nvGrpSpPr>
          <p:cNvPr id="108572" name="Group 28"/>
          <p:cNvGrpSpPr>
            <a:grpSpLocks/>
          </p:cNvGrpSpPr>
          <p:nvPr/>
        </p:nvGrpSpPr>
        <p:grpSpPr bwMode="auto">
          <a:xfrm>
            <a:off x="1950720" y="5257800"/>
            <a:ext cx="1300480" cy="381000"/>
            <a:chOff x="240" y="2016"/>
            <a:chExt cx="768" cy="240"/>
          </a:xfrm>
        </p:grpSpPr>
        <p:sp>
          <p:nvSpPr>
            <p:cNvPr id="108573" name="Rectangle 29"/>
            <p:cNvSpPr>
              <a:spLocks noChangeArrowheads="1"/>
            </p:cNvSpPr>
            <p:nvPr/>
          </p:nvSpPr>
          <p:spPr bwMode="auto">
            <a:xfrm>
              <a:off x="576" y="2016"/>
              <a:ext cx="432" cy="240"/>
            </a:xfrm>
            <a:prstGeom prst="rect">
              <a:avLst/>
            </a:prstGeom>
            <a:solidFill>
              <a:srgbClr val="66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c3</a:t>
              </a:r>
            </a:p>
          </p:txBody>
        </p:sp>
        <p:sp>
          <p:nvSpPr>
            <p:cNvPr id="108574" name="AutoShape 30"/>
            <p:cNvSpPr>
              <a:spLocks noChangeArrowheads="1"/>
            </p:cNvSpPr>
            <p:nvPr/>
          </p:nvSpPr>
          <p:spPr bwMode="auto">
            <a:xfrm>
              <a:off x="240" y="2016"/>
              <a:ext cx="288" cy="240"/>
            </a:xfrm>
            <a:prstGeom prst="triangle">
              <a:avLst>
                <a:gd name="adj" fmla="val 50000"/>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f3</a:t>
              </a:r>
            </a:p>
          </p:txBody>
        </p:sp>
      </p:grpSp>
      <p:sp>
        <p:nvSpPr>
          <p:cNvPr id="108577" name="Text Box 33"/>
          <p:cNvSpPr txBox="1">
            <a:spLocks noChangeArrowheads="1"/>
          </p:cNvSpPr>
          <p:nvPr/>
        </p:nvSpPr>
        <p:spPr bwMode="auto">
          <a:xfrm>
            <a:off x="2308018" y="4419602"/>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a:ea typeface="+mn-ea"/>
                <a:cs typeface="+mn-cs"/>
              </a:rPr>
              <a:t>…</a:t>
            </a:r>
          </a:p>
        </p:txBody>
      </p:sp>
      <p:grpSp>
        <p:nvGrpSpPr>
          <p:cNvPr id="108581" name="Group 37"/>
          <p:cNvGrpSpPr>
            <a:grpSpLocks/>
          </p:cNvGrpSpPr>
          <p:nvPr/>
        </p:nvGrpSpPr>
        <p:grpSpPr bwMode="auto">
          <a:xfrm>
            <a:off x="4632960" y="3886200"/>
            <a:ext cx="1788160" cy="533400"/>
            <a:chOff x="2256" y="1344"/>
            <a:chExt cx="1056" cy="336"/>
          </a:xfrm>
        </p:grpSpPr>
        <p:sp>
          <p:nvSpPr>
            <p:cNvPr id="108582" name="AutoShape 38"/>
            <p:cNvSpPr>
              <a:spLocks noChangeArrowheads="1"/>
            </p:cNvSpPr>
            <p:nvPr/>
          </p:nvSpPr>
          <p:spPr bwMode="auto">
            <a:xfrm>
              <a:off x="2256" y="1344"/>
              <a:ext cx="432" cy="336"/>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k3</a:t>
              </a:r>
            </a:p>
          </p:txBody>
        </p:sp>
        <p:sp>
          <p:nvSpPr>
            <p:cNvPr id="108583" name="AutoShape 39"/>
            <p:cNvSpPr>
              <a:spLocks noChangeArrowheads="1"/>
            </p:cNvSpPr>
            <p:nvPr/>
          </p:nvSpPr>
          <p:spPr bwMode="auto">
            <a:xfrm>
              <a:off x="2688" y="1344"/>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v3</a:t>
              </a:r>
            </a:p>
          </p:txBody>
        </p:sp>
      </p:grpSp>
      <p:grpSp>
        <p:nvGrpSpPr>
          <p:cNvPr id="108584" name="Group 40"/>
          <p:cNvGrpSpPr>
            <a:grpSpLocks/>
          </p:cNvGrpSpPr>
          <p:nvPr/>
        </p:nvGrpSpPr>
        <p:grpSpPr bwMode="auto">
          <a:xfrm>
            <a:off x="3495040" y="3657600"/>
            <a:ext cx="812800" cy="609600"/>
            <a:chOff x="1104" y="1296"/>
            <a:chExt cx="480" cy="384"/>
          </a:xfrm>
        </p:grpSpPr>
        <p:sp>
          <p:nvSpPr>
            <p:cNvPr id="108585" name="AutoShape 41"/>
            <p:cNvSpPr>
              <a:spLocks noChangeArrowheads="1"/>
            </p:cNvSpPr>
            <p:nvPr/>
          </p:nvSpPr>
          <p:spPr bwMode="auto">
            <a:xfrm>
              <a:off x="1152" y="1488"/>
              <a:ext cx="432" cy="192"/>
            </a:xfrm>
            <a:prstGeom prst="rightArrow">
              <a:avLst>
                <a:gd name="adj1" fmla="val 50000"/>
                <a:gd name="adj2" fmla="val 56250"/>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rial"/>
                <a:ea typeface="+mn-ea"/>
                <a:cs typeface="+mn-cs"/>
              </a:endParaRPr>
            </a:p>
          </p:txBody>
        </p:sp>
        <p:sp>
          <p:nvSpPr>
            <p:cNvPr id="108586" name="Text Box 42"/>
            <p:cNvSpPr txBox="1">
              <a:spLocks noChangeArrowheads="1"/>
            </p:cNvSpPr>
            <p:nvPr/>
          </p:nvSpPr>
          <p:spPr bwMode="auto">
            <a:xfrm>
              <a:off x="1104" y="1296"/>
              <a:ext cx="327"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a:ea typeface="+mn-ea"/>
                  <a:cs typeface="+mn-cs"/>
                </a:rPr>
                <a:t>map</a:t>
              </a:r>
            </a:p>
          </p:txBody>
        </p:sp>
      </p:grpSp>
      <p:sp>
        <p:nvSpPr>
          <p:cNvPr id="108611" name="Text Box 67"/>
          <p:cNvSpPr txBox="1">
            <a:spLocks noChangeArrowheads="1"/>
          </p:cNvSpPr>
          <p:nvPr/>
        </p:nvSpPr>
        <p:spPr bwMode="auto">
          <a:xfrm>
            <a:off x="1703294" y="1438825"/>
            <a:ext cx="239841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Input key-value pairs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(file name and its content)</a:t>
            </a:r>
          </a:p>
        </p:txBody>
      </p:sp>
      <p:sp>
        <p:nvSpPr>
          <p:cNvPr id="108578" name="Text Box 34"/>
          <p:cNvSpPr txBox="1">
            <a:spLocks noChangeArrowheads="1"/>
          </p:cNvSpPr>
          <p:nvPr/>
        </p:nvSpPr>
        <p:spPr bwMode="auto">
          <a:xfrm>
            <a:off x="4841785" y="1438826"/>
            <a:ext cx="33878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Intermediate key-value pairs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(word and count)</a:t>
            </a:r>
          </a:p>
        </p:txBody>
      </p:sp>
      <p:sp>
        <p:nvSpPr>
          <p:cNvPr id="108619" name="Text Box 75"/>
          <p:cNvSpPr txBox="1">
            <a:spLocks noChangeArrowheads="1"/>
          </p:cNvSpPr>
          <p:nvPr/>
        </p:nvSpPr>
        <p:spPr bwMode="auto">
          <a:xfrm>
            <a:off x="4958082" y="4495802"/>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a:ea typeface="+mn-ea"/>
                <a:cs typeface="+mn-cs"/>
              </a:rPr>
              <a:t>…</a:t>
            </a:r>
          </a:p>
        </p:txBody>
      </p:sp>
      <p:sp>
        <p:nvSpPr>
          <p:cNvPr id="108620" name="AutoShape 76"/>
          <p:cNvSpPr>
            <a:spLocks noChangeArrowheads="1"/>
          </p:cNvSpPr>
          <p:nvPr/>
        </p:nvSpPr>
        <p:spPr bwMode="auto">
          <a:xfrm>
            <a:off x="4714240" y="5181600"/>
            <a:ext cx="731520" cy="533400"/>
          </a:xfrm>
          <a:prstGeom prst="diamond">
            <a:avLst/>
          </a:prstGeom>
          <a:solidFill>
            <a:srgbClr val="FFFF00"/>
          </a:soli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k4</a:t>
            </a:r>
          </a:p>
        </p:txBody>
      </p:sp>
      <p:sp>
        <p:nvSpPr>
          <p:cNvPr id="108621" name="AutoShape 77"/>
          <p:cNvSpPr>
            <a:spLocks noChangeArrowheads="1"/>
          </p:cNvSpPr>
          <p:nvPr/>
        </p:nvSpPr>
        <p:spPr bwMode="auto">
          <a:xfrm>
            <a:off x="5445760" y="5181600"/>
            <a:ext cx="1056640" cy="533400"/>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v4</a:t>
            </a:r>
          </a:p>
        </p:txBody>
      </p:sp>
      <p:grpSp>
        <p:nvGrpSpPr>
          <p:cNvPr id="34" name="Group 40"/>
          <p:cNvGrpSpPr>
            <a:grpSpLocks/>
          </p:cNvGrpSpPr>
          <p:nvPr/>
        </p:nvGrpSpPr>
        <p:grpSpPr bwMode="auto">
          <a:xfrm>
            <a:off x="3505200" y="5105400"/>
            <a:ext cx="812800" cy="609600"/>
            <a:chOff x="1104" y="1296"/>
            <a:chExt cx="480" cy="384"/>
          </a:xfrm>
        </p:grpSpPr>
        <p:sp>
          <p:nvSpPr>
            <p:cNvPr id="35" name="AutoShape 41"/>
            <p:cNvSpPr>
              <a:spLocks noChangeArrowheads="1"/>
            </p:cNvSpPr>
            <p:nvPr/>
          </p:nvSpPr>
          <p:spPr bwMode="auto">
            <a:xfrm>
              <a:off x="1152" y="1488"/>
              <a:ext cx="432" cy="192"/>
            </a:xfrm>
            <a:prstGeom prst="rightArrow">
              <a:avLst>
                <a:gd name="adj1" fmla="val 50000"/>
                <a:gd name="adj2" fmla="val 56250"/>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rial"/>
                <a:ea typeface="+mn-ea"/>
                <a:cs typeface="+mn-cs"/>
              </a:endParaRPr>
            </a:p>
          </p:txBody>
        </p:sp>
        <p:sp>
          <p:nvSpPr>
            <p:cNvPr id="36" name="Text Box 42"/>
            <p:cNvSpPr txBox="1">
              <a:spLocks noChangeArrowheads="1"/>
            </p:cNvSpPr>
            <p:nvPr/>
          </p:nvSpPr>
          <p:spPr bwMode="auto">
            <a:xfrm>
              <a:off x="1104" y="1296"/>
              <a:ext cx="327"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a:ea typeface="+mn-ea"/>
                  <a:cs typeface="+mn-cs"/>
                </a:rPr>
                <a:t>map</a:t>
              </a:r>
            </a:p>
          </p:txBody>
        </p:sp>
      </p:grpSp>
      <p:sp>
        <p:nvSpPr>
          <p:cNvPr id="2" name="TextBox 1">
            <a:extLst>
              <a:ext uri="{FF2B5EF4-FFF2-40B4-BE49-F238E27FC236}">
                <a16:creationId xmlns:a16="http://schemas.microsoft.com/office/drawing/2014/main" id="{30EFBBD9-1989-7DFB-B241-0E00CF5703D3}"/>
              </a:ext>
            </a:extLst>
          </p:cNvPr>
          <p:cNvSpPr txBox="1"/>
          <p:nvPr/>
        </p:nvSpPr>
        <p:spPr>
          <a:xfrm>
            <a:off x="7510072" y="234662"/>
            <a:ext cx="4392118" cy="3585597"/>
          </a:xfrm>
          <a:prstGeom prst="rect">
            <a:avLst/>
          </a:prstGeom>
          <a:noFill/>
        </p:spPr>
        <p:txBody>
          <a:bodyPr wrap="square" rtlCol="0">
            <a:spAutoFit/>
          </a:bodyPr>
          <a:lstStyle/>
          <a:p>
            <a:r>
              <a:rPr lang="en-US" sz="1100" dirty="0"/>
              <a:t>In map-reduce framework everything is handled by simple data structure called key-value pair.</a:t>
            </a:r>
          </a:p>
          <a:p>
            <a:r>
              <a:rPr lang="en-US" sz="1100" dirty="0"/>
              <a:t>In this case also input data is in key-value pair format, key here is the file name and the value is the content of the file. These ‘c1’, ‘c2’ …. are the small chunks, the files are split into small chunks, and ‘f1’ , ‘f2’ are file names like ‘c1’, ‘c2’ … from which file it is coming.</a:t>
            </a:r>
          </a:p>
          <a:p>
            <a:r>
              <a:rPr lang="en-US" sz="1100" dirty="0"/>
              <a:t>This is input to our model. This is how we store data in DFS.</a:t>
            </a:r>
          </a:p>
          <a:p>
            <a:endParaRPr lang="en-US" sz="1100" dirty="0"/>
          </a:p>
          <a:p>
            <a:r>
              <a:rPr lang="en-US" sz="1100" dirty="0"/>
              <a:t>On every chunk, we apply a map function, map function will take file name and content of the file and will produce a set of key-value pairs. A particular chunk may have different kinds of words and with some frequency. So, k1 is the word and v1 is value i.e. count of that word , similarly k2 is another word and v2 is the frequency of that word in chunk c1.So map function is one to many function, it takes one key-value pair and produces many key-value pairs so you have to apply the same map function on every chunk of data.</a:t>
            </a:r>
          </a:p>
          <a:p>
            <a:endParaRPr lang="en-US" sz="1100" dirty="0"/>
          </a:p>
          <a:p>
            <a:endParaRPr lang="en-US" dirty="0"/>
          </a:p>
        </p:txBody>
      </p:sp>
    </p:spTree>
    <p:extLst>
      <p:ext uri="{BB962C8B-B14F-4D97-AF65-F5344CB8AC3E}">
        <p14:creationId xmlns:p14="http://schemas.microsoft.com/office/powerpoint/2010/main" val="161251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5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57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858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858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858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86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86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86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78" grpId="0"/>
      <p:bldP spid="108619" grpId="0"/>
      <p:bldP spid="108620" grpId="0" animBg="1"/>
      <p:bldP spid="1086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911424" y="103477"/>
            <a:ext cx="9875520" cy="541215"/>
          </a:xfrm>
        </p:spPr>
        <p:txBody>
          <a:bodyPr/>
          <a:lstStyle/>
          <a:p>
            <a:r>
              <a:rPr lang="en-US" sz="3200" dirty="0" err="1"/>
              <a:t>MapReduce</a:t>
            </a:r>
            <a:r>
              <a:rPr lang="en-US" sz="3200" dirty="0"/>
              <a:t>: </a:t>
            </a:r>
            <a:r>
              <a:rPr lang="en-US" sz="3200" dirty="0">
                <a:solidFill>
                  <a:srgbClr val="00B050"/>
                </a:solidFill>
              </a:rPr>
              <a:t>Reduce </a:t>
            </a:r>
            <a:r>
              <a:rPr lang="en-US" sz="3200" dirty="0"/>
              <a:t>Step</a:t>
            </a:r>
          </a:p>
        </p:txBody>
      </p:sp>
      <p:grpSp>
        <p:nvGrpSpPr>
          <p:cNvPr id="109635" name="Group 67"/>
          <p:cNvGrpSpPr>
            <a:grpSpLocks/>
          </p:cNvGrpSpPr>
          <p:nvPr/>
        </p:nvGrpSpPr>
        <p:grpSpPr bwMode="auto">
          <a:xfrm>
            <a:off x="3808308" y="3087693"/>
            <a:ext cx="905933" cy="874713"/>
            <a:chOff x="1529" y="1753"/>
            <a:chExt cx="535" cy="551"/>
          </a:xfrm>
        </p:grpSpPr>
        <p:sp>
          <p:nvSpPr>
            <p:cNvPr id="109597" name="AutoShape 29"/>
            <p:cNvSpPr>
              <a:spLocks noChangeArrowheads="1"/>
            </p:cNvSpPr>
            <p:nvPr/>
          </p:nvSpPr>
          <p:spPr bwMode="auto">
            <a:xfrm>
              <a:off x="1584" y="2112"/>
              <a:ext cx="480" cy="192"/>
            </a:xfrm>
            <a:prstGeom prst="rightArrow">
              <a:avLst>
                <a:gd name="adj1" fmla="val 50000"/>
                <a:gd name="adj2" fmla="val 62500"/>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rial"/>
                <a:ea typeface="+mn-ea"/>
                <a:cs typeface="+mn-cs"/>
              </a:endParaRPr>
            </a:p>
          </p:txBody>
        </p:sp>
        <p:sp>
          <p:nvSpPr>
            <p:cNvPr id="109598" name="Text Box 30"/>
            <p:cNvSpPr txBox="1">
              <a:spLocks noChangeArrowheads="1"/>
            </p:cNvSpPr>
            <p:nvPr/>
          </p:nvSpPr>
          <p:spPr bwMode="auto">
            <a:xfrm>
              <a:off x="1529" y="1753"/>
              <a:ext cx="43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a:ea typeface="+mn-ea"/>
                  <a:cs typeface="+mn-cs"/>
                </a:rPr>
                <a:t>Group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a:ea typeface="+mn-ea"/>
                  <a:cs typeface="+mn-cs"/>
                </a:rPr>
                <a:t>by key</a:t>
              </a:r>
            </a:p>
          </p:txBody>
        </p:sp>
      </p:grpSp>
      <p:grpSp>
        <p:nvGrpSpPr>
          <p:cNvPr id="109601" name="Group 33"/>
          <p:cNvGrpSpPr>
            <a:grpSpLocks/>
          </p:cNvGrpSpPr>
          <p:nvPr/>
        </p:nvGrpSpPr>
        <p:grpSpPr bwMode="auto">
          <a:xfrm>
            <a:off x="7559040" y="2362200"/>
            <a:ext cx="1137920" cy="533400"/>
            <a:chOff x="3456" y="1296"/>
            <a:chExt cx="672" cy="336"/>
          </a:xfrm>
        </p:grpSpPr>
        <p:sp>
          <p:nvSpPr>
            <p:cNvPr id="109599" name="AutoShape 31"/>
            <p:cNvSpPr>
              <a:spLocks noChangeArrowheads="1"/>
            </p:cNvSpPr>
            <p:nvPr/>
          </p:nvSpPr>
          <p:spPr bwMode="auto">
            <a:xfrm>
              <a:off x="3504" y="1488"/>
              <a:ext cx="624" cy="144"/>
            </a:xfrm>
            <a:prstGeom prst="rightArrow">
              <a:avLst>
                <a:gd name="adj1" fmla="val 50000"/>
                <a:gd name="adj2" fmla="val 108333"/>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rial"/>
                <a:ea typeface="+mn-ea"/>
                <a:cs typeface="+mn-cs"/>
              </a:endParaRPr>
            </a:p>
          </p:txBody>
        </p:sp>
        <p:sp>
          <p:nvSpPr>
            <p:cNvPr id="109600" name="Text Box 32"/>
            <p:cNvSpPr txBox="1">
              <a:spLocks noChangeArrowheads="1"/>
            </p:cNvSpPr>
            <p:nvPr/>
          </p:nvSpPr>
          <p:spPr bwMode="auto">
            <a:xfrm>
              <a:off x="3456" y="1296"/>
              <a:ext cx="485"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a:ea typeface="+mn-ea"/>
                  <a:cs typeface="+mn-cs"/>
                </a:rPr>
                <a:t> reduce</a:t>
              </a:r>
            </a:p>
          </p:txBody>
        </p:sp>
      </p:grpSp>
      <p:grpSp>
        <p:nvGrpSpPr>
          <p:cNvPr id="109602" name="Group 34"/>
          <p:cNvGrpSpPr>
            <a:grpSpLocks/>
          </p:cNvGrpSpPr>
          <p:nvPr/>
        </p:nvGrpSpPr>
        <p:grpSpPr bwMode="auto">
          <a:xfrm>
            <a:off x="7559040" y="2971800"/>
            <a:ext cx="1137920" cy="533400"/>
            <a:chOff x="3456" y="1296"/>
            <a:chExt cx="672" cy="336"/>
          </a:xfrm>
        </p:grpSpPr>
        <p:sp>
          <p:nvSpPr>
            <p:cNvPr id="109603" name="AutoShape 35"/>
            <p:cNvSpPr>
              <a:spLocks noChangeArrowheads="1"/>
            </p:cNvSpPr>
            <p:nvPr/>
          </p:nvSpPr>
          <p:spPr bwMode="auto">
            <a:xfrm>
              <a:off x="3504" y="1488"/>
              <a:ext cx="624" cy="144"/>
            </a:xfrm>
            <a:prstGeom prst="rightArrow">
              <a:avLst>
                <a:gd name="adj1" fmla="val 50000"/>
                <a:gd name="adj2" fmla="val 108333"/>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rial"/>
                <a:ea typeface="+mn-ea"/>
                <a:cs typeface="+mn-cs"/>
              </a:endParaRPr>
            </a:p>
          </p:txBody>
        </p:sp>
        <p:sp>
          <p:nvSpPr>
            <p:cNvPr id="109604" name="Text Box 36"/>
            <p:cNvSpPr txBox="1">
              <a:spLocks noChangeArrowheads="1"/>
            </p:cNvSpPr>
            <p:nvPr/>
          </p:nvSpPr>
          <p:spPr bwMode="auto">
            <a:xfrm>
              <a:off x="3456" y="1296"/>
              <a:ext cx="456"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a:ea typeface="+mn-ea"/>
                  <a:cs typeface="+mn-cs"/>
                </a:rPr>
                <a:t>reduce</a:t>
              </a:r>
            </a:p>
          </p:txBody>
        </p:sp>
      </p:grpSp>
      <p:grpSp>
        <p:nvGrpSpPr>
          <p:cNvPr id="109610" name="Group 42"/>
          <p:cNvGrpSpPr>
            <a:grpSpLocks/>
          </p:cNvGrpSpPr>
          <p:nvPr/>
        </p:nvGrpSpPr>
        <p:grpSpPr bwMode="auto">
          <a:xfrm>
            <a:off x="8778240" y="2514600"/>
            <a:ext cx="1381760" cy="533400"/>
            <a:chOff x="4464" y="1392"/>
            <a:chExt cx="816" cy="336"/>
          </a:xfrm>
        </p:grpSpPr>
        <p:sp>
          <p:nvSpPr>
            <p:cNvPr id="109605" name="AutoShape 37"/>
            <p:cNvSpPr>
              <a:spLocks noChangeArrowheads="1"/>
            </p:cNvSpPr>
            <p:nvPr/>
          </p:nvSpPr>
          <p:spPr bwMode="auto">
            <a:xfrm>
              <a:off x="4464" y="1392"/>
              <a:ext cx="432" cy="336"/>
            </a:xfrm>
            <a:prstGeom prst="diamond">
              <a:avLst/>
            </a:prstGeom>
            <a:solidFill>
              <a:srgbClr val="99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k1</a:t>
              </a:r>
            </a:p>
          </p:txBody>
        </p:sp>
        <mc:AlternateContent xmlns:mc="http://schemas.openxmlformats.org/markup-compatibility/2006" xmlns:a14="http://schemas.microsoft.com/office/drawing/2010/main">
          <mc:Choice Requires="a14">
            <p:sp>
              <p:nvSpPr>
                <p:cNvPr id="109607" name="AutoShape 39"/>
                <p:cNvSpPr>
                  <a:spLocks noChangeArrowheads="1"/>
                </p:cNvSpPr>
                <p:nvPr/>
              </p:nvSpPr>
              <p:spPr bwMode="auto">
                <a:xfrm>
                  <a:off x="4944" y="1392"/>
                  <a:ext cx="336" cy="33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400" b="0" i="1" u="none" strike="noStrike" kern="1200" cap="none" spc="0" normalizeH="0" baseline="0" noProof="0">
                            <a:ln>
                              <a:noFill/>
                            </a:ln>
                            <a:solidFill>
                              <a:prstClr val="black"/>
                            </a:solidFill>
                            <a:effectLst/>
                            <a:uLnTx/>
                            <a:uFillTx/>
                            <a:latin typeface="Cambria Math"/>
                            <a:ea typeface="+mn-ea"/>
                            <a:cs typeface="+mn-cs"/>
                          </a:rPr>
                          <m:t>𝑣</m:t>
                        </m:r>
                        <m:r>
                          <a:rPr kumimoji="0" lang="en-US" sz="14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mc:Choice>
          <mc:Fallback xmlns="">
            <p:sp>
              <p:nvSpPr>
                <p:cNvPr id="109607" name="AutoShape 39"/>
                <p:cNvSpPr>
                  <a:spLocks noRot="1" noChangeAspect="1" noMove="1" noResize="1" noEditPoints="1" noAdjustHandles="1" noChangeArrowheads="1" noChangeShapeType="1" noTextEdit="1"/>
                </p:cNvSpPr>
                <p:nvPr/>
              </p:nvSpPr>
              <p:spPr bwMode="auto">
                <a:xfrm>
                  <a:off x="4944" y="1392"/>
                  <a:ext cx="336" cy="336"/>
                </a:xfrm>
                <a:prstGeom prst="octagon">
                  <a:avLst>
                    <a:gd name="adj" fmla="val 29287"/>
                  </a:avLst>
                </a:prstGeom>
                <a:blipFill rotWithShape="1">
                  <a:blip r:embed="rId2"/>
                  <a:stretch>
                    <a:fillRect/>
                  </a:stretch>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grpSp>
        <p:nvGrpSpPr>
          <p:cNvPr id="109611" name="Group 43"/>
          <p:cNvGrpSpPr>
            <a:grpSpLocks/>
          </p:cNvGrpSpPr>
          <p:nvPr/>
        </p:nvGrpSpPr>
        <p:grpSpPr bwMode="auto">
          <a:xfrm>
            <a:off x="8778240" y="3124200"/>
            <a:ext cx="1381760" cy="533400"/>
            <a:chOff x="4464" y="1392"/>
            <a:chExt cx="816" cy="336"/>
          </a:xfrm>
        </p:grpSpPr>
        <p:sp>
          <p:nvSpPr>
            <p:cNvPr id="109612" name="AutoShape 44"/>
            <p:cNvSpPr>
              <a:spLocks noChangeArrowheads="1"/>
            </p:cNvSpPr>
            <p:nvPr/>
          </p:nvSpPr>
          <p:spPr bwMode="auto">
            <a:xfrm>
              <a:off x="4464" y="1392"/>
              <a:ext cx="432" cy="336"/>
            </a:xfrm>
            <a:prstGeom prst="diamond">
              <a:avLst/>
            </a:prstGeom>
            <a:solidFill>
              <a:schemeClr val="accent1">
                <a:lumMod val="7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k2</a:t>
              </a:r>
            </a:p>
          </p:txBody>
        </p:sp>
        <mc:AlternateContent xmlns:mc="http://schemas.openxmlformats.org/markup-compatibility/2006" xmlns:a14="http://schemas.microsoft.com/office/drawing/2010/main">
          <mc:Choice Requires="a14">
            <p:sp>
              <p:nvSpPr>
                <p:cNvPr id="109613" name="AutoShape 45"/>
                <p:cNvSpPr>
                  <a:spLocks noChangeArrowheads="1"/>
                </p:cNvSpPr>
                <p:nvPr/>
              </p:nvSpPr>
              <p:spPr bwMode="auto">
                <a:xfrm>
                  <a:off x="4944" y="1392"/>
                  <a:ext cx="336" cy="33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400" b="0" i="1" u="none" strike="noStrike" kern="1200" cap="none" spc="0" normalizeH="0" baseline="0" noProof="0">
                            <a:ln>
                              <a:noFill/>
                            </a:ln>
                            <a:solidFill>
                              <a:prstClr val="black"/>
                            </a:solidFill>
                            <a:effectLst/>
                            <a:uLnTx/>
                            <a:uFillTx/>
                            <a:latin typeface="Cambria Math"/>
                            <a:ea typeface="+mn-ea"/>
                            <a:cs typeface="+mn-cs"/>
                          </a:rPr>
                          <m:t>𝑣</m:t>
                        </m:r>
                        <m:r>
                          <a:rPr kumimoji="0" lang="en-US" sz="14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mc:Choice>
          <mc:Fallback xmlns="">
            <p:sp>
              <p:nvSpPr>
                <p:cNvPr id="109613" name="AutoShape 45"/>
                <p:cNvSpPr>
                  <a:spLocks noRot="1" noChangeAspect="1" noMove="1" noResize="1" noEditPoints="1" noAdjustHandles="1" noChangeArrowheads="1" noChangeShapeType="1" noTextEdit="1"/>
                </p:cNvSpPr>
                <p:nvPr/>
              </p:nvSpPr>
              <p:spPr bwMode="auto">
                <a:xfrm>
                  <a:off x="4944" y="1392"/>
                  <a:ext cx="336" cy="336"/>
                </a:xfrm>
                <a:prstGeom prst="octagon">
                  <a:avLst>
                    <a:gd name="adj" fmla="val 29287"/>
                  </a:avLst>
                </a:prstGeom>
                <a:blipFill rotWithShape="1">
                  <a:blip r:embed="rId3"/>
                  <a:stretch>
                    <a:fillRect/>
                  </a:stretch>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grpSp>
        <p:nvGrpSpPr>
          <p:cNvPr id="109614" name="Group 46"/>
          <p:cNvGrpSpPr>
            <a:grpSpLocks/>
          </p:cNvGrpSpPr>
          <p:nvPr/>
        </p:nvGrpSpPr>
        <p:grpSpPr bwMode="auto">
          <a:xfrm>
            <a:off x="8859520" y="5105400"/>
            <a:ext cx="1381760" cy="533400"/>
            <a:chOff x="4464" y="1392"/>
            <a:chExt cx="816" cy="336"/>
          </a:xfrm>
        </p:grpSpPr>
        <p:sp>
          <p:nvSpPr>
            <p:cNvPr id="109615" name="AutoShape 47"/>
            <p:cNvSpPr>
              <a:spLocks noChangeArrowheads="1"/>
            </p:cNvSpPr>
            <p:nvPr/>
          </p:nvSpPr>
          <p:spPr bwMode="auto">
            <a:xfrm>
              <a:off x="4464" y="1392"/>
              <a:ext cx="432" cy="336"/>
            </a:xfrm>
            <a:prstGeom prst="diamond">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k3</a:t>
              </a:r>
            </a:p>
          </p:txBody>
        </p:sp>
        <mc:AlternateContent xmlns:mc="http://schemas.openxmlformats.org/markup-compatibility/2006" xmlns:a14="http://schemas.microsoft.com/office/drawing/2010/main">
          <mc:Choice Requires="a14">
            <p:sp>
              <p:nvSpPr>
                <p:cNvPr id="109616" name="AutoShape 48"/>
                <p:cNvSpPr>
                  <a:spLocks noChangeArrowheads="1"/>
                </p:cNvSpPr>
                <p:nvPr/>
              </p:nvSpPr>
              <p:spPr bwMode="auto">
                <a:xfrm>
                  <a:off x="4944" y="1392"/>
                  <a:ext cx="336" cy="33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400" b="0" i="1" u="none" strike="noStrike" kern="1200" cap="none" spc="0" normalizeH="0" baseline="0" noProof="0">
                            <a:ln>
                              <a:noFill/>
                            </a:ln>
                            <a:solidFill>
                              <a:prstClr val="black"/>
                            </a:solidFill>
                            <a:effectLst/>
                            <a:uLnTx/>
                            <a:uFillTx/>
                            <a:latin typeface="Cambria Math"/>
                            <a:ea typeface="+mn-ea"/>
                            <a:cs typeface="+mn-cs"/>
                          </a:rPr>
                          <m:t>𝑣</m:t>
                        </m:r>
                        <m:r>
                          <a:rPr kumimoji="0" lang="en-US" sz="14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mc:Choice>
          <mc:Fallback xmlns="">
            <p:sp>
              <p:nvSpPr>
                <p:cNvPr id="109616" name="AutoShape 48"/>
                <p:cNvSpPr>
                  <a:spLocks noRot="1" noChangeAspect="1" noMove="1" noResize="1" noEditPoints="1" noAdjustHandles="1" noChangeArrowheads="1" noChangeShapeType="1" noTextEdit="1"/>
                </p:cNvSpPr>
                <p:nvPr/>
              </p:nvSpPr>
              <p:spPr bwMode="auto">
                <a:xfrm>
                  <a:off x="4944" y="1392"/>
                  <a:ext cx="336" cy="336"/>
                </a:xfrm>
                <a:prstGeom prst="octagon">
                  <a:avLst>
                    <a:gd name="adj" fmla="val 29287"/>
                  </a:avLst>
                </a:prstGeom>
                <a:blipFill rotWithShape="1">
                  <a:blip r:embed="rId4"/>
                  <a:stretch>
                    <a:fillRect/>
                  </a:stretch>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sp>
        <p:nvSpPr>
          <p:cNvPr id="109617" name="Text Box 49"/>
          <p:cNvSpPr txBox="1">
            <a:spLocks noChangeArrowheads="1"/>
          </p:cNvSpPr>
          <p:nvPr/>
        </p:nvSpPr>
        <p:spPr bwMode="auto">
          <a:xfrm>
            <a:off x="9298098" y="4267202"/>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a:ea typeface="+mn-ea"/>
                <a:cs typeface="+mn-cs"/>
              </a:rPr>
              <a:t>…</a:t>
            </a:r>
          </a:p>
        </p:txBody>
      </p:sp>
      <p:grpSp>
        <p:nvGrpSpPr>
          <p:cNvPr id="109634" name="Group 66"/>
          <p:cNvGrpSpPr>
            <a:grpSpLocks/>
          </p:cNvGrpSpPr>
          <p:nvPr/>
        </p:nvGrpSpPr>
        <p:grpSpPr bwMode="auto">
          <a:xfrm>
            <a:off x="4714240" y="1905000"/>
            <a:ext cx="2926080" cy="3657600"/>
            <a:chOff x="2064" y="1008"/>
            <a:chExt cx="1728" cy="2304"/>
          </a:xfrm>
        </p:grpSpPr>
        <p:sp>
          <p:nvSpPr>
            <p:cNvPr id="109573" name="AutoShape 5"/>
            <p:cNvSpPr>
              <a:spLocks noChangeArrowheads="1"/>
            </p:cNvSpPr>
            <p:nvPr/>
          </p:nvSpPr>
          <p:spPr bwMode="auto">
            <a:xfrm>
              <a:off x="2112" y="2976"/>
              <a:ext cx="432" cy="336"/>
            </a:xfrm>
            <a:prstGeom prst="diamond">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k3</a:t>
              </a:r>
            </a:p>
          </p:txBody>
        </p:sp>
        <p:sp>
          <p:nvSpPr>
            <p:cNvPr id="109574" name="AutoShape 6"/>
            <p:cNvSpPr>
              <a:spLocks noChangeArrowheads="1"/>
            </p:cNvSpPr>
            <p:nvPr/>
          </p:nvSpPr>
          <p:spPr bwMode="auto">
            <a:xfrm>
              <a:off x="2544" y="2976"/>
              <a:ext cx="528" cy="336"/>
            </a:xfrm>
            <a:prstGeom prst="parallelogram">
              <a:avLst>
                <a:gd name="adj" fmla="val 3928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v4</a:t>
              </a:r>
            </a:p>
          </p:txBody>
        </p:sp>
        <p:sp>
          <p:nvSpPr>
            <p:cNvPr id="109575" name="Text Box 7"/>
            <p:cNvSpPr txBox="1">
              <a:spLocks noChangeArrowheads="1"/>
            </p:cNvSpPr>
            <p:nvPr/>
          </p:nvSpPr>
          <p:spPr bwMode="auto">
            <a:xfrm>
              <a:off x="2467" y="2496"/>
              <a:ext cx="29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rial"/>
                  <a:ea typeface="+mn-ea"/>
                  <a:cs typeface="+mn-cs"/>
                </a:rPr>
                <a:t>…</a:t>
              </a:r>
            </a:p>
          </p:txBody>
        </p:sp>
        <p:sp>
          <p:nvSpPr>
            <p:cNvPr id="109576" name="AutoShape 8"/>
            <p:cNvSpPr>
              <a:spLocks noChangeArrowheads="1"/>
            </p:cNvSpPr>
            <p:nvPr/>
          </p:nvSpPr>
          <p:spPr bwMode="auto">
            <a:xfrm>
              <a:off x="2064" y="1392"/>
              <a:ext cx="432" cy="336"/>
            </a:xfrm>
            <a:prstGeom prst="diamond">
              <a:avLst/>
            </a:prstGeom>
            <a:solidFill>
              <a:srgbClr val="99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k1</a:t>
              </a:r>
            </a:p>
          </p:txBody>
        </p:sp>
        <p:sp>
          <p:nvSpPr>
            <p:cNvPr id="109577" name="AutoShape 9"/>
            <p:cNvSpPr>
              <a:spLocks noChangeArrowheads="1"/>
            </p:cNvSpPr>
            <p:nvPr/>
          </p:nvSpPr>
          <p:spPr bwMode="auto">
            <a:xfrm>
              <a:off x="2496" y="1392"/>
              <a:ext cx="528" cy="336"/>
            </a:xfrm>
            <a:prstGeom prst="parallelogram">
              <a:avLst>
                <a:gd name="adj" fmla="val 3928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v1</a:t>
              </a:r>
            </a:p>
          </p:txBody>
        </p:sp>
        <p:sp>
          <p:nvSpPr>
            <p:cNvPr id="109578" name="AutoShape 10"/>
            <p:cNvSpPr>
              <a:spLocks noChangeArrowheads="1"/>
            </p:cNvSpPr>
            <p:nvPr/>
          </p:nvSpPr>
          <p:spPr bwMode="auto">
            <a:xfrm>
              <a:off x="2064" y="1824"/>
              <a:ext cx="432" cy="336"/>
            </a:xfrm>
            <a:prstGeom prst="diamond">
              <a:avLst/>
            </a:prstGeom>
            <a:solidFill>
              <a:schemeClr val="accent1">
                <a:lumMod val="7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k2</a:t>
              </a:r>
            </a:p>
          </p:txBody>
        </p:sp>
        <p:sp>
          <p:nvSpPr>
            <p:cNvPr id="109579" name="AutoShape 11"/>
            <p:cNvSpPr>
              <a:spLocks noChangeArrowheads="1"/>
            </p:cNvSpPr>
            <p:nvPr/>
          </p:nvSpPr>
          <p:spPr bwMode="auto">
            <a:xfrm>
              <a:off x="2496" y="1824"/>
              <a:ext cx="480" cy="336"/>
            </a:xfrm>
            <a:prstGeom prst="parallelogram">
              <a:avLst>
                <a:gd name="adj" fmla="val 3571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v2</a:t>
              </a:r>
            </a:p>
          </p:txBody>
        </p:sp>
        <p:sp>
          <p:nvSpPr>
            <p:cNvPr id="109580" name="AutoShape 12"/>
            <p:cNvSpPr>
              <a:spLocks noChangeArrowheads="1"/>
            </p:cNvSpPr>
            <p:nvPr/>
          </p:nvSpPr>
          <p:spPr bwMode="auto">
            <a:xfrm>
              <a:off x="2832" y="1824"/>
              <a:ext cx="528" cy="336"/>
            </a:xfrm>
            <a:prstGeom prst="parallelogram">
              <a:avLst>
                <a:gd name="adj" fmla="val 3928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v5</a:t>
              </a:r>
            </a:p>
          </p:txBody>
        </p:sp>
        <p:sp>
          <p:nvSpPr>
            <p:cNvPr id="109581" name="AutoShape 13"/>
            <p:cNvSpPr>
              <a:spLocks noChangeArrowheads="1"/>
            </p:cNvSpPr>
            <p:nvPr/>
          </p:nvSpPr>
          <p:spPr bwMode="auto">
            <a:xfrm>
              <a:off x="2880" y="1392"/>
              <a:ext cx="528" cy="336"/>
            </a:xfrm>
            <a:prstGeom prst="parallelogram">
              <a:avLst>
                <a:gd name="adj" fmla="val 3928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v3</a:t>
              </a:r>
            </a:p>
          </p:txBody>
        </p:sp>
        <p:sp>
          <p:nvSpPr>
            <p:cNvPr id="109582" name="AutoShape 14"/>
            <p:cNvSpPr>
              <a:spLocks noChangeArrowheads="1"/>
            </p:cNvSpPr>
            <p:nvPr/>
          </p:nvSpPr>
          <p:spPr bwMode="auto">
            <a:xfrm>
              <a:off x="3264" y="1392"/>
              <a:ext cx="528" cy="336"/>
            </a:xfrm>
            <a:prstGeom prst="parallelogram">
              <a:avLst>
                <a:gd name="adj" fmla="val 3928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v6</a:t>
              </a:r>
            </a:p>
          </p:txBody>
        </p:sp>
        <p:sp>
          <p:nvSpPr>
            <p:cNvPr id="109632" name="Rectangle 64"/>
            <p:cNvSpPr>
              <a:spLocks noChangeArrowheads="1"/>
            </p:cNvSpPr>
            <p:nvPr/>
          </p:nvSpPr>
          <p:spPr bwMode="auto">
            <a:xfrm>
              <a:off x="2160" y="1008"/>
              <a:ext cx="1488"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Key-value groups</a:t>
              </a:r>
            </a:p>
          </p:txBody>
        </p:sp>
      </p:grpSp>
      <p:sp>
        <p:nvSpPr>
          <p:cNvPr id="109633" name="Rectangle 65"/>
          <p:cNvSpPr>
            <a:spLocks noChangeArrowheads="1"/>
          </p:cNvSpPr>
          <p:nvPr/>
        </p:nvSpPr>
        <p:spPr bwMode="auto">
          <a:xfrm>
            <a:off x="8371840" y="1676401"/>
            <a:ext cx="21945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Output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key-value pairs</a:t>
            </a:r>
          </a:p>
        </p:txBody>
      </p:sp>
      <p:grpSp>
        <p:nvGrpSpPr>
          <p:cNvPr id="49" name="Group 34"/>
          <p:cNvGrpSpPr>
            <a:grpSpLocks/>
          </p:cNvGrpSpPr>
          <p:nvPr/>
        </p:nvGrpSpPr>
        <p:grpSpPr bwMode="auto">
          <a:xfrm>
            <a:off x="7640320" y="5029200"/>
            <a:ext cx="1137920" cy="533400"/>
            <a:chOff x="3456" y="1296"/>
            <a:chExt cx="672" cy="336"/>
          </a:xfrm>
        </p:grpSpPr>
        <p:sp>
          <p:nvSpPr>
            <p:cNvPr id="50" name="AutoShape 35"/>
            <p:cNvSpPr>
              <a:spLocks noChangeArrowheads="1"/>
            </p:cNvSpPr>
            <p:nvPr/>
          </p:nvSpPr>
          <p:spPr bwMode="auto">
            <a:xfrm>
              <a:off x="3504" y="1488"/>
              <a:ext cx="624" cy="144"/>
            </a:xfrm>
            <a:prstGeom prst="rightArrow">
              <a:avLst>
                <a:gd name="adj1" fmla="val 50000"/>
                <a:gd name="adj2" fmla="val 108333"/>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rial"/>
                <a:ea typeface="+mn-ea"/>
                <a:cs typeface="+mn-cs"/>
              </a:endParaRPr>
            </a:p>
          </p:txBody>
        </p:sp>
        <p:sp>
          <p:nvSpPr>
            <p:cNvPr id="51" name="Text Box 36"/>
            <p:cNvSpPr txBox="1">
              <a:spLocks noChangeArrowheads="1"/>
            </p:cNvSpPr>
            <p:nvPr/>
          </p:nvSpPr>
          <p:spPr bwMode="auto">
            <a:xfrm>
              <a:off x="3456" y="1296"/>
              <a:ext cx="456"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a:ea typeface="+mn-ea"/>
                  <a:cs typeface="+mn-cs"/>
                </a:rPr>
                <a:t>reduce</a:t>
              </a:r>
            </a:p>
          </p:txBody>
        </p:sp>
      </p:grpSp>
      <p:sp>
        <p:nvSpPr>
          <p:cNvPr id="53" name="AutoShape 21"/>
          <p:cNvSpPr>
            <a:spLocks noChangeArrowheads="1"/>
          </p:cNvSpPr>
          <p:nvPr/>
        </p:nvSpPr>
        <p:spPr bwMode="auto">
          <a:xfrm>
            <a:off x="2079415" y="5105400"/>
            <a:ext cx="731520" cy="381000"/>
          </a:xfrm>
          <a:prstGeom prst="diamond">
            <a:avLst/>
          </a:prstGeom>
          <a:solidFill>
            <a:srgbClr val="99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k1</a:t>
            </a:r>
          </a:p>
        </p:txBody>
      </p:sp>
      <p:sp>
        <p:nvSpPr>
          <p:cNvPr id="54" name="AutoShape 22"/>
          <p:cNvSpPr>
            <a:spLocks noChangeArrowheads="1"/>
          </p:cNvSpPr>
          <p:nvPr/>
        </p:nvSpPr>
        <p:spPr bwMode="auto">
          <a:xfrm>
            <a:off x="2971574" y="5086885"/>
            <a:ext cx="566031" cy="342900"/>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v6</a:t>
            </a:r>
          </a:p>
        </p:txBody>
      </p:sp>
      <p:sp>
        <p:nvSpPr>
          <p:cNvPr id="76" name="AutoShape 17"/>
          <p:cNvSpPr>
            <a:spLocks noChangeArrowheads="1"/>
          </p:cNvSpPr>
          <p:nvPr/>
        </p:nvSpPr>
        <p:spPr bwMode="auto">
          <a:xfrm>
            <a:off x="2032000" y="4038603"/>
            <a:ext cx="731520" cy="424543"/>
          </a:xfrm>
          <a:prstGeom prst="diamond">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k3</a:t>
            </a:r>
          </a:p>
        </p:txBody>
      </p:sp>
      <p:sp>
        <p:nvSpPr>
          <p:cNvPr id="77" name="AutoShape 18"/>
          <p:cNvSpPr>
            <a:spLocks noChangeArrowheads="1"/>
          </p:cNvSpPr>
          <p:nvPr/>
        </p:nvSpPr>
        <p:spPr bwMode="auto">
          <a:xfrm>
            <a:off x="2915924" y="4114804"/>
            <a:ext cx="684107" cy="333569"/>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v4</a:t>
            </a:r>
          </a:p>
        </p:txBody>
      </p:sp>
      <p:sp>
        <p:nvSpPr>
          <p:cNvPr id="78" name="Text Box 19"/>
          <p:cNvSpPr txBox="1">
            <a:spLocks noChangeArrowheads="1"/>
          </p:cNvSpPr>
          <p:nvPr/>
        </p:nvSpPr>
        <p:spPr bwMode="auto">
          <a:xfrm>
            <a:off x="2485818" y="3649826"/>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a:ea typeface="+mn-ea"/>
                <a:cs typeface="+mn-cs"/>
              </a:rPr>
              <a:t>…</a:t>
            </a:r>
          </a:p>
        </p:txBody>
      </p:sp>
      <p:sp>
        <p:nvSpPr>
          <p:cNvPr id="79" name="AutoShape 21"/>
          <p:cNvSpPr>
            <a:spLocks noChangeArrowheads="1"/>
          </p:cNvSpPr>
          <p:nvPr/>
        </p:nvSpPr>
        <p:spPr bwMode="auto">
          <a:xfrm>
            <a:off x="1998135" y="2133603"/>
            <a:ext cx="731520" cy="424543"/>
          </a:xfrm>
          <a:prstGeom prst="diamond">
            <a:avLst/>
          </a:prstGeom>
          <a:solidFill>
            <a:srgbClr val="99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k1</a:t>
            </a:r>
          </a:p>
        </p:txBody>
      </p:sp>
      <p:sp>
        <p:nvSpPr>
          <p:cNvPr id="80" name="AutoShape 22"/>
          <p:cNvSpPr>
            <a:spLocks noChangeArrowheads="1"/>
          </p:cNvSpPr>
          <p:nvPr/>
        </p:nvSpPr>
        <p:spPr bwMode="auto">
          <a:xfrm>
            <a:off x="2897297" y="2163926"/>
            <a:ext cx="714587" cy="363895"/>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v1</a:t>
            </a:r>
          </a:p>
        </p:txBody>
      </p:sp>
      <p:sp>
        <p:nvSpPr>
          <p:cNvPr id="82" name="AutoShape 25"/>
          <p:cNvSpPr>
            <a:spLocks noChangeArrowheads="1"/>
          </p:cNvSpPr>
          <p:nvPr/>
        </p:nvSpPr>
        <p:spPr bwMode="auto">
          <a:xfrm>
            <a:off x="2900685" y="2738827"/>
            <a:ext cx="714587" cy="327252"/>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v2</a:t>
            </a:r>
          </a:p>
        </p:txBody>
      </p:sp>
      <p:sp>
        <p:nvSpPr>
          <p:cNvPr id="85" name="AutoShape 10"/>
          <p:cNvSpPr>
            <a:spLocks noChangeArrowheads="1"/>
          </p:cNvSpPr>
          <p:nvPr/>
        </p:nvSpPr>
        <p:spPr bwMode="auto">
          <a:xfrm>
            <a:off x="2062485" y="2670175"/>
            <a:ext cx="602825" cy="455612"/>
          </a:xfrm>
          <a:prstGeom prst="diamond">
            <a:avLst/>
          </a:prstGeom>
          <a:solidFill>
            <a:schemeClr val="accent1">
              <a:lumMod val="7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k2</a:t>
            </a:r>
          </a:p>
        </p:txBody>
      </p:sp>
      <p:sp>
        <p:nvSpPr>
          <p:cNvPr id="86" name="AutoShape 25"/>
          <p:cNvSpPr>
            <a:spLocks noChangeArrowheads="1"/>
          </p:cNvSpPr>
          <p:nvPr/>
        </p:nvSpPr>
        <p:spPr bwMode="auto">
          <a:xfrm>
            <a:off x="2943016" y="4642239"/>
            <a:ext cx="714587" cy="327252"/>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v5</a:t>
            </a:r>
          </a:p>
        </p:txBody>
      </p:sp>
      <p:sp>
        <p:nvSpPr>
          <p:cNvPr id="87" name="AutoShape 10"/>
          <p:cNvSpPr>
            <a:spLocks noChangeArrowheads="1"/>
          </p:cNvSpPr>
          <p:nvPr/>
        </p:nvSpPr>
        <p:spPr bwMode="auto">
          <a:xfrm>
            <a:off x="2104817" y="4573589"/>
            <a:ext cx="602825" cy="455612"/>
          </a:xfrm>
          <a:prstGeom prst="diamond">
            <a:avLst/>
          </a:prstGeom>
          <a:solidFill>
            <a:schemeClr val="accent1">
              <a:lumMod val="7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k2</a:t>
            </a:r>
          </a:p>
        </p:txBody>
      </p:sp>
      <p:sp>
        <p:nvSpPr>
          <p:cNvPr id="88" name="AutoShape 21"/>
          <p:cNvSpPr>
            <a:spLocks noChangeArrowheads="1"/>
          </p:cNvSpPr>
          <p:nvPr/>
        </p:nvSpPr>
        <p:spPr bwMode="auto">
          <a:xfrm>
            <a:off x="2032000" y="3352800"/>
            <a:ext cx="731520" cy="381000"/>
          </a:xfrm>
          <a:prstGeom prst="diamond">
            <a:avLst/>
          </a:prstGeom>
          <a:solidFill>
            <a:srgbClr val="99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k1</a:t>
            </a:r>
          </a:p>
        </p:txBody>
      </p:sp>
      <p:sp>
        <p:nvSpPr>
          <p:cNvPr id="89" name="AutoShape 22"/>
          <p:cNvSpPr>
            <a:spLocks noChangeArrowheads="1"/>
          </p:cNvSpPr>
          <p:nvPr/>
        </p:nvSpPr>
        <p:spPr bwMode="auto">
          <a:xfrm>
            <a:off x="2924158" y="3371851"/>
            <a:ext cx="566031" cy="342900"/>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v3</a:t>
            </a:r>
          </a:p>
        </p:txBody>
      </p:sp>
      <p:sp>
        <p:nvSpPr>
          <p:cNvPr id="52" name="Text Box 34"/>
          <p:cNvSpPr txBox="1">
            <a:spLocks noChangeArrowheads="1"/>
          </p:cNvSpPr>
          <p:nvPr/>
        </p:nvSpPr>
        <p:spPr bwMode="auto">
          <a:xfrm>
            <a:off x="1336585" y="1113872"/>
            <a:ext cx="33878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key-value pairs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(produced by Map step)</a:t>
            </a:r>
          </a:p>
        </p:txBody>
      </p:sp>
      <p:sp>
        <p:nvSpPr>
          <p:cNvPr id="2" name="TextBox 1">
            <a:extLst>
              <a:ext uri="{FF2B5EF4-FFF2-40B4-BE49-F238E27FC236}">
                <a16:creationId xmlns:a16="http://schemas.microsoft.com/office/drawing/2014/main" id="{F38CA9E7-3BBB-6AD2-2CB9-B9105DC25227}"/>
              </a:ext>
            </a:extLst>
          </p:cNvPr>
          <p:cNvSpPr txBox="1"/>
          <p:nvPr/>
        </p:nvSpPr>
        <p:spPr>
          <a:xfrm>
            <a:off x="5688793" y="-15745"/>
            <a:ext cx="6341453" cy="2123658"/>
          </a:xfrm>
          <a:prstGeom prst="rect">
            <a:avLst/>
          </a:prstGeom>
          <a:noFill/>
        </p:spPr>
        <p:txBody>
          <a:bodyPr wrap="square" rtlCol="0">
            <a:spAutoFit/>
          </a:bodyPr>
          <a:lstStyle/>
          <a:p>
            <a:r>
              <a:rPr lang="en-US" sz="1100" dirty="0"/>
              <a:t>Now, we have key-value pairs produced by the map function. Next, we have a group by key. For a particular key, we need to combine the values from different machines.so, ‘v1’’, ‘v3’, ….  are the values associated with key ‘k1’ coming from different machines.</a:t>
            </a:r>
          </a:p>
          <a:p>
            <a:r>
              <a:rPr lang="en-US" sz="1100" dirty="0"/>
              <a:t>Next, the Reduce step will take a key and list of values associated with that particular key, and apply the operation you have defined in the reduce function on the list of values associated with the key ‘k1’. Here, the operation will be summing ‘v1’, ‘v3’, ‘v6’, and so on, summing a list of values. So, reduce operation will work on the lists associated with all the keys and will produce the final value for each of the keys. So, ‘k1’ and ‘v’’, ‘k2’ and ‘v’’’ ….  these are the final outputs produced by the framework and final output  key-value pairs will be stored in DFS because if one machine fails you don’t want the final processed results to get lost.</a:t>
            </a:r>
          </a:p>
          <a:p>
            <a:endParaRPr lang="en-US" sz="1100" dirty="0"/>
          </a:p>
          <a:p>
            <a:endParaRPr lang="en-US" sz="1100" dirty="0"/>
          </a:p>
        </p:txBody>
      </p:sp>
    </p:spTree>
    <p:extLst>
      <p:ext uri="{BB962C8B-B14F-4D97-AF65-F5344CB8AC3E}">
        <p14:creationId xmlns:p14="http://schemas.microsoft.com/office/powerpoint/2010/main" val="9270576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96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96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96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960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96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960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96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96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96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17" grpId="0"/>
      <p:bldP spid="10963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306" y="168592"/>
            <a:ext cx="9875520" cy="541215"/>
          </a:xfrm>
        </p:spPr>
        <p:txBody>
          <a:bodyPr>
            <a:noAutofit/>
          </a:bodyPr>
          <a:lstStyle/>
          <a:p>
            <a:r>
              <a:rPr lang="en-US" dirty="0">
                <a:latin typeface="Calibri" panose="020F0502020204030204" pitchFamily="34" charset="0"/>
                <a:ea typeface="Calibri" panose="020F0502020204030204" pitchFamily="34" charset="0"/>
                <a:cs typeface="Calibri" panose="020F0502020204030204" pitchFamily="34" charset="0"/>
              </a:rPr>
              <a:t>Map-reduce: Word Count</a:t>
            </a:r>
          </a:p>
        </p:txBody>
      </p:sp>
      <p:sp>
        <p:nvSpPr>
          <p:cNvPr id="5" name="Rectangle 4"/>
          <p:cNvSpPr/>
          <p:nvPr/>
        </p:nvSpPr>
        <p:spPr>
          <a:xfrm>
            <a:off x="1425440" y="2362202"/>
            <a:ext cx="1706880" cy="3046633"/>
          </a:xfrm>
          <a:prstGeom prst="rect">
            <a:avLst/>
          </a:prstGeom>
          <a:ln cmpd="sng"/>
        </p:spPr>
        <p:style>
          <a:lnRef idx="2">
            <a:schemeClr val="dk1"/>
          </a:lnRef>
          <a:fillRef idx="1">
            <a:schemeClr val="lt1"/>
          </a:fillRef>
          <a:effectRef idx="0">
            <a:schemeClr val="dk1"/>
          </a:effectRef>
          <a:fontRef idx="minor">
            <a:schemeClr val="dk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Narrow" pitchFamily="34" charset="0"/>
                <a:ea typeface="+mn-ea"/>
                <a:cs typeface="Arial" pitchFamily="34" charset="0"/>
              </a:rPr>
              <a:t>deep learning architectures such as deep neural networks, deep belief networks,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Narrow" pitchFamily="34" charset="0"/>
              <a:ea typeface="+mn-ea"/>
              <a:cs typeface="Arial"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Narrow" pitchFamily="34" charset="0"/>
                <a:ea typeface="+mn-ea"/>
                <a:cs typeface="Arial" pitchFamily="34" charset="0"/>
              </a:rPr>
              <a:t>deep reinforcement learning, recurrent neural networks and</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Narrow" pitchFamily="34" charset="0"/>
              <a:ea typeface="+mn-ea"/>
              <a:cs typeface="Arial"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Narrow" pitchFamily="34" charset="0"/>
                <a:ea typeface="+mn-ea"/>
                <a:cs typeface="Arial" pitchFamily="34" charset="0"/>
              </a:rPr>
              <a:t>convolutional neural nets have been applied to fields including computer vision</a:t>
            </a:r>
          </a:p>
        </p:txBody>
      </p:sp>
      <p:sp>
        <p:nvSpPr>
          <p:cNvPr id="38" name="TextBox 37"/>
          <p:cNvSpPr txBox="1"/>
          <p:nvPr/>
        </p:nvSpPr>
        <p:spPr>
          <a:xfrm>
            <a:off x="1447149" y="5924674"/>
            <a:ext cx="137730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Big document</a:t>
            </a:r>
          </a:p>
        </p:txBody>
      </p:sp>
      <p:sp>
        <p:nvSpPr>
          <p:cNvPr id="47" name="Rectangle 46"/>
          <p:cNvSpPr/>
          <p:nvPr/>
        </p:nvSpPr>
        <p:spPr>
          <a:xfrm>
            <a:off x="3543259" y="3352800"/>
            <a:ext cx="1706880" cy="2819400"/>
          </a:xfrm>
          <a:prstGeom prst="rect">
            <a:avLst/>
          </a:prstGeom>
          <a:solidFill>
            <a:srgbClr val="00B0F0"/>
          </a:solidFill>
          <a:ln cmpd="sng"/>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FFFFFF"/>
              </a:solidFill>
              <a:effectLst/>
              <a:uLnTx/>
              <a:uFillTx/>
              <a:latin typeface="Arial Body"/>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Body"/>
                <a:ea typeface="+mn-ea"/>
                <a:cs typeface="+mn-cs"/>
              </a:rPr>
              <a:t>(deep,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Body"/>
                <a:ea typeface="+mn-ea"/>
                <a:cs typeface="+mn-cs"/>
              </a:rPr>
              <a:t>(learning,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Body"/>
                <a:ea typeface="+mn-ea"/>
                <a:cs typeface="+mn-cs"/>
              </a:rPr>
              <a:t>(architectures,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Body"/>
                <a:ea typeface="+mn-ea"/>
                <a:cs typeface="+mn-cs"/>
              </a:rPr>
              <a:t>(such,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Body"/>
                <a:ea typeface="+mn-ea"/>
                <a:cs typeface="+mn-cs"/>
              </a:rPr>
              <a:t>(as,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Body"/>
                <a:ea typeface="+mn-ea"/>
                <a:cs typeface="+mn-cs"/>
              </a:rPr>
              <a:t>(….,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Body"/>
                <a:ea typeface="+mn-ea"/>
                <a:cs typeface="+mn-cs"/>
              </a:rPr>
              <a:t>(…..,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Body"/>
                <a:ea typeface="+mn-ea"/>
                <a:cs typeface="+mn-cs"/>
              </a:rPr>
              <a:t>(….,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Body"/>
                <a:ea typeface="+mn-ea"/>
                <a:cs typeface="+mn-cs"/>
              </a:rPr>
              <a:t>(networks,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FFFFFF"/>
              </a:solidFill>
              <a:effectLst/>
              <a:uLnTx/>
              <a:uFillTx/>
              <a:latin typeface="Arial Body"/>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Body"/>
                <a:ea typeface="+mn-ea"/>
                <a:cs typeface="+mn-cs"/>
              </a:rPr>
              <a:t>(deep,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Body"/>
                <a:ea typeface="+mn-ea"/>
                <a:cs typeface="+mn-cs"/>
              </a:rPr>
              <a:t>(reinforcement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Body"/>
                <a:ea typeface="+mn-ea"/>
                <a:cs typeface="+mn-cs"/>
              </a:rPr>
              <a:t>(….,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Body"/>
                <a:ea typeface="+mn-ea"/>
                <a:cs typeface="+mn-cs"/>
              </a:rPr>
              <a:t>(</a:t>
            </a:r>
            <a:r>
              <a:rPr kumimoji="0" lang="en-US" sz="1100" b="0" i="0" u="none" strike="noStrike" kern="1200" cap="none" spc="0" normalizeH="0" baseline="0" noProof="0" dirty="0">
                <a:ln>
                  <a:noFill/>
                </a:ln>
                <a:solidFill>
                  <a:srgbClr val="FFFFFF"/>
                </a:solidFill>
                <a:effectLst/>
                <a:uLnTx/>
                <a:uFillTx/>
                <a:latin typeface="Arial Body"/>
                <a:ea typeface="+mn-ea"/>
                <a:cs typeface="Arial" pitchFamily="34" charset="0"/>
              </a:rPr>
              <a:t>and, 1</a:t>
            </a:r>
            <a:r>
              <a:rPr kumimoji="0" lang="en-US" sz="1100" b="0" i="0" u="none" strike="noStrike" kern="1200" cap="none" spc="0" normalizeH="0" baseline="0" noProof="0" dirty="0">
                <a:ln>
                  <a:noFill/>
                </a:ln>
                <a:solidFill>
                  <a:srgbClr val="FFFFFF"/>
                </a:solidFill>
                <a:effectLst/>
                <a:uLnTx/>
                <a:uFillTx/>
                <a:latin typeface="Arial Body"/>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a:ea typeface="+mn-ea"/>
                <a:cs typeface="+mn-cs"/>
              </a:rPr>
              <a:t>(vision, 1)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a:ea typeface="+mn-ea"/>
                <a:cs typeface="+mn-cs"/>
              </a:rPr>
              <a:t>……..</a:t>
            </a:r>
          </a:p>
        </p:txBody>
      </p:sp>
      <p:sp>
        <p:nvSpPr>
          <p:cNvPr id="51" name="Rectangle 50"/>
          <p:cNvSpPr/>
          <p:nvPr/>
        </p:nvSpPr>
        <p:spPr>
          <a:xfrm>
            <a:off x="5656539" y="3468469"/>
            <a:ext cx="1706880" cy="2703731"/>
          </a:xfrm>
          <a:prstGeom prst="rect">
            <a:avLst/>
          </a:prstGeom>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(deep,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(deep,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(networks,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(networks,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(networks, 1)</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(the,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(the,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(the,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(reinforcement,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(vision,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a:t>
            </a:r>
          </a:p>
        </p:txBody>
      </p:sp>
      <p:sp>
        <p:nvSpPr>
          <p:cNvPr id="54" name="Rectangle 53"/>
          <p:cNvSpPr/>
          <p:nvPr/>
        </p:nvSpPr>
        <p:spPr>
          <a:xfrm>
            <a:off x="7769819" y="3455912"/>
            <a:ext cx="1706880" cy="2590800"/>
          </a:xfrm>
          <a:prstGeom prst="rect">
            <a:avLst/>
          </a:prstGeom>
          <a:ln/>
        </p:spPr>
        <p:style>
          <a:lnRef idx="0">
            <a:schemeClr val="accent3"/>
          </a:lnRef>
          <a:fillRef idx="3">
            <a:schemeClr val="accent3"/>
          </a:fillRef>
          <a:effectRef idx="3">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(deep,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(networks, 3)</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(the, 3)</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(reinforcement,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(vision,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a:t>
            </a:r>
          </a:p>
        </p:txBody>
      </p:sp>
      <p:sp>
        <p:nvSpPr>
          <p:cNvPr id="55" name="Rectangle 54"/>
          <p:cNvSpPr/>
          <p:nvPr/>
        </p:nvSpPr>
        <p:spPr>
          <a:xfrm>
            <a:off x="3543259" y="1828800"/>
            <a:ext cx="1706880" cy="1371600"/>
          </a:xfrm>
          <a:prstGeom prst="rect">
            <a:avLst/>
          </a:prstGeom>
          <a:solidFill>
            <a:srgbClr val="00B0F0"/>
          </a:solidFill>
          <a:ln cmpd="sng"/>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MAP: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Read input and produces a set of key-value pairs</a:t>
            </a:r>
            <a:endParaRPr kumimoji="0" lang="en-US" sz="1400" b="1" i="0" u="none" strike="noStrike" kern="1200" cap="none" spc="0" normalizeH="0" baseline="0" noProof="0" dirty="0">
              <a:ln>
                <a:noFill/>
              </a:ln>
              <a:solidFill>
                <a:srgbClr val="FFFFFF"/>
              </a:solidFill>
              <a:effectLst/>
              <a:uLnTx/>
              <a:uFillTx/>
              <a:latin typeface="Arial"/>
              <a:ea typeface="+mn-ea"/>
              <a:cs typeface="+mn-cs"/>
            </a:endParaRPr>
          </a:p>
        </p:txBody>
      </p:sp>
      <p:sp>
        <p:nvSpPr>
          <p:cNvPr id="56" name="Rectangle 55"/>
          <p:cNvSpPr/>
          <p:nvPr/>
        </p:nvSpPr>
        <p:spPr>
          <a:xfrm>
            <a:off x="5656538" y="1828800"/>
            <a:ext cx="1861863" cy="1371600"/>
          </a:xfrm>
          <a:prstGeom prst="rect">
            <a:avLst/>
          </a:prstGeom>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Group by key: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Collect all pairs with the same key</a:t>
            </a:r>
            <a:endParaRPr kumimoji="0" lang="en-US" sz="1400" b="1" i="0" u="none" strike="noStrike" kern="1200" cap="none" spc="0" normalizeH="0" baseline="0" noProof="0" dirty="0">
              <a:ln>
                <a:noFill/>
              </a:ln>
              <a:solidFill>
                <a:srgbClr val="FFFFFF"/>
              </a:solidFill>
              <a:effectLst/>
              <a:uLnTx/>
              <a:uFillTx/>
              <a:latin typeface="Arial"/>
              <a:ea typeface="+mn-ea"/>
              <a:cs typeface="+mn-cs"/>
            </a:endParaRPr>
          </a:p>
        </p:txBody>
      </p:sp>
      <p:sp>
        <p:nvSpPr>
          <p:cNvPr id="57" name="Rectangle 56"/>
          <p:cNvSpPr/>
          <p:nvPr/>
        </p:nvSpPr>
        <p:spPr>
          <a:xfrm>
            <a:off x="7769818" y="1828800"/>
            <a:ext cx="1907583" cy="1371600"/>
          </a:xfrm>
          <a:prstGeom prst="rect">
            <a:avLst/>
          </a:prstGeom>
          <a:ln/>
        </p:spPr>
        <p:style>
          <a:lnRef idx="0">
            <a:schemeClr val="accent3"/>
          </a:lnRef>
          <a:fillRef idx="3">
            <a:schemeClr val="accent3"/>
          </a:fillRef>
          <a:effectRef idx="3">
            <a:schemeClr val="accent3"/>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Reduce: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Collect all values belonging to the key and output</a:t>
            </a:r>
            <a:endParaRPr kumimoji="0" lang="en-US" sz="1400" b="1" i="0" u="none" strike="noStrike" kern="1200" cap="none" spc="0" normalizeH="0" baseline="0" noProof="0" dirty="0">
              <a:ln>
                <a:noFill/>
              </a:ln>
              <a:solidFill>
                <a:srgbClr val="FFFFFF"/>
              </a:solidFill>
              <a:effectLst/>
              <a:uLnTx/>
              <a:uFillTx/>
              <a:latin typeface="Arial"/>
              <a:ea typeface="+mn-ea"/>
              <a:cs typeface="+mn-cs"/>
            </a:endParaRPr>
          </a:p>
        </p:txBody>
      </p:sp>
      <p:sp>
        <p:nvSpPr>
          <p:cNvPr id="58" name="TextBox 57"/>
          <p:cNvSpPr txBox="1"/>
          <p:nvPr/>
        </p:nvSpPr>
        <p:spPr>
          <a:xfrm>
            <a:off x="3738881" y="6183869"/>
            <a:ext cx="114435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(key, value)</a:t>
            </a:r>
          </a:p>
        </p:txBody>
      </p:sp>
      <p:sp>
        <p:nvSpPr>
          <p:cNvPr id="59" name="TextBox 58"/>
          <p:cNvSpPr txBox="1"/>
          <p:nvPr/>
        </p:nvSpPr>
        <p:spPr>
          <a:xfrm>
            <a:off x="3313111" y="963051"/>
            <a:ext cx="227584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Provided by the programmer</a:t>
            </a:r>
          </a:p>
        </p:txBody>
      </p:sp>
      <p:sp>
        <p:nvSpPr>
          <p:cNvPr id="60" name="TextBox 59"/>
          <p:cNvSpPr txBox="1"/>
          <p:nvPr/>
        </p:nvSpPr>
        <p:spPr>
          <a:xfrm>
            <a:off x="7640320" y="990601"/>
            <a:ext cx="227584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Provided by the programmer</a:t>
            </a:r>
          </a:p>
        </p:txBody>
      </p:sp>
      <p:sp>
        <p:nvSpPr>
          <p:cNvPr id="65" name="TextBox 64"/>
          <p:cNvSpPr txBox="1"/>
          <p:nvPr/>
        </p:nvSpPr>
        <p:spPr>
          <a:xfrm>
            <a:off x="7888969" y="6183869"/>
            <a:ext cx="114435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(key, value)</a:t>
            </a:r>
          </a:p>
        </p:txBody>
      </p:sp>
      <p:sp>
        <p:nvSpPr>
          <p:cNvPr id="66" name="TextBox 65"/>
          <p:cNvSpPr txBox="1"/>
          <p:nvPr/>
        </p:nvSpPr>
        <p:spPr>
          <a:xfrm>
            <a:off x="5852161" y="6183869"/>
            <a:ext cx="114435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(key, value)</a:t>
            </a:r>
          </a:p>
        </p:txBody>
      </p:sp>
      <p:grpSp>
        <p:nvGrpSpPr>
          <p:cNvPr id="8" name="Group 97"/>
          <p:cNvGrpSpPr/>
          <p:nvPr/>
        </p:nvGrpSpPr>
        <p:grpSpPr>
          <a:xfrm>
            <a:off x="5283200" y="3886200"/>
            <a:ext cx="243840" cy="1600200"/>
            <a:chOff x="3810000" y="4114800"/>
            <a:chExt cx="228600" cy="1600200"/>
          </a:xfrm>
        </p:grpSpPr>
        <p:cxnSp>
          <p:nvCxnSpPr>
            <p:cNvPr id="90" name="Straight Connector 89"/>
            <p:cNvCxnSpPr/>
            <p:nvPr/>
          </p:nvCxnSpPr>
          <p:spPr>
            <a:xfrm rot="16200000" flipH="1">
              <a:off x="3619500" y="4381500"/>
              <a:ext cx="685800" cy="152400"/>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92" name="Straight Connector 91"/>
            <p:cNvCxnSpPr/>
            <p:nvPr/>
          </p:nvCxnSpPr>
          <p:spPr>
            <a:xfrm rot="5400000" flipH="1" flipV="1">
              <a:off x="3505200" y="5181600"/>
              <a:ext cx="914400" cy="152400"/>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94" name="Straight Connector 93"/>
            <p:cNvCxnSpPr/>
            <p:nvPr/>
          </p:nvCxnSpPr>
          <p:spPr>
            <a:xfrm rot="5400000" flipH="1" flipV="1">
              <a:off x="3657600" y="4953000"/>
              <a:ext cx="533400" cy="228600"/>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96" name="Straight Connector 95"/>
            <p:cNvCxnSpPr/>
            <p:nvPr/>
          </p:nvCxnSpPr>
          <p:spPr>
            <a:xfrm rot="16200000" flipH="1">
              <a:off x="3733800" y="4495800"/>
              <a:ext cx="381000" cy="228600"/>
            </a:xfrm>
            <a:prstGeom prst="line">
              <a:avLst/>
            </a:prstGeom>
            <a:ln/>
          </p:spPr>
          <p:style>
            <a:lnRef idx="3">
              <a:schemeClr val="accent4"/>
            </a:lnRef>
            <a:fillRef idx="0">
              <a:schemeClr val="accent4"/>
            </a:fillRef>
            <a:effectRef idx="2">
              <a:schemeClr val="accent4"/>
            </a:effectRef>
            <a:fontRef idx="minor">
              <a:schemeClr val="tx1"/>
            </a:fontRef>
          </p:style>
        </p:cxnSp>
      </p:grpSp>
      <p:cxnSp>
        <p:nvCxnSpPr>
          <p:cNvPr id="9" name="Straight Connector 8"/>
          <p:cNvCxnSpPr/>
          <p:nvPr/>
        </p:nvCxnSpPr>
        <p:spPr>
          <a:xfrm>
            <a:off x="1447149" y="4190999"/>
            <a:ext cx="1706880" cy="0"/>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p:cNvCxnSpPr/>
          <p:nvPr/>
        </p:nvCxnSpPr>
        <p:spPr>
          <a:xfrm>
            <a:off x="1463040" y="3429000"/>
            <a:ext cx="1706880" cy="0"/>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p:cNvCxnSpPr/>
          <p:nvPr/>
        </p:nvCxnSpPr>
        <p:spPr>
          <a:xfrm>
            <a:off x="3543259" y="4953000"/>
            <a:ext cx="1706880" cy="0"/>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p:cNvCxnSpPr/>
          <p:nvPr/>
        </p:nvCxnSpPr>
        <p:spPr>
          <a:xfrm>
            <a:off x="3543258" y="5791200"/>
            <a:ext cx="1739943" cy="0"/>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Arrow Connector 21"/>
          <p:cNvCxnSpPr/>
          <p:nvPr/>
        </p:nvCxnSpPr>
        <p:spPr>
          <a:xfrm>
            <a:off x="3127957" y="3009901"/>
            <a:ext cx="399363" cy="10287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24" name="Straight Arrow Connector 23"/>
          <p:cNvCxnSpPr/>
          <p:nvPr/>
        </p:nvCxnSpPr>
        <p:spPr>
          <a:xfrm>
            <a:off x="3139533" y="3848101"/>
            <a:ext cx="387787" cy="1314451"/>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26" name="Straight Arrow Connector 25"/>
          <p:cNvCxnSpPr/>
          <p:nvPr/>
        </p:nvCxnSpPr>
        <p:spPr>
          <a:xfrm>
            <a:off x="3139533" y="5162551"/>
            <a:ext cx="387787" cy="8001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28" name="Straight Connector 27"/>
          <p:cNvCxnSpPr/>
          <p:nvPr/>
        </p:nvCxnSpPr>
        <p:spPr>
          <a:xfrm>
            <a:off x="5656539" y="4648200"/>
            <a:ext cx="1706880" cy="0"/>
          </a:xfrm>
          <a:prstGeom prst="line">
            <a:avLst/>
          </a:prstGeom>
        </p:spPr>
        <p:style>
          <a:lnRef idx="2">
            <a:schemeClr val="dk1"/>
          </a:lnRef>
          <a:fillRef idx="0">
            <a:schemeClr val="dk1"/>
          </a:fillRef>
          <a:effectRef idx="1">
            <a:schemeClr val="dk1"/>
          </a:effectRef>
          <a:fontRef idx="minor">
            <a:schemeClr val="tx1"/>
          </a:fontRef>
        </p:style>
      </p:cxnSp>
      <p:cxnSp>
        <p:nvCxnSpPr>
          <p:cNvPr id="61" name="Straight Connector 60"/>
          <p:cNvCxnSpPr/>
          <p:nvPr/>
        </p:nvCxnSpPr>
        <p:spPr>
          <a:xfrm>
            <a:off x="5656539" y="5562600"/>
            <a:ext cx="1706880"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p:cNvCxnSpPr/>
          <p:nvPr/>
        </p:nvCxnSpPr>
        <p:spPr>
          <a:xfrm>
            <a:off x="7769819" y="4381499"/>
            <a:ext cx="1706880" cy="0"/>
          </a:xfrm>
          <a:prstGeom prst="line">
            <a:avLst/>
          </a:prstGeom>
        </p:spPr>
        <p:style>
          <a:lnRef idx="2">
            <a:schemeClr val="dk1"/>
          </a:lnRef>
          <a:fillRef idx="0">
            <a:schemeClr val="dk1"/>
          </a:fillRef>
          <a:effectRef idx="1">
            <a:schemeClr val="dk1"/>
          </a:effectRef>
          <a:fontRef idx="minor">
            <a:schemeClr val="tx1"/>
          </a:fontRef>
        </p:style>
      </p:cxnSp>
      <p:cxnSp>
        <p:nvCxnSpPr>
          <p:cNvPr id="62" name="Straight Connector 61"/>
          <p:cNvCxnSpPr/>
          <p:nvPr/>
        </p:nvCxnSpPr>
        <p:spPr>
          <a:xfrm>
            <a:off x="7769819" y="4932541"/>
            <a:ext cx="1706880" cy="0"/>
          </a:xfrm>
          <a:prstGeom prst="line">
            <a:avLst/>
          </a:prstGeom>
        </p:spPr>
        <p:style>
          <a:lnRef idx="2">
            <a:schemeClr val="dk1"/>
          </a:lnRef>
          <a:fillRef idx="0">
            <a:schemeClr val="dk1"/>
          </a:fillRef>
          <a:effectRef idx="1">
            <a:schemeClr val="dk1"/>
          </a:effectRef>
          <a:fontRef idx="minor">
            <a:schemeClr val="tx1"/>
          </a:fontRef>
        </p:style>
      </p:cxnSp>
      <p:cxnSp>
        <p:nvCxnSpPr>
          <p:cNvPr id="32" name="Straight Arrow Connector 31"/>
          <p:cNvCxnSpPr/>
          <p:nvPr/>
        </p:nvCxnSpPr>
        <p:spPr>
          <a:xfrm>
            <a:off x="7363419" y="3962400"/>
            <a:ext cx="406400"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63" name="Straight Arrow Connector 62"/>
          <p:cNvCxnSpPr/>
          <p:nvPr/>
        </p:nvCxnSpPr>
        <p:spPr>
          <a:xfrm>
            <a:off x="7363417" y="4869160"/>
            <a:ext cx="406400"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64" name="Straight Arrow Connector 63"/>
          <p:cNvCxnSpPr/>
          <p:nvPr/>
        </p:nvCxnSpPr>
        <p:spPr>
          <a:xfrm>
            <a:off x="7315200" y="5562600"/>
            <a:ext cx="406400"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5" name="TextBox 34"/>
          <p:cNvSpPr txBox="1"/>
          <p:nvPr/>
        </p:nvSpPr>
        <p:spPr>
          <a:xfrm>
            <a:off x="5405120" y="963051"/>
            <a:ext cx="227584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Arial" pitchFamily="34" charset="0"/>
                <a:ea typeface="+mn-ea"/>
                <a:cs typeface="Arial" pitchFamily="34" charset="0"/>
              </a:rPr>
              <a:t>Handled by MR system</a:t>
            </a:r>
          </a:p>
        </p:txBody>
      </p:sp>
      <p:sp>
        <p:nvSpPr>
          <p:cNvPr id="3" name="TextBox 2">
            <a:extLst>
              <a:ext uri="{FF2B5EF4-FFF2-40B4-BE49-F238E27FC236}">
                <a16:creationId xmlns:a16="http://schemas.microsoft.com/office/drawing/2014/main" id="{3C408A79-A5C3-D9BF-BE0C-0E9AB1126AF1}"/>
              </a:ext>
            </a:extLst>
          </p:cNvPr>
          <p:cNvSpPr txBox="1"/>
          <p:nvPr/>
        </p:nvSpPr>
        <p:spPr>
          <a:xfrm>
            <a:off x="1" y="661856"/>
            <a:ext cx="3543258" cy="1892826"/>
          </a:xfrm>
          <a:prstGeom prst="rect">
            <a:avLst/>
          </a:prstGeom>
          <a:noFill/>
        </p:spPr>
        <p:txBody>
          <a:bodyPr wrap="square" rtlCol="0">
            <a:spAutoFit/>
          </a:bodyPr>
          <a:lstStyle/>
          <a:p>
            <a:r>
              <a:rPr lang="en-US" sz="900" dirty="0"/>
              <a:t>Say, you have a big doc, when u copy the data in DFS then in all clusters you have chunks. In the map module that you have written, you feed chunks of data as input and the map function will output a set of key-value pairs for each of the chunks. Here, it produces key-value pairs where the key is the word and the value is the count of that word. Then we have Group by keys, which Produces list of values for distinct keys from different machines. In which machine a particular key along with its associated list of values will go will be decided by the hash function.’ Deep’ and ‘Networks’ are in the same machine because of hash collisions. Then Reduce operation will work on the list of values of each of the keys and will produce final value for each key.</a:t>
            </a:r>
          </a:p>
        </p:txBody>
      </p:sp>
    </p:spTree>
    <p:extLst>
      <p:ext uri="{BB962C8B-B14F-4D97-AF65-F5344CB8AC3E}">
        <p14:creationId xmlns:p14="http://schemas.microsoft.com/office/powerpoint/2010/main" val="178065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51" grpId="0" animBg="1"/>
      <p:bldP spid="54" grpId="0" animBg="1"/>
      <p:bldP spid="55" grpId="0" animBg="1"/>
      <p:bldP spid="56" grpId="0" animBg="1"/>
      <p:bldP spid="57" grpId="0" animBg="1"/>
      <p:bldP spid="59" grpId="0"/>
      <p:bldP spid="60" grpId="0"/>
      <p:bldP spid="65" grpId="0"/>
      <p:bldP spid="66" grpId="0"/>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255494" y="258885"/>
            <a:ext cx="9875520" cy="541215"/>
          </a:xfrm>
        </p:spPr>
        <p:txBody>
          <a:bodyPr>
            <a:noAutofit/>
          </a:bodyPr>
          <a:lstStyle/>
          <a:p>
            <a:r>
              <a:rPr lang="en-US" sz="3200" dirty="0"/>
              <a:t>Word Count Using </a:t>
            </a:r>
            <a:r>
              <a:rPr lang="en-US" sz="3200" dirty="0" err="1"/>
              <a:t>MapReduce</a:t>
            </a:r>
            <a:r>
              <a:rPr lang="en-US" sz="3200" dirty="0"/>
              <a:t>: </a:t>
            </a:r>
            <a:r>
              <a:rPr lang="en-US" sz="3200" dirty="0" err="1"/>
              <a:t>Pseudocode</a:t>
            </a:r>
            <a:endParaRPr lang="en-US" sz="3200" dirty="0"/>
          </a:p>
        </p:txBody>
      </p:sp>
      <p:sp>
        <p:nvSpPr>
          <p:cNvPr id="89091" name="Rectangle 3"/>
          <p:cNvSpPr>
            <a:spLocks noGrp="1" noChangeArrowheads="1"/>
          </p:cNvSpPr>
          <p:nvPr>
            <p:ph type="body" idx="1"/>
          </p:nvPr>
        </p:nvSpPr>
        <p:spPr>
          <a:xfrm>
            <a:off x="1143000" y="990600"/>
            <a:ext cx="8534400" cy="2286000"/>
          </a:xfrm>
        </p:spPr>
        <p:txBody>
          <a:bodyPr>
            <a:noAutofit/>
          </a:bodyPr>
          <a:lstStyle/>
          <a:p>
            <a:pPr>
              <a:buFont typeface="Wingdings" pitchFamily="2" charset="2"/>
              <a:buNone/>
            </a:pPr>
            <a:r>
              <a:rPr lang="en-US" sz="2400" dirty="0">
                <a:solidFill>
                  <a:schemeClr val="tx1"/>
                </a:solidFill>
                <a:latin typeface="Courier New" pitchFamily="49" charset="0"/>
                <a:cs typeface="Courier New" pitchFamily="49" charset="0"/>
              </a:rPr>
              <a:t>map(key, value)</a:t>
            </a:r>
          </a:p>
          <a:p>
            <a:pPr>
              <a:buFont typeface="Wingdings" pitchFamily="2" charset="2"/>
              <a:buNone/>
            </a:pPr>
            <a:r>
              <a:rPr lang="en-US" sz="2400" dirty="0">
                <a:solidFill>
                  <a:schemeClr val="tx1"/>
                </a:solidFill>
                <a:latin typeface="Courier New" pitchFamily="49" charset="0"/>
                <a:cs typeface="Courier New" pitchFamily="49" charset="0"/>
              </a:rPr>
              <a:t>// </a:t>
            </a:r>
            <a:r>
              <a:rPr lang="en-US" sz="2400" dirty="0">
                <a:solidFill>
                  <a:schemeClr val="tx1"/>
                </a:solidFill>
                <a:latin typeface="Adobe Caslon Pro" pitchFamily="18" charset="0"/>
                <a:cs typeface="Courier New" pitchFamily="49" charset="0"/>
              </a:rPr>
              <a:t>key: document name;   value: text of the document</a:t>
            </a:r>
          </a:p>
          <a:p>
            <a:pPr>
              <a:buFont typeface="Wingdings" pitchFamily="2" charset="2"/>
              <a:buNone/>
            </a:pPr>
            <a:r>
              <a:rPr lang="en-US" sz="2400" dirty="0">
                <a:solidFill>
                  <a:schemeClr val="tx1"/>
                </a:solidFill>
                <a:latin typeface="Comic Sans MS" panose="030F0702030302020204" pitchFamily="66" charset="0"/>
                <a:cs typeface="Courier New" pitchFamily="49" charset="0"/>
              </a:rPr>
              <a:t>	</a:t>
            </a:r>
            <a:r>
              <a:rPr lang="en-US" sz="2400" dirty="0">
                <a:solidFill>
                  <a:schemeClr val="tx1"/>
                </a:solidFill>
                <a:latin typeface="Bell MT" panose="02020503060305020303" pitchFamily="18" charset="0"/>
                <a:cs typeface="Courier New" pitchFamily="49" charset="0"/>
              </a:rPr>
              <a:t>for each word w in value</a:t>
            </a:r>
          </a:p>
          <a:p>
            <a:pPr>
              <a:buFont typeface="Wingdings" pitchFamily="2" charset="2"/>
              <a:buNone/>
            </a:pPr>
            <a:r>
              <a:rPr lang="en-US" sz="2400" dirty="0">
                <a:solidFill>
                  <a:schemeClr val="tx1"/>
                </a:solidFill>
                <a:latin typeface="Bell MT" panose="02020503060305020303" pitchFamily="18" charset="0"/>
                <a:cs typeface="Courier New" pitchFamily="49" charset="0"/>
              </a:rPr>
              <a:t>		emit(w, 1)</a:t>
            </a:r>
          </a:p>
        </p:txBody>
      </p:sp>
      <p:sp>
        <p:nvSpPr>
          <p:cNvPr id="89092" name="Rectangle 4"/>
          <p:cNvSpPr>
            <a:spLocks noChangeArrowheads="1"/>
          </p:cNvSpPr>
          <p:nvPr/>
        </p:nvSpPr>
        <p:spPr bwMode="auto">
          <a:xfrm>
            <a:off x="1143000" y="3657600"/>
            <a:ext cx="10210800" cy="2308324"/>
          </a:xfrm>
          <a:prstGeom prst="rect">
            <a:avLst/>
          </a:prstGeom>
          <a:noFill/>
          <a:ln w="9525">
            <a:noFill/>
            <a:miter lim="800000"/>
            <a:headEnd/>
            <a:tailEnd/>
          </a:ln>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reduce(key, values)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urier New" pitchFamily="49" charset="0"/>
                <a:ea typeface="+mn-ea"/>
                <a:cs typeface="Courier New" pitchFamily="49" charset="0"/>
              </a:rPr>
              <a:t>// </a:t>
            </a:r>
            <a:r>
              <a:rPr kumimoji="0" lang="en-US" sz="2400" b="1" i="0" u="none" strike="noStrike" kern="1200" cap="none" spc="0" normalizeH="0" baseline="0" noProof="0" dirty="0">
                <a:ln>
                  <a:noFill/>
                </a:ln>
                <a:solidFill>
                  <a:prstClr val="black"/>
                </a:solidFill>
                <a:effectLst/>
                <a:uLnTx/>
                <a:uFillTx/>
                <a:latin typeface="Adobe Caslon Pro" pitchFamily="18" charset="0"/>
                <a:ea typeface="+mn-ea"/>
                <a:cs typeface="Courier New" pitchFamily="49" charset="0"/>
              </a:rPr>
              <a:t>key:</a:t>
            </a:r>
            <a:r>
              <a:rPr kumimoji="0" lang="en-US" sz="2400" b="0" i="0" u="none" strike="noStrike" kern="1200" cap="none" spc="0" normalizeH="0" baseline="0" noProof="0" dirty="0">
                <a:ln>
                  <a:noFill/>
                </a:ln>
                <a:solidFill>
                  <a:prstClr val="black"/>
                </a:solidFill>
                <a:effectLst/>
                <a:uLnTx/>
                <a:uFillTx/>
                <a:latin typeface="Adobe Caslon Pro" pitchFamily="18" charset="0"/>
                <a:ea typeface="+mn-ea"/>
                <a:cs typeface="Courier New" pitchFamily="49" charset="0"/>
              </a:rPr>
              <a:t> a word;   </a:t>
            </a:r>
            <a:r>
              <a:rPr kumimoji="0" lang="en-US" sz="2400" b="1" i="0" u="none" strike="noStrike" kern="1200" cap="none" spc="0" normalizeH="0" baseline="0" noProof="0" dirty="0">
                <a:ln>
                  <a:noFill/>
                </a:ln>
                <a:solidFill>
                  <a:prstClr val="black"/>
                </a:solidFill>
                <a:effectLst/>
                <a:uLnTx/>
                <a:uFillTx/>
                <a:latin typeface="Adobe Caslon Pro" pitchFamily="18" charset="0"/>
                <a:ea typeface="+mn-ea"/>
                <a:cs typeface="Courier New" pitchFamily="49" charset="0"/>
              </a:rPr>
              <a:t>value:</a:t>
            </a:r>
            <a:r>
              <a:rPr kumimoji="0" lang="en-US" sz="2400" b="0" i="0" u="none" strike="noStrike" kern="1200" cap="none" spc="0" normalizeH="0" baseline="0" noProof="0" dirty="0">
                <a:ln>
                  <a:noFill/>
                </a:ln>
                <a:solidFill>
                  <a:prstClr val="black"/>
                </a:solidFill>
                <a:effectLst/>
                <a:uLnTx/>
                <a:uFillTx/>
                <a:latin typeface="Adobe Caslon Pro" pitchFamily="18" charset="0"/>
                <a:ea typeface="+mn-ea"/>
                <a:cs typeface="Courier New" pitchFamily="49" charset="0"/>
              </a:rPr>
              <a:t> set of counts values for a word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mic Sans MS" panose="030F0702030302020204" pitchFamily="66" charset="0"/>
                <a:ea typeface="+mn-ea"/>
                <a:cs typeface="Courier New" pitchFamily="49" charset="0"/>
              </a:rPr>
              <a:t>	</a:t>
            </a:r>
            <a:r>
              <a:rPr kumimoji="0" lang="en-US" sz="2400" b="0" i="0" u="none" strike="noStrike" kern="1200" cap="none" spc="0" normalizeH="0" baseline="0" noProof="0" dirty="0">
                <a:ln>
                  <a:noFill/>
                </a:ln>
                <a:solidFill>
                  <a:prstClr val="black"/>
                </a:solidFill>
                <a:effectLst/>
                <a:uLnTx/>
                <a:uFillTx/>
                <a:latin typeface="Bell MT" panose="02020503060305020303" pitchFamily="18" charset="0"/>
                <a:ea typeface="+mn-ea"/>
                <a:cs typeface="Courier New" pitchFamily="49" charset="0"/>
              </a:rPr>
              <a:t>result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Bell MT" panose="02020503060305020303" pitchFamily="18" charset="0"/>
                <a:ea typeface="+mn-ea"/>
                <a:cs typeface="Courier New" pitchFamily="49" charset="0"/>
              </a:rPr>
              <a:t>	for each count v in values: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Bell MT" panose="02020503060305020303" pitchFamily="18" charset="0"/>
                <a:ea typeface="+mn-ea"/>
                <a:cs typeface="Courier New" pitchFamily="49" charset="0"/>
              </a:rPr>
              <a:t>		result += v</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Bell MT" panose="02020503060305020303" pitchFamily="18" charset="0"/>
                <a:ea typeface="+mn-ea"/>
                <a:cs typeface="Courier New" pitchFamily="49" charset="0"/>
              </a:rPr>
              <a:t>	emit(key, result)</a:t>
            </a:r>
          </a:p>
        </p:txBody>
      </p:sp>
    </p:spTree>
    <p:extLst>
      <p:ext uri="{BB962C8B-B14F-4D97-AF65-F5344CB8AC3E}">
        <p14:creationId xmlns:p14="http://schemas.microsoft.com/office/powerpoint/2010/main" val="270606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0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0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p:bldP spid="8909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1552" y="2576634"/>
            <a:ext cx="8408895" cy="1704731"/>
          </a:xfrm>
        </p:spPr>
        <p:txBody>
          <a:bodyPr>
            <a:noAutofit/>
          </a:bodyPr>
          <a:lstStyle/>
          <a:p>
            <a:pPr algn="ctr"/>
            <a:r>
              <a:rPr lang="en-US" dirty="0"/>
              <a:t>Map-Reduce Execution</a:t>
            </a:r>
            <a:br>
              <a:rPr lang="en-US" dirty="0"/>
            </a:br>
            <a:r>
              <a:rPr lang="en-US" dirty="0"/>
              <a:t> </a:t>
            </a:r>
            <a:br>
              <a:rPr lang="en-US" dirty="0"/>
            </a:br>
            <a:r>
              <a:rPr lang="en-US" dirty="0"/>
              <a:t>Detailed Look</a:t>
            </a:r>
          </a:p>
        </p:txBody>
      </p:sp>
    </p:spTree>
    <p:extLst>
      <p:ext uri="{BB962C8B-B14F-4D97-AF65-F5344CB8AC3E}">
        <p14:creationId xmlns:p14="http://schemas.microsoft.com/office/powerpoint/2010/main" val="832407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780" y="198121"/>
            <a:ext cx="9875520" cy="533401"/>
          </a:xfrm>
        </p:spPr>
        <p:txBody>
          <a:bodyPr>
            <a:noAutofit/>
          </a:bodyPr>
          <a:lstStyle/>
          <a:p>
            <a:r>
              <a:rPr lang="en-US" sz="3600" dirty="0"/>
              <a:t>Map-reduce System: Inside Look</a:t>
            </a:r>
          </a:p>
        </p:txBody>
      </p:sp>
      <p:sp>
        <p:nvSpPr>
          <p:cNvPr id="7" name="Rectangle 6"/>
          <p:cNvSpPr/>
          <p:nvPr/>
        </p:nvSpPr>
        <p:spPr>
          <a:xfrm>
            <a:off x="726140" y="1207532"/>
            <a:ext cx="2362200" cy="1981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graphicFrame>
        <p:nvGraphicFramePr>
          <p:cNvPr id="8" name="Table 7"/>
          <p:cNvGraphicFramePr>
            <a:graphicFrameLocks noGrp="1"/>
          </p:cNvGraphicFramePr>
          <p:nvPr>
            <p:extLst>
              <p:ext uri="{D42A27DB-BD31-4B8C-83A1-F6EECF244321}">
                <p14:modId xmlns:p14="http://schemas.microsoft.com/office/powerpoint/2010/main" val="4139300354"/>
              </p:ext>
            </p:extLst>
          </p:nvPr>
        </p:nvGraphicFramePr>
        <p:xfrm>
          <a:off x="802341" y="1283732"/>
          <a:ext cx="2209799" cy="320040"/>
        </p:xfrm>
        <a:graphic>
          <a:graphicData uri="http://schemas.openxmlformats.org/drawingml/2006/table">
            <a:tbl>
              <a:tblPr firstRow="1" bandRow="1">
                <a:tableStyleId>{5C22544A-7EE6-4342-B048-85BDC9FD1C3A}</a:tableStyleId>
              </a:tblPr>
              <a:tblGrid>
                <a:gridCol w="753341">
                  <a:extLst>
                    <a:ext uri="{9D8B030D-6E8A-4147-A177-3AD203B41FA5}">
                      <a16:colId xmlns:a16="http://schemas.microsoft.com/office/drawing/2014/main" val="20000"/>
                    </a:ext>
                  </a:extLst>
                </a:gridCol>
                <a:gridCol w="728229">
                  <a:extLst>
                    <a:ext uri="{9D8B030D-6E8A-4147-A177-3AD203B41FA5}">
                      <a16:colId xmlns:a16="http://schemas.microsoft.com/office/drawing/2014/main" val="20001"/>
                    </a:ext>
                  </a:extLst>
                </a:gridCol>
                <a:gridCol w="728229">
                  <a:extLst>
                    <a:ext uri="{9D8B030D-6E8A-4147-A177-3AD203B41FA5}">
                      <a16:colId xmlns:a16="http://schemas.microsoft.com/office/drawing/2014/main" val="20002"/>
                    </a:ext>
                  </a:extLst>
                </a:gridCol>
              </a:tblGrid>
              <a:tr h="314960">
                <a:tc>
                  <a:txBody>
                    <a:bodyPr/>
                    <a:lstStyle/>
                    <a:p>
                      <a:r>
                        <a:rPr lang="en-US" sz="1500" dirty="0"/>
                        <a:t>data</a:t>
                      </a:r>
                    </a:p>
                  </a:txBody>
                  <a:tcPr>
                    <a:solidFill>
                      <a:schemeClr val="tx1"/>
                    </a:solidFill>
                  </a:tcPr>
                </a:tc>
                <a:tc>
                  <a:txBody>
                    <a:bodyPr/>
                    <a:lstStyle/>
                    <a:p>
                      <a:r>
                        <a:rPr lang="en-US" sz="1500" dirty="0"/>
                        <a:t>data</a:t>
                      </a:r>
                    </a:p>
                  </a:txBody>
                  <a:tcPr>
                    <a:solidFill>
                      <a:schemeClr val="tx1"/>
                    </a:solidFill>
                  </a:tcPr>
                </a:tc>
                <a:tc>
                  <a:txBody>
                    <a:bodyPr/>
                    <a:lstStyle/>
                    <a:p>
                      <a:r>
                        <a:rPr lang="en-US" sz="1500" dirty="0"/>
                        <a:t>data</a:t>
                      </a:r>
                    </a:p>
                  </a:txBody>
                  <a:tcPr>
                    <a:solidFill>
                      <a:schemeClr val="tx1"/>
                    </a:solidFill>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nvGraphicFramePr>
            <p:xfrm>
              <a:off x="802338" y="2167652"/>
              <a:ext cx="2209805" cy="457200"/>
            </p:xfrm>
            <a:graphic>
              <a:graphicData uri="http://schemas.openxmlformats.org/drawingml/2006/table">
                <a:tbl>
                  <a:tblPr firstRow="1" bandRow="1">
                    <a:tableStyleId>{5C22544A-7EE6-4342-B048-85BDC9FD1C3A}</a:tableStyleId>
                  </a:tblPr>
                  <a:tblGrid>
                    <a:gridCol w="753343">
                      <a:extLst>
                        <a:ext uri="{9D8B030D-6E8A-4147-A177-3AD203B41FA5}">
                          <a16:colId xmlns:a16="http://schemas.microsoft.com/office/drawing/2014/main" val="20000"/>
                        </a:ext>
                      </a:extLst>
                    </a:gridCol>
                    <a:gridCol w="728231">
                      <a:extLst>
                        <a:ext uri="{9D8B030D-6E8A-4147-A177-3AD203B41FA5}">
                          <a16:colId xmlns:a16="http://schemas.microsoft.com/office/drawing/2014/main" val="20001"/>
                        </a:ext>
                      </a:extLst>
                    </a:gridCol>
                    <a:gridCol w="728231">
                      <a:extLst>
                        <a:ext uri="{9D8B030D-6E8A-4147-A177-3AD203B41FA5}">
                          <a16:colId xmlns:a16="http://schemas.microsoft.com/office/drawing/2014/main" val="20002"/>
                        </a:ext>
                      </a:extLst>
                    </a:gridCol>
                  </a:tblGrid>
                  <a:tr h="457200">
                    <a:tc>
                      <a:txBody>
                        <a:bodyPr/>
                        <a:lstStyle/>
                        <a:p>
                          <a:r>
                            <a:rPr lang="en-US" sz="1200" dirty="0"/>
                            <a:t>(</a:t>
                          </a:r>
                          <a14:m>
                            <m:oMath xmlns:m="http://schemas.openxmlformats.org/officeDocument/2006/math">
                              <m:sSub>
                                <m:sSubPr>
                                  <m:ctrlPr>
                                    <a:rPr lang="en-US" sz="1200" b="1" i="1" smtClean="0">
                                      <a:latin typeface="Cambria Math" panose="02040503050406030204" pitchFamily="18" charset="0"/>
                                    </a:rPr>
                                  </m:ctrlPr>
                                </m:sSubPr>
                                <m:e>
                                  <m:r>
                                    <a:rPr lang="en-US" sz="1200" b="1" i="1" smtClean="0">
                                      <a:latin typeface="Cambria Math"/>
                                    </a:rPr>
                                    <m:t>𝒌</m:t>
                                  </m:r>
                                </m:e>
                                <m:sub>
                                  <m:r>
                                    <a:rPr lang="en-US" sz="1200" b="1" i="1" smtClean="0">
                                      <a:latin typeface="Cambria Math"/>
                                    </a:rPr>
                                    <m:t>𝟏</m:t>
                                  </m:r>
                                </m:sub>
                              </m:sSub>
                              <m:r>
                                <a:rPr lang="en-US" sz="1200" b="1" i="1" smtClean="0">
                                  <a:latin typeface="Cambria Math"/>
                                </a:rPr>
                                <m:t>, </m:t>
                              </m:r>
                              <m:sSub>
                                <m:sSubPr>
                                  <m:ctrlPr>
                                    <a:rPr lang="en-US" sz="1200" b="1" i="1" smtClean="0">
                                      <a:latin typeface="Cambria Math" panose="02040503050406030204" pitchFamily="18" charset="0"/>
                                    </a:rPr>
                                  </m:ctrlPr>
                                </m:sSubPr>
                                <m:e>
                                  <m:r>
                                    <a:rPr lang="en-US" sz="1200" b="1" i="1" smtClean="0">
                                      <a:latin typeface="Cambria Math"/>
                                    </a:rPr>
                                    <m:t>𝒗</m:t>
                                  </m:r>
                                </m:e>
                                <m:sub>
                                  <m:r>
                                    <a:rPr lang="en-US" sz="1200" b="1" i="1" smtClean="0">
                                      <a:latin typeface="Cambria Math"/>
                                    </a:rPr>
                                    <m:t>𝟏</m:t>
                                  </m:r>
                                </m:sub>
                              </m:sSub>
                            </m:oMath>
                          </a14:m>
                          <a:r>
                            <a:rPr lang="en-US" sz="1200" dirty="0"/>
                            <a:t>)</a:t>
                          </a:r>
                        </a:p>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a:t>
                          </a:r>
                          <a14:m>
                            <m:oMath xmlns:m="http://schemas.openxmlformats.org/officeDocument/2006/math">
                              <m:sSub>
                                <m:sSubPr>
                                  <m:ctrlPr>
                                    <a:rPr lang="en-US" sz="1200" b="1" i="1" smtClean="0">
                                      <a:latin typeface="Cambria Math" panose="02040503050406030204" pitchFamily="18" charset="0"/>
                                    </a:rPr>
                                  </m:ctrlPr>
                                </m:sSubPr>
                                <m:e>
                                  <m:r>
                                    <a:rPr lang="en-US" sz="1200" b="1" i="1" smtClean="0">
                                      <a:latin typeface="Cambria Math"/>
                                    </a:rPr>
                                    <m:t>𝒌</m:t>
                                  </m:r>
                                </m:e>
                                <m:sub>
                                  <m:r>
                                    <a:rPr lang="en-US" sz="1200" b="1" i="1" smtClean="0">
                                      <a:latin typeface="Cambria Math"/>
                                    </a:rPr>
                                    <m:t>𝟐</m:t>
                                  </m:r>
                                </m:sub>
                              </m:sSub>
                              <m:r>
                                <a:rPr lang="en-US" sz="1200" b="1" i="1" smtClean="0">
                                  <a:latin typeface="Cambria Math"/>
                                </a:rPr>
                                <m:t>, </m:t>
                              </m:r>
                              <m:sSub>
                                <m:sSubPr>
                                  <m:ctrlPr>
                                    <a:rPr lang="en-US" sz="1200" b="1" i="1" smtClean="0">
                                      <a:latin typeface="Cambria Math" panose="02040503050406030204" pitchFamily="18" charset="0"/>
                                    </a:rPr>
                                  </m:ctrlPr>
                                </m:sSubPr>
                                <m:e>
                                  <m:r>
                                    <a:rPr lang="en-US" sz="1200" b="1" i="1" smtClean="0">
                                      <a:latin typeface="Cambria Math"/>
                                    </a:rPr>
                                    <m:t>𝒗</m:t>
                                  </m:r>
                                </m:e>
                                <m:sub>
                                  <m:r>
                                    <a:rPr lang="en-US" sz="1200" b="1" i="1" smtClean="0">
                                      <a:latin typeface="Cambria Math"/>
                                    </a:rPr>
                                    <m:t>𝟐</m:t>
                                  </m:r>
                                </m:sub>
                              </m:sSub>
                            </m:oMath>
                          </a14:m>
                          <a:r>
                            <a:rPr lang="en-US" sz="1200" dirty="0"/>
                            <a:t>)</a:t>
                          </a:r>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FFFFFF"/>
                              </a:solidFill>
                              <a:effectLst/>
                              <a:uLnTx/>
                              <a:uFillTx/>
                              <a:latin typeface="+mn-lt"/>
                              <a:ea typeface="+mn-ea"/>
                              <a:cs typeface="+mn-cs"/>
                              <a:sym typeface="Arial"/>
                            </a:rPr>
                            <a:t>(</a:t>
                          </a:r>
                          <a14:m>
                            <m:oMath xmlns:m="http://schemas.openxmlformats.org/officeDocument/2006/math">
                              <m:sSub>
                                <m:sSubPr>
                                  <m:ctrlPr>
                                    <a:rPr kumimoji="0" lang="en-US" sz="1200" b="1"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sym typeface="Arial"/>
                                    </a:rPr>
                                  </m:ctrlPr>
                                </m:sSubPr>
                                <m:e>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𝒌</m:t>
                                  </m:r>
                                </m:e>
                                <m: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𝟑</m:t>
                                  </m:r>
                                </m:sub>
                              </m:s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 </m:t>
                              </m:r>
                              <m:sSub>
                                <m:sSubPr>
                                  <m:ctrlPr>
                                    <a:rPr kumimoji="0" lang="en-US" sz="1200" b="1"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sym typeface="Arial"/>
                                    </a:rPr>
                                  </m:ctrlPr>
                                </m:sSubPr>
                                <m:e>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𝒗</m:t>
                                  </m:r>
                                </m:e>
                                <m: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𝟒</m:t>
                                  </m:r>
                                </m:sub>
                              </m:sSub>
                            </m:oMath>
                          </a14:m>
                          <a:r>
                            <a:rPr kumimoji="0" lang="en-US" sz="1200" b="1" i="0" u="none" strike="noStrike" kern="0" cap="none" spc="0" normalizeH="0" baseline="0" noProof="0" dirty="0">
                              <a:ln>
                                <a:noFill/>
                              </a:ln>
                              <a:solidFill>
                                <a:srgbClr val="FFFFFF"/>
                              </a:solidFill>
                              <a:effectLst/>
                              <a:uLnTx/>
                              <a:uFillTx/>
                              <a:latin typeface="+mn-lt"/>
                              <a:ea typeface="+mn-ea"/>
                              <a:cs typeface="+mn-cs"/>
                              <a:sym typeface="Arial"/>
                            </a:rPr>
                            <a:t>)</a:t>
                          </a:r>
                        </a:p>
                        <a:p>
                          <a:endParaRPr lang="en-US" sz="1200" dirty="0"/>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FFFFFF"/>
                              </a:solidFill>
                              <a:effectLst/>
                              <a:uLnTx/>
                              <a:uFillTx/>
                              <a:latin typeface="+mn-lt"/>
                              <a:ea typeface="+mn-ea"/>
                              <a:cs typeface="+mn-cs"/>
                              <a:sym typeface="Arial"/>
                            </a:rPr>
                            <a:t>(</a:t>
                          </a:r>
                          <a14:m>
                            <m:oMath xmlns:m="http://schemas.openxmlformats.org/officeDocument/2006/math">
                              <m:sSub>
                                <m:sSubPr>
                                  <m:ctrlPr>
                                    <a:rPr kumimoji="0" lang="en-US" sz="1200" b="1"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sym typeface="Arial"/>
                                    </a:rPr>
                                  </m:ctrlPr>
                                </m:sSubPr>
                                <m:e>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𝒌</m:t>
                                  </m:r>
                                </m:e>
                                <m: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𝟒</m:t>
                                  </m:r>
                                </m:sub>
                              </m:s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 </m:t>
                              </m:r>
                              <m:sSub>
                                <m:sSubPr>
                                  <m:ctrlPr>
                                    <a:rPr kumimoji="0" lang="en-US" sz="1200" b="1"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sym typeface="Arial"/>
                                    </a:rPr>
                                  </m:ctrlPr>
                                </m:sSubPr>
                                <m:e>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𝒗</m:t>
                                  </m:r>
                                </m:e>
                                <m: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𝟒</m:t>
                                  </m:r>
                                </m:sub>
                              </m:sSub>
                            </m:oMath>
                          </a14:m>
                          <a:r>
                            <a:rPr kumimoji="0" lang="en-US" sz="1200" b="1" i="0" u="none" strike="noStrike" kern="0" cap="none" spc="0" normalizeH="0" baseline="0" noProof="0" dirty="0">
                              <a:ln>
                                <a:noFill/>
                              </a:ln>
                              <a:solidFill>
                                <a:srgbClr val="FFFFFF"/>
                              </a:solidFill>
                              <a:effectLst/>
                              <a:uLnTx/>
                              <a:uFillTx/>
                              <a:latin typeface="+mn-lt"/>
                              <a:ea typeface="+mn-ea"/>
                              <a:cs typeface="+mn-cs"/>
                              <a:sym typeface="Arial"/>
                            </a:rPr>
                            <a:t>)</a:t>
                          </a:r>
                        </a:p>
                        <a:p>
                          <a:endParaRPr lang="en-US" sz="1200" dirty="0"/>
                        </a:p>
                      </a:txBody>
                      <a:tcPr>
                        <a:solidFill>
                          <a:schemeClr val="tx1"/>
                        </a:solidFill>
                      </a:tcPr>
                    </a:tc>
                    <a:extLst>
                      <a:ext uri="{0D108BD9-81ED-4DB2-BD59-A6C34878D82A}">
                        <a16:rowId xmlns:a16="http://schemas.microsoft.com/office/drawing/2014/main" val="10000"/>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1505393919"/>
                  </p:ext>
                </p:extLst>
              </p:nvPr>
            </p:nvGraphicFramePr>
            <p:xfrm>
              <a:off x="802338" y="2167652"/>
              <a:ext cx="2209805" cy="457200"/>
            </p:xfrm>
            <a:graphic>
              <a:graphicData uri="http://schemas.openxmlformats.org/drawingml/2006/table">
                <a:tbl>
                  <a:tblPr firstRow="1" bandRow="1">
                    <a:tableStyleId>{5C22544A-7EE6-4342-B048-85BDC9FD1C3A}</a:tableStyleId>
                  </a:tblPr>
                  <a:tblGrid>
                    <a:gridCol w="753343">
                      <a:extLst>
                        <a:ext uri="{9D8B030D-6E8A-4147-A177-3AD203B41FA5}">
                          <a16:colId xmlns:a16="http://schemas.microsoft.com/office/drawing/2014/main" val="20000"/>
                        </a:ext>
                      </a:extLst>
                    </a:gridCol>
                    <a:gridCol w="728231">
                      <a:extLst>
                        <a:ext uri="{9D8B030D-6E8A-4147-A177-3AD203B41FA5}">
                          <a16:colId xmlns:a16="http://schemas.microsoft.com/office/drawing/2014/main" val="20001"/>
                        </a:ext>
                      </a:extLst>
                    </a:gridCol>
                    <a:gridCol w="728231">
                      <a:extLst>
                        <a:ext uri="{9D8B030D-6E8A-4147-A177-3AD203B41FA5}">
                          <a16:colId xmlns:a16="http://schemas.microsoft.com/office/drawing/2014/main" val="20002"/>
                        </a:ext>
                      </a:extLst>
                    </a:gridCol>
                  </a:tblGrid>
                  <a:tr h="457200">
                    <a:tc>
                      <a:txBody>
                        <a:bodyPr/>
                        <a:lstStyle/>
                        <a:p>
                          <a:endParaRPr lang="en-US"/>
                        </a:p>
                      </a:txBody>
                      <a:tcPr>
                        <a:blipFill>
                          <a:blip r:embed="rId2"/>
                          <a:stretch>
                            <a:fillRect l="-806" t="-1316" r="-196774" b="-9211"/>
                          </a:stretch>
                        </a:blipFill>
                      </a:tcPr>
                    </a:tc>
                    <a:tc>
                      <a:txBody>
                        <a:bodyPr/>
                        <a:lstStyle/>
                        <a:p>
                          <a:endParaRPr lang="en-US"/>
                        </a:p>
                      </a:txBody>
                      <a:tcPr>
                        <a:blipFill>
                          <a:blip r:embed="rId2"/>
                          <a:stretch>
                            <a:fillRect l="-104167" t="-1316" r="-103333" b="-9211"/>
                          </a:stretch>
                        </a:blipFill>
                      </a:tcPr>
                    </a:tc>
                    <a:tc>
                      <a:txBody>
                        <a:bodyPr/>
                        <a:lstStyle/>
                        <a:p>
                          <a:endParaRPr lang="en-US"/>
                        </a:p>
                      </a:txBody>
                      <a:tcPr>
                        <a:blipFill>
                          <a:blip r:embed="rId2"/>
                          <a:stretch>
                            <a:fillRect l="-204167" t="-1316" r="-3333" b="-9211"/>
                          </a:stretch>
                        </a:blipFill>
                      </a:tcPr>
                    </a:tc>
                    <a:extLst>
                      <a:ext uri="{0D108BD9-81ED-4DB2-BD59-A6C34878D82A}">
                        <a16:rowId xmlns:a16="http://schemas.microsoft.com/office/drawing/2014/main" val="10000"/>
                      </a:ext>
                    </a:extLst>
                  </a:tr>
                </a:tbl>
              </a:graphicData>
            </a:graphic>
          </p:graphicFrame>
        </mc:Fallback>
      </mc:AlternateContent>
      <p:sp>
        <p:nvSpPr>
          <p:cNvPr id="9" name="Rounded Rectangle 8"/>
          <p:cNvSpPr/>
          <p:nvPr/>
        </p:nvSpPr>
        <p:spPr>
          <a:xfrm>
            <a:off x="878542" y="2807732"/>
            <a:ext cx="2057399" cy="304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partition function</a:t>
            </a:r>
          </a:p>
        </p:txBody>
      </p:sp>
      <p:sp>
        <p:nvSpPr>
          <p:cNvPr id="10" name="Oval 9"/>
          <p:cNvSpPr/>
          <p:nvPr/>
        </p:nvSpPr>
        <p:spPr>
          <a:xfrm>
            <a:off x="954740" y="1664732"/>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M</a:t>
            </a:r>
          </a:p>
        </p:txBody>
      </p:sp>
      <p:cxnSp>
        <p:nvCxnSpPr>
          <p:cNvPr id="13" name="Straight Arrow Connector 12"/>
          <p:cNvCxnSpPr>
            <a:stCxn id="10" idx="4"/>
          </p:cNvCxnSpPr>
          <p:nvPr/>
        </p:nvCxnSpPr>
        <p:spPr>
          <a:xfrm>
            <a:off x="1107140" y="1969532"/>
            <a:ext cx="0" cy="228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4" name="Straight Connector 23"/>
          <p:cNvCxnSpPr/>
          <p:nvPr/>
        </p:nvCxnSpPr>
        <p:spPr>
          <a:xfrm>
            <a:off x="1107140" y="1512332"/>
            <a:ext cx="0" cy="152400"/>
          </a:xfrm>
          <a:prstGeom prst="line">
            <a:avLst/>
          </a:prstGeom>
        </p:spPr>
        <p:style>
          <a:lnRef idx="2">
            <a:schemeClr val="dk1"/>
          </a:lnRef>
          <a:fillRef idx="0">
            <a:schemeClr val="dk1"/>
          </a:fillRef>
          <a:effectRef idx="1">
            <a:schemeClr val="dk1"/>
          </a:effectRef>
          <a:fontRef idx="minor">
            <a:schemeClr val="tx1"/>
          </a:fontRef>
        </p:style>
      </p:cxnSp>
      <p:sp>
        <p:nvSpPr>
          <p:cNvPr id="27" name="Oval 26"/>
          <p:cNvSpPr/>
          <p:nvPr/>
        </p:nvSpPr>
        <p:spPr>
          <a:xfrm>
            <a:off x="1716740" y="1664732"/>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M</a:t>
            </a:r>
          </a:p>
        </p:txBody>
      </p:sp>
      <p:cxnSp>
        <p:nvCxnSpPr>
          <p:cNvPr id="28" name="Straight Arrow Connector 27"/>
          <p:cNvCxnSpPr>
            <a:stCxn id="27" idx="4"/>
          </p:cNvCxnSpPr>
          <p:nvPr/>
        </p:nvCxnSpPr>
        <p:spPr>
          <a:xfrm>
            <a:off x="1869140" y="1969532"/>
            <a:ext cx="0" cy="228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9" name="Straight Connector 28"/>
          <p:cNvCxnSpPr/>
          <p:nvPr/>
        </p:nvCxnSpPr>
        <p:spPr>
          <a:xfrm>
            <a:off x="1869140" y="1512332"/>
            <a:ext cx="0" cy="152400"/>
          </a:xfrm>
          <a:prstGeom prst="line">
            <a:avLst/>
          </a:prstGeom>
        </p:spPr>
        <p:style>
          <a:lnRef idx="2">
            <a:schemeClr val="dk1"/>
          </a:lnRef>
          <a:fillRef idx="0">
            <a:schemeClr val="dk1"/>
          </a:fillRef>
          <a:effectRef idx="1">
            <a:schemeClr val="dk1"/>
          </a:effectRef>
          <a:fontRef idx="minor">
            <a:schemeClr val="tx1"/>
          </a:fontRef>
        </p:style>
      </p:cxnSp>
      <p:sp>
        <p:nvSpPr>
          <p:cNvPr id="30" name="Oval 29"/>
          <p:cNvSpPr/>
          <p:nvPr/>
        </p:nvSpPr>
        <p:spPr>
          <a:xfrm>
            <a:off x="2478740" y="1664732"/>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M</a:t>
            </a:r>
          </a:p>
        </p:txBody>
      </p:sp>
      <p:cxnSp>
        <p:nvCxnSpPr>
          <p:cNvPr id="31" name="Straight Arrow Connector 30"/>
          <p:cNvCxnSpPr>
            <a:stCxn id="30" idx="4"/>
          </p:cNvCxnSpPr>
          <p:nvPr/>
        </p:nvCxnSpPr>
        <p:spPr>
          <a:xfrm>
            <a:off x="2631140" y="1969532"/>
            <a:ext cx="0" cy="228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2" name="Straight Connector 31"/>
          <p:cNvCxnSpPr/>
          <p:nvPr/>
        </p:nvCxnSpPr>
        <p:spPr>
          <a:xfrm>
            <a:off x="2631140" y="1512332"/>
            <a:ext cx="0" cy="152400"/>
          </a:xfrm>
          <a:prstGeom prst="line">
            <a:avLst/>
          </a:prstGeom>
        </p:spPr>
        <p:style>
          <a:lnRef idx="2">
            <a:schemeClr val="dk1"/>
          </a:lnRef>
          <a:fillRef idx="0">
            <a:schemeClr val="dk1"/>
          </a:fillRef>
          <a:effectRef idx="1">
            <a:schemeClr val="dk1"/>
          </a:effectRef>
          <a:fontRef idx="minor">
            <a:schemeClr val="tx1"/>
          </a:fontRef>
        </p:style>
      </p:cxnSp>
      <p:sp>
        <p:nvSpPr>
          <p:cNvPr id="33" name="Rectangle 32"/>
          <p:cNvSpPr/>
          <p:nvPr/>
        </p:nvSpPr>
        <p:spPr>
          <a:xfrm>
            <a:off x="3545540" y="1207532"/>
            <a:ext cx="2362200" cy="1981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graphicFrame>
        <p:nvGraphicFramePr>
          <p:cNvPr id="34" name="Table 33"/>
          <p:cNvGraphicFramePr>
            <a:graphicFrameLocks noGrp="1"/>
          </p:cNvGraphicFramePr>
          <p:nvPr/>
        </p:nvGraphicFramePr>
        <p:xfrm>
          <a:off x="3621741" y="1283732"/>
          <a:ext cx="2209799" cy="320040"/>
        </p:xfrm>
        <a:graphic>
          <a:graphicData uri="http://schemas.openxmlformats.org/drawingml/2006/table">
            <a:tbl>
              <a:tblPr firstRow="1" bandRow="1">
                <a:tableStyleId>{5C22544A-7EE6-4342-B048-85BDC9FD1C3A}</a:tableStyleId>
              </a:tblPr>
              <a:tblGrid>
                <a:gridCol w="753341">
                  <a:extLst>
                    <a:ext uri="{9D8B030D-6E8A-4147-A177-3AD203B41FA5}">
                      <a16:colId xmlns:a16="http://schemas.microsoft.com/office/drawing/2014/main" val="20000"/>
                    </a:ext>
                  </a:extLst>
                </a:gridCol>
                <a:gridCol w="728229">
                  <a:extLst>
                    <a:ext uri="{9D8B030D-6E8A-4147-A177-3AD203B41FA5}">
                      <a16:colId xmlns:a16="http://schemas.microsoft.com/office/drawing/2014/main" val="20001"/>
                    </a:ext>
                  </a:extLst>
                </a:gridCol>
                <a:gridCol w="728229">
                  <a:extLst>
                    <a:ext uri="{9D8B030D-6E8A-4147-A177-3AD203B41FA5}">
                      <a16:colId xmlns:a16="http://schemas.microsoft.com/office/drawing/2014/main" val="20002"/>
                    </a:ext>
                  </a:extLst>
                </a:gridCol>
              </a:tblGrid>
              <a:tr h="314960">
                <a:tc>
                  <a:txBody>
                    <a:bodyPr/>
                    <a:lstStyle/>
                    <a:p>
                      <a:r>
                        <a:rPr lang="en-US" sz="1500" dirty="0"/>
                        <a:t>data</a:t>
                      </a:r>
                    </a:p>
                  </a:txBody>
                  <a:tcPr>
                    <a:solidFill>
                      <a:schemeClr val="tx1"/>
                    </a:solidFill>
                  </a:tcPr>
                </a:tc>
                <a:tc>
                  <a:txBody>
                    <a:bodyPr/>
                    <a:lstStyle/>
                    <a:p>
                      <a:r>
                        <a:rPr lang="en-US" sz="1500" dirty="0"/>
                        <a:t>data</a:t>
                      </a:r>
                    </a:p>
                  </a:txBody>
                  <a:tcPr>
                    <a:solidFill>
                      <a:schemeClr val="tx1"/>
                    </a:solidFill>
                  </a:tcPr>
                </a:tc>
                <a:tc>
                  <a:txBody>
                    <a:bodyPr/>
                    <a:lstStyle/>
                    <a:p>
                      <a:r>
                        <a:rPr lang="en-US" sz="1500" dirty="0"/>
                        <a:t>data</a:t>
                      </a:r>
                    </a:p>
                  </a:txBody>
                  <a:tcPr>
                    <a:solidFill>
                      <a:schemeClr val="tx1"/>
                    </a:solidFill>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35" name="Table 34"/>
              <p:cNvGraphicFramePr>
                <a:graphicFrameLocks noGrp="1"/>
              </p:cNvGraphicFramePr>
              <p:nvPr/>
            </p:nvGraphicFramePr>
            <p:xfrm>
              <a:off x="3621738" y="2167652"/>
              <a:ext cx="2209805" cy="502920"/>
            </p:xfrm>
            <a:graphic>
              <a:graphicData uri="http://schemas.openxmlformats.org/drawingml/2006/table">
                <a:tbl>
                  <a:tblPr firstRow="1" bandRow="1">
                    <a:tableStyleId>{5C22544A-7EE6-4342-B048-85BDC9FD1C3A}</a:tableStyleId>
                  </a:tblPr>
                  <a:tblGrid>
                    <a:gridCol w="753343">
                      <a:extLst>
                        <a:ext uri="{9D8B030D-6E8A-4147-A177-3AD203B41FA5}">
                          <a16:colId xmlns:a16="http://schemas.microsoft.com/office/drawing/2014/main" val="20000"/>
                        </a:ext>
                      </a:extLst>
                    </a:gridCol>
                    <a:gridCol w="728231">
                      <a:extLst>
                        <a:ext uri="{9D8B030D-6E8A-4147-A177-3AD203B41FA5}">
                          <a16:colId xmlns:a16="http://schemas.microsoft.com/office/drawing/2014/main" val="20001"/>
                        </a:ext>
                      </a:extLst>
                    </a:gridCol>
                    <a:gridCol w="728231">
                      <a:extLst>
                        <a:ext uri="{9D8B030D-6E8A-4147-A177-3AD203B41FA5}">
                          <a16:colId xmlns:a16="http://schemas.microsoft.com/office/drawing/2014/main" val="20002"/>
                        </a:ext>
                      </a:extLst>
                    </a:gridCol>
                  </a:tblGrid>
                  <a:tr h="497840">
                    <a:tc>
                      <a:txBody>
                        <a:bodyPr/>
                        <a:lstStyle/>
                        <a:p>
                          <a:r>
                            <a:rPr lang="en-US" sz="1200" dirty="0"/>
                            <a:t>(</a:t>
                          </a:r>
                          <a14:m>
                            <m:oMath xmlns:m="http://schemas.openxmlformats.org/officeDocument/2006/math">
                              <m:sSub>
                                <m:sSubPr>
                                  <m:ctrlPr>
                                    <a:rPr lang="en-US" sz="1200" b="1" i="1" smtClean="0">
                                      <a:latin typeface="Cambria Math" panose="02040503050406030204" pitchFamily="18" charset="0"/>
                                    </a:rPr>
                                  </m:ctrlPr>
                                </m:sSubPr>
                                <m:e>
                                  <m:r>
                                    <a:rPr lang="en-US" sz="1200" b="1" i="1" smtClean="0">
                                      <a:latin typeface="Cambria Math"/>
                                    </a:rPr>
                                    <m:t>𝒌</m:t>
                                  </m:r>
                                </m:e>
                                <m:sub>
                                  <m:r>
                                    <a:rPr lang="en-US" sz="1200" b="1" i="1" smtClean="0">
                                      <a:latin typeface="Cambria Math"/>
                                    </a:rPr>
                                    <m:t>𝟐</m:t>
                                  </m:r>
                                </m:sub>
                              </m:sSub>
                              <m:r>
                                <a:rPr lang="en-US" sz="1200" b="1" i="1" smtClean="0">
                                  <a:latin typeface="Cambria Math"/>
                                </a:rPr>
                                <m:t>, </m:t>
                              </m:r>
                              <m:sSub>
                                <m:sSubPr>
                                  <m:ctrlPr>
                                    <a:rPr lang="en-US" sz="1200" b="1" i="1" smtClean="0">
                                      <a:latin typeface="Cambria Math" panose="02040503050406030204" pitchFamily="18" charset="0"/>
                                    </a:rPr>
                                  </m:ctrlPr>
                                </m:sSubPr>
                                <m:e>
                                  <m:r>
                                    <a:rPr lang="en-US" sz="1200" b="1" i="1" smtClean="0">
                                      <a:latin typeface="Cambria Math"/>
                                    </a:rPr>
                                    <m:t>𝒗</m:t>
                                  </m:r>
                                </m:e>
                                <m:sub>
                                  <m:r>
                                    <a:rPr lang="en-US" sz="1200" b="1" i="1" smtClean="0">
                                      <a:latin typeface="Cambria Math"/>
                                    </a:rPr>
                                    <m:t>𝟏</m:t>
                                  </m:r>
                                </m:sub>
                              </m:sSub>
                            </m:oMath>
                          </a14:m>
                          <a:r>
                            <a:rPr lang="en-US" sz="1200" dirty="0"/>
                            <a:t>)</a:t>
                          </a:r>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FFFFFF"/>
                              </a:solidFill>
                              <a:effectLst/>
                              <a:uLnTx/>
                              <a:uFillTx/>
                              <a:latin typeface="+mn-lt"/>
                              <a:ea typeface="+mn-ea"/>
                              <a:cs typeface="+mn-cs"/>
                              <a:sym typeface="Arial"/>
                            </a:rPr>
                            <a:t>(</a:t>
                          </a:r>
                          <a14:m>
                            <m:oMath xmlns:m="http://schemas.openxmlformats.org/officeDocument/2006/math">
                              <m:sSub>
                                <m:sSubPr>
                                  <m:ctrlPr>
                                    <a:rPr kumimoji="0" lang="en-US" sz="1200" b="1"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sym typeface="Arial"/>
                                    </a:rPr>
                                  </m:ctrlPr>
                                </m:sSubPr>
                                <m:e>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𝒌</m:t>
                                  </m:r>
                                </m:e>
                                <m: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𝟏</m:t>
                                  </m:r>
                                </m:sub>
                              </m:s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 </m:t>
                              </m:r>
                              <m:sSub>
                                <m:sSubPr>
                                  <m:ctrlPr>
                                    <a:rPr kumimoji="0" lang="en-US" sz="1200" b="1"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sym typeface="Arial"/>
                                    </a:rPr>
                                  </m:ctrlPr>
                                </m:sSubPr>
                                <m:e>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𝒗</m:t>
                                  </m:r>
                                </m:e>
                                <m: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𝟒</m:t>
                                  </m:r>
                                </m:sub>
                              </m:sSub>
                            </m:oMath>
                          </a14:m>
                          <a:r>
                            <a:rPr kumimoji="0" lang="en-US" sz="1200" b="1" i="0" u="none" strike="noStrike" kern="0" cap="none" spc="0" normalizeH="0" baseline="0" noProof="0" dirty="0">
                              <a:ln>
                                <a:noFill/>
                              </a:ln>
                              <a:solidFill>
                                <a:srgbClr val="FFFFFF"/>
                              </a:solidFill>
                              <a:effectLst/>
                              <a:uLnTx/>
                              <a:uFillTx/>
                              <a:latin typeface="+mn-lt"/>
                              <a:ea typeface="+mn-ea"/>
                              <a:cs typeface="+mn-cs"/>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FFFFFF"/>
                              </a:solidFill>
                              <a:effectLst/>
                              <a:uLnTx/>
                              <a:uFillTx/>
                              <a:latin typeface="+mn-lt"/>
                              <a:ea typeface="+mn-ea"/>
                              <a:cs typeface="+mn-cs"/>
                              <a:sym typeface="Arial"/>
                            </a:rPr>
                            <a:t>(</a:t>
                          </a:r>
                          <a14:m>
                            <m:oMath xmlns:m="http://schemas.openxmlformats.org/officeDocument/2006/math">
                              <m:sSub>
                                <m:sSubPr>
                                  <m:ctrlPr>
                                    <a:rPr kumimoji="0" lang="en-US" sz="1200" b="1"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sym typeface="Arial"/>
                                    </a:rPr>
                                  </m:ctrlPr>
                                </m:sSubPr>
                                <m:e>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𝒌</m:t>
                                  </m:r>
                                </m:e>
                                <m: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𝟐</m:t>
                                  </m:r>
                                </m:sub>
                              </m:s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 </m:t>
                              </m:r>
                              <m:sSub>
                                <m:sSubPr>
                                  <m:ctrlPr>
                                    <a:rPr kumimoji="0" lang="en-US" sz="1200" b="1"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sym typeface="Arial"/>
                                    </a:rPr>
                                  </m:ctrlPr>
                                </m:sSubPr>
                                <m:e>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𝒗</m:t>
                                  </m:r>
                                </m:e>
                                <m: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𝟐</m:t>
                                  </m:r>
                                </m:sub>
                              </m:sSub>
                            </m:oMath>
                          </a14:m>
                          <a:r>
                            <a:rPr kumimoji="0" lang="en-US" sz="1200" b="1" i="0" u="none" strike="noStrike" kern="0" cap="none" spc="0" normalizeH="0" baseline="0" noProof="0" dirty="0">
                              <a:ln>
                                <a:noFill/>
                              </a:ln>
                              <a:solidFill>
                                <a:srgbClr val="FFFFFF"/>
                              </a:solidFill>
                              <a:effectLst/>
                              <a:uLnTx/>
                              <a:uFillTx/>
                              <a:latin typeface="+mn-lt"/>
                              <a:ea typeface="+mn-ea"/>
                              <a:cs typeface="+mn-cs"/>
                              <a:sym typeface="Arial"/>
                            </a:rPr>
                            <a:t>)</a:t>
                          </a:r>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FFFFFF"/>
                              </a:solidFill>
                              <a:effectLst/>
                              <a:uLnTx/>
                              <a:uFillTx/>
                              <a:latin typeface="+mn-lt"/>
                              <a:ea typeface="+mn-ea"/>
                              <a:cs typeface="+mn-cs"/>
                              <a:sym typeface="Arial"/>
                            </a:rPr>
                            <a:t>(</a:t>
                          </a:r>
                          <a14:m>
                            <m:oMath xmlns:m="http://schemas.openxmlformats.org/officeDocument/2006/math">
                              <m:sSub>
                                <m:sSubPr>
                                  <m:ctrlPr>
                                    <a:rPr kumimoji="0" lang="en-US" sz="1200" b="1"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sym typeface="Arial"/>
                                    </a:rPr>
                                  </m:ctrlPr>
                                </m:sSubPr>
                                <m:e>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𝒌</m:t>
                                  </m:r>
                                </m:e>
                                <m: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𝟑</m:t>
                                  </m:r>
                                </m:sub>
                              </m:s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 </m:t>
                              </m:r>
                              <m:sSub>
                                <m:sSubPr>
                                  <m:ctrlPr>
                                    <a:rPr kumimoji="0" lang="en-US" sz="1200" b="1"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sym typeface="Arial"/>
                                    </a:rPr>
                                  </m:ctrlPr>
                                </m:sSubPr>
                                <m:e>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𝒗</m:t>
                                  </m:r>
                                </m:e>
                                <m: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𝟓</m:t>
                                  </m:r>
                                </m:sub>
                              </m:sSub>
                            </m:oMath>
                          </a14:m>
                          <a:r>
                            <a:rPr kumimoji="0" lang="en-US" sz="1200" b="1" i="0" u="none" strike="noStrike" kern="0" cap="none" spc="0" normalizeH="0" baseline="0" noProof="0" dirty="0">
                              <a:ln>
                                <a:noFill/>
                              </a:ln>
                              <a:solidFill>
                                <a:srgbClr val="FFFFFF"/>
                              </a:solidFill>
                              <a:effectLst/>
                              <a:uLnTx/>
                              <a:uFillTx/>
                              <a:latin typeface="+mn-lt"/>
                              <a:ea typeface="+mn-ea"/>
                              <a:cs typeface="+mn-cs"/>
                              <a:sym typeface="Arial"/>
                            </a:rPr>
                            <a:t>)</a:t>
                          </a:r>
                        </a:p>
                        <a:p>
                          <a:endParaRPr lang="en-US" sz="1500" dirty="0"/>
                        </a:p>
                      </a:txBody>
                      <a:tcPr>
                        <a:solidFill>
                          <a:schemeClr val="tx1"/>
                        </a:solidFill>
                      </a:tcPr>
                    </a:tc>
                    <a:extLst>
                      <a:ext uri="{0D108BD9-81ED-4DB2-BD59-A6C34878D82A}">
                        <a16:rowId xmlns:a16="http://schemas.microsoft.com/office/drawing/2014/main" val="10000"/>
                      </a:ext>
                    </a:extLst>
                  </a:tr>
                </a:tbl>
              </a:graphicData>
            </a:graphic>
          </p:graphicFrame>
        </mc:Choice>
        <mc:Fallback xmlns="">
          <p:graphicFrame>
            <p:nvGraphicFramePr>
              <p:cNvPr id="35" name="Table 34"/>
              <p:cNvGraphicFramePr>
                <a:graphicFrameLocks noGrp="1"/>
              </p:cNvGraphicFramePr>
              <p:nvPr>
                <p:extLst>
                  <p:ext uri="{D42A27DB-BD31-4B8C-83A1-F6EECF244321}">
                    <p14:modId xmlns:p14="http://schemas.microsoft.com/office/powerpoint/2010/main" val="3412244890"/>
                  </p:ext>
                </p:extLst>
              </p:nvPr>
            </p:nvGraphicFramePr>
            <p:xfrm>
              <a:off x="3621738" y="2167652"/>
              <a:ext cx="2209805" cy="502920"/>
            </p:xfrm>
            <a:graphic>
              <a:graphicData uri="http://schemas.openxmlformats.org/drawingml/2006/table">
                <a:tbl>
                  <a:tblPr firstRow="1" bandRow="1">
                    <a:tableStyleId>{5C22544A-7EE6-4342-B048-85BDC9FD1C3A}</a:tableStyleId>
                  </a:tblPr>
                  <a:tblGrid>
                    <a:gridCol w="753343">
                      <a:extLst>
                        <a:ext uri="{9D8B030D-6E8A-4147-A177-3AD203B41FA5}">
                          <a16:colId xmlns:a16="http://schemas.microsoft.com/office/drawing/2014/main" val="20000"/>
                        </a:ext>
                      </a:extLst>
                    </a:gridCol>
                    <a:gridCol w="728231">
                      <a:extLst>
                        <a:ext uri="{9D8B030D-6E8A-4147-A177-3AD203B41FA5}">
                          <a16:colId xmlns:a16="http://schemas.microsoft.com/office/drawing/2014/main" val="20001"/>
                        </a:ext>
                      </a:extLst>
                    </a:gridCol>
                    <a:gridCol w="728231">
                      <a:extLst>
                        <a:ext uri="{9D8B030D-6E8A-4147-A177-3AD203B41FA5}">
                          <a16:colId xmlns:a16="http://schemas.microsoft.com/office/drawing/2014/main" val="20002"/>
                        </a:ext>
                      </a:extLst>
                    </a:gridCol>
                  </a:tblGrid>
                  <a:tr h="502920">
                    <a:tc>
                      <a:txBody>
                        <a:bodyPr/>
                        <a:lstStyle/>
                        <a:p>
                          <a:endParaRPr lang="en-US"/>
                        </a:p>
                      </a:txBody>
                      <a:tcPr>
                        <a:blipFill>
                          <a:blip r:embed="rId3"/>
                          <a:stretch>
                            <a:fillRect l="-806" t="-1190" r="-195968" b="-4762"/>
                          </a:stretch>
                        </a:blipFill>
                      </a:tcPr>
                    </a:tc>
                    <a:tc>
                      <a:txBody>
                        <a:bodyPr/>
                        <a:lstStyle/>
                        <a:p>
                          <a:endParaRPr lang="en-US"/>
                        </a:p>
                      </a:txBody>
                      <a:tcPr>
                        <a:blipFill>
                          <a:blip r:embed="rId3"/>
                          <a:stretch>
                            <a:fillRect l="-105042" t="-1190" r="-104202" b="-4762"/>
                          </a:stretch>
                        </a:blipFill>
                      </a:tcPr>
                    </a:tc>
                    <a:tc>
                      <a:txBody>
                        <a:bodyPr/>
                        <a:lstStyle/>
                        <a:p>
                          <a:endParaRPr lang="en-US"/>
                        </a:p>
                      </a:txBody>
                      <a:tcPr>
                        <a:blipFill>
                          <a:blip r:embed="rId3"/>
                          <a:stretch>
                            <a:fillRect l="-203333" t="-1190" r="-3333" b="-4762"/>
                          </a:stretch>
                        </a:blipFill>
                      </a:tcPr>
                    </a:tc>
                    <a:extLst>
                      <a:ext uri="{0D108BD9-81ED-4DB2-BD59-A6C34878D82A}">
                        <a16:rowId xmlns:a16="http://schemas.microsoft.com/office/drawing/2014/main" val="10000"/>
                      </a:ext>
                    </a:extLst>
                  </a:tr>
                </a:tbl>
              </a:graphicData>
            </a:graphic>
          </p:graphicFrame>
        </mc:Fallback>
      </mc:AlternateContent>
      <p:sp>
        <p:nvSpPr>
          <p:cNvPr id="36" name="Rounded Rectangle 35"/>
          <p:cNvSpPr/>
          <p:nvPr/>
        </p:nvSpPr>
        <p:spPr>
          <a:xfrm>
            <a:off x="3697942" y="2807732"/>
            <a:ext cx="2057399" cy="304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partition function</a:t>
            </a:r>
          </a:p>
        </p:txBody>
      </p:sp>
      <p:sp>
        <p:nvSpPr>
          <p:cNvPr id="37" name="Oval 36"/>
          <p:cNvSpPr/>
          <p:nvPr/>
        </p:nvSpPr>
        <p:spPr>
          <a:xfrm>
            <a:off x="3774140" y="1664732"/>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M</a:t>
            </a:r>
          </a:p>
        </p:txBody>
      </p:sp>
      <p:cxnSp>
        <p:nvCxnSpPr>
          <p:cNvPr id="38" name="Straight Arrow Connector 37"/>
          <p:cNvCxnSpPr>
            <a:stCxn id="37" idx="4"/>
          </p:cNvCxnSpPr>
          <p:nvPr/>
        </p:nvCxnSpPr>
        <p:spPr>
          <a:xfrm>
            <a:off x="3926540" y="1969532"/>
            <a:ext cx="0" cy="228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9" name="Straight Connector 38"/>
          <p:cNvCxnSpPr/>
          <p:nvPr/>
        </p:nvCxnSpPr>
        <p:spPr>
          <a:xfrm>
            <a:off x="3926540" y="1512332"/>
            <a:ext cx="0" cy="152400"/>
          </a:xfrm>
          <a:prstGeom prst="line">
            <a:avLst/>
          </a:prstGeom>
        </p:spPr>
        <p:style>
          <a:lnRef idx="2">
            <a:schemeClr val="dk1"/>
          </a:lnRef>
          <a:fillRef idx="0">
            <a:schemeClr val="dk1"/>
          </a:fillRef>
          <a:effectRef idx="1">
            <a:schemeClr val="dk1"/>
          </a:effectRef>
          <a:fontRef idx="minor">
            <a:schemeClr val="tx1"/>
          </a:fontRef>
        </p:style>
      </p:cxnSp>
      <p:sp>
        <p:nvSpPr>
          <p:cNvPr id="40" name="Oval 39"/>
          <p:cNvSpPr/>
          <p:nvPr/>
        </p:nvSpPr>
        <p:spPr>
          <a:xfrm>
            <a:off x="4536140" y="1664732"/>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M</a:t>
            </a:r>
          </a:p>
        </p:txBody>
      </p:sp>
      <p:cxnSp>
        <p:nvCxnSpPr>
          <p:cNvPr id="41" name="Straight Arrow Connector 40"/>
          <p:cNvCxnSpPr>
            <a:stCxn id="40" idx="4"/>
          </p:cNvCxnSpPr>
          <p:nvPr/>
        </p:nvCxnSpPr>
        <p:spPr>
          <a:xfrm>
            <a:off x="4688540" y="1969532"/>
            <a:ext cx="0" cy="228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2" name="Straight Connector 41"/>
          <p:cNvCxnSpPr/>
          <p:nvPr/>
        </p:nvCxnSpPr>
        <p:spPr>
          <a:xfrm>
            <a:off x="4688540" y="1512332"/>
            <a:ext cx="0" cy="152400"/>
          </a:xfrm>
          <a:prstGeom prst="line">
            <a:avLst/>
          </a:prstGeom>
        </p:spPr>
        <p:style>
          <a:lnRef idx="2">
            <a:schemeClr val="dk1"/>
          </a:lnRef>
          <a:fillRef idx="0">
            <a:schemeClr val="dk1"/>
          </a:fillRef>
          <a:effectRef idx="1">
            <a:schemeClr val="dk1"/>
          </a:effectRef>
          <a:fontRef idx="minor">
            <a:schemeClr val="tx1"/>
          </a:fontRef>
        </p:style>
      </p:cxnSp>
      <p:sp>
        <p:nvSpPr>
          <p:cNvPr id="43" name="Oval 42"/>
          <p:cNvSpPr/>
          <p:nvPr/>
        </p:nvSpPr>
        <p:spPr>
          <a:xfrm>
            <a:off x="5298140" y="1664732"/>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M</a:t>
            </a:r>
          </a:p>
        </p:txBody>
      </p:sp>
      <p:cxnSp>
        <p:nvCxnSpPr>
          <p:cNvPr id="44" name="Straight Arrow Connector 43"/>
          <p:cNvCxnSpPr>
            <a:stCxn id="43" idx="4"/>
          </p:cNvCxnSpPr>
          <p:nvPr/>
        </p:nvCxnSpPr>
        <p:spPr>
          <a:xfrm>
            <a:off x="5450540" y="1969532"/>
            <a:ext cx="0" cy="228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5" name="Straight Connector 44"/>
          <p:cNvCxnSpPr/>
          <p:nvPr/>
        </p:nvCxnSpPr>
        <p:spPr>
          <a:xfrm>
            <a:off x="5450540" y="1512332"/>
            <a:ext cx="0" cy="152400"/>
          </a:xfrm>
          <a:prstGeom prst="line">
            <a:avLst/>
          </a:prstGeom>
        </p:spPr>
        <p:style>
          <a:lnRef idx="2">
            <a:schemeClr val="dk1"/>
          </a:lnRef>
          <a:fillRef idx="0">
            <a:schemeClr val="dk1"/>
          </a:fillRef>
          <a:effectRef idx="1">
            <a:schemeClr val="dk1"/>
          </a:effectRef>
          <a:fontRef idx="minor">
            <a:schemeClr val="tx1"/>
          </a:fontRef>
        </p:style>
      </p:cxnSp>
      <p:sp>
        <p:nvSpPr>
          <p:cNvPr id="46" name="Rectangle 45"/>
          <p:cNvSpPr/>
          <p:nvPr/>
        </p:nvSpPr>
        <p:spPr>
          <a:xfrm>
            <a:off x="6364940" y="1207532"/>
            <a:ext cx="2362200" cy="1981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graphicFrame>
        <p:nvGraphicFramePr>
          <p:cNvPr id="47" name="Table 46"/>
          <p:cNvGraphicFramePr>
            <a:graphicFrameLocks noGrp="1"/>
          </p:cNvGraphicFramePr>
          <p:nvPr/>
        </p:nvGraphicFramePr>
        <p:xfrm>
          <a:off x="6441141" y="1283732"/>
          <a:ext cx="2209799" cy="320040"/>
        </p:xfrm>
        <a:graphic>
          <a:graphicData uri="http://schemas.openxmlformats.org/drawingml/2006/table">
            <a:tbl>
              <a:tblPr firstRow="1" bandRow="1">
                <a:tableStyleId>{5C22544A-7EE6-4342-B048-85BDC9FD1C3A}</a:tableStyleId>
              </a:tblPr>
              <a:tblGrid>
                <a:gridCol w="753341">
                  <a:extLst>
                    <a:ext uri="{9D8B030D-6E8A-4147-A177-3AD203B41FA5}">
                      <a16:colId xmlns:a16="http://schemas.microsoft.com/office/drawing/2014/main" val="20000"/>
                    </a:ext>
                  </a:extLst>
                </a:gridCol>
                <a:gridCol w="728229">
                  <a:extLst>
                    <a:ext uri="{9D8B030D-6E8A-4147-A177-3AD203B41FA5}">
                      <a16:colId xmlns:a16="http://schemas.microsoft.com/office/drawing/2014/main" val="20001"/>
                    </a:ext>
                  </a:extLst>
                </a:gridCol>
                <a:gridCol w="728229">
                  <a:extLst>
                    <a:ext uri="{9D8B030D-6E8A-4147-A177-3AD203B41FA5}">
                      <a16:colId xmlns:a16="http://schemas.microsoft.com/office/drawing/2014/main" val="20002"/>
                    </a:ext>
                  </a:extLst>
                </a:gridCol>
              </a:tblGrid>
              <a:tr h="314960">
                <a:tc>
                  <a:txBody>
                    <a:bodyPr/>
                    <a:lstStyle/>
                    <a:p>
                      <a:r>
                        <a:rPr lang="en-US" sz="1500" dirty="0"/>
                        <a:t>data</a:t>
                      </a:r>
                    </a:p>
                  </a:txBody>
                  <a:tcPr>
                    <a:solidFill>
                      <a:schemeClr val="tx1"/>
                    </a:solidFill>
                  </a:tcPr>
                </a:tc>
                <a:tc>
                  <a:txBody>
                    <a:bodyPr/>
                    <a:lstStyle/>
                    <a:p>
                      <a:r>
                        <a:rPr lang="en-US" sz="1500" dirty="0"/>
                        <a:t>data</a:t>
                      </a:r>
                    </a:p>
                  </a:txBody>
                  <a:tcPr>
                    <a:solidFill>
                      <a:schemeClr val="tx1"/>
                    </a:solidFill>
                  </a:tcPr>
                </a:tc>
                <a:tc>
                  <a:txBody>
                    <a:bodyPr/>
                    <a:lstStyle/>
                    <a:p>
                      <a:r>
                        <a:rPr lang="en-US" sz="1500" dirty="0"/>
                        <a:t>data</a:t>
                      </a:r>
                    </a:p>
                  </a:txBody>
                  <a:tcPr>
                    <a:solidFill>
                      <a:schemeClr val="tx1"/>
                    </a:solidFill>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48" name="Table 47"/>
              <p:cNvGraphicFramePr>
                <a:graphicFrameLocks noGrp="1"/>
              </p:cNvGraphicFramePr>
              <p:nvPr/>
            </p:nvGraphicFramePr>
            <p:xfrm>
              <a:off x="6441138" y="2167652"/>
              <a:ext cx="2209805" cy="502920"/>
            </p:xfrm>
            <a:graphic>
              <a:graphicData uri="http://schemas.openxmlformats.org/drawingml/2006/table">
                <a:tbl>
                  <a:tblPr firstRow="1" bandRow="1">
                    <a:tableStyleId>{5C22544A-7EE6-4342-B048-85BDC9FD1C3A}</a:tableStyleId>
                  </a:tblPr>
                  <a:tblGrid>
                    <a:gridCol w="753343">
                      <a:extLst>
                        <a:ext uri="{9D8B030D-6E8A-4147-A177-3AD203B41FA5}">
                          <a16:colId xmlns:a16="http://schemas.microsoft.com/office/drawing/2014/main" val="20000"/>
                        </a:ext>
                      </a:extLst>
                    </a:gridCol>
                    <a:gridCol w="728231">
                      <a:extLst>
                        <a:ext uri="{9D8B030D-6E8A-4147-A177-3AD203B41FA5}">
                          <a16:colId xmlns:a16="http://schemas.microsoft.com/office/drawing/2014/main" val="20001"/>
                        </a:ext>
                      </a:extLst>
                    </a:gridCol>
                    <a:gridCol w="728231">
                      <a:extLst>
                        <a:ext uri="{9D8B030D-6E8A-4147-A177-3AD203B41FA5}">
                          <a16:colId xmlns:a16="http://schemas.microsoft.com/office/drawing/2014/main" val="20002"/>
                        </a:ext>
                      </a:extLst>
                    </a:gridCol>
                  </a:tblGrid>
                  <a:tr h="49784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a:t>
                          </a:r>
                          <a14:m>
                            <m:oMath xmlns:m="http://schemas.openxmlformats.org/officeDocument/2006/math">
                              <m:sSub>
                                <m:sSubPr>
                                  <m:ctrlPr>
                                    <a:rPr lang="en-US" sz="1200" b="1" i="1" smtClean="0">
                                      <a:latin typeface="Cambria Math" panose="02040503050406030204" pitchFamily="18" charset="0"/>
                                    </a:rPr>
                                  </m:ctrlPr>
                                </m:sSubPr>
                                <m:e>
                                  <m:r>
                                    <a:rPr lang="en-US" sz="1200" b="1" i="1" smtClean="0">
                                      <a:latin typeface="Cambria Math"/>
                                    </a:rPr>
                                    <m:t>𝒌</m:t>
                                  </m:r>
                                </m:e>
                                <m:sub>
                                  <m:r>
                                    <a:rPr lang="en-US" sz="1200" b="1" i="1" smtClean="0">
                                      <a:latin typeface="Cambria Math"/>
                                    </a:rPr>
                                    <m:t>𝟐</m:t>
                                  </m:r>
                                </m:sub>
                              </m:sSub>
                              <m:r>
                                <a:rPr lang="en-US" sz="1200" b="1" i="1" smtClean="0">
                                  <a:latin typeface="Cambria Math"/>
                                </a:rPr>
                                <m:t>, </m:t>
                              </m:r>
                              <m:sSub>
                                <m:sSubPr>
                                  <m:ctrlPr>
                                    <a:rPr lang="en-US" sz="1200" b="1" i="1" smtClean="0">
                                      <a:latin typeface="Cambria Math" panose="02040503050406030204" pitchFamily="18" charset="0"/>
                                    </a:rPr>
                                  </m:ctrlPr>
                                </m:sSubPr>
                                <m:e>
                                  <m:r>
                                    <a:rPr lang="en-US" sz="1200" b="1" i="1" smtClean="0">
                                      <a:latin typeface="Cambria Math"/>
                                    </a:rPr>
                                    <m:t>𝒗</m:t>
                                  </m:r>
                                </m:e>
                                <m:sub>
                                  <m:r>
                                    <a:rPr lang="en-US" sz="1200" b="1" i="1" smtClean="0">
                                      <a:latin typeface="Cambria Math"/>
                                    </a:rPr>
                                    <m:t>𝟔</m:t>
                                  </m:r>
                                </m:sub>
                              </m:sSub>
                            </m:oMath>
                          </a14:m>
                          <a:r>
                            <a:rPr lang="en-US" sz="1200" dirty="0"/>
                            <a:t>)</a:t>
                          </a:r>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FFFFFF"/>
                              </a:solidFill>
                              <a:effectLst/>
                              <a:uLnTx/>
                              <a:uFillTx/>
                              <a:latin typeface="+mn-lt"/>
                              <a:ea typeface="+mn-ea"/>
                              <a:cs typeface="+mn-cs"/>
                              <a:sym typeface="Arial"/>
                            </a:rPr>
                            <a:t>(</a:t>
                          </a:r>
                          <a14:m>
                            <m:oMath xmlns:m="http://schemas.openxmlformats.org/officeDocument/2006/math">
                              <m:sSub>
                                <m:sSubPr>
                                  <m:ctrlPr>
                                    <a:rPr kumimoji="0" lang="en-US" sz="1200" b="1"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sym typeface="Arial"/>
                                    </a:rPr>
                                  </m:ctrlPr>
                                </m:sSubPr>
                                <m:e>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𝒌</m:t>
                                  </m:r>
                                </m:e>
                                <m: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𝟑</m:t>
                                  </m:r>
                                </m:sub>
                              </m:s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 </m:t>
                              </m:r>
                              <m:sSub>
                                <m:sSubPr>
                                  <m:ctrlPr>
                                    <a:rPr kumimoji="0" lang="en-US" sz="1200" b="1"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sym typeface="Arial"/>
                                    </a:rPr>
                                  </m:ctrlPr>
                                </m:sSubPr>
                                <m:e>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𝒗</m:t>
                                  </m:r>
                                </m:e>
                                <m: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𝟕</m:t>
                                  </m:r>
                                </m:sub>
                              </m:sSub>
                            </m:oMath>
                          </a14:m>
                          <a:r>
                            <a:rPr kumimoji="0" lang="en-US" sz="1200" b="1" i="0" u="none" strike="noStrike" kern="0" cap="none" spc="0" normalizeH="0" baseline="0" noProof="0" dirty="0">
                              <a:ln>
                                <a:noFill/>
                              </a:ln>
                              <a:solidFill>
                                <a:srgbClr val="FFFFFF"/>
                              </a:solidFill>
                              <a:effectLst/>
                              <a:uLnTx/>
                              <a:uFillTx/>
                              <a:latin typeface="+mn-lt"/>
                              <a:ea typeface="+mn-ea"/>
                              <a:cs typeface="+mn-cs"/>
                              <a:sym typeface="Arial"/>
                            </a:rPr>
                            <a:t>)</a:t>
                          </a:r>
                        </a:p>
                        <a:p>
                          <a:endParaRPr lang="en-US" sz="1500" dirty="0"/>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FFFFFF"/>
                              </a:solidFill>
                              <a:effectLst/>
                              <a:uLnTx/>
                              <a:uFillTx/>
                              <a:latin typeface="+mn-lt"/>
                              <a:ea typeface="+mn-ea"/>
                              <a:cs typeface="+mn-cs"/>
                              <a:sym typeface="Arial"/>
                            </a:rPr>
                            <a:t>(</a:t>
                          </a:r>
                          <a14:m>
                            <m:oMath xmlns:m="http://schemas.openxmlformats.org/officeDocument/2006/math">
                              <m:sSub>
                                <m:sSubPr>
                                  <m:ctrlPr>
                                    <a:rPr kumimoji="0" lang="en-US" sz="1200" b="1"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sym typeface="Arial"/>
                                    </a:rPr>
                                  </m:ctrlPr>
                                </m:sSubPr>
                                <m:e>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𝒌</m:t>
                                  </m:r>
                                </m:e>
                                <m: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𝟏</m:t>
                                  </m:r>
                                </m:sub>
                              </m:s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 </m:t>
                              </m:r>
                              <m:sSub>
                                <m:sSubPr>
                                  <m:ctrlPr>
                                    <a:rPr kumimoji="0" lang="en-US" sz="1200" b="1" i="1" u="none" strike="noStrike" kern="0" cap="none" spc="0" normalizeH="0" baseline="0" noProof="0" smtClean="0">
                                      <a:ln>
                                        <a:noFill/>
                                      </a:ln>
                                      <a:solidFill>
                                        <a:srgbClr val="FFFFFF"/>
                                      </a:solidFill>
                                      <a:effectLst/>
                                      <a:uLnTx/>
                                      <a:uFillTx/>
                                      <a:latin typeface="Cambria Math" panose="02040503050406030204" pitchFamily="18" charset="0"/>
                                      <a:ea typeface="+mn-ea"/>
                                      <a:cs typeface="+mn-cs"/>
                                      <a:sym typeface="Arial"/>
                                    </a:rPr>
                                  </m:ctrlPr>
                                </m:sSubPr>
                                <m:e>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𝒗</m:t>
                                  </m:r>
                                </m:e>
                                <m:sub>
                                  <m:r>
                                    <a:rPr kumimoji="0" lang="en-US" sz="1200" b="1" i="1" u="none" strike="noStrike" kern="0" cap="none" spc="0" normalizeH="0" baseline="0" noProof="0" smtClean="0">
                                      <a:ln>
                                        <a:noFill/>
                                      </a:ln>
                                      <a:solidFill>
                                        <a:srgbClr val="FFFFFF"/>
                                      </a:solidFill>
                                      <a:effectLst/>
                                      <a:uLnTx/>
                                      <a:uFillTx/>
                                      <a:latin typeface="Cambria Math"/>
                                      <a:ea typeface="+mn-ea"/>
                                      <a:cs typeface="+mn-cs"/>
                                      <a:sym typeface="Arial"/>
                                    </a:rPr>
                                    <m:t>𝟓</m:t>
                                  </m:r>
                                </m:sub>
                              </m:sSub>
                            </m:oMath>
                          </a14:m>
                          <a:r>
                            <a:rPr kumimoji="0" lang="en-US" sz="1200" b="1" i="0" u="none" strike="noStrike" kern="0" cap="none" spc="0" normalizeH="0" baseline="0" noProof="0" dirty="0">
                              <a:ln>
                                <a:noFill/>
                              </a:ln>
                              <a:solidFill>
                                <a:srgbClr val="FFFFFF"/>
                              </a:solidFill>
                              <a:effectLst/>
                              <a:uLnTx/>
                              <a:uFillTx/>
                              <a:latin typeface="+mn-lt"/>
                              <a:ea typeface="+mn-ea"/>
                              <a:cs typeface="+mn-cs"/>
                              <a:sym typeface="Arial"/>
                            </a:rPr>
                            <a:t>)</a:t>
                          </a:r>
                        </a:p>
                        <a:p>
                          <a:endParaRPr lang="en-US" sz="1500" dirty="0"/>
                        </a:p>
                      </a:txBody>
                      <a:tcPr>
                        <a:solidFill>
                          <a:schemeClr val="tx1"/>
                        </a:solidFill>
                      </a:tcPr>
                    </a:tc>
                    <a:extLst>
                      <a:ext uri="{0D108BD9-81ED-4DB2-BD59-A6C34878D82A}">
                        <a16:rowId xmlns:a16="http://schemas.microsoft.com/office/drawing/2014/main" val="10000"/>
                      </a:ext>
                    </a:extLst>
                  </a:tr>
                </a:tbl>
              </a:graphicData>
            </a:graphic>
          </p:graphicFrame>
        </mc:Choice>
        <mc:Fallback xmlns="">
          <p:graphicFrame>
            <p:nvGraphicFramePr>
              <p:cNvPr id="48" name="Table 47"/>
              <p:cNvGraphicFramePr>
                <a:graphicFrameLocks noGrp="1"/>
              </p:cNvGraphicFramePr>
              <p:nvPr>
                <p:extLst>
                  <p:ext uri="{D42A27DB-BD31-4B8C-83A1-F6EECF244321}">
                    <p14:modId xmlns:p14="http://schemas.microsoft.com/office/powerpoint/2010/main" val="72932587"/>
                  </p:ext>
                </p:extLst>
              </p:nvPr>
            </p:nvGraphicFramePr>
            <p:xfrm>
              <a:off x="6441138" y="2167652"/>
              <a:ext cx="2209805" cy="502920"/>
            </p:xfrm>
            <a:graphic>
              <a:graphicData uri="http://schemas.openxmlformats.org/drawingml/2006/table">
                <a:tbl>
                  <a:tblPr firstRow="1" bandRow="1">
                    <a:tableStyleId>{5C22544A-7EE6-4342-B048-85BDC9FD1C3A}</a:tableStyleId>
                  </a:tblPr>
                  <a:tblGrid>
                    <a:gridCol w="753343">
                      <a:extLst>
                        <a:ext uri="{9D8B030D-6E8A-4147-A177-3AD203B41FA5}">
                          <a16:colId xmlns:a16="http://schemas.microsoft.com/office/drawing/2014/main" val="20000"/>
                        </a:ext>
                      </a:extLst>
                    </a:gridCol>
                    <a:gridCol w="728231">
                      <a:extLst>
                        <a:ext uri="{9D8B030D-6E8A-4147-A177-3AD203B41FA5}">
                          <a16:colId xmlns:a16="http://schemas.microsoft.com/office/drawing/2014/main" val="20001"/>
                        </a:ext>
                      </a:extLst>
                    </a:gridCol>
                    <a:gridCol w="728231">
                      <a:extLst>
                        <a:ext uri="{9D8B030D-6E8A-4147-A177-3AD203B41FA5}">
                          <a16:colId xmlns:a16="http://schemas.microsoft.com/office/drawing/2014/main" val="20002"/>
                        </a:ext>
                      </a:extLst>
                    </a:gridCol>
                  </a:tblGrid>
                  <a:tr h="502920">
                    <a:tc>
                      <a:txBody>
                        <a:bodyPr/>
                        <a:lstStyle/>
                        <a:p>
                          <a:endParaRPr lang="en-US"/>
                        </a:p>
                      </a:txBody>
                      <a:tcPr>
                        <a:blipFill>
                          <a:blip r:embed="rId4"/>
                          <a:stretch>
                            <a:fillRect l="-806" t="-1190" r="-196774" b="-4762"/>
                          </a:stretch>
                        </a:blipFill>
                      </a:tcPr>
                    </a:tc>
                    <a:tc>
                      <a:txBody>
                        <a:bodyPr/>
                        <a:lstStyle/>
                        <a:p>
                          <a:endParaRPr lang="en-US"/>
                        </a:p>
                      </a:txBody>
                      <a:tcPr>
                        <a:blipFill>
                          <a:blip r:embed="rId4"/>
                          <a:stretch>
                            <a:fillRect l="-104167" t="-1190" r="-103333" b="-4762"/>
                          </a:stretch>
                        </a:blipFill>
                      </a:tcPr>
                    </a:tc>
                    <a:tc>
                      <a:txBody>
                        <a:bodyPr/>
                        <a:lstStyle/>
                        <a:p>
                          <a:endParaRPr lang="en-US"/>
                        </a:p>
                      </a:txBody>
                      <a:tcPr>
                        <a:blipFill>
                          <a:blip r:embed="rId4"/>
                          <a:stretch>
                            <a:fillRect l="-204167" t="-1190" r="-3333" b="-4762"/>
                          </a:stretch>
                        </a:blipFill>
                      </a:tcPr>
                    </a:tc>
                    <a:extLst>
                      <a:ext uri="{0D108BD9-81ED-4DB2-BD59-A6C34878D82A}">
                        <a16:rowId xmlns:a16="http://schemas.microsoft.com/office/drawing/2014/main" val="10000"/>
                      </a:ext>
                    </a:extLst>
                  </a:tr>
                </a:tbl>
              </a:graphicData>
            </a:graphic>
          </p:graphicFrame>
        </mc:Fallback>
      </mc:AlternateContent>
      <p:sp>
        <p:nvSpPr>
          <p:cNvPr id="49" name="Rounded Rectangle 48"/>
          <p:cNvSpPr/>
          <p:nvPr/>
        </p:nvSpPr>
        <p:spPr>
          <a:xfrm>
            <a:off x="6517342" y="2807732"/>
            <a:ext cx="2057399" cy="304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partition function</a:t>
            </a:r>
          </a:p>
        </p:txBody>
      </p:sp>
      <p:sp>
        <p:nvSpPr>
          <p:cNvPr id="50" name="Oval 49"/>
          <p:cNvSpPr/>
          <p:nvPr/>
        </p:nvSpPr>
        <p:spPr>
          <a:xfrm>
            <a:off x="6593540" y="1664732"/>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M</a:t>
            </a:r>
          </a:p>
        </p:txBody>
      </p:sp>
      <p:cxnSp>
        <p:nvCxnSpPr>
          <p:cNvPr id="51" name="Straight Arrow Connector 50"/>
          <p:cNvCxnSpPr>
            <a:stCxn id="50" idx="4"/>
          </p:cNvCxnSpPr>
          <p:nvPr/>
        </p:nvCxnSpPr>
        <p:spPr>
          <a:xfrm>
            <a:off x="6745940" y="1969532"/>
            <a:ext cx="0" cy="228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52" name="Straight Connector 51"/>
          <p:cNvCxnSpPr/>
          <p:nvPr/>
        </p:nvCxnSpPr>
        <p:spPr>
          <a:xfrm>
            <a:off x="6745940" y="1512332"/>
            <a:ext cx="0" cy="152400"/>
          </a:xfrm>
          <a:prstGeom prst="line">
            <a:avLst/>
          </a:prstGeom>
        </p:spPr>
        <p:style>
          <a:lnRef idx="2">
            <a:schemeClr val="dk1"/>
          </a:lnRef>
          <a:fillRef idx="0">
            <a:schemeClr val="dk1"/>
          </a:fillRef>
          <a:effectRef idx="1">
            <a:schemeClr val="dk1"/>
          </a:effectRef>
          <a:fontRef idx="minor">
            <a:schemeClr val="tx1"/>
          </a:fontRef>
        </p:style>
      </p:cxnSp>
      <p:sp>
        <p:nvSpPr>
          <p:cNvPr id="53" name="Oval 52"/>
          <p:cNvSpPr/>
          <p:nvPr/>
        </p:nvSpPr>
        <p:spPr>
          <a:xfrm>
            <a:off x="7355540" y="1664732"/>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M</a:t>
            </a:r>
          </a:p>
        </p:txBody>
      </p:sp>
      <p:cxnSp>
        <p:nvCxnSpPr>
          <p:cNvPr id="54" name="Straight Arrow Connector 53"/>
          <p:cNvCxnSpPr>
            <a:stCxn id="53" idx="4"/>
          </p:cNvCxnSpPr>
          <p:nvPr/>
        </p:nvCxnSpPr>
        <p:spPr>
          <a:xfrm>
            <a:off x="7507940" y="1969532"/>
            <a:ext cx="0" cy="228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55" name="Straight Connector 54"/>
          <p:cNvCxnSpPr/>
          <p:nvPr/>
        </p:nvCxnSpPr>
        <p:spPr>
          <a:xfrm>
            <a:off x="7507940" y="1512332"/>
            <a:ext cx="0" cy="152400"/>
          </a:xfrm>
          <a:prstGeom prst="line">
            <a:avLst/>
          </a:prstGeom>
        </p:spPr>
        <p:style>
          <a:lnRef idx="2">
            <a:schemeClr val="dk1"/>
          </a:lnRef>
          <a:fillRef idx="0">
            <a:schemeClr val="dk1"/>
          </a:fillRef>
          <a:effectRef idx="1">
            <a:schemeClr val="dk1"/>
          </a:effectRef>
          <a:fontRef idx="minor">
            <a:schemeClr val="tx1"/>
          </a:fontRef>
        </p:style>
      </p:cxnSp>
      <p:sp>
        <p:nvSpPr>
          <p:cNvPr id="56" name="Oval 55"/>
          <p:cNvSpPr/>
          <p:nvPr/>
        </p:nvSpPr>
        <p:spPr>
          <a:xfrm>
            <a:off x="8117540" y="1664732"/>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M</a:t>
            </a:r>
          </a:p>
        </p:txBody>
      </p:sp>
      <p:cxnSp>
        <p:nvCxnSpPr>
          <p:cNvPr id="57" name="Straight Arrow Connector 56"/>
          <p:cNvCxnSpPr>
            <a:stCxn id="56" idx="4"/>
          </p:cNvCxnSpPr>
          <p:nvPr/>
        </p:nvCxnSpPr>
        <p:spPr>
          <a:xfrm>
            <a:off x="8269940" y="1969532"/>
            <a:ext cx="0" cy="228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58" name="Straight Connector 57"/>
          <p:cNvCxnSpPr/>
          <p:nvPr/>
        </p:nvCxnSpPr>
        <p:spPr>
          <a:xfrm>
            <a:off x="8269940" y="1512332"/>
            <a:ext cx="0" cy="152400"/>
          </a:xfrm>
          <a:prstGeom prst="line">
            <a:avLst/>
          </a:prstGeom>
        </p:spPr>
        <p:style>
          <a:lnRef idx="2">
            <a:schemeClr val="dk1"/>
          </a:lnRef>
          <a:fillRef idx="0">
            <a:schemeClr val="dk1"/>
          </a:fillRef>
          <a:effectRef idx="1">
            <a:schemeClr val="dk1"/>
          </a:effectRef>
          <a:fontRef idx="minor">
            <a:schemeClr val="tx1"/>
          </a:fontRef>
        </p:style>
      </p:cxnSp>
      <p:sp>
        <p:nvSpPr>
          <p:cNvPr id="25" name="Rectangle 24"/>
          <p:cNvSpPr/>
          <p:nvPr/>
        </p:nvSpPr>
        <p:spPr>
          <a:xfrm>
            <a:off x="802340" y="4026932"/>
            <a:ext cx="3581400" cy="18288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graphicFrame>
            <p:nvGraphicFramePr>
              <p:cNvPr id="2048" name="Table 2047"/>
              <p:cNvGraphicFramePr>
                <a:graphicFrameLocks noGrp="1"/>
              </p:cNvGraphicFramePr>
              <p:nvPr/>
            </p:nvGraphicFramePr>
            <p:xfrm>
              <a:off x="878540" y="4179332"/>
              <a:ext cx="3429000" cy="65532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tblGrid>
                  <a:tr h="314960">
                    <a:tc gridSpan="2">
                      <a:txBody>
                        <a:bodyPr/>
                        <a:lstStyle/>
                        <a:p>
                          <a:pPr algn="ctr"/>
                          <a:r>
                            <a:rPr lang="en-US" sz="1500" dirty="0"/>
                            <a:t>SORT and GROUP</a:t>
                          </a:r>
                        </a:p>
                      </a:txBody>
                      <a:tcPr>
                        <a:solidFill>
                          <a:schemeClr val="tx1"/>
                        </a:solidFill>
                      </a:tcPr>
                    </a:tc>
                    <a:tc hMerge="1">
                      <a:txBody>
                        <a:bodyPr/>
                        <a:lstStyle/>
                        <a:p>
                          <a:endParaRPr lang="en-US" dirty="0"/>
                        </a:p>
                      </a:txBody>
                      <a:tcPr>
                        <a:solidFill>
                          <a:schemeClr val="tx1"/>
                        </a:solidFill>
                      </a:tcPr>
                    </a:tc>
                    <a:extLst>
                      <a:ext uri="{0D108BD9-81ED-4DB2-BD59-A6C34878D82A}">
                        <a16:rowId xmlns:a16="http://schemas.microsoft.com/office/drawing/2014/main" val="10000"/>
                      </a:ext>
                    </a:extLst>
                  </a:tr>
                  <a:tr h="335280">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a:rPr>
                                      <m:t>𝑘</m:t>
                                    </m:r>
                                  </m:e>
                                  <m:sub>
                                    <m:r>
                                      <a:rPr lang="en-US" sz="1600" b="0" i="1" smtClean="0">
                                        <a:solidFill>
                                          <a:schemeClr val="bg1"/>
                                        </a:solidFill>
                                        <a:latin typeface="Cambria Math"/>
                                      </a:rPr>
                                      <m:t>1</m:t>
                                    </m:r>
                                  </m:sub>
                                </m:sSub>
                                <m:r>
                                  <a:rPr lang="en-US" sz="1600" b="0" i="0" smtClean="0">
                                    <a:solidFill>
                                      <a:schemeClr val="bg1"/>
                                    </a:solidFill>
                                    <a:latin typeface="Cambria Math"/>
                                  </a:rPr>
                                  <m:t>:</m:t>
                                </m:r>
                                <m:sSub>
                                  <m:sSubPr>
                                    <m:ctrlPr>
                                      <a:rPr lang="en-US" sz="1600" b="0" i="1" smtClean="0">
                                        <a:solidFill>
                                          <a:schemeClr val="bg1"/>
                                        </a:solidFill>
                                        <a:latin typeface="Cambria Math" panose="02040503050406030204" pitchFamily="18" charset="0"/>
                                      </a:rPr>
                                    </m:ctrlPr>
                                  </m:sSubPr>
                                  <m:e>
                                    <m:r>
                                      <a:rPr lang="en-US" sz="1600" b="0" i="0" smtClean="0">
                                        <a:solidFill>
                                          <a:schemeClr val="bg1"/>
                                        </a:solidFill>
                                        <a:latin typeface="Cambria Math"/>
                                      </a:rPr>
                                      <m:t> </m:t>
                                    </m:r>
                                    <m:r>
                                      <m:rPr>
                                        <m:sty m:val="p"/>
                                      </m:rPr>
                                      <a:rPr lang="en-US" sz="1600" b="0" i="0" smtClean="0">
                                        <a:solidFill>
                                          <a:schemeClr val="bg1"/>
                                        </a:solidFill>
                                        <a:latin typeface="Cambria Math"/>
                                      </a:rPr>
                                      <m:t>v</m:t>
                                    </m:r>
                                  </m:e>
                                  <m:sub>
                                    <m:r>
                                      <a:rPr lang="en-US" sz="1600" b="0" i="0" smtClean="0">
                                        <a:solidFill>
                                          <a:schemeClr val="bg1"/>
                                        </a:solidFill>
                                        <a:latin typeface="Cambria Math"/>
                                      </a:rPr>
                                      <m:t>1</m:t>
                                    </m:r>
                                  </m:sub>
                                </m:sSub>
                                <m:r>
                                  <a:rPr lang="en-US" sz="1600" b="0" i="0" smtClean="0">
                                    <a:solidFill>
                                      <a:schemeClr val="bg1"/>
                                    </a:solidFill>
                                    <a:latin typeface="Cambria Math"/>
                                  </a:rPr>
                                  <m:t>,</m:t>
                                </m:r>
                                <m:sSub>
                                  <m:sSubPr>
                                    <m:ctrlPr>
                                      <a:rPr lang="en-US" sz="1600" b="0" i="1" smtClean="0">
                                        <a:solidFill>
                                          <a:schemeClr val="bg1"/>
                                        </a:solidFill>
                                        <a:latin typeface="Cambria Math" panose="02040503050406030204" pitchFamily="18" charset="0"/>
                                      </a:rPr>
                                    </m:ctrlPr>
                                  </m:sSubPr>
                                  <m:e>
                                    <m:r>
                                      <m:rPr>
                                        <m:sty m:val="p"/>
                                      </m:rPr>
                                      <a:rPr lang="en-US" sz="1600" b="0" i="0" smtClean="0">
                                        <a:solidFill>
                                          <a:schemeClr val="bg1"/>
                                        </a:solidFill>
                                        <a:latin typeface="Cambria Math"/>
                                      </a:rPr>
                                      <m:t>v</m:t>
                                    </m:r>
                                  </m:e>
                                  <m:sub>
                                    <m:r>
                                      <a:rPr lang="en-US" sz="1600" b="0" i="0" smtClean="0">
                                        <a:solidFill>
                                          <a:schemeClr val="bg1"/>
                                        </a:solidFill>
                                        <a:latin typeface="Cambria Math"/>
                                      </a:rPr>
                                      <m:t>4</m:t>
                                    </m:r>
                                  </m:sub>
                                </m:sSub>
                                <m:r>
                                  <a:rPr lang="en-US" sz="1600" b="0" i="0" smtClean="0">
                                    <a:solidFill>
                                      <a:schemeClr val="bg1"/>
                                    </a:solidFill>
                                    <a:latin typeface="Cambria Math"/>
                                  </a:rPr>
                                  <m:t>,</m:t>
                                </m:r>
                                <m:sSub>
                                  <m:sSubPr>
                                    <m:ctrlPr>
                                      <a:rPr lang="en-US" sz="1600" b="0" i="1" smtClean="0">
                                        <a:solidFill>
                                          <a:schemeClr val="bg1"/>
                                        </a:solidFill>
                                        <a:latin typeface="Cambria Math" panose="02040503050406030204" pitchFamily="18" charset="0"/>
                                      </a:rPr>
                                    </m:ctrlPr>
                                  </m:sSubPr>
                                  <m:e>
                                    <m:r>
                                      <m:rPr>
                                        <m:sty m:val="p"/>
                                      </m:rPr>
                                      <a:rPr lang="en-US" sz="1600" b="0" i="0" smtClean="0">
                                        <a:solidFill>
                                          <a:schemeClr val="bg1"/>
                                        </a:solidFill>
                                        <a:latin typeface="Cambria Math"/>
                                      </a:rPr>
                                      <m:t>v</m:t>
                                    </m:r>
                                  </m:e>
                                  <m:sub>
                                    <m:r>
                                      <a:rPr lang="en-US" sz="1600" b="0" i="0" smtClean="0">
                                        <a:solidFill>
                                          <a:schemeClr val="bg1"/>
                                        </a:solidFill>
                                        <a:latin typeface="Cambria Math"/>
                                      </a:rPr>
                                      <m:t>5</m:t>
                                    </m:r>
                                  </m:sub>
                                </m:sSub>
                              </m:oMath>
                            </m:oMathPara>
                          </a14:m>
                          <a:endParaRPr lang="en-US" sz="1600" dirty="0"/>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a:rPr>
                                      <m:t>𝑘</m:t>
                                    </m:r>
                                  </m:e>
                                  <m:sub>
                                    <m:r>
                                      <a:rPr lang="en-US" sz="1600" b="0" i="1" smtClean="0">
                                        <a:solidFill>
                                          <a:schemeClr val="bg1"/>
                                        </a:solidFill>
                                        <a:latin typeface="Cambria Math"/>
                                      </a:rPr>
                                      <m:t>4</m:t>
                                    </m:r>
                                  </m:sub>
                                </m:sSub>
                                <m:r>
                                  <a:rPr lang="en-US" sz="1600" b="0" i="0" smtClean="0">
                                    <a:solidFill>
                                      <a:schemeClr val="bg1"/>
                                    </a:solidFill>
                                    <a:latin typeface="Cambria Math"/>
                                  </a:rPr>
                                  <m:t>:</m:t>
                                </m:r>
                                <m:sSub>
                                  <m:sSubPr>
                                    <m:ctrlPr>
                                      <a:rPr lang="en-US" sz="1600" b="0" i="1" smtClean="0">
                                        <a:solidFill>
                                          <a:schemeClr val="bg1"/>
                                        </a:solidFill>
                                        <a:latin typeface="Cambria Math" panose="02040503050406030204" pitchFamily="18" charset="0"/>
                                      </a:rPr>
                                    </m:ctrlPr>
                                  </m:sSubPr>
                                  <m:e>
                                    <m:r>
                                      <m:rPr>
                                        <m:sty m:val="p"/>
                                      </m:rPr>
                                      <a:rPr lang="en-US" sz="1600" b="0" i="0" smtClean="0">
                                        <a:solidFill>
                                          <a:schemeClr val="bg1"/>
                                        </a:solidFill>
                                        <a:latin typeface="Cambria Math"/>
                                      </a:rPr>
                                      <m:t>v</m:t>
                                    </m:r>
                                  </m:e>
                                  <m:sub>
                                    <m:r>
                                      <a:rPr lang="en-US" sz="1600" b="0" i="0" smtClean="0">
                                        <a:solidFill>
                                          <a:schemeClr val="bg1"/>
                                        </a:solidFill>
                                        <a:latin typeface="Cambria Math"/>
                                      </a:rPr>
                                      <m:t>4</m:t>
                                    </m:r>
                                  </m:sub>
                                </m:sSub>
                              </m:oMath>
                            </m:oMathPara>
                          </a14:m>
                          <a:endParaRPr lang="en-US" sz="1600" dirty="0">
                            <a:solidFill>
                              <a:schemeClr val="bg1"/>
                            </a:solidFill>
                          </a:endParaRPr>
                        </a:p>
                      </a:txBody>
                      <a:tcPr>
                        <a:solidFill>
                          <a:schemeClr val="tx1"/>
                        </a:solidFill>
                      </a:tcPr>
                    </a:tc>
                    <a:extLst>
                      <a:ext uri="{0D108BD9-81ED-4DB2-BD59-A6C34878D82A}">
                        <a16:rowId xmlns:a16="http://schemas.microsoft.com/office/drawing/2014/main" val="10001"/>
                      </a:ext>
                    </a:extLst>
                  </a:tr>
                </a:tbl>
              </a:graphicData>
            </a:graphic>
          </p:graphicFrame>
        </mc:Choice>
        <mc:Fallback xmlns="">
          <p:graphicFrame>
            <p:nvGraphicFramePr>
              <p:cNvPr id="2048" name="Table 2047"/>
              <p:cNvGraphicFramePr>
                <a:graphicFrameLocks noGrp="1"/>
              </p:cNvGraphicFramePr>
              <p:nvPr>
                <p:extLst>
                  <p:ext uri="{D42A27DB-BD31-4B8C-83A1-F6EECF244321}">
                    <p14:modId xmlns:p14="http://schemas.microsoft.com/office/powerpoint/2010/main" val="1206316833"/>
                  </p:ext>
                </p:extLst>
              </p:nvPr>
            </p:nvGraphicFramePr>
            <p:xfrm>
              <a:off x="878540" y="4179332"/>
              <a:ext cx="3429000" cy="65532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tblGrid>
                  <a:tr h="320040">
                    <a:tc gridSpan="2">
                      <a:txBody>
                        <a:bodyPr/>
                        <a:lstStyle/>
                        <a:p>
                          <a:pPr algn="ctr"/>
                          <a:r>
                            <a:rPr lang="en-US" sz="1500" dirty="0"/>
                            <a:t>SORT and GROUP</a:t>
                          </a:r>
                        </a:p>
                      </a:txBody>
                      <a:tcPr>
                        <a:solidFill>
                          <a:schemeClr val="tx1"/>
                        </a:solidFill>
                      </a:tcPr>
                    </a:tc>
                    <a:tc hMerge="1">
                      <a:txBody>
                        <a:bodyPr/>
                        <a:lstStyle/>
                        <a:p>
                          <a:endParaRPr lang="en-US" dirty="0"/>
                        </a:p>
                      </a:txBody>
                      <a:tcPr>
                        <a:solidFill>
                          <a:schemeClr val="tx1"/>
                        </a:solidFill>
                      </a:tcPr>
                    </a:tc>
                    <a:extLst>
                      <a:ext uri="{0D108BD9-81ED-4DB2-BD59-A6C34878D82A}">
                        <a16:rowId xmlns:a16="http://schemas.microsoft.com/office/drawing/2014/main" val="10000"/>
                      </a:ext>
                    </a:extLst>
                  </a:tr>
                  <a:tr h="335280">
                    <a:tc>
                      <a:txBody>
                        <a:bodyPr/>
                        <a:lstStyle/>
                        <a:p>
                          <a:endParaRPr lang="en-US"/>
                        </a:p>
                      </a:txBody>
                      <a:tcPr>
                        <a:blipFill>
                          <a:blip r:embed="rId5"/>
                          <a:stretch>
                            <a:fillRect l="-355" t="-96429" r="-101064" b="-3571"/>
                          </a:stretch>
                        </a:blipFill>
                      </a:tcPr>
                    </a:tc>
                    <a:tc>
                      <a:txBody>
                        <a:bodyPr/>
                        <a:lstStyle/>
                        <a:p>
                          <a:endParaRPr lang="en-US"/>
                        </a:p>
                      </a:txBody>
                      <a:tcPr>
                        <a:blipFill>
                          <a:blip r:embed="rId5"/>
                          <a:stretch>
                            <a:fillRect l="-100712" t="-96429" r="-1423" b="-3571"/>
                          </a:stretch>
                        </a:blipFill>
                      </a:tcPr>
                    </a:tc>
                    <a:extLst>
                      <a:ext uri="{0D108BD9-81ED-4DB2-BD59-A6C34878D82A}">
                        <a16:rowId xmlns:a16="http://schemas.microsoft.com/office/drawing/2014/main" val="10001"/>
                      </a:ext>
                    </a:extLst>
                  </a:tr>
                </a:tbl>
              </a:graphicData>
            </a:graphic>
          </p:graphicFrame>
        </mc:Fallback>
      </mc:AlternateContent>
      <p:sp>
        <p:nvSpPr>
          <p:cNvPr id="61" name="Oval 60"/>
          <p:cNvSpPr/>
          <p:nvPr/>
        </p:nvSpPr>
        <p:spPr>
          <a:xfrm>
            <a:off x="1450039" y="4941332"/>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R</a:t>
            </a:r>
          </a:p>
        </p:txBody>
      </p:sp>
      <p:cxnSp>
        <p:nvCxnSpPr>
          <p:cNvPr id="62" name="Straight Arrow Connector 61"/>
          <p:cNvCxnSpPr>
            <a:stCxn id="61" idx="4"/>
          </p:cNvCxnSpPr>
          <p:nvPr/>
        </p:nvCxnSpPr>
        <p:spPr>
          <a:xfrm>
            <a:off x="1602439" y="5246132"/>
            <a:ext cx="0" cy="228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63" name="Straight Connector 62"/>
          <p:cNvCxnSpPr/>
          <p:nvPr/>
        </p:nvCxnSpPr>
        <p:spPr>
          <a:xfrm>
            <a:off x="1602439" y="4788932"/>
            <a:ext cx="0" cy="152400"/>
          </a:xfrm>
          <a:prstGeom prst="line">
            <a:avLst/>
          </a:prstGeom>
        </p:spPr>
        <p:style>
          <a:lnRef idx="2">
            <a:schemeClr val="dk1"/>
          </a:lnRef>
          <a:fillRef idx="0">
            <a:schemeClr val="dk1"/>
          </a:fillRef>
          <a:effectRef idx="1">
            <a:schemeClr val="dk1"/>
          </a:effectRef>
          <a:fontRef idx="minor">
            <a:schemeClr val="tx1"/>
          </a:fontRef>
        </p:style>
      </p:cxnSp>
      <p:sp>
        <p:nvSpPr>
          <p:cNvPr id="64" name="Oval 63"/>
          <p:cNvSpPr/>
          <p:nvPr/>
        </p:nvSpPr>
        <p:spPr>
          <a:xfrm>
            <a:off x="3240740" y="4941332"/>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R</a:t>
            </a:r>
          </a:p>
        </p:txBody>
      </p:sp>
      <p:cxnSp>
        <p:nvCxnSpPr>
          <p:cNvPr id="65" name="Straight Arrow Connector 64"/>
          <p:cNvCxnSpPr>
            <a:stCxn id="64" idx="4"/>
          </p:cNvCxnSpPr>
          <p:nvPr/>
        </p:nvCxnSpPr>
        <p:spPr>
          <a:xfrm>
            <a:off x="3393140" y="5246132"/>
            <a:ext cx="0" cy="228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66" name="Straight Connector 65"/>
          <p:cNvCxnSpPr/>
          <p:nvPr/>
        </p:nvCxnSpPr>
        <p:spPr>
          <a:xfrm>
            <a:off x="3393140" y="4788932"/>
            <a:ext cx="0" cy="152400"/>
          </a:xfrm>
          <a:prstGeom prst="line">
            <a:avLst/>
          </a:prstGeom>
        </p:spPr>
        <p:style>
          <a:lnRef idx="2">
            <a:schemeClr val="dk1"/>
          </a:lnRef>
          <a:fillRef idx="0">
            <a:schemeClr val="dk1"/>
          </a:fillRef>
          <a:effectRef idx="1">
            <a:schemeClr val="dk1"/>
          </a:effectRef>
          <a:fontRef idx="minor">
            <a:schemeClr val="tx1"/>
          </a:fontRef>
        </p:style>
      </p:cxnSp>
      <p:graphicFrame>
        <p:nvGraphicFramePr>
          <p:cNvPr id="67" name="Table 66"/>
          <p:cNvGraphicFramePr>
            <a:graphicFrameLocks noGrp="1"/>
          </p:cNvGraphicFramePr>
          <p:nvPr/>
        </p:nvGraphicFramePr>
        <p:xfrm>
          <a:off x="878540" y="5474732"/>
          <a:ext cx="3429000" cy="32004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tblGrid>
              <a:tr h="314960">
                <a:tc>
                  <a:txBody>
                    <a:bodyPr/>
                    <a:lstStyle/>
                    <a:p>
                      <a:r>
                        <a:rPr lang="en-US" sz="1500" dirty="0"/>
                        <a:t>Final output</a:t>
                      </a:r>
                    </a:p>
                  </a:txBody>
                  <a:tcPr>
                    <a:solidFill>
                      <a:schemeClr val="tx1"/>
                    </a:solidFill>
                  </a:tcPr>
                </a:tc>
                <a:tc>
                  <a:txBody>
                    <a:bodyPr/>
                    <a:lstStyle/>
                    <a:p>
                      <a:r>
                        <a:rPr lang="en-US" sz="1500" dirty="0">
                          <a:solidFill>
                            <a:schemeClr val="bg1"/>
                          </a:solidFill>
                        </a:rPr>
                        <a:t>Final output</a:t>
                      </a:r>
                    </a:p>
                  </a:txBody>
                  <a:tcPr>
                    <a:solidFill>
                      <a:schemeClr val="tx1"/>
                    </a:solidFill>
                  </a:tcPr>
                </a:tc>
                <a:extLst>
                  <a:ext uri="{0D108BD9-81ED-4DB2-BD59-A6C34878D82A}">
                    <a16:rowId xmlns:a16="http://schemas.microsoft.com/office/drawing/2014/main" val="10000"/>
                  </a:ext>
                </a:extLst>
              </a:tr>
            </a:tbl>
          </a:graphicData>
        </a:graphic>
      </p:graphicFrame>
      <p:sp>
        <p:nvSpPr>
          <p:cNvPr id="68" name="Rectangle 67"/>
          <p:cNvSpPr/>
          <p:nvPr/>
        </p:nvSpPr>
        <p:spPr>
          <a:xfrm>
            <a:off x="5221940" y="4026932"/>
            <a:ext cx="3581400" cy="18288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graphicFrame>
            <p:nvGraphicFramePr>
              <p:cNvPr id="69" name="Table 68"/>
              <p:cNvGraphicFramePr>
                <a:graphicFrameLocks noGrp="1"/>
              </p:cNvGraphicFramePr>
              <p:nvPr/>
            </p:nvGraphicFramePr>
            <p:xfrm>
              <a:off x="5298140" y="4179332"/>
              <a:ext cx="3429000" cy="65532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tblGrid>
                  <a:tr h="314960">
                    <a:tc gridSpan="2">
                      <a:txBody>
                        <a:bodyPr/>
                        <a:lstStyle/>
                        <a:p>
                          <a:pPr algn="ctr"/>
                          <a:r>
                            <a:rPr lang="en-US" sz="1500" dirty="0"/>
                            <a:t>SORT and GROUP</a:t>
                          </a:r>
                        </a:p>
                      </a:txBody>
                      <a:tcPr>
                        <a:solidFill>
                          <a:schemeClr val="tx1"/>
                        </a:solidFill>
                      </a:tcPr>
                    </a:tc>
                    <a:tc hMerge="1">
                      <a:txBody>
                        <a:bodyPr/>
                        <a:lstStyle/>
                        <a:p>
                          <a:endParaRPr lang="en-US" dirty="0"/>
                        </a:p>
                      </a:txBody>
                      <a:tcPr>
                        <a:solidFill>
                          <a:schemeClr val="tx1"/>
                        </a:solidFill>
                      </a:tcPr>
                    </a:tc>
                    <a:extLst>
                      <a:ext uri="{0D108BD9-81ED-4DB2-BD59-A6C34878D82A}">
                        <a16:rowId xmlns:a16="http://schemas.microsoft.com/office/drawing/2014/main" val="10000"/>
                      </a:ext>
                    </a:extLst>
                  </a:tr>
                  <a:tr h="335280">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a:rPr>
                                      <m:t>𝑘</m:t>
                                    </m:r>
                                  </m:e>
                                  <m:sub>
                                    <m:r>
                                      <a:rPr lang="en-US" sz="1600" b="0" i="1" smtClean="0">
                                        <a:solidFill>
                                          <a:schemeClr val="bg1"/>
                                        </a:solidFill>
                                        <a:latin typeface="Cambria Math"/>
                                      </a:rPr>
                                      <m:t>2</m:t>
                                    </m:r>
                                  </m:sub>
                                </m:sSub>
                                <m:r>
                                  <a:rPr lang="en-US" sz="1600" b="0" i="1" smtClean="0">
                                    <a:solidFill>
                                      <a:schemeClr val="bg1"/>
                                    </a:solidFill>
                                    <a:latin typeface="Cambria Math"/>
                                  </a:rPr>
                                  <m:t>:</m:t>
                                </m:r>
                                <m:sSub>
                                  <m:sSubPr>
                                    <m:ctrlPr>
                                      <a:rPr lang="en-US" sz="1600" b="0" i="1" smtClean="0">
                                        <a:solidFill>
                                          <a:schemeClr val="bg1"/>
                                        </a:solidFill>
                                        <a:latin typeface="Cambria Math" panose="02040503050406030204" pitchFamily="18" charset="0"/>
                                      </a:rPr>
                                    </m:ctrlPr>
                                  </m:sSubPr>
                                  <m:e>
                                    <m:r>
                                      <m:rPr>
                                        <m:sty m:val="p"/>
                                      </m:rPr>
                                      <a:rPr lang="en-US" sz="1600" b="0" i="0" smtClean="0">
                                        <a:solidFill>
                                          <a:schemeClr val="bg1"/>
                                        </a:solidFill>
                                        <a:latin typeface="Cambria Math"/>
                                      </a:rPr>
                                      <m:t>v</m:t>
                                    </m:r>
                                  </m:e>
                                  <m:sub>
                                    <m:r>
                                      <a:rPr lang="en-US" sz="1600" b="0" i="0" smtClean="0">
                                        <a:solidFill>
                                          <a:schemeClr val="bg1"/>
                                        </a:solidFill>
                                        <a:latin typeface="Cambria Math"/>
                                      </a:rPr>
                                      <m:t>2</m:t>
                                    </m:r>
                                  </m:sub>
                                </m:sSub>
                                <m:r>
                                  <a:rPr lang="en-US" sz="1600" b="0" i="0" smtClean="0">
                                    <a:solidFill>
                                      <a:schemeClr val="bg1"/>
                                    </a:solidFill>
                                    <a:latin typeface="Cambria Math"/>
                                  </a:rPr>
                                  <m:t>,</m:t>
                                </m:r>
                                <m:sSub>
                                  <m:sSubPr>
                                    <m:ctrlPr>
                                      <a:rPr lang="en-US" sz="1600" b="0" i="1" smtClean="0">
                                        <a:solidFill>
                                          <a:schemeClr val="bg1"/>
                                        </a:solidFill>
                                        <a:latin typeface="Cambria Math" panose="02040503050406030204" pitchFamily="18" charset="0"/>
                                      </a:rPr>
                                    </m:ctrlPr>
                                  </m:sSubPr>
                                  <m:e>
                                    <m:r>
                                      <m:rPr>
                                        <m:sty m:val="p"/>
                                      </m:rPr>
                                      <a:rPr lang="en-US" sz="1600" b="0" i="0" smtClean="0">
                                        <a:solidFill>
                                          <a:schemeClr val="bg1"/>
                                        </a:solidFill>
                                        <a:latin typeface="Cambria Math"/>
                                      </a:rPr>
                                      <m:t>v</m:t>
                                    </m:r>
                                  </m:e>
                                  <m:sub>
                                    <m:r>
                                      <a:rPr lang="en-US" sz="1600" b="0" i="0" smtClean="0">
                                        <a:solidFill>
                                          <a:schemeClr val="bg1"/>
                                        </a:solidFill>
                                        <a:latin typeface="Cambria Math"/>
                                      </a:rPr>
                                      <m:t>1</m:t>
                                    </m:r>
                                  </m:sub>
                                </m:sSub>
                                <m:r>
                                  <a:rPr lang="en-US" sz="1600" b="0" i="0" smtClean="0">
                                    <a:solidFill>
                                      <a:schemeClr val="bg1"/>
                                    </a:solidFill>
                                    <a:latin typeface="Cambria Math"/>
                                  </a:rPr>
                                  <m:t>,</m:t>
                                </m:r>
                                <m:sSub>
                                  <m:sSubPr>
                                    <m:ctrlPr>
                                      <a:rPr lang="en-US" sz="1600" b="0" i="1" smtClean="0">
                                        <a:solidFill>
                                          <a:schemeClr val="bg1"/>
                                        </a:solidFill>
                                        <a:latin typeface="Cambria Math" panose="02040503050406030204" pitchFamily="18" charset="0"/>
                                      </a:rPr>
                                    </m:ctrlPr>
                                  </m:sSubPr>
                                  <m:e>
                                    <m:r>
                                      <m:rPr>
                                        <m:sty m:val="p"/>
                                      </m:rPr>
                                      <a:rPr lang="en-US" sz="1600" b="0" i="0" smtClean="0">
                                        <a:solidFill>
                                          <a:schemeClr val="bg1"/>
                                        </a:solidFill>
                                        <a:latin typeface="Cambria Math"/>
                                      </a:rPr>
                                      <m:t>v</m:t>
                                    </m:r>
                                  </m:e>
                                  <m:sub>
                                    <m:r>
                                      <a:rPr lang="en-US" sz="1600" b="0" i="0" smtClean="0">
                                        <a:solidFill>
                                          <a:schemeClr val="bg1"/>
                                        </a:solidFill>
                                        <a:latin typeface="Cambria Math"/>
                                      </a:rPr>
                                      <m:t>2</m:t>
                                    </m:r>
                                  </m:sub>
                                </m:sSub>
                                <m:r>
                                  <a:rPr lang="en-US" sz="1600" b="0" i="0" smtClean="0">
                                    <a:solidFill>
                                      <a:schemeClr val="bg1"/>
                                    </a:solidFill>
                                    <a:latin typeface="Cambria Math"/>
                                  </a:rPr>
                                  <m:t>,</m:t>
                                </m:r>
                                <m:sSub>
                                  <m:sSubPr>
                                    <m:ctrlPr>
                                      <a:rPr lang="en-US" sz="1600" b="0" i="1" smtClean="0">
                                        <a:solidFill>
                                          <a:schemeClr val="bg1"/>
                                        </a:solidFill>
                                        <a:latin typeface="Cambria Math" panose="02040503050406030204" pitchFamily="18" charset="0"/>
                                      </a:rPr>
                                    </m:ctrlPr>
                                  </m:sSubPr>
                                  <m:e>
                                    <m:r>
                                      <m:rPr>
                                        <m:sty m:val="p"/>
                                      </m:rPr>
                                      <a:rPr lang="en-US" sz="1600" b="0" i="0" smtClean="0">
                                        <a:solidFill>
                                          <a:schemeClr val="bg1"/>
                                        </a:solidFill>
                                        <a:latin typeface="Cambria Math"/>
                                      </a:rPr>
                                      <m:t>v</m:t>
                                    </m:r>
                                  </m:e>
                                  <m:sub>
                                    <m:r>
                                      <a:rPr lang="en-US" sz="1600" b="0" i="0" smtClean="0">
                                        <a:solidFill>
                                          <a:schemeClr val="bg1"/>
                                        </a:solidFill>
                                        <a:latin typeface="Cambria Math"/>
                                      </a:rPr>
                                      <m:t>6</m:t>
                                    </m:r>
                                  </m:sub>
                                </m:sSub>
                              </m:oMath>
                            </m:oMathPara>
                          </a14:m>
                          <a:endParaRPr lang="en-US" sz="1600" dirty="0">
                            <a:solidFill>
                              <a:schemeClr val="bg1"/>
                            </a:solidFill>
                          </a:endParaRPr>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a:rPr>
                                      <m:t>𝑘</m:t>
                                    </m:r>
                                  </m:e>
                                  <m:sub>
                                    <m:r>
                                      <a:rPr lang="en-US" sz="1600" b="0" i="1" smtClean="0">
                                        <a:solidFill>
                                          <a:schemeClr val="bg1"/>
                                        </a:solidFill>
                                        <a:latin typeface="Cambria Math"/>
                                      </a:rPr>
                                      <m:t>3</m:t>
                                    </m:r>
                                  </m:sub>
                                </m:sSub>
                                <m:r>
                                  <a:rPr lang="en-US" sz="1600" b="0" i="1" smtClean="0">
                                    <a:solidFill>
                                      <a:schemeClr val="bg1"/>
                                    </a:solidFill>
                                    <a:latin typeface="Cambria Math"/>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a:rPr>
                                      <m:t>𝑣</m:t>
                                    </m:r>
                                  </m:e>
                                  <m:sub>
                                    <m:r>
                                      <a:rPr lang="en-US" sz="1600" b="0" i="1" smtClean="0">
                                        <a:solidFill>
                                          <a:schemeClr val="bg1"/>
                                        </a:solidFill>
                                        <a:latin typeface="Cambria Math"/>
                                      </a:rPr>
                                      <m:t>4</m:t>
                                    </m:r>
                                  </m:sub>
                                </m:sSub>
                                <m:r>
                                  <a:rPr lang="en-US" sz="1600" b="0" i="1" smtClean="0">
                                    <a:solidFill>
                                      <a:schemeClr val="bg1"/>
                                    </a:solidFill>
                                    <a:latin typeface="Cambria Math"/>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a:rPr>
                                      <m:t>𝑣</m:t>
                                    </m:r>
                                  </m:e>
                                  <m:sub>
                                    <m:r>
                                      <a:rPr lang="en-US" sz="1600" b="0" i="1" smtClean="0">
                                        <a:solidFill>
                                          <a:schemeClr val="bg1"/>
                                        </a:solidFill>
                                        <a:latin typeface="Cambria Math"/>
                                      </a:rPr>
                                      <m:t>5</m:t>
                                    </m:r>
                                  </m:sub>
                                </m:sSub>
                                <m:r>
                                  <a:rPr lang="en-US" sz="1600" b="0" i="1" smtClean="0">
                                    <a:solidFill>
                                      <a:schemeClr val="bg1"/>
                                    </a:solidFill>
                                    <a:latin typeface="Cambria Math"/>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a:rPr>
                                      <m:t>𝑣</m:t>
                                    </m:r>
                                  </m:e>
                                  <m:sub>
                                    <m:r>
                                      <a:rPr lang="en-US" sz="1600" b="0" i="1" smtClean="0">
                                        <a:solidFill>
                                          <a:schemeClr val="bg1"/>
                                        </a:solidFill>
                                        <a:latin typeface="Cambria Math"/>
                                      </a:rPr>
                                      <m:t>7</m:t>
                                    </m:r>
                                  </m:sub>
                                </m:sSub>
                              </m:oMath>
                            </m:oMathPara>
                          </a14:m>
                          <a:endParaRPr lang="en-US" sz="1600" dirty="0">
                            <a:solidFill>
                              <a:schemeClr val="bg1"/>
                            </a:solidFill>
                          </a:endParaRPr>
                        </a:p>
                      </a:txBody>
                      <a:tcPr>
                        <a:solidFill>
                          <a:schemeClr val="tx1"/>
                        </a:solidFill>
                      </a:tcPr>
                    </a:tc>
                    <a:extLst>
                      <a:ext uri="{0D108BD9-81ED-4DB2-BD59-A6C34878D82A}">
                        <a16:rowId xmlns:a16="http://schemas.microsoft.com/office/drawing/2014/main" val="10001"/>
                      </a:ext>
                    </a:extLst>
                  </a:tr>
                </a:tbl>
              </a:graphicData>
            </a:graphic>
          </p:graphicFrame>
        </mc:Choice>
        <mc:Fallback xmlns="">
          <p:graphicFrame>
            <p:nvGraphicFramePr>
              <p:cNvPr id="69" name="Table 68"/>
              <p:cNvGraphicFramePr>
                <a:graphicFrameLocks noGrp="1"/>
              </p:cNvGraphicFramePr>
              <p:nvPr>
                <p:extLst>
                  <p:ext uri="{D42A27DB-BD31-4B8C-83A1-F6EECF244321}">
                    <p14:modId xmlns:p14="http://schemas.microsoft.com/office/powerpoint/2010/main" val="2732949230"/>
                  </p:ext>
                </p:extLst>
              </p:nvPr>
            </p:nvGraphicFramePr>
            <p:xfrm>
              <a:off x="5298140" y="4179332"/>
              <a:ext cx="3429000" cy="65532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tblGrid>
                  <a:tr h="320040">
                    <a:tc gridSpan="2">
                      <a:txBody>
                        <a:bodyPr/>
                        <a:lstStyle/>
                        <a:p>
                          <a:pPr algn="ctr"/>
                          <a:r>
                            <a:rPr lang="en-US" sz="1500" dirty="0"/>
                            <a:t>SORT and GROUP</a:t>
                          </a:r>
                        </a:p>
                      </a:txBody>
                      <a:tcPr>
                        <a:solidFill>
                          <a:schemeClr val="tx1"/>
                        </a:solidFill>
                      </a:tcPr>
                    </a:tc>
                    <a:tc hMerge="1">
                      <a:txBody>
                        <a:bodyPr/>
                        <a:lstStyle/>
                        <a:p>
                          <a:endParaRPr lang="en-US" dirty="0"/>
                        </a:p>
                      </a:txBody>
                      <a:tcPr>
                        <a:solidFill>
                          <a:schemeClr val="tx1"/>
                        </a:solidFill>
                      </a:tcPr>
                    </a:tc>
                    <a:extLst>
                      <a:ext uri="{0D108BD9-81ED-4DB2-BD59-A6C34878D82A}">
                        <a16:rowId xmlns:a16="http://schemas.microsoft.com/office/drawing/2014/main" val="10000"/>
                      </a:ext>
                    </a:extLst>
                  </a:tr>
                  <a:tr h="335280">
                    <a:tc>
                      <a:txBody>
                        <a:bodyPr/>
                        <a:lstStyle/>
                        <a:p>
                          <a:endParaRPr lang="en-US"/>
                        </a:p>
                      </a:txBody>
                      <a:tcPr>
                        <a:blipFill>
                          <a:blip r:embed="rId6"/>
                          <a:stretch>
                            <a:fillRect l="-355" t="-96429" r="-101064" b="-3571"/>
                          </a:stretch>
                        </a:blipFill>
                      </a:tcPr>
                    </a:tc>
                    <a:tc>
                      <a:txBody>
                        <a:bodyPr/>
                        <a:lstStyle/>
                        <a:p>
                          <a:endParaRPr lang="en-US"/>
                        </a:p>
                      </a:txBody>
                      <a:tcPr>
                        <a:blipFill>
                          <a:blip r:embed="rId6"/>
                          <a:stretch>
                            <a:fillRect l="-100712" t="-96429" r="-1423" b="-3571"/>
                          </a:stretch>
                        </a:blipFill>
                      </a:tcPr>
                    </a:tc>
                    <a:extLst>
                      <a:ext uri="{0D108BD9-81ED-4DB2-BD59-A6C34878D82A}">
                        <a16:rowId xmlns:a16="http://schemas.microsoft.com/office/drawing/2014/main" val="10001"/>
                      </a:ext>
                    </a:extLst>
                  </a:tr>
                </a:tbl>
              </a:graphicData>
            </a:graphic>
          </p:graphicFrame>
        </mc:Fallback>
      </mc:AlternateContent>
      <p:sp>
        <p:nvSpPr>
          <p:cNvPr id="70" name="Oval 69"/>
          <p:cNvSpPr/>
          <p:nvPr/>
        </p:nvSpPr>
        <p:spPr>
          <a:xfrm>
            <a:off x="5869639" y="4941332"/>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R</a:t>
            </a:r>
          </a:p>
        </p:txBody>
      </p:sp>
      <p:cxnSp>
        <p:nvCxnSpPr>
          <p:cNvPr id="71" name="Straight Arrow Connector 70"/>
          <p:cNvCxnSpPr>
            <a:stCxn id="70" idx="4"/>
          </p:cNvCxnSpPr>
          <p:nvPr/>
        </p:nvCxnSpPr>
        <p:spPr>
          <a:xfrm>
            <a:off x="6022039" y="5246132"/>
            <a:ext cx="0" cy="228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2" name="Straight Connector 71"/>
          <p:cNvCxnSpPr/>
          <p:nvPr/>
        </p:nvCxnSpPr>
        <p:spPr>
          <a:xfrm>
            <a:off x="6022039" y="4788932"/>
            <a:ext cx="0" cy="152400"/>
          </a:xfrm>
          <a:prstGeom prst="line">
            <a:avLst/>
          </a:prstGeom>
        </p:spPr>
        <p:style>
          <a:lnRef idx="2">
            <a:schemeClr val="dk1"/>
          </a:lnRef>
          <a:fillRef idx="0">
            <a:schemeClr val="dk1"/>
          </a:fillRef>
          <a:effectRef idx="1">
            <a:schemeClr val="dk1"/>
          </a:effectRef>
          <a:fontRef idx="minor">
            <a:schemeClr val="tx1"/>
          </a:fontRef>
        </p:style>
      </p:cxnSp>
      <p:sp>
        <p:nvSpPr>
          <p:cNvPr id="73" name="Oval 72"/>
          <p:cNvSpPr/>
          <p:nvPr/>
        </p:nvSpPr>
        <p:spPr>
          <a:xfrm>
            <a:off x="7660340" y="4941332"/>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R</a:t>
            </a:r>
          </a:p>
        </p:txBody>
      </p:sp>
      <p:cxnSp>
        <p:nvCxnSpPr>
          <p:cNvPr id="74" name="Straight Arrow Connector 73"/>
          <p:cNvCxnSpPr>
            <a:stCxn id="73" idx="4"/>
          </p:cNvCxnSpPr>
          <p:nvPr/>
        </p:nvCxnSpPr>
        <p:spPr>
          <a:xfrm>
            <a:off x="7812740" y="5246132"/>
            <a:ext cx="0" cy="2286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5" name="Straight Connector 74"/>
          <p:cNvCxnSpPr/>
          <p:nvPr/>
        </p:nvCxnSpPr>
        <p:spPr>
          <a:xfrm>
            <a:off x="7812740" y="4788932"/>
            <a:ext cx="0" cy="152400"/>
          </a:xfrm>
          <a:prstGeom prst="line">
            <a:avLst/>
          </a:prstGeom>
        </p:spPr>
        <p:style>
          <a:lnRef idx="2">
            <a:schemeClr val="dk1"/>
          </a:lnRef>
          <a:fillRef idx="0">
            <a:schemeClr val="dk1"/>
          </a:fillRef>
          <a:effectRef idx="1">
            <a:schemeClr val="dk1"/>
          </a:effectRef>
          <a:fontRef idx="minor">
            <a:schemeClr val="tx1"/>
          </a:fontRef>
        </p:style>
      </p:cxnSp>
      <p:graphicFrame>
        <p:nvGraphicFramePr>
          <p:cNvPr id="76" name="Table 75"/>
          <p:cNvGraphicFramePr>
            <a:graphicFrameLocks noGrp="1"/>
          </p:cNvGraphicFramePr>
          <p:nvPr/>
        </p:nvGraphicFramePr>
        <p:xfrm>
          <a:off x="5298140" y="5474732"/>
          <a:ext cx="3429000" cy="32004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tblGrid>
              <a:tr h="314960">
                <a:tc>
                  <a:txBody>
                    <a:bodyPr/>
                    <a:lstStyle/>
                    <a:p>
                      <a:r>
                        <a:rPr lang="en-US" sz="1500" dirty="0"/>
                        <a:t>Final output</a:t>
                      </a:r>
                    </a:p>
                  </a:txBody>
                  <a:tcPr>
                    <a:solidFill>
                      <a:schemeClr val="tx1"/>
                    </a:solidFill>
                  </a:tcPr>
                </a:tc>
                <a:tc>
                  <a:txBody>
                    <a:bodyPr/>
                    <a:lstStyle/>
                    <a:p>
                      <a:r>
                        <a:rPr lang="en-US" sz="1500" dirty="0">
                          <a:solidFill>
                            <a:schemeClr val="bg1"/>
                          </a:solidFill>
                        </a:rPr>
                        <a:t>Final output</a:t>
                      </a:r>
                    </a:p>
                  </a:txBody>
                  <a:tcPr>
                    <a:solidFill>
                      <a:schemeClr val="tx1"/>
                    </a:solidFill>
                  </a:tcPr>
                </a:tc>
                <a:extLst>
                  <a:ext uri="{0D108BD9-81ED-4DB2-BD59-A6C34878D82A}">
                    <a16:rowId xmlns:a16="http://schemas.microsoft.com/office/drawing/2014/main" val="10000"/>
                  </a:ext>
                </a:extLst>
              </a:tr>
            </a:tbl>
          </a:graphicData>
        </a:graphic>
      </p:graphicFrame>
      <p:cxnSp>
        <p:nvCxnSpPr>
          <p:cNvPr id="2051" name="Straight Arrow Connector 2050"/>
          <p:cNvCxnSpPr>
            <a:stCxn id="7" idx="2"/>
            <a:endCxn id="68" idx="0"/>
          </p:cNvCxnSpPr>
          <p:nvPr/>
        </p:nvCxnSpPr>
        <p:spPr>
          <a:xfrm>
            <a:off x="1907240" y="3188732"/>
            <a:ext cx="5105400" cy="838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53" name="Straight Arrow Connector 2052"/>
          <p:cNvCxnSpPr>
            <a:stCxn id="33" idx="2"/>
            <a:endCxn id="68" idx="0"/>
          </p:cNvCxnSpPr>
          <p:nvPr/>
        </p:nvCxnSpPr>
        <p:spPr>
          <a:xfrm>
            <a:off x="4726640" y="3188732"/>
            <a:ext cx="2286000" cy="838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55" name="Straight Arrow Connector 2054"/>
          <p:cNvCxnSpPr>
            <a:stCxn id="46" idx="2"/>
            <a:endCxn id="68" idx="0"/>
          </p:cNvCxnSpPr>
          <p:nvPr/>
        </p:nvCxnSpPr>
        <p:spPr>
          <a:xfrm flipH="1">
            <a:off x="7012640" y="3188732"/>
            <a:ext cx="533400" cy="838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57" name="Straight Arrow Connector 2056"/>
          <p:cNvCxnSpPr>
            <a:endCxn id="25" idx="0"/>
          </p:cNvCxnSpPr>
          <p:nvPr/>
        </p:nvCxnSpPr>
        <p:spPr>
          <a:xfrm>
            <a:off x="2021541" y="3188732"/>
            <a:ext cx="571500" cy="838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59" name="Straight Arrow Connector 2058"/>
          <p:cNvCxnSpPr>
            <a:stCxn id="33" idx="2"/>
            <a:endCxn id="25" idx="0"/>
          </p:cNvCxnSpPr>
          <p:nvPr/>
        </p:nvCxnSpPr>
        <p:spPr>
          <a:xfrm flipH="1">
            <a:off x="2593040" y="3188732"/>
            <a:ext cx="2133600" cy="838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61" name="Straight Arrow Connector 2060"/>
          <p:cNvCxnSpPr>
            <a:stCxn id="46" idx="2"/>
            <a:endCxn id="25" idx="0"/>
          </p:cNvCxnSpPr>
          <p:nvPr/>
        </p:nvCxnSpPr>
        <p:spPr>
          <a:xfrm flipH="1">
            <a:off x="2593040" y="3188732"/>
            <a:ext cx="4953000" cy="838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062" name="TextBox 2061"/>
          <p:cNvSpPr txBox="1"/>
          <p:nvPr/>
        </p:nvSpPr>
        <p:spPr>
          <a:xfrm>
            <a:off x="1905000" y="838201"/>
            <a:ext cx="105990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map task 1</a:t>
            </a:r>
          </a:p>
        </p:txBody>
      </p:sp>
      <p:sp>
        <p:nvSpPr>
          <p:cNvPr id="90" name="TextBox 89"/>
          <p:cNvSpPr txBox="1"/>
          <p:nvPr/>
        </p:nvSpPr>
        <p:spPr>
          <a:xfrm>
            <a:off x="4677411" y="804497"/>
            <a:ext cx="105990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map task 2</a:t>
            </a:r>
          </a:p>
        </p:txBody>
      </p:sp>
      <p:sp>
        <p:nvSpPr>
          <p:cNvPr id="91" name="TextBox 90"/>
          <p:cNvSpPr txBox="1"/>
          <p:nvPr/>
        </p:nvSpPr>
        <p:spPr>
          <a:xfrm>
            <a:off x="7543800" y="803060"/>
            <a:ext cx="105990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map task 3</a:t>
            </a:r>
          </a:p>
        </p:txBody>
      </p:sp>
      <p:sp>
        <p:nvSpPr>
          <p:cNvPr id="92" name="TextBox 91"/>
          <p:cNvSpPr txBox="1"/>
          <p:nvPr/>
        </p:nvSpPr>
        <p:spPr>
          <a:xfrm>
            <a:off x="1916131" y="5943601"/>
            <a:ext cx="125867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reduce task 1</a:t>
            </a:r>
          </a:p>
        </p:txBody>
      </p:sp>
      <p:sp>
        <p:nvSpPr>
          <p:cNvPr id="93" name="TextBox 92"/>
          <p:cNvSpPr txBox="1"/>
          <p:nvPr/>
        </p:nvSpPr>
        <p:spPr>
          <a:xfrm>
            <a:off x="6347162" y="5942164"/>
            <a:ext cx="125867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reduce task 2</a:t>
            </a:r>
          </a:p>
        </p:txBody>
      </p:sp>
      <p:sp>
        <p:nvSpPr>
          <p:cNvPr id="94" name="Rectangle 93"/>
          <p:cNvSpPr/>
          <p:nvPr/>
        </p:nvSpPr>
        <p:spPr>
          <a:xfrm>
            <a:off x="8988242" y="4415135"/>
            <a:ext cx="2675965"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Arial"/>
                <a:ea typeface="+mn-ea"/>
                <a:cs typeface="+mn-cs"/>
              </a:rPr>
              <a:t>All phases are distributed with many tasks running in parallel</a:t>
            </a:r>
          </a:p>
        </p:txBody>
      </p:sp>
      <p:sp>
        <p:nvSpPr>
          <p:cNvPr id="4" name="TextBox 3">
            <a:extLst>
              <a:ext uri="{FF2B5EF4-FFF2-40B4-BE49-F238E27FC236}">
                <a16:creationId xmlns:a16="http://schemas.microsoft.com/office/drawing/2014/main" id="{47558BD9-7DDB-CEA4-8EF6-576510EC765E}"/>
              </a:ext>
            </a:extLst>
          </p:cNvPr>
          <p:cNvSpPr txBox="1"/>
          <p:nvPr/>
        </p:nvSpPr>
        <p:spPr>
          <a:xfrm>
            <a:off x="1107139" y="750332"/>
            <a:ext cx="1839989" cy="369332"/>
          </a:xfrm>
          <a:prstGeom prst="rect">
            <a:avLst/>
          </a:prstGeom>
          <a:noFill/>
        </p:spPr>
        <p:txBody>
          <a:bodyPr wrap="square" rtlCol="0">
            <a:spAutoFit/>
          </a:bodyPr>
          <a:lstStyle/>
          <a:p>
            <a:r>
              <a:rPr lang="en-US" dirty="0"/>
              <a:t>Machine - 1</a:t>
            </a:r>
          </a:p>
        </p:txBody>
      </p:sp>
      <p:sp>
        <p:nvSpPr>
          <p:cNvPr id="5" name="TextBox 4">
            <a:extLst>
              <a:ext uri="{FF2B5EF4-FFF2-40B4-BE49-F238E27FC236}">
                <a16:creationId xmlns:a16="http://schemas.microsoft.com/office/drawing/2014/main" id="{F3E915FF-750B-BFF2-0016-3019C814527F}"/>
              </a:ext>
            </a:extLst>
          </p:cNvPr>
          <p:cNvSpPr txBox="1"/>
          <p:nvPr/>
        </p:nvSpPr>
        <p:spPr>
          <a:xfrm>
            <a:off x="3897328" y="769620"/>
            <a:ext cx="1839989" cy="369332"/>
          </a:xfrm>
          <a:prstGeom prst="rect">
            <a:avLst/>
          </a:prstGeom>
          <a:noFill/>
        </p:spPr>
        <p:txBody>
          <a:bodyPr wrap="square" rtlCol="0">
            <a:spAutoFit/>
          </a:bodyPr>
          <a:lstStyle/>
          <a:p>
            <a:r>
              <a:rPr lang="en-US" dirty="0"/>
              <a:t>Machine - 2</a:t>
            </a:r>
          </a:p>
        </p:txBody>
      </p:sp>
      <p:sp>
        <p:nvSpPr>
          <p:cNvPr id="6" name="TextBox 5">
            <a:extLst>
              <a:ext uri="{FF2B5EF4-FFF2-40B4-BE49-F238E27FC236}">
                <a16:creationId xmlns:a16="http://schemas.microsoft.com/office/drawing/2014/main" id="{A4B51CC5-AA4B-1544-6EC6-3CEB8E036463}"/>
              </a:ext>
            </a:extLst>
          </p:cNvPr>
          <p:cNvSpPr txBox="1"/>
          <p:nvPr/>
        </p:nvSpPr>
        <p:spPr>
          <a:xfrm>
            <a:off x="6567619" y="838201"/>
            <a:ext cx="1839989" cy="369332"/>
          </a:xfrm>
          <a:prstGeom prst="rect">
            <a:avLst/>
          </a:prstGeom>
          <a:noFill/>
        </p:spPr>
        <p:txBody>
          <a:bodyPr wrap="square" rtlCol="0">
            <a:spAutoFit/>
          </a:bodyPr>
          <a:lstStyle/>
          <a:p>
            <a:r>
              <a:rPr lang="en-US" dirty="0"/>
              <a:t>Machine - 3</a:t>
            </a:r>
          </a:p>
        </p:txBody>
      </p:sp>
      <p:sp>
        <p:nvSpPr>
          <p:cNvPr id="11" name="TextBox 10">
            <a:extLst>
              <a:ext uri="{FF2B5EF4-FFF2-40B4-BE49-F238E27FC236}">
                <a16:creationId xmlns:a16="http://schemas.microsoft.com/office/drawing/2014/main" id="{22856763-039F-4024-83AC-CC69AF284CCE}"/>
              </a:ext>
            </a:extLst>
          </p:cNvPr>
          <p:cNvSpPr txBox="1"/>
          <p:nvPr/>
        </p:nvSpPr>
        <p:spPr>
          <a:xfrm>
            <a:off x="8788608" y="92765"/>
            <a:ext cx="3098279" cy="4324261"/>
          </a:xfrm>
          <a:prstGeom prst="rect">
            <a:avLst/>
          </a:prstGeom>
          <a:noFill/>
        </p:spPr>
        <p:txBody>
          <a:bodyPr wrap="square" rtlCol="0">
            <a:spAutoFit/>
          </a:bodyPr>
          <a:lstStyle/>
          <a:p>
            <a:r>
              <a:rPr lang="en-US" sz="1100" dirty="0"/>
              <a:t>We have chunks of data on each machine. In each machine, we apply a map task on each of the chunks of data and it produces a set of key-value pairs. Now, the key-value pairs produced by the map task will come to the partition function. The partition function will send the key-value pairs to some set of nodes. So here the shuffling will take place. So, in machine 1 we have key k1 with value v1 and in machine 3 we again have k1 with value v5. So, in order to process we have to bring all values associated with key k1 in a single machine. So, that is the reason we need to shuffle the data because we have to produce output for a particular key. Partition function is hash function so it may end up sending data of diff keys in same machine so we need to sort by keys and then Group because data for diff keys can be in same machine. After sort and Group you have a key and list of values associated with that key. Then we apply reduce operation on the list associated with each of the keys to get final output.</a:t>
            </a:r>
          </a:p>
          <a:p>
            <a:endParaRPr lang="en-US" sz="1100" dirty="0"/>
          </a:p>
        </p:txBody>
      </p:sp>
    </p:spTree>
    <p:extLst>
      <p:ext uri="{BB962C8B-B14F-4D97-AF65-F5344CB8AC3E}">
        <p14:creationId xmlns:p14="http://schemas.microsoft.com/office/powerpoint/2010/main" val="56443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7"/>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04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62"/>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6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65"/>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66"/>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6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69"/>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70"/>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71"/>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72"/>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73"/>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74"/>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75"/>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76"/>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2051"/>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2053"/>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2055"/>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2057"/>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2059"/>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20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27" grpId="0" animBg="1"/>
      <p:bldP spid="30" grpId="0" animBg="1"/>
      <p:bldP spid="33" grpId="0" animBg="1"/>
      <p:bldP spid="36" grpId="0" animBg="1"/>
      <p:bldP spid="37" grpId="0" animBg="1"/>
      <p:bldP spid="40" grpId="0" animBg="1"/>
      <p:bldP spid="43" grpId="0" animBg="1"/>
      <p:bldP spid="46" grpId="0" animBg="1"/>
      <p:bldP spid="49" grpId="0" animBg="1"/>
      <p:bldP spid="50" grpId="0" animBg="1"/>
      <p:bldP spid="53" grpId="0" animBg="1"/>
      <p:bldP spid="56" grpId="0" animBg="1"/>
      <p:bldP spid="25" grpId="0" animBg="1"/>
      <p:bldP spid="61" grpId="0" animBg="1"/>
      <p:bldP spid="64" grpId="0" animBg="1"/>
      <p:bldP spid="68" grpId="0" animBg="1"/>
      <p:bldP spid="70" grpId="0" animBg="1"/>
      <p:bldP spid="7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6153" y="219356"/>
            <a:ext cx="9875520" cy="541215"/>
          </a:xfrm>
        </p:spPr>
        <p:txBody>
          <a:bodyPr>
            <a:noAutofit/>
          </a:bodyPr>
          <a:lstStyle/>
          <a:p>
            <a:r>
              <a:rPr lang="en-US" sz="3600" b="1" dirty="0"/>
              <a:t>Partitioning</a:t>
            </a:r>
          </a:p>
        </p:txBody>
      </p:sp>
      <mc:AlternateContent xmlns:mc="http://schemas.openxmlformats.org/markup-compatibility/2006" xmlns:a14="http://schemas.microsoft.com/office/drawing/2010/main">
        <mc:Choice Requires="a14">
          <p:sp>
            <p:nvSpPr>
              <p:cNvPr id="7" name="Rounded Rectangle 6"/>
              <p:cNvSpPr/>
              <p:nvPr/>
            </p:nvSpPr>
            <p:spPr>
              <a:xfrm>
                <a:off x="1730189" y="2039470"/>
                <a:ext cx="914400" cy="9906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1</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1</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2</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2</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3</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3</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7" name="Rounded Rectangle 6"/>
              <p:cNvSpPr>
                <a:spLocks noRot="1" noChangeAspect="1" noMove="1" noResize="1" noEditPoints="1" noAdjustHandles="1" noChangeArrowheads="1" noChangeShapeType="1" noTextEdit="1"/>
              </p:cNvSpPr>
              <p:nvPr/>
            </p:nvSpPr>
            <p:spPr>
              <a:xfrm>
                <a:off x="1730189" y="2039470"/>
                <a:ext cx="914400" cy="990600"/>
              </a:xfrm>
              <a:prstGeom prst="round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ounded Rectangle 7"/>
              <p:cNvSpPr/>
              <p:nvPr/>
            </p:nvSpPr>
            <p:spPr>
              <a:xfrm>
                <a:off x="1730189" y="3258670"/>
                <a:ext cx="914400" cy="9906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5</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10</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2</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1</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3</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4</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8" name="Rounded Rectangle 7"/>
              <p:cNvSpPr>
                <a:spLocks noRot="1" noChangeAspect="1" noMove="1" noResize="1" noEditPoints="1" noAdjustHandles="1" noChangeArrowheads="1" noChangeShapeType="1" noTextEdit="1"/>
              </p:cNvSpPr>
              <p:nvPr/>
            </p:nvSpPr>
            <p:spPr>
              <a:xfrm>
                <a:off x="1730189" y="3258670"/>
                <a:ext cx="914400" cy="990600"/>
              </a:xfrm>
              <a:prstGeom prst="round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ounded Rectangle 8"/>
              <p:cNvSpPr/>
              <p:nvPr/>
            </p:nvSpPr>
            <p:spPr>
              <a:xfrm>
                <a:off x="1730189" y="4477870"/>
                <a:ext cx="914400" cy="9906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1</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19</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2</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6</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7</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7</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9" name="Rounded Rectangle 8"/>
              <p:cNvSpPr>
                <a:spLocks noRot="1" noChangeAspect="1" noMove="1" noResize="1" noEditPoints="1" noAdjustHandles="1" noChangeArrowheads="1" noChangeShapeType="1" noTextEdit="1"/>
              </p:cNvSpPr>
              <p:nvPr/>
            </p:nvSpPr>
            <p:spPr>
              <a:xfrm>
                <a:off x="1730189" y="4477870"/>
                <a:ext cx="914400" cy="990600"/>
              </a:xfrm>
              <a:prstGeom prst="round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ounded Rectangle 9"/>
              <p:cNvSpPr/>
              <p:nvPr/>
            </p:nvSpPr>
            <p:spPr>
              <a:xfrm>
                <a:off x="1730189" y="5697070"/>
                <a:ext cx="914400" cy="9906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3</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9</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2</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6</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3</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7</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0" name="Rounded Rectangle 9"/>
              <p:cNvSpPr>
                <a:spLocks noRot="1" noChangeAspect="1" noMove="1" noResize="1" noEditPoints="1" noAdjustHandles="1" noChangeArrowheads="1" noChangeShapeType="1" noTextEdit="1"/>
              </p:cNvSpPr>
              <p:nvPr/>
            </p:nvSpPr>
            <p:spPr>
              <a:xfrm>
                <a:off x="1730189" y="5697070"/>
                <a:ext cx="914400" cy="990600"/>
              </a:xfrm>
              <a:prstGeom prst="round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3939989" y="3182470"/>
                <a:ext cx="2667000" cy="17526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a:ea typeface="+mn-ea"/>
                          <a:cs typeface="+mn-cs"/>
                        </a:rPr>
                        <m:t>𝐻</m:t>
                      </m:r>
                      <m:d>
                        <m:d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a:ln>
                                <a:noFill/>
                              </a:ln>
                              <a:solidFill>
                                <a:srgbClr val="000000"/>
                              </a:solidFill>
                              <a:effectLst/>
                              <a:uLnTx/>
                              <a:uFillTx/>
                              <a:latin typeface="Cambria Math"/>
                              <a:ea typeface="+mn-ea"/>
                              <a:cs typeface="+mn-cs"/>
                            </a:rPr>
                            <m:t>𝑘𝑒𝑦</m:t>
                          </m:r>
                        </m:e>
                      </m:d>
                      <m:r>
                        <a:rPr kumimoji="0" lang="en-US" sz="2400" b="0" i="1" u="none" strike="noStrike" kern="1200" cap="none" spc="0" normalizeH="0" baseline="0" noProof="0">
                          <a:ln>
                            <a:noFill/>
                          </a:ln>
                          <a:solidFill>
                            <a:srgbClr val="000000"/>
                          </a:solidFill>
                          <a:effectLst/>
                          <a:uLnTx/>
                          <a:uFillTx/>
                          <a:latin typeface="Cambria Math"/>
                          <a:ea typeface="+mn-ea"/>
                          <a:cs typeface="+mn-cs"/>
                        </a:rPr>
                        <m:t>=</m:t>
                      </m:r>
                      <m:r>
                        <a:rPr kumimoji="0" lang="en-US" sz="2400" b="0" i="1" u="none" strike="noStrike" kern="1200" cap="none" spc="0" normalizeH="0" baseline="0" noProof="0">
                          <a:ln>
                            <a:noFill/>
                          </a:ln>
                          <a:solidFill>
                            <a:srgbClr val="000000"/>
                          </a:solidFill>
                          <a:effectLst/>
                          <a:uLnTx/>
                          <a:uFillTx/>
                          <a:latin typeface="Cambria Math"/>
                          <a:ea typeface="+mn-ea"/>
                          <a:cs typeface="+mn-cs"/>
                        </a:rPr>
                        <m:t>𝑏</m:t>
                      </m:r>
                    </m:oMath>
                  </m:oMathPara>
                </a14:m>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a:ln>
                            <a:noFill/>
                          </a:ln>
                          <a:solidFill>
                            <a:srgbClr val="000000"/>
                          </a:solidFill>
                          <a:effectLst/>
                          <a:uLnTx/>
                          <a:uFillTx/>
                          <a:latin typeface="Cambria Math"/>
                          <a:ea typeface="+mn-ea"/>
                          <a:cs typeface="+mn-cs"/>
                        </a:rPr>
                        <m:t>0≤</m:t>
                      </m:r>
                      <m:r>
                        <a:rPr kumimoji="0" lang="en-US" sz="2400" b="0" i="1" u="none" strike="noStrike" kern="1200" cap="none" spc="0" normalizeH="0" baseline="0" noProof="0">
                          <a:ln>
                            <a:noFill/>
                          </a:ln>
                          <a:solidFill>
                            <a:srgbClr val="000000"/>
                          </a:solidFill>
                          <a:effectLst/>
                          <a:uLnTx/>
                          <a:uFillTx/>
                          <a:latin typeface="Cambria Math"/>
                          <a:ea typeface="+mn-ea"/>
                          <a:cs typeface="+mn-cs"/>
                        </a:rPr>
                        <m:t>𝑏</m:t>
                      </m:r>
                      <m:r>
                        <a:rPr kumimoji="0" lang="en-US" sz="2400" b="0" i="1" u="none" strike="noStrike" kern="1200" cap="none" spc="0" normalizeH="0" baseline="0" noProof="0">
                          <a:ln>
                            <a:noFill/>
                          </a:ln>
                          <a:solidFill>
                            <a:srgbClr val="000000"/>
                          </a:solidFill>
                          <a:effectLst/>
                          <a:uLnTx/>
                          <a:uFillTx/>
                          <a:latin typeface="Cambria Math"/>
                          <a:ea typeface="+mn-ea"/>
                          <a:cs typeface="+mn-cs"/>
                        </a:rPr>
                        <m:t>&lt;</m:t>
                      </m:r>
                      <m:r>
                        <a:rPr kumimoji="0" lang="en-US" sz="2400" b="0" i="1" u="none" strike="noStrike" kern="1200" cap="none" spc="0" normalizeH="0" baseline="0" noProof="0">
                          <a:ln>
                            <a:noFill/>
                          </a:ln>
                          <a:solidFill>
                            <a:srgbClr val="000000"/>
                          </a:solidFill>
                          <a:effectLst/>
                          <a:uLnTx/>
                          <a:uFillTx/>
                          <a:latin typeface="Cambria Math"/>
                          <a:ea typeface="+mn-ea"/>
                          <a:cs typeface="+mn-cs"/>
                        </a:rPr>
                        <m:t>𝑚</m:t>
                      </m:r>
                    </m:oMath>
                  </m:oMathPara>
                </a14:m>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2" name="Oval 11"/>
              <p:cNvSpPr>
                <a:spLocks noRot="1" noChangeAspect="1" noMove="1" noResize="1" noEditPoints="1" noAdjustHandles="1" noChangeArrowheads="1" noChangeShapeType="1" noTextEdit="1"/>
              </p:cNvSpPr>
              <p:nvPr/>
            </p:nvSpPr>
            <p:spPr>
              <a:xfrm>
                <a:off x="3939989" y="3182470"/>
                <a:ext cx="2667000" cy="1752600"/>
              </a:xfrm>
              <a:prstGeom prst="ellipse">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Can 12"/>
              <p:cNvSpPr/>
              <p:nvPr/>
            </p:nvSpPr>
            <p:spPr>
              <a:xfrm>
                <a:off x="8130989" y="1694348"/>
                <a:ext cx="762000" cy="1145223"/>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Arial"/>
                    <a:ea typeface="+mn-ea"/>
                    <a:cs typeface="+mn-cs"/>
                  </a:rPr>
                  <a:t>0</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1</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1</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1</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1</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3" name="Can 12"/>
              <p:cNvSpPr>
                <a:spLocks noRot="1" noChangeAspect="1" noMove="1" noResize="1" noEditPoints="1" noAdjustHandles="1" noChangeArrowheads="1" noChangeShapeType="1" noTextEdit="1"/>
              </p:cNvSpPr>
              <p:nvPr/>
            </p:nvSpPr>
            <p:spPr>
              <a:xfrm>
                <a:off x="8130989" y="1694348"/>
                <a:ext cx="762000" cy="1145223"/>
              </a:xfrm>
              <a:prstGeom prst="can">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Can 14"/>
              <p:cNvSpPr/>
              <p:nvPr/>
            </p:nvSpPr>
            <p:spPr>
              <a:xfrm>
                <a:off x="8178614" y="3030070"/>
                <a:ext cx="762000" cy="1191168"/>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Arial"/>
                    <a:ea typeface="+mn-ea"/>
                    <a:cs typeface="+mn-cs"/>
                  </a:rPr>
                  <a:t>1</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2</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2</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2</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1</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5" name="Can 14"/>
              <p:cNvSpPr>
                <a:spLocks noRot="1" noChangeAspect="1" noMove="1" noResize="1" noEditPoints="1" noAdjustHandles="1" noChangeArrowheads="1" noChangeShapeType="1" noTextEdit="1"/>
              </p:cNvSpPr>
              <p:nvPr/>
            </p:nvSpPr>
            <p:spPr>
              <a:xfrm>
                <a:off x="8178614" y="3030070"/>
                <a:ext cx="762000" cy="1191168"/>
              </a:xfrm>
              <a:prstGeom prst="can">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Can 15"/>
              <p:cNvSpPr/>
              <p:nvPr/>
            </p:nvSpPr>
            <p:spPr>
              <a:xfrm>
                <a:off x="8207189" y="5468471"/>
                <a:ext cx="762000" cy="1143000"/>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Arial"/>
                    <a:ea typeface="+mn-ea"/>
                    <a:cs typeface="+mn-cs"/>
                  </a:rPr>
                  <a:t>m-1</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𝑚</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𝑚</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𝑘</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𝑚</m:t>
                          </m:r>
                        </m:sub>
                      </m:sSub>
                      <m:r>
                        <a:rPr kumimoji="0" lang="en-US" sz="1400" b="0" i="1" u="none" strike="noStrike" kern="1200" cap="none" spc="0" normalizeH="0" baseline="0" noProof="0">
                          <a:ln>
                            <a:noFill/>
                          </a:ln>
                          <a:solidFill>
                            <a:srgbClr val="000000"/>
                          </a:solidFill>
                          <a:effectLst/>
                          <a:uLnTx/>
                          <a:uFillTx/>
                          <a:latin typeface="Cambria Math"/>
                          <a:ea typeface="+mn-ea"/>
                          <a:cs typeface="+mn-cs"/>
                        </a:rPr>
                        <m:t>,</m:t>
                      </m:r>
                      <m:sSub>
                        <m:sSubPr>
                          <m:ctrlPr>
                            <a:rPr kumimoji="0" lang="en-US" sz="1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400" b="0" i="1" u="none" strike="noStrike" kern="1200" cap="none" spc="0" normalizeH="0" baseline="0" noProof="0">
                              <a:ln>
                                <a:noFill/>
                              </a:ln>
                              <a:solidFill>
                                <a:srgbClr val="000000"/>
                              </a:solidFill>
                              <a:effectLst/>
                              <a:uLnTx/>
                              <a:uFillTx/>
                              <a:latin typeface="Cambria Math"/>
                              <a:ea typeface="+mn-ea"/>
                              <a:cs typeface="+mn-cs"/>
                            </a:rPr>
                            <m:t>𝑣</m:t>
                          </m:r>
                        </m:e>
                        <m:sub>
                          <m:r>
                            <a:rPr kumimoji="0" lang="en-US" sz="1400" b="0" i="1" u="none" strike="noStrike" kern="1200" cap="none" spc="0" normalizeH="0" baseline="0" noProof="0">
                              <a:ln>
                                <a:noFill/>
                              </a:ln>
                              <a:solidFill>
                                <a:srgbClr val="000000"/>
                              </a:solidFill>
                              <a:effectLst/>
                              <a:uLnTx/>
                              <a:uFillTx/>
                              <a:latin typeface="Cambria Math"/>
                              <a:ea typeface="+mn-ea"/>
                              <a:cs typeface="+mn-cs"/>
                            </a:rPr>
                            <m:t>𝑐</m:t>
                          </m:r>
                        </m:sub>
                      </m:sSub>
                    </m:oMath>
                  </m:oMathPara>
                </a14:m>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mc:Choice>
        <mc:Fallback xmlns="">
          <p:sp>
            <p:nvSpPr>
              <p:cNvPr id="16" name="Can 15"/>
              <p:cNvSpPr>
                <a:spLocks noRot="1" noChangeAspect="1" noMove="1" noResize="1" noEditPoints="1" noAdjustHandles="1" noChangeArrowheads="1" noChangeShapeType="1" noTextEdit="1"/>
              </p:cNvSpPr>
              <p:nvPr/>
            </p:nvSpPr>
            <p:spPr>
              <a:xfrm>
                <a:off x="8207189" y="5468471"/>
                <a:ext cx="762000" cy="1143000"/>
              </a:xfrm>
              <a:prstGeom prst="can">
                <a:avLst/>
              </a:prstGeom>
              <a:blipFill>
                <a:blip r:embed="rId9"/>
                <a:stretch>
                  <a:fillRect/>
                </a:stretch>
              </a:blipFill>
            </p:spPr>
            <p:txBody>
              <a:bodyPr/>
              <a:lstStyle/>
              <a:p>
                <a:r>
                  <a:rPr lang="en-IN">
                    <a:noFill/>
                  </a:rPr>
                  <a:t> </a:t>
                </a:r>
              </a:p>
            </p:txBody>
          </p:sp>
        </mc:Fallback>
      </mc:AlternateContent>
      <p:sp>
        <p:nvSpPr>
          <p:cNvPr id="17" name="TextBox 16"/>
          <p:cNvSpPr txBox="1"/>
          <p:nvPr/>
        </p:nvSpPr>
        <p:spPr>
          <a:xfrm>
            <a:off x="8283391" y="4744571"/>
            <a:ext cx="54373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a:ea typeface="+mn-ea"/>
                <a:cs typeface="+mn-cs"/>
              </a:rPr>
              <a:t>……</a:t>
            </a:r>
          </a:p>
        </p:txBody>
      </p:sp>
      <p:cxnSp>
        <p:nvCxnSpPr>
          <p:cNvPr id="19" name="Straight Arrow Connector 18"/>
          <p:cNvCxnSpPr>
            <a:stCxn id="7" idx="3"/>
            <a:endCxn id="12" idx="1"/>
          </p:cNvCxnSpPr>
          <p:nvPr/>
        </p:nvCxnSpPr>
        <p:spPr>
          <a:xfrm>
            <a:off x="2644591" y="2534770"/>
            <a:ext cx="1685973" cy="904363"/>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21" name="Straight Arrow Connector 20"/>
          <p:cNvCxnSpPr>
            <a:stCxn id="8" idx="3"/>
            <a:endCxn id="12" idx="2"/>
          </p:cNvCxnSpPr>
          <p:nvPr/>
        </p:nvCxnSpPr>
        <p:spPr>
          <a:xfrm>
            <a:off x="2644589" y="3753970"/>
            <a:ext cx="1295400" cy="3048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23" name="Straight Arrow Connector 22"/>
          <p:cNvCxnSpPr>
            <a:stCxn id="9" idx="3"/>
            <a:endCxn id="12" idx="2"/>
          </p:cNvCxnSpPr>
          <p:nvPr/>
        </p:nvCxnSpPr>
        <p:spPr>
          <a:xfrm flipV="1">
            <a:off x="2644589" y="4058770"/>
            <a:ext cx="1295400" cy="9144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25" name="Straight Arrow Connector 24"/>
          <p:cNvCxnSpPr>
            <a:stCxn id="10" idx="3"/>
            <a:endCxn id="12" idx="3"/>
          </p:cNvCxnSpPr>
          <p:nvPr/>
        </p:nvCxnSpPr>
        <p:spPr>
          <a:xfrm flipV="1">
            <a:off x="2644591" y="4678407"/>
            <a:ext cx="1685973" cy="1513963"/>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27" name="Straight Arrow Connector 26"/>
          <p:cNvCxnSpPr>
            <a:stCxn id="12" idx="7"/>
            <a:endCxn id="13" idx="2"/>
          </p:cNvCxnSpPr>
          <p:nvPr/>
        </p:nvCxnSpPr>
        <p:spPr>
          <a:xfrm flipV="1">
            <a:off x="6216417" y="2382401"/>
            <a:ext cx="1914573" cy="1056732"/>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29" name="Straight Arrow Connector 28"/>
          <p:cNvCxnSpPr>
            <a:stCxn id="12" idx="6"/>
            <a:endCxn id="15" idx="2"/>
          </p:cNvCxnSpPr>
          <p:nvPr/>
        </p:nvCxnSpPr>
        <p:spPr>
          <a:xfrm flipV="1">
            <a:off x="6606991" y="3601570"/>
            <a:ext cx="1571625" cy="4572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31" name="Straight Arrow Connector 30"/>
          <p:cNvCxnSpPr>
            <a:stCxn id="12" idx="5"/>
            <a:endCxn id="16" idx="2"/>
          </p:cNvCxnSpPr>
          <p:nvPr/>
        </p:nvCxnSpPr>
        <p:spPr>
          <a:xfrm>
            <a:off x="6216417" y="4678409"/>
            <a:ext cx="1990773" cy="1475892"/>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3" name="TextBox 32"/>
          <p:cNvSpPr txBox="1"/>
          <p:nvPr/>
        </p:nvSpPr>
        <p:spPr>
          <a:xfrm>
            <a:off x="1139192" y="1050501"/>
            <a:ext cx="2763898"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mn-ea"/>
                <a:cs typeface="+mn-cs"/>
              </a:rPr>
              <a:t>Output from mappers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mn-ea"/>
                <a:cs typeface="+mn-cs"/>
              </a:rPr>
              <a:t>(on multiple machines)</a:t>
            </a:r>
          </a:p>
        </p:txBody>
      </p:sp>
      <p:sp>
        <p:nvSpPr>
          <p:cNvPr id="34" name="TextBox 33"/>
          <p:cNvSpPr txBox="1"/>
          <p:nvPr/>
        </p:nvSpPr>
        <p:spPr>
          <a:xfrm>
            <a:off x="4402080" y="1201270"/>
            <a:ext cx="20938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mn-ea"/>
                <a:cs typeface="+mn-cs"/>
              </a:rPr>
              <a:t>Partition function</a:t>
            </a:r>
          </a:p>
        </p:txBody>
      </p:sp>
      <p:sp>
        <p:nvSpPr>
          <p:cNvPr id="35" name="TextBox 34"/>
          <p:cNvSpPr txBox="1"/>
          <p:nvPr/>
        </p:nvSpPr>
        <p:spPr>
          <a:xfrm>
            <a:off x="7578070" y="768961"/>
            <a:ext cx="2206053"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mn-ea"/>
                <a:cs typeface="+mn-cs"/>
              </a:rPr>
              <a:t>Output files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mn-ea"/>
                <a:cs typeface="+mn-cs"/>
              </a:rPr>
              <a:t>(partition by keys)</a:t>
            </a:r>
          </a:p>
        </p:txBody>
      </p:sp>
      <p:sp>
        <p:nvSpPr>
          <p:cNvPr id="3" name="TextBox 2">
            <a:extLst>
              <a:ext uri="{FF2B5EF4-FFF2-40B4-BE49-F238E27FC236}">
                <a16:creationId xmlns:a16="http://schemas.microsoft.com/office/drawing/2014/main" id="{57AB9177-90AE-58E7-F2D8-F11A304F7183}"/>
              </a:ext>
            </a:extLst>
          </p:cNvPr>
          <p:cNvSpPr txBox="1"/>
          <p:nvPr/>
        </p:nvSpPr>
        <p:spPr>
          <a:xfrm>
            <a:off x="3697357" y="5181600"/>
            <a:ext cx="3392556" cy="1546577"/>
          </a:xfrm>
          <a:prstGeom prst="rect">
            <a:avLst/>
          </a:prstGeom>
          <a:noFill/>
        </p:spPr>
        <p:txBody>
          <a:bodyPr wrap="square" rtlCol="0">
            <a:spAutoFit/>
          </a:bodyPr>
          <a:lstStyle/>
          <a:p>
            <a:r>
              <a:rPr lang="en-US" sz="1050" dirty="0"/>
              <a:t>‘b’ is some number and ‘m’ is the number of machines you have available for running the reduce function. The job of the partition function is to group the key-value pairs generated from mappers into m buckets. In 0</a:t>
            </a:r>
            <a:r>
              <a:rPr lang="en-US" sz="1050" baseline="30000" dirty="0"/>
              <a:t>th</a:t>
            </a:r>
            <a:r>
              <a:rPr lang="en-US" sz="1050" dirty="0"/>
              <a:t> bucket you have values associated with the key k1. The data corresponding to a particular key will be in the same bucket but data corresponding to diff keys can be in same bucket due to hash collisions.</a:t>
            </a:r>
          </a:p>
        </p:txBody>
      </p:sp>
      <p:sp>
        <p:nvSpPr>
          <p:cNvPr id="4" name="TextBox 3">
            <a:extLst>
              <a:ext uri="{FF2B5EF4-FFF2-40B4-BE49-F238E27FC236}">
                <a16:creationId xmlns:a16="http://schemas.microsoft.com/office/drawing/2014/main" id="{B1E3F46E-021D-8C87-0E3B-5E6F6A789060}"/>
              </a:ext>
            </a:extLst>
          </p:cNvPr>
          <p:cNvSpPr txBox="1"/>
          <p:nvPr/>
        </p:nvSpPr>
        <p:spPr>
          <a:xfrm>
            <a:off x="9303026" y="1921565"/>
            <a:ext cx="2399792" cy="3970318"/>
          </a:xfrm>
          <a:prstGeom prst="rect">
            <a:avLst/>
          </a:prstGeom>
          <a:noFill/>
        </p:spPr>
        <p:txBody>
          <a:bodyPr wrap="square" rtlCol="0">
            <a:spAutoFit/>
          </a:bodyPr>
          <a:lstStyle/>
          <a:p>
            <a:r>
              <a:rPr lang="en-US" dirty="0"/>
              <a:t>We schedule the reduce operation for a particular key in that particular machine which holds the max amount of data for that key so that You won’t have to transfer large amounts of data to some other machine through network cables.</a:t>
            </a:r>
          </a:p>
        </p:txBody>
      </p:sp>
    </p:spTree>
    <p:extLst>
      <p:ext uri="{BB962C8B-B14F-4D97-AF65-F5344CB8AC3E}">
        <p14:creationId xmlns:p14="http://schemas.microsoft.com/office/powerpoint/2010/main" val="663800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164637"/>
            <a:ext cx="10515600" cy="732155"/>
          </a:xfrm>
        </p:spPr>
        <p:txBody>
          <a:bodyPr/>
          <a:lstStyle/>
          <a:p>
            <a:r>
              <a:rPr lang="en-IN" sz="3733" dirty="0"/>
              <a:t>Shuffle and Sort</a:t>
            </a:r>
          </a:p>
        </p:txBody>
      </p:sp>
      <p:sp>
        <p:nvSpPr>
          <p:cNvPr id="3" name="Content Placeholder 2"/>
          <p:cNvSpPr>
            <a:spLocks noGrp="1"/>
          </p:cNvSpPr>
          <p:nvPr>
            <p:ph idx="1"/>
          </p:nvPr>
        </p:nvSpPr>
        <p:spPr>
          <a:xfrm>
            <a:off x="710439" y="2447365"/>
            <a:ext cx="11044705" cy="3397624"/>
          </a:xfrm>
        </p:spPr>
        <p:txBody>
          <a:bodyPr/>
          <a:lstStyle/>
          <a:p>
            <a:r>
              <a:rPr lang="en-US" sz="2400" dirty="0"/>
              <a:t>MapReduce guarantees input to every reducer is </a:t>
            </a:r>
            <a:r>
              <a:rPr lang="en-US" sz="2400" dirty="0">
                <a:solidFill>
                  <a:srgbClr val="00B050"/>
                </a:solidFill>
              </a:rPr>
              <a:t>sorted by key</a:t>
            </a:r>
          </a:p>
          <a:p>
            <a:endParaRPr lang="en-US" sz="2400" b="0" dirty="0"/>
          </a:p>
          <a:p>
            <a:r>
              <a:rPr lang="en-IN" sz="2400" dirty="0"/>
              <a:t>The heart of </a:t>
            </a:r>
            <a:r>
              <a:rPr lang="en-IN" sz="2400" dirty="0" err="1"/>
              <a:t>mapreduce</a:t>
            </a:r>
            <a:r>
              <a:rPr lang="en-IN" sz="2400" dirty="0"/>
              <a:t> is the </a:t>
            </a:r>
            <a:r>
              <a:rPr lang="en-IN" sz="2400" i="1" dirty="0">
                <a:solidFill>
                  <a:srgbClr val="00B050"/>
                </a:solidFill>
              </a:rPr>
              <a:t>shuffle</a:t>
            </a:r>
            <a:r>
              <a:rPr lang="en-IN" sz="2400" dirty="0"/>
              <a:t> operation</a:t>
            </a:r>
          </a:p>
          <a:p>
            <a:endParaRPr lang="en-IN" dirty="0"/>
          </a:p>
          <a:p>
            <a:pPr lvl="1"/>
            <a:r>
              <a:rPr lang="en-US" dirty="0">
                <a:solidFill>
                  <a:srgbClr val="00B050"/>
                </a:solidFill>
              </a:rPr>
              <a:t>Shuffle </a:t>
            </a:r>
            <a:r>
              <a:rPr lang="en-US" dirty="0"/>
              <a:t>does the following</a:t>
            </a:r>
          </a:p>
          <a:p>
            <a:pPr marL="1371600" lvl="2" indent="-457200">
              <a:buFont typeface="+mj-lt"/>
              <a:buAutoNum type="arabicPeriod"/>
            </a:pPr>
            <a:r>
              <a:rPr lang="en-US" dirty="0"/>
              <a:t>performs the sort </a:t>
            </a:r>
          </a:p>
          <a:p>
            <a:pPr marL="1371600" lvl="2" indent="-457200">
              <a:buFont typeface="+mj-lt"/>
              <a:buAutoNum type="arabicPeriod"/>
            </a:pPr>
            <a:r>
              <a:rPr lang="en-US" dirty="0"/>
              <a:t>transfers the map outputs to the reducers as inputs</a:t>
            </a:r>
            <a:endParaRPr lang="en-IN" dirty="0"/>
          </a:p>
        </p:txBody>
      </p:sp>
      <p:sp>
        <p:nvSpPr>
          <p:cNvPr id="4" name="TextBox 3">
            <a:extLst>
              <a:ext uri="{FF2B5EF4-FFF2-40B4-BE49-F238E27FC236}">
                <a16:creationId xmlns:a16="http://schemas.microsoft.com/office/drawing/2014/main" id="{E4A356EB-3529-4403-9442-14164B638CF5}"/>
              </a:ext>
            </a:extLst>
          </p:cNvPr>
          <p:cNvSpPr txBox="1"/>
          <p:nvPr/>
        </p:nvSpPr>
        <p:spPr>
          <a:xfrm>
            <a:off x="2303929" y="1308847"/>
            <a:ext cx="723948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C00000"/>
                </a:solidFill>
                <a:effectLst/>
                <a:uLnTx/>
                <a:uFillTx/>
                <a:latin typeface="Century Schoolbook" panose="02040604050505020304"/>
                <a:ea typeface="+mn-ea"/>
                <a:cs typeface="+mn-cs"/>
              </a:rPr>
              <a:t>IMPORTANT and EXPENSIVE OPERATION</a:t>
            </a:r>
          </a:p>
        </p:txBody>
      </p:sp>
    </p:spTree>
    <p:extLst>
      <p:ext uri="{BB962C8B-B14F-4D97-AF65-F5344CB8AC3E}">
        <p14:creationId xmlns:p14="http://schemas.microsoft.com/office/powerpoint/2010/main" val="3998421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164637"/>
            <a:ext cx="10515600" cy="732155"/>
          </a:xfrm>
        </p:spPr>
        <p:txBody>
          <a:bodyPr/>
          <a:lstStyle/>
          <a:p>
            <a:r>
              <a:rPr lang="en-IN" sz="3733" dirty="0"/>
              <a:t>Shuffle and Sort: the </a:t>
            </a:r>
            <a:r>
              <a:rPr lang="en-IN" sz="3733" dirty="0">
                <a:solidFill>
                  <a:srgbClr val="7030A0"/>
                </a:solidFill>
              </a:rPr>
              <a:t>map</a:t>
            </a:r>
            <a:r>
              <a:rPr lang="en-IN" sz="3733" dirty="0"/>
              <a:t> side</a:t>
            </a:r>
          </a:p>
        </p:txBody>
      </p:sp>
      <p:sp>
        <p:nvSpPr>
          <p:cNvPr id="4" name="Rectangle 3"/>
          <p:cNvSpPr/>
          <p:nvPr/>
        </p:nvSpPr>
        <p:spPr>
          <a:xfrm>
            <a:off x="1391478" y="1988840"/>
            <a:ext cx="480053" cy="2016224"/>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cxnSp>
        <p:nvCxnSpPr>
          <p:cNvPr id="8" name="Straight Arrow Connector 7"/>
          <p:cNvCxnSpPr/>
          <p:nvPr/>
        </p:nvCxnSpPr>
        <p:spPr>
          <a:xfrm>
            <a:off x="1871531" y="2996952"/>
            <a:ext cx="4800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2351584" y="2468894"/>
            <a:ext cx="864096" cy="1056117"/>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Schoolbook" panose="02040604050505020304"/>
                <a:ea typeface="+mn-ea"/>
                <a:cs typeface="+mn-cs"/>
              </a:rPr>
              <a:t>map</a:t>
            </a:r>
          </a:p>
        </p:txBody>
      </p:sp>
      <p:cxnSp>
        <p:nvCxnSpPr>
          <p:cNvPr id="11" name="Straight Arrow Connector 10"/>
          <p:cNvCxnSpPr/>
          <p:nvPr/>
        </p:nvCxnSpPr>
        <p:spPr>
          <a:xfrm>
            <a:off x="3215680" y="2996952"/>
            <a:ext cx="4800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3695733" y="2756926"/>
            <a:ext cx="1152128" cy="480053"/>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a:noFill/>
              </a:ln>
              <a:solidFill>
                <a:prstClr val="black"/>
              </a:solidFill>
              <a:effectLst/>
              <a:uLnTx/>
              <a:uFillTx/>
              <a:latin typeface="Century Schoolbook" panose="02040604050505020304"/>
              <a:ea typeface="+mn-ea"/>
              <a:cs typeface="+mn-cs"/>
            </a:endParaRPr>
          </a:p>
        </p:txBody>
      </p:sp>
      <p:cxnSp>
        <p:nvCxnSpPr>
          <p:cNvPr id="23" name="Elbow Connector 22"/>
          <p:cNvCxnSpPr/>
          <p:nvPr/>
        </p:nvCxnSpPr>
        <p:spPr>
          <a:xfrm flipV="1">
            <a:off x="4847862" y="2276872"/>
            <a:ext cx="1056117" cy="62406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847862" y="3029857"/>
            <a:ext cx="10561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a:off x="4847862" y="3140968"/>
            <a:ext cx="1056117" cy="72008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8" name="Table 27"/>
          <p:cNvGraphicFramePr>
            <a:graphicFrameLocks noGrp="1"/>
          </p:cNvGraphicFramePr>
          <p:nvPr/>
        </p:nvGraphicFramePr>
        <p:xfrm>
          <a:off x="6175980" y="2062493"/>
          <a:ext cx="1110828" cy="487680"/>
        </p:xfrm>
        <a:graphic>
          <a:graphicData uri="http://schemas.openxmlformats.org/drawingml/2006/table">
            <a:tbl>
              <a:tblPr firstRow="1" bandRow="1">
                <a:tableStyleId>{5C22544A-7EE6-4342-B048-85BDC9FD1C3A}</a:tableStyleId>
              </a:tblPr>
              <a:tblGrid>
                <a:gridCol w="277707">
                  <a:extLst>
                    <a:ext uri="{9D8B030D-6E8A-4147-A177-3AD203B41FA5}">
                      <a16:colId xmlns:a16="http://schemas.microsoft.com/office/drawing/2014/main" val="4021708586"/>
                    </a:ext>
                  </a:extLst>
                </a:gridCol>
                <a:gridCol w="277707">
                  <a:extLst>
                    <a:ext uri="{9D8B030D-6E8A-4147-A177-3AD203B41FA5}">
                      <a16:colId xmlns:a16="http://schemas.microsoft.com/office/drawing/2014/main" val="4002755374"/>
                    </a:ext>
                  </a:extLst>
                </a:gridCol>
                <a:gridCol w="277707">
                  <a:extLst>
                    <a:ext uri="{9D8B030D-6E8A-4147-A177-3AD203B41FA5}">
                      <a16:colId xmlns:a16="http://schemas.microsoft.com/office/drawing/2014/main" val="2999692580"/>
                    </a:ext>
                  </a:extLst>
                </a:gridCol>
                <a:gridCol w="277707">
                  <a:extLst>
                    <a:ext uri="{9D8B030D-6E8A-4147-A177-3AD203B41FA5}">
                      <a16:colId xmlns:a16="http://schemas.microsoft.com/office/drawing/2014/main" val="81023993"/>
                    </a:ext>
                  </a:extLst>
                </a:gridCol>
              </a:tblGrid>
              <a:tr h="487680">
                <a:tc>
                  <a:txBody>
                    <a:bodyPr/>
                    <a:lstStyle/>
                    <a:p>
                      <a:endParaRPr lang="en-IN" sz="2400" dirty="0"/>
                    </a:p>
                  </a:txBody>
                  <a:tcPr marL="121920" marR="121920" marT="60960" marB="60960"/>
                </a:tc>
                <a:tc>
                  <a:txBody>
                    <a:bodyPr/>
                    <a:lstStyle/>
                    <a:p>
                      <a:endParaRPr lang="en-IN" sz="2400"/>
                    </a:p>
                  </a:txBody>
                  <a:tcPr marL="121920" marR="121920" marT="60960" marB="60960"/>
                </a:tc>
                <a:tc>
                  <a:txBody>
                    <a:bodyPr/>
                    <a:lstStyle/>
                    <a:p>
                      <a:endParaRPr lang="en-IN" sz="2400" dirty="0"/>
                    </a:p>
                  </a:txBody>
                  <a:tcPr marL="121920" marR="121920" marT="60960" marB="60960"/>
                </a:tc>
                <a:tc>
                  <a:txBody>
                    <a:bodyPr/>
                    <a:lstStyle/>
                    <a:p>
                      <a:endParaRPr lang="en-IN" sz="2400" dirty="0"/>
                    </a:p>
                  </a:txBody>
                  <a:tcPr marL="121920" marR="121920" marT="60960" marB="60960"/>
                </a:tc>
                <a:extLst>
                  <a:ext uri="{0D108BD9-81ED-4DB2-BD59-A6C34878D82A}">
                    <a16:rowId xmlns:a16="http://schemas.microsoft.com/office/drawing/2014/main" val="2264892084"/>
                  </a:ext>
                </a:extLst>
              </a:tr>
            </a:tbl>
          </a:graphicData>
        </a:graphic>
      </p:graphicFrame>
      <p:graphicFrame>
        <p:nvGraphicFramePr>
          <p:cNvPr id="29" name="Table 28"/>
          <p:cNvGraphicFramePr>
            <a:graphicFrameLocks noGrp="1"/>
          </p:cNvGraphicFramePr>
          <p:nvPr/>
        </p:nvGraphicFramePr>
        <p:xfrm>
          <a:off x="6175980" y="2826657"/>
          <a:ext cx="1110828" cy="487680"/>
        </p:xfrm>
        <a:graphic>
          <a:graphicData uri="http://schemas.openxmlformats.org/drawingml/2006/table">
            <a:tbl>
              <a:tblPr firstRow="1" bandRow="1">
                <a:tableStyleId>{5C22544A-7EE6-4342-B048-85BDC9FD1C3A}</a:tableStyleId>
              </a:tblPr>
              <a:tblGrid>
                <a:gridCol w="277707">
                  <a:extLst>
                    <a:ext uri="{9D8B030D-6E8A-4147-A177-3AD203B41FA5}">
                      <a16:colId xmlns:a16="http://schemas.microsoft.com/office/drawing/2014/main" val="4021708586"/>
                    </a:ext>
                  </a:extLst>
                </a:gridCol>
                <a:gridCol w="277707">
                  <a:extLst>
                    <a:ext uri="{9D8B030D-6E8A-4147-A177-3AD203B41FA5}">
                      <a16:colId xmlns:a16="http://schemas.microsoft.com/office/drawing/2014/main" val="4002755374"/>
                    </a:ext>
                  </a:extLst>
                </a:gridCol>
                <a:gridCol w="277707">
                  <a:extLst>
                    <a:ext uri="{9D8B030D-6E8A-4147-A177-3AD203B41FA5}">
                      <a16:colId xmlns:a16="http://schemas.microsoft.com/office/drawing/2014/main" val="2999692580"/>
                    </a:ext>
                  </a:extLst>
                </a:gridCol>
                <a:gridCol w="277707">
                  <a:extLst>
                    <a:ext uri="{9D8B030D-6E8A-4147-A177-3AD203B41FA5}">
                      <a16:colId xmlns:a16="http://schemas.microsoft.com/office/drawing/2014/main" val="81023993"/>
                    </a:ext>
                  </a:extLst>
                </a:gridCol>
              </a:tblGrid>
              <a:tr h="487680">
                <a:tc>
                  <a:txBody>
                    <a:bodyPr/>
                    <a:lstStyle/>
                    <a:p>
                      <a:endParaRPr lang="en-IN" sz="2400" dirty="0"/>
                    </a:p>
                  </a:txBody>
                  <a:tcPr marL="121920" marR="121920" marT="60960" marB="60960"/>
                </a:tc>
                <a:tc>
                  <a:txBody>
                    <a:bodyPr/>
                    <a:lstStyle/>
                    <a:p>
                      <a:endParaRPr lang="en-IN" sz="2400"/>
                    </a:p>
                  </a:txBody>
                  <a:tcPr marL="121920" marR="121920" marT="60960" marB="60960"/>
                </a:tc>
                <a:tc>
                  <a:txBody>
                    <a:bodyPr/>
                    <a:lstStyle/>
                    <a:p>
                      <a:endParaRPr lang="en-IN" sz="2400"/>
                    </a:p>
                  </a:txBody>
                  <a:tcPr marL="121920" marR="121920" marT="60960" marB="60960"/>
                </a:tc>
                <a:tc>
                  <a:txBody>
                    <a:bodyPr/>
                    <a:lstStyle/>
                    <a:p>
                      <a:endParaRPr lang="en-IN" sz="2400" dirty="0"/>
                    </a:p>
                  </a:txBody>
                  <a:tcPr marL="121920" marR="121920" marT="60960" marB="60960"/>
                </a:tc>
                <a:extLst>
                  <a:ext uri="{0D108BD9-81ED-4DB2-BD59-A6C34878D82A}">
                    <a16:rowId xmlns:a16="http://schemas.microsoft.com/office/drawing/2014/main" val="2264892084"/>
                  </a:ext>
                </a:extLst>
              </a:tr>
            </a:tbl>
          </a:graphicData>
        </a:graphic>
      </p:graphicFrame>
      <p:graphicFrame>
        <p:nvGraphicFramePr>
          <p:cNvPr id="30" name="Table 29"/>
          <p:cNvGraphicFramePr>
            <a:graphicFrameLocks noGrp="1"/>
          </p:cNvGraphicFramePr>
          <p:nvPr/>
        </p:nvGraphicFramePr>
        <p:xfrm>
          <a:off x="6175980" y="3657848"/>
          <a:ext cx="1110828" cy="487680"/>
        </p:xfrm>
        <a:graphic>
          <a:graphicData uri="http://schemas.openxmlformats.org/drawingml/2006/table">
            <a:tbl>
              <a:tblPr firstRow="1" bandRow="1">
                <a:tableStyleId>{5C22544A-7EE6-4342-B048-85BDC9FD1C3A}</a:tableStyleId>
              </a:tblPr>
              <a:tblGrid>
                <a:gridCol w="277707">
                  <a:extLst>
                    <a:ext uri="{9D8B030D-6E8A-4147-A177-3AD203B41FA5}">
                      <a16:colId xmlns:a16="http://schemas.microsoft.com/office/drawing/2014/main" val="4021708586"/>
                    </a:ext>
                  </a:extLst>
                </a:gridCol>
                <a:gridCol w="277707">
                  <a:extLst>
                    <a:ext uri="{9D8B030D-6E8A-4147-A177-3AD203B41FA5}">
                      <a16:colId xmlns:a16="http://schemas.microsoft.com/office/drawing/2014/main" val="4002755374"/>
                    </a:ext>
                  </a:extLst>
                </a:gridCol>
                <a:gridCol w="277707">
                  <a:extLst>
                    <a:ext uri="{9D8B030D-6E8A-4147-A177-3AD203B41FA5}">
                      <a16:colId xmlns:a16="http://schemas.microsoft.com/office/drawing/2014/main" val="2999692580"/>
                    </a:ext>
                  </a:extLst>
                </a:gridCol>
                <a:gridCol w="277707">
                  <a:extLst>
                    <a:ext uri="{9D8B030D-6E8A-4147-A177-3AD203B41FA5}">
                      <a16:colId xmlns:a16="http://schemas.microsoft.com/office/drawing/2014/main" val="81023993"/>
                    </a:ext>
                  </a:extLst>
                </a:gridCol>
              </a:tblGrid>
              <a:tr h="487680">
                <a:tc>
                  <a:txBody>
                    <a:bodyPr/>
                    <a:lstStyle/>
                    <a:p>
                      <a:endParaRPr lang="en-IN" sz="2400" dirty="0"/>
                    </a:p>
                  </a:txBody>
                  <a:tcPr marL="121920" marR="121920" marT="60960" marB="60960"/>
                </a:tc>
                <a:tc>
                  <a:txBody>
                    <a:bodyPr/>
                    <a:lstStyle/>
                    <a:p>
                      <a:endParaRPr lang="en-IN" sz="2400"/>
                    </a:p>
                  </a:txBody>
                  <a:tcPr marL="121920" marR="121920" marT="60960" marB="60960"/>
                </a:tc>
                <a:tc>
                  <a:txBody>
                    <a:bodyPr/>
                    <a:lstStyle/>
                    <a:p>
                      <a:endParaRPr lang="en-IN" sz="2400"/>
                    </a:p>
                  </a:txBody>
                  <a:tcPr marL="121920" marR="121920" marT="60960" marB="60960"/>
                </a:tc>
                <a:tc>
                  <a:txBody>
                    <a:bodyPr/>
                    <a:lstStyle/>
                    <a:p>
                      <a:endParaRPr lang="en-IN" sz="2400" dirty="0"/>
                    </a:p>
                  </a:txBody>
                  <a:tcPr marL="121920" marR="121920" marT="60960" marB="60960"/>
                </a:tc>
                <a:extLst>
                  <a:ext uri="{0D108BD9-81ED-4DB2-BD59-A6C34878D82A}">
                    <a16:rowId xmlns:a16="http://schemas.microsoft.com/office/drawing/2014/main" val="2264892084"/>
                  </a:ext>
                </a:extLst>
              </a:tr>
            </a:tbl>
          </a:graphicData>
        </a:graphic>
      </p:graphicFrame>
      <p:graphicFrame>
        <p:nvGraphicFramePr>
          <p:cNvPr id="33" name="Table 32"/>
          <p:cNvGraphicFramePr>
            <a:graphicFrameLocks noGrp="1"/>
          </p:cNvGraphicFramePr>
          <p:nvPr/>
        </p:nvGraphicFramePr>
        <p:xfrm>
          <a:off x="8496267" y="2830579"/>
          <a:ext cx="1824204" cy="487680"/>
        </p:xfrm>
        <a:graphic>
          <a:graphicData uri="http://schemas.openxmlformats.org/drawingml/2006/table">
            <a:tbl>
              <a:tblPr firstRow="1" bandRow="1">
                <a:tableStyleId>{F5AB1C69-6EDB-4FF4-983F-18BD219EF322}</a:tableStyleId>
              </a:tblPr>
              <a:tblGrid>
                <a:gridCol w="456051">
                  <a:extLst>
                    <a:ext uri="{9D8B030D-6E8A-4147-A177-3AD203B41FA5}">
                      <a16:colId xmlns:a16="http://schemas.microsoft.com/office/drawing/2014/main" val="4021708586"/>
                    </a:ext>
                  </a:extLst>
                </a:gridCol>
                <a:gridCol w="456051">
                  <a:extLst>
                    <a:ext uri="{9D8B030D-6E8A-4147-A177-3AD203B41FA5}">
                      <a16:colId xmlns:a16="http://schemas.microsoft.com/office/drawing/2014/main" val="4002755374"/>
                    </a:ext>
                  </a:extLst>
                </a:gridCol>
                <a:gridCol w="456051">
                  <a:extLst>
                    <a:ext uri="{9D8B030D-6E8A-4147-A177-3AD203B41FA5}">
                      <a16:colId xmlns:a16="http://schemas.microsoft.com/office/drawing/2014/main" val="2999692580"/>
                    </a:ext>
                  </a:extLst>
                </a:gridCol>
                <a:gridCol w="456051">
                  <a:extLst>
                    <a:ext uri="{9D8B030D-6E8A-4147-A177-3AD203B41FA5}">
                      <a16:colId xmlns:a16="http://schemas.microsoft.com/office/drawing/2014/main" val="81023993"/>
                    </a:ext>
                  </a:extLst>
                </a:gridCol>
              </a:tblGrid>
              <a:tr h="487680">
                <a:tc>
                  <a:txBody>
                    <a:bodyPr/>
                    <a:lstStyle/>
                    <a:p>
                      <a:endParaRPr lang="en-IN" sz="2400" dirty="0"/>
                    </a:p>
                  </a:txBody>
                  <a:tcPr marL="121920" marR="121920" marT="60960" marB="60960"/>
                </a:tc>
                <a:tc>
                  <a:txBody>
                    <a:bodyPr/>
                    <a:lstStyle/>
                    <a:p>
                      <a:endParaRPr lang="en-IN" sz="2400" dirty="0"/>
                    </a:p>
                  </a:txBody>
                  <a:tcPr marL="121920" marR="121920" marT="60960" marB="60960"/>
                </a:tc>
                <a:tc>
                  <a:txBody>
                    <a:bodyPr/>
                    <a:lstStyle/>
                    <a:p>
                      <a:endParaRPr lang="en-IN" sz="2400" dirty="0"/>
                    </a:p>
                  </a:txBody>
                  <a:tcPr marL="121920" marR="121920" marT="60960" marB="60960"/>
                </a:tc>
                <a:tc>
                  <a:txBody>
                    <a:bodyPr/>
                    <a:lstStyle/>
                    <a:p>
                      <a:endParaRPr lang="en-IN" sz="2400" dirty="0"/>
                    </a:p>
                  </a:txBody>
                  <a:tcPr marL="121920" marR="121920" marT="60960" marB="60960"/>
                </a:tc>
                <a:extLst>
                  <a:ext uri="{0D108BD9-81ED-4DB2-BD59-A6C34878D82A}">
                    <a16:rowId xmlns:a16="http://schemas.microsoft.com/office/drawing/2014/main" val="2264892084"/>
                  </a:ext>
                </a:extLst>
              </a:tr>
            </a:tbl>
          </a:graphicData>
        </a:graphic>
      </p:graphicFrame>
      <p:cxnSp>
        <p:nvCxnSpPr>
          <p:cNvPr id="35" name="Straight Arrow Connector 34"/>
          <p:cNvCxnSpPr>
            <a:endCxn id="33" idx="1"/>
          </p:cNvCxnSpPr>
          <p:nvPr/>
        </p:nvCxnSpPr>
        <p:spPr>
          <a:xfrm>
            <a:off x="7286807" y="2276872"/>
            <a:ext cx="1209460" cy="797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endCxn id="33" idx="1"/>
          </p:cNvCxnSpPr>
          <p:nvPr/>
        </p:nvCxnSpPr>
        <p:spPr>
          <a:xfrm flipV="1">
            <a:off x="7286807" y="3074419"/>
            <a:ext cx="1209460" cy="786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7286808" y="3029858"/>
            <a:ext cx="1113449" cy="39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1103446" y="4293096"/>
            <a:ext cx="131638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black"/>
                </a:solidFill>
                <a:effectLst/>
                <a:uLnTx/>
                <a:uFillTx/>
                <a:latin typeface="Century Schoolbook" panose="02040604050505020304"/>
                <a:ea typeface="+mn-ea"/>
                <a:cs typeface="+mn-cs"/>
              </a:rPr>
              <a:t>Input data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black"/>
                </a:solidFill>
                <a:effectLst/>
                <a:uLnTx/>
                <a:uFillTx/>
                <a:latin typeface="Century Schoolbook" panose="02040604050505020304"/>
                <a:ea typeface="+mn-ea"/>
                <a:cs typeface="+mn-cs"/>
              </a:rPr>
              <a:t>(chunk)</a:t>
            </a:r>
          </a:p>
        </p:txBody>
      </p:sp>
      <p:sp>
        <p:nvSpPr>
          <p:cNvPr id="44" name="TextBox 43"/>
          <p:cNvSpPr txBox="1"/>
          <p:nvPr/>
        </p:nvSpPr>
        <p:spPr>
          <a:xfrm>
            <a:off x="3756374" y="3354838"/>
            <a:ext cx="111082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entury Schoolbook" panose="02040604050505020304"/>
                <a:ea typeface="+mn-ea"/>
                <a:cs typeface="+mn-cs"/>
              </a:rPr>
              <a:t>Buffer in memory</a:t>
            </a:r>
          </a:p>
        </p:txBody>
      </p:sp>
      <p:cxnSp>
        <p:nvCxnSpPr>
          <p:cNvPr id="46" name="Straight Arrow Connector 45"/>
          <p:cNvCxnSpPr/>
          <p:nvPr/>
        </p:nvCxnSpPr>
        <p:spPr>
          <a:xfrm flipH="1" flipV="1">
            <a:off x="6288021" y="4064249"/>
            <a:ext cx="384043" cy="639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V="1">
            <a:off x="6672064" y="4064249"/>
            <a:ext cx="480053" cy="639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6198269" y="4773150"/>
            <a:ext cx="1119217"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entury Schoolbook" panose="02040604050505020304"/>
                <a:ea typeface="+mn-ea"/>
                <a:cs typeface="+mn-cs"/>
              </a:rPr>
              <a:t>partitions</a:t>
            </a:r>
          </a:p>
        </p:txBody>
      </p:sp>
      <p:sp>
        <p:nvSpPr>
          <p:cNvPr id="50" name="TextBox 49"/>
          <p:cNvSpPr txBox="1"/>
          <p:nvPr/>
        </p:nvSpPr>
        <p:spPr>
          <a:xfrm>
            <a:off x="5669790" y="1390455"/>
            <a:ext cx="219656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black"/>
                </a:solidFill>
                <a:effectLst/>
                <a:uLnTx/>
                <a:uFillTx/>
                <a:latin typeface="Century Schoolbook" panose="02040604050505020304"/>
                <a:ea typeface="+mn-ea"/>
                <a:cs typeface="+mn-cs"/>
              </a:rPr>
              <a:t>partition, sort and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black"/>
                </a:solidFill>
                <a:effectLst/>
                <a:uLnTx/>
                <a:uFillTx/>
                <a:latin typeface="Century Schoolbook" panose="02040604050505020304"/>
                <a:ea typeface="+mn-ea"/>
                <a:cs typeface="+mn-cs"/>
              </a:rPr>
              <a:t>spill to disk</a:t>
            </a:r>
          </a:p>
        </p:txBody>
      </p:sp>
      <p:sp>
        <p:nvSpPr>
          <p:cNvPr id="51" name="TextBox 50"/>
          <p:cNvSpPr txBox="1"/>
          <p:nvPr/>
        </p:nvSpPr>
        <p:spPr>
          <a:xfrm rot="5400000">
            <a:off x="7247405" y="2964246"/>
            <a:ext cx="1422498" cy="2974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1" i="0" u="none" strike="noStrike" kern="1200" cap="none" spc="0" normalizeH="0" baseline="0" noProof="0" dirty="0">
                <a:ln>
                  <a:noFill/>
                </a:ln>
                <a:solidFill>
                  <a:srgbClr val="0070C0"/>
                </a:solidFill>
                <a:effectLst/>
                <a:uLnTx/>
                <a:uFillTx/>
                <a:latin typeface="Century Schoolbook" panose="02040604050505020304"/>
                <a:ea typeface="+mn-ea"/>
                <a:cs typeface="+mn-cs"/>
              </a:rPr>
              <a:t>merge on disk</a:t>
            </a:r>
          </a:p>
        </p:txBody>
      </p:sp>
      <p:cxnSp>
        <p:nvCxnSpPr>
          <p:cNvPr id="53" name="Straight Arrow Connector 52"/>
          <p:cNvCxnSpPr/>
          <p:nvPr/>
        </p:nvCxnSpPr>
        <p:spPr>
          <a:xfrm flipH="1" flipV="1">
            <a:off x="6576053" y="4101075"/>
            <a:ext cx="96011" cy="6023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6672064" y="4101075"/>
            <a:ext cx="192021" cy="6023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8708634" y="3295823"/>
            <a:ext cx="152798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black"/>
                </a:solidFill>
                <a:effectLst/>
                <a:uLnTx/>
                <a:uFillTx/>
                <a:latin typeface="Century Schoolbook" panose="02040604050505020304"/>
                <a:ea typeface="+mn-ea"/>
                <a:cs typeface="+mn-cs"/>
              </a:rPr>
              <a:t>on local disk</a:t>
            </a:r>
          </a:p>
        </p:txBody>
      </p:sp>
      <p:sp>
        <p:nvSpPr>
          <p:cNvPr id="3" name="TextBox 2">
            <a:extLst>
              <a:ext uri="{FF2B5EF4-FFF2-40B4-BE49-F238E27FC236}">
                <a16:creationId xmlns:a16="http://schemas.microsoft.com/office/drawing/2014/main" id="{CF9726B3-EF75-9F33-A6DB-9E98A2265C27}"/>
              </a:ext>
            </a:extLst>
          </p:cNvPr>
          <p:cNvSpPr txBox="1"/>
          <p:nvPr/>
        </p:nvSpPr>
        <p:spPr>
          <a:xfrm>
            <a:off x="623392" y="5300870"/>
            <a:ext cx="11316817" cy="1200329"/>
          </a:xfrm>
          <a:prstGeom prst="rect">
            <a:avLst/>
          </a:prstGeom>
          <a:noFill/>
        </p:spPr>
        <p:txBody>
          <a:bodyPr wrap="square" rtlCol="0">
            <a:spAutoFit/>
          </a:bodyPr>
          <a:lstStyle/>
          <a:p>
            <a:r>
              <a:rPr lang="en-US" dirty="0"/>
              <a:t>Every map function have a buffer, which is fixed chunk of space in main memory. When map function is doing its operation the it is writing its output in the main memory. When buffer is full it will spill out the data in hard disk which is the local file system, because map writes output in  LFS. </a:t>
            </a:r>
          </a:p>
          <a:p>
            <a:endParaRPr lang="en-US" dirty="0"/>
          </a:p>
        </p:txBody>
      </p:sp>
    </p:spTree>
    <p:extLst>
      <p:ext uri="{BB962C8B-B14F-4D97-AF65-F5344CB8AC3E}">
        <p14:creationId xmlns:p14="http://schemas.microsoft.com/office/powerpoint/2010/main" val="4132150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623392" y="1412776"/>
            <a:ext cx="3840427" cy="4128459"/>
          </a:xfrm>
          <a:prstGeom prst="rect">
            <a:avLst/>
          </a:prstGeom>
          <a:solidFill>
            <a:schemeClr val="accent5">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a:noFill/>
              </a:ln>
              <a:solidFill>
                <a:prstClr val="black"/>
              </a:solidFill>
              <a:effectLst/>
              <a:uLnTx/>
              <a:uFillTx/>
              <a:latin typeface="Century Schoolbook" panose="02040604050505020304"/>
              <a:ea typeface="+mn-ea"/>
              <a:cs typeface="+mn-cs"/>
            </a:endParaRPr>
          </a:p>
        </p:txBody>
      </p:sp>
      <p:sp>
        <p:nvSpPr>
          <p:cNvPr id="2" name="Title 1"/>
          <p:cNvSpPr>
            <a:spLocks noGrp="1"/>
          </p:cNvSpPr>
          <p:nvPr>
            <p:ph type="title"/>
          </p:nvPr>
        </p:nvSpPr>
        <p:spPr>
          <a:xfrm>
            <a:off x="623392" y="164637"/>
            <a:ext cx="10515600" cy="732155"/>
          </a:xfrm>
        </p:spPr>
        <p:txBody>
          <a:bodyPr/>
          <a:lstStyle/>
          <a:p>
            <a:r>
              <a:rPr lang="en-IN" sz="3733" dirty="0"/>
              <a:t>Shuffle and Sort: the </a:t>
            </a:r>
            <a:r>
              <a:rPr lang="en-IN" sz="3733" dirty="0">
                <a:solidFill>
                  <a:srgbClr val="7030A0"/>
                </a:solidFill>
              </a:rPr>
              <a:t>reduce</a:t>
            </a:r>
            <a:r>
              <a:rPr lang="en-IN" sz="3733" dirty="0"/>
              <a:t> side</a:t>
            </a:r>
          </a:p>
        </p:txBody>
      </p:sp>
      <p:sp>
        <p:nvSpPr>
          <p:cNvPr id="3" name="Rectangle 2"/>
          <p:cNvSpPr/>
          <p:nvPr/>
        </p:nvSpPr>
        <p:spPr>
          <a:xfrm>
            <a:off x="863419" y="1743828"/>
            <a:ext cx="480053" cy="465584"/>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cxnSp>
        <p:nvCxnSpPr>
          <p:cNvPr id="4" name="Straight Arrow Connector 3"/>
          <p:cNvCxnSpPr/>
          <p:nvPr/>
        </p:nvCxnSpPr>
        <p:spPr>
          <a:xfrm>
            <a:off x="1343472" y="1976620"/>
            <a:ext cx="4800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823525" y="1714236"/>
            <a:ext cx="864096" cy="576064"/>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Schoolbook" panose="02040604050505020304"/>
                <a:ea typeface="+mn-ea"/>
                <a:cs typeface="+mn-cs"/>
              </a:rPr>
              <a:t>map</a:t>
            </a:r>
          </a:p>
        </p:txBody>
      </p:sp>
      <p:graphicFrame>
        <p:nvGraphicFramePr>
          <p:cNvPr id="6" name="Table 5"/>
          <p:cNvGraphicFramePr>
            <a:graphicFrameLocks noGrp="1"/>
          </p:cNvGraphicFramePr>
          <p:nvPr/>
        </p:nvGraphicFramePr>
        <p:xfrm>
          <a:off x="2975653" y="1799068"/>
          <a:ext cx="1224135" cy="487680"/>
        </p:xfrm>
        <a:graphic>
          <a:graphicData uri="http://schemas.openxmlformats.org/drawingml/2006/table">
            <a:tbl>
              <a:tblPr firstRow="1" bandRow="1">
                <a:tableStyleId>{F5AB1C69-6EDB-4FF4-983F-18BD219EF322}</a:tableStyleId>
              </a:tblPr>
              <a:tblGrid>
                <a:gridCol w="408045">
                  <a:extLst>
                    <a:ext uri="{9D8B030D-6E8A-4147-A177-3AD203B41FA5}">
                      <a16:colId xmlns:a16="http://schemas.microsoft.com/office/drawing/2014/main" val="4021708586"/>
                    </a:ext>
                  </a:extLst>
                </a:gridCol>
                <a:gridCol w="408045">
                  <a:extLst>
                    <a:ext uri="{9D8B030D-6E8A-4147-A177-3AD203B41FA5}">
                      <a16:colId xmlns:a16="http://schemas.microsoft.com/office/drawing/2014/main" val="4002755374"/>
                    </a:ext>
                  </a:extLst>
                </a:gridCol>
                <a:gridCol w="408045">
                  <a:extLst>
                    <a:ext uri="{9D8B030D-6E8A-4147-A177-3AD203B41FA5}">
                      <a16:colId xmlns:a16="http://schemas.microsoft.com/office/drawing/2014/main" val="2999692580"/>
                    </a:ext>
                  </a:extLst>
                </a:gridCol>
              </a:tblGrid>
              <a:tr h="487680">
                <a:tc>
                  <a:txBody>
                    <a:bodyPr/>
                    <a:lstStyle/>
                    <a:p>
                      <a:endParaRPr lang="en-IN" sz="2400" dirty="0">
                        <a:solidFill>
                          <a:schemeClr val="accent4">
                            <a:lumMod val="60000"/>
                            <a:lumOff val="40000"/>
                          </a:schemeClr>
                        </a:solidFill>
                      </a:endParaRPr>
                    </a:p>
                  </a:txBody>
                  <a:tcPr marL="121920" marR="121920" marT="60960" marB="60960">
                    <a:solidFill>
                      <a:srgbClr val="0070C0"/>
                    </a:solidFill>
                  </a:tcPr>
                </a:tc>
                <a:tc>
                  <a:txBody>
                    <a:bodyPr/>
                    <a:lstStyle/>
                    <a:p>
                      <a:endParaRPr lang="en-IN" sz="2400" dirty="0"/>
                    </a:p>
                  </a:txBody>
                  <a:tcPr marL="121920" marR="121920" marT="60960" marB="60960">
                    <a:solidFill>
                      <a:srgbClr val="7030A0"/>
                    </a:solidFill>
                  </a:tcPr>
                </a:tc>
                <a:tc>
                  <a:txBody>
                    <a:bodyPr/>
                    <a:lstStyle/>
                    <a:p>
                      <a:endParaRPr lang="en-IN" sz="2400" dirty="0"/>
                    </a:p>
                  </a:txBody>
                  <a:tcPr marL="121920" marR="121920" marT="60960" marB="60960"/>
                </a:tc>
                <a:extLst>
                  <a:ext uri="{0D108BD9-81ED-4DB2-BD59-A6C34878D82A}">
                    <a16:rowId xmlns:a16="http://schemas.microsoft.com/office/drawing/2014/main" val="2264892084"/>
                  </a:ext>
                </a:extLst>
              </a:tr>
            </a:tbl>
          </a:graphicData>
        </a:graphic>
      </p:graphicFrame>
      <p:cxnSp>
        <p:nvCxnSpPr>
          <p:cNvPr id="7" name="Straight Arrow Connector 6"/>
          <p:cNvCxnSpPr>
            <a:stCxn id="5" idx="3"/>
          </p:cNvCxnSpPr>
          <p:nvPr/>
        </p:nvCxnSpPr>
        <p:spPr>
          <a:xfrm>
            <a:off x="2687621" y="2002268"/>
            <a:ext cx="3840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863419" y="2862948"/>
            <a:ext cx="480053" cy="465584"/>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cxnSp>
        <p:nvCxnSpPr>
          <p:cNvPr id="11" name="Straight Arrow Connector 10"/>
          <p:cNvCxnSpPr/>
          <p:nvPr/>
        </p:nvCxnSpPr>
        <p:spPr>
          <a:xfrm>
            <a:off x="1343472" y="3095740"/>
            <a:ext cx="4800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823525" y="2833356"/>
            <a:ext cx="864096" cy="576064"/>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Schoolbook" panose="02040604050505020304"/>
                <a:ea typeface="+mn-ea"/>
                <a:cs typeface="+mn-cs"/>
              </a:rPr>
              <a:t>map</a:t>
            </a:r>
          </a:p>
        </p:txBody>
      </p:sp>
      <p:graphicFrame>
        <p:nvGraphicFramePr>
          <p:cNvPr id="13" name="Table 12"/>
          <p:cNvGraphicFramePr>
            <a:graphicFrameLocks noGrp="1"/>
          </p:cNvGraphicFramePr>
          <p:nvPr/>
        </p:nvGraphicFramePr>
        <p:xfrm>
          <a:off x="2975653" y="2918188"/>
          <a:ext cx="1224135" cy="487680"/>
        </p:xfrm>
        <a:graphic>
          <a:graphicData uri="http://schemas.openxmlformats.org/drawingml/2006/table">
            <a:tbl>
              <a:tblPr firstRow="1" bandRow="1">
                <a:tableStyleId>{F5AB1C69-6EDB-4FF4-983F-18BD219EF322}</a:tableStyleId>
              </a:tblPr>
              <a:tblGrid>
                <a:gridCol w="408045">
                  <a:extLst>
                    <a:ext uri="{9D8B030D-6E8A-4147-A177-3AD203B41FA5}">
                      <a16:colId xmlns:a16="http://schemas.microsoft.com/office/drawing/2014/main" val="4021708586"/>
                    </a:ext>
                  </a:extLst>
                </a:gridCol>
                <a:gridCol w="408045">
                  <a:extLst>
                    <a:ext uri="{9D8B030D-6E8A-4147-A177-3AD203B41FA5}">
                      <a16:colId xmlns:a16="http://schemas.microsoft.com/office/drawing/2014/main" val="4002755374"/>
                    </a:ext>
                  </a:extLst>
                </a:gridCol>
                <a:gridCol w="408045">
                  <a:extLst>
                    <a:ext uri="{9D8B030D-6E8A-4147-A177-3AD203B41FA5}">
                      <a16:colId xmlns:a16="http://schemas.microsoft.com/office/drawing/2014/main" val="2999692580"/>
                    </a:ext>
                  </a:extLst>
                </a:gridCol>
              </a:tblGrid>
              <a:tr h="487680">
                <a:tc>
                  <a:txBody>
                    <a:bodyPr/>
                    <a:lstStyle/>
                    <a:p>
                      <a:endParaRPr lang="en-IN" sz="2400" dirty="0"/>
                    </a:p>
                  </a:txBody>
                  <a:tcPr marL="121920" marR="121920" marT="60960" marB="60960">
                    <a:solidFill>
                      <a:srgbClr val="0070C0"/>
                    </a:solidFill>
                  </a:tcPr>
                </a:tc>
                <a:tc>
                  <a:txBody>
                    <a:bodyPr/>
                    <a:lstStyle/>
                    <a:p>
                      <a:endParaRPr lang="en-IN" sz="2400" dirty="0"/>
                    </a:p>
                  </a:txBody>
                  <a:tcPr marL="121920" marR="121920" marT="60960" marB="60960">
                    <a:solidFill>
                      <a:srgbClr val="7030A0"/>
                    </a:solidFill>
                  </a:tcPr>
                </a:tc>
                <a:tc>
                  <a:txBody>
                    <a:bodyPr/>
                    <a:lstStyle/>
                    <a:p>
                      <a:endParaRPr lang="en-IN" sz="2400" dirty="0"/>
                    </a:p>
                  </a:txBody>
                  <a:tcPr marL="121920" marR="121920" marT="60960" marB="60960"/>
                </a:tc>
                <a:extLst>
                  <a:ext uri="{0D108BD9-81ED-4DB2-BD59-A6C34878D82A}">
                    <a16:rowId xmlns:a16="http://schemas.microsoft.com/office/drawing/2014/main" val="2264892084"/>
                  </a:ext>
                </a:extLst>
              </a:tr>
            </a:tbl>
          </a:graphicData>
        </a:graphic>
      </p:graphicFrame>
      <p:cxnSp>
        <p:nvCxnSpPr>
          <p:cNvPr id="14" name="Straight Arrow Connector 13"/>
          <p:cNvCxnSpPr>
            <a:stCxn id="12" idx="3"/>
          </p:cNvCxnSpPr>
          <p:nvPr/>
        </p:nvCxnSpPr>
        <p:spPr>
          <a:xfrm>
            <a:off x="2687621" y="3121388"/>
            <a:ext cx="3840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863419" y="3903123"/>
            <a:ext cx="480053" cy="465584"/>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cxnSp>
        <p:nvCxnSpPr>
          <p:cNvPr id="16" name="Straight Arrow Connector 15"/>
          <p:cNvCxnSpPr/>
          <p:nvPr/>
        </p:nvCxnSpPr>
        <p:spPr>
          <a:xfrm>
            <a:off x="1343472" y="4135915"/>
            <a:ext cx="4800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823525" y="3873531"/>
            <a:ext cx="864096" cy="576064"/>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Schoolbook" panose="02040604050505020304"/>
                <a:ea typeface="+mn-ea"/>
                <a:cs typeface="+mn-cs"/>
              </a:rPr>
              <a:t>map</a:t>
            </a:r>
          </a:p>
        </p:txBody>
      </p:sp>
      <p:graphicFrame>
        <p:nvGraphicFramePr>
          <p:cNvPr id="18" name="Table 17"/>
          <p:cNvGraphicFramePr>
            <a:graphicFrameLocks noGrp="1"/>
          </p:cNvGraphicFramePr>
          <p:nvPr/>
        </p:nvGraphicFramePr>
        <p:xfrm>
          <a:off x="2975653" y="3958363"/>
          <a:ext cx="1224135" cy="487680"/>
        </p:xfrm>
        <a:graphic>
          <a:graphicData uri="http://schemas.openxmlformats.org/drawingml/2006/table">
            <a:tbl>
              <a:tblPr firstRow="1" bandRow="1">
                <a:tableStyleId>{F5AB1C69-6EDB-4FF4-983F-18BD219EF322}</a:tableStyleId>
              </a:tblPr>
              <a:tblGrid>
                <a:gridCol w="408045">
                  <a:extLst>
                    <a:ext uri="{9D8B030D-6E8A-4147-A177-3AD203B41FA5}">
                      <a16:colId xmlns:a16="http://schemas.microsoft.com/office/drawing/2014/main" val="4021708586"/>
                    </a:ext>
                  </a:extLst>
                </a:gridCol>
                <a:gridCol w="408045">
                  <a:extLst>
                    <a:ext uri="{9D8B030D-6E8A-4147-A177-3AD203B41FA5}">
                      <a16:colId xmlns:a16="http://schemas.microsoft.com/office/drawing/2014/main" val="4002755374"/>
                    </a:ext>
                  </a:extLst>
                </a:gridCol>
                <a:gridCol w="408045">
                  <a:extLst>
                    <a:ext uri="{9D8B030D-6E8A-4147-A177-3AD203B41FA5}">
                      <a16:colId xmlns:a16="http://schemas.microsoft.com/office/drawing/2014/main" val="2999692580"/>
                    </a:ext>
                  </a:extLst>
                </a:gridCol>
              </a:tblGrid>
              <a:tr h="487680">
                <a:tc>
                  <a:txBody>
                    <a:bodyPr/>
                    <a:lstStyle/>
                    <a:p>
                      <a:endParaRPr lang="en-IN" sz="2400" dirty="0"/>
                    </a:p>
                  </a:txBody>
                  <a:tcPr marL="121920" marR="121920" marT="60960" marB="60960">
                    <a:solidFill>
                      <a:srgbClr val="0070C0"/>
                    </a:solidFill>
                  </a:tcPr>
                </a:tc>
                <a:tc>
                  <a:txBody>
                    <a:bodyPr/>
                    <a:lstStyle/>
                    <a:p>
                      <a:endParaRPr lang="en-IN" sz="2400" dirty="0"/>
                    </a:p>
                  </a:txBody>
                  <a:tcPr marL="121920" marR="121920" marT="60960" marB="60960">
                    <a:solidFill>
                      <a:srgbClr val="7030A0"/>
                    </a:solidFill>
                  </a:tcPr>
                </a:tc>
                <a:tc>
                  <a:txBody>
                    <a:bodyPr/>
                    <a:lstStyle/>
                    <a:p>
                      <a:endParaRPr lang="en-IN" sz="2400" dirty="0"/>
                    </a:p>
                  </a:txBody>
                  <a:tcPr marL="121920" marR="121920" marT="60960" marB="60960"/>
                </a:tc>
                <a:extLst>
                  <a:ext uri="{0D108BD9-81ED-4DB2-BD59-A6C34878D82A}">
                    <a16:rowId xmlns:a16="http://schemas.microsoft.com/office/drawing/2014/main" val="2264892084"/>
                  </a:ext>
                </a:extLst>
              </a:tr>
            </a:tbl>
          </a:graphicData>
        </a:graphic>
      </p:graphicFrame>
      <p:cxnSp>
        <p:nvCxnSpPr>
          <p:cNvPr id="19" name="Straight Arrow Connector 18"/>
          <p:cNvCxnSpPr>
            <a:stCxn id="17" idx="3"/>
          </p:cNvCxnSpPr>
          <p:nvPr/>
        </p:nvCxnSpPr>
        <p:spPr>
          <a:xfrm>
            <a:off x="2687621" y="4161563"/>
            <a:ext cx="3840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662901" y="5695788"/>
            <a:ext cx="189667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F15A2D"/>
                </a:solidFill>
                <a:effectLst/>
                <a:uLnTx/>
                <a:uFillTx/>
                <a:latin typeface="Century Schoolbook" panose="02040604050505020304"/>
                <a:ea typeface="+mn-ea"/>
                <a:cs typeface="+mn-cs"/>
              </a:rPr>
              <a:t>map phase</a:t>
            </a:r>
          </a:p>
        </p:txBody>
      </p:sp>
      <p:sp>
        <p:nvSpPr>
          <p:cNvPr id="22" name="Rectangle 21"/>
          <p:cNvSpPr/>
          <p:nvPr/>
        </p:nvSpPr>
        <p:spPr>
          <a:xfrm>
            <a:off x="863419" y="4706861"/>
            <a:ext cx="480053" cy="465584"/>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cxnSp>
        <p:nvCxnSpPr>
          <p:cNvPr id="23" name="Straight Arrow Connector 22"/>
          <p:cNvCxnSpPr/>
          <p:nvPr/>
        </p:nvCxnSpPr>
        <p:spPr>
          <a:xfrm>
            <a:off x="1343472" y="4939653"/>
            <a:ext cx="4800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1823525" y="4677269"/>
            <a:ext cx="864096" cy="576064"/>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Schoolbook" panose="02040604050505020304"/>
                <a:ea typeface="+mn-ea"/>
                <a:cs typeface="+mn-cs"/>
              </a:rPr>
              <a:t>map</a:t>
            </a:r>
          </a:p>
        </p:txBody>
      </p:sp>
      <p:graphicFrame>
        <p:nvGraphicFramePr>
          <p:cNvPr id="25" name="Table 24"/>
          <p:cNvGraphicFramePr>
            <a:graphicFrameLocks noGrp="1"/>
          </p:cNvGraphicFramePr>
          <p:nvPr/>
        </p:nvGraphicFramePr>
        <p:xfrm>
          <a:off x="2975653" y="4762101"/>
          <a:ext cx="1224135" cy="487680"/>
        </p:xfrm>
        <a:graphic>
          <a:graphicData uri="http://schemas.openxmlformats.org/drawingml/2006/table">
            <a:tbl>
              <a:tblPr firstRow="1" bandRow="1">
                <a:tableStyleId>{F5AB1C69-6EDB-4FF4-983F-18BD219EF322}</a:tableStyleId>
              </a:tblPr>
              <a:tblGrid>
                <a:gridCol w="408045">
                  <a:extLst>
                    <a:ext uri="{9D8B030D-6E8A-4147-A177-3AD203B41FA5}">
                      <a16:colId xmlns:a16="http://schemas.microsoft.com/office/drawing/2014/main" val="4021708586"/>
                    </a:ext>
                  </a:extLst>
                </a:gridCol>
                <a:gridCol w="408045">
                  <a:extLst>
                    <a:ext uri="{9D8B030D-6E8A-4147-A177-3AD203B41FA5}">
                      <a16:colId xmlns:a16="http://schemas.microsoft.com/office/drawing/2014/main" val="4002755374"/>
                    </a:ext>
                  </a:extLst>
                </a:gridCol>
                <a:gridCol w="408045">
                  <a:extLst>
                    <a:ext uri="{9D8B030D-6E8A-4147-A177-3AD203B41FA5}">
                      <a16:colId xmlns:a16="http://schemas.microsoft.com/office/drawing/2014/main" val="2999692580"/>
                    </a:ext>
                  </a:extLst>
                </a:gridCol>
              </a:tblGrid>
              <a:tr h="487680">
                <a:tc>
                  <a:txBody>
                    <a:bodyPr/>
                    <a:lstStyle/>
                    <a:p>
                      <a:endParaRPr lang="en-IN" sz="2400" dirty="0"/>
                    </a:p>
                  </a:txBody>
                  <a:tcPr marL="121920" marR="121920" marT="60960" marB="60960">
                    <a:solidFill>
                      <a:srgbClr val="0070C0"/>
                    </a:solidFill>
                  </a:tcPr>
                </a:tc>
                <a:tc>
                  <a:txBody>
                    <a:bodyPr/>
                    <a:lstStyle/>
                    <a:p>
                      <a:endParaRPr lang="en-IN" sz="2400" dirty="0"/>
                    </a:p>
                  </a:txBody>
                  <a:tcPr marL="121920" marR="121920" marT="60960" marB="60960">
                    <a:solidFill>
                      <a:srgbClr val="7030A0"/>
                    </a:solidFill>
                  </a:tcPr>
                </a:tc>
                <a:tc>
                  <a:txBody>
                    <a:bodyPr/>
                    <a:lstStyle/>
                    <a:p>
                      <a:endParaRPr lang="en-IN" sz="2400" dirty="0"/>
                    </a:p>
                  </a:txBody>
                  <a:tcPr marL="121920" marR="121920" marT="60960" marB="60960"/>
                </a:tc>
                <a:extLst>
                  <a:ext uri="{0D108BD9-81ED-4DB2-BD59-A6C34878D82A}">
                    <a16:rowId xmlns:a16="http://schemas.microsoft.com/office/drawing/2014/main" val="2264892084"/>
                  </a:ext>
                </a:extLst>
              </a:tr>
            </a:tbl>
          </a:graphicData>
        </a:graphic>
      </p:graphicFrame>
      <p:cxnSp>
        <p:nvCxnSpPr>
          <p:cNvPr id="26" name="Straight Arrow Connector 25"/>
          <p:cNvCxnSpPr>
            <a:stCxn id="24" idx="3"/>
          </p:cNvCxnSpPr>
          <p:nvPr/>
        </p:nvCxnSpPr>
        <p:spPr>
          <a:xfrm>
            <a:off x="2687621" y="4965301"/>
            <a:ext cx="3840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5615947" y="1412777"/>
            <a:ext cx="672075" cy="370615"/>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entury Schoolbook" panose="02040604050505020304"/>
              <a:ea typeface="+mn-ea"/>
              <a:cs typeface="+mn-cs"/>
            </a:endParaRPr>
          </a:p>
        </p:txBody>
      </p:sp>
      <p:sp>
        <p:nvSpPr>
          <p:cNvPr id="28" name="Rectangle 27"/>
          <p:cNvSpPr/>
          <p:nvPr/>
        </p:nvSpPr>
        <p:spPr>
          <a:xfrm>
            <a:off x="5624061" y="2161282"/>
            <a:ext cx="672075" cy="370615"/>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entury Schoolbook" panose="02040604050505020304"/>
              <a:ea typeface="+mn-ea"/>
              <a:cs typeface="+mn-cs"/>
            </a:endParaRPr>
          </a:p>
        </p:txBody>
      </p:sp>
      <p:sp>
        <p:nvSpPr>
          <p:cNvPr id="29" name="Rectangle 28"/>
          <p:cNvSpPr/>
          <p:nvPr/>
        </p:nvSpPr>
        <p:spPr>
          <a:xfrm>
            <a:off x="5615947" y="2909787"/>
            <a:ext cx="672075" cy="370615"/>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entury Schoolbook" panose="02040604050505020304"/>
              <a:ea typeface="+mn-ea"/>
              <a:cs typeface="+mn-cs"/>
            </a:endParaRPr>
          </a:p>
        </p:txBody>
      </p:sp>
      <p:sp>
        <p:nvSpPr>
          <p:cNvPr id="30" name="Rectangle 29"/>
          <p:cNvSpPr/>
          <p:nvPr/>
        </p:nvSpPr>
        <p:spPr>
          <a:xfrm>
            <a:off x="5615947" y="3640435"/>
            <a:ext cx="672075" cy="370615"/>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entury Schoolbook" panose="02040604050505020304"/>
              <a:ea typeface="+mn-ea"/>
              <a:cs typeface="+mn-cs"/>
            </a:endParaRPr>
          </a:p>
        </p:txBody>
      </p:sp>
      <p:sp>
        <p:nvSpPr>
          <p:cNvPr id="31" name="Rectangle 30"/>
          <p:cNvSpPr/>
          <p:nvPr/>
        </p:nvSpPr>
        <p:spPr>
          <a:xfrm>
            <a:off x="7152118" y="1773700"/>
            <a:ext cx="1056117" cy="384043"/>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entury Schoolbook" panose="02040604050505020304"/>
              <a:ea typeface="+mn-ea"/>
              <a:cs typeface="+mn-cs"/>
            </a:endParaRPr>
          </a:p>
        </p:txBody>
      </p:sp>
      <p:sp>
        <p:nvSpPr>
          <p:cNvPr id="32" name="Rectangle 31"/>
          <p:cNvSpPr/>
          <p:nvPr/>
        </p:nvSpPr>
        <p:spPr>
          <a:xfrm>
            <a:off x="7152118" y="3193416"/>
            <a:ext cx="1056117" cy="384043"/>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entury Schoolbook" panose="02040604050505020304"/>
              <a:ea typeface="+mn-ea"/>
              <a:cs typeface="+mn-cs"/>
            </a:endParaRPr>
          </a:p>
        </p:txBody>
      </p:sp>
      <p:sp>
        <p:nvSpPr>
          <p:cNvPr id="33" name="Rectangle 32"/>
          <p:cNvSpPr/>
          <p:nvPr/>
        </p:nvSpPr>
        <p:spPr>
          <a:xfrm>
            <a:off x="8688288" y="2281392"/>
            <a:ext cx="1248139" cy="704355"/>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Schoolbook" panose="02040604050505020304"/>
                <a:ea typeface="+mn-ea"/>
                <a:cs typeface="+mn-cs"/>
              </a:rPr>
              <a:t>reduce</a:t>
            </a:r>
          </a:p>
        </p:txBody>
      </p:sp>
      <p:sp>
        <p:nvSpPr>
          <p:cNvPr id="34" name="Rectangle 33"/>
          <p:cNvSpPr/>
          <p:nvPr/>
        </p:nvSpPr>
        <p:spPr>
          <a:xfrm>
            <a:off x="10320469" y="2475729"/>
            <a:ext cx="1152128" cy="288032"/>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Schoolbook" panose="02040604050505020304"/>
                <a:ea typeface="+mn-ea"/>
                <a:cs typeface="+mn-cs"/>
              </a:rPr>
              <a:t>output</a:t>
            </a:r>
          </a:p>
        </p:txBody>
      </p:sp>
      <p:cxnSp>
        <p:nvCxnSpPr>
          <p:cNvPr id="36" name="Straight Arrow Connector 35"/>
          <p:cNvCxnSpPr>
            <a:stCxn id="27" idx="3"/>
          </p:cNvCxnSpPr>
          <p:nvPr/>
        </p:nvCxnSpPr>
        <p:spPr>
          <a:xfrm>
            <a:off x="6288022" y="1598084"/>
            <a:ext cx="768085" cy="36763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28" idx="3"/>
          </p:cNvCxnSpPr>
          <p:nvPr/>
        </p:nvCxnSpPr>
        <p:spPr>
          <a:xfrm flipV="1">
            <a:off x="6296136" y="2090837"/>
            <a:ext cx="759971" cy="25575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29" idx="3"/>
          </p:cNvCxnSpPr>
          <p:nvPr/>
        </p:nvCxnSpPr>
        <p:spPr>
          <a:xfrm>
            <a:off x="6288022" y="3095095"/>
            <a:ext cx="768085" cy="24388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0" idx="3"/>
          </p:cNvCxnSpPr>
          <p:nvPr/>
        </p:nvCxnSpPr>
        <p:spPr>
          <a:xfrm flipV="1">
            <a:off x="6288022" y="3495474"/>
            <a:ext cx="768085" cy="33026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1" idx="3"/>
          </p:cNvCxnSpPr>
          <p:nvPr/>
        </p:nvCxnSpPr>
        <p:spPr>
          <a:xfrm>
            <a:off x="8208235" y="1965722"/>
            <a:ext cx="480053" cy="566175"/>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32" idx="3"/>
            <a:endCxn id="33" idx="1"/>
          </p:cNvCxnSpPr>
          <p:nvPr/>
        </p:nvCxnSpPr>
        <p:spPr>
          <a:xfrm flipV="1">
            <a:off x="8208235" y="2633570"/>
            <a:ext cx="480053" cy="751868"/>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5592959" y="1826371"/>
            <a:ext cx="673582" cy="2974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a:ln>
                  <a:noFill/>
                </a:ln>
                <a:solidFill>
                  <a:prstClr val="black"/>
                </a:solidFill>
                <a:effectLst/>
                <a:uLnTx/>
                <a:uFillTx/>
                <a:latin typeface="Century Schoolbook" panose="02040604050505020304"/>
                <a:ea typeface="+mn-ea"/>
                <a:cs typeface="+mn-cs"/>
              </a:rPr>
              <a:t>merge</a:t>
            </a:r>
          </a:p>
        </p:txBody>
      </p:sp>
      <p:sp>
        <p:nvSpPr>
          <p:cNvPr id="58" name="TextBox 57"/>
          <p:cNvSpPr txBox="1"/>
          <p:nvPr/>
        </p:nvSpPr>
        <p:spPr>
          <a:xfrm>
            <a:off x="5579803" y="3292274"/>
            <a:ext cx="673582" cy="2974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a:ln>
                  <a:noFill/>
                </a:ln>
                <a:solidFill>
                  <a:prstClr val="black"/>
                </a:solidFill>
                <a:effectLst/>
                <a:uLnTx/>
                <a:uFillTx/>
                <a:latin typeface="Century Schoolbook" panose="02040604050505020304"/>
                <a:ea typeface="+mn-ea"/>
                <a:cs typeface="+mn-cs"/>
              </a:rPr>
              <a:t>merge</a:t>
            </a:r>
          </a:p>
        </p:txBody>
      </p:sp>
      <p:sp>
        <p:nvSpPr>
          <p:cNvPr id="59" name="TextBox 58"/>
          <p:cNvSpPr txBox="1"/>
          <p:nvPr/>
        </p:nvSpPr>
        <p:spPr>
          <a:xfrm>
            <a:off x="7321151" y="2511432"/>
            <a:ext cx="673582" cy="2974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a:ln>
                  <a:noFill/>
                </a:ln>
                <a:solidFill>
                  <a:prstClr val="black"/>
                </a:solidFill>
                <a:effectLst/>
                <a:uLnTx/>
                <a:uFillTx/>
                <a:latin typeface="Century Schoolbook" panose="02040604050505020304"/>
                <a:ea typeface="+mn-ea"/>
                <a:cs typeface="+mn-cs"/>
              </a:rPr>
              <a:t>merge</a:t>
            </a:r>
          </a:p>
        </p:txBody>
      </p:sp>
      <p:cxnSp>
        <p:nvCxnSpPr>
          <p:cNvPr id="61" name="Straight Arrow Connector 60"/>
          <p:cNvCxnSpPr>
            <a:endCxn id="27" idx="1"/>
          </p:cNvCxnSpPr>
          <p:nvPr/>
        </p:nvCxnSpPr>
        <p:spPr>
          <a:xfrm flipV="1">
            <a:off x="3167675" y="1598084"/>
            <a:ext cx="2448272" cy="197179"/>
          </a:xfrm>
          <a:prstGeom prst="straightConnector1">
            <a:avLst/>
          </a:prstGeom>
          <a:ln w="28575">
            <a:solidFill>
              <a:srgbClr val="00B050"/>
            </a:solidFill>
            <a:tailEnd type="triangle"/>
          </a:ln>
        </p:spPr>
        <p:style>
          <a:lnRef idx="1">
            <a:schemeClr val="accent2"/>
          </a:lnRef>
          <a:fillRef idx="0">
            <a:schemeClr val="accent2"/>
          </a:fillRef>
          <a:effectRef idx="0">
            <a:schemeClr val="accent2"/>
          </a:effectRef>
          <a:fontRef idx="minor">
            <a:schemeClr val="tx1"/>
          </a:fontRef>
        </p:style>
      </p:cxnSp>
      <p:cxnSp>
        <p:nvCxnSpPr>
          <p:cNvPr id="63" name="Straight Arrow Connector 62"/>
          <p:cNvCxnSpPr>
            <a:endCxn id="28" idx="1"/>
          </p:cNvCxnSpPr>
          <p:nvPr/>
        </p:nvCxnSpPr>
        <p:spPr>
          <a:xfrm flipV="1">
            <a:off x="3167675" y="2346590"/>
            <a:ext cx="2456387" cy="563197"/>
          </a:xfrm>
          <a:prstGeom prst="straightConnector1">
            <a:avLst/>
          </a:prstGeom>
          <a:ln w="28575">
            <a:solidFill>
              <a:srgbClr val="00B050"/>
            </a:solidFill>
            <a:tailEnd type="triangle"/>
          </a:ln>
        </p:spPr>
        <p:style>
          <a:lnRef idx="1">
            <a:schemeClr val="accent2"/>
          </a:lnRef>
          <a:fillRef idx="0">
            <a:schemeClr val="accent2"/>
          </a:fillRef>
          <a:effectRef idx="0">
            <a:schemeClr val="accent2"/>
          </a:effectRef>
          <a:fontRef idx="minor">
            <a:schemeClr val="tx1"/>
          </a:fontRef>
        </p:style>
      </p:cxnSp>
      <p:cxnSp>
        <p:nvCxnSpPr>
          <p:cNvPr id="65" name="Straight Arrow Connector 64"/>
          <p:cNvCxnSpPr>
            <a:endCxn id="29" idx="1"/>
          </p:cNvCxnSpPr>
          <p:nvPr/>
        </p:nvCxnSpPr>
        <p:spPr>
          <a:xfrm flipV="1">
            <a:off x="3167675" y="3095095"/>
            <a:ext cx="2448272" cy="873887"/>
          </a:xfrm>
          <a:prstGeom prst="straightConnector1">
            <a:avLst/>
          </a:prstGeom>
          <a:ln w="28575">
            <a:solidFill>
              <a:srgbClr val="00B050"/>
            </a:solidFill>
            <a:tailEnd type="triangle"/>
          </a:ln>
        </p:spPr>
        <p:style>
          <a:lnRef idx="1">
            <a:schemeClr val="accent2"/>
          </a:lnRef>
          <a:fillRef idx="0">
            <a:schemeClr val="accent2"/>
          </a:fillRef>
          <a:effectRef idx="0">
            <a:schemeClr val="accent2"/>
          </a:effectRef>
          <a:fontRef idx="minor">
            <a:schemeClr val="tx1"/>
          </a:fontRef>
        </p:style>
      </p:cxnSp>
      <p:cxnSp>
        <p:nvCxnSpPr>
          <p:cNvPr id="67" name="Straight Arrow Connector 66"/>
          <p:cNvCxnSpPr>
            <a:endCxn id="30" idx="1"/>
          </p:cNvCxnSpPr>
          <p:nvPr/>
        </p:nvCxnSpPr>
        <p:spPr>
          <a:xfrm flipV="1">
            <a:off x="3167675" y="3825743"/>
            <a:ext cx="2448272" cy="936359"/>
          </a:xfrm>
          <a:prstGeom prst="straightConnector1">
            <a:avLst/>
          </a:prstGeom>
          <a:ln w="28575">
            <a:solidFill>
              <a:srgbClr val="00B050"/>
            </a:solidFill>
            <a:tailEnd type="triangle"/>
          </a:ln>
        </p:spPr>
        <p:style>
          <a:lnRef idx="1">
            <a:schemeClr val="accent2"/>
          </a:lnRef>
          <a:fillRef idx="0">
            <a:schemeClr val="accent2"/>
          </a:fillRef>
          <a:effectRef idx="0">
            <a:schemeClr val="accent2"/>
          </a:effectRef>
          <a:fontRef idx="minor">
            <a:schemeClr val="tx1"/>
          </a:fontRef>
        </p:style>
      </p:cxnSp>
      <p:cxnSp>
        <p:nvCxnSpPr>
          <p:cNvPr id="79" name="Straight Arrow Connector 78"/>
          <p:cNvCxnSpPr>
            <a:stCxn id="33" idx="3"/>
            <a:endCxn id="34" idx="1"/>
          </p:cNvCxnSpPr>
          <p:nvPr/>
        </p:nvCxnSpPr>
        <p:spPr>
          <a:xfrm flipV="1">
            <a:off x="9936427" y="2619745"/>
            <a:ext cx="384043" cy="1382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Curved Connector 85"/>
          <p:cNvCxnSpPr>
            <a:cxnSpLocks/>
            <a:stCxn id="6" idx="2"/>
            <a:endCxn id="90" idx="1"/>
          </p:cNvCxnSpPr>
          <p:nvPr/>
        </p:nvCxnSpPr>
        <p:spPr>
          <a:xfrm rot="16200000" flipH="1">
            <a:off x="4598882" y="1275586"/>
            <a:ext cx="2334161" cy="4356484"/>
          </a:xfrm>
          <a:prstGeom prst="curvedConnector2">
            <a:avLst/>
          </a:prstGeom>
          <a:ln>
            <a:tailEnd type="triangle"/>
          </a:ln>
        </p:spPr>
        <p:style>
          <a:lnRef idx="3">
            <a:schemeClr val="dk1"/>
          </a:lnRef>
          <a:fillRef idx="0">
            <a:schemeClr val="dk1"/>
          </a:fillRef>
          <a:effectRef idx="2">
            <a:schemeClr val="dk1"/>
          </a:effectRef>
          <a:fontRef idx="minor">
            <a:schemeClr val="tx1"/>
          </a:fontRef>
        </p:style>
      </p:cxnSp>
      <p:sp>
        <p:nvSpPr>
          <p:cNvPr id="90" name="Rectangle 89"/>
          <p:cNvSpPr/>
          <p:nvPr/>
        </p:nvSpPr>
        <p:spPr>
          <a:xfrm>
            <a:off x="7944204" y="4411126"/>
            <a:ext cx="1248139" cy="419565"/>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Schoolbook" panose="02040604050505020304"/>
                <a:ea typeface="+mn-ea"/>
                <a:cs typeface="+mn-cs"/>
              </a:rPr>
              <a:t>reduce</a:t>
            </a:r>
          </a:p>
        </p:txBody>
      </p:sp>
      <p:sp>
        <p:nvSpPr>
          <p:cNvPr id="91" name="Rectangle 90"/>
          <p:cNvSpPr/>
          <p:nvPr/>
        </p:nvSpPr>
        <p:spPr>
          <a:xfrm>
            <a:off x="7967279" y="5122682"/>
            <a:ext cx="1272142" cy="400931"/>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Schoolbook" panose="02040604050505020304"/>
                <a:ea typeface="+mn-ea"/>
                <a:cs typeface="+mn-cs"/>
              </a:rPr>
              <a:t>reduce</a:t>
            </a:r>
          </a:p>
        </p:txBody>
      </p:sp>
      <p:cxnSp>
        <p:nvCxnSpPr>
          <p:cNvPr id="93" name="Curved Connector 92"/>
          <p:cNvCxnSpPr>
            <a:stCxn id="13" idx="2"/>
          </p:cNvCxnSpPr>
          <p:nvPr/>
        </p:nvCxnSpPr>
        <p:spPr>
          <a:xfrm rot="16200000" flipH="1">
            <a:off x="5087847" y="1905740"/>
            <a:ext cx="1356232" cy="4356487"/>
          </a:xfrm>
          <a:prstGeom prst="curved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96" name="Curved Connector 95"/>
          <p:cNvCxnSpPr>
            <a:stCxn id="25" idx="0"/>
          </p:cNvCxnSpPr>
          <p:nvPr/>
        </p:nvCxnSpPr>
        <p:spPr>
          <a:xfrm rot="5400000" flipH="1" flipV="1">
            <a:off x="5619981" y="2437876"/>
            <a:ext cx="291964" cy="4356487"/>
          </a:xfrm>
          <a:prstGeom prst="curved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17" name="Straight Arrow Connector 116"/>
          <p:cNvCxnSpPr>
            <a:cxnSpLocks/>
          </p:cNvCxnSpPr>
          <p:nvPr/>
        </p:nvCxnSpPr>
        <p:spPr>
          <a:xfrm>
            <a:off x="4025153" y="2281392"/>
            <a:ext cx="3919053" cy="2971941"/>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a:cxnSpLocks/>
            <a:stCxn id="25" idx="3"/>
          </p:cNvCxnSpPr>
          <p:nvPr/>
        </p:nvCxnSpPr>
        <p:spPr>
          <a:xfrm>
            <a:off x="4199788" y="5005941"/>
            <a:ext cx="3744418" cy="400554"/>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urved Connector 92">
            <a:extLst>
              <a:ext uri="{FF2B5EF4-FFF2-40B4-BE49-F238E27FC236}">
                <a16:creationId xmlns:a16="http://schemas.microsoft.com/office/drawing/2014/main" id="{3CC3406C-F547-4DC6-A9EE-FE50AF9578A4}"/>
              </a:ext>
            </a:extLst>
          </p:cNvPr>
          <p:cNvCxnSpPr>
            <a:cxnSpLocks/>
            <a:stCxn id="18" idx="2"/>
          </p:cNvCxnSpPr>
          <p:nvPr/>
        </p:nvCxnSpPr>
        <p:spPr>
          <a:xfrm rot="16200000" flipH="1">
            <a:off x="5635553" y="2398210"/>
            <a:ext cx="260820" cy="4356486"/>
          </a:xfrm>
          <a:prstGeom prst="curved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62" name="Straight Arrow Connector 61">
            <a:extLst>
              <a:ext uri="{FF2B5EF4-FFF2-40B4-BE49-F238E27FC236}">
                <a16:creationId xmlns:a16="http://schemas.microsoft.com/office/drawing/2014/main" id="{5D2A3D32-945B-459B-847C-46AD3F6705AB}"/>
              </a:ext>
            </a:extLst>
          </p:cNvPr>
          <p:cNvCxnSpPr>
            <a:cxnSpLocks/>
            <a:stCxn id="18" idx="3"/>
          </p:cNvCxnSpPr>
          <p:nvPr/>
        </p:nvCxnSpPr>
        <p:spPr>
          <a:xfrm>
            <a:off x="4199788" y="4202203"/>
            <a:ext cx="3792426" cy="1094692"/>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EB7FB375-5096-4FA1-B744-9111759A995B}"/>
              </a:ext>
            </a:extLst>
          </p:cNvPr>
          <p:cNvCxnSpPr>
            <a:cxnSpLocks/>
            <a:stCxn id="13" idx="3"/>
          </p:cNvCxnSpPr>
          <p:nvPr/>
        </p:nvCxnSpPr>
        <p:spPr>
          <a:xfrm>
            <a:off x="4199788" y="3162028"/>
            <a:ext cx="3744418" cy="217549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0A1BE211-B412-4FB9-B236-3D99EEE4A8C1}"/>
              </a:ext>
            </a:extLst>
          </p:cNvPr>
          <p:cNvSpPr/>
          <p:nvPr/>
        </p:nvSpPr>
        <p:spPr>
          <a:xfrm>
            <a:off x="9574727" y="4474068"/>
            <a:ext cx="1152128" cy="288032"/>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Schoolbook" panose="02040604050505020304"/>
                <a:ea typeface="+mn-ea"/>
                <a:cs typeface="+mn-cs"/>
              </a:rPr>
              <a:t>output</a:t>
            </a:r>
          </a:p>
        </p:txBody>
      </p:sp>
      <p:cxnSp>
        <p:nvCxnSpPr>
          <p:cNvPr id="68" name="Straight Arrow Connector 67">
            <a:extLst>
              <a:ext uri="{FF2B5EF4-FFF2-40B4-BE49-F238E27FC236}">
                <a16:creationId xmlns:a16="http://schemas.microsoft.com/office/drawing/2014/main" id="{DBE23EE6-4370-42BF-86DE-77C0226299BC}"/>
              </a:ext>
            </a:extLst>
          </p:cNvPr>
          <p:cNvCxnSpPr>
            <a:endCxn id="66" idx="1"/>
          </p:cNvCxnSpPr>
          <p:nvPr/>
        </p:nvCxnSpPr>
        <p:spPr>
          <a:xfrm flipV="1">
            <a:off x="9190685" y="4618084"/>
            <a:ext cx="384043" cy="138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4A39ACB0-91B3-4CD9-8275-649AD9B0ECC2}"/>
              </a:ext>
            </a:extLst>
          </p:cNvPr>
          <p:cNvSpPr/>
          <p:nvPr/>
        </p:nvSpPr>
        <p:spPr>
          <a:xfrm>
            <a:off x="9616804" y="5179355"/>
            <a:ext cx="1152128" cy="288032"/>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Schoolbook" panose="02040604050505020304"/>
                <a:ea typeface="+mn-ea"/>
                <a:cs typeface="+mn-cs"/>
              </a:rPr>
              <a:t>output</a:t>
            </a:r>
          </a:p>
        </p:txBody>
      </p:sp>
      <p:cxnSp>
        <p:nvCxnSpPr>
          <p:cNvPr id="70" name="Straight Arrow Connector 69">
            <a:extLst>
              <a:ext uri="{FF2B5EF4-FFF2-40B4-BE49-F238E27FC236}">
                <a16:creationId xmlns:a16="http://schemas.microsoft.com/office/drawing/2014/main" id="{8595C4BB-C468-456B-9707-1266C9B1CF87}"/>
              </a:ext>
            </a:extLst>
          </p:cNvPr>
          <p:cNvCxnSpPr>
            <a:endCxn id="69" idx="1"/>
          </p:cNvCxnSpPr>
          <p:nvPr/>
        </p:nvCxnSpPr>
        <p:spPr>
          <a:xfrm flipV="1">
            <a:off x="9232762" y="5323371"/>
            <a:ext cx="384043" cy="138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775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9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9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1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2"/>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1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9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7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57" grpId="0"/>
      <p:bldP spid="58" grpId="0"/>
      <p:bldP spid="59" grpId="0"/>
      <p:bldP spid="90" grpId="0" animBg="1"/>
      <p:bldP spid="91" grpId="0" animBg="1"/>
      <p:bldP spid="66" grpId="0" animBg="1"/>
      <p:bldP spid="6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5360" y="2453225"/>
            <a:ext cx="7701280" cy="1951549"/>
          </a:xfrm>
        </p:spPr>
        <p:txBody>
          <a:bodyPr>
            <a:normAutofit fontScale="90000"/>
          </a:bodyPr>
          <a:lstStyle/>
          <a:p>
            <a:pPr algn="ctr"/>
            <a:r>
              <a:rPr lang="en-US" sz="4800" dirty="0"/>
              <a:t>Map-Reduce Internals</a:t>
            </a:r>
            <a:br>
              <a:rPr lang="en-US" sz="4800" dirty="0"/>
            </a:br>
            <a:r>
              <a:rPr lang="en-US" sz="4800" dirty="0"/>
              <a:t> </a:t>
            </a:r>
            <a:br>
              <a:rPr lang="en-US" sz="4800" dirty="0"/>
            </a:br>
            <a:r>
              <a:rPr lang="en-US" sz="4800" dirty="0"/>
              <a:t>Additional Details</a:t>
            </a:r>
          </a:p>
        </p:txBody>
      </p:sp>
    </p:spTree>
    <p:extLst>
      <p:ext uri="{BB962C8B-B14F-4D97-AF65-F5344CB8AC3E}">
        <p14:creationId xmlns:p14="http://schemas.microsoft.com/office/powerpoint/2010/main" val="40649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Grp="1" noChangeArrowheads="1"/>
          </p:cNvSpPr>
          <p:nvPr>
            <p:ph type="title"/>
          </p:nvPr>
        </p:nvSpPr>
        <p:spPr>
          <a:xfrm>
            <a:off x="492036" y="452373"/>
            <a:ext cx="9875520" cy="541215"/>
          </a:xfrm>
        </p:spPr>
        <p:txBody>
          <a:bodyPr>
            <a:noAutofit/>
          </a:bodyPr>
          <a:lstStyle/>
          <a:p>
            <a:r>
              <a:rPr lang="en-GB" sz="3200" b="1" dirty="0"/>
              <a:t>What Map-Reduce Framework Does for You?</a:t>
            </a:r>
          </a:p>
        </p:txBody>
      </p:sp>
      <p:sp>
        <p:nvSpPr>
          <p:cNvPr id="17410" name="Rectangle 2"/>
          <p:cNvSpPr>
            <a:spLocks noGrp="1" noChangeArrowheads="1"/>
          </p:cNvSpPr>
          <p:nvPr>
            <p:ph type="body" idx="1"/>
          </p:nvPr>
        </p:nvSpPr>
        <p:spPr>
          <a:xfrm>
            <a:off x="835512" y="1582271"/>
            <a:ext cx="9875520" cy="4724400"/>
          </a:xfrm>
        </p:spPr>
        <p:txBody>
          <a:bodyPr>
            <a:normAutofit/>
          </a:bodyPr>
          <a:lstStyle/>
          <a:p>
            <a:pPr marL="562537" lvl="1" indent="-342891">
              <a:buFont typeface="+mj-lt"/>
              <a:buAutoNum type="arabicPeriod"/>
            </a:pPr>
            <a:r>
              <a:rPr lang="en-GB" b="0" dirty="0"/>
              <a:t>Partitioning the input data</a:t>
            </a:r>
          </a:p>
          <a:p>
            <a:pPr marL="562537" lvl="1" indent="-342891">
              <a:buFont typeface="+mj-lt"/>
              <a:buAutoNum type="arabicPeriod"/>
            </a:pPr>
            <a:endParaRPr lang="en-GB" b="0" dirty="0"/>
          </a:p>
          <a:p>
            <a:pPr marL="562537" lvl="1" indent="-342891">
              <a:buFont typeface="+mj-lt"/>
              <a:buAutoNum type="arabicPeriod"/>
            </a:pPr>
            <a:r>
              <a:rPr lang="en-GB" b="0" dirty="0"/>
              <a:t>Scheduling the program`s execution across a set of machines</a:t>
            </a:r>
          </a:p>
          <a:p>
            <a:pPr marL="562537" lvl="1" indent="-342891">
              <a:buFont typeface="+mj-lt"/>
              <a:buAutoNum type="arabicPeriod"/>
            </a:pPr>
            <a:endParaRPr lang="en-GB" b="0" dirty="0"/>
          </a:p>
          <a:p>
            <a:pPr marL="562537" lvl="1" indent="-342891">
              <a:buFont typeface="+mj-lt"/>
              <a:buAutoNum type="arabicPeriod"/>
            </a:pPr>
            <a:r>
              <a:rPr lang="en-GB" b="0" dirty="0"/>
              <a:t>Performing the group by key step</a:t>
            </a:r>
          </a:p>
          <a:p>
            <a:pPr marL="562537" lvl="1" indent="-342891">
              <a:buFont typeface="+mj-lt"/>
              <a:buAutoNum type="arabicPeriod"/>
            </a:pPr>
            <a:endParaRPr lang="en-GB" b="0" dirty="0"/>
          </a:p>
          <a:p>
            <a:pPr marL="562537" lvl="1" indent="-342891">
              <a:buFont typeface="+mj-lt"/>
              <a:buAutoNum type="arabicPeriod"/>
            </a:pPr>
            <a:r>
              <a:rPr lang="en-GB" b="0" dirty="0"/>
              <a:t>Handling machine failures</a:t>
            </a:r>
          </a:p>
          <a:p>
            <a:pPr marL="562537" lvl="1" indent="-342891">
              <a:buFont typeface="+mj-lt"/>
              <a:buAutoNum type="arabicPeriod"/>
            </a:pPr>
            <a:endParaRPr lang="en-GB" b="0" dirty="0"/>
          </a:p>
          <a:p>
            <a:pPr marL="562537" lvl="1" indent="-342891">
              <a:buFont typeface="+mj-lt"/>
              <a:buAutoNum type="arabicPeriod"/>
            </a:pPr>
            <a:r>
              <a:rPr lang="en-GB" b="0" dirty="0"/>
              <a:t>Inter-machine communication</a:t>
            </a:r>
          </a:p>
        </p:txBody>
      </p:sp>
    </p:spTree>
    <p:extLst>
      <p:ext uri="{BB962C8B-B14F-4D97-AF65-F5344CB8AC3E}">
        <p14:creationId xmlns:p14="http://schemas.microsoft.com/office/powerpoint/2010/main" val="217232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4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247805" y="268081"/>
            <a:ext cx="9875520" cy="541213"/>
          </a:xfrm>
        </p:spPr>
        <p:txBody>
          <a:bodyPr>
            <a:noAutofit/>
          </a:bodyPr>
          <a:lstStyle/>
          <a:p>
            <a:r>
              <a:rPr lang="en-US" sz="3600" b="1" dirty="0"/>
              <a:t>Data Flow</a:t>
            </a:r>
          </a:p>
        </p:txBody>
      </p:sp>
      <p:sp>
        <p:nvSpPr>
          <p:cNvPr id="91139" name="Rectangle 3"/>
          <p:cNvSpPr>
            <a:spLocks noGrp="1" noChangeArrowheads="1"/>
          </p:cNvSpPr>
          <p:nvPr>
            <p:ph type="body" idx="1"/>
          </p:nvPr>
        </p:nvSpPr>
        <p:spPr>
          <a:xfrm>
            <a:off x="1158243" y="1066800"/>
            <a:ext cx="10220959" cy="5410200"/>
          </a:xfrm>
        </p:spPr>
        <p:txBody>
          <a:bodyPr>
            <a:normAutofit fontScale="92500" lnSpcReduction="20000"/>
          </a:bodyPr>
          <a:lstStyle/>
          <a:p>
            <a:r>
              <a:rPr lang="en-US" sz="2400" dirty="0">
                <a:solidFill>
                  <a:schemeClr val="tx1"/>
                </a:solidFill>
              </a:rPr>
              <a:t>Input and final output are stored on a distributed file system</a:t>
            </a:r>
          </a:p>
          <a:p>
            <a:endParaRPr lang="en-US" sz="2400" dirty="0">
              <a:solidFill>
                <a:schemeClr val="tx1"/>
              </a:solidFill>
            </a:endParaRPr>
          </a:p>
          <a:p>
            <a:r>
              <a:rPr lang="en-US" sz="2400" dirty="0">
                <a:solidFill>
                  <a:schemeClr val="tx1"/>
                </a:solidFill>
              </a:rPr>
              <a:t>Scheduler tries to schedule map tasks “close” to storage location of input data</a:t>
            </a:r>
          </a:p>
          <a:p>
            <a:pPr lvl="1"/>
            <a:endParaRPr lang="en-US" b="0" dirty="0">
              <a:solidFill>
                <a:schemeClr val="tx1"/>
              </a:solidFill>
            </a:endParaRPr>
          </a:p>
          <a:p>
            <a:pPr lvl="1">
              <a:buFont typeface="Arial" panose="020B0604020202020204" pitchFamily="34" charset="0"/>
              <a:buChar char="•"/>
            </a:pPr>
            <a:r>
              <a:rPr lang="en-US" b="0" dirty="0">
                <a:solidFill>
                  <a:schemeClr val="tx1"/>
                </a:solidFill>
              </a:rPr>
              <a:t>This minimizes data movement through the network</a:t>
            </a:r>
          </a:p>
          <a:p>
            <a:pPr marL="3657600" lvl="8" indent="0">
              <a:buNone/>
            </a:pPr>
            <a:endParaRPr lang="en-US" sz="2400" dirty="0"/>
          </a:p>
          <a:p>
            <a:r>
              <a:rPr lang="en-US" sz="2400" dirty="0">
                <a:solidFill>
                  <a:schemeClr val="tx1"/>
                </a:solidFill>
              </a:rPr>
              <a:t>Intermediate results are stored on local file system of Map and Reduce workers  </a:t>
            </a:r>
            <a:r>
              <a:rPr lang="en-US" sz="2400" b="0" dirty="0">
                <a:solidFill>
                  <a:schemeClr val="tx1"/>
                </a:solidFill>
              </a:rPr>
              <a:t>(if a data node running map task fails then the data can be recomputed because we already have the copy of the original data in other nodes , so we can run the map task again on the 2</a:t>
            </a:r>
            <a:r>
              <a:rPr lang="en-US" sz="2400" b="0" baseline="30000" dirty="0">
                <a:solidFill>
                  <a:schemeClr val="tx1"/>
                </a:solidFill>
              </a:rPr>
              <a:t>nd</a:t>
            </a:r>
            <a:r>
              <a:rPr lang="en-US" sz="2400" b="0" dirty="0">
                <a:solidFill>
                  <a:schemeClr val="tx1"/>
                </a:solidFill>
              </a:rPr>
              <a:t> copy and recover the map’s output for that particular data chunk , if u put it in DFS then u have to do replica and communication of data from one machine to several machines, and master node will have to create metadata for intermediate files as well)</a:t>
            </a:r>
          </a:p>
          <a:p>
            <a:pPr marL="0" indent="0">
              <a:buNone/>
            </a:pPr>
            <a:r>
              <a:rPr lang="en-US" sz="2400" dirty="0">
                <a:solidFill>
                  <a:schemeClr val="tx1"/>
                </a:solidFill>
              </a:rPr>
              <a:t>    </a:t>
            </a:r>
            <a:endParaRPr lang="en-US" sz="2400" dirty="0"/>
          </a:p>
          <a:p>
            <a:r>
              <a:rPr lang="en-US" sz="2400" dirty="0">
                <a:solidFill>
                  <a:schemeClr val="tx1"/>
                </a:solidFill>
              </a:rPr>
              <a:t>Output can be input to another  Map-reduce task</a:t>
            </a:r>
          </a:p>
        </p:txBody>
      </p:sp>
    </p:spTree>
    <p:extLst>
      <p:ext uri="{BB962C8B-B14F-4D97-AF65-F5344CB8AC3E}">
        <p14:creationId xmlns:p14="http://schemas.microsoft.com/office/powerpoint/2010/main" val="106126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113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1139">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1139">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1139">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113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621909" y="184640"/>
            <a:ext cx="9875520" cy="465013"/>
          </a:xfrm>
        </p:spPr>
        <p:txBody>
          <a:bodyPr>
            <a:noAutofit/>
          </a:bodyPr>
          <a:lstStyle/>
          <a:p>
            <a:r>
              <a:rPr lang="en-US" sz="3600" b="1" dirty="0"/>
              <a:t>Coordination by Master</a:t>
            </a:r>
          </a:p>
        </p:txBody>
      </p:sp>
      <p:sp>
        <p:nvSpPr>
          <p:cNvPr id="92163" name="Rectangle 3"/>
          <p:cNvSpPr>
            <a:spLocks noGrp="1" noChangeArrowheads="1"/>
          </p:cNvSpPr>
          <p:nvPr>
            <p:ph idx="1"/>
          </p:nvPr>
        </p:nvSpPr>
        <p:spPr>
          <a:xfrm>
            <a:off x="1158241" y="838200"/>
            <a:ext cx="9875520" cy="5334000"/>
          </a:xfrm>
        </p:spPr>
        <p:txBody>
          <a:bodyPr>
            <a:normAutofit/>
          </a:bodyPr>
          <a:lstStyle/>
          <a:p>
            <a:r>
              <a:rPr lang="en-US" dirty="0"/>
              <a:t>Master node takes care of coordination:</a:t>
            </a:r>
          </a:p>
          <a:p>
            <a:endParaRPr lang="en-US" dirty="0"/>
          </a:p>
          <a:p>
            <a:pPr lvl="1"/>
            <a:r>
              <a:rPr lang="en-US" b="0" dirty="0"/>
              <a:t>Task status: (idle, in-progress, completed)</a:t>
            </a:r>
          </a:p>
          <a:p>
            <a:pPr lvl="1"/>
            <a:endParaRPr lang="en-US" b="0" dirty="0"/>
          </a:p>
          <a:p>
            <a:pPr lvl="1"/>
            <a:r>
              <a:rPr lang="en-US" b="0" dirty="0"/>
              <a:t>Idle tasks get scheduled as workers become available</a:t>
            </a:r>
          </a:p>
          <a:p>
            <a:pPr lvl="1"/>
            <a:endParaRPr lang="en-US" b="0" dirty="0"/>
          </a:p>
          <a:p>
            <a:pPr lvl="1"/>
            <a:r>
              <a:rPr lang="en-US" b="0" dirty="0"/>
              <a:t>When a map task completes, it records the location and sizes of the intermediate files</a:t>
            </a:r>
          </a:p>
          <a:p>
            <a:pPr lvl="7"/>
            <a:endParaRPr lang="en-US" dirty="0"/>
          </a:p>
          <a:p>
            <a:pPr lvl="7"/>
            <a:endParaRPr lang="en-US" dirty="0"/>
          </a:p>
          <a:p>
            <a:pPr lvl="7"/>
            <a:endParaRPr lang="en-US" dirty="0"/>
          </a:p>
          <a:p>
            <a:r>
              <a:rPr lang="en-US" dirty="0"/>
              <a:t>Master pings periodically to detect failures</a:t>
            </a:r>
          </a:p>
          <a:p>
            <a:pPr>
              <a:buFont typeface="Wingdings" pitchFamily="2" charset="2"/>
              <a:buNone/>
            </a:pPr>
            <a:endParaRPr lang="en-US" dirty="0"/>
          </a:p>
        </p:txBody>
      </p:sp>
    </p:spTree>
    <p:extLst>
      <p:ext uri="{BB962C8B-B14F-4D97-AF65-F5344CB8AC3E}">
        <p14:creationId xmlns:p14="http://schemas.microsoft.com/office/powerpoint/2010/main" val="3636263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6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6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16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1158240" y="228601"/>
            <a:ext cx="9875520" cy="541215"/>
          </a:xfrm>
        </p:spPr>
        <p:txBody>
          <a:bodyPr/>
          <a:lstStyle/>
          <a:p>
            <a:r>
              <a:rPr lang="en-US" sz="3200" dirty="0"/>
              <a:t>Dealing with Failures</a:t>
            </a:r>
          </a:p>
        </p:txBody>
      </p:sp>
      <p:sp>
        <p:nvSpPr>
          <p:cNvPr id="100355" name="Rectangle 3"/>
          <p:cNvSpPr>
            <a:spLocks noGrp="1" noChangeArrowheads="1"/>
          </p:cNvSpPr>
          <p:nvPr>
            <p:ph type="body" idx="1"/>
          </p:nvPr>
        </p:nvSpPr>
        <p:spPr>
          <a:xfrm>
            <a:off x="589934" y="769816"/>
            <a:ext cx="9263955" cy="2905432"/>
          </a:xfrm>
        </p:spPr>
        <p:txBody>
          <a:bodyPr>
            <a:normAutofit fontScale="92500" lnSpcReduction="20000"/>
          </a:bodyPr>
          <a:lstStyle/>
          <a:p>
            <a:r>
              <a:rPr lang="en-US" dirty="0"/>
              <a:t>Map worker failure</a:t>
            </a:r>
          </a:p>
          <a:p>
            <a:endParaRPr lang="en-US" dirty="0"/>
          </a:p>
          <a:p>
            <a:pPr lvl="1">
              <a:buFont typeface="Arial" panose="020B0604020202020204" pitchFamily="34" charset="0"/>
              <a:buChar char="•"/>
            </a:pPr>
            <a:r>
              <a:rPr lang="en-US" b="0" dirty="0"/>
              <a:t>Map tasks completed or in-progress at worker are reset to idle</a:t>
            </a:r>
          </a:p>
          <a:p>
            <a:pPr lvl="1">
              <a:buFont typeface="Arial" panose="020B0604020202020204" pitchFamily="34" charset="0"/>
              <a:buChar char="•"/>
            </a:pPr>
            <a:endParaRPr lang="en-US" b="0" dirty="0"/>
          </a:p>
          <a:p>
            <a:pPr lvl="2">
              <a:buFont typeface="Arial" panose="020B0604020202020204" pitchFamily="34" charset="0"/>
              <a:buChar char="•"/>
            </a:pPr>
            <a:r>
              <a:rPr lang="en-US" dirty="0"/>
              <a:t>Why?</a:t>
            </a:r>
            <a:endParaRPr lang="en-US" b="0" dirty="0"/>
          </a:p>
          <a:p>
            <a:pPr lvl="1">
              <a:buFont typeface="Arial" panose="020B0604020202020204" pitchFamily="34" charset="0"/>
              <a:buChar char="•"/>
            </a:pPr>
            <a:endParaRPr lang="en-US" b="0" dirty="0"/>
          </a:p>
          <a:p>
            <a:pPr lvl="1">
              <a:buFont typeface="Arial" panose="020B0604020202020204" pitchFamily="34" charset="0"/>
              <a:buChar char="•"/>
            </a:pPr>
            <a:endParaRPr lang="en-US" b="0" dirty="0"/>
          </a:p>
          <a:p>
            <a:pPr lvl="1">
              <a:buFont typeface="Arial" panose="020B0604020202020204" pitchFamily="34" charset="0"/>
              <a:buChar char="•"/>
            </a:pPr>
            <a:r>
              <a:rPr lang="en-US" b="0" dirty="0"/>
              <a:t>Reduce workers are notified when task is rescheduled on another worker</a:t>
            </a:r>
          </a:p>
        </p:txBody>
      </p:sp>
      <p:sp>
        <p:nvSpPr>
          <p:cNvPr id="4" name="TextBox 3">
            <a:extLst>
              <a:ext uri="{FF2B5EF4-FFF2-40B4-BE49-F238E27FC236}">
                <a16:creationId xmlns:a16="http://schemas.microsoft.com/office/drawing/2014/main" id="{BAB653AC-17CC-BD72-D107-173A3BDD2D87}"/>
              </a:ext>
            </a:extLst>
          </p:cNvPr>
          <p:cNvSpPr txBox="1"/>
          <p:nvPr/>
        </p:nvSpPr>
        <p:spPr>
          <a:xfrm>
            <a:off x="191729" y="4397919"/>
            <a:ext cx="11724968" cy="923330"/>
          </a:xfrm>
          <a:prstGeom prst="rect">
            <a:avLst/>
          </a:prstGeom>
          <a:noFill/>
        </p:spPr>
        <p:txBody>
          <a:bodyPr wrap="square" rtlCol="0">
            <a:spAutoFit/>
          </a:bodyPr>
          <a:lstStyle/>
          <a:p>
            <a:r>
              <a:rPr lang="en-US" dirty="0"/>
              <a:t>Even if map task was finished and that node fails then we have to reset the task to idle. Because o/p of map task was in LFS of that node which failed so we don’t have any more access to the LFS of the failed node so we have to re-assign that in-progress/completed map task to some other machine.</a:t>
            </a:r>
          </a:p>
        </p:txBody>
      </p:sp>
    </p:spTree>
    <p:extLst>
      <p:ext uri="{BB962C8B-B14F-4D97-AF65-F5344CB8AC3E}">
        <p14:creationId xmlns:p14="http://schemas.microsoft.com/office/powerpoint/2010/main" val="2440624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1158240" y="228601"/>
            <a:ext cx="9875520" cy="541215"/>
          </a:xfrm>
        </p:spPr>
        <p:txBody>
          <a:bodyPr/>
          <a:lstStyle/>
          <a:p>
            <a:r>
              <a:rPr lang="en-US" sz="3200" dirty="0"/>
              <a:t>Dealing with Failures</a:t>
            </a:r>
          </a:p>
        </p:txBody>
      </p:sp>
      <p:sp>
        <p:nvSpPr>
          <p:cNvPr id="100355" name="Rectangle 3"/>
          <p:cNvSpPr>
            <a:spLocks noGrp="1" noChangeArrowheads="1"/>
          </p:cNvSpPr>
          <p:nvPr>
            <p:ph type="body" idx="1"/>
          </p:nvPr>
        </p:nvSpPr>
        <p:spPr>
          <a:xfrm>
            <a:off x="1158241" y="914400"/>
            <a:ext cx="9875520" cy="5562600"/>
          </a:xfrm>
        </p:spPr>
        <p:txBody>
          <a:bodyPr/>
          <a:lstStyle/>
          <a:p>
            <a:pPr>
              <a:buFont typeface="Arial" panose="020B0604020202020204" pitchFamily="34" charset="0"/>
              <a:buChar char="•"/>
            </a:pPr>
            <a:endParaRPr lang="en-US" dirty="0"/>
          </a:p>
          <a:p>
            <a:pPr>
              <a:buFont typeface="Arial" panose="020B0604020202020204" pitchFamily="34" charset="0"/>
              <a:buChar char="•"/>
            </a:pPr>
            <a:r>
              <a:rPr lang="en-US" dirty="0"/>
              <a:t>Reduce worker failure</a:t>
            </a:r>
          </a:p>
          <a:p>
            <a:pPr>
              <a:buFont typeface="Arial" panose="020B0604020202020204" pitchFamily="34" charset="0"/>
              <a:buChar char="•"/>
            </a:pPr>
            <a:endParaRPr lang="en-US" dirty="0"/>
          </a:p>
          <a:p>
            <a:pPr lvl="1">
              <a:buFont typeface="Arial" panose="020B0604020202020204" pitchFamily="34" charset="0"/>
              <a:buChar char="•"/>
            </a:pPr>
            <a:r>
              <a:rPr lang="en-US" b="0" dirty="0"/>
              <a:t>Only in-progress tasks are reset to idle </a:t>
            </a:r>
          </a:p>
          <a:p>
            <a:pPr lvl="1">
              <a:buFont typeface="Arial" panose="020B0604020202020204" pitchFamily="34" charset="0"/>
              <a:buChar char="•"/>
            </a:pPr>
            <a:endParaRPr lang="en-US" b="0" dirty="0"/>
          </a:p>
          <a:p>
            <a:pPr lvl="2">
              <a:buFont typeface="Arial" panose="020B0604020202020204" pitchFamily="34" charset="0"/>
              <a:buChar char="•"/>
            </a:pPr>
            <a:r>
              <a:rPr lang="en-US" dirty="0"/>
              <a:t>Why?</a:t>
            </a:r>
            <a:endParaRPr lang="en-US" b="0" dirty="0"/>
          </a:p>
          <a:p>
            <a:pPr lvl="1">
              <a:buFont typeface="Arial" panose="020B0604020202020204" pitchFamily="34" charset="0"/>
              <a:buChar char="•"/>
            </a:pPr>
            <a:endParaRPr lang="en-US" b="0" dirty="0"/>
          </a:p>
          <a:p>
            <a:pPr lvl="1">
              <a:buFont typeface="Arial" panose="020B0604020202020204" pitchFamily="34" charset="0"/>
              <a:buChar char="•"/>
            </a:pPr>
            <a:endParaRPr lang="en-US" b="0" dirty="0"/>
          </a:p>
          <a:p>
            <a:pPr lvl="1">
              <a:buFont typeface="Arial" panose="020B0604020202020204" pitchFamily="34" charset="0"/>
              <a:buChar char="•"/>
            </a:pPr>
            <a:r>
              <a:rPr lang="en-US" b="0" dirty="0"/>
              <a:t>Reduce task is restarted</a:t>
            </a:r>
          </a:p>
          <a:p>
            <a:pPr lvl="1"/>
            <a:endParaRPr lang="en-US" dirty="0"/>
          </a:p>
        </p:txBody>
      </p:sp>
      <p:sp>
        <p:nvSpPr>
          <p:cNvPr id="2" name="TextBox 1">
            <a:extLst>
              <a:ext uri="{FF2B5EF4-FFF2-40B4-BE49-F238E27FC236}">
                <a16:creationId xmlns:a16="http://schemas.microsoft.com/office/drawing/2014/main" id="{EC75302B-69CE-5A7F-A656-EE828461EED0}"/>
              </a:ext>
            </a:extLst>
          </p:cNvPr>
          <p:cNvSpPr txBox="1"/>
          <p:nvPr/>
        </p:nvSpPr>
        <p:spPr>
          <a:xfrm>
            <a:off x="191729" y="4881716"/>
            <a:ext cx="11533239" cy="923330"/>
          </a:xfrm>
          <a:prstGeom prst="rect">
            <a:avLst/>
          </a:prstGeom>
          <a:noFill/>
        </p:spPr>
        <p:txBody>
          <a:bodyPr wrap="square" rtlCol="0">
            <a:spAutoFit/>
          </a:bodyPr>
          <a:lstStyle/>
          <a:p>
            <a:r>
              <a:rPr lang="en-US" dirty="0"/>
              <a:t>If a in-progress reduce task failed then u have to reset the task to idle. But if completed reduce task fails then u don’t have to worry because o/p produced by completed reduce task will be in DFS so u still have access to the output as its in DFS an multiple copies of it will be in DFS which is accessible.</a:t>
            </a:r>
          </a:p>
        </p:txBody>
      </p:sp>
    </p:spTree>
    <p:extLst>
      <p:ext uri="{BB962C8B-B14F-4D97-AF65-F5344CB8AC3E}">
        <p14:creationId xmlns:p14="http://schemas.microsoft.com/office/powerpoint/2010/main" val="2539057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1158240" y="228601"/>
            <a:ext cx="9875520" cy="541215"/>
          </a:xfrm>
        </p:spPr>
        <p:txBody>
          <a:bodyPr/>
          <a:lstStyle/>
          <a:p>
            <a:r>
              <a:rPr lang="en-US" sz="3200" dirty="0"/>
              <a:t>Dealing with Failures</a:t>
            </a:r>
          </a:p>
        </p:txBody>
      </p:sp>
      <p:sp>
        <p:nvSpPr>
          <p:cNvPr id="100355" name="Rectangle 3"/>
          <p:cNvSpPr>
            <a:spLocks noGrp="1" noChangeArrowheads="1"/>
          </p:cNvSpPr>
          <p:nvPr>
            <p:ph type="body" idx="1"/>
          </p:nvPr>
        </p:nvSpPr>
        <p:spPr>
          <a:xfrm>
            <a:off x="1158241" y="914400"/>
            <a:ext cx="9875520" cy="5562600"/>
          </a:xfrm>
        </p:spPr>
        <p:txBody>
          <a:bodyPr/>
          <a:lstStyle/>
          <a:p>
            <a:endParaRPr lang="en-US" dirty="0"/>
          </a:p>
          <a:p>
            <a:endParaRPr lang="en-US" dirty="0"/>
          </a:p>
          <a:p>
            <a:r>
              <a:rPr lang="en-US" dirty="0"/>
              <a:t>Master failure</a:t>
            </a:r>
          </a:p>
          <a:p>
            <a:pPr marL="38099" indent="0">
              <a:buNone/>
            </a:pPr>
            <a:endParaRPr lang="en-US" dirty="0"/>
          </a:p>
          <a:p>
            <a:pPr lvl="1"/>
            <a:r>
              <a:rPr lang="en-US" b="0" dirty="0"/>
              <a:t>Map-reduce task is aborted and client is notified</a:t>
            </a:r>
          </a:p>
        </p:txBody>
      </p:sp>
    </p:spTree>
    <p:extLst>
      <p:ext uri="{BB962C8B-B14F-4D97-AF65-F5344CB8AC3E}">
        <p14:creationId xmlns:p14="http://schemas.microsoft.com/office/powerpoint/2010/main" val="1536182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6640" y="152401"/>
            <a:ext cx="9875520" cy="541215"/>
          </a:xfrm>
        </p:spPr>
        <p:txBody>
          <a:bodyPr>
            <a:noAutofit/>
          </a:bodyPr>
          <a:lstStyle/>
          <a:p>
            <a:r>
              <a:rPr lang="en-US" sz="2800" dirty="0"/>
              <a:t>How many Map and Reduce jobs?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0602" y="808703"/>
                <a:ext cx="9490095" cy="5638800"/>
              </a:xfrm>
            </p:spPr>
            <p:txBody>
              <a:bodyPr/>
              <a:lstStyle/>
              <a:p>
                <a:r>
                  <a:rPr lang="en-US" i="1" dirty="0"/>
                  <a:t> </a:t>
                </a:r>
                <a14:m>
                  <m:oMath xmlns:m="http://schemas.openxmlformats.org/officeDocument/2006/math">
                    <m:r>
                      <m:rPr>
                        <m:sty m:val="p"/>
                      </m:rPr>
                      <a:rPr lang="en-US" b="0" i="0" smtClean="0">
                        <a:solidFill>
                          <a:srgbClr val="00B0F0"/>
                        </a:solidFill>
                        <a:latin typeface="Cambria Math" panose="02040503050406030204" pitchFamily="18" charset="0"/>
                      </a:rPr>
                      <m:t>M</m:t>
                    </m:r>
                    <m:r>
                      <a:rPr lang="en-US" b="0" i="0" smtClean="0">
                        <a:latin typeface="Cambria Math" panose="02040503050406030204" pitchFamily="18" charset="0"/>
                      </a:rPr>
                      <m:t> </m:t>
                    </m:r>
                  </m:oMath>
                </a14:m>
                <a:r>
                  <a:rPr lang="en-US" dirty="0">
                    <a:latin typeface="+mn-lt"/>
                  </a:rPr>
                  <a:t>map tasks, </a:t>
                </a:r>
                <a14:m>
                  <m:oMath xmlns:m="http://schemas.openxmlformats.org/officeDocument/2006/math">
                    <m:r>
                      <m:rPr>
                        <m:sty m:val="p"/>
                      </m:rPr>
                      <a:rPr lang="en-US" b="0" i="0" smtClean="0">
                        <a:solidFill>
                          <a:srgbClr val="00B0F0"/>
                        </a:solidFill>
                        <a:latin typeface="Cambria Math" panose="02040503050406030204" pitchFamily="18" charset="0"/>
                      </a:rPr>
                      <m:t>R</m:t>
                    </m:r>
                    <m:r>
                      <a:rPr lang="en-US" b="0" i="0" smtClean="0">
                        <a:latin typeface="Cambria Math" panose="02040503050406030204" pitchFamily="18" charset="0"/>
                      </a:rPr>
                      <m:t> </m:t>
                    </m:r>
                  </m:oMath>
                </a14:m>
                <a:r>
                  <a:rPr lang="en-US" dirty="0">
                    <a:latin typeface="+mn-lt"/>
                  </a:rPr>
                  <a:t>reduce tasks</a:t>
                </a:r>
              </a:p>
              <a:p>
                <a:pPr marL="38099" indent="0">
                  <a:buNone/>
                </a:pPr>
                <a:endParaRPr lang="en-US" dirty="0">
                  <a:latin typeface="+mn-lt"/>
                </a:endParaRPr>
              </a:p>
              <a:p>
                <a:pPr marL="0" indent="0">
                  <a:buNone/>
                </a:pPr>
                <a:r>
                  <a:rPr lang="en-US" dirty="0">
                    <a:solidFill>
                      <a:schemeClr val="bg1"/>
                    </a:solidFill>
                    <a:latin typeface="+mn-lt"/>
                  </a:rPr>
                  <a:t>General Rule:</a:t>
                </a:r>
              </a:p>
              <a:p>
                <a:pPr lvl="1"/>
                <a:r>
                  <a:rPr lang="en-US" b="0" dirty="0">
                    <a:latin typeface="+mn-lt"/>
                  </a:rPr>
                  <a:t>Make </a:t>
                </a:r>
                <a14:m>
                  <m:oMath xmlns:m="http://schemas.openxmlformats.org/officeDocument/2006/math">
                    <m:r>
                      <m:rPr>
                        <m:sty m:val="p"/>
                      </m:rPr>
                      <a:rPr lang="en-US" b="0" i="0" smtClean="0">
                        <a:solidFill>
                          <a:srgbClr val="00B0F0"/>
                        </a:solidFill>
                        <a:latin typeface="Cambria Math" panose="02040503050406030204" pitchFamily="18" charset="0"/>
                      </a:rPr>
                      <m:t>M</m:t>
                    </m:r>
                  </m:oMath>
                </a14:m>
                <a:r>
                  <a:rPr lang="en-US" b="0" dirty="0">
                    <a:latin typeface="+mn-lt"/>
                  </a:rPr>
                  <a:t> much larger than the number of nodes in the cluster</a:t>
                </a:r>
              </a:p>
              <a:p>
                <a:pPr lvl="1"/>
                <a:endParaRPr lang="en-US" b="0" dirty="0">
                  <a:latin typeface="+mn-lt"/>
                </a:endParaRPr>
              </a:p>
              <a:p>
                <a:pPr lvl="1"/>
                <a:r>
                  <a:rPr lang="en-US" b="0" dirty="0">
                    <a:latin typeface="+mn-lt"/>
                  </a:rPr>
                  <a:t>One DFS chunk per map is common</a:t>
                </a:r>
              </a:p>
              <a:p>
                <a:pPr lvl="1"/>
                <a:endParaRPr lang="en-US" b="0" dirty="0">
                  <a:latin typeface="+mn-lt"/>
                </a:endParaRPr>
              </a:p>
              <a:p>
                <a:pPr lvl="2">
                  <a:buFont typeface="Arial" panose="020B0604020202020204" pitchFamily="34" charset="0"/>
                  <a:buChar char="•"/>
                </a:pPr>
                <a:r>
                  <a:rPr lang="en-US" dirty="0">
                    <a:latin typeface="+mn-lt"/>
                  </a:rPr>
                  <a:t>Improves dynamic load balancing </a:t>
                </a:r>
              </a:p>
              <a:p>
                <a:pPr lvl="2">
                  <a:buFont typeface="Arial" panose="020B0604020202020204" pitchFamily="34" charset="0"/>
                  <a:buChar char="•"/>
                </a:pPr>
                <a:endParaRPr lang="en-US" dirty="0">
                  <a:latin typeface="+mn-lt"/>
                </a:endParaRPr>
              </a:p>
              <a:p>
                <a:pPr lvl="2">
                  <a:buFont typeface="Arial" panose="020B0604020202020204" pitchFamily="34" charset="0"/>
                  <a:buChar char="•"/>
                </a:pPr>
                <a:r>
                  <a:rPr lang="en-US" dirty="0">
                    <a:latin typeface="+mn-lt"/>
                  </a:rPr>
                  <a:t>Speeds up recovery from worker failures</a:t>
                </a:r>
              </a:p>
              <a:p>
                <a:pPr lvl="2">
                  <a:buFont typeface="Arial" panose="020B0604020202020204" pitchFamily="34" charset="0"/>
                  <a:buChar char="•"/>
                </a:pPr>
                <a:endParaRPr lang="en-US" dirty="0">
                  <a:latin typeface="+mn-lt"/>
                </a:endParaRPr>
              </a:p>
              <a:p>
                <a:r>
                  <a:rPr lang="en-US" dirty="0">
                    <a:latin typeface="+mn-lt"/>
                  </a:rPr>
                  <a:t>Usually </a:t>
                </a:r>
                <a14:m>
                  <m:oMath xmlns:m="http://schemas.openxmlformats.org/officeDocument/2006/math">
                    <m:r>
                      <m:rPr>
                        <m:sty m:val="p"/>
                      </m:rPr>
                      <a:rPr lang="en-US" b="0" i="0" smtClean="0">
                        <a:solidFill>
                          <a:srgbClr val="00B0F0"/>
                        </a:solidFill>
                        <a:latin typeface="Cambria Math" panose="02040503050406030204" pitchFamily="18" charset="0"/>
                      </a:rPr>
                      <m:t>R</m:t>
                    </m:r>
                  </m:oMath>
                </a14:m>
                <a:r>
                  <a:rPr lang="en-US" dirty="0">
                    <a:latin typeface="+mn-lt"/>
                  </a:rPr>
                  <a:t> is smaller than </a:t>
                </a:r>
                <a14:m>
                  <m:oMath xmlns:m="http://schemas.openxmlformats.org/officeDocument/2006/math">
                    <m:r>
                      <m:rPr>
                        <m:sty m:val="p"/>
                      </m:rPr>
                      <a:rPr lang="en-US" b="0" i="0" smtClean="0">
                        <a:solidFill>
                          <a:srgbClr val="00B0F0"/>
                        </a:solidFill>
                        <a:latin typeface="Cambria Math" panose="02040503050406030204" pitchFamily="18" charset="0"/>
                      </a:rPr>
                      <m:t>M</m:t>
                    </m:r>
                  </m:oMath>
                </a14:m>
                <a:endParaRPr lang="en-US" dirty="0">
                  <a:solidFill>
                    <a:srgbClr val="00B0F0"/>
                  </a:solidFill>
                  <a:latin typeface="+mn-lt"/>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40602" y="808703"/>
                <a:ext cx="9490095" cy="5638800"/>
              </a:xfrm>
              <a:blipFill>
                <a:blip r:embed="rId2"/>
                <a:stretch>
                  <a:fillRect l="-1285" t="-2054" r="-578"/>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EF7FC33-C779-8D95-2F21-AA34152A32BF}"/>
              </a:ext>
            </a:extLst>
          </p:cNvPr>
          <p:cNvSpPr txBox="1"/>
          <p:nvPr/>
        </p:nvSpPr>
        <p:spPr>
          <a:xfrm>
            <a:off x="6371302" y="2980749"/>
            <a:ext cx="5820697" cy="2862322"/>
          </a:xfrm>
          <a:prstGeom prst="rect">
            <a:avLst/>
          </a:prstGeom>
          <a:noFill/>
        </p:spPr>
        <p:txBody>
          <a:bodyPr wrap="square" rtlCol="0">
            <a:spAutoFit/>
          </a:bodyPr>
          <a:lstStyle/>
          <a:p>
            <a:r>
              <a:rPr lang="en-US" dirty="0"/>
              <a:t>Make M much larger than the num of nodes in the cluster so that each node can run multiple map task so that you can do multithreading and all. </a:t>
            </a:r>
          </a:p>
          <a:p>
            <a:endParaRPr lang="en-US" dirty="0"/>
          </a:p>
          <a:p>
            <a:r>
              <a:rPr lang="en-US" dirty="0"/>
              <a:t>One map task for one DFS Chunk, DFS Chunk means the original chunk not the replica , replicas are in HDFS just for fault tolerant or if task couldn’t be assigned on the node containing the original data then that task can be rescheduled on some other node containing the replica of that data.</a:t>
            </a:r>
          </a:p>
        </p:txBody>
      </p:sp>
    </p:spTree>
    <p:extLst>
      <p:ext uri="{BB962C8B-B14F-4D97-AF65-F5344CB8AC3E}">
        <p14:creationId xmlns:p14="http://schemas.microsoft.com/office/powerpoint/2010/main" val="2805691432"/>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3181</TotalTime>
  <Words>2579</Words>
  <Application>Microsoft Office PowerPoint</Application>
  <PresentationFormat>Widescreen</PresentationFormat>
  <Paragraphs>413</Paragraphs>
  <Slides>24</Slides>
  <Notes>3</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Adobe Caslon Pro</vt:lpstr>
      <vt:lpstr>Arial</vt:lpstr>
      <vt:lpstr>Arial Body</vt:lpstr>
      <vt:lpstr>Arial Narrow</vt:lpstr>
      <vt:lpstr>Bell MT</vt:lpstr>
      <vt:lpstr>Calibri</vt:lpstr>
      <vt:lpstr>Cambria Math</vt:lpstr>
      <vt:lpstr>Century Schoolbook</vt:lpstr>
      <vt:lpstr>Comic Sans MS</vt:lpstr>
      <vt:lpstr>Courier New</vt:lpstr>
      <vt:lpstr>Wingdings</vt:lpstr>
      <vt:lpstr>Office Theme</vt:lpstr>
      <vt:lpstr>Big Data Processing</vt:lpstr>
      <vt:lpstr>Programming on Hadoop  Map-reduce Model</vt:lpstr>
      <vt:lpstr> Example Problem: Counting Words</vt:lpstr>
      <vt:lpstr> Word Count</vt:lpstr>
      <vt:lpstr> Word Count</vt:lpstr>
      <vt:lpstr>Map-Reduce: In a Nutshell</vt:lpstr>
      <vt:lpstr>Map-Reduce: Map Step</vt:lpstr>
      <vt:lpstr>MapReduce: Reduce Step</vt:lpstr>
      <vt:lpstr>Map-reduce: Word Count</vt:lpstr>
      <vt:lpstr>Word Count Using MapReduce: Pseudocode</vt:lpstr>
      <vt:lpstr>Map-Reduce Execution   Detailed Look</vt:lpstr>
      <vt:lpstr>Map-reduce System: Inside Look</vt:lpstr>
      <vt:lpstr>Partitioning</vt:lpstr>
      <vt:lpstr>Shuffle and Sort</vt:lpstr>
      <vt:lpstr>Shuffle and Sort: the map side</vt:lpstr>
      <vt:lpstr>Shuffle and Sort: the reduce side</vt:lpstr>
      <vt:lpstr>Map-Reduce Internals   Additional Details</vt:lpstr>
      <vt:lpstr>What Map-Reduce Framework Does for You?</vt:lpstr>
      <vt:lpstr>Data Flow</vt:lpstr>
      <vt:lpstr>Coordination by Master</vt:lpstr>
      <vt:lpstr>Dealing with Failures</vt:lpstr>
      <vt:lpstr>Dealing with Failures</vt:lpstr>
      <vt:lpstr>Dealing with Failures</vt:lpstr>
      <vt:lpstr>How many Map and Reduce jobs?</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Processing</dc:title>
  <dc:creator>jiaul paik</dc:creator>
  <cp:lastModifiedBy>Subhasini Kumari Gupta</cp:lastModifiedBy>
  <cp:revision>599</cp:revision>
  <dcterms:created xsi:type="dcterms:W3CDTF">2020-05-13T23:12:08Z</dcterms:created>
  <dcterms:modified xsi:type="dcterms:W3CDTF">2025-02-19T13:00:22Z</dcterms:modified>
</cp:coreProperties>
</file>