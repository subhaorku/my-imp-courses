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4"/>
  </p:notesMasterIdLst>
  <p:handoutMasterIdLst>
    <p:handoutMasterId r:id="rId25"/>
  </p:handoutMasterIdLst>
  <p:sldIdLst>
    <p:sldId id="256" r:id="rId3"/>
    <p:sldId id="510" r:id="rId4"/>
    <p:sldId id="511" r:id="rId5"/>
    <p:sldId id="512" r:id="rId6"/>
    <p:sldId id="513" r:id="rId7"/>
    <p:sldId id="514" r:id="rId8"/>
    <p:sldId id="515" r:id="rId9"/>
    <p:sldId id="516" r:id="rId10"/>
    <p:sldId id="517" r:id="rId11"/>
    <p:sldId id="518" r:id="rId12"/>
    <p:sldId id="519" r:id="rId13"/>
    <p:sldId id="520" r:id="rId14"/>
    <p:sldId id="521" r:id="rId15"/>
    <p:sldId id="522" r:id="rId16"/>
    <p:sldId id="523" r:id="rId17"/>
    <p:sldId id="524" r:id="rId18"/>
    <p:sldId id="544" r:id="rId19"/>
    <p:sldId id="503" r:id="rId20"/>
    <p:sldId id="545" r:id="rId21"/>
    <p:sldId id="546" r:id="rId22"/>
    <p:sldId id="547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5050"/>
    <a:srgbClr val="663300"/>
    <a:srgbClr val="CAAEF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9" d="100"/>
          <a:sy n="109" d="100"/>
        </p:scale>
        <p:origin x="636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3134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BEC899-9F02-491A-8D3A-9F1A2E35BED9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C7F388-92B4-4CCE-98AB-E3403A750B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60447380"/>
      </p:ext>
    </p:extLst>
  </p:cSld>
  <p:clrMap bg1="dk1" tx1="lt1" bg2="dk2" tx2="lt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29A62B8-ED7E-4D6E-9A93-014178291C11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FC15D4-91CA-4DB9-8C01-BAE492E5AD4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27993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711649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732155"/>
          </a:xfrm>
        </p:spPr>
        <p:txBody>
          <a:bodyPr/>
          <a:lstStyle>
            <a:lvl1pPr>
              <a:defRPr>
                <a:solidFill>
                  <a:schemeClr val="accent4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471749"/>
            <a:ext cx="10515600" cy="4705214"/>
          </a:xfrm>
        </p:spPr>
        <p:txBody>
          <a:bodyPr/>
          <a:lstStyle>
            <a:lvl1pPr>
              <a:defRPr b="1">
                <a:solidFill>
                  <a:srgbClr val="0070C0"/>
                </a:solidFill>
              </a:defRPr>
            </a:lvl1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b="1">
                <a:solidFill>
                  <a:schemeClr val="bg2">
                    <a:lumMod val="10000"/>
                  </a:schemeClr>
                </a:solidFill>
              </a:defRPr>
            </a:lvl1pPr>
          </a:lstStyle>
          <a:p>
            <a:r>
              <a:rPr lang="en-IN" dirty="0"/>
              <a:t>Jiaul Paik, IIT </a:t>
            </a:r>
            <a:r>
              <a:rPr lang="en-IN" dirty="0" err="1"/>
              <a:t>Kharagpur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76842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0869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23760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339709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92335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0526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08202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2170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788804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6180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 + 3 columns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1553967" y="665975"/>
            <a:ext cx="9144000" cy="459900"/>
          </a:xfrm>
          <a:prstGeom prst="rect">
            <a:avLst/>
          </a:prstGeom>
        </p:spPr>
        <p:txBody>
          <a:bodyPr spcFirstLastPara="1" wrap="square" lIns="91425" tIns="91425" rIns="91425" bIns="91425" anchor="b" anchorCtr="0"/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1553967" y="1673975"/>
            <a:ext cx="3204800" cy="4893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◦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922999" y="1673975"/>
            <a:ext cx="3204800" cy="4893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◦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8292031" y="1673975"/>
            <a:ext cx="3204800" cy="4893900"/>
          </a:xfrm>
          <a:prstGeom prst="rect">
            <a:avLst/>
          </a:prstGeom>
        </p:spPr>
        <p:txBody>
          <a:bodyPr spcFirstLastPara="1" wrap="square" lIns="91425" tIns="91425" rIns="91425" bIns="91425" anchor="t" anchorCtr="0"/>
          <a:lstStyle>
            <a:lvl1pPr marL="457200" lvl="0" indent="-355600" rtl="0">
              <a:spcBef>
                <a:spcPts val="600"/>
              </a:spcBef>
              <a:spcAft>
                <a:spcPts val="0"/>
              </a:spcAft>
              <a:buSzPts val="2000"/>
              <a:buChar char="◦"/>
              <a:defRPr sz="2000"/>
            </a:lvl1pPr>
            <a:lvl2pPr marL="914400" lvl="1" indent="-355600" rtl="0">
              <a:spcBef>
                <a:spcPts val="0"/>
              </a:spcBef>
              <a:spcAft>
                <a:spcPts val="0"/>
              </a:spcAft>
              <a:buSzPts val="2000"/>
              <a:buChar char="▫"/>
              <a:defRPr sz="2000"/>
            </a:lvl2pPr>
            <a:lvl3pPr marL="1371600" lvl="2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3pPr>
            <a:lvl4pPr marL="1828800" lvl="3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4pPr>
            <a:lvl5pPr marL="2286000" lvl="4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5pPr>
            <a:lvl6pPr marL="2743200" lvl="5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6pPr>
            <a:lvl7pPr marL="3200400" lvl="6" indent="-355600" rtl="0">
              <a:spcBef>
                <a:spcPts val="0"/>
              </a:spcBef>
              <a:spcAft>
                <a:spcPts val="0"/>
              </a:spcAft>
              <a:buSzPts val="2000"/>
              <a:buChar char="●"/>
              <a:defRPr sz="2000"/>
            </a:lvl7pPr>
            <a:lvl8pPr marL="3657600" lvl="7" indent="-355600" rtl="0">
              <a:spcBef>
                <a:spcPts val="0"/>
              </a:spcBef>
              <a:spcAft>
                <a:spcPts val="0"/>
              </a:spcAft>
              <a:buSzPts val="2000"/>
              <a:buChar char="○"/>
              <a:defRPr sz="2000"/>
            </a:lvl8pPr>
            <a:lvl9pPr marL="4114800" lvl="8" indent="-355600" rtl="0">
              <a:spcBef>
                <a:spcPts val="0"/>
              </a:spcBef>
              <a:spcAft>
                <a:spcPts val="0"/>
              </a:spcAft>
              <a:buSzPts val="2000"/>
              <a:buChar char="■"/>
              <a:defRPr sz="2000"/>
            </a:lvl9pPr>
          </a:lstStyle>
          <a:p>
            <a:endParaRPr/>
          </a:p>
        </p:txBody>
      </p:sp>
      <p:cxnSp>
        <p:nvCxnSpPr>
          <p:cNvPr id="45" name="Google Shape;45;p7"/>
          <p:cNvCxnSpPr/>
          <p:nvPr/>
        </p:nvCxnSpPr>
        <p:spPr>
          <a:xfrm>
            <a:off x="1205100" y="-7925"/>
            <a:ext cx="0" cy="6866100"/>
          </a:xfrm>
          <a:prstGeom prst="straightConnector1">
            <a:avLst/>
          </a:prstGeom>
          <a:noFill/>
          <a:ln w="9525" cap="flat" cmpd="sng">
            <a:solidFill>
              <a:srgbClr val="999FA9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6" name="Google Shape;46;p7"/>
          <p:cNvSpPr/>
          <p:nvPr/>
        </p:nvSpPr>
        <p:spPr>
          <a:xfrm>
            <a:off x="1078300" y="800750"/>
            <a:ext cx="253600" cy="190200"/>
          </a:xfrm>
          <a:prstGeom prst="ellipse">
            <a:avLst/>
          </a:prstGeom>
          <a:solidFill>
            <a:srgbClr val="39C0BA"/>
          </a:solidFill>
          <a:ln w="2857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7" name="Google Shape;47;p7"/>
          <p:cNvSpPr/>
          <p:nvPr/>
        </p:nvSpPr>
        <p:spPr>
          <a:xfrm>
            <a:off x="1025400" y="1861900"/>
            <a:ext cx="359200" cy="269400"/>
          </a:xfrm>
          <a:prstGeom prst="ellipse">
            <a:avLst/>
          </a:prstGeom>
          <a:solidFill>
            <a:srgbClr val="2E3037"/>
          </a:solidFill>
          <a:ln w="9525" cap="flat" cmpd="sng">
            <a:solidFill>
              <a:srgbClr val="999FA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11364209" y="6437775"/>
            <a:ext cx="7316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684015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key color">
  <p:cSld name="Blank key color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4" name="Google Shape;64;p11"/>
          <p:cNvCxnSpPr/>
          <p:nvPr/>
        </p:nvCxnSpPr>
        <p:spPr>
          <a:xfrm>
            <a:off x="1205100" y="-7925"/>
            <a:ext cx="0" cy="6866100"/>
          </a:xfrm>
          <a:prstGeom prst="straightConnector1">
            <a:avLst/>
          </a:prstGeom>
          <a:noFill/>
          <a:ln w="9525" cap="flat" cmpd="sng">
            <a:solidFill>
              <a:srgbClr val="2E3037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5" name="Google Shape;65;p11"/>
          <p:cNvSpPr/>
          <p:nvPr/>
        </p:nvSpPr>
        <p:spPr>
          <a:xfrm>
            <a:off x="1078200" y="3333900"/>
            <a:ext cx="253600" cy="190200"/>
          </a:xfrm>
          <a:prstGeom prst="ellipse">
            <a:avLst/>
          </a:prstGeom>
          <a:solidFill>
            <a:srgbClr val="39C0BA"/>
          </a:solidFill>
          <a:ln w="9525" cap="flat" cmpd="sng">
            <a:solidFill>
              <a:srgbClr val="2E303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Tx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n-ea"/>
              <a:cs typeface="Arial"/>
              <a:sym typeface="Arial"/>
            </a:endParaRPr>
          </a:p>
        </p:txBody>
      </p:sp>
      <p:sp>
        <p:nvSpPr>
          <p:cNvPr id="66" name="Google Shape;66;p11"/>
          <p:cNvSpPr txBox="1">
            <a:spLocks noGrp="1"/>
          </p:cNvSpPr>
          <p:nvPr>
            <p:ph type="sldNum" idx="12"/>
          </p:nvPr>
        </p:nvSpPr>
        <p:spPr>
          <a:xfrm>
            <a:off x="11364209" y="6437775"/>
            <a:ext cx="731600" cy="42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buNone/>
              <a:defRPr>
                <a:solidFill>
                  <a:srgbClr val="2E3037"/>
                </a:solidFill>
              </a:defRPr>
            </a:lvl1pPr>
            <a:lvl2pPr lvl="1">
              <a:buNone/>
              <a:defRPr>
                <a:solidFill>
                  <a:srgbClr val="2E3037"/>
                </a:solidFill>
              </a:defRPr>
            </a:lvl2pPr>
            <a:lvl3pPr lvl="2">
              <a:buNone/>
              <a:defRPr>
                <a:solidFill>
                  <a:srgbClr val="2E3037"/>
                </a:solidFill>
              </a:defRPr>
            </a:lvl3pPr>
            <a:lvl4pPr lvl="3">
              <a:buNone/>
              <a:defRPr>
                <a:solidFill>
                  <a:srgbClr val="2E3037"/>
                </a:solidFill>
              </a:defRPr>
            </a:lvl4pPr>
            <a:lvl5pPr lvl="4">
              <a:buNone/>
              <a:defRPr>
                <a:solidFill>
                  <a:srgbClr val="2E3037"/>
                </a:solidFill>
              </a:defRPr>
            </a:lvl5pPr>
            <a:lvl6pPr lvl="5">
              <a:buNone/>
              <a:defRPr>
                <a:solidFill>
                  <a:srgbClr val="2E3037"/>
                </a:solidFill>
              </a:defRPr>
            </a:lvl6pPr>
            <a:lvl7pPr lvl="6">
              <a:buNone/>
              <a:defRPr>
                <a:solidFill>
                  <a:srgbClr val="2E3037"/>
                </a:solidFill>
              </a:defRPr>
            </a:lvl7pPr>
            <a:lvl8pPr lvl="7">
              <a:buNone/>
              <a:defRPr>
                <a:solidFill>
                  <a:srgbClr val="2E3037"/>
                </a:solidFill>
              </a:defRPr>
            </a:lvl8pPr>
            <a:lvl9pPr lvl="8">
              <a:buNone/>
              <a:defRPr>
                <a:solidFill>
                  <a:srgbClr val="2E3037"/>
                </a:solidFill>
              </a:defRPr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42661467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220786"/>
            <a:ext cx="10972800" cy="541214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7333" y="1295400"/>
            <a:ext cx="10972800" cy="5181600"/>
          </a:xfrm>
        </p:spPr>
        <p:txBody>
          <a:bodyPr/>
          <a:lstStyle>
            <a:lvl1pPr marL="457200" indent="-419100">
              <a:buClr>
                <a:srgbClr val="00206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1pPr>
            <a:lvl2pPr marL="914400" indent="-381000">
              <a:buClr>
                <a:srgbClr val="002060"/>
              </a:buClr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2pPr>
            <a:lvl3pPr marL="1371600" indent="-381000">
              <a:buClr>
                <a:srgbClr val="00206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3pPr>
            <a:lvl4pPr marL="1828800" indent="-342900">
              <a:buClr>
                <a:srgbClr val="002060"/>
              </a:buClr>
              <a:buFont typeface="Arial" panose="020B0604020202020204" pitchFamily="34" charset="0"/>
              <a:buChar char="•"/>
              <a:defRPr b="0">
                <a:solidFill>
                  <a:schemeClr val="tx1"/>
                </a:solidFill>
              </a:defRPr>
            </a:lvl4pPr>
            <a:lvl5pPr marL="2286000" indent="-342900">
              <a:buClr>
                <a:srgbClr val="002060"/>
              </a:buClr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1336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D8581B5-CE63-4C0B-AF1D-F1A23F619540}" type="datetimeFigureOut">
              <a:rPr lang="en-IN" smtClean="0"/>
              <a:t>05-03-2025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7DD252-A74E-4E8E-A6B4-FCD6DE8F900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16313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1553967" y="665975"/>
            <a:ext cx="9144000" cy="4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/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39C0BA"/>
              </a:buClr>
              <a:buSzPts val="1800"/>
              <a:buFont typeface="Quicksand"/>
              <a:buNone/>
              <a:defRPr sz="18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1553998" y="1600200"/>
            <a:ext cx="9144000" cy="496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/>
          <a:lstStyle>
            <a:lvl1pPr marL="457200" lvl="0" indent="-419100">
              <a:spcBef>
                <a:spcPts val="600"/>
              </a:spcBef>
              <a:spcAft>
                <a:spcPts val="0"/>
              </a:spcAft>
              <a:buClr>
                <a:srgbClr val="F3F3F3"/>
              </a:buClr>
              <a:buSzPts val="3000"/>
              <a:buFont typeface="Quicksand"/>
              <a:buChar char="◦"/>
              <a:defRPr sz="30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marL="914400" lvl="1" indent="-3810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▫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marL="1371600" lvl="2" indent="-3810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2400"/>
              <a:buFont typeface="Quicksand"/>
              <a:buChar char="■"/>
              <a:defRPr sz="24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marL="1828800" lvl="3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marL="2286000" lvl="4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marL="2743200" lvl="5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marL="3200400" lvl="6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●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marL="3657600" lvl="7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○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marL="4114800" lvl="8" indent="-342900">
              <a:spcBef>
                <a:spcPts val="0"/>
              </a:spcBef>
              <a:spcAft>
                <a:spcPts val="0"/>
              </a:spcAft>
              <a:buClr>
                <a:srgbClr val="F3F3F3"/>
              </a:buClr>
              <a:buSzPts val="1800"/>
              <a:buFont typeface="Quicksand"/>
              <a:buChar char="■"/>
              <a:defRPr sz="1800">
                <a:solidFill>
                  <a:srgbClr val="F3F3F3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11364209" y="6437775"/>
            <a:ext cx="731600" cy="42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1pPr>
            <a:lvl2pPr lvl="1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2pPr>
            <a:lvl3pPr lvl="2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3pPr>
            <a:lvl4pPr lvl="3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4pPr>
            <a:lvl5pPr lvl="4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5pPr>
            <a:lvl6pPr lvl="5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6pPr>
            <a:lvl7pPr lvl="6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7pPr>
            <a:lvl8pPr lvl="7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8pPr>
            <a:lvl9pPr lvl="8" algn="r">
              <a:buNone/>
              <a:defRPr sz="1200">
                <a:solidFill>
                  <a:srgbClr val="39C0BA"/>
                </a:solidFill>
                <a:latin typeface="Quicksand"/>
                <a:ea typeface="Quicksand"/>
                <a:cs typeface="Quicksand"/>
                <a:sym typeface="Quicksand"/>
              </a:defRPr>
            </a:lvl9pPr>
          </a:lstStyle>
          <a:p>
            <a:pPr>
              <a:buClr>
                <a:srgbClr val="000000"/>
              </a:buClr>
            </a:pPr>
            <a:fld id="{00000000-1234-1234-1234-123412341234}" type="slidenum">
              <a:rPr lang="en" kern="0" smtClean="0"/>
              <a:pPr>
                <a:buClr>
                  <a:srgbClr val="000000"/>
                </a:buClr>
              </a:pPr>
              <a:t>‹#›</a:t>
            </a:fld>
            <a:endParaRPr lang="en" kern="0"/>
          </a:p>
        </p:txBody>
      </p:sp>
    </p:spTree>
    <p:extLst>
      <p:ext uri="{BB962C8B-B14F-4D97-AF65-F5344CB8AC3E}">
        <p14:creationId xmlns:p14="http://schemas.microsoft.com/office/powerpoint/2010/main" val="3880125852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NUL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95915" y="1122363"/>
            <a:ext cx="9972085" cy="1408401"/>
          </a:xfrm>
        </p:spPr>
        <p:txBody>
          <a:bodyPr>
            <a:normAutofit/>
          </a:bodyPr>
          <a:lstStyle/>
          <a:p>
            <a:r>
              <a:rPr lang="en-US" sz="4800" dirty="0">
                <a:solidFill>
                  <a:schemeClr val="accent4"/>
                </a:solidFill>
                <a:latin typeface="Century Schoolbook" panose="02040604050505020304" pitchFamily="18" charset="0"/>
              </a:rPr>
              <a:t>Big Data Processing</a:t>
            </a:r>
            <a:endParaRPr lang="en-IN" sz="4800" dirty="0">
              <a:solidFill>
                <a:schemeClr val="accent4"/>
              </a:solidFill>
              <a:latin typeface="Century Schoolbook" panose="020406040505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1564" y="3500438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latin typeface="Century Schoolbook" panose="02040604050505020304" pitchFamily="18" charset="0"/>
              </a:rPr>
              <a:t>Jiaul Paik</a:t>
            </a:r>
          </a:p>
          <a:p>
            <a:r>
              <a:rPr lang="en-IN" sz="3200" dirty="0">
                <a:latin typeface="Century Schoolbook" panose="02040604050505020304" pitchFamily="18" charset="0"/>
              </a:rPr>
              <a:t>Lecture 11</a:t>
            </a:r>
          </a:p>
        </p:txBody>
      </p:sp>
    </p:spTree>
    <p:extLst>
      <p:ext uri="{BB962C8B-B14F-4D97-AF65-F5344CB8AC3E}">
        <p14:creationId xmlns:p14="http://schemas.microsoft.com/office/powerpoint/2010/main" val="27338965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5413" y="2660915"/>
            <a:ext cx="10515600" cy="732155"/>
          </a:xfrm>
        </p:spPr>
        <p:txBody>
          <a:bodyPr/>
          <a:lstStyle/>
          <a:p>
            <a:pPr algn="ctr"/>
            <a:r>
              <a:rPr lang="en-IN" sz="4000" b="1" dirty="0">
                <a:solidFill>
                  <a:srgbClr val="00B050"/>
                </a:solidFill>
              </a:rPr>
              <a:t>Important Spark Operations</a:t>
            </a:r>
          </a:p>
        </p:txBody>
      </p:sp>
    </p:spTree>
    <p:extLst>
      <p:ext uri="{BB962C8B-B14F-4D97-AF65-F5344CB8AC3E}">
        <p14:creationId xmlns:p14="http://schemas.microsoft.com/office/powerpoint/2010/main" val="4098348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223" y="260648"/>
            <a:ext cx="10515600" cy="732155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map vs </a:t>
            </a:r>
            <a:r>
              <a:rPr lang="en-IN" b="1" dirty="0" err="1">
                <a:solidFill>
                  <a:srgbClr val="00B050"/>
                </a:solidFill>
              </a:rPr>
              <a:t>flatmap</a:t>
            </a:r>
            <a:endParaRPr lang="en-IN" b="1" dirty="0">
              <a:solidFill>
                <a:srgbClr val="00B050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264352" y="1743298"/>
            <a:ext cx="1202124" cy="11695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data.txt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-------------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 am 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 is there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 are 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2224" y="1604797"/>
            <a:ext cx="586984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map(f):</a:t>
            </a: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Return a new distributed dataset formed by passing each element of the source through a function </a:t>
            </a:r>
            <a:r>
              <a:rPr kumimoji="0" lang="en-US" sz="1333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endParaRPr kumimoji="0" lang="en-IN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2224" y="2586124"/>
            <a:ext cx="5869841" cy="707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333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flatMap</a:t>
            </a:r>
            <a:r>
              <a:rPr kumimoji="0" lang="en-IN" sz="1333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(f):</a:t>
            </a:r>
            <a:r>
              <a:rPr kumimoji="0" lang="en-IN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Similar to map, but each input item can be mapped to 0 or more output items (so </a:t>
            </a:r>
            <a:r>
              <a:rPr kumimoji="0" lang="en-US" sz="1333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</a:t>
            </a:r>
            <a:r>
              <a:rPr kumimoji="0" lang="en-US" sz="1333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 should return a Sequence rather than a single item)</a:t>
            </a:r>
            <a:endParaRPr kumimoji="0" lang="en-IN" sz="1333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11424" y="4005064"/>
            <a:ext cx="4387740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Example:</a:t>
            </a: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Counting number of letters in each lines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1424" y="4685340"/>
            <a:ext cx="3425938" cy="31810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67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Example:</a:t>
            </a:r>
            <a:r>
              <a:rPr kumimoji="0" lang="en-IN" sz="1467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getting words from each line</a:t>
            </a:r>
          </a:p>
        </p:txBody>
      </p:sp>
    </p:spTree>
    <p:extLst>
      <p:ext uri="{BB962C8B-B14F-4D97-AF65-F5344CB8AC3E}">
        <p14:creationId xmlns:p14="http://schemas.microsoft.com/office/powerpoint/2010/main" val="33309387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  <p:bldP spid="7" grpId="0"/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403" y="104557"/>
            <a:ext cx="10515600" cy="732155"/>
          </a:xfrm>
        </p:spPr>
        <p:txBody>
          <a:bodyPr/>
          <a:lstStyle/>
          <a:p>
            <a:r>
              <a:rPr lang="en-IN" sz="3733" b="1" dirty="0" err="1">
                <a:solidFill>
                  <a:srgbClr val="00B050"/>
                </a:solidFill>
              </a:rPr>
              <a:t>reduceByKey</a:t>
            </a:r>
            <a:r>
              <a:rPr lang="en-IN" sz="3733" b="1" dirty="0">
                <a:solidFill>
                  <a:srgbClr val="00B050"/>
                </a:solidFill>
              </a:rPr>
              <a:t> vs </a:t>
            </a:r>
            <a:r>
              <a:rPr lang="en-IN" sz="3733" b="1" dirty="0" err="1">
                <a:solidFill>
                  <a:srgbClr val="00B050"/>
                </a:solidFill>
              </a:rPr>
              <a:t>groupByKey</a:t>
            </a:r>
            <a:endParaRPr lang="en-IN" sz="3733" b="1" dirty="0">
              <a:solidFill>
                <a:srgbClr val="00B05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007435" y="1701582"/>
            <a:ext cx="747756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reduceByKey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(f):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Aggregates data based on the common keys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 is done in each partition, before they are shuffled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7193" y="3525011"/>
            <a:ext cx="679705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groupByKey</a:t>
            </a: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Returns the set of elements with common key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71072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193" y="260648"/>
            <a:ext cx="10515600" cy="567597"/>
          </a:xfrm>
        </p:spPr>
        <p:txBody>
          <a:bodyPr/>
          <a:lstStyle/>
          <a:p>
            <a:r>
              <a:rPr lang="en-IN" b="1" dirty="0" err="1">
                <a:solidFill>
                  <a:srgbClr val="00B050"/>
                </a:solidFill>
              </a:rPr>
              <a:t>reduceBykey</a:t>
            </a:r>
            <a:r>
              <a:rPr lang="en-IN" b="1" dirty="0">
                <a:solidFill>
                  <a:srgbClr val="00B050"/>
                </a:solidFill>
              </a:rPr>
              <a:t>: Illustration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20970" y="1700808"/>
            <a:ext cx="1825374" cy="19202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1578274" y="2530599"/>
            <a:ext cx="384043" cy="288032"/>
          </a:xfrm>
          <a:prstGeom prst="right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94863" y="2310547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1584" y="968694"/>
            <a:ext cx="7088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Find sum of values based on the common 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3792791" y="1700808"/>
            <a:ext cx="2015177" cy="19202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(a,2)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723463" y="2548928"/>
            <a:ext cx="384043" cy="288032"/>
          </a:xfrm>
          <a:prstGeom prst="right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156489" y="2310547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(b,3)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30399" y="1570808"/>
            <a:ext cx="1915118" cy="20502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8562951" y="2515344"/>
            <a:ext cx="384043" cy="288032"/>
          </a:xfrm>
          <a:prstGeom prst="right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887329" y="2243861"/>
            <a:ext cx="6591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(b,6)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351584" y="4293096"/>
            <a:ext cx="2039337" cy="19202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(a,2)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(a,6)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(a,2)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311691" y="5107632"/>
            <a:ext cx="384043" cy="288032"/>
          </a:xfrm>
          <a:prstGeom prst="right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15401" y="5045305"/>
            <a:ext cx="7873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599275" y="4305242"/>
            <a:ext cx="2039337" cy="19202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(b,3)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(b,6)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431167" y="5119777"/>
            <a:ext cx="384043" cy="288032"/>
          </a:xfrm>
          <a:prstGeom prst="right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15210" y="5045305"/>
            <a:ext cx="7702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(b,11)</a:t>
            </a:r>
          </a:p>
        </p:txBody>
      </p:sp>
      <p:cxnSp>
        <p:nvCxnSpPr>
          <p:cNvPr id="21" name="Straight Arrow Connector 20"/>
          <p:cNvCxnSpPr>
            <a:cxnSpLocks/>
            <a:stCxn id="3" idx="2"/>
            <a:endCxn id="14" idx="0"/>
          </p:cNvCxnSpPr>
          <p:nvPr/>
        </p:nvCxnSpPr>
        <p:spPr>
          <a:xfrm>
            <a:off x="1633657" y="3621021"/>
            <a:ext cx="1737596" cy="6720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/>
            <a:stCxn id="7" idx="2"/>
            <a:endCxn id="14" idx="0"/>
          </p:cNvCxnSpPr>
          <p:nvPr/>
        </p:nvCxnSpPr>
        <p:spPr>
          <a:xfrm flipH="1">
            <a:off x="3371253" y="3621021"/>
            <a:ext cx="1429127" cy="6720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cxnSpLocks/>
            <a:stCxn id="10" idx="2"/>
            <a:endCxn id="14" idx="0"/>
          </p:cNvCxnSpPr>
          <p:nvPr/>
        </p:nvCxnSpPr>
        <p:spPr>
          <a:xfrm flipH="1">
            <a:off x="3371253" y="3621021"/>
            <a:ext cx="5316705" cy="6720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3" idx="2"/>
            <a:endCxn id="17" idx="0"/>
          </p:cNvCxnSpPr>
          <p:nvPr/>
        </p:nvCxnSpPr>
        <p:spPr>
          <a:xfrm>
            <a:off x="1778258" y="3621022"/>
            <a:ext cx="4778247" cy="68422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2"/>
            <a:endCxn id="17" idx="0"/>
          </p:cNvCxnSpPr>
          <p:nvPr/>
        </p:nvCxnSpPr>
        <p:spPr>
          <a:xfrm>
            <a:off x="5039883" y="3621022"/>
            <a:ext cx="1516621" cy="68422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7" idx="0"/>
          </p:cNvCxnSpPr>
          <p:nvPr/>
        </p:nvCxnSpPr>
        <p:spPr>
          <a:xfrm flipH="1">
            <a:off x="6556504" y="3621022"/>
            <a:ext cx="2131784" cy="68422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049577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0168" y="166304"/>
            <a:ext cx="10515600" cy="567597"/>
          </a:xfrm>
        </p:spPr>
        <p:txBody>
          <a:bodyPr/>
          <a:lstStyle/>
          <a:p>
            <a:r>
              <a:rPr lang="en-IN" dirty="0" err="1">
                <a:solidFill>
                  <a:srgbClr val="00B050"/>
                </a:solidFill>
              </a:rPr>
              <a:t>groupByKey</a:t>
            </a:r>
            <a:r>
              <a:rPr lang="en-IN" dirty="0">
                <a:solidFill>
                  <a:srgbClr val="00B050"/>
                </a:solidFill>
              </a:rPr>
              <a:t>: Illustration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1010172" y="1700808"/>
            <a:ext cx="976777" cy="19202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351584" y="968694"/>
            <a:ext cx="708880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Find sum of values based on the common keys</a:t>
            </a:r>
          </a:p>
        </p:txBody>
      </p:sp>
      <p:sp>
        <p:nvSpPr>
          <p:cNvPr id="7" name="Rectangle 6"/>
          <p:cNvSpPr/>
          <p:nvPr/>
        </p:nvSpPr>
        <p:spPr>
          <a:xfrm>
            <a:off x="4271797" y="1700808"/>
            <a:ext cx="957087" cy="19202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(a,2)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(b,1)</a:t>
            </a:r>
          </a:p>
        </p:txBody>
      </p:sp>
      <p:sp>
        <p:nvSpPr>
          <p:cNvPr id="10" name="Rectangle 9"/>
          <p:cNvSpPr/>
          <p:nvPr/>
        </p:nvSpPr>
        <p:spPr>
          <a:xfrm>
            <a:off x="7920203" y="1570808"/>
            <a:ext cx="933651" cy="205021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46343" y="4293096"/>
            <a:ext cx="2042753" cy="2142873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(a,3)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(a,1)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3195409" y="5105955"/>
            <a:ext cx="384043" cy="288032"/>
          </a:xfrm>
          <a:prstGeom prst="right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599723" y="5034856"/>
            <a:ext cx="72167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(a,10)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232047" y="4305242"/>
            <a:ext cx="2092544" cy="213072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078956" y="5374720"/>
            <a:ext cx="384043" cy="288032"/>
          </a:xfrm>
          <a:prstGeom prst="right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618179" y="5357496"/>
            <a:ext cx="7064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(b,11)</a:t>
            </a:r>
          </a:p>
        </p:txBody>
      </p:sp>
      <p:cxnSp>
        <p:nvCxnSpPr>
          <p:cNvPr id="21" name="Straight Arrow Connector 20"/>
          <p:cNvCxnSpPr>
            <a:stCxn id="3" idx="2"/>
            <a:endCxn id="14" idx="0"/>
          </p:cNvCxnSpPr>
          <p:nvPr/>
        </p:nvCxnSpPr>
        <p:spPr>
          <a:xfrm>
            <a:off x="1778258" y="3621021"/>
            <a:ext cx="1725313" cy="6720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stCxn id="7" idx="2"/>
            <a:endCxn id="14" idx="0"/>
          </p:cNvCxnSpPr>
          <p:nvPr/>
        </p:nvCxnSpPr>
        <p:spPr>
          <a:xfrm flipH="1">
            <a:off x="3503571" y="3621021"/>
            <a:ext cx="1536312" cy="6720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>
            <a:stCxn id="10" idx="2"/>
            <a:endCxn id="14" idx="0"/>
          </p:cNvCxnSpPr>
          <p:nvPr/>
        </p:nvCxnSpPr>
        <p:spPr>
          <a:xfrm flipH="1">
            <a:off x="3503571" y="3621021"/>
            <a:ext cx="5184717" cy="672075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>
            <a:stCxn id="3" idx="2"/>
            <a:endCxn id="17" idx="0"/>
          </p:cNvCxnSpPr>
          <p:nvPr/>
        </p:nvCxnSpPr>
        <p:spPr>
          <a:xfrm>
            <a:off x="1778258" y="3621022"/>
            <a:ext cx="4778247" cy="68422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stCxn id="7" idx="2"/>
            <a:endCxn id="17" idx="0"/>
          </p:cNvCxnSpPr>
          <p:nvPr/>
        </p:nvCxnSpPr>
        <p:spPr>
          <a:xfrm>
            <a:off x="5039883" y="3621022"/>
            <a:ext cx="1516621" cy="68422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stCxn id="10" idx="2"/>
            <a:endCxn id="17" idx="0"/>
          </p:cNvCxnSpPr>
          <p:nvPr/>
        </p:nvCxnSpPr>
        <p:spPr>
          <a:xfrm flipH="1">
            <a:off x="6556504" y="3621022"/>
            <a:ext cx="2131784" cy="684220"/>
          </a:xfrm>
          <a:prstGeom prst="straightConnector1">
            <a:avLst/>
          </a:prstGeom>
          <a:ln>
            <a:solidFill>
              <a:srgbClr val="0070C0"/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60610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260649"/>
            <a:ext cx="10515600" cy="471585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Problem: Word Count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1" y="1687645"/>
            <a:ext cx="114848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You are given a text file containing a set of lines. Produce the words and its counts.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948947"/>
            <a:ext cx="2323072" cy="267765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 is done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he will be okay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can do it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my name is this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ight Arrow 5"/>
          <p:cNvSpPr/>
          <p:nvPr/>
        </p:nvSpPr>
        <p:spPr>
          <a:xfrm>
            <a:off x="3155064" y="3717032"/>
            <a:ext cx="1440160" cy="384043"/>
          </a:xfrm>
          <a:prstGeom prst="right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231905" y="3236979"/>
            <a:ext cx="1023037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is,2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she,1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can, 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.</a:t>
            </a:r>
          </a:p>
        </p:txBody>
      </p:sp>
    </p:spTree>
    <p:extLst>
      <p:ext uri="{BB962C8B-B14F-4D97-AF65-F5344CB8AC3E}">
        <p14:creationId xmlns:p14="http://schemas.microsoft.com/office/powerpoint/2010/main" val="15571880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392" y="243823"/>
            <a:ext cx="10515600" cy="663608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Word Count: Spark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719404" y="1316766"/>
            <a:ext cx="5952661" cy="4512501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("text.txt")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words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data.flatMap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(line =&gt;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line.split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("\\s+"))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pair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words.map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(w =&gt; (w,1))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wordcount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pair.reduceByKey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 + _)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wordcount.collect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().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foreach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println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wordcount.saveAsTextFile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("output")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setting number of reduce tasks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wordcount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pair.reduceByKey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(_ + _, 4)</a:t>
            </a:r>
          </a:p>
        </p:txBody>
      </p:sp>
    </p:spTree>
    <p:extLst>
      <p:ext uri="{BB962C8B-B14F-4D97-AF65-F5344CB8AC3E}">
        <p14:creationId xmlns:p14="http://schemas.microsoft.com/office/powerpoint/2010/main" val="1285646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Problem: Finding average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7435" y="2832027"/>
            <a:ext cx="1435008" cy="30469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 15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ram 25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abir 20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 30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ram 25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samir 30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kamal 30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l-PL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abir 50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2735627" y="3696123"/>
            <a:ext cx="1632181" cy="480053"/>
          </a:xfrm>
          <a:prstGeom prst="right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943872" y="3120059"/>
            <a:ext cx="1451038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sam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22.5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ram  25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7435" y="1604798"/>
            <a:ext cx="9248189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Given a two column file with key (1</a:t>
            </a:r>
            <a:r>
              <a:rPr kumimoji="0" lang="en-IN" sz="2400" b="0" i="0" u="none" strike="noStrike" kern="1200" cap="none" spc="0" normalizeH="0" baseline="3000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column) and value. Find the average value for each key. </a:t>
            </a:r>
          </a:p>
        </p:txBody>
      </p:sp>
    </p:spTree>
    <p:extLst>
      <p:ext uri="{BB962C8B-B14F-4D97-AF65-F5344CB8AC3E}">
        <p14:creationId xmlns:p14="http://schemas.microsoft.com/office/powerpoint/2010/main" val="14942197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0287"/>
            <a:ext cx="10515600" cy="663608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Finding average: Spark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875745" y="1508787"/>
            <a:ext cx="6217907" cy="363138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("average.txt")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pairs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data.map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(line =&gt; {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 = </a:t>
            </a: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line.split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("\\s+")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    (s(0), (s(1).toDouble,1))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interout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fr-FR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pairs.reduceByKey</a:t>
            </a:r>
            <a:r>
              <a:rPr kumimoji="0" lang="fr-FR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{((t1,v1), (t2,v2)) =&gt; (t1+t2, v1+v2)}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output = 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interout.map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(r =&gt; (r._1, r._2._1/r._2._2))</a:t>
            </a: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IN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380990" marR="0" lvl="0" indent="-38099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output.saveAsTextFile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</a:t>
            </a:r>
            <a:r>
              <a:rPr kumimoji="0" lang="en-IN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outfile</a:t>
            </a: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</a:t>
            </a:r>
          </a:p>
        </p:txBody>
      </p:sp>
    </p:spTree>
    <p:extLst>
      <p:ext uri="{BB962C8B-B14F-4D97-AF65-F5344CB8AC3E}">
        <p14:creationId xmlns:p14="http://schemas.microsoft.com/office/powerpoint/2010/main" val="936427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3460" y="311965"/>
            <a:ext cx="10515600" cy="471587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Problem: Join Two Tables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74913" y="1060910"/>
            <a:ext cx="864217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Given two tables T1 and T2 with m and n number of columns.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Join the tables based on the common column values.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0064" y="2468894"/>
            <a:ext cx="462909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sv-SE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Amar		kgp		16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sandip 	kolkata 	30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sundar 	delhi 		35 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11425" y="2469140"/>
            <a:ext cx="5437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027256" y="2468894"/>
            <a:ext cx="5042260" cy="1569660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amar 		btech 		1991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sandip 	mtech 	2002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sv-SE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sundar 	msc 		2016</a:t>
            </a: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5539154" y="4119658"/>
            <a:ext cx="584213" cy="864096"/>
          </a:xfrm>
          <a:prstGeom prst="downArrow">
            <a:avLst/>
          </a:prstGeom>
          <a:solidFill>
            <a:srgbClr val="6DCFF6"/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85118" y="5192527"/>
            <a:ext cx="7334059" cy="120032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amar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	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kgp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	16 	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btech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	1991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sandip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kolkata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30 	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mtech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2002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sundar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delhi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	35 	</a:t>
            </a:r>
            <a:r>
              <a:rPr kumimoji="0" lang="en-IN" sz="2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msc</a:t>
            </a: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		2016</a:t>
            </a:r>
          </a:p>
        </p:txBody>
      </p:sp>
    </p:spTree>
    <p:extLst>
      <p:ext uri="{BB962C8B-B14F-4D97-AF65-F5344CB8AC3E}">
        <p14:creationId xmlns:p14="http://schemas.microsoft.com/office/powerpoint/2010/main" val="7891324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2871" y="124287"/>
            <a:ext cx="10515600" cy="616414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Table Join: spark Code</a:t>
            </a:r>
          </a:p>
        </p:txBody>
      </p:sp>
      <p:sp>
        <p:nvSpPr>
          <p:cNvPr id="5" name="Rectangle 4"/>
          <p:cNvSpPr/>
          <p:nvPr/>
        </p:nvSpPr>
        <p:spPr>
          <a:xfrm>
            <a:off x="711976" y="1124744"/>
            <a:ext cx="5384025" cy="373740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import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breeze.linalg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.{Vector,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DenseVector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squaredDistance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tab1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(“T1")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tab1pair = tab1.map(line =&gt;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line.split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("\\s+")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s.length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w = new Array[String](len-1)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for(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&lt;-1 until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	w(i-1) = s(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(s(0),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DenseVector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(w))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6384033" y="1124744"/>
            <a:ext cx="5384025" cy="373740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tab2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(“T2")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tab2pair = tab2.map(line =&gt;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line.split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("\\s+")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s.length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w = new Array[String](len-1)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for(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&lt;-1 until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	w(i-1) = s(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	(s(0),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DenseVector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(w))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367808" y="5157192"/>
            <a:ext cx="3840427" cy="960107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joinedRdd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tab1pair.join(tab2pair)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joinedRdd.saveAsTextfile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("output")</a:t>
            </a:r>
          </a:p>
        </p:txBody>
      </p:sp>
    </p:spTree>
    <p:extLst>
      <p:ext uri="{BB962C8B-B14F-4D97-AF65-F5344CB8AC3E}">
        <p14:creationId xmlns:p14="http://schemas.microsoft.com/office/powerpoint/2010/main" val="629735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9403" y="260648"/>
            <a:ext cx="10515600" cy="576064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Problem: K-nearest neighbour search (KNN)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55" y="1124745"/>
                <a:ext cx="10830850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You are given n vectors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𝒗</m:t>
                        </m:r>
                      </m:e>
                      <m:sub>
                        <m: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𝟏</m:t>
                        </m:r>
                      </m:sub>
                    </m:sSub>
                    <m:r>
                      <a:rPr kumimoji="0" lang="en-IN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𝒗</m:t>
                        </m:r>
                      </m:e>
                      <m:sub>
                        <m: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𝟐</m:t>
                        </m:r>
                      </m:sub>
                    </m:sSub>
                    <m:r>
                      <a:rPr kumimoji="0" lang="en-IN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</m:t>
                    </m:r>
                    <m:sSub>
                      <m:sSubPr>
                        <m:ctrlP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𝒗</m:t>
                        </m:r>
                      </m:e>
                      <m:sub>
                        <m: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𝟑</m:t>
                        </m:r>
                      </m:sub>
                    </m:sSub>
                    <m:r>
                      <a:rPr kumimoji="0" lang="en-IN" sz="1800" b="1" i="1" u="none" strike="noStrike" kern="1200" cap="none" spc="0" normalizeH="0" baseline="0" noProof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mbria Math" panose="02040503050406030204" pitchFamily="18" charset="0"/>
                        <a:ea typeface="+mn-ea"/>
                        <a:cs typeface="+mn-cs"/>
                      </a:rPr>
                      <m:t>, …, </m:t>
                    </m:r>
                    <m:sSub>
                      <m:sSubPr>
                        <m:ctrlP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</m:ctrlPr>
                      </m:sSubPr>
                      <m:e>
                        <m: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𝒗</m:t>
                        </m:r>
                      </m:e>
                      <m:sub>
                        <m:r>
                          <a:rPr kumimoji="0" lang="en-IN" sz="1800" b="1" i="1" u="none" strike="noStrike" kern="1200" cap="none" spc="0" normalizeH="0" baseline="0" noProof="0">
                            <a:ln>
                              <a:noFill/>
                            </a:ln>
                            <a:solidFill>
                              <a:prstClr val="black"/>
                            </a:solidFill>
                            <a:effectLst/>
                            <a:uLnTx/>
                            <a:uFillTx/>
                            <a:latin typeface="Cambria Math" panose="02040503050406030204" pitchFamily="18" charset="0"/>
                            <a:ea typeface="+mn-ea"/>
                            <a:cs typeface="+mn-cs"/>
                          </a:rPr>
                          <m:t>𝒏</m:t>
                        </m:r>
                      </m:sub>
                    </m:sSub>
                  </m:oMath>
                </a14:m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 of d-dimension (d columns).  Given a query vector Q, find the 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top k (say k=10) most similar vector to Q from the given set of vectors. The similarity is computed based </a:t>
                </a:r>
              </a:p>
              <a:p>
                <a:pPr marL="0" marR="0" lvl="0" indent="0" algn="just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IN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+mn-cs"/>
                  </a:rPr>
                  <a:t>on cosine measure. </a:t>
                </a: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55" y="1124745"/>
                <a:ext cx="10830850" cy="923330"/>
              </a:xfrm>
              <a:prstGeom prst="rect">
                <a:avLst/>
              </a:prstGeom>
              <a:blipFill>
                <a:blip r:embed="rId2"/>
                <a:stretch>
                  <a:fillRect l="-507" t="-3974" b="-993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4"/>
          <p:cNvSpPr txBox="1"/>
          <p:nvPr/>
        </p:nvSpPr>
        <p:spPr>
          <a:xfrm>
            <a:off x="719403" y="2852937"/>
            <a:ext cx="5234318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     -0.135380 0.242444 0.114091 0.479621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2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0.026691 -0.406129 0.443043 0.881185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lain" startAt="2"/>
              <a:tabLst/>
              <a:defRPr/>
            </a:pPr>
            <a:r>
              <a:rPr kumimoji="0" lang="en-IN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0.025691 -0.406129 0.443043 0.891185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7508" y="2463284"/>
            <a:ext cx="45717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24123" y="2442568"/>
            <a:ext cx="9877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fields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24193" y="2463284"/>
            <a:ext cx="20842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Query vector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35261" y="3162466"/>
            <a:ext cx="48098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15   -0.512065 3.641124 0.621640 -1.031282</a:t>
            </a:r>
          </a:p>
        </p:txBody>
      </p:sp>
    </p:spTree>
    <p:extLst>
      <p:ext uri="{BB962C8B-B14F-4D97-AF65-F5344CB8AC3E}">
        <p14:creationId xmlns:p14="http://schemas.microsoft.com/office/powerpoint/2010/main" val="20741127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1857" y="260648"/>
            <a:ext cx="10515600" cy="567597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KNN: Spark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7435" y="1412776"/>
            <a:ext cx="9697077" cy="3660386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 the vectors from file and convert it to key and value pairs</a:t>
            </a:r>
          </a:p>
          <a:p>
            <a:pPr marL="914377" marR="0" lvl="1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Key = vector id, value = vector fields</a:t>
            </a:r>
          </a:p>
          <a:p>
            <a:pPr marL="914377" marR="0" lvl="1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Read the query vectors 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Compute the cosine similarity between the query vector and each of the given vectors</a:t>
            </a: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457189" marR="0" lvl="0" indent="-457189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en-IN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Find out the top k most similar vectors</a:t>
            </a:r>
          </a:p>
        </p:txBody>
      </p:sp>
    </p:spTree>
    <p:extLst>
      <p:ext uri="{BB962C8B-B14F-4D97-AF65-F5344CB8AC3E}">
        <p14:creationId xmlns:p14="http://schemas.microsoft.com/office/powerpoint/2010/main" val="20274970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371" y="173104"/>
            <a:ext cx="10515600" cy="471587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KNN: Spark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527380" y="644691"/>
            <a:ext cx="7469137" cy="2784309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doc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knn-vec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procDocs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doc.map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(line =&gt;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temp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line.split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("\\s+")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temp(0)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temp.length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elements = new Array[Double](len-1)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for(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&lt;- 1 to (len-1) ) {elements(i-1) = temp(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toDouble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elements)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).cache</a:t>
            </a:r>
          </a:p>
        </p:txBody>
      </p:sp>
      <p:sp>
        <p:nvSpPr>
          <p:cNvPr id="5" name="Rectangle 4"/>
          <p:cNvSpPr/>
          <p:nvPr/>
        </p:nvSpPr>
        <p:spPr>
          <a:xfrm>
            <a:off x="527381" y="3731684"/>
            <a:ext cx="7469136" cy="2888924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query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knn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-query")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procQuery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query.map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(line =&gt;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temp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line.split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("\\s+")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temp(0).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toInt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len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temp.length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elements = new Array[Double](len-1)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for(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&lt;- 1 to (len-1) ) {elements(i-1) = temp(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).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toDouble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qid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elements)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).cache</a:t>
            </a:r>
          </a:p>
        </p:txBody>
      </p:sp>
    </p:spTree>
    <p:extLst>
      <p:ext uri="{BB962C8B-B14F-4D97-AF65-F5344CB8AC3E}">
        <p14:creationId xmlns:p14="http://schemas.microsoft.com/office/powerpoint/2010/main" val="4275708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9B829279-E1CA-4C92-A413-D73B6F6E9212}"/>
              </a:ext>
            </a:extLst>
          </p:cNvPr>
          <p:cNvSpPr/>
          <p:nvPr/>
        </p:nvSpPr>
        <p:spPr>
          <a:xfrm>
            <a:off x="6902824" y="1658471"/>
            <a:ext cx="2070847" cy="471587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7381" y="173104"/>
            <a:ext cx="10515600" cy="471587"/>
          </a:xfrm>
        </p:spPr>
        <p:txBody>
          <a:bodyPr/>
          <a:lstStyle/>
          <a:p>
            <a:r>
              <a:rPr lang="en-IN" sz="3733" dirty="0"/>
              <a:t>KNN: Spark Code</a:t>
            </a:r>
          </a:p>
        </p:txBody>
      </p:sp>
      <p:sp>
        <p:nvSpPr>
          <p:cNvPr id="4" name="Rectangle 3"/>
          <p:cNvSpPr/>
          <p:nvPr/>
        </p:nvSpPr>
        <p:spPr>
          <a:xfrm>
            <a:off x="143339" y="727969"/>
            <a:ext cx="4473485" cy="4074850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doc =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knn-vec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procDocs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doc.map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(line =&gt;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temp =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line.split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("\\s+")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docid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temp(0)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len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temp.length</a:t>
            </a:r>
            <a:endParaRPr kumimoji="0" lang="en-IN" sz="1067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elements = new Array[Double](len-1)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for(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&lt;- 1 to (len-1) ) {elements(i-1) = temp(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).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toDouble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(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docid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elements)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).cache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query =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knn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-query")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procQuery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query.map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(line =&gt;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temp =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line.split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("\\s+")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qid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temp(0).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toInt</a:t>
            </a:r>
            <a:endParaRPr kumimoji="0" lang="en-IN" sz="1067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len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temp.length</a:t>
            </a:r>
            <a:endParaRPr kumimoji="0" lang="en-IN" sz="1067" b="0" i="0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65000"/>
                </a:prstClr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elements = new Array[Double](len-1)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for(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&lt;- 1 to (len-1) ) {elements(i-1) = temp(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).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toDouble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(</a:t>
            </a:r>
            <a:r>
              <a:rPr kumimoji="0" lang="en-IN" sz="1067" b="0" i="0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qid</a:t>
            </a: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elements)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067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65000"/>
                  </a:prstClr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).cache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091953" y="585210"/>
            <a:ext cx="6431832" cy="6048672"/>
          </a:xfrm>
          <a:prstGeom prst="rect">
            <a:avLst/>
          </a:prstGeom>
          <a:ln/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allq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procQuery.collect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numq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allq.length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for(j &lt;- 0 to (numq-1))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qno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allq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(j)._1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qvec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allq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(j)._2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var score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procDocs.map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(t =&gt;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l1 =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l2 = 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dim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qvec.length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for(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&lt;- 0 to (dim-1))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	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+=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qvec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* t._2(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	l1 +=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qvec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qvec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n-NO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	l2 += t._2(i) * t._2(i)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                 if(l2 == 0.0)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	  l2 = 1000000.0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                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Math.sqrt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(l1) *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Math.sqrt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(l2))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	    	                 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qno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, t._1)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		)</a:t>
            </a:r>
          </a:p>
          <a:p>
            <a:pPr>
              <a:defRPr/>
            </a:pPr>
            <a:r>
              <a:rPr lang="en-IN" sz="1600" dirty="0">
                <a:solidFill>
                  <a:prstClr val="black"/>
                </a:solidFill>
                <a:latin typeface="Arial"/>
              </a:rPr>
              <a:t>                                score.</a:t>
            </a:r>
            <a:r>
              <a:rPr lang="en-IN" sz="1600" dirty="0">
                <a:solidFill>
                  <a:prstClr val="black"/>
                </a:solidFill>
              </a:rPr>
              <a:t> top(10).foreach(</a:t>
            </a:r>
            <a:r>
              <a:rPr lang="en-IN" sz="1600" dirty="0" err="1">
                <a:solidFill>
                  <a:prstClr val="black"/>
                </a:solidFill>
              </a:rPr>
              <a:t>println</a:t>
            </a:r>
            <a:r>
              <a:rPr lang="en-IN" sz="1600" dirty="0">
                <a:solidFill>
                  <a:prstClr val="black"/>
                </a:solidFill>
              </a:rPr>
              <a:t>)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038684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5114" y="833345"/>
            <a:ext cx="10972800" cy="541214"/>
          </a:xfrm>
        </p:spPr>
        <p:txBody>
          <a:bodyPr/>
          <a:lstStyle/>
          <a:p>
            <a:pPr algn="ctr"/>
            <a:r>
              <a:rPr lang="en-IN" sz="4000" b="1" dirty="0">
                <a:solidFill>
                  <a:srgbClr val="00B050"/>
                </a:solidFill>
              </a:rPr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2413987"/>
            <a:ext cx="10972800" cy="2655163"/>
          </a:xfrm>
        </p:spPr>
        <p:txBody>
          <a:bodyPr/>
          <a:lstStyle/>
          <a:p>
            <a:pPr algn="just"/>
            <a:r>
              <a:rPr lang="en-IN" dirty="0"/>
              <a:t>Given a set of n objects (as vectors of dimension d), cluster them into k groups so that </a:t>
            </a:r>
          </a:p>
          <a:p>
            <a:pPr algn="just"/>
            <a:endParaRPr lang="en-IN" dirty="0"/>
          </a:p>
          <a:p>
            <a:pPr lvl="1" algn="just"/>
            <a:r>
              <a:rPr lang="en-IN" dirty="0"/>
              <a:t>the  objects in each group are similar to each other </a:t>
            </a:r>
          </a:p>
          <a:p>
            <a:pPr lvl="1" algn="just"/>
            <a:r>
              <a:rPr lang="en-IN" dirty="0"/>
              <a:t>the objects in different groups are dissimilar to each other</a:t>
            </a:r>
          </a:p>
        </p:txBody>
      </p:sp>
    </p:spTree>
    <p:extLst>
      <p:ext uri="{BB962C8B-B14F-4D97-AF65-F5344CB8AC3E}">
        <p14:creationId xmlns:p14="http://schemas.microsoft.com/office/powerpoint/2010/main" val="79211242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88274" y="214227"/>
            <a:ext cx="8229600" cy="596200"/>
          </a:xfrm>
        </p:spPr>
        <p:txBody>
          <a:bodyPr>
            <a:noAutofit/>
          </a:bodyPr>
          <a:lstStyle/>
          <a:p>
            <a:r>
              <a:rPr lang="en-US" sz="3600" b="1" dirty="0">
                <a:solidFill>
                  <a:srgbClr val="00B050"/>
                </a:solidFill>
              </a:rPr>
              <a:t>K-means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81201" y="838200"/>
            <a:ext cx="8229600" cy="5791200"/>
          </a:xfrm>
        </p:spPr>
        <p:txBody>
          <a:bodyPr/>
          <a:lstStyle/>
          <a:p>
            <a:pPr marL="38100" indent="0">
              <a:buNone/>
            </a:pPr>
            <a:endParaRPr lang="en-US" dirty="0"/>
          </a:p>
          <a:p>
            <a:r>
              <a:rPr lang="en-US" dirty="0"/>
              <a:t>Main steps of k-means:</a:t>
            </a:r>
          </a:p>
          <a:p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2951149" y="2731682"/>
            <a:ext cx="3678252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1</a:t>
            </a: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Start with k initial cluster centers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015955" y="3822694"/>
            <a:ext cx="3657600" cy="762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2: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4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Assign/cluster each member to the closest center</a:t>
            </a:r>
          </a:p>
        </p:txBody>
      </p:sp>
      <p:sp>
        <p:nvSpPr>
          <p:cNvPr id="7" name="Rectangle 6"/>
          <p:cNvSpPr/>
          <p:nvPr/>
        </p:nvSpPr>
        <p:spPr>
          <a:xfrm>
            <a:off x="3028061" y="5063971"/>
            <a:ext cx="3657600" cy="6858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1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00206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STEP 3: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Recalculate centers as the mean of the points in a cluster</a:t>
            </a:r>
          </a:p>
        </p:txBody>
      </p:sp>
      <p:sp>
        <p:nvSpPr>
          <p:cNvPr id="16" name="Curved Up Arrow 15"/>
          <p:cNvSpPr/>
          <p:nvPr/>
        </p:nvSpPr>
        <p:spPr>
          <a:xfrm rot="16200000">
            <a:off x="6577703" y="4006008"/>
            <a:ext cx="1965535" cy="1338263"/>
          </a:xfrm>
          <a:prstGeom prst="curvedUpArrow">
            <a:avLst>
              <a:gd name="adj1" fmla="val 25000"/>
              <a:gd name="adj2" fmla="val 50000"/>
              <a:gd name="adj3" fmla="val 23084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1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go back here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000" b="1" i="0" u="none" strike="noStrike" kern="1200" cap="none" spc="0" normalizeH="0" baseline="0" noProof="0" dirty="0">
              <a:ln>
                <a:noFill/>
              </a:ln>
              <a:solidFill>
                <a:srgbClr val="292934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4724044" y="3520030"/>
            <a:ext cx="132461" cy="274891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8" name="Down Arrow 17"/>
          <p:cNvSpPr/>
          <p:nvPr/>
        </p:nvSpPr>
        <p:spPr>
          <a:xfrm>
            <a:off x="4724401" y="4592525"/>
            <a:ext cx="120355" cy="471447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cxnSp>
        <p:nvCxnSpPr>
          <p:cNvPr id="26" name="Straight Connector 25"/>
          <p:cNvCxnSpPr>
            <a:stCxn id="6" idx="1"/>
          </p:cNvCxnSpPr>
          <p:nvPr/>
        </p:nvCxnSpPr>
        <p:spPr>
          <a:xfrm flipH="1">
            <a:off x="2514600" y="4203694"/>
            <a:ext cx="501355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flipH="1">
            <a:off x="2525996" y="5552506"/>
            <a:ext cx="513461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0" name="Straight Connector 29"/>
          <p:cNvCxnSpPr/>
          <p:nvPr/>
        </p:nvCxnSpPr>
        <p:spPr>
          <a:xfrm>
            <a:off x="2514600" y="4203696"/>
            <a:ext cx="0" cy="13555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1304578" y="4687247"/>
            <a:ext cx="120503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292934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Iterative steps</a:t>
            </a:r>
          </a:p>
        </p:txBody>
      </p:sp>
    </p:spTree>
    <p:extLst>
      <p:ext uri="{BB962C8B-B14F-4D97-AF65-F5344CB8AC3E}">
        <p14:creationId xmlns:p14="http://schemas.microsoft.com/office/powerpoint/2010/main" val="8195140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16" grpId="0" animBg="1"/>
      <p:bldP spid="17" grpId="0" animBg="1"/>
      <p:bldP spid="18" grpId="0" animBg="1"/>
      <p:bldP spid="3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93162" y="174893"/>
            <a:ext cx="10515600" cy="540133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K-means: Spark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9457" y="17968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414" y="1412777"/>
            <a:ext cx="6528725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//reading and parsing data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(“filename”)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lines.map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parseVector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).cache()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376930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939" y="164638"/>
            <a:ext cx="10515600" cy="540133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K-means: Spark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9457" y="17968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15414" y="1412776"/>
            <a:ext cx="6528725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//reading and parsing data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(“filename”)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lines.map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parseVector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).cache()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//set number of cluster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K =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numClust</a:t>
            </a: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4124569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1371" y="178653"/>
            <a:ext cx="10515600" cy="540133"/>
          </a:xfrm>
        </p:spPr>
        <p:txBody>
          <a:bodyPr/>
          <a:lstStyle/>
          <a:p>
            <a:r>
              <a:rPr lang="en-IN" b="1" dirty="0">
                <a:solidFill>
                  <a:srgbClr val="00B050"/>
                </a:solidFill>
              </a:rPr>
              <a:t>K-means: Spark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99457" y="1796820"/>
            <a:ext cx="1847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74270" y="900080"/>
            <a:ext cx="6528725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//reading and parsing data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lines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sc.textFile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(“filename”)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data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lines.map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parseVector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).cache()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//set number of cluster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K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numClust</a:t>
            </a: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//initialize centroids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kCenters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data.takeSample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withReplacement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false, K, 5)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// iterative steps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while(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i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&lt;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maxIter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closest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data.map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(p =&gt; 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getClosestCenter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(p,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kCenters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), (p, 1)))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pointStats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closest.reduceByKey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mergeResults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val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newkCenters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=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pointStats.map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{pair =&gt;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   (pair._1, pair._2._1 * (1.0 / pair._2._2))}.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collectAsMap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for (j &lt;-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newkCenters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{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       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kCenters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(j._1) = j._2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    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}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kCenters.foreach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</a:t>
            </a:r>
            <a:r>
              <a:rPr kumimoji="0" lang="en-IN" sz="14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println</a:t>
            </a:r>
            <a:r>
              <a:rPr kumimoji="0" lang="en-IN" sz="1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3EE0F98-9EC9-4676-8178-11A25A66493F}"/>
              </a:ext>
            </a:extLst>
          </p:cNvPr>
          <p:cNvSpPr txBox="1"/>
          <p:nvPr/>
        </p:nvSpPr>
        <p:spPr>
          <a:xfrm>
            <a:off x="4000758" y="5633444"/>
            <a:ext cx="79590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getClosestCenter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(p, </a:t>
            </a: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centers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) -&gt; id of the closest centroid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6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mergeResults</a:t>
            </a:r>
            <a:r>
              <a:rPr kumimoji="0" lang="en-IN" sz="16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 -&gt; (centroid id, (sum  of points in the cluster, no of points in the cluster))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5F8FFB7-25DB-4F7E-A74E-5CECEEB52176}"/>
              </a:ext>
            </a:extLst>
          </p:cNvPr>
          <p:cNvCxnSpPr/>
          <p:nvPr/>
        </p:nvCxnSpPr>
        <p:spPr>
          <a:xfrm>
            <a:off x="5802923" y="4299438"/>
            <a:ext cx="2754659" cy="5566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39BE218-D780-44BA-8382-AFB2DBDE858A}"/>
              </a:ext>
            </a:extLst>
          </p:cNvPr>
          <p:cNvSpPr txBox="1"/>
          <p:nvPr/>
        </p:nvSpPr>
        <p:spPr>
          <a:xfrm>
            <a:off x="8657948" y="4671419"/>
            <a:ext cx="199285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+mn-cs"/>
              </a:rPr>
              <a:t>RDD to dictionary</a:t>
            </a:r>
          </a:p>
        </p:txBody>
      </p:sp>
    </p:spTree>
    <p:extLst>
      <p:ext uri="{BB962C8B-B14F-4D97-AF65-F5344CB8AC3E}">
        <p14:creationId xmlns:p14="http://schemas.microsoft.com/office/powerpoint/2010/main" val="247198735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Century Schoolbook">
      <a:maj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华文楷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Schoolbook" panose="02040604050505020304"/>
        <a:ea typeface=""/>
        <a:cs typeface=""/>
        <a:font script="Jpan" typeface="ＭＳ Ｐ明朝"/>
        <a:font script="Hang" typeface="휴먼매직체"/>
        <a:font script="Hans" typeface="宋体"/>
        <a:font script="Hant" typeface="新細明體"/>
        <a:font script="Arab" typeface="Times New Roman"/>
        <a:font script="Hebr" typeface="Times New Roman"/>
        <a:font script="Thai" typeface="Kodchiang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leanor template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3336</TotalTime>
  <Words>1099</Words>
  <Application>Microsoft Office PowerPoint</Application>
  <PresentationFormat>Widescreen</PresentationFormat>
  <Paragraphs>324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21</vt:i4>
      </vt:variant>
    </vt:vector>
  </HeadingPairs>
  <TitlesOfParts>
    <vt:vector size="28" baseType="lpstr">
      <vt:lpstr>Arial</vt:lpstr>
      <vt:lpstr>Calibri</vt:lpstr>
      <vt:lpstr>Cambria Math</vt:lpstr>
      <vt:lpstr>Century Schoolbook</vt:lpstr>
      <vt:lpstr>Quicksand</vt:lpstr>
      <vt:lpstr>Office Theme</vt:lpstr>
      <vt:lpstr>Eleanor template</vt:lpstr>
      <vt:lpstr>Big Data Processing</vt:lpstr>
      <vt:lpstr>Important Spark Operations</vt:lpstr>
      <vt:lpstr>map vs flatmap</vt:lpstr>
      <vt:lpstr>reduceByKey vs groupByKey</vt:lpstr>
      <vt:lpstr>reduceBykey: Illustration</vt:lpstr>
      <vt:lpstr>groupByKey: Illustration</vt:lpstr>
      <vt:lpstr>Problem: Word Count</vt:lpstr>
      <vt:lpstr>Word Count: Spark Code</vt:lpstr>
      <vt:lpstr>Problem: Finding average</vt:lpstr>
      <vt:lpstr>Finding average: Spark code</vt:lpstr>
      <vt:lpstr>Problem: Join Two Tables</vt:lpstr>
      <vt:lpstr>Table Join: spark Code</vt:lpstr>
      <vt:lpstr>Problem: K-nearest neighbour search (KNN)</vt:lpstr>
      <vt:lpstr>KNN: Spark code</vt:lpstr>
      <vt:lpstr>KNN: Spark code</vt:lpstr>
      <vt:lpstr>KNN: Spark Code</vt:lpstr>
      <vt:lpstr>Clustering</vt:lpstr>
      <vt:lpstr>K-means</vt:lpstr>
      <vt:lpstr>K-means: Spark Code</vt:lpstr>
      <vt:lpstr>K-means: Spark Code</vt:lpstr>
      <vt:lpstr>K-means: Spark Code</vt:lpstr>
    </vt:vector>
  </TitlesOfParts>
  <Company>HP Inc.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Big Data Processing</dc:title>
  <dc:creator>jiaul paik</dc:creator>
  <cp:lastModifiedBy>User</cp:lastModifiedBy>
  <cp:revision>715</cp:revision>
  <dcterms:created xsi:type="dcterms:W3CDTF">2020-05-13T23:12:08Z</dcterms:created>
  <dcterms:modified xsi:type="dcterms:W3CDTF">2025-03-05T04:43:04Z</dcterms:modified>
</cp:coreProperties>
</file>