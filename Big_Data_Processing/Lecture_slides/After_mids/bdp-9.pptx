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8"/>
  </p:notesMasterIdLst>
  <p:handoutMasterIdLst>
    <p:handoutMasterId r:id="rId59"/>
  </p:handoutMasterIdLst>
  <p:sldIdLst>
    <p:sldId id="256" r:id="rId3"/>
    <p:sldId id="555" r:id="rId4"/>
    <p:sldId id="338" r:id="rId5"/>
    <p:sldId id="382" r:id="rId6"/>
    <p:sldId id="453" r:id="rId7"/>
    <p:sldId id="339" r:id="rId8"/>
    <p:sldId id="384" r:id="rId9"/>
    <p:sldId id="383" r:id="rId10"/>
    <p:sldId id="394" r:id="rId11"/>
    <p:sldId id="395" r:id="rId12"/>
    <p:sldId id="445" r:id="rId13"/>
    <p:sldId id="396" r:id="rId14"/>
    <p:sldId id="558" r:id="rId15"/>
    <p:sldId id="557" r:id="rId16"/>
    <p:sldId id="559" r:id="rId17"/>
    <p:sldId id="401" r:id="rId18"/>
    <p:sldId id="560" r:id="rId19"/>
    <p:sldId id="561" r:id="rId20"/>
    <p:sldId id="407" r:id="rId21"/>
    <p:sldId id="408" r:id="rId22"/>
    <p:sldId id="562" r:id="rId23"/>
    <p:sldId id="410" r:id="rId24"/>
    <p:sldId id="411" r:id="rId25"/>
    <p:sldId id="412" r:id="rId26"/>
    <p:sldId id="413" r:id="rId27"/>
    <p:sldId id="564" r:id="rId28"/>
    <p:sldId id="415" r:id="rId29"/>
    <p:sldId id="416" r:id="rId30"/>
    <p:sldId id="417" r:id="rId31"/>
    <p:sldId id="418" r:id="rId32"/>
    <p:sldId id="419" r:id="rId33"/>
    <p:sldId id="427" r:id="rId34"/>
    <p:sldId id="428" r:id="rId35"/>
    <p:sldId id="429" r:id="rId36"/>
    <p:sldId id="430" r:id="rId37"/>
    <p:sldId id="446" r:id="rId38"/>
    <p:sldId id="447" r:id="rId39"/>
    <p:sldId id="448" r:id="rId40"/>
    <p:sldId id="449" r:id="rId41"/>
    <p:sldId id="450" r:id="rId42"/>
    <p:sldId id="451" r:id="rId43"/>
    <p:sldId id="452" r:id="rId44"/>
    <p:sldId id="454" r:id="rId45"/>
    <p:sldId id="455" r:id="rId46"/>
    <p:sldId id="456" r:id="rId47"/>
    <p:sldId id="457" r:id="rId48"/>
    <p:sldId id="458" r:id="rId49"/>
    <p:sldId id="420" r:id="rId50"/>
    <p:sldId id="421" r:id="rId51"/>
    <p:sldId id="422" r:id="rId52"/>
    <p:sldId id="423" r:id="rId53"/>
    <p:sldId id="424" r:id="rId54"/>
    <p:sldId id="563" r:id="rId55"/>
    <p:sldId id="425" r:id="rId56"/>
    <p:sldId id="42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0" autoAdjust="0"/>
    <p:restoredTop sz="94660"/>
  </p:normalViewPr>
  <p:slideViewPr>
    <p:cSldViewPr snapToGrid="0">
      <p:cViewPr varScale="1">
        <p:scale>
          <a:sx n="81" d="100"/>
          <a:sy n="81" d="100"/>
        </p:scale>
        <p:origin x="898"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22-04-2025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22-04-2025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9"/>
          <p:cNvSpPr>
            <a:spLocks noGrp="1" noChangeArrowheads="1"/>
          </p:cNvSpPr>
          <p:nvPr>
            <p:ph type="sldNum" sz="quarter" idx="5"/>
          </p:nvPr>
        </p:nvSpPr>
        <p:spPr>
          <a:noFill/>
        </p:spPr>
        <p:txBody>
          <a:bodyPr/>
          <a:lstStyle/>
          <a:p>
            <a:pPr marL="0" marR="0" lvl="0" indent="0" algn="r" defTabSz="963613" rtl="0" eaLnBrk="1" fontAlgn="base" latinLnBrk="0" hangingPunct="1">
              <a:lnSpc>
                <a:spcPct val="100000"/>
              </a:lnSpc>
              <a:spcBef>
                <a:spcPct val="0"/>
              </a:spcBef>
              <a:spcAft>
                <a:spcPct val="0"/>
              </a:spcAft>
              <a:buClrTx/>
              <a:buSzTx/>
              <a:buFontTx/>
              <a:buNone/>
              <a:tabLst/>
              <a:defRPr/>
            </a:pPr>
            <a:fld id="{F3593648-B6B4-48DF-B44C-E3693731EC71}" type="slidenum">
              <a:rPr kumimoji="0" lang="en-GB"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63613" rtl="0" eaLnBrk="1" fontAlgn="base" latinLnBrk="0" hangingPunct="1">
                <a:lnSpc>
                  <a:spcPct val="100000"/>
                </a:lnSpc>
                <a:spcBef>
                  <a:spcPct val="0"/>
                </a:spcBef>
                <a:spcAft>
                  <a:spcPct val="0"/>
                </a:spcAft>
                <a:buClrTx/>
                <a:buSzTx/>
                <a:buFontTx/>
                <a:buNone/>
                <a:tabLst/>
                <a:defRPr/>
              </a:pPr>
              <a:t>5</a:t>
            </a:fld>
            <a:endParaRPr kumimoji="0" lang="en-GB"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7523" name="Text Box 1"/>
          <p:cNvSpPr txBox="1">
            <a:spLocks noChangeArrowheads="1"/>
          </p:cNvSpPr>
          <p:nvPr/>
        </p:nvSpPr>
        <p:spPr bwMode="auto">
          <a:xfrm>
            <a:off x="1219200" y="720725"/>
            <a:ext cx="4876800" cy="3598863"/>
          </a:xfrm>
          <a:prstGeom prst="rect">
            <a:avLst/>
          </a:prstGeom>
          <a:solidFill>
            <a:srgbClr val="FFFFFF"/>
          </a:solidFill>
          <a:ln w="9360">
            <a:solidFill>
              <a:srgbClr val="000000"/>
            </a:solidFill>
            <a:miter lim="800000"/>
            <a:headEnd/>
            <a:tailEnd/>
          </a:ln>
        </p:spPr>
        <p:txBody>
          <a:bodyPr wrap="none" lIns="96657" tIns="48328" rIns="96657" bIns="48328"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07524" name="Rectangle 2"/>
          <p:cNvSpPr>
            <a:spLocks noGrp="1" noChangeArrowheads="1"/>
          </p:cNvSpPr>
          <p:nvPr>
            <p:ph type="body"/>
          </p:nvPr>
        </p:nvSpPr>
        <p:spPr>
          <a:xfrm>
            <a:off x="731838" y="4560888"/>
            <a:ext cx="5848350" cy="4319587"/>
          </a:xfrm>
          <a:noFill/>
          <a:ln/>
        </p:spPr>
        <p:txBody>
          <a:bodyPr wrap="none" anchor="ctr"/>
          <a:lstStyle/>
          <a:p>
            <a:endParaRPr lang="en-US"/>
          </a:p>
        </p:txBody>
      </p:sp>
    </p:spTree>
    <p:extLst>
      <p:ext uri="{BB962C8B-B14F-4D97-AF65-F5344CB8AC3E}">
        <p14:creationId xmlns:p14="http://schemas.microsoft.com/office/powerpoint/2010/main" val="4030566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FC15D4-91CA-4DB9-8C01-BAE492E5AD48}" type="slidenum">
              <a:rPr lang="en-IN" smtClean="0"/>
              <a:t>51</a:t>
            </a:fld>
            <a:endParaRPr lang="en-IN"/>
          </a:p>
        </p:txBody>
      </p:sp>
    </p:spTree>
    <p:extLst>
      <p:ext uri="{BB962C8B-B14F-4D97-AF65-F5344CB8AC3E}">
        <p14:creationId xmlns:p14="http://schemas.microsoft.com/office/powerpoint/2010/main" val="222267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22-04-2025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22-04-2025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22-04-2025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22-04-2025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22-04-2025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553967" y="665975"/>
            <a:ext cx="9144000" cy="459900"/>
          </a:xfrm>
          <a:prstGeom prst="rect">
            <a:avLst/>
          </a:prstGeom>
        </p:spPr>
        <p:txBody>
          <a:bodyPr spcFirstLastPara="1" wrap="square" lIns="91425" tIns="91425" rIns="91425" bIns="91425" anchor="b" anchorCtr="0"/>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42" name="Google Shape;42;p7"/>
          <p:cNvSpPr txBox="1">
            <a:spLocks noGrp="1"/>
          </p:cNvSpPr>
          <p:nvPr>
            <p:ph type="body" idx="1"/>
          </p:nvPr>
        </p:nvSpPr>
        <p:spPr>
          <a:xfrm>
            <a:off x="1553967"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3" name="Google Shape;43;p7"/>
          <p:cNvSpPr txBox="1">
            <a:spLocks noGrp="1"/>
          </p:cNvSpPr>
          <p:nvPr>
            <p:ph type="body" idx="2"/>
          </p:nvPr>
        </p:nvSpPr>
        <p:spPr>
          <a:xfrm>
            <a:off x="4922999"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4" name="Google Shape;44;p7"/>
          <p:cNvSpPr txBox="1">
            <a:spLocks noGrp="1"/>
          </p:cNvSpPr>
          <p:nvPr>
            <p:ph type="body" idx="3"/>
          </p:nvPr>
        </p:nvSpPr>
        <p:spPr>
          <a:xfrm>
            <a:off x="8292031"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cxnSp>
        <p:nvCxnSpPr>
          <p:cNvPr id="45" name="Google Shape;45;p7"/>
          <p:cNvCxnSpPr/>
          <p:nvPr/>
        </p:nvCxnSpPr>
        <p:spPr>
          <a:xfrm>
            <a:off x="1205100" y="-7925"/>
            <a:ext cx="0" cy="6866100"/>
          </a:xfrm>
          <a:prstGeom prst="straightConnector1">
            <a:avLst/>
          </a:prstGeom>
          <a:noFill/>
          <a:ln w="9525" cap="flat" cmpd="sng">
            <a:solidFill>
              <a:srgbClr val="999FA9"/>
            </a:solidFill>
            <a:prstDash val="solid"/>
            <a:round/>
            <a:headEnd type="none" w="med" len="med"/>
            <a:tailEnd type="none" w="med" len="med"/>
          </a:ln>
        </p:spPr>
      </p:cxnSp>
      <p:sp>
        <p:nvSpPr>
          <p:cNvPr id="46" name="Google Shape;46;p7"/>
          <p:cNvSpPr/>
          <p:nvPr/>
        </p:nvSpPr>
        <p:spPr>
          <a:xfrm>
            <a:off x="1078300" y="800750"/>
            <a:ext cx="253600" cy="190200"/>
          </a:xfrm>
          <a:prstGeom prst="ellipse">
            <a:avLst/>
          </a:prstGeom>
          <a:solidFill>
            <a:srgbClr val="39C0BA"/>
          </a:solidFill>
          <a:ln w="2857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47;p7"/>
          <p:cNvSpPr/>
          <p:nvPr/>
        </p:nvSpPr>
        <p:spPr>
          <a:xfrm>
            <a:off x="1025400" y="1861900"/>
            <a:ext cx="359200" cy="2694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48;p7"/>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8401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2667" y="220786"/>
            <a:ext cx="10972800" cy="541214"/>
          </a:xfrm>
        </p:spPr>
        <p:txBody>
          <a:bodyPr/>
          <a:lstStyle>
            <a:lvl1pPr>
              <a:defRPr sz="32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677333" y="1295400"/>
            <a:ext cx="10972800" cy="5181600"/>
          </a:xfrm>
        </p:spPr>
        <p:txBody>
          <a:bodyPr/>
          <a:lstStyle>
            <a:lvl1pPr marL="457200" indent="-419100">
              <a:buClr>
                <a:srgbClr val="002060"/>
              </a:buClr>
              <a:buFont typeface="Arial" panose="020B0604020202020204" pitchFamily="34" charset="0"/>
              <a:buChar char="•"/>
              <a:defRPr>
                <a:solidFill>
                  <a:schemeClr val="tx1"/>
                </a:solidFill>
              </a:defRPr>
            </a:lvl1pPr>
            <a:lvl2pPr marL="914400" indent="-381000">
              <a:buClr>
                <a:srgbClr val="002060"/>
              </a:buClr>
              <a:buFont typeface="Arial" panose="020B0604020202020204" pitchFamily="34" charset="0"/>
              <a:buChar char="•"/>
              <a:defRPr b="0">
                <a:solidFill>
                  <a:schemeClr val="tx1"/>
                </a:solidFill>
              </a:defRPr>
            </a:lvl2pPr>
            <a:lvl3pPr marL="1371600" indent="-381000">
              <a:buClr>
                <a:srgbClr val="002060"/>
              </a:buClr>
              <a:buFont typeface="Arial" panose="020B0604020202020204" pitchFamily="34" charset="0"/>
              <a:buChar char="•"/>
              <a:defRPr>
                <a:solidFill>
                  <a:schemeClr val="tx1"/>
                </a:solidFill>
              </a:defRPr>
            </a:lvl3pPr>
            <a:lvl4pPr marL="1828800" indent="-342900">
              <a:buClr>
                <a:srgbClr val="002060"/>
              </a:buClr>
              <a:buFont typeface="Arial" panose="020B0604020202020204" pitchFamily="34" charset="0"/>
              <a:buChar char="•"/>
              <a:defRPr b="0">
                <a:solidFill>
                  <a:schemeClr val="tx1"/>
                </a:solidFill>
              </a:defRPr>
            </a:lvl4pPr>
            <a:lvl5pPr marL="2286000" indent="-342900">
              <a:buClr>
                <a:srgbClr val="002060"/>
              </a:buClr>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12133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22-04-2025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53967" y="665975"/>
            <a:ext cx="9144000" cy="4599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1pPr>
            <a:lvl2pPr lvl="1">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2pPr>
            <a:lvl3pPr lvl="2">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3pPr>
            <a:lvl4pPr lvl="3">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4pPr>
            <a:lvl5pPr lvl="4">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5pPr>
            <a:lvl6pPr lvl="5">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6pPr>
            <a:lvl7pPr lvl="6">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7pPr>
            <a:lvl8pPr lvl="7">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8pPr>
            <a:lvl9pPr lvl="8">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1553998" y="1600200"/>
            <a:ext cx="9144000" cy="49677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3F3F3"/>
              </a:buClr>
              <a:buSzPts val="3000"/>
              <a:buFont typeface="Quicksand"/>
              <a:buChar char="◦"/>
              <a:defRPr sz="3000">
                <a:solidFill>
                  <a:srgbClr val="F3F3F3"/>
                </a:solidFill>
                <a:latin typeface="Quicksand"/>
                <a:ea typeface="Quicksand"/>
                <a:cs typeface="Quicksand"/>
                <a:sym typeface="Quicksand"/>
              </a:defRPr>
            </a:lvl1pPr>
            <a:lvl2pPr marL="914400" lvl="1"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2pPr>
            <a:lvl3pPr marL="1371600" lvl="2"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3pPr>
            <a:lvl4pPr marL="1828800" lvl="3"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4pPr>
            <a:lvl5pPr marL="2286000" lvl="4"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5pPr>
            <a:lvl6pPr marL="2743200" lvl="5"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6pPr>
            <a:lvl7pPr marL="3200400" lvl="6"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7pPr>
            <a:lvl8pPr marL="3657600" lvl="7"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8pPr>
            <a:lvl9pPr marL="4114800" lvl="8"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9pPr>
          </a:lstStyle>
          <a:p>
            <a:endParaRPr/>
          </a:p>
        </p:txBody>
      </p:sp>
      <p:sp>
        <p:nvSpPr>
          <p:cNvPr id="8" name="Google Shape;8;p1"/>
          <p:cNvSpPr txBox="1">
            <a:spLocks noGrp="1"/>
          </p:cNvSpPr>
          <p:nvPr>
            <p:ph type="sldNum" idx="12"/>
          </p:nvPr>
        </p:nvSpPr>
        <p:spPr>
          <a:xfrm>
            <a:off x="11364209" y="6437775"/>
            <a:ext cx="731600" cy="420300"/>
          </a:xfrm>
          <a:prstGeom prst="rect">
            <a:avLst/>
          </a:prstGeom>
          <a:noFill/>
          <a:ln>
            <a:noFill/>
          </a:ln>
        </p:spPr>
        <p:txBody>
          <a:bodyPr spcFirstLastPara="1" wrap="square" lIns="91425" tIns="91425" rIns="91425" bIns="91425" anchor="t" anchorCtr="0">
            <a:noAutofit/>
          </a:bodyPr>
          <a:lstStyle>
            <a:lvl1pPr lvl="0" algn="r">
              <a:buNone/>
              <a:defRPr sz="1200">
                <a:solidFill>
                  <a:srgbClr val="39C0BA"/>
                </a:solidFill>
                <a:latin typeface="Quicksand"/>
                <a:ea typeface="Quicksand"/>
                <a:cs typeface="Quicksand"/>
                <a:sym typeface="Quicksand"/>
              </a:defRPr>
            </a:lvl1pPr>
            <a:lvl2pPr lvl="1" algn="r">
              <a:buNone/>
              <a:defRPr sz="1200">
                <a:solidFill>
                  <a:srgbClr val="39C0BA"/>
                </a:solidFill>
                <a:latin typeface="Quicksand"/>
                <a:ea typeface="Quicksand"/>
                <a:cs typeface="Quicksand"/>
                <a:sym typeface="Quicksand"/>
              </a:defRPr>
            </a:lvl2pPr>
            <a:lvl3pPr lvl="2" algn="r">
              <a:buNone/>
              <a:defRPr sz="1200">
                <a:solidFill>
                  <a:srgbClr val="39C0BA"/>
                </a:solidFill>
                <a:latin typeface="Quicksand"/>
                <a:ea typeface="Quicksand"/>
                <a:cs typeface="Quicksand"/>
                <a:sym typeface="Quicksand"/>
              </a:defRPr>
            </a:lvl3pPr>
            <a:lvl4pPr lvl="3" algn="r">
              <a:buNone/>
              <a:defRPr sz="1200">
                <a:solidFill>
                  <a:srgbClr val="39C0BA"/>
                </a:solidFill>
                <a:latin typeface="Quicksand"/>
                <a:ea typeface="Quicksand"/>
                <a:cs typeface="Quicksand"/>
                <a:sym typeface="Quicksand"/>
              </a:defRPr>
            </a:lvl4pPr>
            <a:lvl5pPr lvl="4" algn="r">
              <a:buNone/>
              <a:defRPr sz="1200">
                <a:solidFill>
                  <a:srgbClr val="39C0BA"/>
                </a:solidFill>
                <a:latin typeface="Quicksand"/>
                <a:ea typeface="Quicksand"/>
                <a:cs typeface="Quicksand"/>
                <a:sym typeface="Quicksand"/>
              </a:defRPr>
            </a:lvl5pPr>
            <a:lvl6pPr lvl="5" algn="r">
              <a:buNone/>
              <a:defRPr sz="1200">
                <a:solidFill>
                  <a:srgbClr val="39C0BA"/>
                </a:solidFill>
                <a:latin typeface="Quicksand"/>
                <a:ea typeface="Quicksand"/>
                <a:cs typeface="Quicksand"/>
                <a:sym typeface="Quicksand"/>
              </a:defRPr>
            </a:lvl6pPr>
            <a:lvl7pPr lvl="6" algn="r">
              <a:buNone/>
              <a:defRPr sz="1200">
                <a:solidFill>
                  <a:srgbClr val="39C0BA"/>
                </a:solidFill>
                <a:latin typeface="Quicksand"/>
                <a:ea typeface="Quicksand"/>
                <a:cs typeface="Quicksand"/>
                <a:sym typeface="Quicksand"/>
              </a:defRPr>
            </a:lvl7pPr>
            <a:lvl8pPr lvl="7" algn="r">
              <a:buNone/>
              <a:defRPr sz="1200">
                <a:solidFill>
                  <a:srgbClr val="39C0BA"/>
                </a:solidFill>
                <a:latin typeface="Quicksand"/>
                <a:ea typeface="Quicksand"/>
                <a:cs typeface="Quicksand"/>
                <a:sym typeface="Quicksand"/>
              </a:defRPr>
            </a:lvl8pPr>
            <a:lvl9pPr lvl="8" algn="r">
              <a:buNone/>
              <a:defRPr sz="1200">
                <a:solidFill>
                  <a:srgbClr val="39C0BA"/>
                </a:solidFill>
                <a:latin typeface="Quicksand"/>
                <a:ea typeface="Quicksand"/>
                <a:cs typeface="Quicksand"/>
                <a:sym typeface="Quicksand"/>
              </a:defRPr>
            </a:lvl9pPr>
          </a:lstStyle>
          <a:p>
            <a:pPr>
              <a:buClr>
                <a:srgbClr val="000000"/>
              </a:buClr>
            </a:pPr>
            <a:fld id="{00000000-1234-1234-1234-123412341234}" type="slidenum">
              <a:rPr lang="en" kern="0" smtClean="0"/>
              <a:pPr>
                <a:buClr>
                  <a:srgbClr val="000000"/>
                </a:buClr>
              </a:pPr>
              <a:t>‹#›</a:t>
            </a:fld>
            <a:endParaRPr lang="en" kern="0"/>
          </a:p>
        </p:txBody>
      </p:sp>
    </p:spTree>
    <p:extLst>
      <p:ext uri="{BB962C8B-B14F-4D97-AF65-F5344CB8AC3E}">
        <p14:creationId xmlns:p14="http://schemas.microsoft.com/office/powerpoint/2010/main" val="3880125852"/>
      </p:ext>
    </p:extLst>
  </p:cSld>
  <p:clrMap bg1="lt1" tx1="dk1" bg2="dk2" tx2="lt2" accent1="accent1" accent2="accent2" accent3="accent3" accent4="accent4" accent5="accent5" accent6="accent6" hlink="hlink" folHlink="folHlink"/>
  <p:sldLayoutIdLst>
    <p:sldLayoutId id="2147483661" r:id="rId1"/>
    <p:sldLayoutId id="2147483663"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9</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131036-3116-4EB0-9478-1401E3538A0D}"/>
              </a:ext>
            </a:extLst>
          </p:cNvPr>
          <p:cNvSpPr>
            <a:spLocks noGrp="1"/>
          </p:cNvSpPr>
          <p:nvPr>
            <p:ph idx="1"/>
          </p:nvPr>
        </p:nvSpPr>
        <p:spPr>
          <a:xfrm>
            <a:off x="685799" y="1076393"/>
            <a:ext cx="10515600" cy="4705214"/>
          </a:xfrm>
        </p:spPr>
        <p:txBody>
          <a:bodyPr>
            <a:normAutofit/>
          </a:bodyPr>
          <a:lstStyle/>
          <a:p>
            <a:r>
              <a:rPr lang="en-IN" dirty="0"/>
              <a:t>Map-reduce Algorithm Design </a:t>
            </a:r>
          </a:p>
          <a:p>
            <a:pPr marL="457200" lvl="1" indent="0">
              <a:buNone/>
            </a:pPr>
            <a:endParaRPr lang="en-IN" sz="2800" dirty="0"/>
          </a:p>
          <a:p>
            <a:pPr marL="971550" lvl="1" indent="-514350">
              <a:buFont typeface="+mj-lt"/>
              <a:buAutoNum type="alphaLcParenR"/>
            </a:pPr>
            <a:r>
              <a:rPr lang="en-IN" sz="2800" dirty="0"/>
              <a:t>Combiner </a:t>
            </a:r>
          </a:p>
          <a:p>
            <a:pPr marL="971550" lvl="1" indent="-514350">
              <a:buFont typeface="+mj-lt"/>
              <a:buAutoNum type="alphaLcParenR"/>
            </a:pPr>
            <a:endParaRPr lang="en-IN" sz="2800" dirty="0"/>
          </a:p>
          <a:p>
            <a:r>
              <a:rPr lang="en-IN" dirty="0"/>
              <a:t>Fast Big Data Processing with Spark</a:t>
            </a:r>
          </a:p>
        </p:txBody>
      </p:sp>
    </p:spTree>
    <p:extLst>
      <p:ext uri="{BB962C8B-B14F-4D97-AF65-F5344CB8AC3E}">
        <p14:creationId xmlns:p14="http://schemas.microsoft.com/office/powerpoint/2010/main" val="239690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355" y="3095873"/>
            <a:ext cx="10972800" cy="541215"/>
          </a:xfrm>
        </p:spPr>
        <p:txBody>
          <a:bodyPr>
            <a:normAutofit fontScale="90000"/>
          </a:bodyPr>
          <a:lstStyle/>
          <a:p>
            <a:pPr algn="ctr"/>
            <a:r>
              <a:rPr lang="en-IN" sz="4000" b="1" dirty="0"/>
              <a:t>Use of Combiner</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entury Schoolbook" panose="020406040505050203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entury Schoolbook" panose="02040604050505020304"/>
              <a:ea typeface="+mn-ea"/>
              <a:cs typeface="+mn-cs"/>
            </a:endParaRPr>
          </a:p>
        </p:txBody>
      </p:sp>
    </p:spTree>
    <p:extLst>
      <p:ext uri="{BB962C8B-B14F-4D97-AF65-F5344CB8AC3E}">
        <p14:creationId xmlns:p14="http://schemas.microsoft.com/office/powerpoint/2010/main" val="2741059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 of combiner</a:t>
            </a:r>
          </a:p>
        </p:txBody>
      </p:sp>
      <p:sp>
        <p:nvSpPr>
          <p:cNvPr id="3" name="Content Placeholder 2"/>
          <p:cNvSpPr>
            <a:spLocks noGrp="1"/>
          </p:cNvSpPr>
          <p:nvPr>
            <p:ph idx="1"/>
          </p:nvPr>
        </p:nvSpPr>
        <p:spPr/>
        <p:txBody>
          <a:bodyPr/>
          <a:lstStyle/>
          <a:p>
            <a:r>
              <a:rPr lang="en-IN" dirty="0"/>
              <a:t>Combiners are mini-reducers</a:t>
            </a:r>
          </a:p>
          <a:p>
            <a:pPr marL="0" indent="0">
              <a:buNone/>
            </a:pPr>
            <a:endParaRPr lang="en-IN" dirty="0"/>
          </a:p>
          <a:p>
            <a:r>
              <a:rPr lang="en-IN" dirty="0"/>
              <a:t>Reduces data from mappers before they are shuffled through the network</a:t>
            </a:r>
          </a:p>
          <a:p>
            <a:endParaRPr lang="en-IN" dirty="0"/>
          </a:p>
          <a:p>
            <a:endParaRPr lang="en-IN" dirty="0"/>
          </a:p>
        </p:txBody>
      </p:sp>
    </p:spTree>
    <p:extLst>
      <p:ext uri="{BB962C8B-B14F-4D97-AF65-F5344CB8AC3E}">
        <p14:creationId xmlns:p14="http://schemas.microsoft.com/office/powerpoint/2010/main" val="379917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7" name="Picture 16"/>
          <p:cNvPicPr>
            <a:picLocks noChangeAspect="1"/>
          </p:cNvPicPr>
          <p:nvPr/>
        </p:nvPicPr>
        <p:blipFill>
          <a:blip r:embed="rId3"/>
          <a:stretch>
            <a:fillRect/>
          </a:stretch>
        </p:blipFill>
        <p:spPr>
          <a:xfrm>
            <a:off x="3333189" y="1057267"/>
            <a:ext cx="4475993" cy="5094908"/>
          </a:xfrm>
          <a:prstGeom prst="rect">
            <a:avLst/>
          </a:prstGeom>
        </p:spPr>
      </p:pic>
      <p:cxnSp>
        <p:nvCxnSpPr>
          <p:cNvPr id="19" name="Straight Arrow Connector 18"/>
          <p:cNvCxnSpPr>
            <a:endCxn id="20" idx="1"/>
          </p:cNvCxnSpPr>
          <p:nvPr/>
        </p:nvCxnSpPr>
        <p:spPr bwMode="auto">
          <a:xfrm flipV="1">
            <a:off x="7710855" y="2167301"/>
            <a:ext cx="1354014" cy="5715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9064869" y="2013412"/>
            <a:ext cx="120738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Schoolbook" panose="02040604050505020304"/>
                <a:ea typeface="+mn-ea"/>
                <a:cs typeface="+mn-cs"/>
              </a:rPr>
              <a:t>Splitting job</a:t>
            </a:r>
          </a:p>
        </p:txBody>
      </p:sp>
      <p:cxnSp>
        <p:nvCxnSpPr>
          <p:cNvPr id="322" name="Straight Arrow Connector 321"/>
          <p:cNvCxnSpPr>
            <a:endCxn id="323" idx="1"/>
          </p:cNvCxnSpPr>
          <p:nvPr/>
        </p:nvCxnSpPr>
        <p:spPr bwMode="auto">
          <a:xfrm flipV="1">
            <a:off x="7710855" y="3123447"/>
            <a:ext cx="1354014" cy="5715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23" name="TextBox 322"/>
          <p:cNvSpPr txBox="1"/>
          <p:nvPr/>
        </p:nvSpPr>
        <p:spPr>
          <a:xfrm>
            <a:off x="9064869" y="2969558"/>
            <a:ext cx="218200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Schoolbook" panose="02040604050505020304"/>
                <a:ea typeface="+mn-ea"/>
                <a:cs typeface="+mn-cs"/>
              </a:rPr>
              <a:t>Intermediate combining</a:t>
            </a:r>
          </a:p>
        </p:txBody>
      </p:sp>
      <p:cxnSp>
        <p:nvCxnSpPr>
          <p:cNvPr id="324" name="Straight Arrow Connector 323"/>
          <p:cNvCxnSpPr>
            <a:endCxn id="325" idx="1"/>
          </p:cNvCxnSpPr>
          <p:nvPr/>
        </p:nvCxnSpPr>
        <p:spPr bwMode="auto">
          <a:xfrm flipV="1">
            <a:off x="7315200" y="5388215"/>
            <a:ext cx="1831731" cy="30778"/>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25" name="TextBox 324"/>
          <p:cNvSpPr txBox="1"/>
          <p:nvPr/>
        </p:nvSpPr>
        <p:spPr>
          <a:xfrm>
            <a:off x="9146931" y="5234326"/>
            <a:ext cx="153118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Schoolbook" panose="02040604050505020304"/>
                <a:ea typeface="+mn-ea"/>
                <a:cs typeface="+mn-cs"/>
              </a:rPr>
              <a:t>Final combining</a:t>
            </a:r>
          </a:p>
        </p:txBody>
      </p:sp>
    </p:spTree>
    <p:extLst>
      <p:ext uri="{BB962C8B-B14F-4D97-AF65-F5344CB8AC3E}">
        <p14:creationId xmlns:p14="http://schemas.microsoft.com/office/powerpoint/2010/main" val="3915055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 y="281437"/>
            <a:ext cx="10972800" cy="541215"/>
          </a:xfrm>
        </p:spPr>
        <p:txBody>
          <a:bodyPr>
            <a:normAutofit fontScale="90000"/>
          </a:bodyPr>
          <a:lstStyle/>
          <a:p>
            <a:r>
              <a:rPr lang="en-US" sz="3600" dirty="0"/>
              <a:t>Problem: Computing Mean</a:t>
            </a:r>
          </a:p>
        </p:txBody>
      </p:sp>
      <p:sp>
        <p:nvSpPr>
          <p:cNvPr id="21507" name="Rectangle 3"/>
          <p:cNvSpPr>
            <a:spLocks noGrp="1" noChangeArrowheads="1"/>
          </p:cNvSpPr>
          <p:nvPr>
            <p:ph type="body" idx="1"/>
          </p:nvPr>
        </p:nvSpPr>
        <p:spPr>
          <a:xfrm>
            <a:off x="609601" y="1108789"/>
            <a:ext cx="10755087" cy="5181600"/>
          </a:xfrm>
        </p:spPr>
        <p:txBody>
          <a:bodyPr/>
          <a:lstStyle/>
          <a:p>
            <a:pPr algn="just"/>
            <a:r>
              <a:rPr lang="en-US" sz="2400" b="0" dirty="0">
                <a:solidFill>
                  <a:schemeClr val="tx1"/>
                </a:solidFill>
              </a:rPr>
              <a:t>A shop has a database which contains the customer names and the time spent by the customer in the shop in each visit. Find the average time spent by each customer in the shop.</a:t>
            </a:r>
            <a:r>
              <a:rPr lang="en-US" b="0" dirty="0">
                <a:solidFill>
                  <a:schemeClr val="tx1"/>
                </a:solidFill>
              </a:rPr>
              <a:t> </a:t>
            </a:r>
          </a:p>
          <a:p>
            <a:pPr algn="just"/>
            <a:endParaRPr lang="en-US" dirty="0">
              <a:solidFill>
                <a:schemeClr val="tx1"/>
              </a:solidFill>
            </a:endParaRPr>
          </a:p>
        </p:txBody>
      </p:sp>
      <p:graphicFrame>
        <p:nvGraphicFramePr>
          <p:cNvPr id="2" name="Table 1"/>
          <p:cNvGraphicFramePr>
            <a:graphicFrameLocks noGrp="1"/>
          </p:cNvGraphicFramePr>
          <p:nvPr/>
        </p:nvGraphicFramePr>
        <p:xfrm>
          <a:off x="4463819" y="2276872"/>
          <a:ext cx="4608512" cy="3825240"/>
        </p:xfrm>
        <a:graphic>
          <a:graphicData uri="http://schemas.openxmlformats.org/drawingml/2006/table">
            <a:tbl>
              <a:tblPr firstRow="1" bandRow="1">
                <a:tableStyleId>{5C22544A-7EE6-4342-B048-85BDC9FD1C3A}</a:tableStyleId>
              </a:tblPr>
              <a:tblGrid>
                <a:gridCol w="1017464">
                  <a:extLst>
                    <a:ext uri="{9D8B030D-6E8A-4147-A177-3AD203B41FA5}">
                      <a16:colId xmlns:a16="http://schemas.microsoft.com/office/drawing/2014/main" val="4099932494"/>
                    </a:ext>
                  </a:extLst>
                </a:gridCol>
                <a:gridCol w="3591048">
                  <a:extLst>
                    <a:ext uri="{9D8B030D-6E8A-4147-A177-3AD203B41FA5}">
                      <a16:colId xmlns:a16="http://schemas.microsoft.com/office/drawing/2014/main" val="3385583896"/>
                    </a:ext>
                  </a:extLst>
                </a:gridCol>
              </a:tblGrid>
              <a:tr h="396240">
                <a:tc>
                  <a:txBody>
                    <a:bodyPr/>
                    <a:lstStyle/>
                    <a:p>
                      <a:r>
                        <a:rPr lang="en-IN" sz="2000" dirty="0"/>
                        <a:t>Name</a:t>
                      </a:r>
                    </a:p>
                  </a:txBody>
                  <a:tcPr/>
                </a:tc>
                <a:tc>
                  <a:txBody>
                    <a:bodyPr/>
                    <a:lstStyle/>
                    <a:p>
                      <a:r>
                        <a:rPr lang="en-IN" sz="2000" dirty="0"/>
                        <a:t>Time spent on</a:t>
                      </a:r>
                      <a:r>
                        <a:rPr lang="en-IN" sz="2000" baseline="0" dirty="0"/>
                        <a:t> each visit</a:t>
                      </a:r>
                      <a:endParaRPr lang="en-IN" sz="2000" dirty="0"/>
                    </a:p>
                  </a:txBody>
                  <a:tcPr/>
                </a:tc>
                <a:extLst>
                  <a:ext uri="{0D108BD9-81ED-4DB2-BD59-A6C34878D82A}">
                    <a16:rowId xmlns:a16="http://schemas.microsoft.com/office/drawing/2014/main" val="2725282277"/>
                  </a:ext>
                </a:extLst>
              </a:tr>
              <a:tr h="375920">
                <a:tc>
                  <a:txBody>
                    <a:bodyPr/>
                    <a:lstStyle/>
                    <a:p>
                      <a:r>
                        <a:rPr lang="en-IN" sz="1900" dirty="0" err="1"/>
                        <a:t>amar</a:t>
                      </a:r>
                      <a:endParaRPr lang="en-IN" sz="1900" dirty="0"/>
                    </a:p>
                  </a:txBody>
                  <a:tcPr/>
                </a:tc>
                <a:tc>
                  <a:txBody>
                    <a:bodyPr/>
                    <a:lstStyle/>
                    <a:p>
                      <a:r>
                        <a:rPr lang="en-IN" sz="1900" dirty="0"/>
                        <a:t>10</a:t>
                      </a:r>
                    </a:p>
                  </a:txBody>
                  <a:tcPr/>
                </a:tc>
                <a:extLst>
                  <a:ext uri="{0D108BD9-81ED-4DB2-BD59-A6C34878D82A}">
                    <a16:rowId xmlns:a16="http://schemas.microsoft.com/office/drawing/2014/main" val="3586827149"/>
                  </a:ext>
                </a:extLst>
              </a:tr>
              <a:tr h="375920">
                <a:tc>
                  <a:txBody>
                    <a:bodyPr/>
                    <a:lstStyle/>
                    <a:p>
                      <a:r>
                        <a:rPr lang="en-IN" sz="1900" dirty="0" err="1"/>
                        <a:t>amar</a:t>
                      </a:r>
                      <a:endParaRPr lang="en-IN" sz="1900" dirty="0"/>
                    </a:p>
                  </a:txBody>
                  <a:tcPr/>
                </a:tc>
                <a:tc>
                  <a:txBody>
                    <a:bodyPr/>
                    <a:lstStyle/>
                    <a:p>
                      <a:r>
                        <a:rPr lang="en-IN" sz="1900" dirty="0"/>
                        <a:t>20</a:t>
                      </a:r>
                    </a:p>
                  </a:txBody>
                  <a:tcPr/>
                </a:tc>
                <a:extLst>
                  <a:ext uri="{0D108BD9-81ED-4DB2-BD59-A6C34878D82A}">
                    <a16:rowId xmlns:a16="http://schemas.microsoft.com/office/drawing/2014/main" val="3953954484"/>
                  </a:ext>
                </a:extLst>
              </a:tr>
              <a:tr h="375920">
                <a:tc>
                  <a:txBody>
                    <a:bodyPr/>
                    <a:lstStyle/>
                    <a:p>
                      <a:r>
                        <a:rPr lang="en-IN" sz="1900" dirty="0" err="1"/>
                        <a:t>rakesh</a:t>
                      </a:r>
                      <a:endParaRPr lang="en-IN" sz="1900" dirty="0"/>
                    </a:p>
                  </a:txBody>
                  <a:tcPr/>
                </a:tc>
                <a:tc>
                  <a:txBody>
                    <a:bodyPr/>
                    <a:lstStyle/>
                    <a:p>
                      <a:r>
                        <a:rPr lang="en-IN" sz="1900" dirty="0"/>
                        <a:t>15</a:t>
                      </a:r>
                    </a:p>
                  </a:txBody>
                  <a:tcPr/>
                </a:tc>
                <a:extLst>
                  <a:ext uri="{0D108BD9-81ED-4DB2-BD59-A6C34878D82A}">
                    <a16:rowId xmlns:a16="http://schemas.microsoft.com/office/drawing/2014/main" val="4042414625"/>
                  </a:ext>
                </a:extLst>
              </a:tr>
              <a:tr h="375920">
                <a:tc>
                  <a:txBody>
                    <a:bodyPr/>
                    <a:lstStyle/>
                    <a:p>
                      <a:r>
                        <a:rPr lang="en-IN" sz="1900" dirty="0" err="1"/>
                        <a:t>rakesh</a:t>
                      </a:r>
                      <a:endParaRPr lang="en-IN" sz="1900" dirty="0"/>
                    </a:p>
                  </a:txBody>
                  <a:tcPr/>
                </a:tc>
                <a:tc>
                  <a:txBody>
                    <a:bodyPr/>
                    <a:lstStyle/>
                    <a:p>
                      <a:r>
                        <a:rPr lang="en-IN" sz="1900" dirty="0"/>
                        <a:t>25</a:t>
                      </a:r>
                    </a:p>
                  </a:txBody>
                  <a:tcPr/>
                </a:tc>
                <a:extLst>
                  <a:ext uri="{0D108BD9-81ED-4DB2-BD59-A6C34878D82A}">
                    <a16:rowId xmlns:a16="http://schemas.microsoft.com/office/drawing/2014/main" val="601940792"/>
                  </a:ext>
                </a:extLst>
              </a:tr>
              <a:tr h="375920">
                <a:tc>
                  <a:txBody>
                    <a:bodyPr/>
                    <a:lstStyle/>
                    <a:p>
                      <a:r>
                        <a:rPr lang="en-IN" sz="1900" dirty="0" err="1"/>
                        <a:t>sanjib</a:t>
                      </a:r>
                      <a:endParaRPr lang="en-IN" sz="1900" dirty="0"/>
                    </a:p>
                  </a:txBody>
                  <a:tcPr/>
                </a:tc>
                <a:tc>
                  <a:txBody>
                    <a:bodyPr/>
                    <a:lstStyle/>
                    <a:p>
                      <a:r>
                        <a:rPr lang="en-IN" sz="1900" dirty="0"/>
                        <a:t>7</a:t>
                      </a:r>
                    </a:p>
                  </a:txBody>
                  <a:tcPr/>
                </a:tc>
                <a:extLst>
                  <a:ext uri="{0D108BD9-81ED-4DB2-BD59-A6C34878D82A}">
                    <a16:rowId xmlns:a16="http://schemas.microsoft.com/office/drawing/2014/main" val="3857445044"/>
                  </a:ext>
                </a:extLst>
              </a:tr>
              <a:tr h="375920">
                <a:tc>
                  <a:txBody>
                    <a:bodyPr/>
                    <a:lstStyle/>
                    <a:p>
                      <a:r>
                        <a:rPr lang="en-IN" sz="1900" dirty="0" err="1"/>
                        <a:t>rakesh</a:t>
                      </a:r>
                      <a:endParaRPr lang="en-IN" sz="1900" dirty="0"/>
                    </a:p>
                  </a:txBody>
                  <a:tcPr/>
                </a:tc>
                <a:tc>
                  <a:txBody>
                    <a:bodyPr/>
                    <a:lstStyle/>
                    <a:p>
                      <a:r>
                        <a:rPr lang="en-IN" sz="1900" dirty="0"/>
                        <a:t>25</a:t>
                      </a:r>
                    </a:p>
                  </a:txBody>
                  <a:tcPr/>
                </a:tc>
                <a:extLst>
                  <a:ext uri="{0D108BD9-81ED-4DB2-BD59-A6C34878D82A}">
                    <a16:rowId xmlns:a16="http://schemas.microsoft.com/office/drawing/2014/main" val="2077494007"/>
                  </a:ext>
                </a:extLst>
              </a:tr>
              <a:tr h="375920">
                <a:tc>
                  <a:txBody>
                    <a:bodyPr/>
                    <a:lstStyle/>
                    <a:p>
                      <a:r>
                        <a:rPr lang="en-IN" sz="1900" dirty="0" err="1"/>
                        <a:t>amar</a:t>
                      </a:r>
                      <a:endParaRPr lang="en-IN" sz="1900" dirty="0"/>
                    </a:p>
                  </a:txBody>
                  <a:tcPr/>
                </a:tc>
                <a:tc>
                  <a:txBody>
                    <a:bodyPr/>
                    <a:lstStyle/>
                    <a:p>
                      <a:r>
                        <a:rPr lang="en-IN" sz="1900" dirty="0"/>
                        <a:t>30</a:t>
                      </a:r>
                    </a:p>
                  </a:txBody>
                  <a:tcPr/>
                </a:tc>
                <a:extLst>
                  <a:ext uri="{0D108BD9-81ED-4DB2-BD59-A6C34878D82A}">
                    <a16:rowId xmlns:a16="http://schemas.microsoft.com/office/drawing/2014/main" val="4138157175"/>
                  </a:ext>
                </a:extLst>
              </a:tr>
              <a:tr h="375920">
                <a:tc>
                  <a:txBody>
                    <a:bodyPr/>
                    <a:lstStyle/>
                    <a:p>
                      <a:r>
                        <a:rPr lang="en-IN" sz="1900" dirty="0" err="1"/>
                        <a:t>sony</a:t>
                      </a:r>
                      <a:endParaRPr lang="en-IN" sz="1900" dirty="0"/>
                    </a:p>
                  </a:txBody>
                  <a:tcPr/>
                </a:tc>
                <a:tc>
                  <a:txBody>
                    <a:bodyPr/>
                    <a:lstStyle/>
                    <a:p>
                      <a:r>
                        <a:rPr lang="en-IN" sz="1900" dirty="0"/>
                        <a:t>20</a:t>
                      </a:r>
                    </a:p>
                  </a:txBody>
                  <a:tcPr/>
                </a:tc>
                <a:extLst>
                  <a:ext uri="{0D108BD9-81ED-4DB2-BD59-A6C34878D82A}">
                    <a16:rowId xmlns:a16="http://schemas.microsoft.com/office/drawing/2014/main" val="3511200700"/>
                  </a:ext>
                </a:extLst>
              </a:tr>
              <a:tr h="375920">
                <a:tc>
                  <a:txBody>
                    <a:bodyPr/>
                    <a:lstStyle/>
                    <a:p>
                      <a:r>
                        <a:rPr lang="en-IN" sz="1900" dirty="0" err="1"/>
                        <a:t>jiban</a:t>
                      </a:r>
                      <a:endParaRPr lang="en-IN" sz="1900" dirty="0"/>
                    </a:p>
                  </a:txBody>
                  <a:tcPr/>
                </a:tc>
                <a:tc>
                  <a:txBody>
                    <a:bodyPr/>
                    <a:lstStyle/>
                    <a:p>
                      <a:r>
                        <a:rPr lang="en-IN" sz="1900" dirty="0"/>
                        <a:t>15</a:t>
                      </a:r>
                    </a:p>
                  </a:txBody>
                  <a:tcPr/>
                </a:tc>
                <a:extLst>
                  <a:ext uri="{0D108BD9-81ED-4DB2-BD59-A6C34878D82A}">
                    <a16:rowId xmlns:a16="http://schemas.microsoft.com/office/drawing/2014/main" val="3175280062"/>
                  </a:ext>
                </a:extLst>
              </a:tr>
            </a:tbl>
          </a:graphicData>
        </a:graphic>
      </p:graphicFrame>
    </p:spTree>
    <p:extLst>
      <p:ext uri="{BB962C8B-B14F-4D97-AF65-F5344CB8AC3E}">
        <p14:creationId xmlns:p14="http://schemas.microsoft.com/office/powerpoint/2010/main" val="2561225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64637"/>
            <a:ext cx="10515600" cy="576064"/>
          </a:xfrm>
        </p:spPr>
        <p:txBody>
          <a:bodyPr>
            <a:normAutofit fontScale="90000"/>
          </a:bodyPr>
          <a:lstStyle/>
          <a:p>
            <a:r>
              <a:rPr lang="en-IN" sz="3733" dirty="0"/>
              <a:t>Combiner: Warning!</a:t>
            </a:r>
          </a:p>
        </p:txBody>
      </p:sp>
      <p:sp>
        <p:nvSpPr>
          <p:cNvPr id="4" name="TextBox 3"/>
          <p:cNvSpPr txBox="1"/>
          <p:nvPr/>
        </p:nvSpPr>
        <p:spPr>
          <a:xfrm>
            <a:off x="335361" y="1222757"/>
            <a:ext cx="4222631" cy="1015663"/>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Mapper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integer 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integer r)</a:t>
            </a:r>
          </a:p>
        </p:txBody>
      </p:sp>
      <p:sp>
        <p:nvSpPr>
          <p:cNvPr id="5" name="TextBox 4"/>
          <p:cNvSpPr txBox="1"/>
          <p:nvPr/>
        </p:nvSpPr>
        <p:spPr>
          <a:xfrm>
            <a:off x="255461" y="3548963"/>
            <a:ext cx="6530955" cy="2862322"/>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Reducer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Reduce</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pairs [(s1; c1); (s2; c2) :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for all pair (s; c) in pairs [(s1; c1); (s2; c2) : : :]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sum +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count +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0" i="0" u="none" strike="noStrike" kern="1200" cap="none" spc="0" normalizeH="0" baseline="0" noProof="0" dirty="0" err="1">
                <a:ln>
                  <a:noFill/>
                </a:ln>
                <a:solidFill>
                  <a:prstClr val="black"/>
                </a:solidFill>
                <a:effectLst/>
                <a:uLnTx/>
                <a:uFillTx/>
                <a:latin typeface="Century Schoolbook" panose="02040604050505020304"/>
                <a:ea typeface="+mn-ea"/>
                <a:cs typeface="+mn-cs"/>
              </a:rPr>
              <a:t>avg</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 sum/count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integer </a:t>
            </a:r>
            <a:r>
              <a:rPr kumimoji="0" lang="en-IN" sz="2000" b="0" i="0" u="none" strike="noStrike" kern="1200" cap="none" spc="0" normalizeH="0" baseline="0" noProof="0" dirty="0" err="1">
                <a:ln>
                  <a:noFill/>
                </a:ln>
                <a:solidFill>
                  <a:prstClr val="black"/>
                </a:solidFill>
                <a:effectLst/>
                <a:uLnTx/>
                <a:uFillTx/>
                <a:latin typeface="Century Schoolbook" panose="02040604050505020304"/>
                <a:ea typeface="+mn-ea"/>
                <a:cs typeface="+mn-cs"/>
              </a:rPr>
              <a:t>avg</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a:t>
            </a:r>
          </a:p>
        </p:txBody>
      </p:sp>
      <p:sp>
        <p:nvSpPr>
          <p:cNvPr id="6" name="TextBox 5"/>
          <p:cNvSpPr txBox="1"/>
          <p:nvPr/>
        </p:nvSpPr>
        <p:spPr>
          <a:xfrm>
            <a:off x="5999989" y="616839"/>
            <a:ext cx="6011582" cy="2554545"/>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Combiner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Combine</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integers [r1; r2; :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for all integer r in integers [r1; r2; : : :] 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sum + 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count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pair (sum, count))</a:t>
            </a:r>
            <a:endPar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sp>
        <p:nvSpPr>
          <p:cNvPr id="3" name="Rounded Rectangle 2"/>
          <p:cNvSpPr/>
          <p:nvPr/>
        </p:nvSpPr>
        <p:spPr>
          <a:xfrm>
            <a:off x="7055740" y="5569086"/>
            <a:ext cx="4564126" cy="672075"/>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C00000"/>
                </a:solidFill>
                <a:effectLst/>
                <a:uLnTx/>
                <a:uFillTx/>
                <a:latin typeface="Century Schoolbook" panose="02040604050505020304"/>
                <a:ea typeface="+mn-ea"/>
                <a:cs typeface="+mn-cs"/>
              </a:rPr>
              <a:t>Combiner output must match with mapper output </a:t>
            </a:r>
          </a:p>
        </p:txBody>
      </p:sp>
      <p:sp>
        <p:nvSpPr>
          <p:cNvPr id="7" name="TextBox 6">
            <a:extLst>
              <a:ext uri="{FF2B5EF4-FFF2-40B4-BE49-F238E27FC236}">
                <a16:creationId xmlns:a16="http://schemas.microsoft.com/office/drawing/2014/main" id="{B3F0A7D1-3234-B879-9CE7-D4A1B18845EE}"/>
              </a:ext>
            </a:extLst>
          </p:cNvPr>
          <p:cNvSpPr txBox="1"/>
          <p:nvPr/>
        </p:nvSpPr>
        <p:spPr>
          <a:xfrm>
            <a:off x="255460" y="2452255"/>
            <a:ext cx="5424903" cy="646331"/>
          </a:xfrm>
          <a:prstGeom prst="rect">
            <a:avLst/>
          </a:prstGeom>
          <a:noFill/>
        </p:spPr>
        <p:txBody>
          <a:bodyPr wrap="square" rtlCol="0">
            <a:spAutoFit/>
          </a:bodyPr>
          <a:lstStyle/>
          <a:p>
            <a:r>
              <a:rPr lang="en-US" dirty="0"/>
              <a:t>We need to pass (t,(r,1)) coz we also need to know how many times he is visiting as well.</a:t>
            </a:r>
          </a:p>
        </p:txBody>
      </p:sp>
      <p:sp>
        <p:nvSpPr>
          <p:cNvPr id="8" name="TextBox 7">
            <a:extLst>
              <a:ext uri="{FF2B5EF4-FFF2-40B4-BE49-F238E27FC236}">
                <a16:creationId xmlns:a16="http://schemas.microsoft.com/office/drawing/2014/main" id="{48C66A6A-87F7-E8A7-3CF6-AD00A4A1D544}"/>
              </a:ext>
            </a:extLst>
          </p:cNvPr>
          <p:cNvSpPr txBox="1"/>
          <p:nvPr/>
        </p:nvSpPr>
        <p:spPr>
          <a:xfrm>
            <a:off x="6844465" y="3354572"/>
            <a:ext cx="5347535" cy="2031325"/>
          </a:xfrm>
          <a:prstGeom prst="rect">
            <a:avLst/>
          </a:prstGeom>
          <a:noFill/>
        </p:spPr>
        <p:txBody>
          <a:bodyPr wrap="square" rtlCol="0">
            <a:spAutoFit/>
          </a:bodyPr>
          <a:lstStyle/>
          <a:p>
            <a:r>
              <a:rPr lang="en-US" dirty="0"/>
              <a:t>Combiners are mini reducers and  Hadoop framework may or may not execute the combiner so if combiner is skipped the reducer will directly get mapper’s o/p and hence input to reducer should be same irrespective of fact combiner is used or not hence combiners o/p must match with mappers o/p.</a:t>
            </a:r>
          </a:p>
        </p:txBody>
      </p:sp>
    </p:spTree>
    <p:extLst>
      <p:ext uri="{BB962C8B-B14F-4D97-AF65-F5344CB8AC3E}">
        <p14:creationId xmlns:p14="http://schemas.microsoft.com/office/powerpoint/2010/main" val="106665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95632" y="864993"/>
            <a:ext cx="6530955" cy="2862322"/>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Reducer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Reduce</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pairs [(s1; c1); (s2; c2) :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for all pair (s; c) in pairs [(s1; c1); (s2; c2) : : :]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sum +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count +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0" i="0" u="none" strike="noStrike" kern="1200" cap="none" spc="0" normalizeH="0" baseline="0" noProof="0" dirty="0" err="1">
                <a:ln>
                  <a:noFill/>
                </a:ln>
                <a:solidFill>
                  <a:prstClr val="black"/>
                </a:solidFill>
                <a:effectLst/>
                <a:uLnTx/>
                <a:uFillTx/>
                <a:latin typeface="Century Schoolbook" panose="02040604050505020304"/>
                <a:ea typeface="+mn-ea"/>
                <a:cs typeface="+mn-cs"/>
              </a:rPr>
              <a:t>avg</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 sum/count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integer </a:t>
            </a:r>
            <a:r>
              <a:rPr kumimoji="0" lang="en-IN" sz="2000" b="0" i="0" u="none" strike="noStrike" kern="1200" cap="none" spc="0" normalizeH="0" baseline="0" noProof="0" dirty="0" err="1">
                <a:ln>
                  <a:noFill/>
                </a:ln>
                <a:solidFill>
                  <a:prstClr val="black"/>
                </a:solidFill>
                <a:effectLst/>
                <a:uLnTx/>
                <a:uFillTx/>
                <a:latin typeface="Century Schoolbook" panose="02040604050505020304"/>
                <a:ea typeface="+mn-ea"/>
                <a:cs typeface="+mn-cs"/>
              </a:rPr>
              <a:t>avg</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a:t>
            </a:r>
          </a:p>
        </p:txBody>
      </p:sp>
      <p:sp>
        <p:nvSpPr>
          <p:cNvPr id="2" name="Title 1"/>
          <p:cNvSpPr>
            <a:spLocks noGrp="1"/>
          </p:cNvSpPr>
          <p:nvPr>
            <p:ph type="title"/>
          </p:nvPr>
        </p:nvSpPr>
        <p:spPr>
          <a:xfrm>
            <a:off x="623392" y="164637"/>
            <a:ext cx="10515600" cy="576064"/>
          </a:xfrm>
        </p:spPr>
        <p:txBody>
          <a:bodyPr>
            <a:normAutofit fontScale="90000"/>
          </a:bodyPr>
          <a:lstStyle/>
          <a:p>
            <a:r>
              <a:rPr lang="en-IN" sz="3733" dirty="0"/>
              <a:t>Computing mean: Use of combiner</a:t>
            </a:r>
          </a:p>
        </p:txBody>
      </p:sp>
      <p:sp>
        <p:nvSpPr>
          <p:cNvPr id="4" name="TextBox 3"/>
          <p:cNvSpPr txBox="1"/>
          <p:nvPr/>
        </p:nvSpPr>
        <p:spPr>
          <a:xfrm>
            <a:off x="335360" y="1544061"/>
            <a:ext cx="4222631" cy="1015663"/>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Mapper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Map</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integer 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pair (r, 1))</a:t>
            </a:r>
          </a:p>
        </p:txBody>
      </p:sp>
      <p:sp>
        <p:nvSpPr>
          <p:cNvPr id="6" name="TextBox 5"/>
          <p:cNvSpPr txBox="1"/>
          <p:nvPr/>
        </p:nvSpPr>
        <p:spPr>
          <a:xfrm>
            <a:off x="498137" y="3963304"/>
            <a:ext cx="6724918" cy="2554545"/>
          </a:xfrm>
          <a:prstGeom prst="rect">
            <a:avLst/>
          </a:prstGeom>
          <a:noFill/>
          <a:ln>
            <a:solidFill>
              <a:schemeClr val="accent1"/>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class</a:t>
            </a: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IN"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Combiner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0" i="0" u="none" strike="noStrike" kern="1200" cap="none" spc="0" normalizeH="0" baseline="0" noProof="0" dirty="0">
                <a:ln>
                  <a:noFill/>
                </a:ln>
                <a:solidFill>
                  <a:srgbClr val="00B050"/>
                </a:solidFill>
                <a:effectLst/>
                <a:uLnTx/>
                <a:uFillTx/>
                <a:latin typeface="Century Schoolbook" panose="02040604050505020304"/>
                <a:ea typeface="+mn-ea"/>
                <a:cs typeface="+mn-cs"/>
              </a:rPr>
              <a:t>method</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Combine</a:t>
            </a: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(string t; pairs [(s1; c1); (s2; c2) :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for all pair (s; c) in pairs [(s1; c1); (s2; c2) : : :] </a:t>
            </a:r>
            <a:r>
              <a:rPr kumimoji="0" lang="en-US" sz="2000" b="1" i="0" u="none" strike="noStrike" kern="1200" cap="none" spc="0" normalizeH="0" baseline="0" noProof="0" dirty="0">
                <a:ln>
                  <a:noFill/>
                </a:ln>
                <a:solidFill>
                  <a:prstClr val="black"/>
                </a:solidFill>
                <a:effectLst/>
                <a:uLnTx/>
                <a:uFillTx/>
                <a:latin typeface="Century Schoolbook" panose="02040604050505020304"/>
                <a:ea typeface="+mn-ea"/>
                <a:cs typeface="+mn-cs"/>
              </a:rPr>
              <a:t>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sum = sum +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count = count +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entury Schoolbook" panose="02040604050505020304"/>
                <a:ea typeface="+mn-ea"/>
                <a:cs typeface="+mn-cs"/>
              </a:rPr>
              <a:t>    Emit(string t; pair (sum, count))</a:t>
            </a:r>
            <a:endParaRPr kumimoji="0" lang="en-IN" sz="2000"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spTree>
    <p:extLst>
      <p:ext uri="{BB962C8B-B14F-4D97-AF65-F5344CB8AC3E}">
        <p14:creationId xmlns:p14="http://schemas.microsoft.com/office/powerpoint/2010/main" val="1969901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89311" y="1970844"/>
            <a:ext cx="9030727" cy="2208158"/>
          </a:xfrm>
        </p:spPr>
        <p:txBody>
          <a:bodyPr/>
          <a:lstStyle/>
          <a:p>
            <a:pPr algn="ctr"/>
            <a:r>
              <a:rPr lang="en-US" sz="4000" b="1" dirty="0">
                <a:solidFill>
                  <a:srgbClr val="0070C0"/>
                </a:solidFill>
                <a:latin typeface="Times New Roman" panose="02020603050405020304" pitchFamily="18" charset="0"/>
                <a:cs typeface="Times New Roman" panose="02020603050405020304" pitchFamily="18" charset="0"/>
              </a:rPr>
              <a:t>S</a:t>
            </a:r>
            <a:r>
              <a:rPr lang="en-IN" sz="4000" b="1" dirty="0">
                <a:solidFill>
                  <a:srgbClr val="0070C0"/>
                </a:solidFill>
                <a:latin typeface="Times New Roman" panose="02020603050405020304" pitchFamily="18" charset="0"/>
                <a:cs typeface="Times New Roman" panose="02020603050405020304" pitchFamily="18" charset="0"/>
              </a:rPr>
              <a:t>park</a:t>
            </a:r>
            <a:br>
              <a:rPr lang="en-IN" sz="4000" b="1" dirty="0">
                <a:solidFill>
                  <a:srgbClr val="0070C0"/>
                </a:solidFill>
                <a:latin typeface="Times New Roman" panose="02020603050405020304" pitchFamily="18" charset="0"/>
                <a:cs typeface="Times New Roman" panose="02020603050405020304" pitchFamily="18" charset="0"/>
              </a:rPr>
            </a:br>
            <a:br>
              <a:rPr lang="en-IN" sz="4000" b="1" dirty="0">
                <a:solidFill>
                  <a:srgbClr val="0070C0"/>
                </a:solidFill>
                <a:latin typeface="Times New Roman" panose="02020603050405020304" pitchFamily="18" charset="0"/>
                <a:cs typeface="Times New Roman" panose="02020603050405020304" pitchFamily="18" charset="0"/>
              </a:rPr>
            </a:br>
            <a:r>
              <a:rPr lang="en-IN" sz="4000" b="1" dirty="0">
                <a:solidFill>
                  <a:srgbClr val="0070C0"/>
                </a:solidFill>
                <a:latin typeface="Times New Roman" panose="02020603050405020304" pitchFamily="18" charset="0"/>
                <a:cs typeface="Times New Roman" panose="02020603050405020304" pitchFamily="18" charset="0"/>
              </a:rPr>
              <a:t>Fast Big Data Processing</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3985942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Rectangle 2"/>
          <p:cNvSpPr>
            <a:spLocks noGrp="1" noChangeArrowheads="1"/>
          </p:cNvSpPr>
          <p:nvPr>
            <p:ph type="title"/>
          </p:nvPr>
        </p:nvSpPr>
        <p:spPr>
          <a:xfrm>
            <a:off x="556532" y="643467"/>
            <a:ext cx="11210925" cy="744836"/>
          </a:xfrm>
        </p:spPr>
        <p:txBody>
          <a:bodyPr vert="horz" lIns="91440" tIns="45720" rIns="91440" bIns="45720" rtlCol="0" anchor="ctr">
            <a:normAutofit/>
          </a:bodyPr>
          <a:lstStyle/>
          <a:p>
            <a:pPr algn="ctr">
              <a:lnSpc>
                <a:spcPct val="90000"/>
              </a:lnSpc>
              <a:spcBef>
                <a:spcPct val="0"/>
              </a:spcBef>
            </a:pPr>
            <a:r>
              <a:rPr lang="en-US" kern="1200">
                <a:solidFill>
                  <a:schemeClr val="bg1"/>
                </a:solidFill>
                <a:latin typeface="+mj-lt"/>
                <a:ea typeface="+mj-ea"/>
                <a:cs typeface="+mj-cs"/>
              </a:rPr>
              <a:t>Iterative Algorithm in Map-reduce</a:t>
            </a:r>
          </a:p>
        </p:txBody>
      </p:sp>
      <p:pic>
        <p:nvPicPr>
          <p:cNvPr id="3" name="Picture 2">
            <a:extLst>
              <a:ext uri="{FF2B5EF4-FFF2-40B4-BE49-F238E27FC236}">
                <a16:creationId xmlns:a16="http://schemas.microsoft.com/office/drawing/2014/main" id="{3AC32F9C-723C-4BB8-BE11-8FCC03AF5C01}"/>
              </a:ext>
            </a:extLst>
          </p:cNvPr>
          <p:cNvPicPr>
            <a:picLocks noChangeAspect="1"/>
          </p:cNvPicPr>
          <p:nvPr/>
        </p:nvPicPr>
        <p:blipFill>
          <a:blip r:embed="rId2"/>
          <a:stretch>
            <a:fillRect/>
          </a:stretch>
        </p:blipFill>
        <p:spPr>
          <a:xfrm>
            <a:off x="643467" y="2604613"/>
            <a:ext cx="10905066" cy="2535427"/>
          </a:xfrm>
          <a:prstGeom prst="rect">
            <a:avLst/>
          </a:prstGeom>
        </p:spPr>
      </p:pic>
    </p:spTree>
    <p:extLst>
      <p:ext uri="{BB962C8B-B14F-4D97-AF65-F5344CB8AC3E}">
        <p14:creationId xmlns:p14="http://schemas.microsoft.com/office/powerpoint/2010/main" val="35410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Rectangle 2"/>
          <p:cNvSpPr>
            <a:spLocks noGrp="1" noChangeArrowheads="1"/>
          </p:cNvSpPr>
          <p:nvPr>
            <p:ph type="title"/>
          </p:nvPr>
        </p:nvSpPr>
        <p:spPr>
          <a:xfrm>
            <a:off x="556532" y="643467"/>
            <a:ext cx="11210925" cy="744836"/>
          </a:xfrm>
        </p:spPr>
        <p:txBody>
          <a:bodyPr vert="horz" lIns="91440" tIns="45720" rIns="91440" bIns="45720" rtlCol="0" anchor="ctr">
            <a:normAutofit/>
          </a:bodyPr>
          <a:lstStyle/>
          <a:p>
            <a:pPr algn="ctr">
              <a:lnSpc>
                <a:spcPct val="90000"/>
              </a:lnSpc>
              <a:spcBef>
                <a:spcPct val="0"/>
              </a:spcBef>
            </a:pPr>
            <a:r>
              <a:rPr lang="en-US" kern="1200">
                <a:solidFill>
                  <a:schemeClr val="bg1"/>
                </a:solidFill>
                <a:latin typeface="+mj-lt"/>
                <a:ea typeface="+mj-ea"/>
                <a:cs typeface="+mj-cs"/>
              </a:rPr>
              <a:t>Iterative Algorithm in Map-reduce: Issues</a:t>
            </a:r>
          </a:p>
        </p:txBody>
      </p:sp>
      <p:pic>
        <p:nvPicPr>
          <p:cNvPr id="8" name="Picture 7">
            <a:extLst>
              <a:ext uri="{FF2B5EF4-FFF2-40B4-BE49-F238E27FC236}">
                <a16:creationId xmlns:a16="http://schemas.microsoft.com/office/drawing/2014/main" id="{F1D31CA9-8C7E-420A-ABD5-9B5E5A57B224}"/>
              </a:ext>
            </a:extLst>
          </p:cNvPr>
          <p:cNvPicPr>
            <a:picLocks noChangeAspect="1"/>
          </p:cNvPicPr>
          <p:nvPr/>
        </p:nvPicPr>
        <p:blipFill>
          <a:blip r:embed="rId2"/>
          <a:stretch>
            <a:fillRect/>
          </a:stretch>
        </p:blipFill>
        <p:spPr>
          <a:xfrm>
            <a:off x="1494745" y="1675227"/>
            <a:ext cx="9202509" cy="4394199"/>
          </a:xfrm>
          <a:prstGeom prst="rect">
            <a:avLst/>
          </a:prstGeom>
        </p:spPr>
      </p:pic>
    </p:spTree>
    <p:extLst>
      <p:ext uri="{BB962C8B-B14F-4D97-AF65-F5344CB8AC3E}">
        <p14:creationId xmlns:p14="http://schemas.microsoft.com/office/powerpoint/2010/main" val="3140629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0185" y="287044"/>
            <a:ext cx="9875520" cy="627356"/>
          </a:xfrm>
        </p:spPr>
        <p:txBody>
          <a:bodyPr>
            <a:noAutofit/>
          </a:bodyPr>
          <a:lstStyle/>
          <a:p>
            <a:r>
              <a:rPr lang="en-US" sz="4000" b="1" dirty="0"/>
              <a:t>Limitations of basic map-reduce</a:t>
            </a:r>
          </a:p>
        </p:txBody>
      </p:sp>
      <p:sp>
        <p:nvSpPr>
          <p:cNvPr id="4" name="Content Placeholder 3"/>
          <p:cNvSpPr>
            <a:spLocks noGrp="1"/>
          </p:cNvSpPr>
          <p:nvPr>
            <p:ph idx="1"/>
          </p:nvPr>
        </p:nvSpPr>
        <p:spPr>
          <a:xfrm>
            <a:off x="1158241" y="1127464"/>
            <a:ext cx="9875520" cy="5349536"/>
          </a:xfrm>
        </p:spPr>
        <p:txBody>
          <a:bodyPr/>
          <a:lstStyle/>
          <a:p>
            <a:r>
              <a:rPr lang="en-US" sz="2800" dirty="0">
                <a:solidFill>
                  <a:srgbClr val="0063BE"/>
                </a:solidFill>
              </a:rPr>
              <a:t>Good for one-pass computation</a:t>
            </a:r>
          </a:p>
          <a:p>
            <a:r>
              <a:rPr lang="en-US" sz="2800" dirty="0">
                <a:solidFill>
                  <a:srgbClr val="0063BE"/>
                </a:solidFill>
              </a:rPr>
              <a:t>But inefficient for </a:t>
            </a:r>
            <a:r>
              <a:rPr lang="en-US" sz="2800" i="1" dirty="0">
                <a:solidFill>
                  <a:srgbClr val="0063BE"/>
                </a:solidFill>
              </a:rPr>
              <a:t>multi-pass </a:t>
            </a:r>
            <a:r>
              <a:rPr lang="en-US" sz="2800" dirty="0">
                <a:solidFill>
                  <a:srgbClr val="0063BE"/>
                </a:solidFill>
              </a:rPr>
              <a:t>algorithms</a:t>
            </a:r>
          </a:p>
          <a:p>
            <a:pPr lvl="1"/>
            <a:r>
              <a:rPr lang="en-US" sz="2800" b="0" dirty="0">
                <a:solidFill>
                  <a:srgbClr val="0063BE"/>
                </a:solidFill>
                <a:latin typeface="+mj-lt"/>
              </a:rPr>
              <a:t>k-means, gradient descent</a:t>
            </a:r>
          </a:p>
          <a:p>
            <a:pPr marL="495299" indent="-457200"/>
            <a:r>
              <a:rPr lang="en-US" sz="2800" b="0" dirty="0">
                <a:solidFill>
                  <a:srgbClr val="0063BE"/>
                </a:solidFill>
                <a:latin typeface="+mj-lt"/>
              </a:rPr>
              <a:t>No efficient mechanism for data sharing. State b/w steps go to DFS. Slow due to replication, disk storage, 90% of doing I/O</a:t>
            </a:r>
          </a:p>
          <a:p>
            <a:r>
              <a:rPr lang="en-US" sz="2800" dirty="0">
                <a:solidFill>
                  <a:srgbClr val="0063BE"/>
                </a:solidFill>
              </a:rPr>
              <a:t>Spark uses an </a:t>
            </a:r>
            <a:r>
              <a:rPr lang="en-US" sz="2800" dirty="0">
                <a:solidFill>
                  <a:srgbClr val="0063BE"/>
                </a:solidFill>
                <a:highlight>
                  <a:srgbClr val="FFFF00"/>
                </a:highlight>
              </a:rPr>
              <a:t>in-memory distributed data structure </a:t>
            </a:r>
            <a:r>
              <a:rPr lang="en-US" sz="2800" dirty="0">
                <a:solidFill>
                  <a:srgbClr val="0063BE"/>
                </a:solidFill>
              </a:rPr>
              <a:t>to store the data that is repeatedly used</a:t>
            </a:r>
          </a:p>
          <a:p>
            <a:endParaRPr lang="en-US" sz="2800" dirty="0">
              <a:solidFill>
                <a:srgbClr val="0063BE"/>
              </a:solidFill>
            </a:endParaRPr>
          </a:p>
          <a:p>
            <a:pPr lvl="1"/>
            <a:r>
              <a:rPr lang="en-US" sz="2800" dirty="0">
                <a:solidFill>
                  <a:srgbClr val="0063BE"/>
                </a:solidFill>
                <a:highlight>
                  <a:srgbClr val="FFFF00"/>
                </a:highlight>
              </a:rPr>
              <a:t>Read-only data structure (Fault tolerance)</a:t>
            </a:r>
          </a:p>
          <a:p>
            <a:endParaRPr lang="en-US" b="0" dirty="0">
              <a:solidFill>
                <a:srgbClr val="0063BE"/>
              </a:solidFill>
            </a:endParaRPr>
          </a:p>
        </p:txBody>
      </p:sp>
    </p:spTree>
    <p:extLst>
      <p:ext uri="{BB962C8B-B14F-4D97-AF65-F5344CB8AC3E}">
        <p14:creationId xmlns:p14="http://schemas.microsoft.com/office/powerpoint/2010/main" val="4441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0AA10D-622E-97C0-875C-4E7FD784E7B8}"/>
              </a:ext>
            </a:extLst>
          </p:cNvPr>
          <p:cNvPicPr>
            <a:picLocks noChangeAspect="1"/>
          </p:cNvPicPr>
          <p:nvPr/>
        </p:nvPicPr>
        <p:blipFill>
          <a:blip r:embed="rId2"/>
          <a:stretch>
            <a:fillRect/>
          </a:stretch>
        </p:blipFill>
        <p:spPr>
          <a:xfrm>
            <a:off x="1619720" y="535484"/>
            <a:ext cx="8745170" cy="5315692"/>
          </a:xfrm>
          <a:prstGeom prst="rect">
            <a:avLst/>
          </a:prstGeom>
        </p:spPr>
      </p:pic>
    </p:spTree>
    <p:extLst>
      <p:ext uri="{BB962C8B-B14F-4D97-AF65-F5344CB8AC3E}">
        <p14:creationId xmlns:p14="http://schemas.microsoft.com/office/powerpoint/2010/main" val="3020115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4CF70E-8DE2-8145-995B-59750F6E0789}"/>
              </a:ext>
            </a:extLst>
          </p:cNvPr>
          <p:cNvPicPr>
            <a:picLocks noChangeAspect="1"/>
          </p:cNvPicPr>
          <p:nvPr/>
        </p:nvPicPr>
        <p:blipFill>
          <a:blip r:embed="rId2"/>
          <a:stretch>
            <a:fillRect/>
          </a:stretch>
        </p:blipFill>
        <p:spPr>
          <a:xfrm>
            <a:off x="1832967" y="675891"/>
            <a:ext cx="8526065" cy="5506218"/>
          </a:xfrm>
          <a:prstGeom prst="rect">
            <a:avLst/>
          </a:prstGeom>
        </p:spPr>
      </p:pic>
    </p:spTree>
    <p:extLst>
      <p:ext uri="{BB962C8B-B14F-4D97-AF65-F5344CB8AC3E}">
        <p14:creationId xmlns:p14="http://schemas.microsoft.com/office/powerpoint/2010/main" val="3260011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94619D-15C0-4221-675D-C3EF120DD935}"/>
              </a:ext>
            </a:extLst>
          </p:cNvPr>
          <p:cNvPicPr>
            <a:picLocks noChangeAspect="1"/>
          </p:cNvPicPr>
          <p:nvPr/>
        </p:nvPicPr>
        <p:blipFill>
          <a:blip r:embed="rId2"/>
          <a:stretch>
            <a:fillRect/>
          </a:stretch>
        </p:blipFill>
        <p:spPr>
          <a:xfrm>
            <a:off x="1064846" y="1266523"/>
            <a:ext cx="7592485" cy="4324954"/>
          </a:xfrm>
          <a:prstGeom prst="rect">
            <a:avLst/>
          </a:prstGeom>
        </p:spPr>
      </p:pic>
      <p:sp>
        <p:nvSpPr>
          <p:cNvPr id="4" name="TextBox 3">
            <a:extLst>
              <a:ext uri="{FF2B5EF4-FFF2-40B4-BE49-F238E27FC236}">
                <a16:creationId xmlns:a16="http://schemas.microsoft.com/office/drawing/2014/main" id="{D72B229B-71E2-8E72-804A-43351709DC16}"/>
              </a:ext>
            </a:extLst>
          </p:cNvPr>
          <p:cNvSpPr txBox="1"/>
          <p:nvPr/>
        </p:nvSpPr>
        <p:spPr>
          <a:xfrm>
            <a:off x="9087439" y="1414021"/>
            <a:ext cx="2554664" cy="2031325"/>
          </a:xfrm>
          <a:prstGeom prst="rect">
            <a:avLst/>
          </a:prstGeom>
          <a:noFill/>
        </p:spPr>
        <p:txBody>
          <a:bodyPr wrap="square" rtlCol="0">
            <a:spAutoFit/>
          </a:bodyPr>
          <a:lstStyle/>
          <a:p>
            <a:r>
              <a:rPr lang="en-US" dirty="0"/>
              <a:t>Low Level API : Highly flexible</a:t>
            </a:r>
          </a:p>
          <a:p>
            <a:endParaRPr lang="en-US" dirty="0"/>
          </a:p>
          <a:p>
            <a:r>
              <a:rPr lang="en-US" dirty="0"/>
              <a:t>High Level API : Nice Fixed structure, limited functionality / flexibility</a:t>
            </a:r>
          </a:p>
        </p:txBody>
      </p:sp>
    </p:spTree>
    <p:extLst>
      <p:ext uri="{BB962C8B-B14F-4D97-AF65-F5344CB8AC3E}">
        <p14:creationId xmlns:p14="http://schemas.microsoft.com/office/powerpoint/2010/main" val="3202075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902" y="148502"/>
            <a:ext cx="9875520" cy="617415"/>
          </a:xfrm>
        </p:spPr>
        <p:txBody>
          <a:bodyPr>
            <a:noAutofit/>
          </a:bodyPr>
          <a:lstStyle/>
          <a:p>
            <a:r>
              <a:rPr lang="en-US" b="1" dirty="0">
                <a:solidFill>
                  <a:srgbClr val="0070C0"/>
                </a:solidFill>
              </a:rPr>
              <a:t>Key Concept in Spark for Working with Data</a:t>
            </a:r>
          </a:p>
        </p:txBody>
      </p:sp>
      <p:sp>
        <p:nvSpPr>
          <p:cNvPr id="3" name="Content Placeholder 2"/>
          <p:cNvSpPr>
            <a:spLocks noGrp="1"/>
          </p:cNvSpPr>
          <p:nvPr>
            <p:ph idx="1"/>
          </p:nvPr>
        </p:nvSpPr>
        <p:spPr>
          <a:xfrm>
            <a:off x="1137920" y="876301"/>
            <a:ext cx="9875520" cy="2754509"/>
          </a:xfrm>
        </p:spPr>
        <p:txBody>
          <a:bodyPr>
            <a:normAutofit fontScale="92500" lnSpcReduction="20000"/>
          </a:bodyPr>
          <a:lstStyle/>
          <a:p>
            <a:r>
              <a:rPr lang="en-US" sz="2400" b="1" dirty="0">
                <a:solidFill>
                  <a:srgbClr val="00B050"/>
                </a:solidFill>
              </a:rPr>
              <a:t>Resilient Distributed Dataset (RDD)</a:t>
            </a:r>
          </a:p>
          <a:p>
            <a:pPr lvl="1"/>
            <a:endParaRPr lang="en-US" dirty="0"/>
          </a:p>
          <a:p>
            <a:pPr lvl="1"/>
            <a:r>
              <a:rPr lang="en-US" b="1" dirty="0"/>
              <a:t>Resilient:</a:t>
            </a:r>
            <a:r>
              <a:rPr lang="en-US" dirty="0"/>
              <a:t>   can re-compute missing or damaged partitions due to node failures</a:t>
            </a:r>
          </a:p>
          <a:p>
            <a:pPr lvl="1"/>
            <a:endParaRPr lang="en-US" dirty="0"/>
          </a:p>
          <a:p>
            <a:pPr lvl="1"/>
            <a:r>
              <a:rPr lang="en-US" b="1" dirty="0"/>
              <a:t>Distributed:</a:t>
            </a:r>
            <a:r>
              <a:rPr lang="en-US" dirty="0"/>
              <a:t>  data residing on multiple nodes in a cluster</a:t>
            </a:r>
          </a:p>
          <a:p>
            <a:pPr lvl="1"/>
            <a:endParaRPr lang="en-US" dirty="0"/>
          </a:p>
          <a:p>
            <a:pPr lvl="1"/>
            <a:r>
              <a:rPr lang="en-US" b="1" dirty="0"/>
              <a:t>Dataset:</a:t>
            </a:r>
            <a:r>
              <a:rPr lang="en-US" dirty="0"/>
              <a:t>  a collection of partitioned data with primitive values (e.g., </a:t>
            </a:r>
            <a:r>
              <a:rPr lang="en-US" dirty="0" err="1"/>
              <a:t>int</a:t>
            </a:r>
            <a:r>
              <a:rPr lang="en-US" dirty="0"/>
              <a:t>, string) or any user defined object (e.g., (word, count) pairs)</a:t>
            </a:r>
          </a:p>
          <a:p>
            <a:pPr lvl="1"/>
            <a:endParaRPr lang="en-US" sz="1600" dirty="0"/>
          </a:p>
          <a:p>
            <a:pPr lvl="1"/>
            <a:endParaRPr lang="en-US" sz="1600" dirty="0"/>
          </a:p>
          <a:p>
            <a:pPr marL="219645" lvl="1" indent="0">
              <a:buNone/>
            </a:pPr>
            <a:endParaRPr lang="en-US" sz="1600" dirty="0"/>
          </a:p>
          <a:p>
            <a:pPr lvl="1"/>
            <a:endParaRPr lang="en-US" b="0" dirty="0"/>
          </a:p>
        </p:txBody>
      </p:sp>
      <p:sp>
        <p:nvSpPr>
          <p:cNvPr id="19" name="Rectangle 18"/>
          <p:cNvSpPr/>
          <p:nvPr/>
        </p:nvSpPr>
        <p:spPr>
          <a:xfrm>
            <a:off x="2946259" y="4637984"/>
            <a:ext cx="1524000" cy="1828800"/>
          </a:xfrm>
          <a:prstGeom prst="rect">
            <a:avLst/>
          </a:prstGeom>
          <a:solidFill>
            <a:srgbClr val="FFFFFF"/>
          </a:solidFill>
          <a:ln w="26425" cap="flat" cmpd="sng" algn="ctr">
            <a:solidFill>
              <a:srgbClr val="79463D"/>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92934"/>
              </a:solidFill>
              <a:effectLst/>
              <a:uLnTx/>
              <a:uFillTx/>
              <a:latin typeface="Arial"/>
              <a:ea typeface="+mn-ea"/>
              <a:cs typeface="+mn-cs"/>
            </a:endParaRPr>
          </a:p>
        </p:txBody>
      </p:sp>
      <p:sp>
        <p:nvSpPr>
          <p:cNvPr id="22" name="Rectangle 21"/>
          <p:cNvSpPr/>
          <p:nvPr/>
        </p:nvSpPr>
        <p:spPr>
          <a:xfrm>
            <a:off x="6800056" y="4630863"/>
            <a:ext cx="1600200" cy="1828800"/>
          </a:xfrm>
          <a:prstGeom prst="rect">
            <a:avLst/>
          </a:prstGeom>
          <a:solidFill>
            <a:srgbClr val="FFFFFF"/>
          </a:solidFill>
          <a:ln w="26425" cap="flat" cmpd="sng" algn="ctr">
            <a:solidFill>
              <a:srgbClr val="79463D"/>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92934"/>
              </a:solidFill>
              <a:effectLst/>
              <a:uLnTx/>
              <a:uFillTx/>
              <a:latin typeface="Arial"/>
              <a:ea typeface="+mn-ea"/>
              <a:cs typeface="+mn-cs"/>
            </a:endParaRPr>
          </a:p>
        </p:txBody>
      </p:sp>
      <p:sp>
        <p:nvSpPr>
          <p:cNvPr id="23" name="Rounded Rectangle 22"/>
          <p:cNvSpPr/>
          <p:nvPr/>
        </p:nvSpPr>
        <p:spPr>
          <a:xfrm>
            <a:off x="3138539" y="4824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am</a:t>
            </a:r>
          </a:p>
        </p:txBody>
      </p:sp>
      <p:sp>
        <p:nvSpPr>
          <p:cNvPr id="24" name="Rounded Rectangle 23"/>
          <p:cNvSpPr/>
          <p:nvPr/>
        </p:nvSpPr>
        <p:spPr>
          <a:xfrm>
            <a:off x="3138539" y="5205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master</a:t>
            </a:r>
          </a:p>
        </p:txBody>
      </p:sp>
      <p:sp>
        <p:nvSpPr>
          <p:cNvPr id="25" name="Rounded Rectangle 24"/>
          <p:cNvSpPr/>
          <p:nvPr/>
        </p:nvSpPr>
        <p:spPr>
          <a:xfrm>
            <a:off x="3138539" y="5586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natural</a:t>
            </a:r>
          </a:p>
        </p:txBody>
      </p:sp>
      <p:sp>
        <p:nvSpPr>
          <p:cNvPr id="26" name="Rounded Rectangle 25"/>
          <p:cNvSpPr/>
          <p:nvPr/>
        </p:nvSpPr>
        <p:spPr>
          <a:xfrm>
            <a:off x="3138539" y="5967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student</a:t>
            </a:r>
          </a:p>
        </p:txBody>
      </p:sp>
      <p:sp>
        <p:nvSpPr>
          <p:cNvPr id="27" name="Rounded Rectangle 26"/>
          <p:cNvSpPr/>
          <p:nvPr/>
        </p:nvSpPr>
        <p:spPr>
          <a:xfrm>
            <a:off x="7066756" y="4748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am, 10</a:t>
            </a:r>
          </a:p>
        </p:txBody>
      </p:sp>
      <p:sp>
        <p:nvSpPr>
          <p:cNvPr id="28" name="Rounded Rectangle 27"/>
          <p:cNvSpPr/>
          <p:nvPr/>
        </p:nvSpPr>
        <p:spPr>
          <a:xfrm>
            <a:off x="7100939" y="5129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master, 5</a:t>
            </a:r>
          </a:p>
        </p:txBody>
      </p:sp>
      <p:sp>
        <p:nvSpPr>
          <p:cNvPr id="29" name="Rounded Rectangle 28"/>
          <p:cNvSpPr/>
          <p:nvPr/>
        </p:nvSpPr>
        <p:spPr>
          <a:xfrm>
            <a:off x="7100939" y="5510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natural, 7</a:t>
            </a:r>
          </a:p>
        </p:txBody>
      </p:sp>
      <p:sp>
        <p:nvSpPr>
          <p:cNvPr id="30" name="Rounded Rectangle 29"/>
          <p:cNvSpPr/>
          <p:nvPr/>
        </p:nvSpPr>
        <p:spPr>
          <a:xfrm>
            <a:off x="7024739" y="5983947"/>
            <a:ext cx="12192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student, 17</a:t>
            </a:r>
          </a:p>
        </p:txBody>
      </p:sp>
      <p:sp>
        <p:nvSpPr>
          <p:cNvPr id="31" name="TextBox 30"/>
          <p:cNvSpPr txBox="1"/>
          <p:nvPr/>
        </p:nvSpPr>
        <p:spPr>
          <a:xfrm>
            <a:off x="2946259" y="4092476"/>
            <a:ext cx="1438214" cy="307777"/>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70C0"/>
                </a:solidFill>
                <a:effectLst/>
                <a:uLnTx/>
                <a:uFillTx/>
                <a:latin typeface="Arial"/>
                <a:ea typeface="+mn-ea"/>
                <a:cs typeface="+mn-cs"/>
              </a:rPr>
              <a:t>RDD of strings</a:t>
            </a:r>
          </a:p>
        </p:txBody>
      </p:sp>
      <p:sp>
        <p:nvSpPr>
          <p:cNvPr id="32" name="TextBox 31"/>
          <p:cNvSpPr txBox="1"/>
          <p:nvPr/>
        </p:nvSpPr>
        <p:spPr>
          <a:xfrm>
            <a:off x="6872861" y="4000142"/>
            <a:ext cx="1269899" cy="492443"/>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70C0"/>
                </a:solidFill>
                <a:effectLst/>
                <a:uLnTx/>
                <a:uFillTx/>
                <a:latin typeface="Arial"/>
                <a:ea typeface="+mn-ea"/>
                <a:cs typeface="+mn-cs"/>
              </a:rPr>
              <a:t>RDD of pairs</a:t>
            </a:r>
          </a:p>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70C0"/>
                </a:solidFill>
                <a:effectLst/>
                <a:uLnTx/>
                <a:uFillTx/>
                <a:latin typeface="Arial"/>
                <a:ea typeface="+mn-ea"/>
                <a:cs typeface="+mn-cs"/>
              </a:rPr>
              <a:t> (word, count)</a:t>
            </a:r>
          </a:p>
        </p:txBody>
      </p:sp>
      <p:cxnSp>
        <p:nvCxnSpPr>
          <p:cNvPr id="33" name="Straight Arrow Connector 32"/>
          <p:cNvCxnSpPr>
            <a:endCxn id="35" idx="0"/>
          </p:cNvCxnSpPr>
          <p:nvPr/>
        </p:nvCxnSpPr>
        <p:spPr>
          <a:xfrm>
            <a:off x="4205339" y="4983862"/>
            <a:ext cx="1375194" cy="492322"/>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34" name="Straight Arrow Connector 33"/>
          <p:cNvCxnSpPr>
            <a:endCxn id="35" idx="0"/>
          </p:cNvCxnSpPr>
          <p:nvPr/>
        </p:nvCxnSpPr>
        <p:spPr>
          <a:xfrm flipH="1">
            <a:off x="5580533" y="4907662"/>
            <a:ext cx="1444210" cy="568522"/>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35" name="TextBox 34"/>
          <p:cNvSpPr txBox="1"/>
          <p:nvPr/>
        </p:nvSpPr>
        <p:spPr>
          <a:xfrm>
            <a:off x="4814939" y="5476184"/>
            <a:ext cx="1531188" cy="369332"/>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50"/>
                </a:solidFill>
                <a:effectLst/>
                <a:uLnTx/>
                <a:uFillTx/>
                <a:latin typeface="Arial"/>
                <a:ea typeface="+mn-ea"/>
                <a:cs typeface="+mn-cs"/>
              </a:rPr>
              <a:t>one element</a:t>
            </a:r>
          </a:p>
        </p:txBody>
      </p:sp>
      <p:sp>
        <p:nvSpPr>
          <p:cNvPr id="4" name="TextBox 3">
            <a:extLst>
              <a:ext uri="{FF2B5EF4-FFF2-40B4-BE49-F238E27FC236}">
                <a16:creationId xmlns:a16="http://schemas.microsoft.com/office/drawing/2014/main" id="{61AB1CC2-0318-DF0E-46F9-7CCCE620361F}"/>
              </a:ext>
            </a:extLst>
          </p:cNvPr>
          <p:cNvSpPr txBox="1"/>
          <p:nvPr/>
        </p:nvSpPr>
        <p:spPr>
          <a:xfrm>
            <a:off x="8738648" y="3893270"/>
            <a:ext cx="2903456" cy="923330"/>
          </a:xfrm>
          <a:prstGeom prst="rect">
            <a:avLst/>
          </a:prstGeom>
          <a:noFill/>
        </p:spPr>
        <p:txBody>
          <a:bodyPr wrap="square" rtlCol="0">
            <a:spAutoFit/>
          </a:bodyPr>
          <a:lstStyle/>
          <a:p>
            <a:r>
              <a:rPr lang="en-US" dirty="0"/>
              <a:t>Distributed array of elements / objects sitting on different computers.</a:t>
            </a:r>
          </a:p>
        </p:txBody>
      </p:sp>
    </p:spTree>
    <p:extLst>
      <p:ext uri="{BB962C8B-B14F-4D97-AF65-F5344CB8AC3E}">
        <p14:creationId xmlns:p14="http://schemas.microsoft.com/office/powerpoint/2010/main" val="353506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P spid="32" grpId="0"/>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007F3E-03A0-6AC6-3351-62EF65778B9C}"/>
              </a:ext>
            </a:extLst>
          </p:cNvPr>
          <p:cNvPicPr>
            <a:picLocks noChangeAspect="1"/>
          </p:cNvPicPr>
          <p:nvPr/>
        </p:nvPicPr>
        <p:blipFill>
          <a:blip r:embed="rId2"/>
          <a:stretch>
            <a:fillRect/>
          </a:stretch>
        </p:blipFill>
        <p:spPr>
          <a:xfrm>
            <a:off x="100013" y="628410"/>
            <a:ext cx="7930022" cy="4657965"/>
          </a:xfrm>
          <a:prstGeom prst="rect">
            <a:avLst/>
          </a:prstGeom>
        </p:spPr>
      </p:pic>
      <p:sp>
        <p:nvSpPr>
          <p:cNvPr id="6" name="TextBox 5">
            <a:extLst>
              <a:ext uri="{FF2B5EF4-FFF2-40B4-BE49-F238E27FC236}">
                <a16:creationId xmlns:a16="http://schemas.microsoft.com/office/drawing/2014/main" id="{9CAF3A42-6C5F-357D-0F1B-24DA6D1C1376}"/>
              </a:ext>
            </a:extLst>
          </p:cNvPr>
          <p:cNvSpPr txBox="1"/>
          <p:nvPr/>
        </p:nvSpPr>
        <p:spPr>
          <a:xfrm>
            <a:off x="8258177" y="828675"/>
            <a:ext cx="3600450" cy="4247317"/>
          </a:xfrm>
          <a:prstGeom prst="rect">
            <a:avLst/>
          </a:prstGeom>
          <a:noFill/>
        </p:spPr>
        <p:txBody>
          <a:bodyPr wrap="square" rtlCol="0">
            <a:spAutoFit/>
          </a:bodyPr>
          <a:lstStyle/>
          <a:p>
            <a:r>
              <a:rPr lang="en-US" dirty="0"/>
              <a:t>If we are running spark code in a single machine as in multithreaded applications then the manager is Standalone Scheduler.</a:t>
            </a:r>
          </a:p>
          <a:p>
            <a:r>
              <a:rPr lang="en-US" dirty="0"/>
              <a:t>If u run code on actual clusters then cluster manager is YARN or MESOS.</a:t>
            </a:r>
          </a:p>
          <a:p>
            <a:endParaRPr lang="en-US" dirty="0"/>
          </a:p>
          <a:p>
            <a:r>
              <a:rPr lang="en-US" dirty="0"/>
              <a:t>On top of cluster manager we have spark core , for RDD Manipulation etc. On top of spark core we have several libraries.</a:t>
            </a:r>
          </a:p>
          <a:p>
            <a:endParaRPr lang="en-US" dirty="0"/>
          </a:p>
        </p:txBody>
      </p:sp>
    </p:spTree>
    <p:extLst>
      <p:ext uri="{BB962C8B-B14F-4D97-AF65-F5344CB8AC3E}">
        <p14:creationId xmlns:p14="http://schemas.microsoft.com/office/powerpoint/2010/main" val="1671828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56132-0F20-85B0-DC1E-9DB9FF15B43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E77360-CAAC-B661-135F-45156AC3D619}"/>
              </a:ext>
            </a:extLst>
          </p:cNvPr>
          <p:cNvPicPr>
            <a:picLocks noChangeAspect="1"/>
          </p:cNvPicPr>
          <p:nvPr/>
        </p:nvPicPr>
        <p:blipFill>
          <a:blip r:embed="rId2"/>
          <a:stretch>
            <a:fillRect/>
          </a:stretch>
        </p:blipFill>
        <p:spPr>
          <a:xfrm>
            <a:off x="2029335" y="942975"/>
            <a:ext cx="8133329" cy="4524647"/>
          </a:xfrm>
          <a:prstGeom prst="rect">
            <a:avLst/>
          </a:prstGeom>
        </p:spPr>
      </p:pic>
    </p:spTree>
    <p:extLst>
      <p:ext uri="{BB962C8B-B14F-4D97-AF65-F5344CB8AC3E}">
        <p14:creationId xmlns:p14="http://schemas.microsoft.com/office/powerpoint/2010/main" val="2051275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562" y="224005"/>
            <a:ext cx="9875520" cy="588301"/>
          </a:xfrm>
        </p:spPr>
        <p:txBody>
          <a:bodyPr/>
          <a:lstStyle/>
          <a:p>
            <a:r>
              <a:rPr lang="en-IN" sz="4000" b="1" dirty="0">
                <a:solidFill>
                  <a:srgbClr val="0070C0"/>
                </a:solidFill>
              </a:rPr>
              <a:t>Master</a:t>
            </a:r>
          </a:p>
        </p:txBody>
      </p:sp>
      <p:sp>
        <p:nvSpPr>
          <p:cNvPr id="3" name="Content Placeholder 2"/>
          <p:cNvSpPr>
            <a:spLocks noGrp="1"/>
          </p:cNvSpPr>
          <p:nvPr>
            <p:ph idx="1"/>
          </p:nvPr>
        </p:nvSpPr>
        <p:spPr>
          <a:xfrm>
            <a:off x="929639" y="812306"/>
            <a:ext cx="10195559" cy="2895599"/>
          </a:xfrm>
        </p:spPr>
        <p:txBody>
          <a:bodyPr/>
          <a:lstStyle/>
          <a:p>
            <a:r>
              <a:rPr lang="en-US" sz="2000" dirty="0"/>
              <a:t>Connects to a cluster manager that allocate resources across applications</a:t>
            </a:r>
          </a:p>
          <a:p>
            <a:r>
              <a:rPr lang="en-US" sz="2000" dirty="0"/>
              <a:t>Acquires executors on cluster nodes – worker processes to run computations and store data, master node will assign worker nodes to perform actual computation,  executors are responsible for executing tasks and storing intermediate results</a:t>
            </a:r>
          </a:p>
          <a:p>
            <a:r>
              <a:rPr lang="en-US" sz="2000" dirty="0"/>
              <a:t> Send app code to the executors, Once executors are allocated, the </a:t>
            </a:r>
            <a:r>
              <a:rPr lang="en-US" sz="2000" b="1" dirty="0"/>
              <a:t>Master node sends the Spark application (code)</a:t>
            </a:r>
            <a:r>
              <a:rPr lang="en-US" sz="2000" dirty="0"/>
              <a:t> to them for execution.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5" name="Picture 4"/>
          <p:cNvPicPr>
            <a:picLocks noChangeAspect="1"/>
          </p:cNvPicPr>
          <p:nvPr/>
        </p:nvPicPr>
        <p:blipFill>
          <a:blip r:embed="rId2"/>
          <a:stretch>
            <a:fillRect/>
          </a:stretch>
        </p:blipFill>
        <p:spPr>
          <a:xfrm>
            <a:off x="5957888" y="3078989"/>
            <a:ext cx="5410200" cy="2846597"/>
          </a:xfrm>
          <a:prstGeom prst="rect">
            <a:avLst/>
          </a:prstGeom>
        </p:spPr>
      </p:pic>
      <p:sp>
        <p:nvSpPr>
          <p:cNvPr id="6" name="TextBox 5">
            <a:extLst>
              <a:ext uri="{FF2B5EF4-FFF2-40B4-BE49-F238E27FC236}">
                <a16:creationId xmlns:a16="http://schemas.microsoft.com/office/drawing/2014/main" id="{8B0CCF48-9752-F511-CF4E-C3F73F81ED7F}"/>
              </a:ext>
            </a:extLst>
          </p:cNvPr>
          <p:cNvSpPr txBox="1"/>
          <p:nvPr/>
        </p:nvSpPr>
        <p:spPr>
          <a:xfrm>
            <a:off x="234303" y="3707905"/>
            <a:ext cx="5861697" cy="2554545"/>
          </a:xfrm>
          <a:prstGeom prst="rect">
            <a:avLst/>
          </a:prstGeom>
          <a:noFill/>
        </p:spPr>
        <p:txBody>
          <a:bodyPr wrap="square" rtlCol="0">
            <a:spAutoFit/>
          </a:bodyPr>
          <a:lstStyle/>
          <a:p>
            <a:r>
              <a:rPr lang="en-US" sz="1600" dirty="0"/>
              <a:t>Driver program is Spark Context which is starting point of the spark code, </a:t>
            </a:r>
            <a:r>
              <a:rPr lang="en-US" sz="1600" dirty="0" err="1"/>
              <a:t>sc</a:t>
            </a:r>
            <a:r>
              <a:rPr lang="en-US" sz="1600" dirty="0"/>
              <a:t> will interact with cluster manager then cluster manager will interact with worker nodes. Each worker node has its executor which will execute the task assigned, we have little bit of cache, and worker node can listen to each other, cluster manager will exchange things b/w nodes, and driver program can get to know things from cluster manager.</a:t>
            </a:r>
          </a:p>
          <a:p>
            <a:endParaRPr lang="en-US" sz="1600" dirty="0"/>
          </a:p>
          <a:p>
            <a:r>
              <a:rPr lang="en-US" sz="1600" dirty="0"/>
              <a:t>Spark context will kick off things for </a:t>
            </a:r>
            <a:r>
              <a:rPr lang="en-US" sz="1600" dirty="0" err="1"/>
              <a:t>u.Thats</a:t>
            </a:r>
            <a:r>
              <a:rPr lang="en-US" sz="1600" dirty="0"/>
              <a:t>  known as driver program. </a:t>
            </a:r>
          </a:p>
        </p:txBody>
      </p:sp>
    </p:spTree>
    <p:extLst>
      <p:ext uri="{BB962C8B-B14F-4D97-AF65-F5344CB8AC3E}">
        <p14:creationId xmlns:p14="http://schemas.microsoft.com/office/powerpoint/2010/main" val="3317621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228601"/>
            <a:ext cx="9875520" cy="541215"/>
          </a:xfrm>
        </p:spPr>
        <p:txBody>
          <a:bodyPr/>
          <a:lstStyle/>
          <a:p>
            <a:r>
              <a:rPr lang="en-US" sz="2800" b="1" dirty="0">
                <a:solidFill>
                  <a:srgbClr val="00B050"/>
                </a:solidFill>
              </a:rPr>
              <a:t>Main Steps of an RDD Processing</a:t>
            </a:r>
          </a:p>
        </p:txBody>
      </p:sp>
      <p:sp>
        <p:nvSpPr>
          <p:cNvPr id="3" name="Content Placeholder 2"/>
          <p:cNvSpPr>
            <a:spLocks noGrp="1"/>
          </p:cNvSpPr>
          <p:nvPr>
            <p:ph idx="1"/>
          </p:nvPr>
        </p:nvSpPr>
        <p:spPr>
          <a:xfrm>
            <a:off x="1158241" y="1219200"/>
            <a:ext cx="9875520" cy="5181600"/>
          </a:xfrm>
        </p:spPr>
        <p:txBody>
          <a:bodyPr>
            <a:noAutofit/>
          </a:bodyPr>
          <a:lstStyle/>
          <a:p>
            <a:pPr marL="457189" indent="-457189">
              <a:buFont typeface="+mj-lt"/>
              <a:buAutoNum type="arabicPeriod"/>
            </a:pPr>
            <a:r>
              <a:rPr lang="en-US" sz="2400" dirty="0">
                <a:solidFill>
                  <a:srgbClr val="C00000"/>
                </a:solidFill>
              </a:rPr>
              <a:t>Create</a:t>
            </a:r>
            <a:r>
              <a:rPr lang="en-US" sz="2400" dirty="0"/>
              <a:t>  RDD from external data (from distributed file system or local file system)</a:t>
            </a:r>
          </a:p>
          <a:p>
            <a:pPr marL="1447764" lvl="2" indent="-457189">
              <a:buFont typeface="+mj-lt"/>
              <a:buAutoNum type="arabicPeriod"/>
            </a:pPr>
            <a:endParaRPr lang="en-US" dirty="0">
              <a:solidFill>
                <a:schemeClr val="tx1"/>
              </a:solidFill>
            </a:endParaRPr>
          </a:p>
          <a:p>
            <a:pPr marL="457189" indent="-457189">
              <a:buFont typeface="+mj-lt"/>
              <a:buAutoNum type="arabicPeriod"/>
            </a:pPr>
            <a:endParaRPr lang="en-US" sz="2400" dirty="0"/>
          </a:p>
          <a:p>
            <a:pPr marL="457189" indent="-457189">
              <a:buFont typeface="+mj-lt"/>
              <a:buAutoNum type="arabicPeriod"/>
            </a:pPr>
            <a:r>
              <a:rPr lang="en-US" sz="2400" dirty="0">
                <a:solidFill>
                  <a:srgbClr val="C00000"/>
                </a:solidFill>
              </a:rPr>
              <a:t>Transform</a:t>
            </a:r>
            <a:r>
              <a:rPr lang="en-US" sz="2400" dirty="0"/>
              <a:t> them to define new RDDs using transformations </a:t>
            </a:r>
          </a:p>
          <a:p>
            <a:pPr lvl="1" indent="-457189"/>
            <a:r>
              <a:rPr lang="en-US" sz="1800" dirty="0"/>
              <a:t>map(), filter()</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Store in memory </a:t>
            </a:r>
            <a:r>
              <a:rPr lang="en-US" sz="2400" dirty="0"/>
              <a:t>any intermediate RDDs that will need to be reused.</a:t>
            </a:r>
          </a:p>
          <a:p>
            <a:pPr lvl="1" indent="-457189"/>
            <a:r>
              <a:rPr lang="en-US" sz="1800" dirty="0"/>
              <a:t>persist()</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Launch actions </a:t>
            </a:r>
            <a:r>
              <a:rPr lang="en-US" sz="2400" dirty="0"/>
              <a:t>to kick off a parallel computation</a:t>
            </a:r>
          </a:p>
          <a:p>
            <a:pPr lvl="1" indent="-457189"/>
            <a:r>
              <a:rPr lang="en-US" sz="1800" dirty="0"/>
              <a:t>count()</a:t>
            </a:r>
          </a:p>
        </p:txBody>
      </p:sp>
    </p:spTree>
    <p:extLst>
      <p:ext uri="{BB962C8B-B14F-4D97-AF65-F5344CB8AC3E}">
        <p14:creationId xmlns:p14="http://schemas.microsoft.com/office/powerpoint/2010/main" val="354200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4E29-70C3-DF64-C289-7ACE3EC1E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28C62-658E-9D52-D83F-5945F1FB1426}"/>
              </a:ext>
            </a:extLst>
          </p:cNvPr>
          <p:cNvSpPr>
            <a:spLocks noGrp="1"/>
          </p:cNvSpPr>
          <p:nvPr>
            <p:ph type="title"/>
          </p:nvPr>
        </p:nvSpPr>
        <p:spPr>
          <a:xfrm>
            <a:off x="1158240" y="228601"/>
            <a:ext cx="9875520" cy="541215"/>
          </a:xfrm>
        </p:spPr>
        <p:txBody>
          <a:bodyPr/>
          <a:lstStyle/>
          <a:p>
            <a:r>
              <a:rPr lang="en-US" sz="2800" b="1" dirty="0">
                <a:solidFill>
                  <a:srgbClr val="00B050"/>
                </a:solidFill>
              </a:rPr>
              <a:t>Main Steps of an RDD Processing</a:t>
            </a:r>
          </a:p>
        </p:txBody>
      </p:sp>
      <p:sp>
        <p:nvSpPr>
          <p:cNvPr id="3" name="Content Placeholder 2">
            <a:extLst>
              <a:ext uri="{FF2B5EF4-FFF2-40B4-BE49-F238E27FC236}">
                <a16:creationId xmlns:a16="http://schemas.microsoft.com/office/drawing/2014/main" id="{15B124CE-097B-B93B-E3E3-07A6B8AE1C22}"/>
              </a:ext>
            </a:extLst>
          </p:cNvPr>
          <p:cNvSpPr>
            <a:spLocks noGrp="1"/>
          </p:cNvSpPr>
          <p:nvPr>
            <p:ph idx="1"/>
          </p:nvPr>
        </p:nvSpPr>
        <p:spPr>
          <a:xfrm>
            <a:off x="785813" y="769816"/>
            <a:ext cx="10247948" cy="5630984"/>
          </a:xfrm>
        </p:spPr>
        <p:txBody>
          <a:bodyPr>
            <a:noAutofit/>
          </a:bodyPr>
          <a:lstStyle/>
          <a:p>
            <a:pPr marL="457189" indent="-457189">
              <a:buFont typeface="+mj-lt"/>
              <a:buAutoNum type="arabicPeriod"/>
            </a:pPr>
            <a:r>
              <a:rPr lang="en-US" sz="2400" dirty="0">
                <a:solidFill>
                  <a:srgbClr val="C00000"/>
                </a:solidFill>
              </a:rPr>
              <a:t>Create</a:t>
            </a:r>
            <a:r>
              <a:rPr lang="en-US" sz="2400" dirty="0"/>
              <a:t>  RDD from external data (from distributed file system or local file system) [ external data means data sitting in DFS or some file system] </a:t>
            </a:r>
          </a:p>
          <a:p>
            <a:pPr marL="1447764" lvl="2" indent="-457189">
              <a:buFont typeface="+mj-lt"/>
              <a:buAutoNum type="arabicPeriod"/>
            </a:pPr>
            <a:endParaRPr lang="en-US" dirty="0">
              <a:solidFill>
                <a:schemeClr val="tx1"/>
              </a:solidFill>
            </a:endParaRPr>
          </a:p>
          <a:p>
            <a:pPr marL="457189" indent="-457189">
              <a:buFont typeface="+mj-lt"/>
              <a:buAutoNum type="arabicPeriod"/>
            </a:pPr>
            <a:endParaRPr lang="en-US" sz="2400" dirty="0"/>
          </a:p>
          <a:p>
            <a:pPr marL="457189" indent="-457189">
              <a:buFont typeface="+mj-lt"/>
              <a:buAutoNum type="arabicPeriod"/>
            </a:pPr>
            <a:r>
              <a:rPr lang="en-US" sz="2400" dirty="0">
                <a:solidFill>
                  <a:srgbClr val="C00000"/>
                </a:solidFill>
              </a:rPr>
              <a:t>Transform</a:t>
            </a:r>
            <a:r>
              <a:rPr lang="en-US" sz="2400" dirty="0"/>
              <a:t> them to define new RDDs using transformations </a:t>
            </a:r>
          </a:p>
          <a:p>
            <a:pPr lvl="1" indent="-457189"/>
            <a:r>
              <a:rPr lang="en-US" sz="1800" dirty="0"/>
              <a:t>map(), filter()  [Do transform operations to define new </a:t>
            </a:r>
            <a:r>
              <a:rPr lang="en-US" sz="1800" dirty="0" err="1"/>
              <a:t>rdds</a:t>
            </a:r>
            <a:r>
              <a:rPr lang="en-US" sz="1800" dirty="0"/>
              <a:t> from old </a:t>
            </a:r>
            <a:r>
              <a:rPr lang="en-US" sz="1800" dirty="0" err="1"/>
              <a:t>rdds,because</a:t>
            </a:r>
            <a:r>
              <a:rPr lang="en-US" sz="1800" dirty="0"/>
              <a:t> u cant change an </a:t>
            </a:r>
            <a:r>
              <a:rPr lang="en-US" sz="1800" dirty="0" err="1"/>
              <a:t>rdd</a:t>
            </a:r>
            <a:r>
              <a:rPr lang="en-US" sz="1800" dirty="0"/>
              <a:t> so the only way to get changed things is create new </a:t>
            </a:r>
            <a:r>
              <a:rPr lang="en-US" sz="1800" dirty="0" err="1"/>
              <a:t>rdd</a:t>
            </a:r>
            <a:r>
              <a:rPr lang="en-US" sz="1800" dirty="0"/>
              <a:t> from old </a:t>
            </a:r>
            <a:r>
              <a:rPr lang="en-US" sz="1800" dirty="0" err="1"/>
              <a:t>rdd</a:t>
            </a:r>
            <a:r>
              <a:rPr lang="en-US" sz="1800" dirty="0"/>
              <a:t>]</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Store in memory </a:t>
            </a:r>
            <a:r>
              <a:rPr lang="en-US" sz="2400" dirty="0"/>
              <a:t>any intermediate RDDs that will need to be reused.</a:t>
            </a:r>
          </a:p>
          <a:p>
            <a:pPr lvl="1" indent="-457189"/>
            <a:r>
              <a:rPr lang="en-US" sz="1800" dirty="0"/>
              <a:t>persist()  [keep some part of data in distributed memory , the data can be reused multiple times ] </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Launch actions </a:t>
            </a:r>
            <a:r>
              <a:rPr lang="en-US" sz="2400" dirty="0"/>
              <a:t>to kick off a parallel computation</a:t>
            </a:r>
          </a:p>
          <a:p>
            <a:pPr lvl="1" indent="-457189"/>
            <a:r>
              <a:rPr lang="en-US" sz="1800" dirty="0"/>
              <a:t>count()   [ the real results which  care about , Action operation will kick off parallel computation]</a:t>
            </a:r>
          </a:p>
        </p:txBody>
      </p:sp>
    </p:spTree>
    <p:extLst>
      <p:ext uri="{BB962C8B-B14F-4D97-AF65-F5344CB8AC3E}">
        <p14:creationId xmlns:p14="http://schemas.microsoft.com/office/powerpoint/2010/main" val="36666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702" y="220785"/>
            <a:ext cx="9875520" cy="541215"/>
          </a:xfrm>
        </p:spPr>
        <p:txBody>
          <a:bodyPr/>
          <a:lstStyle/>
          <a:p>
            <a:r>
              <a:rPr lang="en-US" sz="3600" dirty="0">
                <a:solidFill>
                  <a:srgbClr val="00B050"/>
                </a:solidFill>
              </a:rPr>
              <a:t>Creating an RDD</a:t>
            </a:r>
          </a:p>
        </p:txBody>
      </p:sp>
      <p:sp>
        <p:nvSpPr>
          <p:cNvPr id="3" name="Content Placeholder 2"/>
          <p:cNvSpPr>
            <a:spLocks noGrp="1"/>
          </p:cNvSpPr>
          <p:nvPr>
            <p:ph idx="1"/>
          </p:nvPr>
        </p:nvSpPr>
        <p:spPr>
          <a:xfrm>
            <a:off x="1158241" y="914400"/>
            <a:ext cx="9875520" cy="5181600"/>
          </a:xfrm>
        </p:spPr>
        <p:txBody>
          <a:bodyPr/>
          <a:lstStyle/>
          <a:p>
            <a:r>
              <a:rPr lang="en-US" dirty="0"/>
              <a:t>Two ways to do it</a:t>
            </a:r>
          </a:p>
          <a:p>
            <a:endParaRPr lang="en-US" dirty="0"/>
          </a:p>
          <a:p>
            <a:pPr marL="562537" lvl="1" indent="-342891">
              <a:buFont typeface="+mj-lt"/>
              <a:buAutoNum type="arabicPeriod"/>
            </a:pPr>
            <a:r>
              <a:rPr lang="en-US" dirty="0"/>
              <a:t>By loading an external dataset from disk</a:t>
            </a:r>
          </a:p>
          <a:p>
            <a:pPr marL="439292" lvl="2" indent="0">
              <a:buNone/>
            </a:pPr>
            <a:r>
              <a:rPr lang="en-US" dirty="0"/>
              <a:t> </a:t>
            </a:r>
          </a:p>
          <a:p>
            <a:pPr marL="562537" lvl="1" indent="-342891">
              <a:buFont typeface="+mj-lt"/>
              <a:buAutoNum type="arabicPeriod"/>
            </a:pPr>
            <a:endParaRPr lang="en-US" dirty="0"/>
          </a:p>
          <a:p>
            <a:pPr marL="562537" lvl="1" indent="-342891">
              <a:buFont typeface="+mj-lt"/>
              <a:buAutoNum type="arabicPeriod"/>
            </a:pPr>
            <a:endParaRPr lang="en-US" dirty="0"/>
          </a:p>
          <a:p>
            <a:pPr marL="562537" lvl="1" indent="-342891">
              <a:buFont typeface="+mj-lt"/>
              <a:buAutoNum type="arabicPeriod"/>
            </a:pPr>
            <a:r>
              <a:rPr lang="en-US" dirty="0"/>
              <a:t>Parallelizing a collection in your driver (main) program</a:t>
            </a:r>
          </a:p>
          <a:p>
            <a:pPr marL="439292" lvl="2" indent="0">
              <a:buNone/>
            </a:pPr>
            <a:r>
              <a:rPr lang="en-US" dirty="0"/>
              <a:t>   </a:t>
            </a:r>
          </a:p>
        </p:txBody>
      </p:sp>
      <p:sp>
        <p:nvSpPr>
          <p:cNvPr id="4" name="TextBox 3"/>
          <p:cNvSpPr txBox="1"/>
          <p:nvPr/>
        </p:nvSpPr>
        <p:spPr>
          <a:xfrm>
            <a:off x="1967541" y="2456813"/>
            <a:ext cx="370967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0063BE"/>
                </a:solidFill>
                <a:effectLst/>
                <a:uLnTx/>
                <a:uFillTx/>
                <a:latin typeface="Arial"/>
                <a:ea typeface="+mn-ea"/>
                <a:cs typeface="+mn-cs"/>
              </a:rPr>
              <a:t>val</a:t>
            </a:r>
            <a:r>
              <a:rPr kumimoji="0" lang="en-US" sz="2000" b="0" i="0" u="none" strike="noStrike" kern="1200" cap="none" spc="0" normalizeH="0" baseline="0" noProof="0" dirty="0">
                <a:ln>
                  <a:noFill/>
                </a:ln>
                <a:solidFill>
                  <a:srgbClr val="0063BE"/>
                </a:solidFill>
                <a:effectLst/>
                <a:uLnTx/>
                <a:uFillTx/>
                <a:latin typeface="Arial"/>
                <a:ea typeface="+mn-ea"/>
                <a:cs typeface="+mn-cs"/>
              </a:rPr>
              <a:t> </a:t>
            </a:r>
            <a:r>
              <a:rPr kumimoji="0" lang="en-US" sz="2000" b="0" i="0" u="none" strike="noStrike" kern="1200" cap="none" spc="0" normalizeH="0" baseline="0" noProof="0" dirty="0" err="1">
                <a:ln>
                  <a:noFill/>
                </a:ln>
                <a:solidFill>
                  <a:srgbClr val="0063BE"/>
                </a:solidFill>
                <a:effectLst/>
                <a:uLnTx/>
                <a:uFillTx/>
                <a:latin typeface="Arial"/>
                <a:ea typeface="+mn-ea"/>
                <a:cs typeface="+mn-cs"/>
              </a:rPr>
              <a:t>rdd</a:t>
            </a:r>
            <a:r>
              <a:rPr kumimoji="0" lang="en-US" sz="2000" b="0" i="0" u="none" strike="noStrike" kern="1200" cap="none" spc="0" normalizeH="0" baseline="0" noProof="0" dirty="0">
                <a:ln>
                  <a:noFill/>
                </a:ln>
                <a:solidFill>
                  <a:srgbClr val="0063BE"/>
                </a:solidFill>
                <a:effectLst/>
                <a:uLnTx/>
                <a:uFillTx/>
                <a:latin typeface="Arial"/>
                <a:ea typeface="+mn-ea"/>
                <a:cs typeface="+mn-cs"/>
              </a:rPr>
              <a:t> = </a:t>
            </a:r>
            <a:r>
              <a:rPr kumimoji="0" lang="en-US" sz="2000" b="0" i="0" u="none" strike="noStrike" kern="1200" cap="none" spc="0" normalizeH="0" baseline="0" noProof="0" dirty="0" err="1">
                <a:ln>
                  <a:noFill/>
                </a:ln>
                <a:solidFill>
                  <a:srgbClr val="0063BE"/>
                </a:solidFill>
                <a:effectLst/>
                <a:uLnTx/>
                <a:uFillTx/>
                <a:latin typeface="Arial"/>
                <a:ea typeface="+mn-ea"/>
                <a:cs typeface="+mn-cs"/>
              </a:rPr>
              <a:t>sc.textFile</a:t>
            </a:r>
            <a:r>
              <a:rPr kumimoji="0" lang="en-US" sz="2000" b="0" i="0" u="none" strike="noStrike" kern="1200" cap="none" spc="0" normalizeH="0" baseline="0" noProof="0" dirty="0">
                <a:ln>
                  <a:noFill/>
                </a:ln>
                <a:solidFill>
                  <a:srgbClr val="0063BE"/>
                </a:solidFill>
                <a:effectLst/>
                <a:uLnTx/>
                <a:uFillTx/>
                <a:latin typeface="Arial"/>
                <a:ea typeface="+mn-ea"/>
                <a:cs typeface="+mn-cs"/>
              </a:rPr>
              <a:t>(“</a:t>
            </a:r>
            <a:r>
              <a:rPr kumimoji="0" lang="en-US" sz="2000" b="0" i="0" u="none" strike="noStrike" kern="1200" cap="none" spc="0" normalizeH="0" baseline="0" noProof="0" dirty="0" err="1">
                <a:ln>
                  <a:noFill/>
                </a:ln>
                <a:solidFill>
                  <a:srgbClr val="0063BE"/>
                </a:solidFill>
                <a:effectLst/>
                <a:uLnTx/>
                <a:uFillTx/>
                <a:latin typeface="Arial"/>
                <a:ea typeface="+mn-ea"/>
                <a:cs typeface="+mn-cs"/>
              </a:rPr>
              <a:t>inputFile</a:t>
            </a:r>
            <a:r>
              <a:rPr kumimoji="0" lang="en-US" sz="2000" b="0" i="0" u="none" strike="noStrike" kern="1200" cap="none" spc="0" normalizeH="0" baseline="0" noProof="0" dirty="0">
                <a:ln>
                  <a:noFill/>
                </a:ln>
                <a:solidFill>
                  <a:srgbClr val="0063BE"/>
                </a:solidFill>
                <a:effectLst/>
                <a:uLnTx/>
                <a:uFillTx/>
                <a:latin typeface="Arial"/>
                <a:ea typeface="+mn-ea"/>
                <a:cs typeface="+mn-cs"/>
              </a:rPr>
              <a:t>”)</a:t>
            </a:r>
          </a:p>
        </p:txBody>
      </p:sp>
      <p:sp>
        <p:nvSpPr>
          <p:cNvPr id="6" name="TextBox 5"/>
          <p:cNvSpPr txBox="1"/>
          <p:nvPr/>
        </p:nvSpPr>
        <p:spPr>
          <a:xfrm>
            <a:off x="2032002" y="4085144"/>
            <a:ext cx="64844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2000" b="1" i="0" u="none" strike="noStrike" kern="1200" cap="none" spc="0" normalizeH="0" baseline="0" noProof="0" dirty="0">
                <a:ln>
                  <a:noFill/>
                </a:ln>
                <a:solidFill>
                  <a:srgbClr val="0063BE"/>
                </a:solidFill>
                <a:effectLst/>
                <a:uLnTx/>
                <a:uFillTx/>
                <a:latin typeface="Arial"/>
                <a:ea typeface="+mn-ea"/>
                <a:cs typeface="+mn-cs"/>
              </a:rPr>
              <a:t>val </a:t>
            </a:r>
            <a:r>
              <a:rPr kumimoji="0" lang="nn-NO" sz="2000" b="0" i="0" u="none" strike="noStrike" kern="1200" cap="none" spc="0" normalizeH="0" baseline="0" noProof="0" dirty="0">
                <a:ln>
                  <a:noFill/>
                </a:ln>
                <a:solidFill>
                  <a:srgbClr val="0063BE"/>
                </a:solidFill>
                <a:effectLst/>
                <a:uLnTx/>
                <a:uFillTx/>
                <a:latin typeface="Arial"/>
                <a:ea typeface="+mn-ea"/>
                <a:cs typeface="+mn-cs"/>
              </a:rPr>
              <a:t>lines </a:t>
            </a:r>
            <a:r>
              <a:rPr kumimoji="0" lang="nn-NO" sz="2000" b="1" i="0" u="none" strike="noStrike" kern="1200" cap="none" spc="0" normalizeH="0" baseline="0" noProof="0" dirty="0">
                <a:ln>
                  <a:noFill/>
                </a:ln>
                <a:solidFill>
                  <a:srgbClr val="0063BE"/>
                </a:solidFill>
                <a:effectLst/>
                <a:uLnTx/>
                <a:uFillTx/>
                <a:latin typeface="Arial"/>
                <a:ea typeface="+mn-ea"/>
                <a:cs typeface="+mn-cs"/>
              </a:rPr>
              <a:t>= </a:t>
            </a:r>
            <a:r>
              <a:rPr kumimoji="0" lang="nn-NO" sz="2000" b="0" i="0" u="none" strike="noStrike" kern="1200" cap="none" spc="0" normalizeH="0" baseline="0" noProof="0" dirty="0">
                <a:ln>
                  <a:noFill/>
                </a:ln>
                <a:solidFill>
                  <a:srgbClr val="0063BE"/>
                </a:solidFill>
                <a:effectLst/>
                <a:uLnTx/>
                <a:uFillTx/>
                <a:latin typeface="Arial"/>
                <a:ea typeface="+mn-ea"/>
                <a:cs typeface="+mn-cs"/>
              </a:rPr>
              <a:t>sc.parallelize(</a:t>
            </a:r>
            <a:r>
              <a:rPr kumimoji="0" lang="nn-NO" sz="2000" b="1" i="0" u="none" strike="noStrike" kern="1200" cap="none" spc="0" normalizeH="0" baseline="0" noProof="0" dirty="0">
                <a:ln>
                  <a:noFill/>
                </a:ln>
                <a:solidFill>
                  <a:srgbClr val="0063BE"/>
                </a:solidFill>
                <a:effectLst/>
                <a:uLnTx/>
                <a:uFillTx/>
                <a:latin typeface="Arial"/>
                <a:ea typeface="+mn-ea"/>
                <a:cs typeface="+mn-cs"/>
              </a:rPr>
              <a:t>List</a:t>
            </a:r>
            <a:r>
              <a:rPr kumimoji="0" lang="nn-NO" sz="2000" b="0" i="0" u="none" strike="noStrike" kern="1200" cap="none" spc="0" normalizeH="0" baseline="0" noProof="0" dirty="0">
                <a:ln>
                  <a:noFill/>
                </a:ln>
                <a:solidFill>
                  <a:srgbClr val="0063BE"/>
                </a:solidFill>
                <a:effectLst/>
                <a:uLnTx/>
                <a:uFillTx/>
                <a:latin typeface="Arial"/>
                <a:ea typeface="+mn-ea"/>
                <a:cs typeface="+mn-cs"/>
              </a:rPr>
              <a:t>("pandas", "i like pandas"))</a:t>
            </a:r>
            <a:endParaRPr kumimoji="0" lang="en-US" sz="2000" b="0" i="0" u="none" strike="noStrike" kern="1200" cap="none" spc="0" normalizeH="0" baseline="0" noProof="0" dirty="0">
              <a:ln>
                <a:noFill/>
              </a:ln>
              <a:solidFill>
                <a:srgbClr val="0063BE"/>
              </a:solidFill>
              <a:effectLst/>
              <a:uLnTx/>
              <a:uFillTx/>
              <a:latin typeface="Arial"/>
              <a:ea typeface="+mn-ea"/>
              <a:cs typeface="+mn-cs"/>
            </a:endParaRPr>
          </a:p>
        </p:txBody>
      </p:sp>
      <p:sp>
        <p:nvSpPr>
          <p:cNvPr id="7" name="TextBox 6"/>
          <p:cNvSpPr txBox="1"/>
          <p:nvPr/>
        </p:nvSpPr>
        <p:spPr>
          <a:xfrm>
            <a:off x="848680" y="5174866"/>
            <a:ext cx="91230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black"/>
                </a:solidFill>
                <a:effectLst/>
                <a:uLnTx/>
                <a:uFillTx/>
                <a:latin typeface="Arial"/>
                <a:ea typeface="+mn-ea"/>
                <a:cs typeface="+mn-cs"/>
              </a:rPr>
              <a:t>sc</a:t>
            </a:r>
            <a:r>
              <a:rPr kumimoji="0" lang="en-US" sz="2000" b="0" i="0" u="none" strike="noStrike" kern="1200" cap="none" spc="0" normalizeH="0" baseline="0" noProof="0" dirty="0">
                <a:ln>
                  <a:noFill/>
                </a:ln>
                <a:solidFill>
                  <a:prstClr val="black"/>
                </a:solidFill>
                <a:effectLst/>
                <a:uLnTx/>
                <a:uFillTx/>
                <a:latin typeface="Arial"/>
                <a:ea typeface="+mn-ea"/>
                <a:cs typeface="+mn-cs"/>
              </a:rPr>
              <a:t> denotes the spark context that calls the spark core and manages the cluster</a:t>
            </a:r>
          </a:p>
        </p:txBody>
      </p:sp>
      <p:sp>
        <p:nvSpPr>
          <p:cNvPr id="5" name="TextBox 4">
            <a:extLst>
              <a:ext uri="{FF2B5EF4-FFF2-40B4-BE49-F238E27FC236}">
                <a16:creationId xmlns:a16="http://schemas.microsoft.com/office/drawing/2014/main" id="{1AE03D48-135F-0DD5-19EB-4D3C625F557E}"/>
              </a:ext>
            </a:extLst>
          </p:cNvPr>
          <p:cNvSpPr txBox="1"/>
          <p:nvPr/>
        </p:nvSpPr>
        <p:spPr>
          <a:xfrm>
            <a:off x="6933247" y="1718149"/>
            <a:ext cx="5233987" cy="1477328"/>
          </a:xfrm>
          <a:prstGeom prst="rect">
            <a:avLst/>
          </a:prstGeom>
          <a:noFill/>
        </p:spPr>
        <p:txBody>
          <a:bodyPr wrap="square" rtlCol="0">
            <a:spAutoFit/>
          </a:bodyPr>
          <a:lstStyle/>
          <a:p>
            <a:r>
              <a:rPr lang="en-US" dirty="0"/>
              <a:t>1&gt; </a:t>
            </a:r>
            <a:r>
              <a:rPr lang="en-US" dirty="0" err="1"/>
              <a:t>val</a:t>
            </a:r>
            <a:r>
              <a:rPr lang="en-US" dirty="0"/>
              <a:t> is a qualifier like declaring a variable, </a:t>
            </a:r>
            <a:r>
              <a:rPr lang="en-US" dirty="0" err="1"/>
              <a:t>rdd</a:t>
            </a:r>
            <a:r>
              <a:rPr lang="en-US" dirty="0"/>
              <a:t> is a name here , </a:t>
            </a:r>
            <a:r>
              <a:rPr lang="en-US" dirty="0" err="1"/>
              <a:t>sc</a:t>
            </a:r>
            <a:r>
              <a:rPr lang="en-US" dirty="0"/>
              <a:t> is spark context which has lots of inbuilt functions. </a:t>
            </a:r>
            <a:r>
              <a:rPr lang="en-US" dirty="0" err="1"/>
              <a:t>Sc.txtfile</a:t>
            </a:r>
            <a:r>
              <a:rPr lang="en-US" dirty="0"/>
              <a:t> , </a:t>
            </a:r>
            <a:r>
              <a:rPr lang="en-US" dirty="0" err="1"/>
              <a:t>func</a:t>
            </a:r>
            <a:r>
              <a:rPr lang="en-US" dirty="0"/>
              <a:t> is </a:t>
            </a:r>
            <a:r>
              <a:rPr lang="en-US" dirty="0" err="1"/>
              <a:t>txtfile</a:t>
            </a:r>
            <a:r>
              <a:rPr lang="en-US" dirty="0"/>
              <a:t> which will read data from input file which is sitting in DFS or LFS ,and it will create a RDD.</a:t>
            </a:r>
          </a:p>
        </p:txBody>
      </p:sp>
      <p:sp>
        <p:nvSpPr>
          <p:cNvPr id="8" name="TextBox 7">
            <a:extLst>
              <a:ext uri="{FF2B5EF4-FFF2-40B4-BE49-F238E27FC236}">
                <a16:creationId xmlns:a16="http://schemas.microsoft.com/office/drawing/2014/main" id="{7DD2F24E-072F-92B9-A9A7-382C8B5DBDC0}"/>
              </a:ext>
            </a:extLst>
          </p:cNvPr>
          <p:cNvSpPr txBox="1"/>
          <p:nvPr/>
        </p:nvSpPr>
        <p:spPr>
          <a:xfrm>
            <a:off x="8729662" y="3489113"/>
            <a:ext cx="3462337" cy="1477328"/>
          </a:xfrm>
          <a:prstGeom prst="rect">
            <a:avLst/>
          </a:prstGeom>
          <a:noFill/>
        </p:spPr>
        <p:txBody>
          <a:bodyPr wrap="square" rtlCol="0">
            <a:spAutoFit/>
          </a:bodyPr>
          <a:lstStyle/>
          <a:p>
            <a:r>
              <a:rPr lang="en-US" dirty="0"/>
              <a:t>2&gt; To test our code. We are creating a list of 2 elements and u are parallelizing it to create an </a:t>
            </a:r>
            <a:r>
              <a:rPr lang="en-US" dirty="0" err="1"/>
              <a:t>rdd.creating</a:t>
            </a:r>
            <a:r>
              <a:rPr lang="en-US" dirty="0"/>
              <a:t> an </a:t>
            </a:r>
            <a:r>
              <a:rPr lang="en-US" dirty="0" err="1"/>
              <a:t>rdd</a:t>
            </a:r>
            <a:r>
              <a:rPr lang="en-US" dirty="0"/>
              <a:t> from an existing in memory collection.</a:t>
            </a:r>
          </a:p>
        </p:txBody>
      </p:sp>
      <p:sp>
        <p:nvSpPr>
          <p:cNvPr id="9" name="TextBox 8">
            <a:extLst>
              <a:ext uri="{FF2B5EF4-FFF2-40B4-BE49-F238E27FC236}">
                <a16:creationId xmlns:a16="http://schemas.microsoft.com/office/drawing/2014/main" id="{464D4636-434E-D3E1-9FE6-F0D0B9A3EA22}"/>
              </a:ext>
            </a:extLst>
          </p:cNvPr>
          <p:cNvSpPr txBox="1"/>
          <p:nvPr/>
        </p:nvSpPr>
        <p:spPr>
          <a:xfrm>
            <a:off x="514350" y="5786438"/>
            <a:ext cx="11172825" cy="923330"/>
          </a:xfrm>
          <a:prstGeom prst="rect">
            <a:avLst/>
          </a:prstGeom>
          <a:noFill/>
        </p:spPr>
        <p:txBody>
          <a:bodyPr wrap="square" rtlCol="0">
            <a:spAutoFit/>
          </a:bodyPr>
          <a:lstStyle/>
          <a:p>
            <a:r>
              <a:rPr lang="en-US" dirty="0"/>
              <a:t>2&gt; Instead of reading from a file or a database we are creating a small dataset (which is a list of 2 elements).This small dataset is then parallelized into an RDD using </a:t>
            </a:r>
            <a:r>
              <a:rPr lang="en-US" dirty="0" err="1"/>
              <a:t>sc.parallelize</a:t>
            </a:r>
            <a:r>
              <a:rPr lang="en-US" dirty="0"/>
              <a:t>(), allowing spark to process it in a distributed manner.</a:t>
            </a:r>
          </a:p>
        </p:txBody>
      </p:sp>
    </p:spTree>
    <p:extLst>
      <p:ext uri="{BB962C8B-B14F-4D97-AF65-F5344CB8AC3E}">
        <p14:creationId xmlns:p14="http://schemas.microsoft.com/office/powerpoint/2010/main" val="3898266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318" y="237565"/>
            <a:ext cx="9875520" cy="465013"/>
          </a:xfrm>
        </p:spPr>
        <p:txBody>
          <a:bodyPr>
            <a:noAutofit/>
          </a:bodyPr>
          <a:lstStyle/>
          <a:p>
            <a:r>
              <a:rPr lang="en-US" sz="2800" b="1" dirty="0">
                <a:solidFill>
                  <a:srgbClr val="00B050"/>
                </a:solidFill>
              </a:rPr>
              <a:t>RDD Operations</a:t>
            </a:r>
          </a:p>
        </p:txBody>
      </p:sp>
      <p:sp>
        <p:nvSpPr>
          <p:cNvPr id="3" name="Content Placeholder 2"/>
          <p:cNvSpPr>
            <a:spLocks noGrp="1"/>
          </p:cNvSpPr>
          <p:nvPr>
            <p:ph idx="1"/>
          </p:nvPr>
        </p:nvSpPr>
        <p:spPr>
          <a:xfrm>
            <a:off x="300991" y="876300"/>
            <a:ext cx="5342572" cy="5562600"/>
          </a:xfrm>
        </p:spPr>
        <p:txBody>
          <a:bodyPr/>
          <a:lstStyle/>
          <a:p>
            <a:r>
              <a:rPr lang="en-US" dirty="0"/>
              <a:t>Two types of Operations</a:t>
            </a:r>
          </a:p>
          <a:p>
            <a:endParaRPr lang="en-US" dirty="0"/>
          </a:p>
          <a:p>
            <a:pPr lvl="1"/>
            <a:r>
              <a:rPr lang="en-US" dirty="0"/>
              <a:t>Transformations </a:t>
            </a:r>
          </a:p>
          <a:p>
            <a:pPr marL="990575" lvl="2" indent="0">
              <a:buNone/>
            </a:pPr>
            <a:endParaRPr lang="en-US" sz="2000" dirty="0"/>
          </a:p>
          <a:p>
            <a:pPr lvl="2"/>
            <a:r>
              <a:rPr lang="en-US" sz="2000" dirty="0"/>
              <a:t>Example:  </a:t>
            </a:r>
            <a:r>
              <a:rPr lang="en-US" sz="2000" dirty="0">
                <a:solidFill>
                  <a:srgbClr val="FF0000"/>
                </a:solidFill>
              </a:rPr>
              <a:t>map(), filter()</a:t>
            </a:r>
          </a:p>
          <a:p>
            <a:pPr lvl="2"/>
            <a:endParaRPr lang="en-US" dirty="0">
              <a:solidFill>
                <a:srgbClr val="FF0000"/>
              </a:solidFill>
            </a:endParaRPr>
          </a:p>
          <a:p>
            <a:pPr lvl="1"/>
            <a:endParaRPr lang="en-US" dirty="0"/>
          </a:p>
          <a:p>
            <a:pPr lvl="1"/>
            <a:r>
              <a:rPr lang="en-US" dirty="0"/>
              <a:t>Actions</a:t>
            </a:r>
          </a:p>
          <a:p>
            <a:pPr lvl="1"/>
            <a:endParaRPr lang="en-US" dirty="0"/>
          </a:p>
          <a:p>
            <a:pPr lvl="2"/>
            <a:r>
              <a:rPr lang="en-US" sz="2000" dirty="0"/>
              <a:t>Example: </a:t>
            </a:r>
            <a:r>
              <a:rPr lang="en-US" sz="2000" dirty="0">
                <a:solidFill>
                  <a:srgbClr val="FF0000"/>
                </a:solidFill>
              </a:rPr>
              <a:t>count(), </a:t>
            </a:r>
            <a:r>
              <a:rPr lang="en-US" sz="2000" dirty="0" err="1">
                <a:solidFill>
                  <a:srgbClr val="FF0000"/>
                </a:solidFill>
              </a:rPr>
              <a:t>saveAsTextFile</a:t>
            </a:r>
            <a:r>
              <a:rPr lang="en-US" sz="2000" dirty="0">
                <a:solidFill>
                  <a:srgbClr val="FF0000"/>
                </a:solidFill>
              </a:rPr>
              <a:t>()</a:t>
            </a:r>
          </a:p>
          <a:p>
            <a:pPr lvl="2"/>
            <a:endParaRPr lang="en-US" b="0" dirty="0">
              <a:solidFill>
                <a:srgbClr val="C00000"/>
              </a:solidFill>
            </a:endParaRPr>
          </a:p>
        </p:txBody>
      </p:sp>
      <p:sp>
        <p:nvSpPr>
          <p:cNvPr id="4" name="TextBox 3">
            <a:extLst>
              <a:ext uri="{FF2B5EF4-FFF2-40B4-BE49-F238E27FC236}">
                <a16:creationId xmlns:a16="http://schemas.microsoft.com/office/drawing/2014/main" id="{D917FA23-B9F0-5561-7F23-62264718B25C}"/>
              </a:ext>
            </a:extLst>
          </p:cNvPr>
          <p:cNvSpPr txBox="1"/>
          <p:nvPr/>
        </p:nvSpPr>
        <p:spPr>
          <a:xfrm>
            <a:off x="5543550" y="237565"/>
            <a:ext cx="6648450" cy="4801314"/>
          </a:xfrm>
          <a:prstGeom prst="rect">
            <a:avLst/>
          </a:prstGeom>
          <a:noFill/>
        </p:spPr>
        <p:txBody>
          <a:bodyPr wrap="square" rtlCol="0">
            <a:spAutoFit/>
          </a:bodyPr>
          <a:lstStyle/>
          <a:p>
            <a:r>
              <a:rPr lang="en-US" dirty="0"/>
              <a:t>Transformation operation means creating a new </a:t>
            </a:r>
            <a:r>
              <a:rPr lang="en-US" dirty="0" err="1"/>
              <a:t>rdd</a:t>
            </a:r>
            <a:r>
              <a:rPr lang="en-US" dirty="0"/>
              <a:t> from a old </a:t>
            </a:r>
            <a:r>
              <a:rPr lang="en-US" dirty="0" err="1"/>
              <a:t>rdd</a:t>
            </a:r>
            <a:r>
              <a:rPr lang="en-US" dirty="0"/>
              <a:t>, for intermediate processing .</a:t>
            </a:r>
          </a:p>
          <a:p>
            <a:endParaRPr lang="en-US" dirty="0"/>
          </a:p>
          <a:p>
            <a:r>
              <a:rPr lang="en-US" dirty="0"/>
              <a:t>But Action operations are ones which we really want to see  results at the end of it.</a:t>
            </a:r>
          </a:p>
          <a:p>
            <a:endParaRPr lang="en-US" dirty="0"/>
          </a:p>
          <a:p>
            <a:r>
              <a:rPr lang="en-US" dirty="0"/>
              <a:t>Because spark follows policy of </a:t>
            </a:r>
            <a:r>
              <a:rPr lang="en-US" b="1" dirty="0"/>
              <a:t>lazy evaluation</a:t>
            </a:r>
            <a:r>
              <a:rPr lang="en-US" dirty="0"/>
              <a:t>. When we req for a transformation operation then spark will not execute it that time rather it will remember that it has to do those operations.</a:t>
            </a:r>
          </a:p>
          <a:p>
            <a:endParaRPr lang="en-US" dirty="0"/>
          </a:p>
          <a:p>
            <a:r>
              <a:rPr lang="en-US" dirty="0"/>
              <a:t>When u are typing an action operation then only it will go an kick off operations for you.</a:t>
            </a:r>
          </a:p>
          <a:p>
            <a:endParaRPr lang="en-US" dirty="0"/>
          </a:p>
          <a:p>
            <a:r>
              <a:rPr lang="en-US" dirty="0" err="1"/>
              <a:t>Becoz</a:t>
            </a:r>
            <a:r>
              <a:rPr lang="en-US" dirty="0"/>
              <a:t> if after seeing a transformation operation u start doing things then there would be lots of internal things which needs to be managed and if something goes wrong then u need to do things again from scratch.</a:t>
            </a:r>
          </a:p>
        </p:txBody>
      </p:sp>
    </p:spTree>
    <p:extLst>
      <p:ext uri="{BB962C8B-B14F-4D97-AF65-F5344CB8AC3E}">
        <p14:creationId xmlns:p14="http://schemas.microsoft.com/office/powerpoint/2010/main" val="248235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06" y="184004"/>
            <a:ext cx="9875520" cy="673555"/>
          </a:xfrm>
        </p:spPr>
        <p:txBody>
          <a:bodyPr>
            <a:noAutofit/>
          </a:bodyPr>
          <a:lstStyle/>
          <a:p>
            <a:br>
              <a:rPr lang="en-US" b="1" dirty="0">
                <a:solidFill>
                  <a:srgbClr val="00B050"/>
                </a:solidFill>
              </a:rPr>
            </a:br>
            <a:br>
              <a:rPr lang="en-US" b="1" dirty="0">
                <a:solidFill>
                  <a:srgbClr val="00B050"/>
                </a:solidFill>
              </a:rPr>
            </a:br>
            <a:r>
              <a:rPr lang="en-US" b="1" dirty="0">
                <a:solidFill>
                  <a:srgbClr val="00B050"/>
                </a:solidFill>
              </a:rPr>
              <a:t>RDD Operations</a:t>
            </a:r>
          </a:p>
        </p:txBody>
      </p:sp>
      <p:sp>
        <p:nvSpPr>
          <p:cNvPr id="3" name="Content Placeholder 2"/>
          <p:cNvSpPr>
            <a:spLocks noGrp="1"/>
          </p:cNvSpPr>
          <p:nvPr>
            <p:ph idx="1"/>
          </p:nvPr>
        </p:nvSpPr>
        <p:spPr>
          <a:xfrm>
            <a:off x="1137920" y="857559"/>
            <a:ext cx="9875520" cy="5562600"/>
          </a:xfrm>
        </p:spPr>
        <p:txBody>
          <a:bodyPr/>
          <a:lstStyle/>
          <a:p>
            <a:r>
              <a:rPr lang="en-US" b="1" dirty="0">
                <a:solidFill>
                  <a:srgbClr val="002060"/>
                </a:solidFill>
              </a:rPr>
              <a:t>Transformations</a:t>
            </a:r>
            <a:r>
              <a:rPr lang="en-US" dirty="0">
                <a:solidFill>
                  <a:srgbClr val="002060"/>
                </a:solidFill>
              </a:rPr>
              <a:t> </a:t>
            </a:r>
            <a:endParaRPr lang="en-US" sz="2400" dirty="0">
              <a:solidFill>
                <a:srgbClr val="002060"/>
              </a:solidFill>
            </a:endParaRPr>
          </a:p>
          <a:p>
            <a:pPr lvl="1"/>
            <a:endParaRPr lang="en-US" dirty="0"/>
          </a:p>
          <a:p>
            <a:pPr lvl="1">
              <a:buFont typeface="Arial" panose="020B0604020202020204" pitchFamily="34" charset="0"/>
              <a:buChar char="•"/>
            </a:pPr>
            <a:r>
              <a:rPr lang="en-US" dirty="0"/>
              <a:t>Transformations create a new dataset from an existing one</a:t>
            </a:r>
          </a:p>
          <a:p>
            <a:pPr lvl="1">
              <a:buFont typeface="Arial" panose="020B0604020202020204" pitchFamily="34" charset="0"/>
              <a:buChar char="•"/>
            </a:pPr>
            <a:endParaRPr lang="en-US" dirty="0"/>
          </a:p>
          <a:p>
            <a:pPr lvl="1">
              <a:buFont typeface="Arial" panose="020B0604020202020204" pitchFamily="34" charset="0"/>
              <a:buChar char="•"/>
            </a:pPr>
            <a:r>
              <a:rPr lang="en-US" dirty="0">
                <a:solidFill>
                  <a:srgbClr val="00B0F0"/>
                </a:solidFill>
              </a:rPr>
              <a:t>All transformations in Spark are lazy:</a:t>
            </a:r>
            <a:r>
              <a:rPr lang="en-US" dirty="0"/>
              <a:t> </a:t>
            </a:r>
          </a:p>
          <a:p>
            <a:pPr lvl="2">
              <a:buFont typeface="Arial" panose="020B0604020202020204" pitchFamily="34" charset="0"/>
              <a:buChar char="•"/>
            </a:pPr>
            <a:r>
              <a:rPr lang="en-US" dirty="0"/>
              <a:t>they do not compute their results right away</a:t>
            </a:r>
          </a:p>
          <a:p>
            <a:pPr lvl="2">
              <a:buFont typeface="Arial" panose="020B0604020202020204" pitchFamily="34" charset="0"/>
              <a:buChar char="•"/>
            </a:pPr>
            <a:r>
              <a:rPr lang="en-US" dirty="0"/>
              <a:t>they remember the transformations applied to some base dataset</a:t>
            </a:r>
          </a:p>
          <a:p>
            <a:pPr lvl="2">
              <a:buFont typeface="Arial" panose="020B0604020202020204" pitchFamily="34" charset="0"/>
              <a:buChar char="•"/>
            </a:pPr>
            <a:r>
              <a:rPr lang="en-US" dirty="0"/>
              <a:t>the transformed RDD gets recomputed when an action is run on it</a:t>
            </a:r>
          </a:p>
          <a:p>
            <a:pPr lvl="2">
              <a:buFont typeface="Arial" panose="020B0604020202020204" pitchFamily="34" charset="0"/>
              <a:buChar char="•"/>
            </a:pPr>
            <a:endParaRPr lang="en-US" dirty="0"/>
          </a:p>
          <a:p>
            <a:pPr lvl="1">
              <a:buFont typeface="Arial" panose="020B0604020202020204" pitchFamily="34" charset="0"/>
              <a:buChar char="•"/>
            </a:pPr>
            <a:r>
              <a:rPr lang="en-US" dirty="0"/>
              <a:t>Optimizes the required calculations</a:t>
            </a:r>
          </a:p>
          <a:p>
            <a:pPr lvl="1">
              <a:buFont typeface="Arial" panose="020B0604020202020204" pitchFamily="34" charset="0"/>
              <a:buChar char="•"/>
            </a:pPr>
            <a:endParaRPr lang="en-US" dirty="0"/>
          </a:p>
          <a:p>
            <a:pPr lvl="1">
              <a:buFont typeface="Arial" panose="020B0604020202020204" pitchFamily="34" charset="0"/>
              <a:buChar char="•"/>
            </a:pPr>
            <a:r>
              <a:rPr lang="en-US" dirty="0"/>
              <a:t>Recover from the lost data partitions</a:t>
            </a:r>
          </a:p>
        </p:txBody>
      </p:sp>
    </p:spTree>
    <p:extLst>
      <p:ext uri="{BB962C8B-B14F-4D97-AF65-F5344CB8AC3E}">
        <p14:creationId xmlns:p14="http://schemas.microsoft.com/office/powerpoint/2010/main" val="54732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920" y="381002"/>
            <a:ext cx="9875520" cy="465013"/>
          </a:xfrm>
        </p:spPr>
        <p:txBody>
          <a:bodyPr>
            <a:noAutofit/>
          </a:bodyPr>
          <a:lstStyle/>
          <a:p>
            <a:r>
              <a:rPr lang="en-US" sz="2800" b="1" dirty="0">
                <a:solidFill>
                  <a:srgbClr val="00B050"/>
                </a:solidFill>
              </a:rPr>
              <a:t>Transformations: Examples</a:t>
            </a:r>
          </a:p>
        </p:txBody>
      </p:sp>
      <p:pic>
        <p:nvPicPr>
          <p:cNvPr id="5" name="Picture 4"/>
          <p:cNvPicPr>
            <a:picLocks noChangeAspect="1"/>
          </p:cNvPicPr>
          <p:nvPr/>
        </p:nvPicPr>
        <p:blipFill>
          <a:blip r:embed="rId2"/>
          <a:stretch>
            <a:fillRect/>
          </a:stretch>
        </p:blipFill>
        <p:spPr>
          <a:xfrm>
            <a:off x="1213341" y="1295401"/>
            <a:ext cx="9724681" cy="4467225"/>
          </a:xfrm>
          <a:prstGeom prst="rect">
            <a:avLst/>
          </a:prstGeom>
        </p:spPr>
      </p:pic>
      <p:sp>
        <p:nvSpPr>
          <p:cNvPr id="3" name="TextBox 2">
            <a:extLst>
              <a:ext uri="{FF2B5EF4-FFF2-40B4-BE49-F238E27FC236}">
                <a16:creationId xmlns:a16="http://schemas.microsoft.com/office/drawing/2014/main" id="{AB6DCEA0-CE57-FBB0-3F33-38B2C9815EC2}"/>
              </a:ext>
            </a:extLst>
          </p:cNvPr>
          <p:cNvSpPr txBox="1"/>
          <p:nvPr/>
        </p:nvSpPr>
        <p:spPr>
          <a:xfrm>
            <a:off x="4329113" y="2757488"/>
            <a:ext cx="768667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Read file line by line from README.md and create an </a:t>
            </a:r>
            <a:r>
              <a:rPr lang="en-US" dirty="0" err="1"/>
              <a:t>rdd</a:t>
            </a:r>
            <a:r>
              <a:rPr lang="en-US" dirty="0"/>
              <a:t> named </a:t>
            </a:r>
            <a:r>
              <a:rPr lang="en-US" dirty="0" err="1"/>
              <a:t>distFile</a:t>
            </a:r>
            <a:endParaRPr lang="en-US" dirty="0"/>
          </a:p>
          <a:p>
            <a:pPr marL="285750" indent="-285750">
              <a:buFont typeface="Arial" panose="020B0604020202020204" pitchFamily="34" charset="0"/>
              <a:buChar char="•"/>
            </a:pPr>
            <a:r>
              <a:rPr lang="en-US" dirty="0"/>
              <a:t>Apply map operation on it.it is taking one line and splitting that line based on blank spaces (“ “) and it is collecting it.</a:t>
            </a:r>
          </a:p>
          <a:p>
            <a:pPr marL="285750" indent="-285750">
              <a:buFont typeface="Arial" panose="020B0604020202020204" pitchFamily="34" charset="0"/>
              <a:buChar char="•"/>
            </a:pPr>
            <a:r>
              <a:rPr lang="en-US" dirty="0"/>
              <a:t>Map is one to one </a:t>
            </a:r>
            <a:r>
              <a:rPr lang="en-US" dirty="0" err="1"/>
              <a:t>func</a:t>
            </a:r>
            <a:r>
              <a:rPr lang="en-US" dirty="0"/>
              <a:t> and </a:t>
            </a:r>
            <a:r>
              <a:rPr lang="en-US" dirty="0" err="1"/>
              <a:t>flatmap</a:t>
            </a:r>
            <a:r>
              <a:rPr lang="en-US" dirty="0"/>
              <a:t> is one to many </a:t>
            </a:r>
            <a:r>
              <a:rPr lang="en-US" dirty="0" err="1"/>
              <a:t>func</a:t>
            </a:r>
            <a:r>
              <a:rPr lang="en-US" dirty="0"/>
              <a:t>.</a:t>
            </a:r>
          </a:p>
          <a:p>
            <a:pPr marL="285750" indent="-285750">
              <a:buFont typeface="Arial" panose="020B0604020202020204" pitchFamily="34" charset="0"/>
              <a:buChar char="•"/>
            </a:pPr>
            <a:r>
              <a:rPr lang="en-US" dirty="0"/>
              <a:t>These all are transformation operation </a:t>
            </a:r>
            <a:r>
              <a:rPr lang="en-US" dirty="0" err="1"/>
              <a:t>nd</a:t>
            </a:r>
            <a:r>
              <a:rPr lang="en-US" dirty="0"/>
              <a:t> not action operation</a:t>
            </a:r>
          </a:p>
          <a:p>
            <a:endParaRPr lang="en-US" dirty="0"/>
          </a:p>
        </p:txBody>
      </p:sp>
    </p:spTree>
    <p:extLst>
      <p:ext uri="{BB962C8B-B14F-4D97-AF65-F5344CB8AC3E}">
        <p14:creationId xmlns:p14="http://schemas.microsoft.com/office/powerpoint/2010/main" val="3523923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C71B44-C4B1-57E5-982B-00B5512B9D63}"/>
              </a:ext>
            </a:extLst>
          </p:cNvPr>
          <p:cNvSpPr txBox="1"/>
          <p:nvPr/>
        </p:nvSpPr>
        <p:spPr>
          <a:xfrm>
            <a:off x="0" y="187377"/>
            <a:ext cx="11602387" cy="6247864"/>
          </a:xfrm>
          <a:prstGeom prst="rect">
            <a:avLst/>
          </a:prstGeom>
          <a:noFill/>
        </p:spPr>
        <p:txBody>
          <a:bodyPr wrap="square" rtlCol="0">
            <a:spAutoFit/>
          </a:bodyPr>
          <a:lstStyle/>
          <a:p>
            <a:r>
              <a:rPr lang="en-US" sz="1600" dirty="0"/>
              <a:t>Assume Readme.md has ::</a:t>
            </a:r>
          </a:p>
          <a:p>
            <a:endParaRPr lang="en-US" sz="1600" dirty="0"/>
          </a:p>
          <a:p>
            <a:endParaRPr lang="en-US" sz="1600" dirty="0"/>
          </a:p>
          <a:p>
            <a:r>
              <a:rPr lang="en-US" sz="1600" dirty="0"/>
              <a:t>Hello Spark</a:t>
            </a:r>
          </a:p>
          <a:p>
            <a:r>
              <a:rPr lang="en-US" sz="1600" dirty="0"/>
              <a:t>Welcome to Big Data</a:t>
            </a:r>
          </a:p>
          <a:p>
            <a:endParaRPr lang="en-US" sz="1600" dirty="0"/>
          </a:p>
          <a:p>
            <a:endParaRPr lang="en-US" sz="1600" dirty="0"/>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Line 1:</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"Hello </a:t>
            </a:r>
            <a:r>
              <a:rPr kumimoji="0" lang="en-US" altLang="en-US" sz="1600" b="0" i="0" u="none" strike="noStrike" cap="none" normalizeH="0" baseline="0" dirty="0" err="1">
                <a:ln>
                  <a:noFill/>
                </a:ln>
                <a:solidFill>
                  <a:schemeClr val="tx1"/>
                </a:solidFill>
                <a:effectLst/>
                <a:latin typeface="Arial Unicode MS"/>
              </a:rPr>
              <a:t>Spark".split</a:t>
            </a:r>
            <a:r>
              <a:rPr kumimoji="0" lang="en-US" altLang="en-US" sz="1600" b="0" i="0" u="none" strike="noStrike" cap="none" normalizeH="0" baseline="0" dirty="0">
                <a:ln>
                  <a:noFill/>
                </a:ln>
                <a:solidFill>
                  <a:schemeClr val="tx1"/>
                </a:solidFill>
                <a:effectLst/>
                <a:latin typeface="Arial Unicode MS"/>
              </a:rPr>
              <a:t>(" ")</a:t>
            </a:r>
            <a:r>
              <a:rPr kumimoji="0" lang="en-US" altLang="en-US" sz="1600" b="0" i="0" u="none" strike="noStrike" cap="none" normalizeH="0" baseline="0" dirty="0">
                <a:ln>
                  <a:noFill/>
                </a:ln>
                <a:solidFill>
                  <a:schemeClr val="tx1"/>
                </a:solidFill>
                <a:effectLst/>
              </a:rPr>
              <a:t> → </a:t>
            </a:r>
            <a:r>
              <a:rPr kumimoji="0" lang="en-US" altLang="en-US" sz="1600" b="0" i="0" u="none" strike="noStrike" cap="none" normalizeH="0" baseline="0" dirty="0">
                <a:ln>
                  <a:noFill/>
                </a:ln>
                <a:solidFill>
                  <a:schemeClr val="tx1"/>
                </a:solidFill>
                <a:effectLst/>
                <a:latin typeface="Arial Unicode MS"/>
              </a:rPr>
              <a:t>Array("Hello", "Spark")</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Line 2:</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"Welcome to Big </a:t>
            </a:r>
            <a:r>
              <a:rPr kumimoji="0" lang="en-US" altLang="en-US" sz="1600" b="0" i="0" u="none" strike="noStrike" cap="none" normalizeH="0" baseline="0" dirty="0" err="1">
                <a:ln>
                  <a:noFill/>
                </a:ln>
                <a:solidFill>
                  <a:schemeClr val="tx1"/>
                </a:solidFill>
                <a:effectLst/>
                <a:latin typeface="Arial Unicode MS"/>
              </a:rPr>
              <a:t>Data".split</a:t>
            </a:r>
            <a:r>
              <a:rPr kumimoji="0" lang="en-US" altLang="en-US" sz="1600" b="0" i="0" u="none" strike="noStrike" cap="none" normalizeH="0" baseline="0" dirty="0">
                <a:ln>
                  <a:noFill/>
                </a:ln>
                <a:solidFill>
                  <a:schemeClr val="tx1"/>
                </a:solidFill>
                <a:effectLst/>
                <a:latin typeface="Arial Unicode MS"/>
              </a:rPr>
              <a:t>(" ")</a:t>
            </a:r>
            <a:r>
              <a:rPr kumimoji="0" lang="en-US" altLang="en-US" sz="1600" b="0" i="0" u="none" strike="noStrike" cap="none" normalizeH="0" baseline="0" dirty="0">
                <a:ln>
                  <a:noFill/>
                </a:ln>
                <a:solidFill>
                  <a:schemeClr val="tx1"/>
                </a:solidFill>
                <a:effectLst/>
              </a:rPr>
              <a:t> → </a:t>
            </a:r>
            <a:r>
              <a:rPr kumimoji="0" lang="en-US" altLang="en-US" sz="1600" b="0" i="0" u="none" strike="noStrike" cap="none" normalizeH="0" baseline="0" dirty="0">
                <a:ln>
                  <a:noFill/>
                </a:ln>
                <a:solidFill>
                  <a:schemeClr val="tx1"/>
                </a:solidFill>
                <a:effectLst/>
                <a:latin typeface="Arial Unicode MS"/>
              </a:rPr>
              <a:t>Array("Welcome", "to", "Big", "Data")</a:t>
            </a: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US" sz="1600" dirty="0"/>
          </a:p>
          <a:p>
            <a:r>
              <a:rPr lang="en-US" sz="1600" dirty="0"/>
              <a:t>Final o/p of map operation :</a:t>
            </a:r>
          </a:p>
          <a:p>
            <a:r>
              <a:rPr lang="en-US" sz="1600" dirty="0"/>
              <a:t> Array(Array("Hello", "Spark"), Array("Welcome", "to", "Big", "Data"))</a:t>
            </a:r>
          </a:p>
          <a:p>
            <a:endParaRPr lang="en-US" sz="1600" dirty="0"/>
          </a:p>
          <a:p>
            <a:endParaRPr lang="en-US" sz="1600" dirty="0"/>
          </a:p>
          <a:p>
            <a:r>
              <a:rPr lang="en-US" sz="1600" dirty="0"/>
              <a:t>.collect() : basically retrieves all the results </a:t>
            </a:r>
          </a:p>
          <a:p>
            <a:endParaRPr lang="en-US" sz="1600" dirty="0"/>
          </a:p>
          <a:p>
            <a:r>
              <a:rPr lang="en-US" sz="1600" dirty="0" err="1"/>
              <a:t>flatMap</a:t>
            </a:r>
            <a:r>
              <a:rPr lang="en-US" sz="1600" dirty="0"/>
              <a:t>() operation basically flattens the o/p as :: </a:t>
            </a:r>
          </a:p>
          <a:p>
            <a:endParaRPr lang="en-US" sz="1600" dirty="0"/>
          </a:p>
          <a:p>
            <a:r>
              <a:rPr lang="en-US" sz="1600" dirty="0"/>
              <a:t>Array("Hello", "Spark", "Welcome", "to", "Big", "Data")</a:t>
            </a:r>
          </a:p>
          <a:p>
            <a:endParaRPr lang="en-US" sz="1600" dirty="0"/>
          </a:p>
          <a:p>
            <a:endParaRPr lang="en-US" sz="1600" dirty="0"/>
          </a:p>
          <a:p>
            <a:r>
              <a:rPr lang="en-US" sz="1600" dirty="0"/>
              <a:t>Map() operation returns </a:t>
            </a:r>
            <a:r>
              <a:rPr lang="en-US" sz="1600" dirty="0" err="1"/>
              <a:t>rdd</a:t>
            </a:r>
            <a:r>
              <a:rPr lang="en-US" sz="1600" dirty="0"/>
              <a:t> of arrays and </a:t>
            </a:r>
            <a:r>
              <a:rPr lang="en-US" sz="1600" dirty="0" err="1"/>
              <a:t>FlatMap</a:t>
            </a:r>
            <a:r>
              <a:rPr lang="en-US" sz="1600" dirty="0"/>
              <a:t>() operation returns </a:t>
            </a:r>
            <a:r>
              <a:rPr lang="en-US" sz="1600" dirty="0" err="1"/>
              <a:t>rdd</a:t>
            </a:r>
            <a:r>
              <a:rPr lang="en-US" sz="1600" dirty="0"/>
              <a:t> of elements. </a:t>
            </a:r>
          </a:p>
          <a:p>
            <a:endParaRPr lang="en-US" sz="1600" dirty="0"/>
          </a:p>
          <a:p>
            <a:r>
              <a:rPr lang="en-US" sz="1600" dirty="0"/>
              <a:t>.collect() is an action operation in spark,  because it forces the computations to get executed and it retrieves the results and return it to the Driver Program. </a:t>
            </a:r>
          </a:p>
        </p:txBody>
      </p:sp>
    </p:spTree>
    <p:extLst>
      <p:ext uri="{BB962C8B-B14F-4D97-AF65-F5344CB8AC3E}">
        <p14:creationId xmlns:p14="http://schemas.microsoft.com/office/powerpoint/2010/main" val="4003027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947" y="230820"/>
            <a:ext cx="9875520" cy="615194"/>
          </a:xfrm>
        </p:spPr>
        <p:txBody>
          <a:bodyPr>
            <a:noAutofit/>
          </a:bodyPr>
          <a:lstStyle/>
          <a:p>
            <a:r>
              <a:rPr lang="en-US" sz="3600" b="1" dirty="0">
                <a:solidFill>
                  <a:srgbClr val="00B050"/>
                </a:solidFill>
              </a:rPr>
              <a:t>RDD Operations</a:t>
            </a:r>
          </a:p>
        </p:txBody>
      </p:sp>
      <p:sp>
        <p:nvSpPr>
          <p:cNvPr id="3" name="Content Placeholder 2"/>
          <p:cNvSpPr>
            <a:spLocks noGrp="1"/>
          </p:cNvSpPr>
          <p:nvPr>
            <p:ph idx="1"/>
          </p:nvPr>
        </p:nvSpPr>
        <p:spPr>
          <a:xfrm>
            <a:off x="1219202" y="914400"/>
            <a:ext cx="10119359" cy="5562600"/>
          </a:xfrm>
        </p:spPr>
        <p:txBody>
          <a:bodyPr/>
          <a:lstStyle/>
          <a:p>
            <a:r>
              <a:rPr lang="en-US" b="1" dirty="0">
                <a:solidFill>
                  <a:srgbClr val="002060"/>
                </a:solidFill>
              </a:rPr>
              <a:t>Actions </a:t>
            </a:r>
          </a:p>
          <a:p>
            <a:endParaRPr lang="en-US" sz="2400" dirty="0"/>
          </a:p>
          <a:p>
            <a:pPr lvl="1">
              <a:buFont typeface="Arial" panose="020B0604020202020204" pitchFamily="34" charset="0"/>
              <a:buChar char="•"/>
            </a:pPr>
            <a:r>
              <a:rPr lang="en-US" b="0" dirty="0"/>
              <a:t>Operations that return a result</a:t>
            </a:r>
          </a:p>
          <a:p>
            <a:pPr lvl="1">
              <a:buFont typeface="Arial" panose="020B0604020202020204" pitchFamily="34" charset="0"/>
              <a:buChar char="•"/>
            </a:pPr>
            <a:endParaRPr lang="en-US" b="0" dirty="0"/>
          </a:p>
          <a:p>
            <a:pPr lvl="1">
              <a:buFont typeface="Arial" panose="020B0604020202020204" pitchFamily="34" charset="0"/>
              <a:buChar char="•"/>
            </a:pPr>
            <a:r>
              <a:rPr lang="en-US" b="0" dirty="0"/>
              <a:t>It kicks off a computation</a:t>
            </a:r>
          </a:p>
          <a:p>
            <a:pPr lvl="1">
              <a:buFont typeface="Arial" panose="020B0604020202020204" pitchFamily="34" charset="0"/>
              <a:buChar char="•"/>
            </a:pPr>
            <a:endParaRPr lang="en-US" b="0" dirty="0"/>
          </a:p>
          <a:p>
            <a:pPr lvl="1">
              <a:buFont typeface="Arial" panose="020B0604020202020204" pitchFamily="34" charset="0"/>
              <a:buChar char="•"/>
            </a:pPr>
            <a:r>
              <a:rPr lang="en-US" b="0" dirty="0"/>
              <a:t>This is when transformations of RDDs are applied</a:t>
            </a:r>
          </a:p>
          <a:p>
            <a:pPr lvl="1"/>
            <a:endParaRPr lang="en-US" sz="1800" dirty="0"/>
          </a:p>
          <a:p>
            <a:pPr lvl="1"/>
            <a:endParaRPr lang="en-US" dirty="0"/>
          </a:p>
          <a:p>
            <a:pPr lvl="1"/>
            <a:endParaRPr lang="en-US" dirty="0"/>
          </a:p>
        </p:txBody>
      </p:sp>
    </p:spTree>
    <p:extLst>
      <p:ext uri="{BB962C8B-B14F-4D97-AF65-F5344CB8AC3E}">
        <p14:creationId xmlns:p14="http://schemas.microsoft.com/office/powerpoint/2010/main" val="75175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1"/>
            <a:ext cx="9875520" cy="685801"/>
          </a:xfrm>
        </p:spPr>
        <p:txBody>
          <a:bodyPr/>
          <a:lstStyle/>
          <a:p>
            <a:r>
              <a:rPr lang="en-IN" sz="2800" b="1" dirty="0">
                <a:solidFill>
                  <a:srgbClr val="00B050"/>
                </a:solidFill>
              </a:rPr>
              <a:t>Actions: Examples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6" name="Picture 5"/>
          <p:cNvPicPr>
            <a:picLocks noChangeAspect="1"/>
          </p:cNvPicPr>
          <p:nvPr/>
        </p:nvPicPr>
        <p:blipFill>
          <a:blip r:embed="rId2"/>
          <a:stretch>
            <a:fillRect/>
          </a:stretch>
        </p:blipFill>
        <p:spPr>
          <a:xfrm>
            <a:off x="409575" y="1093921"/>
            <a:ext cx="8034338" cy="5129991"/>
          </a:xfrm>
          <a:prstGeom prst="rect">
            <a:avLst/>
          </a:prstGeom>
        </p:spPr>
      </p:pic>
      <p:sp>
        <p:nvSpPr>
          <p:cNvPr id="3" name="TextBox 2">
            <a:extLst>
              <a:ext uri="{FF2B5EF4-FFF2-40B4-BE49-F238E27FC236}">
                <a16:creationId xmlns:a16="http://schemas.microsoft.com/office/drawing/2014/main" id="{39A78D58-EB46-90E6-30F0-752A0C5F4A4E}"/>
              </a:ext>
            </a:extLst>
          </p:cNvPr>
          <p:cNvSpPr txBox="1"/>
          <p:nvPr/>
        </p:nvSpPr>
        <p:spPr>
          <a:xfrm>
            <a:off x="4157662" y="170591"/>
            <a:ext cx="8034338" cy="1569660"/>
          </a:xfrm>
          <a:prstGeom prst="rect">
            <a:avLst/>
          </a:prstGeom>
          <a:noFill/>
        </p:spPr>
        <p:txBody>
          <a:bodyPr wrap="square" rtlCol="0">
            <a:spAutoFit/>
          </a:bodyPr>
          <a:lstStyle/>
          <a:p>
            <a:r>
              <a:rPr lang="en-US" sz="1600" dirty="0"/>
              <a:t>f is an </a:t>
            </a:r>
            <a:r>
              <a:rPr lang="en-US" sz="1600" dirty="0" err="1"/>
              <a:t>rdd</a:t>
            </a:r>
            <a:r>
              <a:rPr lang="en-US" sz="1600" dirty="0"/>
              <a:t> which is holding the elements like  lines.one line is one </a:t>
            </a:r>
            <a:r>
              <a:rPr lang="en-US" sz="1600" dirty="0" err="1"/>
              <a:t>element.for</a:t>
            </a:r>
            <a:r>
              <a:rPr lang="en-US" sz="1600" dirty="0"/>
              <a:t> each element u have to produce words, </a:t>
            </a:r>
            <a:r>
              <a:rPr lang="en-US" sz="1600" dirty="0" err="1"/>
              <a:t>flatmap</a:t>
            </a:r>
            <a:r>
              <a:rPr lang="en-US" sz="1600" dirty="0"/>
              <a:t> will take one line as one element and it will split the line into words separated by blank spaces and each of the words will be sent to map function which will map each of the words to a pair (word,1). Then u are reducing by key , like add the </a:t>
            </a:r>
            <a:r>
              <a:rPr lang="en-US" sz="1600" dirty="0" err="1"/>
              <a:t>freq</a:t>
            </a:r>
            <a:r>
              <a:rPr lang="en-US" sz="1600" dirty="0"/>
              <a:t> count of each word and it will collect and print.</a:t>
            </a:r>
          </a:p>
          <a:p>
            <a:r>
              <a:rPr lang="en-US" sz="1600" dirty="0"/>
              <a:t>1</a:t>
            </a:r>
            <a:r>
              <a:rPr lang="en-US" sz="1600" baseline="30000" dirty="0"/>
              <a:t>st</a:t>
            </a:r>
            <a:r>
              <a:rPr lang="en-US" sz="1600" dirty="0"/>
              <a:t> line is creation, 2</a:t>
            </a:r>
            <a:r>
              <a:rPr lang="en-US" sz="1600" baseline="30000" dirty="0"/>
              <a:t>nd</a:t>
            </a:r>
            <a:r>
              <a:rPr lang="en-US" sz="1600" dirty="0"/>
              <a:t> line is transformation operation and 3</a:t>
            </a:r>
            <a:r>
              <a:rPr lang="en-US" sz="1600" baseline="30000" dirty="0"/>
              <a:t>rd</a:t>
            </a:r>
            <a:r>
              <a:rPr lang="en-US" sz="1600" dirty="0"/>
              <a:t> line is action operation.  </a:t>
            </a:r>
          </a:p>
        </p:txBody>
      </p:sp>
      <p:sp>
        <p:nvSpPr>
          <p:cNvPr id="5" name="TextBox 4">
            <a:extLst>
              <a:ext uri="{FF2B5EF4-FFF2-40B4-BE49-F238E27FC236}">
                <a16:creationId xmlns:a16="http://schemas.microsoft.com/office/drawing/2014/main" id="{7FF2B3A8-5929-EBEA-A942-640B22FFD5D8}"/>
              </a:ext>
            </a:extLst>
          </p:cNvPr>
          <p:cNvSpPr txBox="1"/>
          <p:nvPr/>
        </p:nvSpPr>
        <p:spPr>
          <a:xfrm>
            <a:off x="5261548" y="2833141"/>
            <a:ext cx="6520877" cy="1477328"/>
          </a:xfrm>
          <a:prstGeom prst="rect">
            <a:avLst/>
          </a:prstGeom>
          <a:noFill/>
        </p:spPr>
        <p:txBody>
          <a:bodyPr wrap="square" rtlCol="0">
            <a:spAutoFit/>
          </a:bodyPr>
          <a:lstStyle/>
          <a:p>
            <a:r>
              <a:rPr lang="en-US" dirty="0"/>
              <a:t>.</a:t>
            </a:r>
            <a:r>
              <a:rPr lang="en-US" dirty="0" err="1"/>
              <a:t>flatMap</a:t>
            </a:r>
            <a:r>
              <a:rPr lang="en-US" dirty="0"/>
              <a:t>(), .map() and .</a:t>
            </a:r>
            <a:r>
              <a:rPr lang="en-US" dirty="0" err="1"/>
              <a:t>reduceByKey</a:t>
            </a:r>
            <a:r>
              <a:rPr lang="en-US" dirty="0"/>
              <a:t>( _ + _ )  : transformation operation</a:t>
            </a:r>
          </a:p>
          <a:p>
            <a:endParaRPr lang="en-US" dirty="0"/>
          </a:p>
          <a:p>
            <a:r>
              <a:rPr lang="en-US" dirty="0"/>
              <a:t>.collect() , .show() and .foreach(</a:t>
            </a:r>
            <a:r>
              <a:rPr lang="en-US" dirty="0" err="1"/>
              <a:t>println</a:t>
            </a:r>
            <a:r>
              <a:rPr lang="en-US" dirty="0"/>
              <a:t>) : these are action operations</a:t>
            </a:r>
          </a:p>
        </p:txBody>
      </p:sp>
    </p:spTree>
    <p:extLst>
      <p:ext uri="{BB962C8B-B14F-4D97-AF65-F5344CB8AC3E}">
        <p14:creationId xmlns:p14="http://schemas.microsoft.com/office/powerpoint/2010/main" val="301459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893" y="182686"/>
            <a:ext cx="9875520" cy="617415"/>
          </a:xfrm>
        </p:spPr>
        <p:txBody>
          <a:bodyPr>
            <a:noAutofit/>
          </a:bodyPr>
          <a:lstStyle/>
          <a:p>
            <a:r>
              <a:rPr lang="en-US" b="1" dirty="0">
                <a:solidFill>
                  <a:srgbClr val="00B050"/>
                </a:solidFill>
              </a:rPr>
              <a:t>Anatomy of an RDD Operation</a:t>
            </a:r>
          </a:p>
        </p:txBody>
      </p:sp>
      <p:sp>
        <p:nvSpPr>
          <p:cNvPr id="3" name="Content Placeholder 2"/>
          <p:cNvSpPr>
            <a:spLocks noGrp="1"/>
          </p:cNvSpPr>
          <p:nvPr>
            <p:ph idx="1"/>
          </p:nvPr>
        </p:nvSpPr>
        <p:spPr>
          <a:xfrm>
            <a:off x="1158241" y="990600"/>
            <a:ext cx="9875520" cy="4838667"/>
          </a:xfrm>
        </p:spPr>
        <p:txBody>
          <a:bodyPr/>
          <a:lstStyle/>
          <a:p>
            <a:pPr marL="439292" lvl="2" indent="0">
              <a:buNone/>
            </a:pPr>
            <a:endParaRPr lang="en-US" b="0" dirty="0"/>
          </a:p>
          <a:p>
            <a:pPr marL="439292" lvl="2" indent="0">
              <a:buNone/>
            </a:pPr>
            <a:endParaRPr lang="en-US" sz="1600" dirty="0">
              <a:latin typeface="Adobe Garamond Pro" pitchFamily="18" charset="0"/>
            </a:endParaRPr>
          </a:p>
          <a:p>
            <a:pPr marL="439292" lvl="2" indent="0">
              <a:buNone/>
            </a:pPr>
            <a:endParaRPr lang="en-US" sz="1600" dirty="0">
              <a:latin typeface="Adobe Garamond Pro" pitchFamily="18" charset="0"/>
            </a:endParaRPr>
          </a:p>
          <a:p>
            <a:pPr marL="439292" lvl="2" indent="0">
              <a:buNone/>
            </a:pPr>
            <a:endParaRPr lang="en-US" sz="1600" dirty="0">
              <a:latin typeface="Adobe Garamond Pro" pitchFamily="18" charset="0"/>
            </a:endParaRPr>
          </a:p>
          <a:p>
            <a:pPr marL="439292" lvl="2" indent="0">
              <a:buNone/>
            </a:pPr>
            <a:r>
              <a:rPr lang="en-US" sz="3200" dirty="0">
                <a:latin typeface="Adobe Garamond Pro" pitchFamily="18" charset="0"/>
              </a:rPr>
              <a:t>     </a:t>
            </a:r>
            <a:r>
              <a:rPr lang="en-US" sz="3200" b="1" dirty="0" err="1">
                <a:latin typeface="Adobe Garamond Pro" pitchFamily="18" charset="0"/>
              </a:rPr>
              <a:t>newRDD</a:t>
            </a:r>
            <a:r>
              <a:rPr lang="en-US" sz="3200" dirty="0">
                <a:latin typeface="Adobe Garamond Pro" pitchFamily="18" charset="0"/>
              </a:rPr>
              <a:t> = </a:t>
            </a:r>
            <a:r>
              <a:rPr lang="en-US" sz="3200" b="1" dirty="0" err="1">
                <a:solidFill>
                  <a:srgbClr val="0070C0"/>
                </a:solidFill>
                <a:latin typeface="Adobe Garamond Pro" pitchFamily="18" charset="0"/>
              </a:rPr>
              <a:t>oldRDD.map</a:t>
            </a:r>
            <a:r>
              <a:rPr lang="en-US" sz="3200" dirty="0">
                <a:latin typeface="Adobe Garamond Pro" pitchFamily="18" charset="0"/>
              </a:rPr>
              <a:t>(….)</a:t>
            </a:r>
            <a:r>
              <a:rPr lang="en-US" sz="3200" dirty="0"/>
              <a:t> </a:t>
            </a:r>
          </a:p>
          <a:p>
            <a:pPr marL="439292" lvl="2" indent="0">
              <a:buNone/>
            </a:pPr>
            <a:endParaRPr lang="en-US" dirty="0"/>
          </a:p>
          <a:p>
            <a:pPr marL="439292" lvl="2" indent="0">
              <a:buNone/>
            </a:pPr>
            <a:r>
              <a:rPr lang="en-US" dirty="0"/>
              <a:t> </a:t>
            </a:r>
            <a:endParaRPr lang="en-US" sz="1400" dirty="0"/>
          </a:p>
        </p:txBody>
      </p:sp>
      <p:cxnSp>
        <p:nvCxnSpPr>
          <p:cNvPr id="5" name="Straight Arrow Connector 4"/>
          <p:cNvCxnSpPr>
            <a:cxnSpLocks/>
          </p:cNvCxnSpPr>
          <p:nvPr/>
        </p:nvCxnSpPr>
        <p:spPr>
          <a:xfrm>
            <a:off x="6973952" y="2689934"/>
            <a:ext cx="0" cy="21868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4953001" y="4953000"/>
            <a:ext cx="31598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User defined code/function</a:t>
            </a:r>
          </a:p>
        </p:txBody>
      </p:sp>
      <p:cxnSp>
        <p:nvCxnSpPr>
          <p:cNvPr id="8" name="Straight Arrow Connector 7"/>
          <p:cNvCxnSpPr>
            <a:cxnSpLocks/>
          </p:cNvCxnSpPr>
          <p:nvPr/>
        </p:nvCxnSpPr>
        <p:spPr>
          <a:xfrm>
            <a:off x="3007360" y="2689934"/>
            <a:ext cx="0" cy="663517"/>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1447800" y="3352800"/>
            <a:ext cx="365760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creates new RDD from old RDD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a:ea typeface="+mn-ea"/>
                <a:cs typeface="+mn-cs"/>
              </a:rPr>
              <a:t>and saves in </a:t>
            </a:r>
            <a:r>
              <a:rPr kumimoji="0" lang="en-US" sz="1400" b="1" i="0" u="none" strike="noStrike" kern="1200" cap="none" spc="0" normalizeH="0" baseline="0" noProof="0" dirty="0" err="1">
                <a:ln>
                  <a:noFill/>
                </a:ln>
                <a:solidFill>
                  <a:prstClr val="black"/>
                </a:solidFill>
                <a:effectLst/>
                <a:uLnTx/>
                <a:uFillTx/>
                <a:latin typeface="Arial"/>
                <a:ea typeface="+mn-ea"/>
                <a:cs typeface="+mn-cs"/>
              </a:rPr>
              <a:t>newRDD</a:t>
            </a:r>
            <a:endParaRPr kumimoji="0" lang="en-US" sz="1400" b="1"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962054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228524"/>
            <a:ext cx="9875520" cy="685801"/>
          </a:xfrm>
        </p:spPr>
        <p:txBody>
          <a:bodyPr/>
          <a:lstStyle/>
          <a:p>
            <a:r>
              <a:rPr lang="en-IN" sz="3600" b="1" dirty="0">
                <a:solidFill>
                  <a:srgbClr val="00B050"/>
                </a:solidFill>
              </a:rPr>
              <a:t>Lazy Evaluation</a:t>
            </a:r>
          </a:p>
        </p:txBody>
      </p:sp>
      <p:sp>
        <p:nvSpPr>
          <p:cNvPr id="3" name="Content Placeholder 2"/>
          <p:cNvSpPr>
            <a:spLocks noGrp="1"/>
          </p:cNvSpPr>
          <p:nvPr>
            <p:ph idx="1"/>
          </p:nvPr>
        </p:nvSpPr>
        <p:spPr/>
        <p:txBody>
          <a:bodyPr/>
          <a:lstStyle/>
          <a:p>
            <a:r>
              <a:rPr lang="en-IN" dirty="0"/>
              <a:t>Spark does not immediately perform an operation </a:t>
            </a:r>
          </a:p>
          <a:p>
            <a:pPr lvl="1"/>
            <a:endParaRPr lang="en-IN" dirty="0"/>
          </a:p>
          <a:p>
            <a:pPr lvl="1"/>
            <a:r>
              <a:rPr lang="en-IN" dirty="0"/>
              <a:t>It simply remembers it </a:t>
            </a:r>
          </a:p>
          <a:p>
            <a:pPr lvl="1"/>
            <a:r>
              <a:rPr lang="en-IN" dirty="0"/>
              <a:t>Uses a flow graph for memorizing</a:t>
            </a:r>
          </a:p>
          <a:p>
            <a:pPr lvl="1"/>
            <a:endParaRPr lang="en-IN" dirty="0"/>
          </a:p>
          <a:p>
            <a:pPr lvl="1"/>
            <a:endParaRPr lang="en-IN" dirty="0"/>
          </a:p>
          <a:p>
            <a:r>
              <a:rPr lang="en-IN" dirty="0"/>
              <a:t>It kicks off computation if an action operation is requested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2628969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868" y="228601"/>
            <a:ext cx="9875520" cy="685801"/>
          </a:xfrm>
        </p:spPr>
        <p:txBody>
          <a:bodyPr/>
          <a:lstStyle/>
          <a:p>
            <a:r>
              <a:rPr lang="en-IN" sz="3600" b="1" dirty="0"/>
              <a:t>An Example Code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8" name="Rectangle 3"/>
          <p:cNvSpPr>
            <a:spLocks noChangeArrowheads="1"/>
          </p:cNvSpPr>
          <p:nvPr/>
        </p:nvSpPr>
        <p:spPr bwMode="auto">
          <a:xfrm>
            <a:off x="1066801" y="2743201"/>
            <a:ext cx="5713615" cy="15850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srgbClr val="BB60D5"/>
                </a:solidFill>
                <a:effectLst/>
                <a:uLnTx/>
                <a:uFillTx/>
                <a:latin typeface="Menlo"/>
                <a:ea typeface="+mn-ea"/>
                <a:cs typeface="+mn-cs"/>
              </a:rPr>
              <a:t>lines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sc</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textFile</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4070A0"/>
                </a:solidFill>
                <a:effectLst/>
                <a:uLnTx/>
                <a:uFillTx/>
                <a:latin typeface="Menlo"/>
                <a:ea typeface="+mn-ea"/>
                <a:cs typeface="+mn-cs"/>
              </a:rPr>
              <a:t>"data.txt"</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212529"/>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lineLengths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map</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=&gt;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length</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212529"/>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totalLength</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lineLengths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reduce</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=&gt;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a:ea typeface="+mn-ea"/>
                <a:cs typeface="+mn-cs"/>
              </a:rPr>
              <a:t> </a:t>
            </a: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TextBox 8"/>
          <p:cNvSpPr txBox="1"/>
          <p:nvPr/>
        </p:nvSpPr>
        <p:spPr>
          <a:xfrm>
            <a:off x="9296400" y="838201"/>
            <a:ext cx="1202124" cy="11695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rial"/>
                <a:ea typeface="+mn-ea"/>
                <a:cs typeface="+mn-cs"/>
              </a:rPr>
              <a:t>data.txt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I am 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She is there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You are here</a:t>
            </a:r>
          </a:p>
        </p:txBody>
      </p:sp>
      <p:sp>
        <p:nvSpPr>
          <p:cNvPr id="3" name="TextBox 2"/>
          <p:cNvSpPr txBox="1"/>
          <p:nvPr/>
        </p:nvSpPr>
        <p:spPr>
          <a:xfrm>
            <a:off x="8724900" y="3962401"/>
            <a:ext cx="1143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B0F0"/>
                </a:solidFill>
                <a:effectLst/>
                <a:uLnTx/>
                <a:uFillTx/>
                <a:latin typeface="Arial"/>
                <a:ea typeface="+mn-ea"/>
                <a:cs typeface="+mn-cs"/>
              </a:rPr>
              <a:t>action</a:t>
            </a:r>
          </a:p>
        </p:txBody>
      </p:sp>
      <p:cxnSp>
        <p:nvCxnSpPr>
          <p:cNvPr id="6" name="Straight Arrow Connector 5"/>
          <p:cNvCxnSpPr>
            <a:endCxn id="3" idx="1"/>
          </p:cNvCxnSpPr>
          <p:nvPr/>
        </p:nvCxnSpPr>
        <p:spPr>
          <a:xfrm>
            <a:off x="7162801" y="4114801"/>
            <a:ext cx="1562099" cy="784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 name="TextBox 4">
            <a:extLst>
              <a:ext uri="{FF2B5EF4-FFF2-40B4-BE49-F238E27FC236}">
                <a16:creationId xmlns:a16="http://schemas.microsoft.com/office/drawing/2014/main" id="{C618431B-A23A-D9EF-7CA6-D42A71C547E9}"/>
              </a:ext>
            </a:extLst>
          </p:cNvPr>
          <p:cNvSpPr txBox="1"/>
          <p:nvPr/>
        </p:nvSpPr>
        <p:spPr>
          <a:xfrm>
            <a:off x="1343025" y="5129213"/>
            <a:ext cx="7729538" cy="369332"/>
          </a:xfrm>
          <a:prstGeom prst="rect">
            <a:avLst/>
          </a:prstGeom>
          <a:noFill/>
        </p:spPr>
        <p:txBody>
          <a:bodyPr wrap="square" rtlCol="0">
            <a:spAutoFit/>
          </a:bodyPr>
          <a:lstStyle/>
          <a:p>
            <a:r>
              <a:rPr lang="en-US" dirty="0"/>
              <a:t>Sum of length of lines in the file data.txt</a:t>
            </a:r>
          </a:p>
        </p:txBody>
      </p:sp>
    </p:spTree>
    <p:extLst>
      <p:ext uri="{BB962C8B-B14F-4D97-AF65-F5344CB8AC3E}">
        <p14:creationId xmlns:p14="http://schemas.microsoft.com/office/powerpoint/2010/main" val="3788618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4250" y="390526"/>
            <a:ext cx="4038600" cy="541215"/>
          </a:xfrm>
        </p:spPr>
        <p:txBody>
          <a:bodyPr/>
          <a:lstStyle/>
          <a:p>
            <a:r>
              <a:rPr lang="en-US" sz="4000" b="1" dirty="0">
                <a:solidFill>
                  <a:srgbClr val="0070C0"/>
                </a:solidFill>
              </a:rPr>
              <a:t>RDD Persistence</a:t>
            </a:r>
          </a:p>
        </p:txBody>
      </p:sp>
      <p:sp>
        <p:nvSpPr>
          <p:cNvPr id="3" name="TextBox 2">
            <a:extLst>
              <a:ext uri="{FF2B5EF4-FFF2-40B4-BE49-F238E27FC236}">
                <a16:creationId xmlns:a16="http://schemas.microsoft.com/office/drawing/2014/main" id="{3DB5902A-AF7E-5394-FE05-2D3011A9E953}"/>
              </a:ext>
            </a:extLst>
          </p:cNvPr>
          <p:cNvSpPr txBox="1"/>
          <p:nvPr/>
        </p:nvSpPr>
        <p:spPr>
          <a:xfrm>
            <a:off x="178594" y="1543050"/>
            <a:ext cx="11834812" cy="1477328"/>
          </a:xfrm>
          <a:prstGeom prst="rect">
            <a:avLst/>
          </a:prstGeom>
          <a:noFill/>
        </p:spPr>
        <p:txBody>
          <a:bodyPr wrap="square" rtlCol="0">
            <a:spAutoFit/>
          </a:bodyPr>
          <a:lstStyle/>
          <a:p>
            <a:r>
              <a:rPr lang="en-US" dirty="0"/>
              <a:t>Spark can persist or cache a dataset in memory across operations. In each node of the cluster u have some slice of data, and u can put that slice of data in memory of that node, so that whenever </a:t>
            </a:r>
            <a:r>
              <a:rPr lang="en-US" dirty="0" err="1"/>
              <a:t>reqd</a:t>
            </a:r>
            <a:r>
              <a:rPr lang="en-US" dirty="0"/>
              <a:t> u can quickly use it</a:t>
            </a:r>
          </a:p>
          <a:p>
            <a:endParaRPr lang="en-US" dirty="0"/>
          </a:p>
          <a:p>
            <a:r>
              <a:rPr lang="en-US" dirty="0"/>
              <a:t>This is fault tolerant. If a machine holding some data fails then </a:t>
            </a:r>
            <a:r>
              <a:rPr lang="en-US" dirty="0" err="1"/>
              <a:t>ur</a:t>
            </a:r>
            <a:r>
              <a:rPr lang="en-US" dirty="0"/>
              <a:t> spark knows how that data was created and hence it can recreate the lost data by consulting the lineage graph.</a:t>
            </a:r>
          </a:p>
        </p:txBody>
      </p:sp>
    </p:spTree>
    <p:extLst>
      <p:ext uri="{BB962C8B-B14F-4D97-AF65-F5344CB8AC3E}">
        <p14:creationId xmlns:p14="http://schemas.microsoft.com/office/powerpoint/2010/main" val="433035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969" y="230910"/>
            <a:ext cx="9875520" cy="762001"/>
          </a:xfrm>
        </p:spPr>
        <p:txBody>
          <a:bodyPr/>
          <a:lstStyle/>
          <a:p>
            <a:r>
              <a:rPr lang="en-IN" sz="3600" b="1" dirty="0">
                <a:solidFill>
                  <a:srgbClr val="00B050"/>
                </a:solidFill>
              </a:rPr>
              <a:t>RDD Persistence</a:t>
            </a:r>
          </a:p>
        </p:txBody>
      </p:sp>
      <p:sp>
        <p:nvSpPr>
          <p:cNvPr id="3" name="Content Placeholder 2"/>
          <p:cNvSpPr>
            <a:spLocks noGrp="1"/>
          </p:cNvSpPr>
          <p:nvPr>
            <p:ph idx="1"/>
          </p:nvPr>
        </p:nvSpPr>
        <p:spPr>
          <a:xfrm>
            <a:off x="1158240" y="992911"/>
            <a:ext cx="9875520" cy="5181600"/>
          </a:xfrm>
        </p:spPr>
        <p:txBody>
          <a:bodyPr/>
          <a:lstStyle/>
          <a:p>
            <a:endParaRPr lang="en-US" sz="2400" dirty="0"/>
          </a:p>
          <a:p>
            <a:r>
              <a:rPr lang="en-US" sz="2400" dirty="0"/>
              <a:t>Spark can persist (or cache) a dataset in memory across operations</a:t>
            </a:r>
          </a:p>
          <a:p>
            <a:endParaRPr lang="en-US" sz="2400" dirty="0"/>
          </a:p>
          <a:p>
            <a:r>
              <a:rPr lang="en-US" sz="2400" dirty="0"/>
              <a:t>Each node stores in memory any slices of it that it computes and reuses them in other actions on that dataset</a:t>
            </a:r>
          </a:p>
          <a:p>
            <a:pPr lvl="1"/>
            <a:r>
              <a:rPr lang="en-US" sz="1800" dirty="0"/>
              <a:t>often making future actions more than 10x faster</a:t>
            </a:r>
          </a:p>
          <a:p>
            <a:endParaRPr lang="en-US" sz="2400" dirty="0"/>
          </a:p>
          <a:p>
            <a:r>
              <a:rPr lang="en-US" sz="2400" dirty="0"/>
              <a:t>The cache is fault-tolerant: </a:t>
            </a:r>
          </a:p>
          <a:p>
            <a:pPr lvl="1"/>
            <a:endParaRPr lang="en-US" sz="1800" dirty="0"/>
          </a:p>
          <a:p>
            <a:pPr lvl="1"/>
            <a:r>
              <a:rPr lang="en-US" sz="1800" dirty="0"/>
              <a:t>if any partition of an RDD is lost, it will automatically be recomputed using the transformations that originally created it</a:t>
            </a:r>
            <a:endParaRPr lang="en-IN" sz="18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1463749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201050"/>
            <a:ext cx="9875520" cy="541215"/>
          </a:xfrm>
        </p:spPr>
        <p:txBody>
          <a:bodyPr>
            <a:noAutofit/>
          </a:bodyPr>
          <a:lstStyle/>
          <a:p>
            <a:r>
              <a:rPr lang="en-US" b="1" dirty="0">
                <a:solidFill>
                  <a:srgbClr val="00B050"/>
                </a:solidFill>
              </a:rPr>
              <a:t>Persistence (Caching)</a:t>
            </a:r>
          </a:p>
        </p:txBody>
      </p:sp>
      <p:sp>
        <p:nvSpPr>
          <p:cNvPr id="3" name="Content Placeholder 2"/>
          <p:cNvSpPr>
            <a:spLocks noGrp="1"/>
          </p:cNvSpPr>
          <p:nvPr>
            <p:ph idx="1"/>
          </p:nvPr>
        </p:nvSpPr>
        <p:spPr>
          <a:xfrm>
            <a:off x="563880" y="742265"/>
            <a:ext cx="11628120" cy="5810935"/>
          </a:xfrm>
        </p:spPr>
        <p:txBody>
          <a:bodyPr>
            <a:normAutofit fontScale="55000" lnSpcReduction="20000"/>
          </a:bodyPr>
          <a:lstStyle/>
          <a:p>
            <a:r>
              <a:rPr lang="en-US" sz="3400" dirty="0"/>
              <a:t>Goal is to keep RDD in memory, distributed across machines</a:t>
            </a:r>
          </a:p>
          <a:p>
            <a:pPr marL="533387" lvl="1" indent="0">
              <a:buNone/>
            </a:pPr>
            <a:endParaRPr lang="en-US" sz="3400" dirty="0"/>
          </a:p>
          <a:p>
            <a:pPr marL="533387" lvl="1" indent="0">
              <a:buNone/>
            </a:pPr>
            <a:r>
              <a:rPr lang="en-US" sz="3400" dirty="0"/>
              <a:t>Important for iterative computation to increase efficiency. The goal is for iterative computation we want to increase the efficiency. So, we want to keep the data in memory instead of hard disk. But depending on volume of data and capacity of clusters we may not have that much of space to keep everything in main memory .But spark gives lots of flexibility at storage levels.</a:t>
            </a:r>
            <a:endParaRPr lang="en-US" dirty="0">
              <a:solidFill>
                <a:schemeClr val="tx1"/>
              </a:solidFill>
            </a:endParaRPr>
          </a:p>
          <a:p>
            <a:pPr lvl="1"/>
            <a:endParaRPr lang="en-US" dirty="0"/>
          </a:p>
          <a:p>
            <a:pPr lvl="1"/>
            <a:endParaRPr lang="en-US" dirty="0"/>
          </a:p>
          <a:p>
            <a:pPr lvl="1"/>
            <a:endParaRPr lang="en-US" dirty="0"/>
          </a:p>
          <a:p>
            <a:pPr lvl="1"/>
            <a:endParaRPr lang="en-US" dirty="0"/>
          </a:p>
          <a:p>
            <a:pPr marL="533387" lvl="1" indent="0">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533387" lvl="1" indent="0">
              <a:buNone/>
            </a:pPr>
            <a:r>
              <a:rPr lang="en-US" dirty="0"/>
              <a:t> </a:t>
            </a:r>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r>
              <a:rPr lang="en-US" dirty="0"/>
              <a:t>   </a:t>
            </a:r>
          </a:p>
          <a:p>
            <a:pPr marL="439292" lvl="2" indent="0">
              <a:buNone/>
            </a:pPr>
            <a:endParaRPr lang="en-US" dirty="0"/>
          </a:p>
          <a:p>
            <a:pPr lvl="1"/>
            <a:endParaRPr lang="en-US" dirty="0"/>
          </a:p>
          <a:p>
            <a:pPr marL="219645" lvl="1" indent="0">
              <a:buNone/>
            </a:pPr>
            <a:r>
              <a:rPr lang="en-US" dirty="0"/>
              <a:t> </a:t>
            </a:r>
          </a:p>
        </p:txBody>
      </p:sp>
      <p:sp>
        <p:nvSpPr>
          <p:cNvPr id="5" name="TextBox 4"/>
          <p:cNvSpPr txBox="1"/>
          <p:nvPr/>
        </p:nvSpPr>
        <p:spPr>
          <a:xfrm>
            <a:off x="2807477" y="5426659"/>
            <a:ext cx="449738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a:ea typeface="+mn-ea"/>
                <a:cs typeface="+mn-cs"/>
              </a:rPr>
              <a:t>Usage:     </a:t>
            </a:r>
            <a:r>
              <a:rPr kumimoji="0" lang="en-US" sz="2000" b="1" i="0" u="none" strike="noStrike" kern="1200" cap="none" spc="0" normalizeH="0" baseline="0" noProof="0" dirty="0" err="1">
                <a:ln>
                  <a:noFill/>
                </a:ln>
                <a:solidFill>
                  <a:srgbClr val="C00000"/>
                </a:solidFill>
                <a:effectLst/>
                <a:uLnTx/>
                <a:uFillTx/>
                <a:latin typeface="Arial"/>
                <a:ea typeface="+mn-ea"/>
                <a:cs typeface="+mn-cs"/>
              </a:rPr>
              <a:t>yourRdd.MEMORY_ONLY</a:t>
            </a:r>
            <a:endParaRPr kumimoji="0" lang="en-US" sz="2000" b="1" i="0" u="none" strike="noStrike" kern="1200" cap="none" spc="0" normalizeH="0" baseline="0" noProof="0" dirty="0">
              <a:ln>
                <a:noFill/>
              </a:ln>
              <a:solidFill>
                <a:srgbClr val="C00000"/>
              </a:solidFill>
              <a:effectLst/>
              <a:uLnTx/>
              <a:uFillTx/>
              <a:latin typeface="Arial"/>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0072415"/>
              </p:ext>
            </p:extLst>
          </p:nvPr>
        </p:nvGraphicFramePr>
        <p:xfrm>
          <a:off x="1158239" y="2368774"/>
          <a:ext cx="9365202" cy="2669202"/>
        </p:xfrm>
        <a:graphic>
          <a:graphicData uri="http://schemas.openxmlformats.org/drawingml/2006/table">
            <a:tbl>
              <a:tblPr firstRow="1" bandRow="1">
                <a:tableStyleId>{5C22544A-7EE6-4342-B048-85BDC9FD1C3A}</a:tableStyleId>
              </a:tblPr>
              <a:tblGrid>
                <a:gridCol w="2597073">
                  <a:extLst>
                    <a:ext uri="{9D8B030D-6E8A-4147-A177-3AD203B41FA5}">
                      <a16:colId xmlns:a16="http://schemas.microsoft.com/office/drawing/2014/main" val="20000"/>
                    </a:ext>
                  </a:extLst>
                </a:gridCol>
                <a:gridCol w="6768129">
                  <a:extLst>
                    <a:ext uri="{9D8B030D-6E8A-4147-A177-3AD203B41FA5}">
                      <a16:colId xmlns:a16="http://schemas.microsoft.com/office/drawing/2014/main" val="20001"/>
                    </a:ext>
                  </a:extLst>
                </a:gridCol>
              </a:tblGrid>
              <a:tr h="401391">
                <a:tc>
                  <a:txBody>
                    <a:bodyPr/>
                    <a:lstStyle/>
                    <a:p>
                      <a:r>
                        <a:rPr lang="en-US" dirty="0">
                          <a:solidFill>
                            <a:srgbClr val="002060"/>
                          </a:solidFill>
                        </a:rPr>
                        <a:t>Storage Level</a:t>
                      </a:r>
                    </a:p>
                  </a:txBody>
                  <a:tcPr/>
                </a:tc>
                <a:tc>
                  <a:txBody>
                    <a:bodyPr/>
                    <a:lstStyle/>
                    <a:p>
                      <a:r>
                        <a:rPr lang="en-US" dirty="0">
                          <a:solidFill>
                            <a:srgbClr val="002060"/>
                          </a:solidFill>
                        </a:rPr>
                        <a:t>Description</a:t>
                      </a:r>
                    </a:p>
                  </a:txBody>
                  <a:tcPr/>
                </a:tc>
                <a:extLst>
                  <a:ext uri="{0D108BD9-81ED-4DB2-BD59-A6C34878D82A}">
                    <a16:rowId xmlns:a16="http://schemas.microsoft.com/office/drawing/2014/main" val="10000"/>
                  </a:ext>
                </a:extLst>
              </a:tr>
              <a:tr h="401391">
                <a:tc>
                  <a:txBody>
                    <a:bodyPr/>
                    <a:lstStyle/>
                    <a:p>
                      <a:r>
                        <a:rPr lang="en-US" sz="1500" b="0" i="0" u="none" strike="noStrike" cap="none" dirty="0">
                          <a:solidFill>
                            <a:schemeClr val="dk1"/>
                          </a:solidFill>
                          <a:effectLst/>
                          <a:latin typeface="+mn-lt"/>
                          <a:ea typeface="+mn-ea"/>
                          <a:cs typeface="+mn-cs"/>
                          <a:sym typeface="Arial"/>
                        </a:rPr>
                        <a:t>MEMORY_ONLY</a:t>
                      </a:r>
                      <a:endParaRPr lang="en-US" sz="1500" dirty="0"/>
                    </a:p>
                  </a:txBody>
                  <a:tcPr/>
                </a:tc>
                <a:tc>
                  <a:txBody>
                    <a:bodyPr/>
                    <a:lstStyle/>
                    <a:p>
                      <a:r>
                        <a:rPr lang="en-US" sz="1500" b="0" i="0" u="none" strike="noStrike" cap="none" dirty="0">
                          <a:solidFill>
                            <a:schemeClr val="dk1"/>
                          </a:solidFill>
                          <a:effectLst/>
                          <a:latin typeface="+mn-lt"/>
                          <a:ea typeface="+mn-ea"/>
                          <a:cs typeface="+mn-cs"/>
                          <a:sym typeface="Arial"/>
                        </a:rPr>
                        <a:t>Stores</a:t>
                      </a:r>
                      <a:r>
                        <a:rPr lang="en-US" sz="1500" b="0" i="0" u="none" strike="noStrike" cap="none" baseline="0" dirty="0">
                          <a:solidFill>
                            <a:schemeClr val="dk1"/>
                          </a:solidFill>
                          <a:effectLst/>
                          <a:latin typeface="+mn-lt"/>
                          <a:ea typeface="+mn-ea"/>
                          <a:cs typeface="+mn-cs"/>
                          <a:sym typeface="Arial"/>
                        </a:rPr>
                        <a:t> RDD in memory</a:t>
                      </a:r>
                      <a:endParaRPr lang="en-US" sz="1500" dirty="0"/>
                    </a:p>
                  </a:txBody>
                  <a:tcPr/>
                </a:tc>
                <a:extLst>
                  <a:ext uri="{0D108BD9-81ED-4DB2-BD59-A6C34878D82A}">
                    <a16:rowId xmlns:a16="http://schemas.microsoft.com/office/drawing/2014/main" val="10001"/>
                  </a:ext>
                </a:extLst>
              </a:tr>
              <a:tr h="626829">
                <a:tc>
                  <a:txBody>
                    <a:bodyPr/>
                    <a:lstStyle/>
                    <a:p>
                      <a:pPr algn="l" fontAlgn="t"/>
                      <a:r>
                        <a:rPr lang="en-US" sz="1500" dirty="0">
                          <a:effectLst/>
                        </a:rPr>
                        <a:t>MEMORY_AND_DISK</a:t>
                      </a:r>
                    </a:p>
                  </a:txBody>
                  <a:tcPr marL="76200" marR="76200" marT="76200" marB="76200"/>
                </a:tc>
                <a:tc>
                  <a:txBody>
                    <a:bodyPr/>
                    <a:lstStyle/>
                    <a:p>
                      <a:pPr algn="l" fontAlgn="t"/>
                      <a:r>
                        <a:rPr lang="en-US" sz="1500" dirty="0">
                          <a:effectLst/>
                        </a:rPr>
                        <a:t>Store RDD in memory. If RDD does not fit in memory, store the partitions that don't fit on disk, and read them from there when they're needed.</a:t>
                      </a:r>
                    </a:p>
                  </a:txBody>
                  <a:tcPr marL="76200" marR="76200" marT="76200" marB="76200"/>
                </a:tc>
                <a:extLst>
                  <a:ext uri="{0D108BD9-81ED-4DB2-BD59-A6C34878D82A}">
                    <a16:rowId xmlns:a16="http://schemas.microsoft.com/office/drawing/2014/main" val="10002"/>
                  </a:ext>
                </a:extLst>
              </a:tr>
              <a:tr h="401391">
                <a:tc>
                  <a:txBody>
                    <a:bodyPr/>
                    <a:lstStyle/>
                    <a:p>
                      <a:pPr algn="l" fontAlgn="t"/>
                      <a:r>
                        <a:rPr lang="en-US" sz="1500" dirty="0">
                          <a:effectLst/>
                        </a:rPr>
                        <a:t>DISK_ONLY</a:t>
                      </a:r>
                    </a:p>
                  </a:txBody>
                  <a:tcPr marL="76200" marR="76200" marT="76200" marB="76200"/>
                </a:tc>
                <a:tc>
                  <a:txBody>
                    <a:bodyPr/>
                    <a:lstStyle/>
                    <a:p>
                      <a:pPr algn="l" fontAlgn="t"/>
                      <a:r>
                        <a:rPr lang="en-US" sz="1500" dirty="0">
                          <a:effectLst/>
                        </a:rPr>
                        <a:t>Store the RDD partitions only on disk.</a:t>
                      </a:r>
                    </a:p>
                  </a:txBody>
                  <a:tcPr marL="76200" marR="76200" marT="76200" marB="76200"/>
                </a:tc>
                <a:extLst>
                  <a:ext uri="{0D108BD9-81ED-4DB2-BD59-A6C34878D82A}">
                    <a16:rowId xmlns:a16="http://schemas.microsoft.com/office/drawing/2014/main" val="10005"/>
                  </a:ext>
                </a:extLst>
              </a:tr>
              <a:tr h="626829">
                <a:tc>
                  <a:txBody>
                    <a:bodyPr/>
                    <a:lstStyle/>
                    <a:p>
                      <a:pPr algn="l" fontAlgn="t"/>
                      <a:r>
                        <a:rPr lang="en-US" sz="1500" dirty="0">
                          <a:effectLst/>
                        </a:rPr>
                        <a:t>MEMORY_ONLY_2, MEMORY_AND_DISK_2</a:t>
                      </a:r>
                    </a:p>
                  </a:txBody>
                  <a:tcPr marL="76200" marR="76200" marT="76200" marB="76200"/>
                </a:tc>
                <a:tc>
                  <a:txBody>
                    <a:bodyPr/>
                    <a:lstStyle/>
                    <a:p>
                      <a:pPr algn="l" fontAlgn="t"/>
                      <a:r>
                        <a:rPr lang="en-US" sz="1500" dirty="0">
                          <a:effectLst/>
                        </a:rPr>
                        <a:t>Same as the levels above, but replicate each partition on two cluster nodes. Data will be replicated in memory twice similarly for 2</a:t>
                      </a:r>
                      <a:r>
                        <a:rPr lang="en-US" sz="1500" baseline="30000" dirty="0">
                          <a:effectLst/>
                        </a:rPr>
                        <a:t>nd</a:t>
                      </a:r>
                      <a:r>
                        <a:rPr lang="en-US" sz="1500" dirty="0">
                          <a:effectLst/>
                        </a:rPr>
                        <a:t> one data will be replicated in memory and disk twice TO enhance the fault tolerance</a:t>
                      </a:r>
                    </a:p>
                  </a:txBody>
                  <a:tcPr marL="76200" marR="76200" marT="76200" marB="762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04340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0318"/>
            <a:ext cx="10972800" cy="541214"/>
          </a:xfrm>
        </p:spPr>
        <p:txBody>
          <a:bodyPr/>
          <a:lstStyle/>
          <a:p>
            <a:r>
              <a:rPr lang="en-IN" sz="3600" b="1" dirty="0">
                <a:solidFill>
                  <a:srgbClr val="00B050"/>
                </a:solidFill>
              </a:rPr>
              <a:t>RDD Persistence: Example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5" name="Picture 4"/>
          <p:cNvPicPr>
            <a:picLocks noChangeAspect="1"/>
          </p:cNvPicPr>
          <p:nvPr/>
        </p:nvPicPr>
        <p:blipFill>
          <a:blip r:embed="rId2"/>
          <a:stretch>
            <a:fillRect/>
          </a:stretch>
        </p:blipFill>
        <p:spPr>
          <a:xfrm>
            <a:off x="1295401" y="1189775"/>
            <a:ext cx="8945867" cy="5067300"/>
          </a:xfrm>
          <a:prstGeom prst="rect">
            <a:avLst/>
          </a:prstGeom>
        </p:spPr>
      </p:pic>
      <p:sp>
        <p:nvSpPr>
          <p:cNvPr id="3" name="TextBox 2">
            <a:extLst>
              <a:ext uri="{FF2B5EF4-FFF2-40B4-BE49-F238E27FC236}">
                <a16:creationId xmlns:a16="http://schemas.microsoft.com/office/drawing/2014/main" id="{D0058139-F2E8-681E-B6B8-F93820FFADA3}"/>
              </a:ext>
            </a:extLst>
          </p:cNvPr>
          <p:cNvSpPr txBox="1"/>
          <p:nvPr/>
        </p:nvSpPr>
        <p:spPr>
          <a:xfrm>
            <a:off x="200025" y="2871788"/>
            <a:ext cx="11787188" cy="646331"/>
          </a:xfrm>
          <a:prstGeom prst="rect">
            <a:avLst/>
          </a:prstGeom>
          <a:noFill/>
        </p:spPr>
        <p:txBody>
          <a:bodyPr wrap="square" rtlCol="0">
            <a:spAutoFit/>
          </a:bodyPr>
          <a:lstStyle/>
          <a:p>
            <a:r>
              <a:rPr lang="en-US" dirty="0"/>
              <a:t>We have sequence of operations,  </a:t>
            </a:r>
            <a:r>
              <a:rPr lang="en-US" dirty="0" err="1"/>
              <a:t>flatMap</a:t>
            </a:r>
            <a:r>
              <a:rPr lang="en-US" dirty="0"/>
              <a:t> operation on </a:t>
            </a:r>
            <a:r>
              <a:rPr lang="en-US" dirty="0" err="1"/>
              <a:t>rdd</a:t>
            </a:r>
            <a:r>
              <a:rPr lang="en-US" dirty="0"/>
              <a:t> named ‘f’. Then output of it being fed to map </a:t>
            </a:r>
            <a:r>
              <a:rPr lang="en-US" dirty="0" err="1"/>
              <a:t>func</a:t>
            </a:r>
            <a:r>
              <a:rPr lang="en-US" dirty="0"/>
              <a:t> and map’s output to cache().This is other way of telling I want to keep it in memory. </a:t>
            </a:r>
          </a:p>
        </p:txBody>
      </p:sp>
    </p:spTree>
    <p:extLst>
      <p:ext uri="{BB962C8B-B14F-4D97-AF65-F5344CB8AC3E}">
        <p14:creationId xmlns:p14="http://schemas.microsoft.com/office/powerpoint/2010/main" val="748623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424" y="2756925"/>
            <a:ext cx="10515600" cy="732155"/>
          </a:xfrm>
        </p:spPr>
        <p:txBody>
          <a:bodyPr/>
          <a:lstStyle/>
          <a:p>
            <a:pPr algn="ctr"/>
            <a:r>
              <a:rPr lang="en-IN" sz="4000" b="1" dirty="0">
                <a:solidFill>
                  <a:srgbClr val="00B050"/>
                </a:solidFill>
              </a:rPr>
              <a:t>Distributed Execution of RDD</a:t>
            </a:r>
          </a:p>
        </p:txBody>
      </p:sp>
    </p:spTree>
    <p:extLst>
      <p:ext uri="{BB962C8B-B14F-4D97-AF65-F5344CB8AC3E}">
        <p14:creationId xmlns:p14="http://schemas.microsoft.com/office/powerpoint/2010/main" val="2857155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39" y="381000"/>
            <a:ext cx="10972800" cy="541214"/>
          </a:xfrm>
        </p:spPr>
        <p:txBody>
          <a:bodyPr/>
          <a:lstStyle/>
          <a:p>
            <a:r>
              <a:rPr lang="en-IN" sz="4000" b="1" dirty="0">
                <a:solidFill>
                  <a:srgbClr val="00B050"/>
                </a:solidFill>
              </a:rPr>
              <a:t>Example</a:t>
            </a:r>
          </a:p>
        </p:txBody>
      </p:sp>
      <p:sp>
        <p:nvSpPr>
          <p:cNvPr id="3" name="Content Placeholder 2"/>
          <p:cNvSpPr>
            <a:spLocks noGrp="1"/>
          </p:cNvSpPr>
          <p:nvPr>
            <p:ph idx="1"/>
          </p:nvPr>
        </p:nvSpPr>
        <p:spPr/>
        <p:txBody>
          <a:bodyPr/>
          <a:lstStyle/>
          <a:p>
            <a:r>
              <a:rPr lang="en-IN" dirty="0"/>
              <a:t>Error log mining</a:t>
            </a:r>
          </a:p>
          <a:p>
            <a:endParaRPr lang="en-IN" dirty="0"/>
          </a:p>
          <a:p>
            <a:pPr lvl="1"/>
            <a:r>
              <a:rPr lang="en-IN" dirty="0"/>
              <a:t>Search for various patterns in an error log. </a:t>
            </a:r>
          </a:p>
        </p:txBody>
      </p:sp>
      <p:sp>
        <p:nvSpPr>
          <p:cNvPr id="4" name="TextBox 3"/>
          <p:cNvSpPr txBox="1"/>
          <p:nvPr/>
        </p:nvSpPr>
        <p:spPr>
          <a:xfrm>
            <a:off x="1775521" y="3236979"/>
            <a:ext cx="4225837" cy="193899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63BE"/>
                </a:solidFill>
                <a:effectLst/>
                <a:uLnTx/>
                <a:uFillTx/>
                <a:latin typeface="Arial"/>
                <a:ea typeface="+mn-ea"/>
                <a:cs typeface="+mn-cs"/>
              </a:rPr>
              <a:t>Log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D53E85"/>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D53E85"/>
                </a:solidFill>
                <a:effectLst/>
                <a:uLnTx/>
                <a:uFillTx/>
                <a:latin typeface="Arial"/>
                <a:ea typeface="+mn-ea"/>
                <a:cs typeface="+mn-cs"/>
              </a:rPr>
              <a:t>ERROR: java lang.io problem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D53E85"/>
                </a:solidFill>
                <a:effectLst/>
                <a:uLnTx/>
                <a:uFillTx/>
                <a:latin typeface="Arial"/>
                <a:ea typeface="+mn-ea"/>
                <a:cs typeface="+mn-cs"/>
              </a:rPr>
              <a:t>ERROR: insufficient memory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D53E85"/>
                </a:solidFill>
                <a:effectLst/>
                <a:uLnTx/>
                <a:uFillTx/>
                <a:latin typeface="Arial"/>
                <a:ea typeface="+mn-ea"/>
                <a:cs typeface="+mn-cs"/>
              </a:rPr>
              <a:t>ERROR: array out of bound</a:t>
            </a:r>
          </a:p>
        </p:txBody>
      </p:sp>
    </p:spTree>
    <p:extLst>
      <p:ext uri="{BB962C8B-B14F-4D97-AF65-F5344CB8AC3E}">
        <p14:creationId xmlns:p14="http://schemas.microsoft.com/office/powerpoint/2010/main" val="2790070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627"/>
            <a:ext cx="10515600" cy="732155"/>
          </a:xfrm>
        </p:spPr>
        <p:txBody>
          <a:bodyPr/>
          <a:lstStyle/>
          <a:p>
            <a:r>
              <a:rPr lang="en-IN" b="1" dirty="0">
                <a:solidFill>
                  <a:srgbClr val="00B050"/>
                </a:solidFill>
              </a:rPr>
              <a:t>Example</a:t>
            </a:r>
          </a:p>
        </p:txBody>
      </p:sp>
      <p:sp>
        <p:nvSpPr>
          <p:cNvPr id="3" name="Content Placeholder 2"/>
          <p:cNvSpPr>
            <a:spLocks noGrp="1"/>
          </p:cNvSpPr>
          <p:nvPr>
            <p:ph idx="1"/>
          </p:nvPr>
        </p:nvSpPr>
        <p:spPr>
          <a:xfrm>
            <a:off x="838200" y="800782"/>
            <a:ext cx="10515600" cy="5376597"/>
          </a:xfrm>
        </p:spPr>
        <p:txBody>
          <a:bodyPr/>
          <a:lstStyle/>
          <a:p>
            <a:r>
              <a:rPr lang="en-IN" dirty="0"/>
              <a:t>Error log mining</a:t>
            </a:r>
          </a:p>
          <a:p>
            <a:pPr lvl="1"/>
            <a:r>
              <a:rPr lang="en-IN" dirty="0"/>
              <a:t>Search for various patterns in an error log. </a:t>
            </a:r>
          </a:p>
        </p:txBody>
      </p:sp>
      <p:sp>
        <p:nvSpPr>
          <p:cNvPr id="4" name="TextBox 3"/>
          <p:cNvSpPr txBox="1"/>
          <p:nvPr/>
        </p:nvSpPr>
        <p:spPr>
          <a:xfrm>
            <a:off x="1931372" y="1963790"/>
            <a:ext cx="8588667"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memory</a:t>
            </a:r>
            <a:r>
              <a:rPr kumimoji="0" lang="en-IN" sz="2000" b="0" i="0" u="none" strike="noStrike" kern="1200" cap="none" spc="0" normalizeH="0" baseline="0" noProof="0" dirty="0">
                <a:ln>
                  <a:noFill/>
                </a:ln>
                <a:solidFill>
                  <a:srgbClr val="00B0F0"/>
                </a:solidFill>
                <a:effectLst/>
                <a:uLnTx/>
                <a:uFillTx/>
                <a:latin typeface="Arial"/>
                <a:ea typeface="+mn-ea"/>
                <a:cs typeface="+mn-cs"/>
              </a:rPr>
              <a:t>")).count()</a:t>
            </a:r>
          </a:p>
        </p:txBody>
      </p:sp>
    </p:spTree>
    <p:extLst>
      <p:ext uri="{BB962C8B-B14F-4D97-AF65-F5344CB8AC3E}">
        <p14:creationId xmlns:p14="http://schemas.microsoft.com/office/powerpoint/2010/main" val="1383907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627"/>
            <a:ext cx="10515600" cy="732155"/>
          </a:xfrm>
        </p:spPr>
        <p:txBody>
          <a:bodyPr/>
          <a:lstStyle/>
          <a:p>
            <a:r>
              <a:rPr lang="en-IN" b="1" dirty="0">
                <a:solidFill>
                  <a:srgbClr val="00B050"/>
                </a:solidFill>
              </a:rPr>
              <a:t>Example</a:t>
            </a:r>
          </a:p>
        </p:txBody>
      </p:sp>
      <p:sp>
        <p:nvSpPr>
          <p:cNvPr id="3" name="Content Placeholder 2"/>
          <p:cNvSpPr>
            <a:spLocks noGrp="1"/>
          </p:cNvSpPr>
          <p:nvPr>
            <p:ph idx="1"/>
          </p:nvPr>
        </p:nvSpPr>
        <p:spPr>
          <a:xfrm>
            <a:off x="838200" y="740701"/>
            <a:ext cx="10515600" cy="5376597"/>
          </a:xfrm>
        </p:spPr>
        <p:txBody>
          <a:bodyPr/>
          <a:lstStyle/>
          <a:p>
            <a:r>
              <a:rPr lang="en-IN" dirty="0"/>
              <a:t>Error log mining</a:t>
            </a:r>
          </a:p>
          <a:p>
            <a:pPr lvl="1"/>
            <a:r>
              <a:rPr lang="en-IN" dirty="0"/>
              <a:t>Search for various patterns in an error log. </a:t>
            </a:r>
          </a:p>
        </p:txBody>
      </p:sp>
      <p:sp>
        <p:nvSpPr>
          <p:cNvPr id="4" name="TextBox 3"/>
          <p:cNvSpPr txBox="1"/>
          <p:nvPr/>
        </p:nvSpPr>
        <p:spPr>
          <a:xfrm>
            <a:off x="1162975" y="2043751"/>
            <a:ext cx="6085153" cy="36933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B0F0"/>
                </a:solidFill>
                <a:effectLst/>
                <a:uLnTx/>
                <a:uFillTx/>
                <a:latin typeface="Arial"/>
                <a:ea typeface="+mn-ea"/>
                <a:cs typeface="+mn-cs"/>
              </a:rPr>
              <a:t>val</a:t>
            </a:r>
            <a:r>
              <a:rPr kumimoji="0" lang="en-IN" sz="1800" b="0" i="0" u="none" strike="noStrike" kern="1200" cap="none" spc="0" normalizeH="0" baseline="0" noProof="0" dirty="0">
                <a:ln>
                  <a:noFill/>
                </a:ln>
                <a:solidFill>
                  <a:srgbClr val="00B0F0"/>
                </a:solidFill>
                <a:effectLst/>
                <a:uLnTx/>
                <a:uFillTx/>
                <a:latin typeface="Arial"/>
                <a:ea typeface="+mn-ea"/>
                <a:cs typeface="+mn-cs"/>
              </a:rPr>
              <a:t> lines = </a:t>
            </a:r>
            <a:r>
              <a:rPr kumimoji="0" lang="en-IN" sz="18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1800" b="0" i="0" u="none" strike="noStrike" kern="1200" cap="none" spc="0" normalizeH="0" baseline="0" noProof="0" dirty="0">
                <a:ln>
                  <a:noFill/>
                </a:ln>
                <a:solidFill>
                  <a:srgbClr val="00B0F0"/>
                </a:solidFill>
                <a:effectLst/>
                <a:uLnTx/>
                <a:uFillTx/>
                <a:latin typeface="Arial"/>
                <a:ea typeface="+mn-ea"/>
                <a:cs typeface="+mn-cs"/>
              </a:rPr>
              <a:t>("</a:t>
            </a:r>
            <a:r>
              <a:rPr kumimoji="0" lang="en-IN" sz="18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18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B0F0"/>
                </a:solidFill>
                <a:effectLst/>
                <a:uLnTx/>
                <a:uFillTx/>
                <a:latin typeface="Arial"/>
                <a:ea typeface="+mn-ea"/>
                <a:cs typeface="+mn-cs"/>
              </a:rPr>
              <a:t>val</a:t>
            </a:r>
            <a:r>
              <a:rPr kumimoji="0" lang="en-IN" sz="18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18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1800" b="0" i="0" u="none" strike="noStrike" kern="1200" cap="none" spc="0" normalizeH="0" baseline="0" noProof="0" dirty="0">
                <a:ln>
                  <a:noFill/>
                </a:ln>
                <a:solidFill>
                  <a:srgbClr val="00B0F0"/>
                </a:solidFill>
                <a:effectLst/>
                <a:uLnTx/>
                <a:uFillTx/>
                <a:latin typeface="Arial"/>
                <a:ea typeface="+mn-ea"/>
                <a:cs typeface="+mn-cs"/>
              </a:rPr>
              <a:t>(_.</a:t>
            </a:r>
            <a:r>
              <a:rPr kumimoji="0" lang="en-IN" sz="18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18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18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1800" b="0" i="0" u="none" strike="noStrike" kern="1200" cap="none" spc="0" normalizeH="0" baseline="0" noProof="0" dirty="0">
                <a:ln>
                  <a:noFill/>
                </a:ln>
                <a:solidFill>
                  <a:srgbClr val="00B0F0"/>
                </a:solidFill>
                <a:effectLst/>
                <a:uLnTx/>
                <a:uFillTx/>
                <a:latin typeface="Arial"/>
                <a:ea typeface="+mn-ea"/>
                <a:cs typeface="+mn-cs"/>
              </a:rPr>
              <a:t>(_.split("\t")).</a:t>
            </a:r>
            <a:r>
              <a:rPr kumimoji="0" lang="fr-FR" sz="1800" b="0" i="0" u="none" strike="noStrike" kern="1200" cap="none" spc="0" normalizeH="0" baseline="0" noProof="0" dirty="0" err="1">
                <a:ln>
                  <a:noFill/>
                </a:ln>
                <a:solidFill>
                  <a:srgbClr val="00B0F0"/>
                </a:solidFill>
                <a:effectLst/>
                <a:uLnTx/>
                <a:uFillTx/>
                <a:latin typeface="Arial"/>
                <a:ea typeface="+mn-ea"/>
                <a:cs typeface="+mn-cs"/>
              </a:rPr>
              <a:t>map</a:t>
            </a:r>
            <a:r>
              <a:rPr kumimoji="0" lang="fr-FR" sz="18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18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18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1800" b="0" i="0" u="none" strike="noStrike" kern="1200" cap="none" spc="0" normalizeH="0" baseline="0" noProof="0" dirty="0">
                <a:ln>
                  <a:noFill/>
                </a:ln>
                <a:solidFill>
                  <a:srgbClr val="C00000"/>
                </a:solidFill>
                <a:effectLst/>
                <a:uLnTx/>
                <a:uFillTx/>
                <a:latin typeface="Arial"/>
                <a:ea typeface="+mn-ea"/>
                <a:cs typeface="+mn-cs"/>
              </a:rPr>
              <a:t>java</a:t>
            </a:r>
            <a:r>
              <a:rPr kumimoji="0" lang="en-IN" sz="18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18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1800" b="0" i="0" u="none" strike="noStrike" kern="1200" cap="none" spc="0" normalizeH="0" baseline="0" noProof="0" dirty="0">
                <a:ln>
                  <a:noFill/>
                </a:ln>
                <a:solidFill>
                  <a:srgbClr val="C00000"/>
                </a:solidFill>
                <a:effectLst/>
                <a:uLnTx/>
                <a:uFillTx/>
                <a:latin typeface="Arial"/>
                <a:ea typeface="+mn-ea"/>
                <a:cs typeface="+mn-cs"/>
              </a:rPr>
              <a:t>memory</a:t>
            </a:r>
            <a:r>
              <a:rPr kumimoji="0" lang="en-IN" sz="1800" b="0" i="0" u="none" strike="noStrike" kern="1200" cap="none" spc="0" normalizeH="0" baseline="0" noProof="0" dirty="0">
                <a:ln>
                  <a:noFill/>
                </a:ln>
                <a:solidFill>
                  <a:srgbClr val="00B0F0"/>
                </a:solidFill>
                <a:effectLst/>
                <a:uLnTx/>
                <a:uFillTx/>
                <a:latin typeface="Arial"/>
                <a:ea typeface="+mn-ea"/>
                <a:cs typeface="+mn-cs"/>
              </a:rPr>
              <a:t>")).count()</a:t>
            </a:r>
          </a:p>
        </p:txBody>
      </p:sp>
      <p:sp>
        <p:nvSpPr>
          <p:cNvPr id="5" name="Rounded Rectangle 4"/>
          <p:cNvSpPr/>
          <p:nvPr/>
        </p:nvSpPr>
        <p:spPr>
          <a:xfrm>
            <a:off x="7359589" y="3044957"/>
            <a:ext cx="1232690"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driver</a:t>
            </a:r>
          </a:p>
        </p:txBody>
      </p:sp>
      <p:sp>
        <p:nvSpPr>
          <p:cNvPr id="6" name="Rectangle 5"/>
          <p:cNvSpPr/>
          <p:nvPr/>
        </p:nvSpPr>
        <p:spPr>
          <a:xfrm>
            <a:off x="9360363" y="1508787"/>
            <a:ext cx="1248453" cy="384043"/>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
        <p:nvSpPr>
          <p:cNvPr id="7" name="Rectangle 6"/>
          <p:cNvSpPr/>
          <p:nvPr/>
        </p:nvSpPr>
        <p:spPr>
          <a:xfrm>
            <a:off x="9368767" y="3044957"/>
            <a:ext cx="1232690" cy="384043"/>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
        <p:nvSpPr>
          <p:cNvPr id="8" name="Rectangle 7"/>
          <p:cNvSpPr/>
          <p:nvPr/>
        </p:nvSpPr>
        <p:spPr>
          <a:xfrm>
            <a:off x="9393987" y="4657020"/>
            <a:ext cx="1248453" cy="384043"/>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Tree>
    <p:extLst>
      <p:ext uri="{BB962C8B-B14F-4D97-AF65-F5344CB8AC3E}">
        <p14:creationId xmlns:p14="http://schemas.microsoft.com/office/powerpoint/2010/main" val="2361154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237" y="140510"/>
            <a:ext cx="10515600" cy="732155"/>
          </a:xfrm>
        </p:spPr>
        <p:txBody>
          <a:bodyPr/>
          <a:lstStyle/>
          <a:p>
            <a:r>
              <a:rPr lang="en-IN" b="1" dirty="0">
                <a:solidFill>
                  <a:srgbClr val="00B050"/>
                </a:solidFill>
              </a:rPr>
              <a:t>RDD Operator Graph</a:t>
            </a:r>
          </a:p>
        </p:txBody>
      </p:sp>
      <p:sp>
        <p:nvSpPr>
          <p:cNvPr id="4" name="TextBox 3"/>
          <p:cNvSpPr txBox="1"/>
          <p:nvPr/>
        </p:nvSpPr>
        <p:spPr>
          <a:xfrm>
            <a:off x="815414" y="1220755"/>
            <a:ext cx="6816757"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Rounded Rectangle 8"/>
          <p:cNvSpPr/>
          <p:nvPr/>
        </p:nvSpPr>
        <p:spPr>
          <a:xfrm>
            <a:off x="9027647" y="1341096"/>
            <a:ext cx="2060563" cy="480053"/>
          </a:xfrm>
          <a:prstGeom prst="roundRect">
            <a:avLst/>
          </a:prstGeom>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Arial"/>
                <a:ea typeface="+mn-ea"/>
                <a:cs typeface="+mn-cs"/>
              </a:rPr>
              <a:t>HadoopRDD</a:t>
            </a:r>
            <a:endParaRPr kumimoji="0" lang="en-IN" sz="2400" b="0" i="0" u="none" strike="noStrike" kern="1200" cap="none" spc="0" normalizeH="0" baseline="0" noProof="0" dirty="0">
              <a:ln>
                <a:noFill/>
              </a:ln>
              <a:solidFill>
                <a:prstClr val="white"/>
              </a:solidFill>
              <a:effectLst/>
              <a:uLnTx/>
              <a:uFillTx/>
              <a:latin typeface="Arial"/>
              <a:ea typeface="+mn-ea"/>
              <a:cs typeface="+mn-cs"/>
            </a:endParaRPr>
          </a:p>
        </p:txBody>
      </p:sp>
      <p:sp>
        <p:nvSpPr>
          <p:cNvPr id="13" name="Rounded Rectangle 12"/>
          <p:cNvSpPr/>
          <p:nvPr/>
        </p:nvSpPr>
        <p:spPr>
          <a:xfrm>
            <a:off x="9027647" y="2509036"/>
            <a:ext cx="2060563" cy="480053"/>
          </a:xfrm>
          <a:prstGeom prst="roundRect">
            <a:avLst/>
          </a:prstGeom>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Arial"/>
                <a:ea typeface="+mn-ea"/>
                <a:cs typeface="+mn-cs"/>
              </a:rPr>
              <a:t>FilteredRDD</a:t>
            </a:r>
            <a:endParaRPr kumimoji="0" lang="en-IN" sz="24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Rounded Rectangle 14"/>
          <p:cNvSpPr/>
          <p:nvPr/>
        </p:nvSpPr>
        <p:spPr>
          <a:xfrm>
            <a:off x="9027647" y="3702192"/>
            <a:ext cx="2060563" cy="480053"/>
          </a:xfrm>
          <a:prstGeom prst="roundRect">
            <a:avLst/>
          </a:prstGeom>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Arial"/>
                <a:ea typeface="+mn-ea"/>
                <a:cs typeface="+mn-cs"/>
              </a:rPr>
              <a:t>MappedRDD</a:t>
            </a:r>
            <a:endParaRPr kumimoji="0" lang="en-IN" sz="2400" b="0" i="0" u="none" strike="noStrike" kern="1200" cap="none" spc="0" normalizeH="0" baseline="0" noProof="0" dirty="0">
              <a:ln>
                <a:noFill/>
              </a:ln>
              <a:solidFill>
                <a:prstClr val="white"/>
              </a:solidFill>
              <a:effectLst/>
              <a:uLnTx/>
              <a:uFillTx/>
              <a:latin typeface="Arial"/>
              <a:ea typeface="+mn-ea"/>
              <a:cs typeface="+mn-cs"/>
            </a:endParaRPr>
          </a:p>
        </p:txBody>
      </p:sp>
      <p:sp>
        <p:nvSpPr>
          <p:cNvPr id="16" name="Rounded Rectangle 15"/>
          <p:cNvSpPr/>
          <p:nvPr/>
        </p:nvSpPr>
        <p:spPr>
          <a:xfrm>
            <a:off x="9031555" y="4878424"/>
            <a:ext cx="2056655" cy="480053"/>
          </a:xfrm>
          <a:prstGeom prst="roundRect">
            <a:avLst/>
          </a:prstGeom>
          <a:solidFill>
            <a:schemeClr val="tx1"/>
          </a:solidFill>
          <a:ln/>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err="1">
                <a:ln>
                  <a:noFill/>
                </a:ln>
                <a:solidFill>
                  <a:prstClr val="white"/>
                </a:solidFill>
                <a:effectLst/>
                <a:uLnTx/>
                <a:uFillTx/>
                <a:latin typeface="Arial"/>
                <a:ea typeface="+mn-ea"/>
                <a:cs typeface="+mn-cs"/>
              </a:rPr>
              <a:t>MappedRDD</a:t>
            </a:r>
            <a:endParaRPr kumimoji="0" lang="en-IN" sz="2400" b="0" i="0" u="none" strike="noStrike" kern="1200" cap="none" spc="0" normalizeH="0" baseline="0" noProof="0" dirty="0">
              <a:ln>
                <a:noFill/>
              </a:ln>
              <a:solidFill>
                <a:prstClr val="white"/>
              </a:solidFill>
              <a:effectLst/>
              <a:uLnTx/>
              <a:uFillTx/>
              <a:latin typeface="Arial"/>
              <a:ea typeface="+mn-ea"/>
              <a:cs typeface="+mn-cs"/>
            </a:endParaRPr>
          </a:p>
        </p:txBody>
      </p:sp>
      <p:cxnSp>
        <p:nvCxnSpPr>
          <p:cNvPr id="17" name="Straight Arrow Connector 16"/>
          <p:cNvCxnSpPr>
            <a:cxnSpLocks/>
            <a:stCxn id="9" idx="2"/>
            <a:endCxn id="13" idx="0"/>
          </p:cNvCxnSpPr>
          <p:nvPr/>
        </p:nvCxnSpPr>
        <p:spPr>
          <a:xfrm>
            <a:off x="10057929" y="1821149"/>
            <a:ext cx="0" cy="687887"/>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9" name="Straight Arrow Connector 18"/>
          <p:cNvCxnSpPr>
            <a:cxnSpLocks/>
            <a:stCxn id="13" idx="2"/>
            <a:endCxn id="15" idx="0"/>
          </p:cNvCxnSpPr>
          <p:nvPr/>
        </p:nvCxnSpPr>
        <p:spPr>
          <a:xfrm>
            <a:off x="10057929" y="2989089"/>
            <a:ext cx="0" cy="71310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1" name="Straight Arrow Connector 20"/>
          <p:cNvCxnSpPr>
            <a:cxnSpLocks/>
            <a:stCxn id="15" idx="2"/>
            <a:endCxn id="16" idx="0"/>
          </p:cNvCxnSpPr>
          <p:nvPr/>
        </p:nvCxnSpPr>
        <p:spPr>
          <a:xfrm>
            <a:off x="10057929" y="4182245"/>
            <a:ext cx="1954" cy="69617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7821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5"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627"/>
            <a:ext cx="10515600" cy="732155"/>
          </a:xfrm>
        </p:spPr>
        <p:txBody>
          <a:bodyPr/>
          <a:lstStyle/>
          <a:p>
            <a:r>
              <a:rPr lang="en-IN" dirty="0"/>
              <a:t>Example</a:t>
            </a:r>
          </a:p>
        </p:txBody>
      </p:sp>
      <p:sp>
        <p:nvSpPr>
          <p:cNvPr id="5" name="Rounded Rectangle 4"/>
          <p:cNvSpPr/>
          <p:nvPr/>
        </p:nvSpPr>
        <p:spPr>
          <a:xfrm>
            <a:off x="7528264" y="3044957"/>
            <a:ext cx="1356977"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driver</a:t>
            </a:r>
          </a:p>
        </p:txBody>
      </p:sp>
      <p:sp>
        <p:nvSpPr>
          <p:cNvPr id="6" name="Rectangle 5"/>
          <p:cNvSpPr/>
          <p:nvPr/>
        </p:nvSpPr>
        <p:spPr>
          <a:xfrm>
            <a:off x="9360363" y="1316765"/>
            <a:ext cx="1248453"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
        <p:nvSpPr>
          <p:cNvPr id="7" name="Rectangle 6"/>
          <p:cNvSpPr/>
          <p:nvPr/>
        </p:nvSpPr>
        <p:spPr>
          <a:xfrm>
            <a:off x="9368767" y="2852936"/>
            <a:ext cx="1356977"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
        <p:nvSpPr>
          <p:cNvPr id="8" name="Rectangle 7"/>
          <p:cNvSpPr/>
          <p:nvPr/>
        </p:nvSpPr>
        <p:spPr>
          <a:xfrm>
            <a:off x="9393987" y="4657019"/>
            <a:ext cx="1331757"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2060"/>
                </a:solidFill>
                <a:effectLst/>
                <a:uLnTx/>
                <a:uFillTx/>
                <a:latin typeface="Arial"/>
                <a:ea typeface="+mn-ea"/>
                <a:cs typeface="+mn-cs"/>
              </a:rPr>
              <a:t>worker</a:t>
            </a:r>
          </a:p>
        </p:txBody>
      </p:sp>
      <p:sp>
        <p:nvSpPr>
          <p:cNvPr id="13" name="TextBox 12"/>
          <p:cNvSpPr txBox="1"/>
          <p:nvPr/>
        </p:nvSpPr>
        <p:spPr>
          <a:xfrm>
            <a:off x="623392" y="1500267"/>
            <a:ext cx="6318946"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(_.contains(“memory")).count()</a:t>
            </a:r>
          </a:p>
        </p:txBody>
      </p:sp>
    </p:spTree>
    <p:extLst>
      <p:ext uri="{BB962C8B-B14F-4D97-AF65-F5344CB8AC3E}">
        <p14:creationId xmlns:p14="http://schemas.microsoft.com/office/powerpoint/2010/main" val="4131014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80449"/>
            <a:ext cx="10515600" cy="732155"/>
          </a:xfrm>
        </p:spPr>
        <p:txBody>
          <a:bodyPr/>
          <a:lstStyle/>
          <a:p>
            <a:r>
              <a:rPr lang="en-IN" b="1" dirty="0">
                <a:solidFill>
                  <a:srgbClr val="00B050"/>
                </a:solidFill>
              </a:rPr>
              <a:t>Example</a:t>
            </a:r>
          </a:p>
        </p:txBody>
      </p:sp>
      <p:sp>
        <p:nvSpPr>
          <p:cNvPr id="5" name="Rounded Rectangle 4"/>
          <p:cNvSpPr/>
          <p:nvPr/>
        </p:nvSpPr>
        <p:spPr>
          <a:xfrm>
            <a:off x="7279689" y="3044957"/>
            <a:ext cx="1312589"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9360363" y="1316765"/>
            <a:ext cx="1248453"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1</a:t>
            </a:r>
          </a:p>
        </p:txBody>
      </p:sp>
      <p:sp>
        <p:nvSpPr>
          <p:cNvPr id="7" name="Rectangle 6"/>
          <p:cNvSpPr/>
          <p:nvPr/>
        </p:nvSpPr>
        <p:spPr>
          <a:xfrm>
            <a:off x="9368767" y="2852936"/>
            <a:ext cx="1337808"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9393987" y="4657019"/>
            <a:ext cx="1337808"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3</a:t>
            </a:r>
          </a:p>
        </p:txBody>
      </p:sp>
      <p:cxnSp>
        <p:nvCxnSpPr>
          <p:cNvPr id="10" name="Straight Arrow Connector 9"/>
          <p:cNvCxnSpPr>
            <a:cxnSpLocks/>
            <a:stCxn id="5" idx="0"/>
            <a:endCxn id="6" idx="1"/>
          </p:cNvCxnSpPr>
          <p:nvPr/>
        </p:nvCxnSpPr>
        <p:spPr>
          <a:xfrm flipV="1">
            <a:off x="7935984" y="1796819"/>
            <a:ext cx="1424379" cy="12481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p:cNvCxnSpPr>
            <a:cxnSpLocks/>
            <a:stCxn id="5" idx="3"/>
            <a:endCxn id="7" idx="1"/>
          </p:cNvCxnSpPr>
          <p:nvPr/>
        </p:nvCxnSpPr>
        <p:spPr>
          <a:xfrm>
            <a:off x="8592278" y="3236979"/>
            <a:ext cx="776489" cy="480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p:cNvCxnSpPr>
            <a:cxnSpLocks/>
            <a:endCxn id="8" idx="0"/>
          </p:cNvCxnSpPr>
          <p:nvPr/>
        </p:nvCxnSpPr>
        <p:spPr>
          <a:xfrm>
            <a:off x="8112224" y="3429001"/>
            <a:ext cx="1950667" cy="12280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TextBox 10"/>
          <p:cNvSpPr txBox="1"/>
          <p:nvPr/>
        </p:nvSpPr>
        <p:spPr>
          <a:xfrm>
            <a:off x="623391" y="1500267"/>
            <a:ext cx="6301191"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(_.contains(“memory")).count()</a:t>
            </a:r>
          </a:p>
        </p:txBody>
      </p:sp>
    </p:spTree>
    <p:extLst>
      <p:ext uri="{BB962C8B-B14F-4D97-AF65-F5344CB8AC3E}">
        <p14:creationId xmlns:p14="http://schemas.microsoft.com/office/powerpoint/2010/main" val="12408070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55668"/>
            <a:ext cx="10515600" cy="732155"/>
          </a:xfrm>
        </p:spPr>
        <p:txBody>
          <a:bodyPr/>
          <a:lstStyle/>
          <a:p>
            <a:r>
              <a:rPr lang="en-IN" b="1" dirty="0">
                <a:solidFill>
                  <a:srgbClr val="00B050"/>
                </a:solidFill>
              </a:rPr>
              <a:t>Example</a:t>
            </a:r>
          </a:p>
        </p:txBody>
      </p:sp>
      <p:sp>
        <p:nvSpPr>
          <p:cNvPr id="5" name="Rounded Rectangle 4"/>
          <p:cNvSpPr/>
          <p:nvPr/>
        </p:nvSpPr>
        <p:spPr>
          <a:xfrm>
            <a:off x="7253057" y="3044957"/>
            <a:ext cx="1339222"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8957569" y="1316765"/>
            <a:ext cx="1362901"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1</a:t>
            </a:r>
          </a:p>
        </p:txBody>
      </p:sp>
      <p:sp>
        <p:nvSpPr>
          <p:cNvPr id="7" name="Rectangle 6"/>
          <p:cNvSpPr/>
          <p:nvPr/>
        </p:nvSpPr>
        <p:spPr>
          <a:xfrm>
            <a:off x="8965973" y="2852936"/>
            <a:ext cx="1362901"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8957569" y="4657019"/>
            <a:ext cx="1396525"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3</a:t>
            </a:r>
          </a:p>
        </p:txBody>
      </p:sp>
      <p:sp>
        <p:nvSpPr>
          <p:cNvPr id="3" name="Curved Down Arrow 2"/>
          <p:cNvSpPr/>
          <p:nvPr/>
        </p:nvSpPr>
        <p:spPr>
          <a:xfrm rot="5206396">
            <a:off x="10290023" y="1572590"/>
            <a:ext cx="620349" cy="508537"/>
          </a:xfrm>
          <a:prstGeom prst="curvedDown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Arial"/>
              <a:ea typeface="+mn-ea"/>
              <a:cs typeface="+mn-cs"/>
            </a:endParaRPr>
          </a:p>
        </p:txBody>
      </p:sp>
      <p:sp>
        <p:nvSpPr>
          <p:cNvPr id="9" name="TextBox 8"/>
          <p:cNvSpPr txBox="1"/>
          <p:nvPr/>
        </p:nvSpPr>
        <p:spPr>
          <a:xfrm>
            <a:off x="10800523" y="1502864"/>
            <a:ext cx="952505"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Read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err="1">
                <a:ln>
                  <a:noFill/>
                </a:ln>
                <a:solidFill>
                  <a:prstClr val="black"/>
                </a:solidFill>
                <a:effectLst/>
                <a:uLnTx/>
                <a:uFillTx/>
                <a:latin typeface="Arial"/>
                <a:ea typeface="+mn-ea"/>
                <a:cs typeface="+mn-cs"/>
              </a:rPr>
              <a:t>hdfs</a:t>
            </a:r>
            <a:r>
              <a:rPr kumimoji="0" lang="en-IN" sz="1333" b="0" i="0" u="none" strike="noStrike" kern="1200" cap="none" spc="0" normalizeH="0" baseline="0" noProof="0" dirty="0">
                <a:ln>
                  <a:noFill/>
                </a:ln>
                <a:solidFill>
                  <a:prstClr val="black"/>
                </a:solidFill>
                <a:effectLst/>
                <a:uLnTx/>
                <a:uFillTx/>
                <a:latin typeface="Arial"/>
                <a:ea typeface="+mn-ea"/>
                <a:cs typeface="+mn-cs"/>
              </a:rPr>
              <a:t> block</a:t>
            </a:r>
          </a:p>
        </p:txBody>
      </p:sp>
      <p:sp>
        <p:nvSpPr>
          <p:cNvPr id="13" name="Curved Down Arrow 12"/>
          <p:cNvSpPr/>
          <p:nvPr/>
        </p:nvSpPr>
        <p:spPr>
          <a:xfrm rot="5206396">
            <a:off x="10290023" y="3048393"/>
            <a:ext cx="620349" cy="508537"/>
          </a:xfrm>
          <a:prstGeom prst="curvedDown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Arial"/>
              <a:ea typeface="+mn-ea"/>
              <a:cs typeface="+mn-cs"/>
            </a:endParaRPr>
          </a:p>
        </p:txBody>
      </p:sp>
      <p:sp>
        <p:nvSpPr>
          <p:cNvPr id="15" name="TextBox 14"/>
          <p:cNvSpPr txBox="1"/>
          <p:nvPr/>
        </p:nvSpPr>
        <p:spPr>
          <a:xfrm>
            <a:off x="10800523" y="2978666"/>
            <a:ext cx="952505"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Read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err="1">
                <a:ln>
                  <a:noFill/>
                </a:ln>
                <a:solidFill>
                  <a:prstClr val="black"/>
                </a:solidFill>
                <a:effectLst/>
                <a:uLnTx/>
                <a:uFillTx/>
                <a:latin typeface="Arial"/>
                <a:ea typeface="+mn-ea"/>
                <a:cs typeface="+mn-cs"/>
              </a:rPr>
              <a:t>hdfs</a:t>
            </a:r>
            <a:r>
              <a:rPr kumimoji="0" lang="en-IN" sz="1333" b="0" i="0" u="none" strike="noStrike" kern="1200" cap="none" spc="0" normalizeH="0" baseline="0" noProof="0" dirty="0">
                <a:ln>
                  <a:noFill/>
                </a:ln>
                <a:solidFill>
                  <a:prstClr val="black"/>
                </a:solidFill>
                <a:effectLst/>
                <a:uLnTx/>
                <a:uFillTx/>
                <a:latin typeface="Arial"/>
                <a:ea typeface="+mn-ea"/>
                <a:cs typeface="+mn-cs"/>
              </a:rPr>
              <a:t> block</a:t>
            </a:r>
          </a:p>
        </p:txBody>
      </p:sp>
      <p:sp>
        <p:nvSpPr>
          <p:cNvPr id="16" name="Curved Down Arrow 15"/>
          <p:cNvSpPr/>
          <p:nvPr/>
        </p:nvSpPr>
        <p:spPr>
          <a:xfrm rot="5206396">
            <a:off x="10290023" y="4938888"/>
            <a:ext cx="620349" cy="508537"/>
          </a:xfrm>
          <a:prstGeom prst="curvedDown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Arial"/>
              <a:ea typeface="+mn-ea"/>
              <a:cs typeface="+mn-cs"/>
            </a:endParaRPr>
          </a:p>
        </p:txBody>
      </p:sp>
      <p:sp>
        <p:nvSpPr>
          <p:cNvPr id="17" name="TextBox 16"/>
          <p:cNvSpPr txBox="1"/>
          <p:nvPr/>
        </p:nvSpPr>
        <p:spPr>
          <a:xfrm>
            <a:off x="10800523" y="4869161"/>
            <a:ext cx="952505"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Read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err="1">
                <a:ln>
                  <a:noFill/>
                </a:ln>
                <a:solidFill>
                  <a:prstClr val="black"/>
                </a:solidFill>
                <a:effectLst/>
                <a:uLnTx/>
                <a:uFillTx/>
                <a:latin typeface="Arial"/>
                <a:ea typeface="+mn-ea"/>
                <a:cs typeface="+mn-cs"/>
              </a:rPr>
              <a:t>hdfs</a:t>
            </a:r>
            <a:r>
              <a:rPr kumimoji="0" lang="en-IN" sz="1333" b="0" i="0" u="none" strike="noStrike" kern="1200" cap="none" spc="0" normalizeH="0" baseline="0" noProof="0" dirty="0">
                <a:ln>
                  <a:noFill/>
                </a:ln>
                <a:solidFill>
                  <a:prstClr val="black"/>
                </a:solidFill>
                <a:effectLst/>
                <a:uLnTx/>
                <a:uFillTx/>
                <a:latin typeface="Arial"/>
                <a:ea typeface="+mn-ea"/>
                <a:cs typeface="+mn-cs"/>
              </a:rPr>
              <a:t> block</a:t>
            </a:r>
          </a:p>
        </p:txBody>
      </p:sp>
      <p:sp>
        <p:nvSpPr>
          <p:cNvPr id="18" name="TextBox 17"/>
          <p:cNvSpPr txBox="1"/>
          <p:nvPr/>
        </p:nvSpPr>
        <p:spPr>
          <a:xfrm>
            <a:off x="623391" y="1500267"/>
            <a:ext cx="6255971"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(_.contains(“memory")).count()</a:t>
            </a:r>
          </a:p>
        </p:txBody>
      </p:sp>
    </p:spTree>
    <p:extLst>
      <p:ext uri="{BB962C8B-B14F-4D97-AF65-F5344CB8AC3E}">
        <p14:creationId xmlns:p14="http://schemas.microsoft.com/office/powerpoint/2010/main" val="13569378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27" y="78073"/>
            <a:ext cx="10515600" cy="732155"/>
          </a:xfrm>
        </p:spPr>
        <p:txBody>
          <a:bodyPr/>
          <a:lstStyle/>
          <a:p>
            <a:r>
              <a:rPr lang="en-IN" b="1" dirty="0">
                <a:solidFill>
                  <a:srgbClr val="00B050"/>
                </a:solidFill>
              </a:rPr>
              <a:t>Example</a:t>
            </a:r>
          </a:p>
        </p:txBody>
      </p:sp>
      <p:sp>
        <p:nvSpPr>
          <p:cNvPr id="5" name="Rounded Rectangle 4"/>
          <p:cNvSpPr/>
          <p:nvPr/>
        </p:nvSpPr>
        <p:spPr>
          <a:xfrm>
            <a:off x="7104250" y="2943945"/>
            <a:ext cx="1045220"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8430435" y="1220755"/>
            <a:ext cx="1313972"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63BE"/>
                </a:solidFill>
                <a:effectLst/>
                <a:uLnTx/>
                <a:uFillTx/>
                <a:latin typeface="Arial"/>
                <a:ea typeface="+mn-ea"/>
                <a:cs typeface="+mn-cs"/>
              </a:rPr>
              <a:t>block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0063BE"/>
              </a:solidFill>
              <a:effectLst/>
              <a:uLnTx/>
              <a:uFillTx/>
              <a:latin typeface="Arial"/>
              <a:ea typeface="+mn-ea"/>
              <a:cs typeface="+mn-cs"/>
            </a:endParaRPr>
          </a:p>
        </p:txBody>
      </p:sp>
      <p:sp>
        <p:nvSpPr>
          <p:cNvPr id="7" name="Rectangle 6"/>
          <p:cNvSpPr/>
          <p:nvPr/>
        </p:nvSpPr>
        <p:spPr>
          <a:xfrm>
            <a:off x="8474747" y="2864505"/>
            <a:ext cx="1278063"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8474747" y="4561009"/>
            <a:ext cx="1303283"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63BE"/>
                </a:solidFill>
                <a:effectLst/>
                <a:uLnTx/>
                <a:uFillTx/>
                <a:latin typeface="Arial"/>
                <a:ea typeface="+mn-ea"/>
                <a:cs typeface="+mn-cs"/>
              </a:rPr>
              <a:t>block 3</a:t>
            </a:r>
          </a:p>
        </p:txBody>
      </p:sp>
      <p:sp>
        <p:nvSpPr>
          <p:cNvPr id="9" name="TextBox 8"/>
          <p:cNvSpPr txBox="1"/>
          <p:nvPr/>
        </p:nvSpPr>
        <p:spPr>
          <a:xfrm>
            <a:off x="10161490" y="1449522"/>
            <a:ext cx="1056700"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Process,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Cache data</a:t>
            </a:r>
          </a:p>
        </p:txBody>
      </p:sp>
      <p:cxnSp>
        <p:nvCxnSpPr>
          <p:cNvPr id="11" name="Straight Arrow Connector 10"/>
          <p:cNvCxnSpPr>
            <a:stCxn id="9" idx="0"/>
          </p:cNvCxnSpPr>
          <p:nvPr/>
        </p:nvCxnSpPr>
        <p:spPr>
          <a:xfrm flipH="1" flipV="1">
            <a:off x="10669323" y="1074327"/>
            <a:ext cx="20517" cy="37519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TextBox 11"/>
          <p:cNvSpPr txBox="1"/>
          <p:nvPr/>
        </p:nvSpPr>
        <p:spPr>
          <a:xfrm>
            <a:off x="9940702" y="700408"/>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1</a:t>
            </a:r>
          </a:p>
        </p:txBody>
      </p:sp>
      <p:cxnSp>
        <p:nvCxnSpPr>
          <p:cNvPr id="18" name="Straight Connector 17"/>
          <p:cNvCxnSpPr>
            <a:cxnSpLocks/>
            <a:stCxn id="6" idx="3"/>
            <a:endCxn id="9" idx="1"/>
          </p:cNvCxnSpPr>
          <p:nvPr/>
        </p:nvCxnSpPr>
        <p:spPr>
          <a:xfrm>
            <a:off x="9744407" y="1700809"/>
            <a:ext cx="417083" cy="0"/>
          </a:xfrm>
          <a:prstGeom prst="line">
            <a:avLst/>
          </a:prstGeom>
        </p:spPr>
        <p:style>
          <a:lnRef idx="3">
            <a:schemeClr val="accent6"/>
          </a:lnRef>
          <a:fillRef idx="0">
            <a:schemeClr val="accent6"/>
          </a:fillRef>
          <a:effectRef idx="2">
            <a:schemeClr val="accent6"/>
          </a:effectRef>
          <a:fontRef idx="minor">
            <a:schemeClr val="tx1"/>
          </a:fontRef>
        </p:style>
      </p:cxnSp>
      <p:sp>
        <p:nvSpPr>
          <p:cNvPr id="24" name="TextBox 23"/>
          <p:cNvSpPr txBox="1"/>
          <p:nvPr/>
        </p:nvSpPr>
        <p:spPr>
          <a:xfrm>
            <a:off x="10026735" y="2975257"/>
            <a:ext cx="1056700"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Process,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Cache data</a:t>
            </a:r>
          </a:p>
        </p:txBody>
      </p:sp>
      <p:cxnSp>
        <p:nvCxnSpPr>
          <p:cNvPr id="25" name="Straight Arrow Connector 24"/>
          <p:cNvCxnSpPr>
            <a:stCxn id="24" idx="0"/>
          </p:cNvCxnSpPr>
          <p:nvPr/>
        </p:nvCxnSpPr>
        <p:spPr>
          <a:xfrm flipH="1" flipV="1">
            <a:off x="10534568" y="2600063"/>
            <a:ext cx="20517" cy="37519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6" name="TextBox 25"/>
          <p:cNvSpPr txBox="1"/>
          <p:nvPr/>
        </p:nvSpPr>
        <p:spPr>
          <a:xfrm>
            <a:off x="9947606" y="2281962"/>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2</a:t>
            </a:r>
          </a:p>
        </p:txBody>
      </p:sp>
      <p:cxnSp>
        <p:nvCxnSpPr>
          <p:cNvPr id="27" name="Straight Connector 26"/>
          <p:cNvCxnSpPr/>
          <p:nvPr/>
        </p:nvCxnSpPr>
        <p:spPr>
          <a:xfrm flipV="1">
            <a:off x="9751309" y="3252222"/>
            <a:ext cx="384043" cy="30140"/>
          </a:xfrm>
          <a:prstGeom prst="line">
            <a:avLst/>
          </a:prstGeom>
        </p:spPr>
        <p:style>
          <a:lnRef idx="3">
            <a:schemeClr val="accent6"/>
          </a:lnRef>
          <a:fillRef idx="0">
            <a:schemeClr val="accent6"/>
          </a:fillRef>
          <a:effectRef idx="2">
            <a:schemeClr val="accent6"/>
          </a:effectRef>
          <a:fontRef idx="minor">
            <a:schemeClr val="tx1"/>
          </a:fontRef>
        </p:style>
      </p:cxnSp>
      <p:sp>
        <p:nvSpPr>
          <p:cNvPr id="28" name="TextBox 27"/>
          <p:cNvSpPr txBox="1"/>
          <p:nvPr/>
        </p:nvSpPr>
        <p:spPr>
          <a:xfrm>
            <a:off x="9969468" y="4741961"/>
            <a:ext cx="1056700" cy="50257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Process,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black"/>
                </a:solidFill>
                <a:effectLst/>
                <a:uLnTx/>
                <a:uFillTx/>
                <a:latin typeface="Arial"/>
                <a:ea typeface="+mn-ea"/>
                <a:cs typeface="+mn-cs"/>
              </a:rPr>
              <a:t>Cache data</a:t>
            </a:r>
          </a:p>
        </p:txBody>
      </p:sp>
      <p:cxnSp>
        <p:nvCxnSpPr>
          <p:cNvPr id="29" name="Straight Arrow Connector 28"/>
          <p:cNvCxnSpPr>
            <a:stCxn id="28" idx="0"/>
          </p:cNvCxnSpPr>
          <p:nvPr/>
        </p:nvCxnSpPr>
        <p:spPr>
          <a:xfrm flipH="1" flipV="1">
            <a:off x="10477301" y="4366766"/>
            <a:ext cx="20517" cy="37519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30" name="TextBox 29"/>
          <p:cNvSpPr txBox="1"/>
          <p:nvPr/>
        </p:nvSpPr>
        <p:spPr>
          <a:xfrm>
            <a:off x="9973743" y="4038440"/>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3</a:t>
            </a:r>
          </a:p>
        </p:txBody>
      </p:sp>
      <p:cxnSp>
        <p:nvCxnSpPr>
          <p:cNvPr id="31" name="Straight Connector 30"/>
          <p:cNvCxnSpPr/>
          <p:nvPr/>
        </p:nvCxnSpPr>
        <p:spPr>
          <a:xfrm flipV="1">
            <a:off x="9777447" y="5008701"/>
            <a:ext cx="384043" cy="30140"/>
          </a:xfrm>
          <a:prstGeom prst="line">
            <a:avLst/>
          </a:prstGeom>
        </p:spPr>
        <p:style>
          <a:lnRef idx="3">
            <a:schemeClr val="accent6"/>
          </a:lnRef>
          <a:fillRef idx="0">
            <a:schemeClr val="accent6"/>
          </a:fillRef>
          <a:effectRef idx="2">
            <a:schemeClr val="accent6"/>
          </a:effectRef>
          <a:fontRef idx="minor">
            <a:schemeClr val="tx1"/>
          </a:fontRef>
        </p:style>
      </p:cxnSp>
      <p:sp>
        <p:nvSpPr>
          <p:cNvPr id="32" name="TextBox 31"/>
          <p:cNvSpPr txBox="1"/>
          <p:nvPr/>
        </p:nvSpPr>
        <p:spPr>
          <a:xfrm>
            <a:off x="531049" y="1500267"/>
            <a:ext cx="6247925"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(_.contains(“memory")).count()</a:t>
            </a:r>
          </a:p>
        </p:txBody>
      </p:sp>
    </p:spTree>
    <p:extLst>
      <p:ext uri="{BB962C8B-B14F-4D97-AF65-F5344CB8AC3E}">
        <p14:creationId xmlns:p14="http://schemas.microsoft.com/office/powerpoint/2010/main" val="3755959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672" y="157227"/>
            <a:ext cx="10515600" cy="732155"/>
          </a:xfrm>
        </p:spPr>
        <p:txBody>
          <a:bodyPr/>
          <a:lstStyle/>
          <a:p>
            <a:r>
              <a:rPr lang="en-IN" sz="3733" b="1" dirty="0">
                <a:solidFill>
                  <a:srgbClr val="00B050"/>
                </a:solidFill>
              </a:rPr>
              <a:t>Example</a:t>
            </a:r>
          </a:p>
        </p:txBody>
      </p:sp>
      <p:sp>
        <p:nvSpPr>
          <p:cNvPr id="5" name="Rounded Rectangle 4"/>
          <p:cNvSpPr/>
          <p:nvPr/>
        </p:nvSpPr>
        <p:spPr>
          <a:xfrm>
            <a:off x="7111013" y="2948947"/>
            <a:ext cx="1047565"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8478175" y="1220755"/>
            <a:ext cx="1266231"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1</a:t>
            </a:r>
          </a:p>
        </p:txBody>
      </p:sp>
      <p:sp>
        <p:nvSpPr>
          <p:cNvPr id="7" name="Rectangle 6"/>
          <p:cNvSpPr/>
          <p:nvPr/>
        </p:nvSpPr>
        <p:spPr>
          <a:xfrm>
            <a:off x="8496267" y="2900941"/>
            <a:ext cx="1248139"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8407153" y="4561009"/>
            <a:ext cx="1370877"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3</a:t>
            </a:r>
          </a:p>
        </p:txBody>
      </p:sp>
      <p:sp>
        <p:nvSpPr>
          <p:cNvPr id="12" name="TextBox 11"/>
          <p:cNvSpPr txBox="1"/>
          <p:nvPr/>
        </p:nvSpPr>
        <p:spPr>
          <a:xfrm>
            <a:off x="10252826" y="1526051"/>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1</a:t>
            </a:r>
          </a:p>
        </p:txBody>
      </p:sp>
      <p:sp>
        <p:nvSpPr>
          <p:cNvPr id="23" name="TextBox 22"/>
          <p:cNvSpPr txBox="1"/>
          <p:nvPr/>
        </p:nvSpPr>
        <p:spPr>
          <a:xfrm>
            <a:off x="10224459" y="3158583"/>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2</a:t>
            </a:r>
          </a:p>
        </p:txBody>
      </p:sp>
      <p:sp>
        <p:nvSpPr>
          <p:cNvPr id="32" name="TextBox 31"/>
          <p:cNvSpPr txBox="1"/>
          <p:nvPr/>
        </p:nvSpPr>
        <p:spPr>
          <a:xfrm>
            <a:off x="10180139" y="4828708"/>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3</a:t>
            </a:r>
          </a:p>
        </p:txBody>
      </p:sp>
      <p:cxnSp>
        <p:nvCxnSpPr>
          <p:cNvPr id="33" name="Straight Arrow Connector 32"/>
          <p:cNvCxnSpPr>
            <a:cxnSpLocks/>
            <a:stCxn id="6" idx="1"/>
            <a:endCxn id="5" idx="0"/>
          </p:cNvCxnSpPr>
          <p:nvPr/>
        </p:nvCxnSpPr>
        <p:spPr>
          <a:xfrm flipH="1">
            <a:off x="7634796" y="1700809"/>
            <a:ext cx="843379" cy="12481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p:cNvCxnSpPr>
            <a:cxnSpLocks/>
            <a:stCxn id="7" idx="1"/>
            <a:endCxn id="5" idx="3"/>
          </p:cNvCxnSpPr>
          <p:nvPr/>
        </p:nvCxnSpPr>
        <p:spPr>
          <a:xfrm flipH="1" flipV="1">
            <a:off x="8158578" y="3140969"/>
            <a:ext cx="337689" cy="1920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a:cxnSpLocks/>
            <a:stCxn id="8" idx="1"/>
            <a:endCxn id="5" idx="2"/>
          </p:cNvCxnSpPr>
          <p:nvPr/>
        </p:nvCxnSpPr>
        <p:spPr>
          <a:xfrm flipH="1" flipV="1">
            <a:off x="7634796" y="3332990"/>
            <a:ext cx="772357" cy="16701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8" name="TextBox 37"/>
          <p:cNvSpPr txBox="1"/>
          <p:nvPr/>
        </p:nvSpPr>
        <p:spPr>
          <a:xfrm>
            <a:off x="623392" y="1500267"/>
            <a:ext cx="6239046" cy="40934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lines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sc.textFile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r>
              <a:rPr kumimoji="0" lang="en-IN" sz="2000" b="0" i="0" u="none" strike="noStrike" kern="1200" cap="none" spc="0" normalizeH="0" baseline="0" noProof="0" dirty="0" err="1">
                <a:ln>
                  <a:noFill/>
                </a:ln>
                <a:solidFill>
                  <a:srgbClr val="00B0F0"/>
                </a:solidFill>
                <a:effectLst/>
                <a:uLnTx/>
                <a:uFillTx/>
                <a:latin typeface="Arial"/>
                <a:ea typeface="+mn-ea"/>
                <a:cs typeface="+mn-cs"/>
              </a:rPr>
              <a:t>hdfs</a:t>
            </a:r>
            <a:r>
              <a:rPr kumimoji="0" lang="en-IN" sz="2000" b="0" i="0" u="none" strike="noStrike" kern="1200" cap="none" spc="0" normalizeH="0" baseline="0" noProof="0" dirty="0">
                <a:ln>
                  <a:noFill/>
                </a:ln>
                <a:solidFill>
                  <a:srgbClr val="00B0F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val</a:t>
            </a:r>
            <a:r>
              <a:rPr kumimoji="0" lang="en-IN" sz="2000" b="0" i="0" u="none" strike="noStrike" kern="1200" cap="none" spc="0" normalizeH="0" baseline="0" noProof="0" dirty="0">
                <a:ln>
                  <a:noFill/>
                </a:ln>
                <a:solidFill>
                  <a:srgbClr val="00B0F0"/>
                </a:solidFill>
                <a:effectLst/>
                <a:uLnTx/>
                <a:uFillTx/>
                <a:latin typeface="Arial"/>
                <a:ea typeface="+mn-ea"/>
                <a:cs typeface="+mn-cs"/>
              </a:rPr>
              <a:t> errors = </a:t>
            </a:r>
            <a:r>
              <a:rPr kumimoji="0" lang="en-IN" sz="2000" b="0" i="0" u="none" strike="noStrike" kern="1200" cap="none" spc="0" normalizeH="0" baseline="0" noProof="0" dirty="0" err="1">
                <a:ln>
                  <a:noFill/>
                </a:ln>
                <a:solidFill>
                  <a:srgbClr val="00B0F0"/>
                </a:solidFill>
                <a:effectLst/>
                <a:uLnTx/>
                <a:uFillTx/>
                <a:latin typeface="Arial"/>
                <a:ea typeface="+mn-ea"/>
                <a:cs typeface="+mn-cs"/>
              </a:rPr>
              <a:t>lines.filter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a:t>
            </a:r>
            <a:r>
              <a:rPr kumimoji="0" lang="en-IN" sz="2000" b="0" i="0" u="none" strike="noStrike" kern="1200" cap="none" spc="0" normalizeH="0" baseline="0" noProof="0" dirty="0" err="1">
                <a:ln>
                  <a:noFill/>
                </a:ln>
                <a:solidFill>
                  <a:srgbClr val="00B0F0"/>
                </a:solidFill>
                <a:effectLst/>
                <a:uLnTx/>
                <a:uFillTx/>
                <a:latin typeface="Arial"/>
                <a:ea typeface="+mn-ea"/>
                <a:cs typeface="+mn-cs"/>
              </a:rPr>
              <a:t>startsWith</a:t>
            </a:r>
            <a:r>
              <a:rPr kumimoji="0" lang="en-IN" sz="2000" b="0" i="0" u="none" strike="noStrike" kern="1200" cap="none" spc="0" normalizeH="0" baseline="0" noProof="0" dirty="0">
                <a:ln>
                  <a:noFill/>
                </a:ln>
                <a:solidFill>
                  <a:srgbClr val="00B0F0"/>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srgbClr val="00B0F0"/>
                </a:solidFill>
                <a:effectLst/>
                <a:uLnTx/>
                <a:uFillTx/>
                <a:latin typeface="Arial"/>
                <a:ea typeface="+mn-ea"/>
                <a:cs typeface="+mn-cs"/>
              </a:rPr>
              <a:t>val messages = </a:t>
            </a:r>
            <a:r>
              <a:rPr kumimoji="0" lang="fr-FR" sz="2000" b="0" i="0" u="none" strike="noStrike" kern="1200" cap="none" spc="0" normalizeH="0" baseline="0" noProof="0" dirty="0" err="1">
                <a:ln>
                  <a:noFill/>
                </a:ln>
                <a:solidFill>
                  <a:srgbClr val="00B0F0"/>
                </a:solidFill>
                <a:effectLst/>
                <a:uLnTx/>
                <a:uFillTx/>
                <a:latin typeface="Arial"/>
                <a:ea typeface="+mn-ea"/>
                <a:cs typeface="+mn-cs"/>
              </a:rPr>
              <a:t>errors.map</a:t>
            </a:r>
            <a:r>
              <a:rPr kumimoji="0" lang="fr-FR" sz="2000" b="0" i="0" u="none" strike="noStrike" kern="1200" cap="none" spc="0" normalizeH="0" baseline="0" noProof="0" dirty="0">
                <a:ln>
                  <a:noFill/>
                </a:ln>
                <a:solidFill>
                  <a:srgbClr val="00B0F0"/>
                </a:solidFill>
                <a:effectLst/>
                <a:uLnTx/>
                <a:uFillTx/>
                <a:latin typeface="Arial"/>
                <a:ea typeface="+mn-ea"/>
                <a:cs typeface="+mn-cs"/>
              </a:rPr>
              <a:t>(_.split("\t")).</a:t>
            </a:r>
            <a:r>
              <a:rPr kumimoji="0" lang="fr-FR" sz="2000" b="0" i="0" u="none" strike="noStrike" kern="1200" cap="none" spc="0" normalizeH="0" baseline="0" noProof="0" dirty="0" err="1">
                <a:ln>
                  <a:noFill/>
                </a:ln>
                <a:solidFill>
                  <a:srgbClr val="00B0F0"/>
                </a:solidFill>
                <a:effectLst/>
                <a:uLnTx/>
                <a:uFillTx/>
                <a:latin typeface="Arial"/>
                <a:ea typeface="+mn-ea"/>
                <a:cs typeface="+mn-cs"/>
              </a:rPr>
              <a:t>map</a:t>
            </a:r>
            <a:r>
              <a:rPr kumimoji="0" lang="fr-FR" sz="2000" b="0" i="0" u="none" strike="noStrike" kern="1200" cap="none" spc="0" normalizeH="0" baseline="0" noProof="0" dirty="0">
                <a:ln>
                  <a:noFill/>
                </a:ln>
                <a:solidFill>
                  <a:srgbClr val="00B0F0"/>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messages.cache</a:t>
            </a:r>
            <a:r>
              <a:rPr kumimoji="0" lang="en-IN" sz="2000" b="0" i="0" u="none" strike="noStrike" kern="1200" cap="none" spc="0" normalizeH="0" baseline="0" noProof="0" dirty="0">
                <a:ln>
                  <a:noFill/>
                </a:ln>
                <a:solidFill>
                  <a:srgbClr val="00B0F0"/>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20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2000" b="0" i="0" u="none" strike="noStrike" kern="1200" cap="none" spc="0" normalizeH="0" baseline="0" noProof="0" dirty="0">
                <a:ln>
                  <a:noFill/>
                </a:ln>
                <a:solidFill>
                  <a:srgbClr val="C00000"/>
                </a:solidFill>
                <a:effectLst/>
                <a:uLnTx/>
                <a:uFillTx/>
                <a:latin typeface="Arial"/>
                <a:ea typeface="+mn-ea"/>
                <a:cs typeface="+mn-cs"/>
              </a:rPr>
              <a:t>java</a:t>
            </a:r>
            <a:r>
              <a:rPr kumimoji="0" lang="en-IN" sz="2000" b="0" i="0" u="none" strike="noStrike" kern="1200" cap="none" spc="0" normalizeH="0" baseline="0" noProof="0" dirty="0">
                <a:ln>
                  <a:noFill/>
                </a:ln>
                <a:solidFill>
                  <a:srgbClr val="00B0F0"/>
                </a:solidFill>
                <a:effectLst/>
                <a:uLnTx/>
                <a:uFillTx/>
                <a:latin typeface="Arial"/>
                <a:ea typeface="+mn-ea"/>
                <a:cs typeface="+mn-cs"/>
              </a:rPr>
              <a:t>")).count()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2000" b="0" i="0" u="none" strike="noStrike" kern="1200" cap="none" spc="0" normalizeH="0" baseline="0" noProof="0" dirty="0">
                <a:ln>
                  <a:noFill/>
                </a:ln>
                <a:solidFill>
                  <a:prstClr val="white">
                    <a:lumMod val="75000"/>
                  </a:prstClr>
                </a:solidFill>
                <a:effectLst/>
                <a:uLnTx/>
                <a:uFillTx/>
                <a:latin typeface="Arial"/>
                <a:ea typeface="+mn-ea"/>
                <a:cs typeface="+mn-cs"/>
              </a:rPr>
              <a:t>(_.contains(“memory")).count()</a:t>
            </a:r>
          </a:p>
        </p:txBody>
      </p:sp>
    </p:spTree>
    <p:extLst>
      <p:ext uri="{BB962C8B-B14F-4D97-AF65-F5344CB8AC3E}">
        <p14:creationId xmlns:p14="http://schemas.microsoft.com/office/powerpoint/2010/main" val="2222753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672" y="157227"/>
            <a:ext cx="10515600" cy="732155"/>
          </a:xfrm>
        </p:spPr>
        <p:txBody>
          <a:bodyPr/>
          <a:lstStyle/>
          <a:p>
            <a:r>
              <a:rPr lang="en-IN" sz="3733" b="1" dirty="0">
                <a:solidFill>
                  <a:srgbClr val="00B050"/>
                </a:solidFill>
              </a:rPr>
              <a:t>Example</a:t>
            </a:r>
          </a:p>
        </p:txBody>
      </p:sp>
      <p:sp>
        <p:nvSpPr>
          <p:cNvPr id="4" name="TextBox 3"/>
          <p:cNvSpPr txBox="1"/>
          <p:nvPr/>
        </p:nvSpPr>
        <p:spPr>
          <a:xfrm>
            <a:off x="527381" y="1724775"/>
            <a:ext cx="5856651"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val</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lines = </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sc.textFile</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hdfs</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val</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errors = </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lines.filter</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(_.</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startsWith</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val messages = </a:t>
            </a:r>
            <a:r>
              <a:rPr kumimoji="0" lang="fr-FR" sz="1600" b="0" i="0" u="none" strike="noStrike" kern="1200" cap="none" spc="0" normalizeH="0" baseline="0" noProof="0" dirty="0" err="1">
                <a:ln>
                  <a:noFill/>
                </a:ln>
                <a:solidFill>
                  <a:prstClr val="white">
                    <a:lumMod val="75000"/>
                  </a:prstClr>
                </a:solidFill>
                <a:effectLst/>
                <a:uLnTx/>
                <a:uFillTx/>
                <a:latin typeface="Arial"/>
                <a:ea typeface="+mn-ea"/>
                <a:cs typeface="+mn-cs"/>
              </a:rPr>
              <a:t>errors.map</a:t>
            </a: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(_.split("\t")).</a:t>
            </a:r>
            <a:r>
              <a:rPr kumimoji="0" lang="fr-FR" sz="1600" b="0" i="0" u="none" strike="noStrike" kern="1200" cap="none" spc="0" normalizeH="0" baseline="0" noProof="0" dirty="0" err="1">
                <a:ln>
                  <a:noFill/>
                </a:ln>
                <a:solidFill>
                  <a:prstClr val="white">
                    <a:lumMod val="75000"/>
                  </a:prstClr>
                </a:solidFill>
                <a:effectLst/>
                <a:uLnTx/>
                <a:uFillTx/>
                <a:latin typeface="Arial"/>
                <a:ea typeface="+mn-ea"/>
                <a:cs typeface="+mn-cs"/>
              </a:rPr>
              <a:t>map</a:t>
            </a: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messages.cache</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(_.contains(“java")).count()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00B0F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16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1600" b="0" i="0" u="none" strike="noStrike" kern="1200" cap="none" spc="0" normalizeH="0" baseline="0" noProof="0" dirty="0">
                <a:ln>
                  <a:noFill/>
                </a:ln>
                <a:solidFill>
                  <a:srgbClr val="C00000"/>
                </a:solidFill>
                <a:effectLst/>
                <a:uLnTx/>
                <a:uFillTx/>
                <a:latin typeface="Arial"/>
                <a:ea typeface="+mn-ea"/>
                <a:cs typeface="+mn-cs"/>
              </a:rPr>
              <a:t>memory</a:t>
            </a:r>
            <a:r>
              <a:rPr kumimoji="0" lang="en-IN" sz="1600" b="0" i="0" u="none" strike="noStrike" kern="1200" cap="none" spc="0" normalizeH="0" baseline="0" noProof="0" dirty="0">
                <a:ln>
                  <a:noFill/>
                </a:ln>
                <a:solidFill>
                  <a:srgbClr val="00B0F0"/>
                </a:solidFill>
                <a:effectLst/>
                <a:uLnTx/>
                <a:uFillTx/>
                <a:latin typeface="Arial"/>
                <a:ea typeface="+mn-ea"/>
                <a:cs typeface="+mn-cs"/>
              </a:rPr>
              <a:t>")).count()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00B0F0"/>
              </a:solidFill>
              <a:effectLst/>
              <a:uLnTx/>
              <a:uFillTx/>
              <a:latin typeface="Arial"/>
              <a:ea typeface="+mn-ea"/>
              <a:cs typeface="+mn-cs"/>
            </a:endParaRPr>
          </a:p>
        </p:txBody>
      </p:sp>
      <p:sp>
        <p:nvSpPr>
          <p:cNvPr id="5" name="Rounded Rectangle 4"/>
          <p:cNvSpPr/>
          <p:nvPr/>
        </p:nvSpPr>
        <p:spPr>
          <a:xfrm>
            <a:off x="6738151" y="2948947"/>
            <a:ext cx="1278063"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8389399" y="1220755"/>
            <a:ext cx="1355008"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1</a:t>
            </a:r>
          </a:p>
        </p:txBody>
      </p:sp>
      <p:sp>
        <p:nvSpPr>
          <p:cNvPr id="7" name="Rectangle 6"/>
          <p:cNvSpPr/>
          <p:nvPr/>
        </p:nvSpPr>
        <p:spPr>
          <a:xfrm>
            <a:off x="8389399" y="2900941"/>
            <a:ext cx="1355008"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8423023" y="4561009"/>
            <a:ext cx="1355007"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3</a:t>
            </a:r>
          </a:p>
        </p:txBody>
      </p:sp>
      <p:sp>
        <p:nvSpPr>
          <p:cNvPr id="12" name="TextBox 11"/>
          <p:cNvSpPr txBox="1"/>
          <p:nvPr/>
        </p:nvSpPr>
        <p:spPr>
          <a:xfrm>
            <a:off x="10252826" y="1526051"/>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1</a:t>
            </a:r>
          </a:p>
        </p:txBody>
      </p:sp>
      <p:sp>
        <p:nvSpPr>
          <p:cNvPr id="23" name="TextBox 22"/>
          <p:cNvSpPr txBox="1"/>
          <p:nvPr/>
        </p:nvSpPr>
        <p:spPr>
          <a:xfrm>
            <a:off x="10224459" y="3158583"/>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2</a:t>
            </a:r>
          </a:p>
        </p:txBody>
      </p:sp>
      <p:sp>
        <p:nvSpPr>
          <p:cNvPr id="32" name="TextBox 31"/>
          <p:cNvSpPr txBox="1"/>
          <p:nvPr/>
        </p:nvSpPr>
        <p:spPr>
          <a:xfrm>
            <a:off x="10180139" y="4828708"/>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3</a:t>
            </a:r>
          </a:p>
        </p:txBody>
      </p:sp>
    </p:spTree>
    <p:extLst>
      <p:ext uri="{BB962C8B-B14F-4D97-AF65-F5344CB8AC3E}">
        <p14:creationId xmlns:p14="http://schemas.microsoft.com/office/powerpoint/2010/main" val="17997658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672" y="157227"/>
            <a:ext cx="10515600" cy="732155"/>
          </a:xfrm>
        </p:spPr>
        <p:txBody>
          <a:bodyPr/>
          <a:lstStyle/>
          <a:p>
            <a:r>
              <a:rPr lang="en-IN" sz="3733" b="1" dirty="0">
                <a:solidFill>
                  <a:srgbClr val="00B050"/>
                </a:solidFill>
              </a:rPr>
              <a:t>Example</a:t>
            </a:r>
          </a:p>
        </p:txBody>
      </p:sp>
      <p:sp>
        <p:nvSpPr>
          <p:cNvPr id="4" name="TextBox 3"/>
          <p:cNvSpPr txBox="1"/>
          <p:nvPr/>
        </p:nvSpPr>
        <p:spPr>
          <a:xfrm>
            <a:off x="527381" y="1724775"/>
            <a:ext cx="5856651" cy="35394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load data from file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val</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lines = </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sc.textFile</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hdfs</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apply transformations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val</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errors = </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lines.filter</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(_.</a:t>
            </a: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startsWith</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(“ERROR"))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val messages = </a:t>
            </a:r>
            <a:r>
              <a:rPr kumimoji="0" lang="fr-FR" sz="1600" b="0" i="0" u="none" strike="noStrike" kern="1200" cap="none" spc="0" normalizeH="0" baseline="0" noProof="0" dirty="0" err="1">
                <a:ln>
                  <a:noFill/>
                </a:ln>
                <a:solidFill>
                  <a:prstClr val="white">
                    <a:lumMod val="75000"/>
                  </a:prstClr>
                </a:solidFill>
                <a:effectLst/>
                <a:uLnTx/>
                <a:uFillTx/>
                <a:latin typeface="Arial"/>
                <a:ea typeface="+mn-ea"/>
                <a:cs typeface="+mn-cs"/>
              </a:rPr>
              <a:t>errors.map</a:t>
            </a: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(_.split("\t")).</a:t>
            </a:r>
            <a:r>
              <a:rPr kumimoji="0" lang="fr-FR" sz="1600" b="0" i="0" u="none" strike="noStrike" kern="1200" cap="none" spc="0" normalizeH="0" baseline="0" noProof="0" dirty="0" err="1">
                <a:ln>
                  <a:noFill/>
                </a:ln>
                <a:solidFill>
                  <a:prstClr val="white">
                    <a:lumMod val="75000"/>
                  </a:prstClr>
                </a:solidFill>
                <a:effectLst/>
                <a:uLnTx/>
                <a:uFillTx/>
                <a:latin typeface="Arial"/>
                <a:ea typeface="+mn-ea"/>
                <a:cs typeface="+mn-cs"/>
              </a:rPr>
              <a:t>map</a:t>
            </a:r>
            <a:r>
              <a:rPr kumimoji="0" lang="fr-FR" sz="1600" b="0" i="0" u="none" strike="noStrike" kern="1200" cap="none" spc="0" normalizeH="0" baseline="0" noProof="0" dirty="0">
                <a:ln>
                  <a:noFill/>
                </a:ln>
                <a:solidFill>
                  <a:prstClr val="white">
                    <a:lumMod val="75000"/>
                  </a:prstClr>
                </a:solidFill>
                <a:effectLst/>
                <a:uLnTx/>
                <a:uFillTx/>
                <a:latin typeface="Arial"/>
                <a:ea typeface="+mn-ea"/>
                <a:cs typeface="+mn-cs"/>
              </a:rPr>
              <a:t>(r =&gt; r(1))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messages.cache</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 perform action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prstClr val="white">
                    <a:lumMod val="75000"/>
                  </a:prstClr>
                </a:solidFill>
                <a:effectLst/>
                <a:uLnTx/>
                <a:uFillTx/>
                <a:latin typeface="Arial"/>
                <a:ea typeface="+mn-ea"/>
                <a:cs typeface="+mn-cs"/>
              </a:rPr>
              <a:t>messages.filter</a:t>
            </a:r>
            <a:r>
              <a:rPr kumimoji="0" lang="en-IN" sz="1600" b="0" i="0" u="none" strike="noStrike" kern="1200" cap="none" spc="0" normalizeH="0" baseline="0" noProof="0" dirty="0">
                <a:ln>
                  <a:noFill/>
                </a:ln>
                <a:solidFill>
                  <a:prstClr val="white">
                    <a:lumMod val="75000"/>
                  </a:prstClr>
                </a:solidFill>
                <a:effectLst/>
                <a:uLnTx/>
                <a:uFillTx/>
                <a:latin typeface="Arial"/>
                <a:ea typeface="+mn-ea"/>
                <a:cs typeface="+mn-cs"/>
              </a:rPr>
              <a:t>(_.contains(“java")).count()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00B0F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 perform action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B0F0"/>
                </a:solidFill>
                <a:effectLst/>
                <a:uLnTx/>
                <a:uFillTx/>
                <a:latin typeface="Arial"/>
                <a:ea typeface="+mn-ea"/>
                <a:cs typeface="+mn-cs"/>
              </a:rPr>
              <a:t>messages.filter</a:t>
            </a:r>
            <a:r>
              <a:rPr kumimoji="0" lang="en-IN" sz="1600" b="0" i="0" u="none" strike="noStrike" kern="1200" cap="none" spc="0" normalizeH="0" baseline="0" noProof="0" dirty="0">
                <a:ln>
                  <a:noFill/>
                </a:ln>
                <a:solidFill>
                  <a:srgbClr val="00B0F0"/>
                </a:solidFill>
                <a:effectLst/>
                <a:uLnTx/>
                <a:uFillTx/>
                <a:latin typeface="Arial"/>
                <a:ea typeface="+mn-ea"/>
                <a:cs typeface="+mn-cs"/>
              </a:rPr>
              <a:t>(_.contains(“</a:t>
            </a:r>
            <a:r>
              <a:rPr kumimoji="0" lang="en-IN" sz="1600" b="0" i="0" u="none" strike="noStrike" kern="1200" cap="none" spc="0" normalizeH="0" baseline="0" noProof="0" dirty="0">
                <a:ln>
                  <a:noFill/>
                </a:ln>
                <a:solidFill>
                  <a:srgbClr val="C00000"/>
                </a:solidFill>
                <a:effectLst/>
                <a:uLnTx/>
                <a:uFillTx/>
                <a:latin typeface="Arial"/>
                <a:ea typeface="+mn-ea"/>
                <a:cs typeface="+mn-cs"/>
              </a:rPr>
              <a:t>memory</a:t>
            </a:r>
            <a:r>
              <a:rPr kumimoji="0" lang="en-IN" sz="1600" b="0" i="0" u="none" strike="noStrike" kern="1200" cap="none" spc="0" normalizeH="0" baseline="0" noProof="0" dirty="0">
                <a:ln>
                  <a:noFill/>
                </a:ln>
                <a:solidFill>
                  <a:srgbClr val="00B0F0"/>
                </a:solidFill>
                <a:effectLst/>
                <a:uLnTx/>
                <a:uFillTx/>
                <a:latin typeface="Arial"/>
                <a:ea typeface="+mn-ea"/>
                <a:cs typeface="+mn-cs"/>
              </a:rPr>
              <a:t>")).count()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00B0F0"/>
              </a:solidFill>
              <a:effectLst/>
              <a:uLnTx/>
              <a:uFillTx/>
              <a:latin typeface="Arial"/>
              <a:ea typeface="+mn-ea"/>
              <a:cs typeface="+mn-cs"/>
            </a:endParaRPr>
          </a:p>
        </p:txBody>
      </p:sp>
      <p:sp>
        <p:nvSpPr>
          <p:cNvPr id="5" name="Rounded Rectangle 4"/>
          <p:cNvSpPr/>
          <p:nvPr/>
        </p:nvSpPr>
        <p:spPr>
          <a:xfrm>
            <a:off x="6826623" y="2948947"/>
            <a:ext cx="1189592" cy="384043"/>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driver</a:t>
            </a:r>
          </a:p>
        </p:txBody>
      </p:sp>
      <p:sp>
        <p:nvSpPr>
          <p:cNvPr id="6" name="Rectangle 5"/>
          <p:cNvSpPr/>
          <p:nvPr/>
        </p:nvSpPr>
        <p:spPr>
          <a:xfrm>
            <a:off x="8237175" y="1220755"/>
            <a:ext cx="1507232" cy="960107"/>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1</a:t>
            </a:r>
          </a:p>
        </p:txBody>
      </p:sp>
      <p:sp>
        <p:nvSpPr>
          <p:cNvPr id="7" name="Rectangle 6"/>
          <p:cNvSpPr/>
          <p:nvPr/>
        </p:nvSpPr>
        <p:spPr>
          <a:xfrm>
            <a:off x="8237175" y="2900941"/>
            <a:ext cx="1507231" cy="864096"/>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2</a:t>
            </a:r>
          </a:p>
        </p:txBody>
      </p:sp>
      <p:sp>
        <p:nvSpPr>
          <p:cNvPr id="8" name="Rectangle 7"/>
          <p:cNvSpPr/>
          <p:nvPr/>
        </p:nvSpPr>
        <p:spPr>
          <a:xfrm>
            <a:off x="8237175" y="4561009"/>
            <a:ext cx="1540855" cy="884215"/>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Arial"/>
                <a:ea typeface="+mn-ea"/>
                <a:cs typeface="+mn-cs"/>
              </a:rPr>
              <a:t>Worker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63BE"/>
                </a:solidFill>
                <a:effectLst/>
                <a:uLnTx/>
                <a:uFillTx/>
                <a:latin typeface="Arial"/>
                <a:ea typeface="+mn-ea"/>
                <a:cs typeface="+mn-cs"/>
              </a:rPr>
              <a:t>block 3</a:t>
            </a:r>
          </a:p>
        </p:txBody>
      </p:sp>
      <p:sp>
        <p:nvSpPr>
          <p:cNvPr id="12" name="TextBox 11"/>
          <p:cNvSpPr txBox="1"/>
          <p:nvPr/>
        </p:nvSpPr>
        <p:spPr>
          <a:xfrm>
            <a:off x="9644283" y="747538"/>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1</a:t>
            </a:r>
          </a:p>
        </p:txBody>
      </p:sp>
      <p:sp>
        <p:nvSpPr>
          <p:cNvPr id="23" name="TextBox 22"/>
          <p:cNvSpPr txBox="1"/>
          <p:nvPr/>
        </p:nvSpPr>
        <p:spPr>
          <a:xfrm>
            <a:off x="9648395" y="2487003"/>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2</a:t>
            </a:r>
          </a:p>
        </p:txBody>
      </p:sp>
      <p:sp>
        <p:nvSpPr>
          <p:cNvPr id="32" name="TextBox 31"/>
          <p:cNvSpPr txBox="1"/>
          <p:nvPr/>
        </p:nvSpPr>
        <p:spPr>
          <a:xfrm>
            <a:off x="9644283" y="4147070"/>
            <a:ext cx="885179" cy="318100"/>
          </a:xfrm>
          <a:prstGeom prst="rect">
            <a:avLst/>
          </a:prstGeom>
          <a:noFill/>
          <a:ln>
            <a:solidFill>
              <a:srgbClr val="00B0F0"/>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0" i="0" u="none" strike="noStrike" kern="1200" cap="none" spc="0" normalizeH="0" baseline="0" noProof="0" dirty="0">
                <a:ln>
                  <a:noFill/>
                </a:ln>
                <a:solidFill>
                  <a:prstClr val="black"/>
                </a:solidFill>
                <a:effectLst/>
                <a:uLnTx/>
                <a:uFillTx/>
                <a:latin typeface="Arial"/>
                <a:ea typeface="+mn-ea"/>
                <a:cs typeface="+mn-cs"/>
              </a:rPr>
              <a:t>Cache 3</a:t>
            </a:r>
          </a:p>
        </p:txBody>
      </p:sp>
      <p:sp>
        <p:nvSpPr>
          <p:cNvPr id="3" name="Oval 2"/>
          <p:cNvSpPr/>
          <p:nvPr/>
        </p:nvSpPr>
        <p:spPr>
          <a:xfrm>
            <a:off x="9936427" y="1343100"/>
            <a:ext cx="1507232" cy="576064"/>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white"/>
                </a:solidFill>
                <a:effectLst/>
                <a:uLnTx/>
                <a:uFillTx/>
                <a:latin typeface="Arial"/>
                <a:ea typeface="+mn-ea"/>
                <a:cs typeface="+mn-cs"/>
              </a:rPr>
              <a:t>Process from cache</a:t>
            </a:r>
          </a:p>
        </p:txBody>
      </p:sp>
      <p:sp>
        <p:nvSpPr>
          <p:cNvPr id="13" name="Oval 12"/>
          <p:cNvSpPr/>
          <p:nvPr/>
        </p:nvSpPr>
        <p:spPr>
          <a:xfrm>
            <a:off x="10067689" y="3091957"/>
            <a:ext cx="1507232" cy="576064"/>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white"/>
                </a:solidFill>
                <a:effectLst/>
                <a:uLnTx/>
                <a:uFillTx/>
                <a:latin typeface="Arial"/>
                <a:ea typeface="+mn-ea"/>
                <a:cs typeface="+mn-cs"/>
              </a:rPr>
              <a:t>Process from cache</a:t>
            </a:r>
          </a:p>
        </p:txBody>
      </p:sp>
      <p:sp>
        <p:nvSpPr>
          <p:cNvPr id="14" name="Oval 13"/>
          <p:cNvSpPr/>
          <p:nvPr/>
        </p:nvSpPr>
        <p:spPr>
          <a:xfrm>
            <a:off x="10067689" y="4800992"/>
            <a:ext cx="1507232" cy="576064"/>
          </a:xfrm>
          <a:prstGeom prst="ellipse">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333" b="0" i="0" u="none" strike="noStrike" kern="1200" cap="none" spc="0" normalizeH="0" baseline="0" noProof="0" dirty="0">
                <a:ln>
                  <a:noFill/>
                </a:ln>
                <a:solidFill>
                  <a:prstClr val="white"/>
                </a:solidFill>
                <a:effectLst/>
                <a:uLnTx/>
                <a:uFillTx/>
                <a:latin typeface="Arial"/>
                <a:ea typeface="+mn-ea"/>
                <a:cs typeface="+mn-cs"/>
              </a:rPr>
              <a:t>Process from cache</a:t>
            </a:r>
          </a:p>
        </p:txBody>
      </p:sp>
      <p:cxnSp>
        <p:nvCxnSpPr>
          <p:cNvPr id="10" name="Straight Arrow Connector 9"/>
          <p:cNvCxnSpPr>
            <a:cxnSpLocks/>
            <a:stCxn id="14" idx="2"/>
            <a:endCxn id="8" idx="3"/>
          </p:cNvCxnSpPr>
          <p:nvPr/>
        </p:nvCxnSpPr>
        <p:spPr>
          <a:xfrm flipH="1" flipV="1">
            <a:off x="9778030" y="5003117"/>
            <a:ext cx="289659" cy="859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p:cNvCxnSpPr>
            <a:cxnSpLocks/>
            <a:stCxn id="13" idx="2"/>
            <a:endCxn id="7" idx="3"/>
          </p:cNvCxnSpPr>
          <p:nvPr/>
        </p:nvCxnSpPr>
        <p:spPr>
          <a:xfrm flipH="1" flipV="1">
            <a:off x="9744406" y="3332989"/>
            <a:ext cx="323283" cy="470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p:cNvCxnSpPr>
            <a:cxnSpLocks/>
            <a:stCxn id="3" idx="2"/>
            <a:endCxn id="6" idx="3"/>
          </p:cNvCxnSpPr>
          <p:nvPr/>
        </p:nvCxnSpPr>
        <p:spPr>
          <a:xfrm flipH="1">
            <a:off x="9744407" y="1631132"/>
            <a:ext cx="192020" cy="696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Connector 18"/>
          <p:cNvCxnSpPr>
            <a:stCxn id="12" idx="2"/>
            <a:endCxn id="3" idx="0"/>
          </p:cNvCxnSpPr>
          <p:nvPr/>
        </p:nvCxnSpPr>
        <p:spPr>
          <a:xfrm>
            <a:off x="10086873" y="1065638"/>
            <a:ext cx="603170" cy="277462"/>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p:cNvCxnSpPr>
            <a:stCxn id="23" idx="2"/>
            <a:endCxn id="13" idx="0"/>
          </p:cNvCxnSpPr>
          <p:nvPr/>
        </p:nvCxnSpPr>
        <p:spPr>
          <a:xfrm>
            <a:off x="10090985" y="2805103"/>
            <a:ext cx="730320" cy="286854"/>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Connector 23"/>
          <p:cNvCxnSpPr>
            <a:stCxn id="32" idx="2"/>
            <a:endCxn id="14" idx="0"/>
          </p:cNvCxnSpPr>
          <p:nvPr/>
        </p:nvCxnSpPr>
        <p:spPr>
          <a:xfrm>
            <a:off x="10086873" y="4465170"/>
            <a:ext cx="734432" cy="335822"/>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430606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3048001"/>
            <a:ext cx="5486400" cy="541215"/>
          </a:xfrm>
        </p:spPr>
        <p:txBody>
          <a:bodyPr/>
          <a:lstStyle/>
          <a:p>
            <a:r>
              <a:rPr lang="en-US" b="1" dirty="0">
                <a:solidFill>
                  <a:srgbClr val="00B050"/>
                </a:solidFill>
              </a:rPr>
              <a:t>RDD Operations: Examples</a:t>
            </a:r>
          </a:p>
        </p:txBody>
      </p:sp>
    </p:spTree>
    <p:extLst>
      <p:ext uri="{BB962C8B-B14F-4D97-AF65-F5344CB8AC3E}">
        <p14:creationId xmlns:p14="http://schemas.microsoft.com/office/powerpoint/2010/main" val="40351423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016" y="296683"/>
            <a:ext cx="11794984" cy="549333"/>
          </a:xfrm>
        </p:spPr>
        <p:txBody>
          <a:bodyPr>
            <a:noAutofit/>
          </a:bodyPr>
          <a:lstStyle/>
          <a:p>
            <a:r>
              <a:rPr lang="en-US" sz="2400" b="1" dirty="0">
                <a:solidFill>
                  <a:srgbClr val="00B050"/>
                </a:solidFill>
              </a:rPr>
              <a:t>Example of Basic RDD Transformations: Single RDD </a:t>
            </a:r>
            <a:br>
              <a:rPr lang="en-US" sz="2400" b="1" dirty="0">
                <a:solidFill>
                  <a:srgbClr val="00B050"/>
                </a:solidFill>
              </a:rPr>
            </a:br>
            <a:r>
              <a:rPr lang="en-US" sz="2400" b="1" dirty="0">
                <a:solidFill>
                  <a:srgbClr val="00B050"/>
                </a:solidFill>
              </a:rPr>
              <a:t>(operations which are going to be performed on single </a:t>
            </a:r>
            <a:r>
              <a:rPr lang="en-US" sz="2400" b="1" dirty="0" err="1">
                <a:solidFill>
                  <a:srgbClr val="00B050"/>
                </a:solidFill>
              </a:rPr>
              <a:t>rdd</a:t>
            </a:r>
            <a:r>
              <a:rPr lang="en-US" sz="2400" b="1" dirty="0">
                <a:solidFill>
                  <a:srgbClr val="00B050"/>
                </a:solidFill>
              </a:rPr>
              <a:t>)</a:t>
            </a:r>
          </a:p>
        </p:txBody>
      </p:sp>
      <p:graphicFrame>
        <p:nvGraphicFramePr>
          <p:cNvPr id="3" name="Table 2"/>
          <p:cNvGraphicFramePr>
            <a:graphicFrameLocks noGrp="1"/>
          </p:cNvGraphicFramePr>
          <p:nvPr/>
        </p:nvGraphicFramePr>
        <p:xfrm>
          <a:off x="623394" y="1501212"/>
          <a:ext cx="10945215" cy="4884349"/>
        </p:xfrm>
        <a:graphic>
          <a:graphicData uri="http://schemas.openxmlformats.org/drawingml/2006/table">
            <a:tbl>
              <a:tblPr firstRow="1" bandRow="1">
                <a:tableStyleId>{5C22544A-7EE6-4342-B048-85BDC9FD1C3A}</a:tableStyleId>
              </a:tblPr>
              <a:tblGrid>
                <a:gridCol w="1920212">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gridCol w="2400267">
                  <a:extLst>
                    <a:ext uri="{9D8B030D-6E8A-4147-A177-3AD203B41FA5}">
                      <a16:colId xmlns:a16="http://schemas.microsoft.com/office/drawing/2014/main" val="20002"/>
                    </a:ext>
                  </a:extLst>
                </a:gridCol>
                <a:gridCol w="2016224">
                  <a:extLst>
                    <a:ext uri="{9D8B030D-6E8A-4147-A177-3AD203B41FA5}">
                      <a16:colId xmlns:a16="http://schemas.microsoft.com/office/drawing/2014/main" val="20003"/>
                    </a:ext>
                  </a:extLst>
                </a:gridCol>
              </a:tblGrid>
              <a:tr h="387021">
                <a:tc>
                  <a:txBody>
                    <a:bodyPr/>
                    <a:lstStyle/>
                    <a:p>
                      <a:r>
                        <a:rPr lang="en-US" sz="1900" dirty="0">
                          <a:solidFill>
                            <a:srgbClr val="00B050"/>
                          </a:solidFill>
                        </a:rPr>
                        <a:t>Function</a:t>
                      </a:r>
                    </a:p>
                  </a:txBody>
                  <a:tcPr/>
                </a:tc>
                <a:tc>
                  <a:txBody>
                    <a:bodyPr/>
                    <a:lstStyle/>
                    <a:p>
                      <a:r>
                        <a:rPr lang="en-US" sz="1900" dirty="0">
                          <a:solidFill>
                            <a:srgbClr val="00B050"/>
                          </a:solidFill>
                        </a:rPr>
                        <a:t>Description</a:t>
                      </a:r>
                    </a:p>
                  </a:txBody>
                  <a:tcPr/>
                </a:tc>
                <a:tc>
                  <a:txBody>
                    <a:bodyPr/>
                    <a:lstStyle/>
                    <a:p>
                      <a:r>
                        <a:rPr lang="en-US" sz="1900" dirty="0">
                          <a:solidFill>
                            <a:srgbClr val="00B050"/>
                          </a:solidFill>
                        </a:rPr>
                        <a:t>Example</a:t>
                      </a:r>
                    </a:p>
                  </a:txBody>
                  <a:tcPr/>
                </a:tc>
                <a:tc>
                  <a:txBody>
                    <a:bodyPr/>
                    <a:lstStyle/>
                    <a:p>
                      <a:r>
                        <a:rPr lang="en-US" sz="1900" dirty="0">
                          <a:solidFill>
                            <a:srgbClr val="00B050"/>
                          </a:solidFill>
                        </a:rPr>
                        <a:t>Result</a:t>
                      </a:r>
                    </a:p>
                  </a:txBody>
                  <a:tcPr/>
                </a:tc>
                <a:extLst>
                  <a:ext uri="{0D108BD9-81ED-4DB2-BD59-A6C34878D82A}">
                    <a16:rowId xmlns:a16="http://schemas.microsoft.com/office/drawing/2014/main" val="10000"/>
                  </a:ext>
                </a:extLst>
              </a:tr>
              <a:tr h="914400">
                <a:tc>
                  <a:txBody>
                    <a:bodyPr/>
                    <a:lstStyle/>
                    <a:p>
                      <a:r>
                        <a:rPr lang="en-US" sz="1900" dirty="0"/>
                        <a:t>map()</a:t>
                      </a:r>
                    </a:p>
                  </a:txBody>
                  <a:tcPr/>
                </a:tc>
                <a:tc>
                  <a:txBody>
                    <a:bodyPr/>
                    <a:lstStyle/>
                    <a:p>
                      <a:r>
                        <a:rPr lang="en-US" sz="1900" dirty="0"/>
                        <a:t>Apply a function to each element in the RDD and return an RDD of the result</a:t>
                      </a:r>
                    </a:p>
                  </a:txBody>
                  <a:tcPr/>
                </a:tc>
                <a:tc>
                  <a:txBody>
                    <a:bodyPr/>
                    <a:lstStyle/>
                    <a:p>
                      <a:r>
                        <a:rPr lang="en-US" sz="1900" b="0" i="0" u="none" strike="noStrike" cap="none" baseline="0" dirty="0" err="1">
                          <a:solidFill>
                            <a:schemeClr val="dk1"/>
                          </a:solidFill>
                          <a:latin typeface="+mn-lt"/>
                          <a:ea typeface="+mn-ea"/>
                          <a:cs typeface="+mn-cs"/>
                          <a:sym typeface="Arial"/>
                        </a:rPr>
                        <a:t>rdd.map</a:t>
                      </a:r>
                      <a:r>
                        <a:rPr lang="en-US" sz="1900" b="0" i="0" u="none" strike="noStrike" cap="none" baseline="0" dirty="0">
                          <a:solidFill>
                            <a:schemeClr val="dk1"/>
                          </a:solidFill>
                          <a:latin typeface="+mn-lt"/>
                          <a:ea typeface="+mn-ea"/>
                          <a:cs typeface="+mn-cs"/>
                          <a:sym typeface="Arial"/>
                        </a:rPr>
                        <a:t>(x =&gt; x + 1)</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{2, 3, 4, 4}</a:t>
                      </a:r>
                      <a:endParaRPr lang="en-US" sz="1900" dirty="0"/>
                    </a:p>
                  </a:txBody>
                  <a:tcPr/>
                </a:tc>
                <a:extLst>
                  <a:ext uri="{0D108BD9-81ED-4DB2-BD59-A6C34878D82A}">
                    <a16:rowId xmlns:a16="http://schemas.microsoft.com/office/drawing/2014/main" val="10001"/>
                  </a:ext>
                </a:extLst>
              </a:tr>
              <a:tr h="1229360">
                <a:tc>
                  <a:txBody>
                    <a:bodyPr/>
                    <a:lstStyle/>
                    <a:p>
                      <a:r>
                        <a:rPr lang="en-US" sz="1900" dirty="0" err="1"/>
                        <a:t>flatMap</a:t>
                      </a:r>
                      <a:r>
                        <a:rPr lang="en-US" sz="1900" dirty="0"/>
                        <a:t>()</a:t>
                      </a:r>
                    </a:p>
                  </a:txBody>
                  <a:tcPr/>
                </a:tc>
                <a:tc>
                  <a:txBody>
                    <a:bodyPr/>
                    <a:lstStyle/>
                    <a:p>
                      <a:r>
                        <a:rPr lang="en-US" sz="1900" dirty="0"/>
                        <a:t>Apply a function to each element in the RDD and return an RDD of the contents of the</a:t>
                      </a:r>
                    </a:p>
                    <a:p>
                      <a:r>
                        <a:rPr lang="en-US" sz="1900" dirty="0"/>
                        <a:t>iterators returned. </a:t>
                      </a:r>
                    </a:p>
                  </a:txBody>
                  <a:tcPr/>
                </a:tc>
                <a:tc>
                  <a:txBody>
                    <a:bodyPr/>
                    <a:lstStyle/>
                    <a:p>
                      <a:r>
                        <a:rPr lang="en-US" sz="1900" b="0" i="0" u="none" strike="noStrike" cap="none" baseline="0" dirty="0" err="1">
                          <a:solidFill>
                            <a:schemeClr val="dk1"/>
                          </a:solidFill>
                          <a:latin typeface="+mn-lt"/>
                          <a:ea typeface="+mn-ea"/>
                          <a:cs typeface="+mn-cs"/>
                          <a:sym typeface="Arial"/>
                        </a:rPr>
                        <a:t>rdd.flatMap</a:t>
                      </a:r>
                      <a:r>
                        <a:rPr lang="en-US" sz="1900" b="0" i="0" u="none" strike="noStrike" cap="none" baseline="0" dirty="0">
                          <a:solidFill>
                            <a:schemeClr val="dk1"/>
                          </a:solidFill>
                          <a:latin typeface="+mn-lt"/>
                          <a:ea typeface="+mn-ea"/>
                          <a:cs typeface="+mn-cs"/>
                          <a:sym typeface="Arial"/>
                        </a:rPr>
                        <a:t>(x =&gt; x.to(3))</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2, 3, 2, 3, 3, 3}</a:t>
                      </a:r>
                      <a:endParaRPr lang="en-US" sz="1900" dirty="0"/>
                    </a:p>
                  </a:txBody>
                  <a:tcPr/>
                </a:tc>
                <a:extLst>
                  <a:ext uri="{0D108BD9-81ED-4DB2-BD59-A6C34878D82A}">
                    <a16:rowId xmlns:a16="http://schemas.microsoft.com/office/drawing/2014/main" val="10002"/>
                  </a:ext>
                </a:extLst>
              </a:tr>
              <a:tr h="986107">
                <a:tc>
                  <a:txBody>
                    <a:bodyPr/>
                    <a:lstStyle/>
                    <a:p>
                      <a:r>
                        <a:rPr lang="en-US" sz="1900" dirty="0"/>
                        <a:t>filter</a:t>
                      </a:r>
                    </a:p>
                  </a:txBody>
                  <a:tcPr/>
                </a:tc>
                <a:tc>
                  <a:txBody>
                    <a:bodyPr/>
                    <a:lstStyle/>
                    <a:p>
                      <a:r>
                        <a:rPr lang="en-US" sz="1900" dirty="0"/>
                        <a:t>Return an RDD consisting of only elements that pass the condition passed to filter().</a:t>
                      </a:r>
                    </a:p>
                  </a:txBody>
                  <a:tcPr/>
                </a:tc>
                <a:tc>
                  <a:txBody>
                    <a:bodyPr/>
                    <a:lstStyle/>
                    <a:p>
                      <a:r>
                        <a:rPr lang="en-US" sz="1900" b="0" i="0" u="none" strike="noStrike" cap="none" baseline="0" dirty="0" err="1">
                          <a:solidFill>
                            <a:schemeClr val="dk1"/>
                          </a:solidFill>
                          <a:latin typeface="+mn-lt"/>
                          <a:ea typeface="+mn-ea"/>
                          <a:cs typeface="+mn-cs"/>
                          <a:sym typeface="Arial"/>
                        </a:rPr>
                        <a:t>rdd.filter</a:t>
                      </a:r>
                      <a:r>
                        <a:rPr lang="en-US" sz="1900" b="0" i="0" u="none" strike="noStrike" cap="none" baseline="0" dirty="0">
                          <a:solidFill>
                            <a:schemeClr val="dk1"/>
                          </a:solidFill>
                          <a:latin typeface="+mn-lt"/>
                          <a:ea typeface="+mn-ea"/>
                          <a:cs typeface="+mn-cs"/>
                          <a:sym typeface="Arial"/>
                        </a:rPr>
                        <a:t>(x =&gt; x != 1)</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{2, 3, 3}</a:t>
                      </a:r>
                      <a:endParaRPr lang="en-US" sz="1900" dirty="0"/>
                    </a:p>
                  </a:txBody>
                  <a:tcPr/>
                </a:tc>
                <a:extLst>
                  <a:ext uri="{0D108BD9-81ED-4DB2-BD59-A6C34878D82A}">
                    <a16:rowId xmlns:a16="http://schemas.microsoft.com/office/drawing/2014/main" val="10003"/>
                  </a:ext>
                </a:extLst>
              </a:tr>
              <a:tr h="387021">
                <a:tc>
                  <a:txBody>
                    <a:bodyPr/>
                    <a:lstStyle/>
                    <a:p>
                      <a:r>
                        <a:rPr lang="en-US" sz="1900" dirty="0"/>
                        <a:t>distinct</a:t>
                      </a:r>
                    </a:p>
                  </a:txBody>
                  <a:tcPr/>
                </a:tc>
                <a:tc>
                  <a:txBody>
                    <a:bodyPr/>
                    <a:lstStyle/>
                    <a:p>
                      <a:r>
                        <a:rPr lang="en-US" sz="1900" dirty="0"/>
                        <a:t>Remove duplicates.</a:t>
                      </a:r>
                    </a:p>
                  </a:txBody>
                  <a:tcPr/>
                </a:tc>
                <a:tc>
                  <a:txBody>
                    <a:bodyPr/>
                    <a:lstStyle/>
                    <a:p>
                      <a:r>
                        <a:rPr lang="en-US" sz="1900" b="0" i="0" u="none" strike="noStrike" cap="none" baseline="0" dirty="0" err="1">
                          <a:solidFill>
                            <a:schemeClr val="dk1"/>
                          </a:solidFill>
                          <a:latin typeface="+mn-lt"/>
                          <a:ea typeface="+mn-ea"/>
                          <a:cs typeface="+mn-cs"/>
                          <a:sym typeface="Arial"/>
                        </a:rPr>
                        <a:t>rdd.distinct</a:t>
                      </a:r>
                      <a:r>
                        <a:rPr lang="en-US" sz="1900" b="0" i="0" u="none" strike="noStrike" cap="none" baseline="0" dirty="0">
                          <a:solidFill>
                            <a:schemeClr val="dk1"/>
                          </a:solidFill>
                          <a:latin typeface="+mn-lt"/>
                          <a:ea typeface="+mn-ea"/>
                          <a:cs typeface="+mn-cs"/>
                          <a:sym typeface="Arial"/>
                        </a:rPr>
                        <a:t>()</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2, 3}</a:t>
                      </a:r>
                      <a:endParaRPr lang="en-US" sz="1900" dirty="0"/>
                    </a:p>
                  </a:txBody>
                  <a:tcPr/>
                </a:tc>
                <a:extLst>
                  <a:ext uri="{0D108BD9-81ED-4DB2-BD59-A6C34878D82A}">
                    <a16:rowId xmlns:a16="http://schemas.microsoft.com/office/drawing/2014/main" val="10004"/>
                  </a:ext>
                </a:extLst>
              </a:tr>
              <a:tr h="944880">
                <a:tc>
                  <a:txBody>
                    <a:bodyPr/>
                    <a:lstStyle/>
                    <a:p>
                      <a:r>
                        <a:rPr lang="en-US" sz="1900" dirty="0"/>
                        <a:t>sample(</a:t>
                      </a:r>
                      <a:r>
                        <a:rPr lang="en-US" sz="1900" dirty="0" err="1"/>
                        <a:t>withRe</a:t>
                      </a:r>
                      <a:endParaRPr lang="en-US" sz="1900" dirty="0"/>
                    </a:p>
                    <a:p>
                      <a:r>
                        <a:rPr lang="en-US" sz="1900" dirty="0"/>
                        <a:t>placement, </a:t>
                      </a:r>
                      <a:r>
                        <a:rPr lang="en-US" sz="1900" dirty="0" err="1"/>
                        <a:t>frac</a:t>
                      </a:r>
                      <a:endParaRPr lang="en-US" sz="1900" dirty="0"/>
                    </a:p>
                    <a:p>
                      <a:r>
                        <a:rPr lang="en-US" sz="1900" dirty="0" err="1"/>
                        <a:t>tion</a:t>
                      </a:r>
                      <a:r>
                        <a:rPr lang="en-US" sz="1900" dirty="0"/>
                        <a:t>, [seed])</a:t>
                      </a:r>
                    </a:p>
                  </a:txBody>
                  <a:tcPr/>
                </a:tc>
                <a:tc>
                  <a:txBody>
                    <a:bodyPr/>
                    <a:lstStyle/>
                    <a:p>
                      <a:r>
                        <a:rPr lang="en-US" sz="1900" b="0" i="0" u="none" strike="noStrike" cap="none" baseline="0" dirty="0">
                          <a:solidFill>
                            <a:schemeClr val="dk1"/>
                          </a:solidFill>
                          <a:latin typeface="+mn-lt"/>
                          <a:ea typeface="+mn-ea"/>
                          <a:cs typeface="+mn-cs"/>
                          <a:sym typeface="Arial"/>
                        </a:rPr>
                        <a:t>Sample an RDD, with or without replacement.</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rdd.sample</a:t>
                      </a:r>
                      <a:r>
                        <a:rPr lang="en-US" sz="1900" b="0" i="0" u="none" strike="noStrike" cap="none" baseline="0" dirty="0">
                          <a:solidFill>
                            <a:schemeClr val="dk1"/>
                          </a:solidFill>
                          <a:latin typeface="+mn-lt"/>
                          <a:ea typeface="+mn-ea"/>
                          <a:cs typeface="+mn-cs"/>
                          <a:sym typeface="Arial"/>
                        </a:rPr>
                        <a:t>(false, 0.5)</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Nondeterministic</a:t>
                      </a:r>
                      <a:endParaRPr lang="en-US" sz="1900" dirty="0"/>
                    </a:p>
                  </a:txBody>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97A78829-438A-4CA6-A7CC-23FE0336E155}"/>
              </a:ext>
            </a:extLst>
          </p:cNvPr>
          <p:cNvSpPr txBox="1"/>
          <p:nvPr/>
        </p:nvSpPr>
        <p:spPr>
          <a:xfrm>
            <a:off x="2707689" y="988948"/>
            <a:ext cx="28648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RDD containing {1,2,3,3}</a:t>
            </a:r>
          </a:p>
        </p:txBody>
      </p:sp>
    </p:spTree>
    <p:extLst>
      <p:ext uri="{BB962C8B-B14F-4D97-AF65-F5344CB8AC3E}">
        <p14:creationId xmlns:p14="http://schemas.microsoft.com/office/powerpoint/2010/main" val="3448762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947" y="216025"/>
            <a:ext cx="9875520" cy="541215"/>
          </a:xfrm>
        </p:spPr>
        <p:txBody>
          <a:bodyPr/>
          <a:lstStyle/>
          <a:p>
            <a:r>
              <a:rPr lang="en-US" sz="2800" b="1" dirty="0">
                <a:solidFill>
                  <a:srgbClr val="00B050"/>
                </a:solidFill>
              </a:rPr>
              <a:t>Example of Basic RDD Actions</a:t>
            </a:r>
          </a:p>
        </p:txBody>
      </p:sp>
      <p:sp>
        <p:nvSpPr>
          <p:cNvPr id="3" name="Content Placeholder 2"/>
          <p:cNvSpPr>
            <a:spLocks noGrp="1"/>
          </p:cNvSpPr>
          <p:nvPr>
            <p:ph idx="1"/>
          </p:nvPr>
        </p:nvSpPr>
        <p:spPr>
          <a:xfrm>
            <a:off x="692458" y="990600"/>
            <a:ext cx="10341303" cy="5181600"/>
          </a:xfrm>
        </p:spPr>
        <p:txBody>
          <a:bodyPr/>
          <a:lstStyle/>
          <a:p>
            <a:r>
              <a:rPr lang="en-US" sz="2400" dirty="0"/>
              <a:t>RDD containing {1, 2, 3, 3}</a:t>
            </a:r>
          </a:p>
          <a:p>
            <a:endParaRPr lang="en-US" sz="2400" dirty="0"/>
          </a:p>
          <a:p>
            <a:pPr marL="0" indent="0">
              <a:buNone/>
            </a:pPr>
            <a:endParaRPr lang="en-US" dirty="0"/>
          </a:p>
        </p:txBody>
      </p:sp>
      <p:graphicFrame>
        <p:nvGraphicFramePr>
          <p:cNvPr id="7" name="Table 6"/>
          <p:cNvGraphicFramePr>
            <a:graphicFrameLocks noGrp="1"/>
          </p:cNvGraphicFramePr>
          <p:nvPr/>
        </p:nvGraphicFramePr>
        <p:xfrm>
          <a:off x="790113" y="1727202"/>
          <a:ext cx="10258887" cy="5048886"/>
        </p:xfrm>
        <a:graphic>
          <a:graphicData uri="http://schemas.openxmlformats.org/drawingml/2006/table">
            <a:tbl>
              <a:tblPr firstRow="1" bandRow="1">
                <a:tableStyleId>{5C22544A-7EE6-4342-B048-85BDC9FD1C3A}</a:tableStyleId>
              </a:tblPr>
              <a:tblGrid>
                <a:gridCol w="2100245">
                  <a:extLst>
                    <a:ext uri="{9D8B030D-6E8A-4147-A177-3AD203B41FA5}">
                      <a16:colId xmlns:a16="http://schemas.microsoft.com/office/drawing/2014/main" val="20000"/>
                    </a:ext>
                  </a:extLst>
                </a:gridCol>
                <a:gridCol w="3635039">
                  <a:extLst>
                    <a:ext uri="{9D8B030D-6E8A-4147-A177-3AD203B41FA5}">
                      <a16:colId xmlns:a16="http://schemas.microsoft.com/office/drawing/2014/main" val="20001"/>
                    </a:ext>
                  </a:extLst>
                </a:gridCol>
                <a:gridCol w="3140619">
                  <a:extLst>
                    <a:ext uri="{9D8B030D-6E8A-4147-A177-3AD203B41FA5}">
                      <a16:colId xmlns:a16="http://schemas.microsoft.com/office/drawing/2014/main" val="20002"/>
                    </a:ext>
                  </a:extLst>
                </a:gridCol>
                <a:gridCol w="1382984">
                  <a:extLst>
                    <a:ext uri="{9D8B030D-6E8A-4147-A177-3AD203B41FA5}">
                      <a16:colId xmlns:a16="http://schemas.microsoft.com/office/drawing/2014/main" val="20003"/>
                    </a:ext>
                  </a:extLst>
                </a:gridCol>
              </a:tblGrid>
              <a:tr h="421287">
                <a:tc>
                  <a:txBody>
                    <a:bodyPr/>
                    <a:lstStyle/>
                    <a:p>
                      <a:r>
                        <a:rPr lang="en-US" sz="2000" dirty="0"/>
                        <a:t>Function</a:t>
                      </a:r>
                    </a:p>
                  </a:txBody>
                  <a:tcPr/>
                </a:tc>
                <a:tc>
                  <a:txBody>
                    <a:bodyPr/>
                    <a:lstStyle/>
                    <a:p>
                      <a:r>
                        <a:rPr lang="en-US" sz="2000" dirty="0"/>
                        <a:t>Description</a:t>
                      </a:r>
                    </a:p>
                  </a:txBody>
                  <a:tcPr/>
                </a:tc>
                <a:tc>
                  <a:txBody>
                    <a:bodyPr/>
                    <a:lstStyle/>
                    <a:p>
                      <a:r>
                        <a:rPr lang="en-US" sz="2000" dirty="0"/>
                        <a:t>Example</a:t>
                      </a:r>
                    </a:p>
                  </a:txBody>
                  <a:tcPr/>
                </a:tc>
                <a:tc>
                  <a:txBody>
                    <a:bodyPr/>
                    <a:lstStyle/>
                    <a:p>
                      <a:r>
                        <a:rPr lang="en-US" sz="2000" dirty="0"/>
                        <a:t>Result</a:t>
                      </a:r>
                    </a:p>
                  </a:txBody>
                  <a:tcPr/>
                </a:tc>
                <a:extLst>
                  <a:ext uri="{0D108BD9-81ED-4DB2-BD59-A6C34878D82A}">
                    <a16:rowId xmlns:a16="http://schemas.microsoft.com/office/drawing/2014/main" val="10000"/>
                  </a:ext>
                </a:extLst>
              </a:tr>
              <a:tr h="831032">
                <a:tc>
                  <a:txBody>
                    <a:bodyPr/>
                    <a:lstStyle/>
                    <a:p>
                      <a:r>
                        <a:rPr lang="en-US" sz="2000" dirty="0"/>
                        <a:t>collect()</a:t>
                      </a:r>
                    </a:p>
                  </a:txBody>
                  <a:tcPr/>
                </a:tc>
                <a:tc>
                  <a:txBody>
                    <a:bodyPr/>
                    <a:lstStyle/>
                    <a:p>
                      <a:r>
                        <a:rPr lang="en-US" sz="2000" b="0" i="0" u="none" strike="noStrike" cap="none" baseline="0" dirty="0">
                          <a:solidFill>
                            <a:schemeClr val="dk1"/>
                          </a:solidFill>
                          <a:latin typeface="+mn-lt"/>
                          <a:ea typeface="+mn-ea"/>
                          <a:cs typeface="+mn-cs"/>
                          <a:sym typeface="Arial"/>
                        </a:rPr>
                        <a:t>Return all elements from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rdd.collect</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 3, 3}</a:t>
                      </a:r>
                      <a:endParaRPr lang="en-US" sz="2000" dirty="0"/>
                    </a:p>
                  </a:txBody>
                  <a:tcPr/>
                </a:tc>
                <a:extLst>
                  <a:ext uri="{0D108BD9-81ED-4DB2-BD59-A6C34878D82A}">
                    <a16:rowId xmlns:a16="http://schemas.microsoft.com/office/drawing/2014/main" val="10001"/>
                  </a:ext>
                </a:extLst>
              </a:tr>
              <a:tr h="831032">
                <a:tc>
                  <a:txBody>
                    <a:bodyPr/>
                    <a:lstStyle/>
                    <a:p>
                      <a:r>
                        <a:rPr lang="en-US" sz="2000" dirty="0"/>
                        <a:t>count()</a:t>
                      </a:r>
                    </a:p>
                  </a:txBody>
                  <a:tcPr/>
                </a:tc>
                <a:tc>
                  <a:txBody>
                    <a:bodyPr/>
                    <a:lstStyle/>
                    <a:p>
                      <a:r>
                        <a:rPr lang="en-US" sz="2000" b="0" i="0" u="none" strike="noStrike" cap="none" baseline="0" dirty="0">
                          <a:solidFill>
                            <a:schemeClr val="dk1"/>
                          </a:solidFill>
                          <a:latin typeface="+mn-lt"/>
                          <a:ea typeface="+mn-ea"/>
                          <a:cs typeface="+mn-cs"/>
                          <a:sym typeface="Arial"/>
                        </a:rPr>
                        <a:t>Number of elements in the</a:t>
                      </a:r>
                    </a:p>
                    <a:p>
                      <a:r>
                        <a:rPr lang="en-US" sz="2000" b="0" i="0" u="none" strike="noStrike" cap="none" baseline="0" dirty="0">
                          <a:solidFill>
                            <a:schemeClr val="dk1"/>
                          </a:solidFill>
                          <a:latin typeface="+mn-lt"/>
                          <a:ea typeface="+mn-ea"/>
                          <a:cs typeface="+mn-cs"/>
                          <a:sym typeface="Arial"/>
                        </a:rPr>
                        <a:t>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rdd.count</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dirty="0"/>
                        <a:t>4</a:t>
                      </a:r>
                    </a:p>
                  </a:txBody>
                  <a:tcPr/>
                </a:tc>
                <a:extLst>
                  <a:ext uri="{0D108BD9-81ED-4DB2-BD59-A6C34878D82A}">
                    <a16:rowId xmlns:a16="http://schemas.microsoft.com/office/drawing/2014/main" val="10002"/>
                  </a:ext>
                </a:extLst>
              </a:tr>
              <a:tr h="837648">
                <a:tc>
                  <a:txBody>
                    <a:bodyPr/>
                    <a:lstStyle/>
                    <a:p>
                      <a:r>
                        <a:rPr lang="en-US" sz="2000" dirty="0"/>
                        <a:t>top()</a:t>
                      </a:r>
                    </a:p>
                  </a:txBody>
                  <a:tcPr/>
                </a:tc>
                <a:tc>
                  <a:txBody>
                    <a:bodyPr/>
                    <a:lstStyle/>
                    <a:p>
                      <a:r>
                        <a:rPr lang="en-US" sz="2000" b="0" i="0" u="none" strike="noStrike" cap="none" baseline="0" dirty="0">
                          <a:solidFill>
                            <a:schemeClr val="dk1"/>
                          </a:solidFill>
                          <a:latin typeface="+mn-lt"/>
                          <a:ea typeface="+mn-ea"/>
                          <a:cs typeface="+mn-cs"/>
                          <a:sym typeface="Arial"/>
                        </a:rPr>
                        <a:t>Return the top </a:t>
                      </a:r>
                      <a:r>
                        <a:rPr lang="en-US" sz="2000" b="0" i="0" u="none" strike="noStrike" cap="none" baseline="0" dirty="0" err="1">
                          <a:solidFill>
                            <a:schemeClr val="dk1"/>
                          </a:solidFill>
                          <a:latin typeface="+mn-lt"/>
                          <a:ea typeface="+mn-ea"/>
                          <a:cs typeface="+mn-cs"/>
                          <a:sym typeface="Arial"/>
                        </a:rPr>
                        <a:t>num</a:t>
                      </a:r>
                      <a:endParaRPr lang="en-US" sz="2000" b="0" i="0" u="none" strike="noStrike" cap="none" baseline="0" dirty="0">
                        <a:solidFill>
                          <a:schemeClr val="dk1"/>
                        </a:solidFill>
                        <a:latin typeface="+mn-lt"/>
                        <a:ea typeface="+mn-ea"/>
                        <a:cs typeface="+mn-cs"/>
                        <a:sym typeface="Arial"/>
                      </a:endParaRPr>
                    </a:p>
                    <a:p>
                      <a:r>
                        <a:rPr lang="en-US" sz="2000" b="0" i="0" u="none" strike="noStrike" cap="none" baseline="0" dirty="0">
                          <a:solidFill>
                            <a:schemeClr val="dk1"/>
                          </a:solidFill>
                          <a:latin typeface="+mn-lt"/>
                          <a:ea typeface="+mn-ea"/>
                          <a:cs typeface="+mn-cs"/>
                          <a:sym typeface="Arial"/>
                        </a:rPr>
                        <a:t>elements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rdd.top</a:t>
                      </a:r>
                      <a:r>
                        <a:rPr lang="en-US" sz="2000" b="0" i="0" u="none" strike="noStrike" cap="none" baseline="0" dirty="0">
                          <a:solidFill>
                            <a:schemeClr val="dk1"/>
                          </a:solidFill>
                          <a:latin typeface="+mn-lt"/>
                          <a:ea typeface="+mn-ea"/>
                          <a:cs typeface="+mn-cs"/>
                          <a:sym typeface="Arial"/>
                        </a:rPr>
                        <a:t>(2)</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 3}</a:t>
                      </a:r>
                      <a:endParaRPr lang="en-US" sz="2000" dirty="0"/>
                    </a:p>
                  </a:txBody>
                  <a:tcPr/>
                </a:tc>
                <a:extLst>
                  <a:ext uri="{0D108BD9-81ED-4DB2-BD59-A6C34878D82A}">
                    <a16:rowId xmlns:a16="http://schemas.microsoft.com/office/drawing/2014/main" val="10003"/>
                  </a:ext>
                </a:extLst>
              </a:tr>
              <a:tr h="817247">
                <a:tc>
                  <a:txBody>
                    <a:bodyPr/>
                    <a:lstStyle/>
                    <a:p>
                      <a:r>
                        <a:rPr lang="en-US" sz="2000" b="0" i="0" u="none" strike="noStrike" cap="none" baseline="0" dirty="0" err="1">
                          <a:solidFill>
                            <a:schemeClr val="dk1"/>
                          </a:solidFill>
                          <a:latin typeface="+mn-lt"/>
                          <a:ea typeface="+mn-ea"/>
                          <a:cs typeface="+mn-cs"/>
                          <a:sym typeface="Arial"/>
                        </a:rPr>
                        <a:t>countByValue</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Number of times each element occurs in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rdd.countByValue</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1), (2, 1), (3, 2)}</a:t>
                      </a:r>
                      <a:endParaRPr lang="en-US" sz="2000" dirty="0"/>
                    </a:p>
                  </a:txBody>
                  <a:tcPr/>
                </a:tc>
                <a:extLst>
                  <a:ext uri="{0D108BD9-81ED-4DB2-BD59-A6C34878D82A}">
                    <a16:rowId xmlns:a16="http://schemas.microsoft.com/office/drawing/2014/main" val="10004"/>
                  </a:ext>
                </a:extLst>
              </a:tr>
              <a:tr h="1310640">
                <a:tc>
                  <a:txBody>
                    <a:bodyPr/>
                    <a:lstStyle/>
                    <a:p>
                      <a:r>
                        <a:rPr lang="en-US" sz="2000" dirty="0"/>
                        <a:t>reduce()</a:t>
                      </a:r>
                    </a:p>
                  </a:txBody>
                  <a:tcPr/>
                </a:tc>
                <a:tc>
                  <a:txBody>
                    <a:bodyPr/>
                    <a:lstStyle/>
                    <a:p>
                      <a:r>
                        <a:rPr lang="en-US" sz="2000" b="0" i="0" u="none" strike="noStrike" cap="none" baseline="0" dirty="0">
                          <a:solidFill>
                            <a:schemeClr val="dk1"/>
                          </a:solidFill>
                          <a:latin typeface="+mn-lt"/>
                          <a:ea typeface="+mn-ea"/>
                          <a:cs typeface="+mn-cs"/>
                          <a:sym typeface="Arial"/>
                        </a:rPr>
                        <a:t>Combine the elements of the</a:t>
                      </a:r>
                    </a:p>
                    <a:p>
                      <a:r>
                        <a:rPr lang="en-US" sz="2000" b="0" i="0" u="none" strike="noStrike" cap="none" baseline="0" dirty="0">
                          <a:solidFill>
                            <a:schemeClr val="dk1"/>
                          </a:solidFill>
                          <a:latin typeface="+mn-lt"/>
                          <a:ea typeface="+mn-ea"/>
                          <a:cs typeface="+mn-cs"/>
                          <a:sym typeface="Arial"/>
                        </a:rPr>
                        <a:t>RDD together in parallel (e.g., sum).</a:t>
                      </a:r>
                      <a:endParaRPr lang="en-US" sz="2000" dirty="0"/>
                    </a:p>
                  </a:txBody>
                  <a:tcPr/>
                </a:tc>
                <a:tc>
                  <a:txBody>
                    <a:bodyPr/>
                    <a:lstStyle/>
                    <a:p>
                      <a:r>
                        <a:rPr lang="es-ES" sz="2000" b="0" i="0" u="none" strike="noStrike" cap="none" baseline="0" dirty="0" err="1">
                          <a:solidFill>
                            <a:schemeClr val="dk1"/>
                          </a:solidFill>
                          <a:latin typeface="+mn-lt"/>
                          <a:ea typeface="+mn-ea"/>
                          <a:cs typeface="+mn-cs"/>
                          <a:sym typeface="Arial"/>
                        </a:rPr>
                        <a:t>rdd.reduce</a:t>
                      </a:r>
                      <a:r>
                        <a:rPr lang="es-ES" sz="2000" b="0" i="0" u="none" strike="noStrike" cap="none" baseline="0" dirty="0">
                          <a:solidFill>
                            <a:schemeClr val="dk1"/>
                          </a:solidFill>
                          <a:latin typeface="+mn-lt"/>
                          <a:ea typeface="+mn-ea"/>
                          <a:cs typeface="+mn-cs"/>
                          <a:sym typeface="Arial"/>
                        </a:rPr>
                        <a:t>((x, y) =&gt; x + y)</a:t>
                      </a:r>
                      <a:endParaRPr lang="en-US" sz="2000" dirty="0"/>
                    </a:p>
                  </a:txBody>
                  <a:tcPr/>
                </a:tc>
                <a:tc>
                  <a:txBody>
                    <a:bodyPr/>
                    <a:lstStyle/>
                    <a:p>
                      <a:r>
                        <a:rPr lang="en-US" sz="2000" dirty="0"/>
                        <a:t>9</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132467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0786"/>
            <a:ext cx="9875520" cy="541215"/>
          </a:xfrm>
        </p:spPr>
        <p:txBody>
          <a:bodyPr/>
          <a:lstStyle/>
          <a:p>
            <a:r>
              <a:rPr lang="en-US" sz="2800" b="1" dirty="0">
                <a:solidFill>
                  <a:srgbClr val="00B050"/>
                </a:solidFill>
              </a:rPr>
              <a:t>Example of Basic RDD Transformations: Two RDD</a:t>
            </a:r>
          </a:p>
        </p:txBody>
      </p:sp>
      <p:sp>
        <p:nvSpPr>
          <p:cNvPr id="3" name="Content Placeholder 2"/>
          <p:cNvSpPr>
            <a:spLocks noGrp="1"/>
          </p:cNvSpPr>
          <p:nvPr>
            <p:ph idx="1"/>
          </p:nvPr>
        </p:nvSpPr>
        <p:spPr>
          <a:xfrm>
            <a:off x="1158241" y="762000"/>
            <a:ext cx="9875520" cy="5715000"/>
          </a:xfrm>
        </p:spPr>
        <p:txBody>
          <a:bodyPr>
            <a:normAutofit/>
          </a:bodyPr>
          <a:lstStyle/>
          <a:p>
            <a:r>
              <a:rPr lang="en-US" sz="2400" dirty="0"/>
              <a:t>Two-RDD transformations on RDDs containing {1, 2, 3} and {3, 4, 5}</a:t>
            </a:r>
          </a:p>
        </p:txBody>
      </p:sp>
      <p:graphicFrame>
        <p:nvGraphicFramePr>
          <p:cNvPr id="5" name="Table 4"/>
          <p:cNvGraphicFramePr>
            <a:graphicFrameLocks noGrp="1"/>
          </p:cNvGraphicFramePr>
          <p:nvPr/>
        </p:nvGraphicFramePr>
        <p:xfrm>
          <a:off x="1143000" y="1886770"/>
          <a:ext cx="9677400" cy="3752031"/>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421287">
                <a:tc>
                  <a:txBody>
                    <a:bodyPr/>
                    <a:lstStyle/>
                    <a:p>
                      <a:r>
                        <a:rPr lang="en-US" sz="2000" dirty="0">
                          <a:solidFill>
                            <a:srgbClr val="00B050"/>
                          </a:solidFill>
                        </a:rPr>
                        <a:t>Function</a:t>
                      </a:r>
                    </a:p>
                  </a:txBody>
                  <a:tcPr/>
                </a:tc>
                <a:tc>
                  <a:txBody>
                    <a:bodyPr/>
                    <a:lstStyle/>
                    <a:p>
                      <a:r>
                        <a:rPr lang="en-US" sz="2000" dirty="0">
                          <a:solidFill>
                            <a:srgbClr val="00B050"/>
                          </a:solidFill>
                        </a:rPr>
                        <a:t>Description</a:t>
                      </a:r>
                    </a:p>
                  </a:txBody>
                  <a:tcPr/>
                </a:tc>
                <a:tc>
                  <a:txBody>
                    <a:bodyPr/>
                    <a:lstStyle/>
                    <a:p>
                      <a:r>
                        <a:rPr lang="en-US" sz="2000" dirty="0">
                          <a:solidFill>
                            <a:srgbClr val="00B050"/>
                          </a:solidFill>
                        </a:rPr>
                        <a:t>Example</a:t>
                      </a:r>
                    </a:p>
                  </a:txBody>
                  <a:tcPr/>
                </a:tc>
                <a:tc>
                  <a:txBody>
                    <a:bodyPr/>
                    <a:lstStyle/>
                    <a:p>
                      <a:r>
                        <a:rPr lang="en-US" sz="2000" dirty="0">
                          <a:solidFill>
                            <a:srgbClr val="00B050"/>
                          </a:solidFill>
                        </a:rPr>
                        <a:t>Result</a:t>
                      </a:r>
                    </a:p>
                  </a:txBody>
                  <a:tcPr/>
                </a:tc>
                <a:extLst>
                  <a:ext uri="{0D108BD9-81ED-4DB2-BD59-A6C34878D82A}">
                    <a16:rowId xmlns:a16="http://schemas.microsoft.com/office/drawing/2014/main" val="10000"/>
                  </a:ext>
                </a:extLst>
              </a:tr>
              <a:tr h="1005840">
                <a:tc>
                  <a:txBody>
                    <a:bodyPr/>
                    <a:lstStyle/>
                    <a:p>
                      <a:r>
                        <a:rPr lang="en-US" sz="2000" dirty="0"/>
                        <a:t>union()</a:t>
                      </a:r>
                    </a:p>
                  </a:txBody>
                  <a:tcPr/>
                </a:tc>
                <a:tc>
                  <a:txBody>
                    <a:bodyPr/>
                    <a:lstStyle/>
                    <a:p>
                      <a:r>
                        <a:rPr lang="en-US" sz="2000" dirty="0"/>
                        <a:t>Produce an RDD containing elements</a:t>
                      </a:r>
                    </a:p>
                    <a:p>
                      <a:r>
                        <a:rPr lang="en-US" sz="2000" dirty="0"/>
                        <a:t>from both RDDs.</a:t>
                      </a:r>
                    </a:p>
                  </a:txBody>
                  <a:tcPr/>
                </a:tc>
                <a:tc>
                  <a:txBody>
                    <a:bodyPr/>
                    <a:lstStyle/>
                    <a:p>
                      <a:r>
                        <a:rPr lang="en-US" sz="2000" b="0" i="0" u="none" strike="noStrike" cap="none" baseline="0" dirty="0" err="1">
                          <a:solidFill>
                            <a:schemeClr val="dk1"/>
                          </a:solidFill>
                          <a:latin typeface="+mn-lt"/>
                          <a:ea typeface="+mn-ea"/>
                          <a:cs typeface="+mn-cs"/>
                          <a:sym typeface="Arial"/>
                        </a:rPr>
                        <a:t>rdd.union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 3, 3,</a:t>
                      </a:r>
                    </a:p>
                    <a:p>
                      <a:r>
                        <a:rPr lang="en-US" sz="2000" b="0" i="0" u="none" strike="noStrike" cap="none" baseline="0" dirty="0">
                          <a:solidFill>
                            <a:schemeClr val="dk1"/>
                          </a:solidFill>
                          <a:latin typeface="+mn-lt"/>
                          <a:ea typeface="+mn-ea"/>
                          <a:cs typeface="+mn-cs"/>
                          <a:sym typeface="Arial"/>
                        </a:rPr>
                        <a:t>4, 5}</a:t>
                      </a:r>
                      <a:endParaRPr lang="en-US" sz="2000" dirty="0"/>
                    </a:p>
                  </a:txBody>
                  <a:tcPr/>
                </a:tc>
                <a:extLst>
                  <a:ext uri="{0D108BD9-81ED-4DB2-BD59-A6C34878D82A}">
                    <a16:rowId xmlns:a16="http://schemas.microsoft.com/office/drawing/2014/main" val="10001"/>
                  </a:ext>
                </a:extLst>
              </a:tr>
              <a:tr h="831032">
                <a:tc>
                  <a:txBody>
                    <a:bodyPr/>
                    <a:lstStyle/>
                    <a:p>
                      <a:r>
                        <a:rPr lang="en-US" sz="2000" dirty="0"/>
                        <a:t>intersection()</a:t>
                      </a:r>
                    </a:p>
                  </a:txBody>
                  <a:tcPr/>
                </a:tc>
                <a:tc>
                  <a:txBody>
                    <a:bodyPr/>
                    <a:lstStyle/>
                    <a:p>
                      <a:r>
                        <a:rPr lang="en-US" sz="2000" dirty="0"/>
                        <a:t>Common elements</a:t>
                      </a:r>
                    </a:p>
                  </a:txBody>
                  <a:tcPr/>
                </a:tc>
                <a:tc>
                  <a:txBody>
                    <a:bodyPr/>
                    <a:lstStyle/>
                    <a:p>
                      <a:r>
                        <a:rPr lang="en-US" sz="2000" b="0" i="0" u="none" strike="noStrike" cap="none" baseline="0" dirty="0" err="1">
                          <a:solidFill>
                            <a:schemeClr val="dk1"/>
                          </a:solidFill>
                          <a:latin typeface="+mn-lt"/>
                          <a:ea typeface="+mn-ea"/>
                          <a:cs typeface="+mn-cs"/>
                          <a:sym typeface="Arial"/>
                        </a:rPr>
                        <a:t>rdd.intersection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a:t>
                      </a:r>
                      <a:endParaRPr lang="en-US" sz="2000" dirty="0"/>
                    </a:p>
                  </a:txBody>
                  <a:tcPr/>
                </a:tc>
                <a:extLst>
                  <a:ext uri="{0D108BD9-81ED-4DB2-BD59-A6C34878D82A}">
                    <a16:rowId xmlns:a16="http://schemas.microsoft.com/office/drawing/2014/main" val="10002"/>
                  </a:ext>
                </a:extLst>
              </a:tr>
              <a:tr h="792832">
                <a:tc>
                  <a:txBody>
                    <a:bodyPr/>
                    <a:lstStyle/>
                    <a:p>
                      <a:r>
                        <a:rPr lang="en-US" sz="2000" dirty="0"/>
                        <a:t>subtract()</a:t>
                      </a:r>
                    </a:p>
                  </a:txBody>
                  <a:tcPr/>
                </a:tc>
                <a:tc>
                  <a:txBody>
                    <a:bodyPr/>
                    <a:lstStyle/>
                    <a:p>
                      <a:r>
                        <a:rPr lang="en-US" sz="2000" dirty="0"/>
                        <a:t>Remove the contents of one RDD</a:t>
                      </a:r>
                    </a:p>
                  </a:txBody>
                  <a:tcPr/>
                </a:tc>
                <a:tc>
                  <a:txBody>
                    <a:bodyPr/>
                    <a:lstStyle/>
                    <a:p>
                      <a:r>
                        <a:rPr lang="en-US" sz="2000" b="0" i="0" u="none" strike="noStrike" cap="none" baseline="0" dirty="0" err="1">
                          <a:solidFill>
                            <a:schemeClr val="dk1"/>
                          </a:solidFill>
                          <a:latin typeface="+mn-lt"/>
                          <a:ea typeface="+mn-ea"/>
                          <a:cs typeface="+mn-cs"/>
                          <a:sym typeface="Arial"/>
                        </a:rPr>
                        <a:t>rdd.subtract</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a:t>
                      </a:r>
                      <a:endParaRPr lang="en-US" sz="2000" dirty="0"/>
                    </a:p>
                  </a:txBody>
                  <a:tcPr/>
                </a:tc>
                <a:extLst>
                  <a:ext uri="{0D108BD9-81ED-4DB2-BD59-A6C34878D82A}">
                    <a16:rowId xmlns:a16="http://schemas.microsoft.com/office/drawing/2014/main" val="10003"/>
                  </a:ext>
                </a:extLst>
              </a:tr>
              <a:tr h="701040">
                <a:tc>
                  <a:txBody>
                    <a:bodyPr/>
                    <a:lstStyle/>
                    <a:p>
                      <a:r>
                        <a:rPr lang="en-US" sz="2000" dirty="0"/>
                        <a:t>Cartesian()</a:t>
                      </a:r>
                    </a:p>
                  </a:txBody>
                  <a:tcPr/>
                </a:tc>
                <a:tc>
                  <a:txBody>
                    <a:bodyPr/>
                    <a:lstStyle/>
                    <a:p>
                      <a:r>
                        <a:rPr lang="en-US" sz="2000" dirty="0"/>
                        <a:t>Cartesian product with the other RDD.</a:t>
                      </a:r>
                    </a:p>
                  </a:txBody>
                  <a:tcPr/>
                </a:tc>
                <a:tc>
                  <a:txBody>
                    <a:bodyPr/>
                    <a:lstStyle/>
                    <a:p>
                      <a:r>
                        <a:rPr lang="en-US" sz="2000" b="0" i="0" u="none" strike="noStrike" cap="none" baseline="0" dirty="0" err="1">
                          <a:solidFill>
                            <a:schemeClr val="dk1"/>
                          </a:solidFill>
                          <a:latin typeface="+mn-lt"/>
                          <a:ea typeface="+mn-ea"/>
                          <a:cs typeface="+mn-cs"/>
                          <a:sym typeface="Arial"/>
                        </a:rPr>
                        <a:t>rdd.cartesian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dirty="0"/>
                        <a:t>{(1,3), (1,4), …}</a:t>
                      </a:r>
                    </a:p>
                  </a:txBody>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42B13811-4C58-636E-0D13-136EE6FB0E66}"/>
              </a:ext>
            </a:extLst>
          </p:cNvPr>
          <p:cNvSpPr txBox="1"/>
          <p:nvPr/>
        </p:nvSpPr>
        <p:spPr>
          <a:xfrm>
            <a:off x="4729163" y="1457325"/>
            <a:ext cx="3900487" cy="369332"/>
          </a:xfrm>
          <a:prstGeom prst="rect">
            <a:avLst/>
          </a:prstGeom>
          <a:noFill/>
        </p:spPr>
        <p:txBody>
          <a:bodyPr wrap="square" rtlCol="0">
            <a:spAutoFit/>
          </a:bodyPr>
          <a:lstStyle/>
          <a:p>
            <a:r>
              <a:rPr lang="en-US" dirty="0"/>
              <a:t>One </a:t>
            </a:r>
            <a:r>
              <a:rPr lang="en-US" dirty="0" err="1"/>
              <a:t>rdd.operation_name</a:t>
            </a:r>
            <a:r>
              <a:rPr lang="en-US" dirty="0"/>
              <a:t>(</a:t>
            </a:r>
            <a:r>
              <a:rPr lang="en-US" dirty="0" err="1"/>
              <a:t>other_rdd</a:t>
            </a:r>
            <a:r>
              <a:rPr lang="en-US" dirty="0"/>
              <a:t>)</a:t>
            </a:r>
          </a:p>
        </p:txBody>
      </p:sp>
    </p:spTree>
    <p:extLst>
      <p:ext uri="{BB962C8B-B14F-4D97-AF65-F5344CB8AC3E}">
        <p14:creationId xmlns:p14="http://schemas.microsoft.com/office/powerpoint/2010/main" val="31745256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82" y="144586"/>
            <a:ext cx="9875520" cy="541215"/>
          </a:xfrm>
        </p:spPr>
        <p:txBody>
          <a:bodyPr/>
          <a:lstStyle/>
          <a:p>
            <a:r>
              <a:rPr lang="en-US" b="1" dirty="0">
                <a:solidFill>
                  <a:srgbClr val="00B050"/>
                </a:solidFill>
              </a:rPr>
              <a:t>Paired RDD: Transformations</a:t>
            </a:r>
          </a:p>
        </p:txBody>
      </p:sp>
      <p:sp>
        <p:nvSpPr>
          <p:cNvPr id="3" name="Content Placeholder 2"/>
          <p:cNvSpPr>
            <a:spLocks noGrp="1"/>
          </p:cNvSpPr>
          <p:nvPr>
            <p:ph idx="1"/>
          </p:nvPr>
        </p:nvSpPr>
        <p:spPr>
          <a:xfrm>
            <a:off x="1158242" y="685801"/>
            <a:ext cx="10220959" cy="5638799"/>
          </a:xfrm>
        </p:spPr>
        <p:txBody>
          <a:bodyPr/>
          <a:lstStyle/>
          <a:p>
            <a:r>
              <a:rPr lang="en-US" sz="1600" dirty="0"/>
              <a:t>RDD containing key-value pairs</a:t>
            </a:r>
          </a:p>
          <a:p>
            <a:r>
              <a:rPr lang="en-US" sz="1600" dirty="0"/>
              <a:t>The fundamental concept behind original map-reduce model</a:t>
            </a:r>
          </a:p>
          <a:p>
            <a:pPr marL="38100" indent="0">
              <a:buNone/>
            </a:pPr>
            <a:r>
              <a:rPr lang="en-US" sz="1600" dirty="0"/>
              <a:t> Transformations on one paired RDD containing  {(1, 2), (3, 4), (3, 6)} each element has 2 parts , one part is key and other part is value.</a:t>
            </a:r>
          </a:p>
          <a:p>
            <a:pPr marL="0" indent="0">
              <a:buNone/>
            </a:pPr>
            <a:r>
              <a:rPr lang="en-US" dirty="0"/>
              <a:t>        </a:t>
            </a:r>
          </a:p>
          <a:p>
            <a:pPr marL="0" indent="0">
              <a:buNone/>
            </a:pPr>
            <a:r>
              <a:rPr lang="en-US" dirty="0"/>
              <a:t>        </a:t>
            </a:r>
          </a:p>
          <a:p>
            <a:pPr marL="0" indent="0">
              <a:buNone/>
            </a:pPr>
            <a:endParaRPr lang="en-US" dirty="0"/>
          </a:p>
        </p:txBody>
      </p:sp>
      <p:graphicFrame>
        <p:nvGraphicFramePr>
          <p:cNvPr id="6" name="Table 5"/>
          <p:cNvGraphicFramePr>
            <a:graphicFrameLocks noGrp="1"/>
          </p:cNvGraphicFramePr>
          <p:nvPr/>
        </p:nvGraphicFramePr>
        <p:xfrm>
          <a:off x="1239521" y="2208320"/>
          <a:ext cx="10058400" cy="4116280"/>
        </p:xfrm>
        <a:graphic>
          <a:graphicData uri="http://schemas.openxmlformats.org/drawingml/2006/table">
            <a:tbl>
              <a:tblPr firstRow="1" bandRow="1">
                <a:tableStyleId>{5C22544A-7EE6-4342-B048-85BDC9FD1C3A}</a:tableStyleId>
              </a:tblPr>
              <a:tblGrid>
                <a:gridCol w="2133599">
                  <a:extLst>
                    <a:ext uri="{9D8B030D-6E8A-4147-A177-3AD203B41FA5}">
                      <a16:colId xmlns:a16="http://schemas.microsoft.com/office/drawing/2014/main" val="20000"/>
                    </a:ext>
                  </a:extLst>
                </a:gridCol>
                <a:gridCol w="3657601">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34114">
                <a:tc>
                  <a:txBody>
                    <a:bodyPr/>
                    <a:lstStyle/>
                    <a:p>
                      <a:r>
                        <a:rPr lang="en-US" sz="1400" dirty="0">
                          <a:solidFill>
                            <a:srgbClr val="00B050"/>
                          </a:solidFill>
                        </a:rPr>
                        <a:t>Function</a:t>
                      </a:r>
                    </a:p>
                  </a:txBody>
                  <a:tcPr/>
                </a:tc>
                <a:tc>
                  <a:txBody>
                    <a:bodyPr/>
                    <a:lstStyle/>
                    <a:p>
                      <a:r>
                        <a:rPr lang="en-US" sz="1400" dirty="0">
                          <a:solidFill>
                            <a:srgbClr val="00B050"/>
                          </a:solidFill>
                        </a:rPr>
                        <a:t>Description</a:t>
                      </a:r>
                    </a:p>
                  </a:txBody>
                  <a:tcPr/>
                </a:tc>
                <a:tc>
                  <a:txBody>
                    <a:bodyPr/>
                    <a:lstStyle/>
                    <a:p>
                      <a:r>
                        <a:rPr lang="en-US" sz="1400" dirty="0">
                          <a:solidFill>
                            <a:srgbClr val="00B050"/>
                          </a:solidFill>
                        </a:rPr>
                        <a:t>Example</a:t>
                      </a:r>
                    </a:p>
                  </a:txBody>
                  <a:tcPr/>
                </a:tc>
                <a:tc>
                  <a:txBody>
                    <a:bodyPr/>
                    <a:lstStyle/>
                    <a:p>
                      <a:r>
                        <a:rPr lang="en-US" sz="1400" dirty="0">
                          <a:solidFill>
                            <a:srgbClr val="00B050"/>
                          </a:solidFill>
                        </a:rPr>
                        <a:t>Result</a:t>
                      </a:r>
                    </a:p>
                  </a:txBody>
                  <a:tcPr/>
                </a:tc>
                <a:extLst>
                  <a:ext uri="{0D108BD9-81ED-4DB2-BD59-A6C34878D82A}">
                    <a16:rowId xmlns:a16="http://schemas.microsoft.com/office/drawing/2014/main" val="10000"/>
                  </a:ext>
                </a:extLst>
              </a:tr>
              <a:tr h="588040">
                <a:tc>
                  <a:txBody>
                    <a:bodyPr/>
                    <a:lstStyle/>
                    <a:p>
                      <a:r>
                        <a:rPr lang="en-US" sz="1400" b="0" i="0" u="none" strike="noStrike" cap="none" baseline="0" dirty="0" err="1">
                          <a:solidFill>
                            <a:schemeClr val="dk1"/>
                          </a:solidFill>
                          <a:latin typeface="+mn-lt"/>
                          <a:ea typeface="+mn-ea"/>
                          <a:cs typeface="+mn-cs"/>
                          <a:sym typeface="Arial"/>
                        </a:rPr>
                        <a:t>reduceByKey</a:t>
                      </a:r>
                      <a:r>
                        <a:rPr lang="en-US" sz="1400" b="0" i="0" u="none" strike="noStrike" cap="none" baseline="0" dirty="0">
                          <a:solidFill>
                            <a:schemeClr val="dk1"/>
                          </a:solidFill>
                          <a:latin typeface="+mn-lt"/>
                          <a:ea typeface="+mn-ea"/>
                          <a:cs typeface="+mn-cs"/>
                          <a:sym typeface="Arial"/>
                        </a:rPr>
                        <a:t>(</a:t>
                      </a:r>
                      <a:r>
                        <a:rPr lang="en-US" sz="1400" b="0" i="0" u="none" strike="noStrike" cap="none" baseline="0" dirty="0" err="1">
                          <a:solidFill>
                            <a:schemeClr val="dk1"/>
                          </a:solidFill>
                          <a:latin typeface="+mn-lt"/>
                          <a:ea typeface="+mn-ea"/>
                          <a:cs typeface="+mn-cs"/>
                          <a:sym typeface="Arial"/>
                        </a:rPr>
                        <a:t>func</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Combine values with</a:t>
                      </a:r>
                    </a:p>
                    <a:p>
                      <a:r>
                        <a:rPr lang="en-US" sz="1400" b="0" i="0" u="none" strike="noStrike" cap="none" baseline="0" dirty="0">
                          <a:solidFill>
                            <a:schemeClr val="dk1"/>
                          </a:solidFill>
                          <a:latin typeface="+mn-lt"/>
                          <a:ea typeface="+mn-ea"/>
                          <a:cs typeface="+mn-cs"/>
                          <a:sym typeface="Arial"/>
                        </a:rPr>
                        <a:t>the same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rdd.reduceByKey</a:t>
                      </a:r>
                      <a:r>
                        <a:rPr lang="en-US" sz="1400" b="0" i="0" u="none" strike="noStrike" cap="none" baseline="0" dirty="0">
                          <a:solidFill>
                            <a:schemeClr val="dk1"/>
                          </a:solidFill>
                          <a:latin typeface="+mn-lt"/>
                          <a:ea typeface="+mn-ea"/>
                          <a:cs typeface="+mn-cs"/>
                          <a:sym typeface="Arial"/>
                        </a:rPr>
                        <a:t>(</a:t>
                      </a:r>
                    </a:p>
                    <a:p>
                      <a:r>
                        <a:rPr lang="en-US" sz="1400" b="0" i="0" u="none" strike="noStrike" cap="none" baseline="0" dirty="0">
                          <a:solidFill>
                            <a:schemeClr val="dk1"/>
                          </a:solidFill>
                          <a:latin typeface="+mn-lt"/>
                          <a:ea typeface="+mn-ea"/>
                          <a:cs typeface="+mn-cs"/>
                          <a:sym typeface="Arial"/>
                        </a:rPr>
                        <a:t>(x, y) =&gt; x + y)</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 (3,10)}</a:t>
                      </a:r>
                      <a:endParaRPr lang="en-US" sz="1400" dirty="0"/>
                    </a:p>
                  </a:txBody>
                  <a:tcPr/>
                </a:tc>
                <a:extLst>
                  <a:ext uri="{0D108BD9-81ED-4DB2-BD59-A6C34878D82A}">
                    <a16:rowId xmlns:a16="http://schemas.microsoft.com/office/drawing/2014/main" val="10001"/>
                  </a:ext>
                </a:extLst>
              </a:tr>
              <a:tr h="588040">
                <a:tc>
                  <a:txBody>
                    <a:bodyPr/>
                    <a:lstStyle/>
                    <a:p>
                      <a:r>
                        <a:rPr lang="en-US" sz="1400" b="0" i="0" u="none" strike="noStrike" cap="none" baseline="0" dirty="0" err="1">
                          <a:solidFill>
                            <a:schemeClr val="dk1"/>
                          </a:solidFill>
                          <a:latin typeface="+mn-lt"/>
                          <a:ea typeface="+mn-ea"/>
                          <a:cs typeface="+mn-cs"/>
                          <a:sym typeface="Arial"/>
                        </a:rPr>
                        <a:t>groupByKey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Group values with the</a:t>
                      </a:r>
                    </a:p>
                    <a:p>
                      <a:r>
                        <a:rPr lang="en-US" sz="1400" b="0" i="0" u="none" strike="noStrike" cap="none" baseline="0" dirty="0">
                          <a:solidFill>
                            <a:schemeClr val="dk1"/>
                          </a:solidFill>
                          <a:latin typeface="+mn-lt"/>
                          <a:ea typeface="+mn-ea"/>
                          <a:cs typeface="+mn-cs"/>
                          <a:sym typeface="Arial"/>
                        </a:rPr>
                        <a:t>same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rdd.groupByKey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{(1,[2]),(3, [4,6])}</a:t>
                      </a:r>
                      <a:endParaRPr lang="en-US" sz="1400" dirty="0"/>
                    </a:p>
                  </a:txBody>
                  <a:tcPr/>
                </a:tc>
                <a:extLst>
                  <a:ext uri="{0D108BD9-81ED-4DB2-BD59-A6C34878D82A}">
                    <a16:rowId xmlns:a16="http://schemas.microsoft.com/office/drawing/2014/main" val="10002"/>
                  </a:ext>
                </a:extLst>
              </a:tr>
              <a:tr h="841966">
                <a:tc>
                  <a:txBody>
                    <a:bodyPr/>
                    <a:lstStyle/>
                    <a:p>
                      <a:r>
                        <a:rPr lang="en-US" sz="1400" b="0" i="0" u="none" strike="noStrike" cap="none" baseline="0" dirty="0" err="1">
                          <a:solidFill>
                            <a:schemeClr val="dk1"/>
                          </a:solidFill>
                          <a:latin typeface="+mn-lt"/>
                          <a:ea typeface="+mn-ea"/>
                          <a:cs typeface="+mn-cs"/>
                          <a:sym typeface="Arial"/>
                        </a:rPr>
                        <a:t>mapValues</a:t>
                      </a:r>
                      <a:r>
                        <a:rPr lang="en-US" sz="1400" b="0" i="0" u="none" strike="noStrike" cap="none" baseline="0" dirty="0">
                          <a:solidFill>
                            <a:schemeClr val="dk1"/>
                          </a:solidFill>
                          <a:latin typeface="+mn-lt"/>
                          <a:ea typeface="+mn-ea"/>
                          <a:cs typeface="+mn-cs"/>
                          <a:sym typeface="Arial"/>
                        </a:rPr>
                        <a:t>(</a:t>
                      </a:r>
                      <a:r>
                        <a:rPr lang="en-US" sz="1400" b="0" i="0" u="none" strike="noStrike" cap="none" baseline="0" dirty="0" err="1">
                          <a:solidFill>
                            <a:schemeClr val="dk1"/>
                          </a:solidFill>
                          <a:latin typeface="+mn-lt"/>
                          <a:ea typeface="+mn-ea"/>
                          <a:cs typeface="+mn-cs"/>
                          <a:sym typeface="Arial"/>
                        </a:rPr>
                        <a:t>func</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Apply a function to each value of a pair RDD without changing the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rdd.mapValues</a:t>
                      </a:r>
                      <a:r>
                        <a:rPr lang="en-US" sz="1400" b="0" i="0" u="none" strike="noStrike" cap="none" baseline="0" dirty="0">
                          <a:solidFill>
                            <a:schemeClr val="dk1"/>
                          </a:solidFill>
                          <a:latin typeface="+mn-lt"/>
                          <a:ea typeface="+mn-ea"/>
                          <a:cs typeface="+mn-cs"/>
                          <a:sym typeface="Arial"/>
                        </a:rPr>
                        <a:t>(x =&gt; x+1)</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{(1,3), (3,5), (3,7)}</a:t>
                      </a:r>
                      <a:endParaRPr lang="en-US" sz="1400" dirty="0"/>
                    </a:p>
                  </a:txBody>
                  <a:tcPr/>
                </a:tc>
                <a:extLst>
                  <a:ext uri="{0D108BD9-81ED-4DB2-BD59-A6C34878D82A}">
                    <a16:rowId xmlns:a16="http://schemas.microsoft.com/office/drawing/2014/main" val="10003"/>
                  </a:ext>
                </a:extLst>
              </a:tr>
              <a:tr h="588040">
                <a:tc>
                  <a:txBody>
                    <a:bodyPr/>
                    <a:lstStyle/>
                    <a:p>
                      <a:r>
                        <a:rPr lang="en-US" sz="1400" b="0" i="0" u="none" strike="noStrike" cap="none" baseline="0" dirty="0">
                          <a:solidFill>
                            <a:schemeClr val="dk1"/>
                          </a:solidFill>
                          <a:latin typeface="+mn-lt"/>
                          <a:ea typeface="+mn-ea"/>
                          <a:cs typeface="+mn-cs"/>
                          <a:sym typeface="Arial"/>
                        </a:rPr>
                        <a:t>keys()</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of just</a:t>
                      </a:r>
                    </a:p>
                    <a:p>
                      <a:r>
                        <a:rPr lang="en-US" sz="1400" b="0" i="0" u="none" strike="noStrike" cap="none" baseline="0" dirty="0">
                          <a:solidFill>
                            <a:schemeClr val="dk1"/>
                          </a:solidFill>
                          <a:latin typeface="+mn-lt"/>
                          <a:ea typeface="+mn-ea"/>
                          <a:cs typeface="+mn-cs"/>
                          <a:sym typeface="Arial"/>
                        </a:rPr>
                        <a:t>the keys.</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rdd.keys</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 3,3}</a:t>
                      </a:r>
                      <a:endParaRPr lang="en-US" sz="1400" dirty="0"/>
                    </a:p>
                  </a:txBody>
                  <a:tcPr/>
                </a:tc>
                <a:extLst>
                  <a:ext uri="{0D108BD9-81ED-4DB2-BD59-A6C34878D82A}">
                    <a16:rowId xmlns:a16="http://schemas.microsoft.com/office/drawing/2014/main" val="10004"/>
                  </a:ext>
                </a:extLst>
              </a:tr>
              <a:tr h="588040">
                <a:tc>
                  <a:txBody>
                    <a:bodyPr/>
                    <a:lstStyle/>
                    <a:p>
                      <a:r>
                        <a:rPr lang="en-US" sz="1400" b="0" i="0" u="none" strike="noStrike" cap="none" baseline="0" dirty="0">
                          <a:solidFill>
                            <a:schemeClr val="dk1"/>
                          </a:solidFill>
                          <a:latin typeface="+mn-lt"/>
                          <a:ea typeface="+mn-ea"/>
                          <a:cs typeface="+mn-cs"/>
                          <a:sym typeface="Arial"/>
                        </a:rPr>
                        <a:t>values()</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of just</a:t>
                      </a:r>
                    </a:p>
                    <a:p>
                      <a:r>
                        <a:rPr lang="en-US" sz="1400" b="0" i="0" u="none" strike="noStrike" cap="none" baseline="0" dirty="0">
                          <a:solidFill>
                            <a:schemeClr val="dk1"/>
                          </a:solidFill>
                          <a:latin typeface="+mn-lt"/>
                          <a:ea typeface="+mn-ea"/>
                          <a:cs typeface="+mn-cs"/>
                          <a:sym typeface="Arial"/>
                        </a:rPr>
                        <a:t>the values.</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rdd.values</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{2, 4,6}</a:t>
                      </a:r>
                      <a:endParaRPr lang="en-US" sz="1400" dirty="0"/>
                    </a:p>
                  </a:txBody>
                  <a:tcPr/>
                </a:tc>
                <a:extLst>
                  <a:ext uri="{0D108BD9-81ED-4DB2-BD59-A6C34878D82A}">
                    <a16:rowId xmlns:a16="http://schemas.microsoft.com/office/drawing/2014/main" val="10005"/>
                  </a:ext>
                </a:extLst>
              </a:tr>
              <a:tr h="588040">
                <a:tc>
                  <a:txBody>
                    <a:bodyPr/>
                    <a:lstStyle/>
                    <a:p>
                      <a:r>
                        <a:rPr lang="en-US" sz="1400" b="0" i="0" u="none" strike="noStrike" cap="none" baseline="0" dirty="0" err="1">
                          <a:solidFill>
                            <a:schemeClr val="dk1"/>
                          </a:solidFill>
                          <a:latin typeface="+mn-lt"/>
                          <a:ea typeface="+mn-ea"/>
                          <a:cs typeface="+mn-cs"/>
                          <a:sym typeface="Arial"/>
                        </a:rPr>
                        <a:t>sortByKey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sorted</a:t>
                      </a:r>
                    </a:p>
                    <a:p>
                      <a:r>
                        <a:rPr lang="en-US" sz="1400" b="0" i="0" u="none" strike="noStrike" cap="none" baseline="0" dirty="0">
                          <a:solidFill>
                            <a:schemeClr val="dk1"/>
                          </a:solidFill>
                          <a:latin typeface="+mn-lt"/>
                          <a:ea typeface="+mn-ea"/>
                          <a:cs typeface="+mn-cs"/>
                          <a:sym typeface="Arial"/>
                        </a:rPr>
                        <a:t>by the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rdd.sortByKey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 (3,4), (3,6)}</a:t>
                      </a:r>
                      <a:endParaRPr lang="en-US" sz="1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351252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91AFC-46A3-B21B-CAFE-D493771FD8D2}"/>
              </a:ext>
            </a:extLst>
          </p:cNvPr>
          <p:cNvPicPr>
            <a:picLocks noChangeAspect="1"/>
          </p:cNvPicPr>
          <p:nvPr/>
        </p:nvPicPr>
        <p:blipFill>
          <a:blip r:embed="rId2"/>
          <a:stretch>
            <a:fillRect/>
          </a:stretch>
        </p:blipFill>
        <p:spPr>
          <a:xfrm>
            <a:off x="1675783" y="437732"/>
            <a:ext cx="8840434" cy="5982535"/>
          </a:xfrm>
          <a:prstGeom prst="rect">
            <a:avLst/>
          </a:prstGeom>
        </p:spPr>
      </p:pic>
    </p:spTree>
    <p:extLst>
      <p:ext uri="{BB962C8B-B14F-4D97-AF65-F5344CB8AC3E}">
        <p14:creationId xmlns:p14="http://schemas.microsoft.com/office/powerpoint/2010/main" val="642540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4586"/>
            <a:ext cx="9875520" cy="541215"/>
          </a:xfrm>
        </p:spPr>
        <p:txBody>
          <a:bodyPr/>
          <a:lstStyle/>
          <a:p>
            <a:r>
              <a:rPr lang="en-US" b="1" dirty="0">
                <a:solidFill>
                  <a:srgbClr val="00B050"/>
                </a:solidFill>
              </a:rPr>
              <a:t>Paired RDD: Actions</a:t>
            </a:r>
          </a:p>
        </p:txBody>
      </p:sp>
      <p:sp>
        <p:nvSpPr>
          <p:cNvPr id="3" name="Content Placeholder 2"/>
          <p:cNvSpPr>
            <a:spLocks noGrp="1"/>
          </p:cNvSpPr>
          <p:nvPr>
            <p:ph idx="1"/>
          </p:nvPr>
        </p:nvSpPr>
        <p:spPr>
          <a:xfrm>
            <a:off x="1158242" y="685801"/>
            <a:ext cx="10220959" cy="5638799"/>
          </a:xfrm>
        </p:spPr>
        <p:txBody>
          <a:bodyPr/>
          <a:lstStyle/>
          <a:p>
            <a:pPr marL="38099" indent="0">
              <a:buNone/>
            </a:pPr>
            <a:r>
              <a:rPr lang="en-US" dirty="0"/>
              <a:t>RDD containing  {(1, 2), (3, 4), (3, 6)}</a:t>
            </a:r>
          </a:p>
          <a:p>
            <a:pPr marL="0" indent="0">
              <a:buNone/>
            </a:pPr>
            <a:r>
              <a:rPr lang="en-US" dirty="0"/>
              <a:t>        </a:t>
            </a:r>
          </a:p>
          <a:p>
            <a:pPr marL="0" indent="0">
              <a:buNone/>
            </a:pPr>
            <a:r>
              <a:rPr lang="en-US" dirty="0"/>
              <a:t>        </a:t>
            </a:r>
          </a:p>
          <a:p>
            <a:pPr marL="0" indent="0">
              <a:buNone/>
            </a:pPr>
            <a:endParaRPr lang="en-US" dirty="0"/>
          </a:p>
        </p:txBody>
      </p:sp>
      <p:graphicFrame>
        <p:nvGraphicFramePr>
          <p:cNvPr id="6" name="Table 5"/>
          <p:cNvGraphicFramePr>
            <a:graphicFrameLocks noGrp="1"/>
          </p:cNvGraphicFramePr>
          <p:nvPr/>
        </p:nvGraphicFramePr>
        <p:xfrm>
          <a:off x="1295401" y="1981201"/>
          <a:ext cx="9525001" cy="1722120"/>
        </p:xfrm>
        <a:graphic>
          <a:graphicData uri="http://schemas.openxmlformats.org/drawingml/2006/table">
            <a:tbl>
              <a:tblPr firstRow="1" bandRow="1">
                <a:tableStyleId>{5C22544A-7EE6-4342-B048-85BDC9FD1C3A}</a:tableStyleId>
              </a:tblPr>
              <a:tblGrid>
                <a:gridCol w="2236932">
                  <a:extLst>
                    <a:ext uri="{9D8B030D-6E8A-4147-A177-3AD203B41FA5}">
                      <a16:colId xmlns:a16="http://schemas.microsoft.com/office/drawing/2014/main" val="20000"/>
                    </a:ext>
                  </a:extLst>
                </a:gridCol>
                <a:gridCol w="3247160">
                  <a:extLst>
                    <a:ext uri="{9D8B030D-6E8A-4147-A177-3AD203B41FA5}">
                      <a16:colId xmlns:a16="http://schemas.microsoft.com/office/drawing/2014/main" val="20001"/>
                    </a:ext>
                  </a:extLst>
                </a:gridCol>
                <a:gridCol w="2453409">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tblGrid>
              <a:tr h="380948">
                <a:tc>
                  <a:txBody>
                    <a:bodyPr/>
                    <a:lstStyle/>
                    <a:p>
                      <a:r>
                        <a:rPr lang="en-US" sz="1900" dirty="0">
                          <a:solidFill>
                            <a:srgbClr val="00B050"/>
                          </a:solidFill>
                        </a:rPr>
                        <a:t>Function</a:t>
                      </a:r>
                    </a:p>
                  </a:txBody>
                  <a:tcPr/>
                </a:tc>
                <a:tc>
                  <a:txBody>
                    <a:bodyPr/>
                    <a:lstStyle/>
                    <a:p>
                      <a:r>
                        <a:rPr lang="en-US" sz="1900" dirty="0">
                          <a:solidFill>
                            <a:srgbClr val="00B050"/>
                          </a:solidFill>
                        </a:rPr>
                        <a:t>Description</a:t>
                      </a:r>
                    </a:p>
                  </a:txBody>
                  <a:tcPr/>
                </a:tc>
                <a:tc>
                  <a:txBody>
                    <a:bodyPr/>
                    <a:lstStyle/>
                    <a:p>
                      <a:r>
                        <a:rPr lang="en-US" sz="1900" dirty="0">
                          <a:solidFill>
                            <a:srgbClr val="00B050"/>
                          </a:solidFill>
                        </a:rPr>
                        <a:t>Example</a:t>
                      </a:r>
                    </a:p>
                  </a:txBody>
                  <a:tcPr/>
                </a:tc>
                <a:tc>
                  <a:txBody>
                    <a:bodyPr/>
                    <a:lstStyle/>
                    <a:p>
                      <a:r>
                        <a:rPr lang="en-US" sz="1900" dirty="0">
                          <a:solidFill>
                            <a:srgbClr val="00B050"/>
                          </a:solidFill>
                        </a:rPr>
                        <a:t>Result</a:t>
                      </a:r>
                    </a:p>
                  </a:txBody>
                  <a:tcPr/>
                </a:tc>
                <a:extLst>
                  <a:ext uri="{0D108BD9-81ED-4DB2-BD59-A6C34878D82A}">
                    <a16:rowId xmlns:a16="http://schemas.microsoft.com/office/drawing/2014/main" val="10000"/>
                  </a:ext>
                </a:extLst>
              </a:tr>
              <a:tr h="66040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baseline="0" dirty="0" err="1">
                          <a:solidFill>
                            <a:schemeClr val="dk1"/>
                          </a:solidFill>
                          <a:latin typeface="+mn-lt"/>
                          <a:ea typeface="+mn-ea"/>
                          <a:cs typeface="+mn-cs"/>
                          <a:sym typeface="Arial"/>
                        </a:rPr>
                        <a:t>countByKey</a:t>
                      </a:r>
                      <a:r>
                        <a:rPr lang="en-US" sz="1900" b="0" i="0" u="none" strike="noStrike" cap="none" baseline="0" dirty="0">
                          <a:solidFill>
                            <a:schemeClr val="dk1"/>
                          </a:solidFill>
                          <a:latin typeface="+mn-lt"/>
                          <a:ea typeface="+mn-ea"/>
                          <a:cs typeface="+mn-cs"/>
                          <a:sym typeface="Arial"/>
                        </a:rPr>
                        <a:t>()</a:t>
                      </a:r>
                      <a:endParaRPr lang="en-US" sz="1900" dirty="0"/>
                    </a:p>
                    <a:p>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Count the number of elements for each key.</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rdd.countByKey</a:t>
                      </a:r>
                      <a:r>
                        <a:rPr lang="en-US" sz="1900" b="0" i="0" u="none" strike="noStrike" cap="none" baseline="0" dirty="0">
                          <a:solidFill>
                            <a:schemeClr val="dk1"/>
                          </a:solidFill>
                          <a:latin typeface="+mn-lt"/>
                          <a:ea typeface="+mn-ea"/>
                          <a:cs typeface="+mn-cs"/>
                          <a:sym typeface="Arial"/>
                        </a:rPr>
                        <a:t>()</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1), (3, 2)}</a:t>
                      </a:r>
                      <a:endParaRPr lang="en-US" sz="1900" dirty="0"/>
                    </a:p>
                  </a:txBody>
                  <a:tcPr/>
                </a:tc>
                <a:extLst>
                  <a:ext uri="{0D108BD9-81ED-4DB2-BD59-A6C34878D82A}">
                    <a16:rowId xmlns:a16="http://schemas.microsoft.com/office/drawing/2014/main" val="10001"/>
                  </a:ext>
                </a:extLst>
              </a:tr>
              <a:tr h="660400">
                <a:tc>
                  <a:txBody>
                    <a:bodyPr/>
                    <a:lstStyle/>
                    <a:p>
                      <a:r>
                        <a:rPr lang="en-US" sz="1900" b="0" i="0" u="none" strike="noStrike" cap="none" baseline="0" dirty="0">
                          <a:solidFill>
                            <a:schemeClr val="dk1"/>
                          </a:solidFill>
                          <a:latin typeface="+mn-lt"/>
                          <a:ea typeface="+mn-ea"/>
                          <a:cs typeface="+mn-cs"/>
                          <a:sym typeface="Arial"/>
                        </a:rPr>
                        <a:t>lookup(key)</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Return all values associated with the provided key.</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rdd.lookup</a:t>
                      </a:r>
                      <a:r>
                        <a:rPr lang="en-US" sz="1900" b="0" i="0" u="none" strike="noStrike" cap="none" baseline="0" dirty="0">
                          <a:solidFill>
                            <a:schemeClr val="dk1"/>
                          </a:solidFill>
                          <a:latin typeface="+mn-lt"/>
                          <a:ea typeface="+mn-ea"/>
                          <a:cs typeface="+mn-cs"/>
                          <a:sym typeface="Arial"/>
                        </a:rPr>
                        <a:t>(3)</a:t>
                      </a:r>
                      <a:endParaRPr lang="en-US" sz="1900" dirty="0"/>
                    </a:p>
                  </a:txBody>
                  <a:tcPr/>
                </a:tc>
                <a:tc>
                  <a:txBody>
                    <a:bodyPr/>
                    <a:lstStyle/>
                    <a:p>
                      <a:r>
                        <a:rPr lang="en-US" sz="1900" dirty="0"/>
                        <a:t>{4,6}</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68308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410" y="219724"/>
            <a:ext cx="9875520" cy="541215"/>
          </a:xfrm>
        </p:spPr>
        <p:txBody>
          <a:bodyPr/>
          <a:lstStyle/>
          <a:p>
            <a:r>
              <a:rPr lang="en-US" sz="3600" b="1" dirty="0">
                <a:solidFill>
                  <a:srgbClr val="00B050"/>
                </a:solidFill>
              </a:rPr>
              <a:t>Two Paired RDD: Transformations</a:t>
            </a:r>
          </a:p>
        </p:txBody>
      </p:sp>
      <p:sp>
        <p:nvSpPr>
          <p:cNvPr id="3" name="Content Placeholder 2"/>
          <p:cNvSpPr>
            <a:spLocks noGrp="1"/>
          </p:cNvSpPr>
          <p:nvPr>
            <p:ph idx="1"/>
          </p:nvPr>
        </p:nvSpPr>
        <p:spPr>
          <a:xfrm>
            <a:off x="583410" y="838200"/>
            <a:ext cx="10771130" cy="5181600"/>
          </a:xfrm>
        </p:spPr>
        <p:txBody>
          <a:bodyPr>
            <a:normAutofit/>
          </a:bodyPr>
          <a:lstStyle/>
          <a:p>
            <a:r>
              <a:rPr lang="en-US" sz="2400" dirty="0"/>
              <a:t>Transformations on two paired RDDs: (</a:t>
            </a:r>
            <a:r>
              <a:rPr lang="en-US" sz="2400" dirty="0" err="1">
                <a:solidFill>
                  <a:srgbClr val="C00000"/>
                </a:solidFill>
              </a:rPr>
              <a:t>rdd</a:t>
            </a:r>
            <a:r>
              <a:rPr lang="en-US" sz="2400" dirty="0"/>
              <a:t> = {(1, 2), (3, 4), (3, 6)}, </a:t>
            </a:r>
            <a:r>
              <a:rPr lang="en-US" sz="2400" dirty="0">
                <a:solidFill>
                  <a:srgbClr val="C00000"/>
                </a:solidFill>
              </a:rPr>
              <a:t>other</a:t>
            </a:r>
            <a:r>
              <a:rPr lang="en-US" sz="2400" dirty="0"/>
              <a:t> = {(3, 9)})</a:t>
            </a:r>
          </a:p>
          <a:p>
            <a:endParaRPr lang="en-US" sz="1800" dirty="0"/>
          </a:p>
          <a:p>
            <a:pPr marL="0" indent="0">
              <a:buNone/>
            </a:pPr>
            <a:r>
              <a:rPr lang="en-US" sz="1800" dirty="0"/>
              <a:t>  </a:t>
            </a:r>
          </a:p>
        </p:txBody>
      </p:sp>
      <p:graphicFrame>
        <p:nvGraphicFramePr>
          <p:cNvPr id="5" name="Table 4"/>
          <p:cNvGraphicFramePr>
            <a:graphicFrameLocks noGrp="1"/>
          </p:cNvGraphicFramePr>
          <p:nvPr/>
        </p:nvGraphicFramePr>
        <p:xfrm>
          <a:off x="1143000" y="2389575"/>
          <a:ext cx="10058400" cy="1823367"/>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421287">
                <a:tc>
                  <a:txBody>
                    <a:bodyPr/>
                    <a:lstStyle/>
                    <a:p>
                      <a:r>
                        <a:rPr lang="en-US" sz="2000" dirty="0">
                          <a:solidFill>
                            <a:srgbClr val="00B050"/>
                          </a:solidFill>
                        </a:rPr>
                        <a:t>Function</a:t>
                      </a:r>
                    </a:p>
                  </a:txBody>
                  <a:tcPr/>
                </a:tc>
                <a:tc>
                  <a:txBody>
                    <a:bodyPr/>
                    <a:lstStyle/>
                    <a:p>
                      <a:r>
                        <a:rPr lang="en-US" sz="2000" dirty="0">
                          <a:solidFill>
                            <a:srgbClr val="00B050"/>
                          </a:solidFill>
                        </a:rPr>
                        <a:t>Description</a:t>
                      </a:r>
                    </a:p>
                  </a:txBody>
                  <a:tcPr/>
                </a:tc>
                <a:tc>
                  <a:txBody>
                    <a:bodyPr/>
                    <a:lstStyle/>
                    <a:p>
                      <a:r>
                        <a:rPr lang="en-US" sz="2000" dirty="0">
                          <a:solidFill>
                            <a:srgbClr val="00B050"/>
                          </a:solidFill>
                        </a:rPr>
                        <a:t>Example</a:t>
                      </a:r>
                    </a:p>
                  </a:txBody>
                  <a:tcPr/>
                </a:tc>
                <a:tc>
                  <a:txBody>
                    <a:bodyPr/>
                    <a:lstStyle/>
                    <a:p>
                      <a:r>
                        <a:rPr lang="en-US" sz="2000" dirty="0">
                          <a:solidFill>
                            <a:srgbClr val="00B050"/>
                          </a:solidFill>
                        </a:rPr>
                        <a:t>Result</a:t>
                      </a:r>
                    </a:p>
                  </a:txBody>
                  <a:tcPr/>
                </a:tc>
                <a:extLst>
                  <a:ext uri="{0D108BD9-81ED-4DB2-BD59-A6C34878D82A}">
                    <a16:rowId xmlns:a16="http://schemas.microsoft.com/office/drawing/2014/main" val="10000"/>
                  </a:ext>
                </a:extLst>
              </a:tr>
              <a:tr h="701040">
                <a:tc>
                  <a:txBody>
                    <a:bodyPr/>
                    <a:lstStyle/>
                    <a:p>
                      <a:r>
                        <a:rPr lang="en-US" sz="2000" b="0" i="0" u="none" strike="noStrike" cap="none" baseline="0" dirty="0">
                          <a:solidFill>
                            <a:schemeClr val="dk1"/>
                          </a:solidFill>
                          <a:latin typeface="+mn-lt"/>
                          <a:ea typeface="+mn-ea"/>
                          <a:cs typeface="+mn-cs"/>
                          <a:sym typeface="Arial"/>
                        </a:rPr>
                        <a:t>join</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Perform an inner join</a:t>
                      </a:r>
                    </a:p>
                    <a:p>
                      <a:r>
                        <a:rPr lang="en-US" sz="2000" b="0" i="0" u="none" strike="noStrike" cap="none" baseline="0" dirty="0">
                          <a:solidFill>
                            <a:schemeClr val="dk1"/>
                          </a:solidFill>
                          <a:latin typeface="+mn-lt"/>
                          <a:ea typeface="+mn-ea"/>
                          <a:cs typeface="+mn-cs"/>
                          <a:sym typeface="Arial"/>
                        </a:rPr>
                        <a:t>between two RDDs.</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rdd.join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 (4, 9)), (3,</a:t>
                      </a:r>
                    </a:p>
                    <a:p>
                      <a:r>
                        <a:rPr lang="en-US" sz="2000" b="0" i="0" u="none" strike="noStrike" cap="none" baseline="0" dirty="0">
                          <a:solidFill>
                            <a:schemeClr val="dk1"/>
                          </a:solidFill>
                          <a:latin typeface="+mn-lt"/>
                          <a:ea typeface="+mn-ea"/>
                          <a:cs typeface="+mn-cs"/>
                          <a:sym typeface="Arial"/>
                        </a:rPr>
                        <a:t>(6, 9))}</a:t>
                      </a:r>
                      <a:endParaRPr lang="en-US" sz="2000" dirty="0"/>
                    </a:p>
                  </a:txBody>
                  <a:tcPr/>
                </a:tc>
                <a:extLst>
                  <a:ext uri="{0D108BD9-81ED-4DB2-BD59-A6C34878D82A}">
                    <a16:rowId xmlns:a16="http://schemas.microsoft.com/office/drawing/2014/main" val="10001"/>
                  </a:ext>
                </a:extLst>
              </a:tr>
              <a:tr h="701040">
                <a:tc>
                  <a:txBody>
                    <a:bodyPr/>
                    <a:lstStyle/>
                    <a:p>
                      <a:r>
                        <a:rPr lang="en-US" sz="2000" b="0" i="0" u="none" strike="noStrike" cap="none" baseline="0" dirty="0" err="1">
                          <a:solidFill>
                            <a:schemeClr val="dk1"/>
                          </a:solidFill>
                          <a:latin typeface="+mn-lt"/>
                          <a:ea typeface="+mn-ea"/>
                          <a:cs typeface="+mn-cs"/>
                          <a:sym typeface="Arial"/>
                        </a:rPr>
                        <a:t>cogroup</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Group data from both RDDs</a:t>
                      </a:r>
                    </a:p>
                    <a:p>
                      <a:r>
                        <a:rPr lang="en-US" sz="2000" b="0" i="0" u="none" strike="noStrike" cap="none" baseline="0" dirty="0">
                          <a:solidFill>
                            <a:schemeClr val="dk1"/>
                          </a:solidFill>
                          <a:latin typeface="+mn-lt"/>
                          <a:ea typeface="+mn-ea"/>
                          <a:cs typeface="+mn-cs"/>
                          <a:sym typeface="Arial"/>
                        </a:rPr>
                        <a:t>sharing the same key.</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rdd.cogroup</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{(1,([2],[])), (3,</a:t>
                      </a:r>
                    </a:p>
                    <a:p>
                      <a:r>
                        <a:rPr lang="en-US" sz="2000" b="0" i="0" u="none" strike="noStrike" cap="none" baseline="0" dirty="0">
                          <a:solidFill>
                            <a:schemeClr val="dk1"/>
                          </a:solidFill>
                          <a:latin typeface="+mn-lt"/>
                          <a:ea typeface="+mn-ea"/>
                          <a:cs typeface="+mn-cs"/>
                          <a:sym typeface="Arial"/>
                        </a:rPr>
                        <a:t>([4, 6],[9]))}</a:t>
                      </a:r>
                      <a:endParaRPr lang="en-US"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9089115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leanor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3777</TotalTime>
  <Words>4397</Words>
  <Application>Microsoft Office PowerPoint</Application>
  <PresentationFormat>Widescreen</PresentationFormat>
  <Paragraphs>735</Paragraphs>
  <Slides>55</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55</vt:i4>
      </vt:variant>
    </vt:vector>
  </HeadingPairs>
  <TitlesOfParts>
    <vt:vector size="65" baseType="lpstr">
      <vt:lpstr>Adobe Garamond Pro</vt:lpstr>
      <vt:lpstr>Arial</vt:lpstr>
      <vt:lpstr>Arial Unicode MS</vt:lpstr>
      <vt:lpstr>Calibri</vt:lpstr>
      <vt:lpstr>Century Schoolbook</vt:lpstr>
      <vt:lpstr>Menlo</vt:lpstr>
      <vt:lpstr>Quicksand</vt:lpstr>
      <vt:lpstr>Times New Roman</vt:lpstr>
      <vt:lpstr>Office Theme</vt:lpstr>
      <vt:lpstr>Eleanor template</vt:lpstr>
      <vt:lpstr>Big Data Processing</vt:lpstr>
      <vt:lpstr>PowerPoint Presentation</vt:lpstr>
      <vt:lpstr>Use of Combiner</vt:lpstr>
      <vt:lpstr>Role of combiner</vt:lpstr>
      <vt:lpstr>PowerPoint Presentation</vt:lpstr>
      <vt:lpstr>Problem: Computing Mean</vt:lpstr>
      <vt:lpstr>Combiner: Warning!</vt:lpstr>
      <vt:lpstr>Computing mean: Use of combiner</vt:lpstr>
      <vt:lpstr>Spark  Fast Big Data Processing</vt:lpstr>
      <vt:lpstr>Iterative Algorithm in Map-reduce</vt:lpstr>
      <vt:lpstr>Iterative Algorithm in Map-reduce: Issues</vt:lpstr>
      <vt:lpstr>Limitations of basic map-reduce</vt:lpstr>
      <vt:lpstr>PowerPoint Presentation</vt:lpstr>
      <vt:lpstr>PowerPoint Presentation</vt:lpstr>
      <vt:lpstr>PowerPoint Presentation</vt:lpstr>
      <vt:lpstr>Key Concept in Spark for Working with Data</vt:lpstr>
      <vt:lpstr>PowerPoint Presentation</vt:lpstr>
      <vt:lpstr>PowerPoint Presentation</vt:lpstr>
      <vt:lpstr>Master</vt:lpstr>
      <vt:lpstr>Main Steps of an RDD Processing</vt:lpstr>
      <vt:lpstr>Main Steps of an RDD Processing</vt:lpstr>
      <vt:lpstr>Creating an RDD</vt:lpstr>
      <vt:lpstr>RDD Operations</vt:lpstr>
      <vt:lpstr>  RDD Operations</vt:lpstr>
      <vt:lpstr>Transformations: Examples</vt:lpstr>
      <vt:lpstr>PowerPoint Presentation</vt:lpstr>
      <vt:lpstr>RDD Operations</vt:lpstr>
      <vt:lpstr>Actions: Examples</vt:lpstr>
      <vt:lpstr>Anatomy of an RDD Operation</vt:lpstr>
      <vt:lpstr>Lazy Evaluation</vt:lpstr>
      <vt:lpstr>An Example Code</vt:lpstr>
      <vt:lpstr>RDD Persistence</vt:lpstr>
      <vt:lpstr>RDD Persistence</vt:lpstr>
      <vt:lpstr>Persistence (Caching)</vt:lpstr>
      <vt:lpstr>RDD Persistence: Example</vt:lpstr>
      <vt:lpstr>Distributed Execution of RDD</vt:lpstr>
      <vt:lpstr>Example</vt:lpstr>
      <vt:lpstr>Example</vt:lpstr>
      <vt:lpstr>Example</vt:lpstr>
      <vt:lpstr>RDD Operator Graph</vt:lpstr>
      <vt:lpstr>Example</vt:lpstr>
      <vt:lpstr>Example</vt:lpstr>
      <vt:lpstr>Example</vt:lpstr>
      <vt:lpstr>Example</vt:lpstr>
      <vt:lpstr>Example</vt:lpstr>
      <vt:lpstr>Example</vt:lpstr>
      <vt:lpstr>Example</vt:lpstr>
      <vt:lpstr>RDD Operations: Examples</vt:lpstr>
      <vt:lpstr>Example of Basic RDD Transformations: Single RDD  (operations which are going to be performed on single rdd)</vt:lpstr>
      <vt:lpstr>Example of Basic RDD Actions</vt:lpstr>
      <vt:lpstr>Example of Basic RDD Transformations: Two RDD</vt:lpstr>
      <vt:lpstr>Paired RDD: Transformations</vt:lpstr>
      <vt:lpstr>PowerPoint Presentation</vt:lpstr>
      <vt:lpstr>Paired RDD: Actions</vt:lpstr>
      <vt:lpstr>Two Paired RDD: Transformations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764</cp:revision>
  <dcterms:created xsi:type="dcterms:W3CDTF">2020-05-13T23:12:08Z</dcterms:created>
  <dcterms:modified xsi:type="dcterms:W3CDTF">2025-04-22T17:28:40Z</dcterms:modified>
</cp:coreProperties>
</file>