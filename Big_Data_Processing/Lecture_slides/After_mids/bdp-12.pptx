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35"/>
  </p:notesMasterIdLst>
  <p:handoutMasterIdLst>
    <p:handoutMasterId r:id="rId36"/>
  </p:handoutMasterIdLst>
  <p:sldIdLst>
    <p:sldId id="256" r:id="rId3"/>
    <p:sldId id="501" r:id="rId4"/>
    <p:sldId id="527" r:id="rId5"/>
    <p:sldId id="528" r:id="rId6"/>
    <p:sldId id="529" r:id="rId7"/>
    <p:sldId id="530" r:id="rId8"/>
    <p:sldId id="531" r:id="rId9"/>
    <p:sldId id="533" r:id="rId10"/>
    <p:sldId id="534" r:id="rId11"/>
    <p:sldId id="537" r:id="rId12"/>
    <p:sldId id="539" r:id="rId13"/>
    <p:sldId id="540" r:id="rId14"/>
    <p:sldId id="541" r:id="rId15"/>
    <p:sldId id="542" r:id="rId16"/>
    <p:sldId id="543" r:id="rId17"/>
    <p:sldId id="544" r:id="rId18"/>
    <p:sldId id="545" r:id="rId19"/>
    <p:sldId id="546" r:id="rId20"/>
    <p:sldId id="547" r:id="rId21"/>
    <p:sldId id="548" r:id="rId22"/>
    <p:sldId id="549" r:id="rId23"/>
    <p:sldId id="550" r:id="rId24"/>
    <p:sldId id="551" r:id="rId25"/>
    <p:sldId id="552" r:id="rId26"/>
    <p:sldId id="553" r:id="rId27"/>
    <p:sldId id="554" r:id="rId28"/>
    <p:sldId id="555" r:id="rId29"/>
    <p:sldId id="556" r:id="rId30"/>
    <p:sldId id="557" r:id="rId31"/>
    <p:sldId id="558" r:id="rId32"/>
    <p:sldId id="559" r:id="rId33"/>
    <p:sldId id="56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1" autoAdjust="0"/>
    <p:restoredTop sz="94660"/>
  </p:normalViewPr>
  <p:slideViewPr>
    <p:cSldViewPr snapToGrid="0">
      <p:cViewPr varScale="1">
        <p:scale>
          <a:sx n="81" d="100"/>
          <a:sy n="81" d="100"/>
        </p:scale>
        <p:origin x="883"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21-04-2025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21-04-2025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304180-1105-47D3-A5E8-12D0BE6D816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3566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21-04-2025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Kharagpur</a:t>
            </a:r>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21-04-2025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21-04-2025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21-04-2025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553967" y="665975"/>
            <a:ext cx="9144000" cy="459900"/>
          </a:xfrm>
          <a:prstGeom prst="rect">
            <a:avLst/>
          </a:prstGeom>
        </p:spPr>
        <p:txBody>
          <a:bodyPr spcFirstLastPara="1" wrap="square" lIns="91425" tIns="91425" rIns="91425" bIns="91425" anchor="b" anchorCtr="0"/>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42" name="Google Shape;42;p7"/>
          <p:cNvSpPr txBox="1">
            <a:spLocks noGrp="1"/>
          </p:cNvSpPr>
          <p:nvPr>
            <p:ph type="body" idx="1"/>
          </p:nvPr>
        </p:nvSpPr>
        <p:spPr>
          <a:xfrm>
            <a:off x="1553967"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3" name="Google Shape;43;p7"/>
          <p:cNvSpPr txBox="1">
            <a:spLocks noGrp="1"/>
          </p:cNvSpPr>
          <p:nvPr>
            <p:ph type="body" idx="2"/>
          </p:nvPr>
        </p:nvSpPr>
        <p:spPr>
          <a:xfrm>
            <a:off x="4922999"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4" name="Google Shape;44;p7"/>
          <p:cNvSpPr txBox="1">
            <a:spLocks noGrp="1"/>
          </p:cNvSpPr>
          <p:nvPr>
            <p:ph type="body" idx="3"/>
          </p:nvPr>
        </p:nvSpPr>
        <p:spPr>
          <a:xfrm>
            <a:off x="8292031"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cxnSp>
        <p:nvCxnSpPr>
          <p:cNvPr id="45" name="Google Shape;45;p7"/>
          <p:cNvCxnSpPr/>
          <p:nvPr/>
        </p:nvCxnSpPr>
        <p:spPr>
          <a:xfrm>
            <a:off x="1205100" y="-7925"/>
            <a:ext cx="0" cy="6866100"/>
          </a:xfrm>
          <a:prstGeom prst="straightConnector1">
            <a:avLst/>
          </a:prstGeom>
          <a:noFill/>
          <a:ln w="9525" cap="flat" cmpd="sng">
            <a:solidFill>
              <a:srgbClr val="999FA9"/>
            </a:solidFill>
            <a:prstDash val="solid"/>
            <a:round/>
            <a:headEnd type="none" w="med" len="med"/>
            <a:tailEnd type="none" w="med" len="med"/>
          </a:ln>
        </p:spPr>
      </p:cxnSp>
      <p:sp>
        <p:nvSpPr>
          <p:cNvPr id="46" name="Google Shape;46;p7"/>
          <p:cNvSpPr/>
          <p:nvPr/>
        </p:nvSpPr>
        <p:spPr>
          <a:xfrm>
            <a:off x="1078300" y="800750"/>
            <a:ext cx="253600" cy="190200"/>
          </a:xfrm>
          <a:prstGeom prst="ellipse">
            <a:avLst/>
          </a:prstGeom>
          <a:solidFill>
            <a:srgbClr val="39C0BA"/>
          </a:solidFill>
          <a:ln w="28575" cap="flat" cmpd="sng">
            <a:solidFill>
              <a:srgbClr val="2E3037"/>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7" name="Google Shape;47;p7"/>
          <p:cNvSpPr/>
          <p:nvPr/>
        </p:nvSpPr>
        <p:spPr>
          <a:xfrm>
            <a:off x="1025400" y="1861900"/>
            <a:ext cx="359200" cy="2694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Google Shape;48;p7"/>
          <p:cNvSpPr txBox="1">
            <a:spLocks noGrp="1"/>
          </p:cNvSpPr>
          <p:nvPr>
            <p:ph type="sldNum" idx="12"/>
          </p:nvPr>
        </p:nvSpPr>
        <p:spPr>
          <a:xfrm>
            <a:off x="11364209" y="6437775"/>
            <a:ext cx="731600" cy="420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761873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key color">
  <p:cSld name="Blank key color">
    <p:spTree>
      <p:nvGrpSpPr>
        <p:cNvPr id="1" name="Shape 63"/>
        <p:cNvGrpSpPr/>
        <p:nvPr/>
      </p:nvGrpSpPr>
      <p:grpSpPr>
        <a:xfrm>
          <a:off x="0" y="0"/>
          <a:ext cx="0" cy="0"/>
          <a:chOff x="0" y="0"/>
          <a:chExt cx="0" cy="0"/>
        </a:xfrm>
      </p:grpSpPr>
      <p:cxnSp>
        <p:nvCxnSpPr>
          <p:cNvPr id="64" name="Google Shape;64;p11"/>
          <p:cNvCxnSpPr/>
          <p:nvPr/>
        </p:nvCxnSpPr>
        <p:spPr>
          <a:xfrm>
            <a:off x="1205100" y="-7925"/>
            <a:ext cx="0" cy="6866100"/>
          </a:xfrm>
          <a:prstGeom prst="straightConnector1">
            <a:avLst/>
          </a:prstGeom>
          <a:noFill/>
          <a:ln w="9525" cap="flat" cmpd="sng">
            <a:solidFill>
              <a:srgbClr val="2E3037"/>
            </a:solidFill>
            <a:prstDash val="solid"/>
            <a:round/>
            <a:headEnd type="none" w="med" len="med"/>
            <a:tailEnd type="none" w="med" len="med"/>
          </a:ln>
        </p:spPr>
      </p:cxnSp>
      <p:sp>
        <p:nvSpPr>
          <p:cNvPr id="65" name="Google Shape;65;p11"/>
          <p:cNvSpPr/>
          <p:nvPr/>
        </p:nvSpPr>
        <p:spPr>
          <a:xfrm>
            <a:off x="1078200" y="3333900"/>
            <a:ext cx="253600" cy="190200"/>
          </a:xfrm>
          <a:prstGeom prst="ellipse">
            <a:avLst/>
          </a:prstGeom>
          <a:solidFill>
            <a:srgbClr val="39C0BA"/>
          </a:solidFill>
          <a:ln w="9525" cap="flat" cmpd="sng">
            <a:solidFill>
              <a:srgbClr val="2E3037"/>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6" name="Google Shape;66;p11"/>
          <p:cNvSpPr txBox="1">
            <a:spLocks noGrp="1"/>
          </p:cNvSpPr>
          <p:nvPr>
            <p:ph type="sldNum" idx="12"/>
          </p:nvPr>
        </p:nvSpPr>
        <p:spPr>
          <a:xfrm>
            <a:off x="11364209" y="6437775"/>
            <a:ext cx="731600" cy="420300"/>
          </a:xfrm>
          <a:prstGeom prst="rect">
            <a:avLst/>
          </a:prstGeom>
        </p:spPr>
        <p:txBody>
          <a:bodyPr spcFirstLastPara="1" wrap="square" lIns="91425" tIns="91425" rIns="91425" bIns="91425" anchor="t" anchorCtr="0">
            <a:noAutofit/>
          </a:bodyPr>
          <a:lstStyle>
            <a:lvl1pPr lvl="0">
              <a:buNone/>
              <a:defRPr>
                <a:solidFill>
                  <a:srgbClr val="2E3037"/>
                </a:solidFill>
              </a:defRPr>
            </a:lvl1pPr>
            <a:lvl2pPr lvl="1">
              <a:buNone/>
              <a:defRPr>
                <a:solidFill>
                  <a:srgbClr val="2E3037"/>
                </a:solidFill>
              </a:defRPr>
            </a:lvl2pPr>
            <a:lvl3pPr lvl="2">
              <a:buNone/>
              <a:defRPr>
                <a:solidFill>
                  <a:srgbClr val="2E3037"/>
                </a:solidFill>
              </a:defRPr>
            </a:lvl3pPr>
            <a:lvl4pPr lvl="3">
              <a:buNone/>
              <a:defRPr>
                <a:solidFill>
                  <a:srgbClr val="2E3037"/>
                </a:solidFill>
              </a:defRPr>
            </a:lvl4pPr>
            <a:lvl5pPr lvl="4">
              <a:buNone/>
              <a:defRPr>
                <a:solidFill>
                  <a:srgbClr val="2E3037"/>
                </a:solidFill>
              </a:defRPr>
            </a:lvl5pPr>
            <a:lvl6pPr lvl="5">
              <a:buNone/>
              <a:defRPr>
                <a:solidFill>
                  <a:srgbClr val="2E3037"/>
                </a:solidFill>
              </a:defRPr>
            </a:lvl6pPr>
            <a:lvl7pPr lvl="6">
              <a:buNone/>
              <a:defRPr>
                <a:solidFill>
                  <a:srgbClr val="2E3037"/>
                </a:solidFill>
              </a:defRPr>
            </a:lvl7pPr>
            <a:lvl8pPr lvl="7">
              <a:buNone/>
              <a:defRPr>
                <a:solidFill>
                  <a:srgbClr val="2E3037"/>
                </a:solidFill>
              </a:defRPr>
            </a:lvl8pPr>
            <a:lvl9pPr lvl="8">
              <a:buNone/>
              <a:defRPr>
                <a:solidFill>
                  <a:srgbClr val="2E3037"/>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srgbClr val="2E3037"/>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srgbClr val="2E3037"/>
              </a:solidFill>
              <a:effectLst/>
              <a:uLnTx/>
              <a:uFillTx/>
              <a:latin typeface="Quicksand"/>
              <a:sym typeface="Quicksand"/>
            </a:endParaRPr>
          </a:p>
        </p:txBody>
      </p:sp>
    </p:spTree>
    <p:extLst>
      <p:ext uri="{BB962C8B-B14F-4D97-AF65-F5344CB8AC3E}">
        <p14:creationId xmlns:p14="http://schemas.microsoft.com/office/powerpoint/2010/main" val="1330937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2667" y="220786"/>
            <a:ext cx="10972800" cy="541214"/>
          </a:xfrm>
        </p:spPr>
        <p:txBody>
          <a:bodyPr/>
          <a:lstStyle>
            <a:lvl1pPr>
              <a:defRPr sz="3200">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677333" y="1295400"/>
            <a:ext cx="10972800" cy="5181600"/>
          </a:xfrm>
        </p:spPr>
        <p:txBody>
          <a:bodyPr/>
          <a:lstStyle>
            <a:lvl1pPr marL="457200" indent="-419100">
              <a:buClr>
                <a:srgbClr val="002060"/>
              </a:buClr>
              <a:buFont typeface="Arial" panose="020B0604020202020204" pitchFamily="34" charset="0"/>
              <a:buChar char="•"/>
              <a:defRPr>
                <a:solidFill>
                  <a:schemeClr val="tx1"/>
                </a:solidFill>
              </a:defRPr>
            </a:lvl1pPr>
            <a:lvl2pPr marL="914400" indent="-381000">
              <a:buClr>
                <a:srgbClr val="002060"/>
              </a:buClr>
              <a:buFont typeface="Arial" panose="020B0604020202020204" pitchFamily="34" charset="0"/>
              <a:buChar char="•"/>
              <a:defRPr b="0">
                <a:solidFill>
                  <a:schemeClr val="tx1"/>
                </a:solidFill>
              </a:defRPr>
            </a:lvl2pPr>
            <a:lvl3pPr marL="1371600" indent="-381000">
              <a:buClr>
                <a:srgbClr val="002060"/>
              </a:buClr>
              <a:buFont typeface="Arial" panose="020B0604020202020204" pitchFamily="34" charset="0"/>
              <a:buChar char="•"/>
              <a:defRPr>
                <a:solidFill>
                  <a:schemeClr val="tx1"/>
                </a:solidFill>
              </a:defRPr>
            </a:lvl3pPr>
            <a:lvl4pPr marL="1828800" indent="-342900">
              <a:buClr>
                <a:srgbClr val="002060"/>
              </a:buClr>
              <a:buFont typeface="Arial" panose="020B0604020202020204" pitchFamily="34" charset="0"/>
              <a:buChar char="•"/>
              <a:defRPr b="0">
                <a:solidFill>
                  <a:schemeClr val="tx1"/>
                </a:solidFill>
              </a:defRPr>
            </a:lvl4pPr>
            <a:lvl5pPr marL="2286000" indent="-342900">
              <a:buClr>
                <a:srgbClr val="002060"/>
              </a:buClr>
              <a:buFont typeface="Arial" panose="020B0604020202020204" pitchFamily="34" charset="0"/>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3584756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A9E46F-7BA3-46CF-8DB8-B01995389C81}"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1251195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21-04-2025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553967" y="665975"/>
            <a:ext cx="9144000" cy="4599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1pPr>
            <a:lvl2pPr lvl="1">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2pPr>
            <a:lvl3pPr lvl="2">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3pPr>
            <a:lvl4pPr lvl="3">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4pPr>
            <a:lvl5pPr lvl="4">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5pPr>
            <a:lvl6pPr lvl="5">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6pPr>
            <a:lvl7pPr lvl="6">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7pPr>
            <a:lvl8pPr lvl="7">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8pPr>
            <a:lvl9pPr lvl="8">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1553998" y="1600200"/>
            <a:ext cx="9144000" cy="49677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F3F3F3"/>
              </a:buClr>
              <a:buSzPts val="3000"/>
              <a:buFont typeface="Quicksand"/>
              <a:buChar char="◦"/>
              <a:defRPr sz="3000">
                <a:solidFill>
                  <a:srgbClr val="F3F3F3"/>
                </a:solidFill>
                <a:latin typeface="Quicksand"/>
                <a:ea typeface="Quicksand"/>
                <a:cs typeface="Quicksand"/>
                <a:sym typeface="Quicksand"/>
              </a:defRPr>
            </a:lvl1pPr>
            <a:lvl2pPr marL="914400" lvl="1"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2pPr>
            <a:lvl3pPr marL="1371600" lvl="2"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3pPr>
            <a:lvl4pPr marL="1828800" lvl="3"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4pPr>
            <a:lvl5pPr marL="2286000" lvl="4"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5pPr>
            <a:lvl6pPr marL="2743200" lvl="5"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6pPr>
            <a:lvl7pPr marL="3200400" lvl="6"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7pPr>
            <a:lvl8pPr marL="3657600" lvl="7"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8pPr>
            <a:lvl9pPr marL="4114800" lvl="8"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9pPr>
          </a:lstStyle>
          <a:p>
            <a:endParaRPr/>
          </a:p>
        </p:txBody>
      </p:sp>
      <p:sp>
        <p:nvSpPr>
          <p:cNvPr id="8" name="Google Shape;8;p1"/>
          <p:cNvSpPr txBox="1">
            <a:spLocks noGrp="1"/>
          </p:cNvSpPr>
          <p:nvPr>
            <p:ph type="sldNum" idx="12"/>
          </p:nvPr>
        </p:nvSpPr>
        <p:spPr>
          <a:xfrm>
            <a:off x="11364209" y="6437775"/>
            <a:ext cx="731600" cy="420300"/>
          </a:xfrm>
          <a:prstGeom prst="rect">
            <a:avLst/>
          </a:prstGeom>
          <a:noFill/>
          <a:ln>
            <a:noFill/>
          </a:ln>
        </p:spPr>
        <p:txBody>
          <a:bodyPr spcFirstLastPara="1" wrap="square" lIns="91425" tIns="91425" rIns="91425" bIns="91425" anchor="t" anchorCtr="0">
            <a:noAutofit/>
          </a:bodyPr>
          <a:lstStyle>
            <a:lvl1pPr lvl="0" algn="r">
              <a:buNone/>
              <a:defRPr sz="1200">
                <a:solidFill>
                  <a:srgbClr val="39C0BA"/>
                </a:solidFill>
                <a:latin typeface="Quicksand"/>
                <a:ea typeface="Quicksand"/>
                <a:cs typeface="Quicksand"/>
                <a:sym typeface="Quicksand"/>
              </a:defRPr>
            </a:lvl1pPr>
            <a:lvl2pPr lvl="1" algn="r">
              <a:buNone/>
              <a:defRPr sz="1200">
                <a:solidFill>
                  <a:srgbClr val="39C0BA"/>
                </a:solidFill>
                <a:latin typeface="Quicksand"/>
                <a:ea typeface="Quicksand"/>
                <a:cs typeface="Quicksand"/>
                <a:sym typeface="Quicksand"/>
              </a:defRPr>
            </a:lvl2pPr>
            <a:lvl3pPr lvl="2" algn="r">
              <a:buNone/>
              <a:defRPr sz="1200">
                <a:solidFill>
                  <a:srgbClr val="39C0BA"/>
                </a:solidFill>
                <a:latin typeface="Quicksand"/>
                <a:ea typeface="Quicksand"/>
                <a:cs typeface="Quicksand"/>
                <a:sym typeface="Quicksand"/>
              </a:defRPr>
            </a:lvl3pPr>
            <a:lvl4pPr lvl="3" algn="r">
              <a:buNone/>
              <a:defRPr sz="1200">
                <a:solidFill>
                  <a:srgbClr val="39C0BA"/>
                </a:solidFill>
                <a:latin typeface="Quicksand"/>
                <a:ea typeface="Quicksand"/>
                <a:cs typeface="Quicksand"/>
                <a:sym typeface="Quicksand"/>
              </a:defRPr>
            </a:lvl4pPr>
            <a:lvl5pPr lvl="4" algn="r">
              <a:buNone/>
              <a:defRPr sz="1200">
                <a:solidFill>
                  <a:srgbClr val="39C0BA"/>
                </a:solidFill>
                <a:latin typeface="Quicksand"/>
                <a:ea typeface="Quicksand"/>
                <a:cs typeface="Quicksand"/>
                <a:sym typeface="Quicksand"/>
              </a:defRPr>
            </a:lvl5pPr>
            <a:lvl6pPr lvl="5" algn="r">
              <a:buNone/>
              <a:defRPr sz="1200">
                <a:solidFill>
                  <a:srgbClr val="39C0BA"/>
                </a:solidFill>
                <a:latin typeface="Quicksand"/>
                <a:ea typeface="Quicksand"/>
                <a:cs typeface="Quicksand"/>
                <a:sym typeface="Quicksand"/>
              </a:defRPr>
            </a:lvl6pPr>
            <a:lvl7pPr lvl="6" algn="r">
              <a:buNone/>
              <a:defRPr sz="1200">
                <a:solidFill>
                  <a:srgbClr val="39C0BA"/>
                </a:solidFill>
                <a:latin typeface="Quicksand"/>
                <a:ea typeface="Quicksand"/>
                <a:cs typeface="Quicksand"/>
                <a:sym typeface="Quicksand"/>
              </a:defRPr>
            </a:lvl7pPr>
            <a:lvl8pPr lvl="7" algn="r">
              <a:buNone/>
              <a:defRPr sz="1200">
                <a:solidFill>
                  <a:srgbClr val="39C0BA"/>
                </a:solidFill>
                <a:latin typeface="Quicksand"/>
                <a:ea typeface="Quicksand"/>
                <a:cs typeface="Quicksand"/>
                <a:sym typeface="Quicksand"/>
              </a:defRPr>
            </a:lvl8pPr>
            <a:lvl9pPr lvl="8" algn="r">
              <a:buNone/>
              <a:defRPr sz="1200">
                <a:solidFill>
                  <a:srgbClr val="39C0BA"/>
                </a:solidFill>
                <a:latin typeface="Quicksand"/>
                <a:ea typeface="Quicksand"/>
                <a:cs typeface="Quicksand"/>
                <a:sym typeface="Quicksand"/>
              </a:defRPr>
            </a:lvl9pPr>
          </a:lstStyle>
          <a:p>
            <a:pPr marL="0" marR="0" lvl="0" indent="0" algn="r" defTabSz="91440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200" b="0" i="0" u="none" strike="noStrike" kern="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
                  <a:srgbClr val="000000"/>
                </a:buClr>
                <a:buSzTx/>
                <a:buFontTx/>
                <a:buNone/>
                <a:tabLst/>
                <a:defRPr/>
              </a:pPr>
              <a:t>‹#›</a:t>
            </a:fld>
            <a:endParaRPr kumimoji="0" lang="en" sz="1200" b="0" i="0" u="none" strike="noStrike" kern="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586372598"/>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fontScale="92500" lnSpcReduction="20000"/>
          </a:bodyPr>
          <a:lstStyle/>
          <a:p>
            <a:r>
              <a:rPr lang="en-IN" sz="4400" dirty="0" err="1">
                <a:latin typeface="Century Schoolbook" panose="02040604050505020304" pitchFamily="18" charset="0"/>
              </a:rPr>
              <a:t>Jiaul</a:t>
            </a:r>
            <a:r>
              <a:rPr lang="en-IN" sz="4400" dirty="0">
                <a:latin typeface="Century Schoolbook" panose="02040604050505020304" pitchFamily="18" charset="0"/>
              </a:rPr>
              <a:t> Paik</a:t>
            </a:r>
          </a:p>
          <a:p>
            <a:endParaRPr lang="en-IN" sz="4400" dirty="0">
              <a:latin typeface="Century Schoolbook" panose="02040604050505020304" pitchFamily="18" charset="0"/>
            </a:endParaRPr>
          </a:p>
          <a:p>
            <a:r>
              <a:rPr lang="en-IN" sz="3200" dirty="0">
                <a:latin typeface="Century Schoolbook" panose="02040604050505020304" pitchFamily="18" charset="0"/>
              </a:rPr>
              <a:t>Lecture 12</a:t>
            </a: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3323" y="2842329"/>
            <a:ext cx="9220200" cy="762518"/>
          </a:xfrm>
        </p:spPr>
        <p:txBody>
          <a:bodyPr>
            <a:normAutofit fontScale="90000"/>
          </a:bodyPr>
          <a:lstStyle/>
          <a:p>
            <a:pPr algn="ctr"/>
            <a:br>
              <a:rPr lang="en-US" sz="4000" dirty="0"/>
            </a:br>
            <a:r>
              <a:rPr lang="en-US" sz="4000" dirty="0"/>
              <a:t>Graph (Network) Data Processing</a:t>
            </a:r>
          </a:p>
        </p:txBody>
      </p:sp>
      <p:sp>
        <p:nvSpPr>
          <p:cNvPr id="3" name="TextBox 2">
            <a:extLst>
              <a:ext uri="{FF2B5EF4-FFF2-40B4-BE49-F238E27FC236}">
                <a16:creationId xmlns:a16="http://schemas.microsoft.com/office/drawing/2014/main" id="{4FF9590C-2C0E-7F41-1CED-0DBFF9234B73}"/>
              </a:ext>
            </a:extLst>
          </p:cNvPr>
          <p:cNvSpPr txBox="1"/>
          <p:nvPr/>
        </p:nvSpPr>
        <p:spPr>
          <a:xfrm>
            <a:off x="1383323" y="4194928"/>
            <a:ext cx="8863613" cy="932307"/>
          </a:xfrm>
          <a:prstGeom prst="rect">
            <a:avLst/>
          </a:prstGeom>
          <a:noFill/>
        </p:spPr>
        <p:txBody>
          <a:bodyPr wrap="square" rtlCol="0">
            <a:spAutoFit/>
          </a:bodyPr>
          <a:lstStyle/>
          <a:p>
            <a:pPr algn="l">
              <a:lnSpc>
                <a:spcPts val="1650"/>
              </a:lnSpc>
              <a:spcBef>
                <a:spcPts val="750"/>
              </a:spcBef>
              <a:spcAft>
                <a:spcPts val="600"/>
              </a:spcAft>
            </a:pPr>
            <a:r>
              <a:rPr lang="en-US" b="1" i="0" dirty="0">
                <a:effectLst/>
                <a:latin typeface="Google Sans"/>
              </a:rPr>
              <a:t>Complete Graph:</a:t>
            </a:r>
            <a:endParaRPr lang="en-US" b="0" i="0" dirty="0">
              <a:effectLst/>
              <a:latin typeface="Google Sans"/>
            </a:endParaRPr>
          </a:p>
          <a:p>
            <a:pPr algn="l">
              <a:lnSpc>
                <a:spcPts val="1650"/>
              </a:lnSpc>
              <a:spcBef>
                <a:spcPts val="750"/>
              </a:spcBef>
              <a:spcAft>
                <a:spcPts val="600"/>
              </a:spcAft>
            </a:pPr>
            <a:r>
              <a:rPr lang="en-US" b="0" i="0" dirty="0">
                <a:effectLst/>
                <a:latin typeface="Google Sans"/>
              </a:rPr>
              <a:t>A complete graph on n vertices has n(n-1)/2 edges, where all vertices are connected to each other.</a:t>
            </a:r>
          </a:p>
        </p:txBody>
      </p:sp>
    </p:spTree>
    <p:extLst>
      <p:ext uri="{BB962C8B-B14F-4D97-AF65-F5344CB8AC3E}">
        <p14:creationId xmlns:p14="http://schemas.microsoft.com/office/powerpoint/2010/main" val="3870968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1507" y="133739"/>
            <a:ext cx="9875520" cy="533400"/>
          </a:xfrm>
        </p:spPr>
        <p:txBody>
          <a:bodyPr>
            <a:noAutofit/>
          </a:bodyPr>
          <a:lstStyle/>
          <a:p>
            <a:br>
              <a:rPr lang="en-US" dirty="0">
                <a:solidFill>
                  <a:srgbClr val="00B050"/>
                </a:solidFill>
              </a:rPr>
            </a:br>
            <a:r>
              <a:rPr lang="en-US" dirty="0">
                <a:solidFill>
                  <a:srgbClr val="00B050"/>
                </a:solidFill>
              </a:rPr>
              <a:t>Agenda</a:t>
            </a:r>
          </a:p>
        </p:txBody>
      </p:sp>
      <p:sp>
        <p:nvSpPr>
          <p:cNvPr id="4" name="Content Placeholder 3"/>
          <p:cNvSpPr>
            <a:spLocks noGrp="1"/>
          </p:cNvSpPr>
          <p:nvPr>
            <p:ph idx="1"/>
          </p:nvPr>
        </p:nvSpPr>
        <p:spPr>
          <a:xfrm>
            <a:off x="1158241" y="914400"/>
            <a:ext cx="9875520" cy="5562600"/>
          </a:xfrm>
        </p:spPr>
        <p:txBody>
          <a:bodyPr/>
          <a:lstStyle/>
          <a:p>
            <a:pPr>
              <a:buClr>
                <a:srgbClr val="002060"/>
              </a:buClr>
              <a:buFont typeface="Arial" panose="020B0604020202020204" pitchFamily="34" charset="0"/>
              <a:buChar char="•"/>
            </a:pPr>
            <a:r>
              <a:rPr lang="en-US" sz="3200" dirty="0">
                <a:latin typeface="+mj-lt"/>
              </a:rPr>
              <a:t>Basics of Graph Structure</a:t>
            </a:r>
          </a:p>
          <a:p>
            <a:pPr>
              <a:buClr>
                <a:srgbClr val="002060"/>
              </a:buClr>
              <a:buFont typeface="Arial" panose="020B0604020202020204" pitchFamily="34" charset="0"/>
              <a:buChar char="•"/>
            </a:pPr>
            <a:endParaRPr lang="en-US" sz="3200" dirty="0">
              <a:latin typeface="+mj-lt"/>
            </a:endParaRPr>
          </a:p>
          <a:p>
            <a:r>
              <a:rPr lang="en-US" sz="3200" dirty="0"/>
              <a:t>Motivation </a:t>
            </a:r>
            <a:endParaRPr lang="en-US" sz="3200" dirty="0">
              <a:latin typeface="+mj-lt"/>
            </a:endParaRPr>
          </a:p>
          <a:p>
            <a:endParaRPr lang="en-US" sz="3200" dirty="0">
              <a:latin typeface="+mj-lt"/>
            </a:endParaRPr>
          </a:p>
          <a:p>
            <a:r>
              <a:rPr lang="en-US" sz="3200" dirty="0">
                <a:latin typeface="+mj-lt"/>
              </a:rPr>
              <a:t>Algorithms</a:t>
            </a:r>
          </a:p>
          <a:p>
            <a:pPr lvl="1"/>
            <a:endParaRPr lang="en-US" sz="3200" dirty="0">
              <a:latin typeface="+mj-lt"/>
            </a:endParaRPr>
          </a:p>
          <a:p>
            <a:pPr marL="533400" lvl="1" indent="0">
              <a:buNone/>
            </a:pPr>
            <a:r>
              <a:rPr lang="en-US" dirty="0">
                <a:latin typeface="+mj-lt"/>
              </a:rPr>
              <a:t> Graph Partitioning for community discovery</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2914266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Graph Basics</a:t>
            </a:r>
          </a:p>
        </p:txBody>
      </p:sp>
      <p:sp>
        <p:nvSpPr>
          <p:cNvPr id="3" name="Content Placeholder 2"/>
          <p:cNvSpPr>
            <a:spLocks noGrp="1"/>
          </p:cNvSpPr>
          <p:nvPr>
            <p:ph idx="1"/>
          </p:nvPr>
        </p:nvSpPr>
        <p:spPr>
          <a:xfrm>
            <a:off x="1143000" y="914400"/>
            <a:ext cx="9875520" cy="5486400"/>
          </a:xfrm>
        </p:spPr>
        <p:txBody>
          <a:bodyPr/>
          <a:lstStyle/>
          <a:p>
            <a:r>
              <a:rPr lang="en-US" dirty="0"/>
              <a:t>A graph is composed of two things</a:t>
            </a:r>
          </a:p>
          <a:p>
            <a:pPr marL="562551" lvl="1" indent="-342900">
              <a:buFont typeface="+mj-lt"/>
              <a:buAutoNum type="arabicPeriod"/>
            </a:pPr>
            <a:r>
              <a:rPr lang="en-US" dirty="0"/>
              <a:t>Set of objects (called </a:t>
            </a:r>
            <a:r>
              <a:rPr lang="en-US" dirty="0">
                <a:solidFill>
                  <a:srgbClr val="C00000"/>
                </a:solidFill>
              </a:rPr>
              <a:t>nodes</a:t>
            </a:r>
            <a:r>
              <a:rPr lang="en-US" dirty="0"/>
              <a:t> of the graph)</a:t>
            </a:r>
          </a:p>
          <a:p>
            <a:pPr marL="562551" lvl="1" indent="-342900">
              <a:buFont typeface="+mj-lt"/>
              <a:buAutoNum type="arabicPeriod"/>
            </a:pPr>
            <a:r>
              <a:rPr lang="en-US" dirty="0"/>
              <a:t>Set of connections (called </a:t>
            </a:r>
            <a:r>
              <a:rPr lang="en-US" dirty="0">
                <a:solidFill>
                  <a:srgbClr val="C00000"/>
                </a:solidFill>
              </a:rPr>
              <a:t>edges</a:t>
            </a:r>
            <a:r>
              <a:rPr lang="en-US" dirty="0"/>
              <a:t> of the graph)</a:t>
            </a:r>
          </a:p>
          <a:p>
            <a:pPr marL="562551" lvl="1" indent="-342900">
              <a:buFont typeface="+mj-lt"/>
              <a:buAutoNum type="arabicPeriod"/>
            </a:pPr>
            <a:endParaRPr lang="en-US" dirty="0"/>
          </a:p>
        </p:txBody>
      </p:sp>
      <p:pic>
        <p:nvPicPr>
          <p:cNvPr id="4" name="Picture 3"/>
          <p:cNvPicPr>
            <a:picLocks noChangeAspect="1"/>
          </p:cNvPicPr>
          <p:nvPr/>
        </p:nvPicPr>
        <p:blipFill>
          <a:blip r:embed="rId2"/>
          <a:stretch>
            <a:fillRect/>
          </a:stretch>
        </p:blipFill>
        <p:spPr>
          <a:xfrm>
            <a:off x="3657601" y="2699266"/>
            <a:ext cx="2895601" cy="2247900"/>
          </a:xfrm>
          <a:prstGeom prst="rect">
            <a:avLst/>
          </a:prstGeom>
        </p:spPr>
      </p:pic>
      <p:cxnSp>
        <p:nvCxnSpPr>
          <p:cNvPr id="6" name="Straight Arrow Connector 5"/>
          <p:cNvCxnSpPr/>
          <p:nvPr/>
        </p:nvCxnSpPr>
        <p:spPr>
          <a:xfrm flipV="1">
            <a:off x="5943599" y="2699266"/>
            <a:ext cx="1295400" cy="228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p:cNvSpPr txBox="1"/>
          <p:nvPr/>
        </p:nvSpPr>
        <p:spPr>
          <a:xfrm>
            <a:off x="7391401" y="2514600"/>
            <a:ext cx="6976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node</a:t>
            </a:r>
          </a:p>
        </p:txBody>
      </p:sp>
      <p:cxnSp>
        <p:nvCxnSpPr>
          <p:cNvPr id="11" name="Straight Arrow Connector 10"/>
          <p:cNvCxnSpPr/>
          <p:nvPr/>
        </p:nvCxnSpPr>
        <p:spPr>
          <a:xfrm flipV="1">
            <a:off x="5943599" y="3385066"/>
            <a:ext cx="1447800" cy="228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7608174" y="3200400"/>
            <a:ext cx="6976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edge</a:t>
            </a:r>
          </a:p>
        </p:txBody>
      </p:sp>
      <p:sp>
        <p:nvSpPr>
          <p:cNvPr id="5" name="TextBox 4"/>
          <p:cNvSpPr txBox="1"/>
          <p:nvPr/>
        </p:nvSpPr>
        <p:spPr>
          <a:xfrm>
            <a:off x="1752601" y="5334001"/>
            <a:ext cx="526137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Arial"/>
                <a:ea typeface="+mn-ea"/>
                <a:cs typeface="+mn-cs"/>
              </a:rPr>
              <a:t>Degree of a node = # adjacent nodes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Arial"/>
                <a:ea typeface="+mn-ea"/>
                <a:cs typeface="+mn-cs"/>
              </a:rPr>
              <a:t>Example: Degree(B) = 3</a:t>
            </a:r>
          </a:p>
        </p:txBody>
      </p:sp>
    </p:spTree>
    <p:extLst>
      <p:ext uri="{BB962C8B-B14F-4D97-AF65-F5344CB8AC3E}">
        <p14:creationId xmlns:p14="http://schemas.microsoft.com/office/powerpoint/2010/main" val="1589267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Types of Graph</a:t>
            </a:r>
          </a:p>
        </p:txBody>
      </p:sp>
      <p:sp>
        <p:nvSpPr>
          <p:cNvPr id="3" name="Content Placeholder 2"/>
          <p:cNvSpPr>
            <a:spLocks noGrp="1"/>
          </p:cNvSpPr>
          <p:nvPr>
            <p:ph idx="1"/>
          </p:nvPr>
        </p:nvSpPr>
        <p:spPr>
          <a:xfrm>
            <a:off x="1143000" y="1019504"/>
            <a:ext cx="9372600" cy="5457496"/>
          </a:xfrm>
        </p:spPr>
        <p:txBody>
          <a:bodyPr/>
          <a:lstStyle/>
          <a:p>
            <a:r>
              <a:rPr lang="en-US" dirty="0"/>
              <a:t>Un-weighted</a:t>
            </a:r>
          </a:p>
          <a:p>
            <a:pPr lvl="1"/>
            <a:r>
              <a:rPr lang="en-US" dirty="0"/>
              <a:t>Edges do not have weight</a:t>
            </a:r>
          </a:p>
          <a:p>
            <a:pPr lvl="2"/>
            <a:r>
              <a:rPr lang="en-US" dirty="0"/>
              <a:t>Edges simply say whether two objects </a:t>
            </a:r>
          </a:p>
          <a:p>
            <a:pPr marL="439303" lvl="2" indent="0">
              <a:buNone/>
            </a:pPr>
            <a:r>
              <a:rPr lang="en-US" dirty="0"/>
              <a:t>    are connected or not.</a:t>
            </a:r>
          </a:p>
          <a:p>
            <a:pPr marL="533400" lvl="1" indent="0">
              <a:buNone/>
            </a:pPr>
            <a:endParaRPr lang="en-US" dirty="0"/>
          </a:p>
          <a:p>
            <a:pPr lvl="1"/>
            <a:endParaRPr lang="en-US" dirty="0"/>
          </a:p>
          <a:p>
            <a:r>
              <a:rPr lang="en-US" dirty="0"/>
              <a:t>Weighted</a:t>
            </a:r>
          </a:p>
          <a:p>
            <a:pPr lvl="1"/>
            <a:r>
              <a:rPr lang="en-US" dirty="0"/>
              <a:t>Edges have weight</a:t>
            </a:r>
          </a:p>
          <a:p>
            <a:pPr lvl="1"/>
            <a:r>
              <a:rPr lang="en-US" dirty="0"/>
              <a:t>Examples:</a:t>
            </a:r>
          </a:p>
          <a:p>
            <a:pPr lvl="2"/>
            <a:r>
              <a:rPr lang="en-US" dirty="0"/>
              <a:t>Email communication network</a:t>
            </a:r>
          </a:p>
          <a:p>
            <a:pPr lvl="3"/>
            <a:r>
              <a:rPr lang="en-US" dirty="0"/>
              <a:t>How often two persons exchanging emails?</a:t>
            </a:r>
          </a:p>
          <a:p>
            <a:pPr lvl="2"/>
            <a:r>
              <a:rPr lang="en-US" dirty="0"/>
              <a:t>City and Road network</a:t>
            </a:r>
          </a:p>
          <a:p>
            <a:pPr lvl="3"/>
            <a:r>
              <a:rPr lang="en-US" dirty="0"/>
              <a:t>Edge weight: the distance between two cities</a:t>
            </a:r>
          </a:p>
        </p:txBody>
      </p:sp>
      <p:pic>
        <p:nvPicPr>
          <p:cNvPr id="4" name="Picture 3"/>
          <p:cNvPicPr>
            <a:picLocks noChangeAspect="1"/>
          </p:cNvPicPr>
          <p:nvPr/>
        </p:nvPicPr>
        <p:blipFill>
          <a:blip r:embed="rId2"/>
          <a:stretch>
            <a:fillRect/>
          </a:stretch>
        </p:blipFill>
        <p:spPr>
          <a:xfrm>
            <a:off x="7993600" y="3581400"/>
            <a:ext cx="3004139" cy="2296510"/>
          </a:xfrm>
          <a:prstGeom prst="rect">
            <a:avLst/>
          </a:prstGeom>
        </p:spPr>
      </p:pic>
      <p:pic>
        <p:nvPicPr>
          <p:cNvPr id="5" name="Picture 4"/>
          <p:cNvPicPr>
            <a:picLocks noChangeAspect="1"/>
          </p:cNvPicPr>
          <p:nvPr/>
        </p:nvPicPr>
        <p:blipFill>
          <a:blip r:embed="rId3"/>
          <a:stretch>
            <a:fillRect/>
          </a:stretch>
        </p:blipFill>
        <p:spPr>
          <a:xfrm>
            <a:off x="7993599" y="820854"/>
            <a:ext cx="2445801" cy="2328213"/>
          </a:xfrm>
          <a:prstGeom prst="rect">
            <a:avLst/>
          </a:prstGeom>
        </p:spPr>
      </p:pic>
    </p:spTree>
    <p:extLst>
      <p:ext uri="{BB962C8B-B14F-4D97-AF65-F5344CB8AC3E}">
        <p14:creationId xmlns:p14="http://schemas.microsoft.com/office/powerpoint/2010/main" val="1662606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B050"/>
                </a:solidFill>
              </a:rPr>
              <a:t>Representing Graph</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p:cNvSpPr txBox="1"/>
          <p:nvPr/>
        </p:nvSpPr>
        <p:spPr>
          <a:xfrm>
            <a:off x="1371601" y="1610380"/>
            <a:ext cx="30219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rial"/>
                <a:ea typeface="+mn-ea"/>
                <a:cs typeface="+mn-cs"/>
              </a:rPr>
              <a:t>Adjacency matrix:</a:t>
            </a:r>
          </a:p>
        </p:txBody>
      </p:sp>
      <p:pic>
        <p:nvPicPr>
          <p:cNvPr id="3074" name="Picture 2" descr="Image result for adjacency matr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1" y="811709"/>
            <a:ext cx="4742757" cy="18584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524000" y="3962400"/>
            <a:ext cx="248177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rial"/>
                <a:ea typeface="+mn-ea"/>
                <a:cs typeface="+mn-cs"/>
              </a:rPr>
              <a:t>Adjacency list:</a:t>
            </a:r>
          </a:p>
        </p:txBody>
      </p:sp>
      <p:pic>
        <p:nvPicPr>
          <p:cNvPr id="3076" name="Picture 4" descr="Image result for adjacency li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410" y="3457899"/>
            <a:ext cx="4815190" cy="2133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449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667" y="250937"/>
            <a:ext cx="10972800" cy="663388"/>
          </a:xfrm>
        </p:spPr>
        <p:txBody>
          <a:bodyPr/>
          <a:lstStyle/>
          <a:p>
            <a:br>
              <a:rPr lang="en-IN" sz="4000" dirty="0">
                <a:solidFill>
                  <a:srgbClr val="00B050"/>
                </a:solidFill>
              </a:rPr>
            </a:br>
            <a:br>
              <a:rPr lang="en-IN" sz="4000" dirty="0">
                <a:solidFill>
                  <a:srgbClr val="00B050"/>
                </a:solidFill>
              </a:rPr>
            </a:br>
            <a:r>
              <a:rPr lang="en-IN" sz="4000" dirty="0">
                <a:solidFill>
                  <a:srgbClr val="00B050"/>
                </a:solidFill>
              </a:rPr>
              <a:t>Why Study Graphs?</a:t>
            </a:r>
          </a:p>
        </p:txBody>
      </p:sp>
      <p:sp>
        <p:nvSpPr>
          <p:cNvPr id="3" name="Content Placeholder 2"/>
          <p:cNvSpPr>
            <a:spLocks noGrp="1"/>
          </p:cNvSpPr>
          <p:nvPr>
            <p:ph idx="1"/>
          </p:nvPr>
        </p:nvSpPr>
        <p:spPr/>
        <p:txBody>
          <a:bodyPr/>
          <a:lstStyle/>
          <a:p>
            <a:r>
              <a:rPr lang="en-IN" dirty="0"/>
              <a:t>Many real-life data and problems are modelled as graph structure</a:t>
            </a:r>
          </a:p>
          <a:p>
            <a:endParaRPr lang="en-IN" dirty="0"/>
          </a:p>
          <a:p>
            <a:pPr lvl="1"/>
            <a:r>
              <a:rPr lang="en-US" dirty="0"/>
              <a:t>Facebook friendship network </a:t>
            </a:r>
          </a:p>
          <a:p>
            <a:pPr lvl="1"/>
            <a:endParaRPr lang="en-US" dirty="0"/>
          </a:p>
          <a:p>
            <a:pPr lvl="1"/>
            <a:r>
              <a:rPr lang="en-US" dirty="0"/>
              <a:t>Communities in question-answering website like </a:t>
            </a:r>
            <a:r>
              <a:rPr lang="en-US" dirty="0" err="1"/>
              <a:t>Quora</a:t>
            </a:r>
            <a:endParaRPr lang="en-US" dirty="0"/>
          </a:p>
          <a:p>
            <a:pPr lvl="1"/>
            <a:endParaRPr lang="en-IN" dirty="0"/>
          </a:p>
          <a:p>
            <a:pPr lvl="1"/>
            <a:r>
              <a:rPr lang="en-IN" dirty="0"/>
              <a:t>And so on..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7" name="TextBox 6">
            <a:extLst>
              <a:ext uri="{FF2B5EF4-FFF2-40B4-BE49-F238E27FC236}">
                <a16:creationId xmlns:a16="http://schemas.microsoft.com/office/drawing/2014/main" id="{FB1AF7FC-13BA-28BE-5F69-8A9D31392837}"/>
              </a:ext>
            </a:extLst>
          </p:cNvPr>
          <p:cNvSpPr txBox="1"/>
          <p:nvPr/>
        </p:nvSpPr>
        <p:spPr>
          <a:xfrm>
            <a:off x="454626" y="4596824"/>
            <a:ext cx="11641183" cy="584775"/>
          </a:xfrm>
          <a:prstGeom prst="rect">
            <a:avLst/>
          </a:prstGeom>
          <a:noFill/>
        </p:spPr>
        <p:txBody>
          <a:bodyPr wrap="square" rtlCol="0">
            <a:spAutoFit/>
          </a:bodyPr>
          <a:lstStyle/>
          <a:p>
            <a:r>
              <a:rPr lang="en-US" sz="1600" dirty="0"/>
              <a:t>When we are posting a particular question and someone is trying to answer that question based on this, we can find out relevant communities on Quora so that we can throw our question to appropriate communities for getting better answers.</a:t>
            </a:r>
          </a:p>
        </p:txBody>
      </p:sp>
    </p:spTree>
    <p:extLst>
      <p:ext uri="{BB962C8B-B14F-4D97-AF65-F5344CB8AC3E}">
        <p14:creationId xmlns:p14="http://schemas.microsoft.com/office/powerpoint/2010/main" val="1570612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EDD84E-25D4-4983-8AA1-2863C96F08D9}" type="slidenum">
              <a:rPr kumimoji="0" lang="ko-KR" alt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ko-KR" altLang="en-US" sz="1200" b="0" i="0" u="none" strike="noStrike" kern="1200" cap="none" spc="0" normalizeH="0" baseline="0" noProof="0">
              <a:ln>
                <a:noFill/>
              </a:ln>
              <a:solidFill>
                <a:srgbClr val="39C0BA"/>
              </a:solidFill>
              <a:effectLst/>
              <a:uLnTx/>
              <a:uFillTx/>
              <a:latin typeface="Quicksand"/>
              <a:sym typeface="Quicksand"/>
            </a:endParaRPr>
          </a:p>
        </p:txBody>
      </p:sp>
      <p:sp>
        <p:nvSpPr>
          <p:cNvPr id="3" name="Title 2"/>
          <p:cNvSpPr>
            <a:spLocks noGrp="1"/>
          </p:cNvSpPr>
          <p:nvPr>
            <p:ph type="title"/>
          </p:nvPr>
        </p:nvSpPr>
        <p:spPr>
          <a:xfrm>
            <a:off x="255037" y="90975"/>
            <a:ext cx="8229600" cy="656255"/>
          </a:xfrm>
        </p:spPr>
        <p:txBody>
          <a:bodyPr/>
          <a:lstStyle/>
          <a:p>
            <a:r>
              <a:rPr lang="en-US" dirty="0">
                <a:solidFill>
                  <a:srgbClr val="00B050"/>
                </a:solidFill>
              </a:rPr>
              <a:t>Graph and Communities</a:t>
            </a:r>
          </a:p>
        </p:txBody>
      </p:sp>
      <p:pic>
        <p:nvPicPr>
          <p:cNvPr id="5" name="Picture 4">
            <a:extLst>
              <a:ext uri="{FF2B5EF4-FFF2-40B4-BE49-F238E27FC236}">
                <a16:creationId xmlns:a16="http://schemas.microsoft.com/office/drawing/2014/main" id="{DAA3C5D7-AD61-4CDF-AE09-B50537180B46}"/>
              </a:ext>
            </a:extLst>
          </p:cNvPr>
          <p:cNvPicPr>
            <a:picLocks noChangeAspect="1"/>
          </p:cNvPicPr>
          <p:nvPr/>
        </p:nvPicPr>
        <p:blipFill>
          <a:blip r:embed="rId2"/>
          <a:stretch>
            <a:fillRect/>
          </a:stretch>
        </p:blipFill>
        <p:spPr>
          <a:xfrm>
            <a:off x="2377569" y="1066800"/>
            <a:ext cx="6407844" cy="4983878"/>
          </a:xfrm>
          <a:prstGeom prst="rect">
            <a:avLst/>
          </a:prstGeom>
        </p:spPr>
      </p:pic>
      <p:sp>
        <p:nvSpPr>
          <p:cNvPr id="2" name="TextBox 1">
            <a:extLst>
              <a:ext uri="{FF2B5EF4-FFF2-40B4-BE49-F238E27FC236}">
                <a16:creationId xmlns:a16="http://schemas.microsoft.com/office/drawing/2014/main" id="{A2D95912-F8D4-C88C-CE23-9762968E1E39}"/>
              </a:ext>
            </a:extLst>
          </p:cNvPr>
          <p:cNvSpPr txBox="1"/>
          <p:nvPr/>
        </p:nvSpPr>
        <p:spPr>
          <a:xfrm>
            <a:off x="6705520" y="238145"/>
            <a:ext cx="4754880" cy="646331"/>
          </a:xfrm>
          <a:prstGeom prst="rect">
            <a:avLst/>
          </a:prstGeom>
          <a:noFill/>
        </p:spPr>
        <p:txBody>
          <a:bodyPr wrap="square" rtlCol="0">
            <a:spAutoFit/>
          </a:bodyPr>
          <a:lstStyle/>
          <a:p>
            <a:r>
              <a:rPr lang="en-US" dirty="0"/>
              <a:t>Communities mean connections b/w group of nodes dense in comparison to other regions.</a:t>
            </a:r>
          </a:p>
        </p:txBody>
      </p:sp>
    </p:spTree>
    <p:extLst>
      <p:ext uri="{BB962C8B-B14F-4D97-AF65-F5344CB8AC3E}">
        <p14:creationId xmlns:p14="http://schemas.microsoft.com/office/powerpoint/2010/main" val="4087270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931" y="2799184"/>
            <a:ext cx="10478278" cy="765110"/>
          </a:xfrm>
        </p:spPr>
        <p:txBody>
          <a:bodyPr/>
          <a:lstStyle/>
          <a:p>
            <a:pPr algn="ctr"/>
            <a:r>
              <a:rPr lang="en-US" sz="4000" dirty="0">
                <a:solidFill>
                  <a:srgbClr val="00B050"/>
                </a:solidFill>
              </a:rPr>
              <a:t>Graph Partitioning for Community Discovery </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3" name="TextBox 2">
            <a:extLst>
              <a:ext uri="{FF2B5EF4-FFF2-40B4-BE49-F238E27FC236}">
                <a16:creationId xmlns:a16="http://schemas.microsoft.com/office/drawing/2014/main" id="{6A27C6EE-011F-FDAC-9EC8-756183DAA504}"/>
              </a:ext>
            </a:extLst>
          </p:cNvPr>
          <p:cNvSpPr txBox="1"/>
          <p:nvPr/>
        </p:nvSpPr>
        <p:spPr>
          <a:xfrm>
            <a:off x="518160" y="4023360"/>
            <a:ext cx="10846049" cy="646331"/>
          </a:xfrm>
          <a:prstGeom prst="rect">
            <a:avLst/>
          </a:prstGeom>
          <a:noFill/>
        </p:spPr>
        <p:txBody>
          <a:bodyPr wrap="square" rtlCol="0">
            <a:spAutoFit/>
          </a:bodyPr>
          <a:lstStyle/>
          <a:p>
            <a:r>
              <a:rPr lang="en-US" dirty="0"/>
              <a:t>How to partition a particular graph so that we can find out communities in the graph? </a:t>
            </a:r>
          </a:p>
          <a:p>
            <a:endParaRPr lang="en-US" dirty="0"/>
          </a:p>
        </p:txBody>
      </p:sp>
    </p:spTree>
    <p:extLst>
      <p:ext uri="{BB962C8B-B14F-4D97-AF65-F5344CB8AC3E}">
        <p14:creationId xmlns:p14="http://schemas.microsoft.com/office/powerpoint/2010/main" val="2848184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2" y="1219200"/>
            <a:ext cx="6767897"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슬라이드 번호 개체 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EDD84E-25D4-4983-8AA1-2863C96F08D9}" type="slidenum">
              <a:rPr kumimoji="0" lang="ko-KR" alt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ko-KR" altLang="en-US" sz="1200" b="0" i="0" u="none" strike="noStrike" kern="1200" cap="none" spc="0" normalizeH="0" baseline="0" noProof="0">
              <a:ln>
                <a:noFill/>
              </a:ln>
              <a:solidFill>
                <a:srgbClr val="39C0BA"/>
              </a:solidFill>
              <a:effectLst/>
              <a:uLnTx/>
              <a:uFillTx/>
              <a:latin typeface="Quicksand"/>
              <a:sym typeface="Quicksand"/>
            </a:endParaRPr>
          </a:p>
        </p:txBody>
      </p:sp>
      <p:sp>
        <p:nvSpPr>
          <p:cNvPr id="10" name="TextBox 9"/>
          <p:cNvSpPr txBox="1"/>
          <p:nvPr/>
        </p:nvSpPr>
        <p:spPr>
          <a:xfrm>
            <a:off x="7056583" y="5297313"/>
            <a:ext cx="45997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rgbClr val="00B050"/>
                </a:solidFill>
                <a:effectLst/>
                <a:uLnTx/>
                <a:uFillTx/>
                <a:latin typeface="Arial"/>
                <a:ea typeface="맑은 고딕" panose="020B0503020000020004" pitchFamily="34" charset="-127"/>
                <a:cs typeface="+mn-cs"/>
              </a:rPr>
              <a:t>Nodes</a:t>
            </a:r>
            <a:r>
              <a:rPr kumimoji="0" lang="en-US" altLang="ko-KR" sz="2400" b="1" i="0" u="none" strike="noStrike" kern="1200" cap="none" spc="0" normalizeH="0" baseline="0" noProof="0" dirty="0">
                <a:ln>
                  <a:noFill/>
                </a:ln>
                <a:solidFill>
                  <a:prstClr val="black"/>
                </a:solidFill>
                <a:effectLst/>
                <a:uLnTx/>
                <a:uFillTx/>
                <a:latin typeface="Arial"/>
                <a:ea typeface="맑은 고딕" panose="020B0503020000020004" pitchFamily="34" charset="-127"/>
                <a:cs typeface="+mn-cs"/>
              </a:rPr>
              <a:t>: Proteins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rgbClr val="00B050"/>
                </a:solidFill>
                <a:effectLst/>
                <a:uLnTx/>
                <a:uFillTx/>
                <a:latin typeface="Arial"/>
                <a:ea typeface="맑은 고딕" panose="020B0503020000020004" pitchFamily="34" charset="-127"/>
                <a:cs typeface="+mn-cs"/>
              </a:rPr>
              <a:t>Edges</a:t>
            </a:r>
            <a:r>
              <a:rPr kumimoji="0" lang="en-US" altLang="ko-KR" sz="2400" b="1" i="0" u="none" strike="noStrike" kern="1200" cap="none" spc="0" normalizeH="0" baseline="0" noProof="0" dirty="0">
                <a:ln>
                  <a:noFill/>
                </a:ln>
                <a:solidFill>
                  <a:prstClr val="black"/>
                </a:solidFill>
                <a:effectLst/>
                <a:uLnTx/>
                <a:uFillTx/>
                <a:latin typeface="Arial"/>
                <a:ea typeface="맑은 고딕" panose="020B0503020000020004" pitchFamily="34" charset="-127"/>
                <a:cs typeface="+mn-cs"/>
              </a:rPr>
              <a:t>: Physical interactions</a:t>
            </a:r>
            <a:endParaRPr kumimoji="0" lang="ko-KR" altLang="en-US" sz="2400" b="1" i="0" u="none" strike="noStrike" kern="1200" cap="none" spc="0" normalizeH="0" baseline="0" noProof="0" dirty="0">
              <a:ln>
                <a:noFill/>
              </a:ln>
              <a:solidFill>
                <a:prstClr val="black"/>
              </a:solidFill>
              <a:effectLst/>
              <a:uLnTx/>
              <a:uFillTx/>
              <a:latin typeface="Arial"/>
              <a:ea typeface="맑은 고딕" panose="020B0503020000020004" pitchFamily="34" charset="-127"/>
              <a:cs typeface="+mn-cs"/>
            </a:endParaRPr>
          </a:p>
        </p:txBody>
      </p:sp>
      <p:sp>
        <p:nvSpPr>
          <p:cNvPr id="3" name="Title 2"/>
          <p:cNvSpPr>
            <a:spLocks noGrp="1"/>
          </p:cNvSpPr>
          <p:nvPr>
            <p:ph type="title"/>
          </p:nvPr>
        </p:nvSpPr>
        <p:spPr>
          <a:xfrm>
            <a:off x="514927" y="202157"/>
            <a:ext cx="8229600" cy="680683"/>
          </a:xfrm>
        </p:spPr>
        <p:txBody>
          <a:bodyPr/>
          <a:lstStyle/>
          <a:p>
            <a:r>
              <a:rPr lang="en-US" b="1" dirty="0">
                <a:solidFill>
                  <a:srgbClr val="00B050"/>
                </a:solidFill>
              </a:rPr>
              <a:t>Protein-Protein interaction networks</a:t>
            </a:r>
          </a:p>
        </p:txBody>
      </p:sp>
      <p:sp>
        <p:nvSpPr>
          <p:cNvPr id="7" name="TextBox 6"/>
          <p:cNvSpPr txBox="1"/>
          <p:nvPr/>
        </p:nvSpPr>
        <p:spPr>
          <a:xfrm>
            <a:off x="8927184" y="6348317"/>
            <a:ext cx="2412840" cy="276999"/>
          </a:xfrm>
          <a:prstGeom prst="rect">
            <a:avLst/>
          </a:prstGeom>
          <a:noFill/>
        </p:spPr>
        <p:txBody>
          <a:bodyPr wrap="none" rtlCol="0">
            <a:spAutoFit/>
          </a:bodyPr>
          <a:lstStyle/>
          <a:p>
            <a:r>
              <a:rPr lang="en-IN" sz="1200" dirty="0"/>
              <a:t>Source: Jure </a:t>
            </a:r>
            <a:r>
              <a:rPr lang="en-IN" sz="1200" dirty="0" err="1"/>
              <a:t>Leskovec</a:t>
            </a:r>
            <a:r>
              <a:rPr lang="en-IN" sz="1200" dirty="0"/>
              <a:t>, Stanford</a:t>
            </a:r>
          </a:p>
        </p:txBody>
      </p:sp>
      <p:sp>
        <p:nvSpPr>
          <p:cNvPr id="2" name="TextBox 1"/>
          <p:cNvSpPr txBox="1"/>
          <p:nvPr/>
        </p:nvSpPr>
        <p:spPr>
          <a:xfrm>
            <a:off x="7165624" y="980029"/>
            <a:ext cx="4198585" cy="369332"/>
          </a:xfrm>
          <a:prstGeom prst="rect">
            <a:avLst/>
          </a:prstGeom>
          <a:noFill/>
        </p:spPr>
        <p:txBody>
          <a:bodyPr wrap="none" rtlCol="0">
            <a:spAutoFit/>
          </a:bodyPr>
          <a:lstStyle/>
          <a:p>
            <a:pPr lvl="0"/>
            <a:r>
              <a:rPr lang="en-US" altLang="ko-KR" b="1" dirty="0">
                <a:solidFill>
                  <a:srgbClr val="00B050"/>
                </a:solidFill>
              </a:rPr>
              <a:t>Can we identify functional modules?</a:t>
            </a:r>
            <a:endParaRPr lang="ko-KR" altLang="en-US" b="1" dirty="0">
              <a:solidFill>
                <a:srgbClr val="00B050"/>
              </a:solidFill>
            </a:endParaRPr>
          </a:p>
        </p:txBody>
      </p:sp>
      <p:sp>
        <p:nvSpPr>
          <p:cNvPr id="5" name="TextBox 4">
            <a:extLst>
              <a:ext uri="{FF2B5EF4-FFF2-40B4-BE49-F238E27FC236}">
                <a16:creationId xmlns:a16="http://schemas.microsoft.com/office/drawing/2014/main" id="{E4D54662-E3C1-D5A6-2154-7E1B22F475B8}"/>
              </a:ext>
            </a:extLst>
          </p:cNvPr>
          <p:cNvSpPr txBox="1"/>
          <p:nvPr/>
        </p:nvSpPr>
        <p:spPr>
          <a:xfrm>
            <a:off x="8291898" y="1660986"/>
            <a:ext cx="3803911" cy="3416320"/>
          </a:xfrm>
          <a:prstGeom prst="rect">
            <a:avLst/>
          </a:prstGeom>
          <a:noFill/>
        </p:spPr>
        <p:txBody>
          <a:bodyPr wrap="square" rtlCol="0">
            <a:spAutoFit/>
          </a:bodyPr>
          <a:lstStyle/>
          <a:p>
            <a:r>
              <a:rPr lang="en-US" dirty="0"/>
              <a:t>Protein- Protein interaction network</a:t>
            </a:r>
          </a:p>
          <a:p>
            <a:r>
              <a:rPr lang="en-US" dirty="0"/>
              <a:t>Graph has proteins as nodes and edges b/w proteins represent physical interactions b/w proteins.</a:t>
            </a:r>
          </a:p>
          <a:p>
            <a:r>
              <a:rPr lang="en-US" dirty="0"/>
              <a:t>This helps to understand the nature of a particular disease and we can also devise new medicines for  a particular disease. </a:t>
            </a:r>
          </a:p>
          <a:p>
            <a:r>
              <a:rPr lang="en-US" dirty="0"/>
              <a:t>For all these cases, community discovery is very important i.e., figuring out groups of proteins that are interacting very closely.</a:t>
            </a:r>
          </a:p>
        </p:txBody>
      </p:sp>
    </p:spTree>
    <p:extLst>
      <p:ext uri="{BB962C8B-B14F-4D97-AF65-F5344CB8AC3E}">
        <p14:creationId xmlns:p14="http://schemas.microsoft.com/office/powerpoint/2010/main" val="1090309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EDD84E-25D4-4983-8AA1-2863C96F08D9}" type="slidenum">
              <a:rPr kumimoji="0" lang="ko-KR" alt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ko-KR" altLang="en-US" sz="1200" b="0" i="0" u="none" strike="noStrike" kern="1200" cap="none" spc="0" normalizeH="0" baseline="0" noProof="0">
              <a:ln>
                <a:noFill/>
              </a:ln>
              <a:solidFill>
                <a:srgbClr val="39C0BA"/>
              </a:solidFill>
              <a:effectLst/>
              <a:uLnTx/>
              <a:uFillTx/>
              <a:latin typeface="Quicksand"/>
              <a:sym typeface="Quicksand"/>
            </a:endParaRP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524000" y="1066802"/>
            <a:ext cx="6336704" cy="555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168557" y="5401541"/>
            <a:ext cx="388044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rgbClr val="00B050"/>
                </a:solidFill>
                <a:effectLst/>
                <a:uLnTx/>
                <a:uFillTx/>
                <a:latin typeface="Arial"/>
                <a:ea typeface="맑은 고딕" panose="020B0503020000020004" pitchFamily="34" charset="-127"/>
                <a:cs typeface="+mn-cs"/>
              </a:rPr>
              <a:t>Nodes</a:t>
            </a:r>
            <a:r>
              <a:rPr kumimoji="0" lang="en-US" altLang="ko-KR" sz="2400" b="1" i="0" u="none" strike="noStrike" kern="1200" cap="none" spc="0" normalizeH="0" baseline="0" noProof="0" dirty="0">
                <a:ln>
                  <a:noFill/>
                </a:ln>
                <a:solidFill>
                  <a:prstClr val="black"/>
                </a:solidFill>
                <a:effectLst/>
                <a:uLnTx/>
                <a:uFillTx/>
                <a:latin typeface="Arial"/>
                <a:ea typeface="맑은 고딕" panose="020B0503020000020004" pitchFamily="34" charset="-127"/>
                <a:cs typeface="+mn-cs"/>
              </a:rPr>
              <a:t>: Facebook Users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rgbClr val="00B050"/>
                </a:solidFill>
                <a:effectLst/>
                <a:uLnTx/>
                <a:uFillTx/>
                <a:latin typeface="Arial"/>
                <a:ea typeface="맑은 고딕" panose="020B0503020000020004" pitchFamily="34" charset="-127"/>
                <a:cs typeface="+mn-cs"/>
              </a:rPr>
              <a:t>Edges</a:t>
            </a:r>
            <a:r>
              <a:rPr kumimoji="0" lang="en-US" altLang="ko-KR" sz="2400" b="1" i="0" u="none" strike="noStrike" kern="1200" cap="none" spc="0" normalizeH="0" baseline="0" noProof="0" dirty="0">
                <a:ln>
                  <a:noFill/>
                </a:ln>
                <a:solidFill>
                  <a:prstClr val="black"/>
                </a:solidFill>
                <a:effectLst/>
                <a:uLnTx/>
                <a:uFillTx/>
                <a:latin typeface="Arial"/>
                <a:ea typeface="맑은 고딕" panose="020B0503020000020004" pitchFamily="34" charset="-127"/>
                <a:cs typeface="+mn-cs"/>
              </a:rPr>
              <a:t>: Friendships</a:t>
            </a:r>
            <a:endParaRPr kumimoji="0" lang="ko-KR" altLang="en-US" sz="2400" b="1" i="0" u="none" strike="noStrike" kern="1200" cap="none" spc="0" normalizeH="0" baseline="0" noProof="0" dirty="0">
              <a:ln>
                <a:noFill/>
              </a:ln>
              <a:solidFill>
                <a:prstClr val="black"/>
              </a:solidFill>
              <a:effectLst/>
              <a:uLnTx/>
              <a:uFillTx/>
              <a:latin typeface="Arial"/>
              <a:ea typeface="맑은 고딕" panose="020B0503020000020004" pitchFamily="34" charset="-127"/>
              <a:cs typeface="+mn-cs"/>
            </a:endParaRPr>
          </a:p>
        </p:txBody>
      </p:sp>
      <p:sp>
        <p:nvSpPr>
          <p:cNvPr id="3" name="Title 2"/>
          <p:cNvSpPr>
            <a:spLocks noGrp="1"/>
          </p:cNvSpPr>
          <p:nvPr>
            <p:ph type="title"/>
          </p:nvPr>
        </p:nvSpPr>
        <p:spPr>
          <a:xfrm>
            <a:off x="577551" y="130162"/>
            <a:ext cx="8229600" cy="543862"/>
          </a:xfrm>
        </p:spPr>
        <p:txBody>
          <a:bodyPr/>
          <a:lstStyle/>
          <a:p>
            <a:r>
              <a:rPr lang="en-US" b="1" dirty="0">
                <a:solidFill>
                  <a:srgbClr val="00B050"/>
                </a:solidFill>
              </a:rPr>
              <a:t>Facebook Network</a:t>
            </a:r>
          </a:p>
        </p:txBody>
      </p:sp>
      <p:sp>
        <p:nvSpPr>
          <p:cNvPr id="9" name="TextBox 8"/>
          <p:cNvSpPr txBox="1"/>
          <p:nvPr/>
        </p:nvSpPr>
        <p:spPr>
          <a:xfrm>
            <a:off x="8927184" y="6348317"/>
            <a:ext cx="2412840" cy="276999"/>
          </a:xfrm>
          <a:prstGeom prst="rect">
            <a:avLst/>
          </a:prstGeom>
          <a:noFill/>
        </p:spPr>
        <p:txBody>
          <a:bodyPr wrap="none" rtlCol="0">
            <a:spAutoFit/>
          </a:bodyPr>
          <a:lstStyle/>
          <a:p>
            <a:r>
              <a:rPr lang="en-IN" sz="1200" dirty="0"/>
              <a:t>Source: Jure </a:t>
            </a:r>
            <a:r>
              <a:rPr lang="en-IN" sz="1200" dirty="0" err="1"/>
              <a:t>Leskovec</a:t>
            </a:r>
            <a:r>
              <a:rPr lang="en-IN" sz="1200" dirty="0"/>
              <a:t>, Stanford</a:t>
            </a:r>
          </a:p>
        </p:txBody>
      </p:sp>
      <p:sp>
        <p:nvSpPr>
          <p:cNvPr id="2" name="TextBox 1"/>
          <p:cNvSpPr txBox="1"/>
          <p:nvPr/>
        </p:nvSpPr>
        <p:spPr>
          <a:xfrm>
            <a:off x="7505776" y="2718649"/>
            <a:ext cx="4224233" cy="369332"/>
          </a:xfrm>
          <a:prstGeom prst="rect">
            <a:avLst/>
          </a:prstGeom>
          <a:noFill/>
        </p:spPr>
        <p:txBody>
          <a:bodyPr wrap="none" rtlCol="0">
            <a:spAutoFit/>
          </a:bodyPr>
          <a:lstStyle/>
          <a:p>
            <a:pPr lvl="0"/>
            <a:r>
              <a:rPr lang="en-US" altLang="ko-KR" b="1" dirty="0">
                <a:solidFill>
                  <a:srgbClr val="00B050"/>
                </a:solidFill>
              </a:rPr>
              <a:t>Can we identify social communities?</a:t>
            </a:r>
            <a:endParaRPr lang="ko-KR" altLang="en-US" b="1" dirty="0">
              <a:solidFill>
                <a:srgbClr val="00B050"/>
              </a:solidFill>
            </a:endParaRPr>
          </a:p>
        </p:txBody>
      </p:sp>
      <p:sp>
        <p:nvSpPr>
          <p:cNvPr id="5" name="TextBox 4">
            <a:extLst>
              <a:ext uri="{FF2B5EF4-FFF2-40B4-BE49-F238E27FC236}">
                <a16:creationId xmlns:a16="http://schemas.microsoft.com/office/drawing/2014/main" id="{08D45F86-D258-BBA7-ED6D-86AB16365396}"/>
              </a:ext>
            </a:extLst>
          </p:cNvPr>
          <p:cNvSpPr txBox="1"/>
          <p:nvPr/>
        </p:nvSpPr>
        <p:spPr>
          <a:xfrm>
            <a:off x="6096000" y="130162"/>
            <a:ext cx="5634009" cy="1754326"/>
          </a:xfrm>
          <a:prstGeom prst="rect">
            <a:avLst/>
          </a:prstGeom>
          <a:noFill/>
        </p:spPr>
        <p:txBody>
          <a:bodyPr wrap="square" rtlCol="0">
            <a:spAutoFit/>
          </a:bodyPr>
          <a:lstStyle/>
          <a:p>
            <a:r>
              <a:rPr lang="en-US" dirty="0"/>
              <a:t>Dense Regions means they are very densely connected individuals; connections b/w individuals in a particular group of people are very high, so they are closely connected communities. Based on this we can find out kinds of communities, how many communities are there.</a:t>
            </a:r>
          </a:p>
        </p:txBody>
      </p:sp>
      <p:sp>
        <p:nvSpPr>
          <p:cNvPr id="6" name="TextBox 5">
            <a:extLst>
              <a:ext uri="{FF2B5EF4-FFF2-40B4-BE49-F238E27FC236}">
                <a16:creationId xmlns:a16="http://schemas.microsoft.com/office/drawing/2014/main" id="{EDFDA732-1B48-8EF5-3A8A-DFCBDF0A17A9}"/>
              </a:ext>
            </a:extLst>
          </p:cNvPr>
          <p:cNvSpPr txBox="1"/>
          <p:nvPr/>
        </p:nvSpPr>
        <p:spPr>
          <a:xfrm>
            <a:off x="7860704" y="3429000"/>
            <a:ext cx="4235105" cy="1754326"/>
          </a:xfrm>
          <a:prstGeom prst="rect">
            <a:avLst/>
          </a:prstGeom>
          <a:noFill/>
        </p:spPr>
        <p:txBody>
          <a:bodyPr wrap="square" rtlCol="0">
            <a:spAutoFit/>
          </a:bodyPr>
          <a:lstStyle/>
          <a:p>
            <a:r>
              <a:rPr lang="en-US" dirty="0"/>
              <a:t>In social network, we  are very much interested in communities so that we can recommend sending friend request to an individual or show posts to set of people who are interested in a particular community.</a:t>
            </a:r>
          </a:p>
        </p:txBody>
      </p:sp>
    </p:spTree>
    <p:extLst>
      <p:ext uri="{BB962C8B-B14F-4D97-AF65-F5344CB8AC3E}">
        <p14:creationId xmlns:p14="http://schemas.microsoft.com/office/powerpoint/2010/main" val="1711734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Communities</a:t>
            </a:r>
          </a:p>
        </p:txBody>
      </p:sp>
      <p:sp>
        <p:nvSpPr>
          <p:cNvPr id="3" name="Content Placeholder 2"/>
          <p:cNvSpPr>
            <a:spLocks noGrp="1"/>
          </p:cNvSpPr>
          <p:nvPr>
            <p:ph idx="1"/>
          </p:nvPr>
        </p:nvSpPr>
        <p:spPr>
          <a:xfrm>
            <a:off x="1143000" y="914400"/>
            <a:ext cx="9875520" cy="5181600"/>
          </a:xfrm>
        </p:spPr>
        <p:txBody>
          <a:bodyPr>
            <a:normAutofit/>
          </a:bodyPr>
          <a:lstStyle/>
          <a:p>
            <a:r>
              <a:rPr lang="en-US" sz="2400" dirty="0"/>
              <a:t>Real-life graphs are </a:t>
            </a:r>
            <a:r>
              <a:rPr lang="en-US" sz="2400" dirty="0">
                <a:solidFill>
                  <a:srgbClr val="FF0000"/>
                </a:solidFill>
              </a:rPr>
              <a:t>not</a:t>
            </a:r>
            <a:r>
              <a:rPr lang="en-US" sz="2400" dirty="0"/>
              <a:t> </a:t>
            </a:r>
            <a:r>
              <a:rPr lang="en-US" sz="2400" dirty="0">
                <a:solidFill>
                  <a:srgbClr val="FF0000"/>
                </a:solidFill>
              </a:rPr>
              <a:t>random</a:t>
            </a:r>
          </a:p>
          <a:p>
            <a:pPr lvl="1"/>
            <a:r>
              <a:rPr lang="en-US" dirty="0"/>
              <a:t>In social network people pick their friends based on their common interests and activities</a:t>
            </a:r>
          </a:p>
          <a:p>
            <a:pPr lvl="1"/>
            <a:endParaRPr lang="en-US" dirty="0"/>
          </a:p>
          <a:p>
            <a:pPr lvl="1"/>
            <a:endParaRPr lang="en-US" dirty="0"/>
          </a:p>
          <a:p>
            <a:pPr lvl="1"/>
            <a:endParaRPr lang="en-US" dirty="0"/>
          </a:p>
          <a:p>
            <a:pPr lvl="1"/>
            <a:endParaRPr lang="en-US" dirty="0"/>
          </a:p>
          <a:p>
            <a:r>
              <a:rPr lang="en-US" sz="2400" dirty="0"/>
              <a:t>Nodes in a graph are typically organized in </a:t>
            </a:r>
            <a:r>
              <a:rPr lang="en-US" sz="2400" dirty="0">
                <a:solidFill>
                  <a:schemeClr val="accent6">
                    <a:lumMod val="75000"/>
                  </a:schemeClr>
                </a:solidFill>
              </a:rPr>
              <a:t>communities</a:t>
            </a:r>
          </a:p>
          <a:p>
            <a:pPr lvl="1"/>
            <a:r>
              <a:rPr lang="en-US" dirty="0"/>
              <a:t>Groups of nodes which probably share common properties</a:t>
            </a:r>
          </a:p>
          <a:p>
            <a:pPr lvl="1"/>
            <a:endParaRPr lang="en-US"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a:extLst>
              <a:ext uri="{FF2B5EF4-FFF2-40B4-BE49-F238E27FC236}">
                <a16:creationId xmlns:a16="http://schemas.microsoft.com/office/drawing/2014/main" id="{1430393E-E18D-55C7-9C5D-0BF21A27BDD9}"/>
              </a:ext>
            </a:extLst>
          </p:cNvPr>
          <p:cNvSpPr txBox="1"/>
          <p:nvPr/>
        </p:nvSpPr>
        <p:spPr>
          <a:xfrm>
            <a:off x="457200" y="2334986"/>
            <a:ext cx="11430000" cy="923330"/>
          </a:xfrm>
          <a:prstGeom prst="rect">
            <a:avLst/>
          </a:prstGeom>
          <a:noFill/>
        </p:spPr>
        <p:txBody>
          <a:bodyPr wrap="square" rtlCol="0">
            <a:spAutoFit/>
          </a:bodyPr>
          <a:lstStyle/>
          <a:p>
            <a:r>
              <a:rPr lang="en-US" dirty="0"/>
              <a:t>Since the graph is not random so for non-random graphs, we can have underlying community structures in the graph. For all non-random graphs we can have such a structure and our job is to uncover the community structures in the non-random graph.</a:t>
            </a:r>
          </a:p>
        </p:txBody>
      </p:sp>
    </p:spTree>
    <p:extLst>
      <p:ext uri="{BB962C8B-B14F-4D97-AF65-F5344CB8AC3E}">
        <p14:creationId xmlns:p14="http://schemas.microsoft.com/office/powerpoint/2010/main" val="624992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Community detection as clustering</a:t>
            </a:r>
          </a:p>
        </p:txBody>
      </p:sp>
      <p:sp>
        <p:nvSpPr>
          <p:cNvPr id="3" name="Content Placeholder 2"/>
          <p:cNvSpPr>
            <a:spLocks noGrp="1"/>
          </p:cNvSpPr>
          <p:nvPr>
            <p:ph idx="1"/>
          </p:nvPr>
        </p:nvSpPr>
        <p:spPr>
          <a:xfrm>
            <a:off x="1219199" y="609600"/>
            <a:ext cx="10253221" cy="5638800"/>
          </a:xfrm>
        </p:spPr>
        <p:txBody>
          <a:bodyPr>
            <a:normAutofit lnSpcReduction="10000"/>
          </a:bodyPr>
          <a:lstStyle/>
          <a:p>
            <a:r>
              <a:rPr lang="en-US" sz="2400" dirty="0">
                <a:solidFill>
                  <a:schemeClr val="accent6">
                    <a:lumMod val="75000"/>
                  </a:schemeClr>
                </a:solidFill>
              </a:rPr>
              <a:t>Community detection </a:t>
            </a:r>
            <a:r>
              <a:rPr lang="en-US" sz="2400" dirty="0"/>
              <a:t>is just </a:t>
            </a:r>
            <a:r>
              <a:rPr lang="en-US" sz="2400" dirty="0">
                <a:solidFill>
                  <a:schemeClr val="accent6">
                    <a:lumMod val="75000"/>
                  </a:schemeClr>
                </a:solidFill>
              </a:rPr>
              <a:t>clustering</a:t>
            </a:r>
            <a:r>
              <a:rPr lang="en-US" sz="2400" dirty="0"/>
              <a:t> on graphs.</a:t>
            </a:r>
          </a:p>
          <a:p>
            <a:endParaRPr lang="en-US" sz="2400" dirty="0"/>
          </a:p>
          <a:p>
            <a:endParaRPr lang="en-US" sz="2400" dirty="0"/>
          </a:p>
          <a:p>
            <a:r>
              <a:rPr lang="en-US" sz="2400" dirty="0"/>
              <a:t>We can apply clustering algorithms on the </a:t>
            </a:r>
            <a:r>
              <a:rPr lang="en-US" sz="2400" dirty="0">
                <a:solidFill>
                  <a:srgbClr val="0070C0"/>
                </a:solidFill>
              </a:rPr>
              <a:t>adjacency matrix</a:t>
            </a:r>
            <a:r>
              <a:rPr lang="en-US" sz="2400" dirty="0"/>
              <a:t> </a:t>
            </a:r>
          </a:p>
          <a:p>
            <a:pPr lvl="1"/>
            <a:r>
              <a:rPr lang="en-US" sz="1800" dirty="0"/>
              <a:t>(e.g., k-means)</a:t>
            </a:r>
          </a:p>
          <a:p>
            <a:pPr lvl="1"/>
            <a:endParaRPr lang="en-US" sz="1800" dirty="0"/>
          </a:p>
          <a:p>
            <a:pPr lvl="1"/>
            <a:endParaRPr lang="en-US" sz="1800" dirty="0"/>
          </a:p>
          <a:p>
            <a:endParaRPr lang="en-US" sz="2400" dirty="0"/>
          </a:p>
          <a:p>
            <a:endParaRPr lang="en-US" sz="2400" dirty="0"/>
          </a:p>
          <a:p>
            <a:r>
              <a:rPr lang="en-US" sz="2400" dirty="0"/>
              <a:t>We can define a </a:t>
            </a:r>
            <a:r>
              <a:rPr lang="en-US" sz="2400" dirty="0">
                <a:solidFill>
                  <a:schemeClr val="accent6">
                    <a:lumMod val="75000"/>
                  </a:schemeClr>
                </a:solidFill>
              </a:rPr>
              <a:t>distance</a:t>
            </a:r>
            <a:r>
              <a:rPr lang="en-US" sz="2400" dirty="0"/>
              <a:t> or </a:t>
            </a:r>
            <a:r>
              <a:rPr lang="en-US" sz="2400" dirty="0">
                <a:solidFill>
                  <a:schemeClr val="accent6">
                    <a:lumMod val="75000"/>
                  </a:schemeClr>
                </a:solidFill>
              </a:rPr>
              <a:t>similarity</a:t>
            </a:r>
            <a:r>
              <a:rPr lang="en-US" sz="2400" dirty="0"/>
              <a:t> measure between nodes in the graph and apply other algorithms (e.g., hierarchical clustering)</a:t>
            </a:r>
          </a:p>
          <a:p>
            <a:endParaRPr lang="en-US" sz="2400" dirty="0"/>
          </a:p>
          <a:p>
            <a:endParaRPr lang="en-US" sz="2400" dirty="0"/>
          </a:p>
          <a:p>
            <a:r>
              <a:rPr lang="en-US" sz="2400" dirty="0"/>
              <a:t>Graphs require specific algorithms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a:extLst>
              <a:ext uri="{FF2B5EF4-FFF2-40B4-BE49-F238E27FC236}">
                <a16:creationId xmlns:a16="http://schemas.microsoft.com/office/drawing/2014/main" id="{E72A3074-DD05-83BC-01E5-F319A7E1A900}"/>
              </a:ext>
            </a:extLst>
          </p:cNvPr>
          <p:cNvSpPr txBox="1"/>
          <p:nvPr/>
        </p:nvSpPr>
        <p:spPr>
          <a:xfrm>
            <a:off x="144348" y="2630905"/>
            <a:ext cx="11903304" cy="1077218"/>
          </a:xfrm>
          <a:prstGeom prst="rect">
            <a:avLst/>
          </a:prstGeom>
          <a:noFill/>
        </p:spPr>
        <p:txBody>
          <a:bodyPr wrap="square" rtlCol="0">
            <a:spAutoFit/>
          </a:bodyPr>
          <a:lstStyle/>
          <a:p>
            <a:r>
              <a:rPr lang="en-US" sz="1600" dirty="0"/>
              <a:t>For k-means, we need to have fixed dimensional vectors for all elements. In this case nodes can be represented as fixed dimensional vectors, for every node we have an adjacency matrix, we have corresponding row for that node, we can treat this adjacency row from the adj mat as feature vector for that particular node and apply k-means to it. Issue : dim of vector is very large coz of large num of nodes and this representation is very sparse as most of the entries are 0.</a:t>
            </a:r>
          </a:p>
        </p:txBody>
      </p:sp>
      <p:sp>
        <p:nvSpPr>
          <p:cNvPr id="6" name="TextBox 5">
            <a:extLst>
              <a:ext uri="{FF2B5EF4-FFF2-40B4-BE49-F238E27FC236}">
                <a16:creationId xmlns:a16="http://schemas.microsoft.com/office/drawing/2014/main" id="{62F7BF26-C015-0156-E61B-47DA6633F6CF}"/>
              </a:ext>
            </a:extLst>
          </p:cNvPr>
          <p:cNvSpPr txBox="1"/>
          <p:nvPr/>
        </p:nvSpPr>
        <p:spPr>
          <a:xfrm>
            <a:off x="0" y="4626174"/>
            <a:ext cx="12192000" cy="923330"/>
          </a:xfrm>
          <a:prstGeom prst="rect">
            <a:avLst/>
          </a:prstGeom>
          <a:noFill/>
        </p:spPr>
        <p:txBody>
          <a:bodyPr wrap="square" rtlCol="0">
            <a:spAutoFit/>
          </a:bodyPr>
          <a:lstStyle/>
          <a:p>
            <a:r>
              <a:rPr lang="en-US" dirty="0"/>
              <a:t>Since graph is large, dimension is very large we can’t use k-means algorithm or hierarchical clustering algorithm coz they won’t be that efficient to find out the communities.</a:t>
            </a:r>
          </a:p>
          <a:p>
            <a:r>
              <a:rPr lang="en-US" dirty="0"/>
              <a:t>We need to have special algorithms for graphs to find out big communities.</a:t>
            </a:r>
          </a:p>
        </p:txBody>
      </p:sp>
    </p:spTree>
    <p:extLst>
      <p:ext uri="{BB962C8B-B14F-4D97-AF65-F5344CB8AC3E}">
        <p14:creationId xmlns:p14="http://schemas.microsoft.com/office/powerpoint/2010/main" val="2905706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981" y="220786"/>
            <a:ext cx="9875520" cy="693539"/>
          </a:xfrm>
        </p:spPr>
        <p:txBody>
          <a:bodyPr/>
          <a:lstStyle/>
          <a:p>
            <a:r>
              <a:rPr lang="en-US" dirty="0">
                <a:solidFill>
                  <a:srgbClr val="00B050"/>
                </a:solidFill>
              </a:rPr>
              <a:t>How do we find communities?</a:t>
            </a:r>
            <a:endParaRPr lang="en-IN" dirty="0">
              <a:solidFill>
                <a:srgbClr val="00B050"/>
              </a:solidFill>
            </a:endParaRPr>
          </a:p>
        </p:txBody>
      </p:sp>
      <p:sp>
        <p:nvSpPr>
          <p:cNvPr id="3" name="Content Placeholder 2"/>
          <p:cNvSpPr>
            <a:spLocks noGrp="1"/>
          </p:cNvSpPr>
          <p:nvPr>
            <p:ph idx="1"/>
          </p:nvPr>
        </p:nvSpPr>
        <p:spPr/>
        <p:txBody>
          <a:bodyPr/>
          <a:lstStyle/>
          <a:p>
            <a:r>
              <a:rPr lang="en-US" dirty="0"/>
              <a:t>Main Characteristics of a community</a:t>
            </a:r>
          </a:p>
          <a:p>
            <a:endParaRPr lang="en-US" dirty="0"/>
          </a:p>
          <a:p>
            <a:pPr lvl="1"/>
            <a:r>
              <a:rPr lang="en-US" dirty="0"/>
              <a:t>Within-community nodes are densely connected</a:t>
            </a:r>
          </a:p>
          <a:p>
            <a:pPr lvl="1"/>
            <a:endParaRPr lang="en-US" dirty="0"/>
          </a:p>
          <a:p>
            <a:pPr lvl="1"/>
            <a:r>
              <a:rPr lang="en-US" dirty="0"/>
              <a:t>Between-community nodes are sparsely connected</a:t>
            </a:r>
          </a:p>
          <a:p>
            <a:endParaRPr lang="en-IN"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a:extLst>
              <a:ext uri="{FF2B5EF4-FFF2-40B4-BE49-F238E27FC236}">
                <a16:creationId xmlns:a16="http://schemas.microsoft.com/office/drawing/2014/main" id="{5984CAF4-BCFF-180F-937E-2CCFF54CB842}"/>
              </a:ext>
            </a:extLst>
          </p:cNvPr>
          <p:cNvSpPr txBox="1"/>
          <p:nvPr/>
        </p:nvSpPr>
        <p:spPr>
          <a:xfrm>
            <a:off x="477981" y="3834063"/>
            <a:ext cx="10886228" cy="646331"/>
          </a:xfrm>
          <a:prstGeom prst="rect">
            <a:avLst/>
          </a:prstGeom>
          <a:noFill/>
        </p:spPr>
        <p:txBody>
          <a:bodyPr wrap="square" rtlCol="0">
            <a:spAutoFit/>
          </a:bodyPr>
          <a:lstStyle/>
          <a:p>
            <a:r>
              <a:rPr lang="en-US" dirty="0"/>
              <a:t>Objective while finding communities in the graphs: We need to maximize within community closeness and connections, and we  have to minimize b/w community closeness and connections.</a:t>
            </a:r>
          </a:p>
        </p:txBody>
      </p:sp>
    </p:spTree>
    <p:extLst>
      <p:ext uri="{BB962C8B-B14F-4D97-AF65-F5344CB8AC3E}">
        <p14:creationId xmlns:p14="http://schemas.microsoft.com/office/powerpoint/2010/main" val="1955401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6036" y="2680447"/>
            <a:ext cx="9875520" cy="797931"/>
          </a:xfrm>
        </p:spPr>
        <p:txBody>
          <a:bodyPr/>
          <a:lstStyle/>
          <a:p>
            <a:pPr algn="ctr"/>
            <a:r>
              <a:rPr lang="en-US" sz="4400" dirty="0">
                <a:solidFill>
                  <a:srgbClr val="00B050"/>
                </a:solidFill>
              </a:rPr>
              <a:t>The Girvan-Newman Algorithm</a:t>
            </a:r>
            <a:endParaRPr lang="en-IN" sz="4400" dirty="0">
              <a:solidFill>
                <a:srgbClr val="00B050"/>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3" name="TextBox 2"/>
          <p:cNvSpPr txBox="1"/>
          <p:nvPr/>
        </p:nvSpPr>
        <p:spPr>
          <a:xfrm>
            <a:off x="1483567" y="5896946"/>
            <a:ext cx="9605450" cy="307777"/>
          </a:xfrm>
          <a:prstGeom prst="rect">
            <a:avLst/>
          </a:prstGeom>
          <a:noFill/>
        </p:spPr>
        <p:txBody>
          <a:bodyPr wrap="none" rtlCol="0">
            <a:spAutoFit/>
          </a:bodyPr>
          <a:lstStyle/>
          <a:p>
            <a:r>
              <a:rPr lang="en-IN" sz="1400" b="1" dirty="0"/>
              <a:t>Reference: </a:t>
            </a:r>
            <a:r>
              <a:rPr lang="en-US" sz="1400" b="1" dirty="0"/>
              <a:t>Networks, Crowds, and Markets: Reasoning about a Highly Connected World, Easley and Kleinberg</a:t>
            </a:r>
            <a:endParaRPr lang="en-IN" sz="1400" b="1" dirty="0"/>
          </a:p>
        </p:txBody>
      </p:sp>
    </p:spTree>
    <p:extLst>
      <p:ext uri="{BB962C8B-B14F-4D97-AF65-F5344CB8AC3E}">
        <p14:creationId xmlns:p14="http://schemas.microsoft.com/office/powerpoint/2010/main" val="65172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B050"/>
                </a:solidFill>
              </a:rPr>
              <a:t>A Motivating Example</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5" name="Picture 4"/>
          <p:cNvPicPr>
            <a:picLocks noChangeAspect="1"/>
          </p:cNvPicPr>
          <p:nvPr/>
        </p:nvPicPr>
        <p:blipFill>
          <a:blip r:embed="rId2" cstate="print"/>
          <a:stretch>
            <a:fillRect/>
          </a:stretch>
        </p:blipFill>
        <p:spPr>
          <a:xfrm>
            <a:off x="1600200" y="1219201"/>
            <a:ext cx="5648288" cy="3023027"/>
          </a:xfrm>
          <a:prstGeom prst="rect">
            <a:avLst/>
          </a:prstGeom>
        </p:spPr>
      </p:pic>
      <p:sp>
        <p:nvSpPr>
          <p:cNvPr id="6" name="TextBox 5"/>
          <p:cNvSpPr txBox="1"/>
          <p:nvPr/>
        </p:nvSpPr>
        <p:spPr>
          <a:xfrm>
            <a:off x="7248489" y="2499881"/>
            <a:ext cx="343715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Which edge to remove?</a:t>
            </a:r>
          </a:p>
        </p:txBody>
      </p:sp>
      <p:cxnSp>
        <p:nvCxnSpPr>
          <p:cNvPr id="12" name="Straight Arrow Connector 11"/>
          <p:cNvCxnSpPr/>
          <p:nvPr/>
        </p:nvCxnSpPr>
        <p:spPr>
          <a:xfrm flipV="1">
            <a:off x="4572000" y="2961546"/>
            <a:ext cx="0" cy="19152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3886201" y="5257801"/>
            <a:ext cx="124745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Arial"/>
                <a:ea typeface="+mn-ea"/>
                <a:cs typeface="+mn-cs"/>
              </a:rPr>
              <a:t>“bridge”</a:t>
            </a:r>
          </a:p>
        </p:txBody>
      </p:sp>
      <p:sp>
        <p:nvSpPr>
          <p:cNvPr id="3" name="TextBox 2">
            <a:extLst>
              <a:ext uri="{FF2B5EF4-FFF2-40B4-BE49-F238E27FC236}">
                <a16:creationId xmlns:a16="http://schemas.microsoft.com/office/drawing/2014/main" id="{E40E6423-7707-B87C-629E-A11772B87FBA}"/>
              </a:ext>
            </a:extLst>
          </p:cNvPr>
          <p:cNvSpPr txBox="1"/>
          <p:nvPr/>
        </p:nvSpPr>
        <p:spPr>
          <a:xfrm>
            <a:off x="6689560" y="3272589"/>
            <a:ext cx="5406240" cy="2585323"/>
          </a:xfrm>
          <a:prstGeom prst="rect">
            <a:avLst/>
          </a:prstGeom>
          <a:noFill/>
        </p:spPr>
        <p:txBody>
          <a:bodyPr wrap="square" rtlCol="0">
            <a:spAutoFit/>
          </a:bodyPr>
          <a:lstStyle/>
          <a:p>
            <a:r>
              <a:rPr lang="en-US" dirty="0"/>
              <a:t>If we want to find out the communities which edge to remove first?</a:t>
            </a:r>
          </a:p>
          <a:p>
            <a:r>
              <a:rPr lang="en-US" dirty="0"/>
              <a:t>:: 7 – 8 and this edge is bridge edge. </a:t>
            </a:r>
          </a:p>
          <a:p>
            <a:r>
              <a:rPr lang="en-US" dirty="0"/>
              <a:t>A bridge edge is an edge that connects 2 communities.</a:t>
            </a:r>
          </a:p>
          <a:p>
            <a:endParaRPr lang="en-US" dirty="0"/>
          </a:p>
          <a:p>
            <a:r>
              <a:rPr lang="en-US" dirty="0"/>
              <a:t>Find out potential bridge edges, break them and repeat this process to find out more and more communities, smaller communities more in number.</a:t>
            </a:r>
          </a:p>
        </p:txBody>
      </p:sp>
    </p:spTree>
    <p:extLst>
      <p:ext uri="{BB962C8B-B14F-4D97-AF65-F5344CB8AC3E}">
        <p14:creationId xmlns:p14="http://schemas.microsoft.com/office/powerpoint/2010/main" val="278401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The Girvan-Newman method</a:t>
            </a:r>
          </a:p>
        </p:txBody>
      </p:sp>
      <p:sp>
        <p:nvSpPr>
          <p:cNvPr id="3" name="Content Placeholder 2"/>
          <p:cNvSpPr>
            <a:spLocks noGrp="1"/>
          </p:cNvSpPr>
          <p:nvPr>
            <p:ph idx="1"/>
          </p:nvPr>
        </p:nvSpPr>
        <p:spPr/>
        <p:txBody>
          <a:bodyPr/>
          <a:lstStyle/>
          <a:p>
            <a:r>
              <a:rPr lang="en-US" dirty="0">
                <a:solidFill>
                  <a:schemeClr val="accent6">
                    <a:lumMod val="75000"/>
                  </a:schemeClr>
                </a:solidFill>
              </a:rPr>
              <a:t>Hierarchical divisive </a:t>
            </a:r>
            <a:r>
              <a:rPr lang="en-US" dirty="0"/>
              <a:t>method</a:t>
            </a:r>
          </a:p>
          <a:p>
            <a:pPr lvl="1"/>
            <a:r>
              <a:rPr lang="en-US" dirty="0"/>
              <a:t>Start with the whole graph</a:t>
            </a:r>
          </a:p>
          <a:p>
            <a:pPr lvl="1"/>
            <a:r>
              <a:rPr lang="en-US" dirty="0"/>
              <a:t>Find edges whose removal  “</a:t>
            </a:r>
            <a:r>
              <a:rPr lang="en-US" dirty="0">
                <a:solidFill>
                  <a:srgbClr val="0070C0"/>
                </a:solidFill>
              </a:rPr>
              <a:t>partitions</a:t>
            </a:r>
            <a:r>
              <a:rPr lang="en-US" dirty="0"/>
              <a:t>” the graph</a:t>
            </a:r>
          </a:p>
          <a:p>
            <a:pPr lvl="1"/>
            <a:r>
              <a:rPr lang="en-US" dirty="0"/>
              <a:t>Repeat with each subgraph until single vertices</a:t>
            </a:r>
          </a:p>
          <a:p>
            <a:endParaRPr lang="en-US" dirty="0"/>
          </a:p>
        </p:txBody>
      </p:sp>
      <p:pic>
        <p:nvPicPr>
          <p:cNvPr id="4" name="Picture 3"/>
          <p:cNvPicPr>
            <a:picLocks noChangeAspect="1"/>
          </p:cNvPicPr>
          <p:nvPr/>
        </p:nvPicPr>
        <p:blipFill>
          <a:blip r:embed="rId2" cstate="print"/>
          <a:stretch>
            <a:fillRect/>
          </a:stretch>
        </p:blipFill>
        <p:spPr>
          <a:xfrm>
            <a:off x="2133600" y="3553621"/>
            <a:ext cx="5648288" cy="3023027"/>
          </a:xfrm>
          <a:prstGeom prst="rect">
            <a:avLst/>
          </a:prstGeom>
        </p:spPr>
      </p:pic>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a:extLst>
              <a:ext uri="{FF2B5EF4-FFF2-40B4-BE49-F238E27FC236}">
                <a16:creationId xmlns:a16="http://schemas.microsoft.com/office/drawing/2014/main" id="{69B05F4E-7722-F126-FA24-A9E17F8272D7}"/>
              </a:ext>
            </a:extLst>
          </p:cNvPr>
          <p:cNvSpPr txBox="1"/>
          <p:nvPr/>
        </p:nvSpPr>
        <p:spPr>
          <a:xfrm>
            <a:off x="7781888" y="2711116"/>
            <a:ext cx="4313922" cy="3970318"/>
          </a:xfrm>
          <a:prstGeom prst="rect">
            <a:avLst/>
          </a:prstGeom>
          <a:noFill/>
        </p:spPr>
        <p:txBody>
          <a:bodyPr wrap="square" rtlCol="0">
            <a:spAutoFit/>
          </a:bodyPr>
          <a:lstStyle/>
          <a:p>
            <a:r>
              <a:rPr lang="en-US" dirty="0"/>
              <a:t>Stopping Criteria:</a:t>
            </a:r>
          </a:p>
          <a:p>
            <a:r>
              <a:rPr lang="en-US" dirty="0"/>
              <a:t>If we are satisfied with the number of communities we have got then we can stop.</a:t>
            </a:r>
          </a:p>
          <a:p>
            <a:r>
              <a:rPr lang="en-US" dirty="0"/>
              <a:t>Or </a:t>
            </a:r>
          </a:p>
          <a:p>
            <a:r>
              <a:rPr lang="en-US" dirty="0"/>
              <a:t>Density of connections inside the individual communities by measuring num of edges b/w them and we can stop it.</a:t>
            </a:r>
          </a:p>
          <a:p>
            <a:endParaRPr lang="en-US" dirty="0"/>
          </a:p>
          <a:p>
            <a:r>
              <a:rPr lang="en-US" dirty="0"/>
              <a:t>The most imp thing: Find out edges whose removal splits the graph into 2 parts such that the parts which we are getting are good communities.</a:t>
            </a:r>
          </a:p>
        </p:txBody>
      </p:sp>
    </p:spTree>
    <p:extLst>
      <p:ext uri="{BB962C8B-B14F-4D97-AF65-F5344CB8AC3E}">
        <p14:creationId xmlns:p14="http://schemas.microsoft.com/office/powerpoint/2010/main" val="1393350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The Girvan-Newman method</a:t>
            </a:r>
          </a:p>
        </p:txBody>
      </p:sp>
      <p:sp>
        <p:nvSpPr>
          <p:cNvPr id="3" name="Content Placeholder 2"/>
          <p:cNvSpPr>
            <a:spLocks noGrp="1"/>
          </p:cNvSpPr>
          <p:nvPr>
            <p:ph idx="1"/>
          </p:nvPr>
        </p:nvSpPr>
        <p:spPr/>
        <p:txBody>
          <a:bodyPr>
            <a:normAutofit/>
          </a:bodyPr>
          <a:lstStyle/>
          <a:p>
            <a:r>
              <a:rPr lang="en-US" dirty="0"/>
              <a:t>Select </a:t>
            </a:r>
            <a:r>
              <a:rPr lang="en-US" dirty="0">
                <a:solidFill>
                  <a:schemeClr val="accent6">
                    <a:lumMod val="75000"/>
                  </a:schemeClr>
                </a:solidFill>
              </a:rPr>
              <a:t>bridge edges</a:t>
            </a:r>
            <a:r>
              <a:rPr lang="en-US" dirty="0"/>
              <a:t> that when removed disconnect the graph</a:t>
            </a:r>
          </a:p>
          <a:p>
            <a:endParaRPr lang="en-US" dirty="0"/>
          </a:p>
          <a:p>
            <a:endParaRPr lang="en-US" dirty="0"/>
          </a:p>
          <a:p>
            <a:endParaRPr lang="en-US" dirty="0"/>
          </a:p>
          <a:p>
            <a:pPr marL="38100" indent="0">
              <a:buNone/>
            </a:pPr>
            <a:endParaRPr lang="en-US" dirty="0"/>
          </a:p>
          <a:p>
            <a:endParaRPr lang="en-US" dirty="0"/>
          </a:p>
          <a:p>
            <a:endParaRPr lang="en-US" dirty="0"/>
          </a:p>
          <a:p>
            <a:r>
              <a:rPr lang="en-US" dirty="0"/>
              <a:t>There may be many of those</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grpSp>
        <p:nvGrpSpPr>
          <p:cNvPr id="4" name="Group 3"/>
          <p:cNvGrpSpPr/>
          <p:nvPr/>
        </p:nvGrpSpPr>
        <p:grpSpPr>
          <a:xfrm>
            <a:off x="2667000" y="2619376"/>
            <a:ext cx="5943600" cy="2638425"/>
            <a:chOff x="2915816" y="1124744"/>
            <a:chExt cx="4048125" cy="1771650"/>
          </a:xfrm>
        </p:grpSpPr>
        <p:pic>
          <p:nvPicPr>
            <p:cNvPr id="5" name="Picture 4"/>
            <p:cNvPicPr>
              <a:picLocks noChangeAspect="1" noChangeArrowheads="1"/>
            </p:cNvPicPr>
            <p:nvPr/>
          </p:nvPicPr>
          <p:blipFill>
            <a:blip r:embed="rId2" cstate="print"/>
            <a:srcRect/>
            <a:stretch>
              <a:fillRect/>
            </a:stretch>
          </p:blipFill>
          <p:spPr bwMode="auto">
            <a:xfrm>
              <a:off x="2915816" y="1124744"/>
              <a:ext cx="4048125" cy="1771650"/>
            </a:xfrm>
            <a:prstGeom prst="rect">
              <a:avLst/>
            </a:prstGeom>
            <a:noFill/>
            <a:ln w="9525">
              <a:noFill/>
              <a:miter lim="800000"/>
              <a:headEnd/>
              <a:tailEnd/>
            </a:ln>
          </p:spPr>
        </p:pic>
        <p:cxnSp>
          <p:nvCxnSpPr>
            <p:cNvPr id="6" name="Straight Arrow Connector 5"/>
            <p:cNvCxnSpPr/>
            <p:nvPr/>
          </p:nvCxnSpPr>
          <p:spPr>
            <a:xfrm>
              <a:off x="5148064" y="1484784"/>
              <a:ext cx="0" cy="36004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flipH="1">
              <a:off x="4644008" y="1484784"/>
              <a:ext cx="72008" cy="21602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 name="Straight Arrow Connector 7"/>
            <p:cNvCxnSpPr/>
            <p:nvPr/>
          </p:nvCxnSpPr>
          <p:spPr>
            <a:xfrm>
              <a:off x="4427984" y="1844824"/>
              <a:ext cx="216024" cy="21602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flipH="1">
              <a:off x="5652120" y="1844824"/>
              <a:ext cx="432048" cy="14401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traight Arrow Connector 9"/>
            <p:cNvCxnSpPr/>
            <p:nvPr/>
          </p:nvCxnSpPr>
          <p:spPr>
            <a:xfrm>
              <a:off x="5436096" y="1412776"/>
              <a:ext cx="72008" cy="28803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sp>
        <p:nvSpPr>
          <p:cNvPr id="11" name="Slide Number Placeholder 10"/>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855736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Edge importance	</a:t>
            </a:r>
          </a:p>
        </p:txBody>
      </p:sp>
      <p:sp>
        <p:nvSpPr>
          <p:cNvPr id="3" name="Content Placeholder 2"/>
          <p:cNvSpPr>
            <a:spLocks noGrp="1"/>
          </p:cNvSpPr>
          <p:nvPr>
            <p:ph idx="1"/>
          </p:nvPr>
        </p:nvSpPr>
        <p:spPr>
          <a:xfrm>
            <a:off x="1219200" y="1066800"/>
            <a:ext cx="9875520" cy="5181600"/>
          </a:xfrm>
        </p:spPr>
        <p:txBody>
          <a:bodyPr/>
          <a:lstStyle/>
          <a:p>
            <a:r>
              <a:rPr lang="en-US" sz="2800" dirty="0"/>
              <a:t>We need a measure of how important an edge is in keeping the graph connected</a:t>
            </a:r>
          </a:p>
          <a:p>
            <a:endParaRPr lang="en-US" sz="2800" dirty="0"/>
          </a:p>
          <a:p>
            <a:r>
              <a:rPr lang="en-US" sz="2800" dirty="0">
                <a:solidFill>
                  <a:srgbClr val="FF0000"/>
                </a:solidFill>
              </a:rPr>
              <a:t>Edge </a:t>
            </a:r>
            <a:r>
              <a:rPr lang="en-US" sz="2800" dirty="0" err="1">
                <a:solidFill>
                  <a:srgbClr val="FF0000"/>
                </a:solidFill>
              </a:rPr>
              <a:t>betweeness</a:t>
            </a:r>
            <a:r>
              <a:rPr lang="en-US" sz="2800" dirty="0"/>
              <a:t>: Number of shortest paths that pass through the edge</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6" name="Picture 5"/>
          <p:cNvPicPr>
            <a:picLocks noChangeAspect="1"/>
          </p:cNvPicPr>
          <p:nvPr/>
        </p:nvPicPr>
        <p:blipFill>
          <a:blip r:embed="rId2"/>
          <a:stretch>
            <a:fillRect/>
          </a:stretch>
        </p:blipFill>
        <p:spPr>
          <a:xfrm>
            <a:off x="3835482" y="3657600"/>
            <a:ext cx="4959341" cy="2653542"/>
          </a:xfrm>
          <a:prstGeom prst="rect">
            <a:avLst/>
          </a:prstGeom>
        </p:spPr>
      </p:pic>
      <p:sp>
        <p:nvSpPr>
          <p:cNvPr id="7" name="TextBox 6">
            <a:extLst>
              <a:ext uri="{FF2B5EF4-FFF2-40B4-BE49-F238E27FC236}">
                <a16:creationId xmlns:a16="http://schemas.microsoft.com/office/drawing/2014/main" id="{F0B7E8DE-4EB9-5B43-FDB9-24ED10132E24}"/>
              </a:ext>
            </a:extLst>
          </p:cNvPr>
          <p:cNvSpPr txBox="1"/>
          <p:nvPr/>
        </p:nvSpPr>
        <p:spPr>
          <a:xfrm>
            <a:off x="9047747" y="3429000"/>
            <a:ext cx="3048062" cy="923330"/>
          </a:xfrm>
          <a:prstGeom prst="rect">
            <a:avLst/>
          </a:prstGeom>
          <a:noFill/>
        </p:spPr>
        <p:txBody>
          <a:bodyPr wrap="square" rtlCol="0">
            <a:spAutoFit/>
          </a:bodyPr>
          <a:lstStyle/>
          <a:p>
            <a:r>
              <a:rPr lang="en-US" dirty="0"/>
              <a:t>Edge importance helps to figure out the potential bridge edges.</a:t>
            </a:r>
          </a:p>
        </p:txBody>
      </p:sp>
      <p:sp>
        <p:nvSpPr>
          <p:cNvPr id="8" name="TextBox 7">
            <a:extLst>
              <a:ext uri="{FF2B5EF4-FFF2-40B4-BE49-F238E27FC236}">
                <a16:creationId xmlns:a16="http://schemas.microsoft.com/office/drawing/2014/main" id="{7803FA37-326C-6926-462D-B53211F22656}"/>
              </a:ext>
            </a:extLst>
          </p:cNvPr>
          <p:cNvSpPr txBox="1"/>
          <p:nvPr/>
        </p:nvSpPr>
        <p:spPr>
          <a:xfrm>
            <a:off x="199795" y="6062868"/>
            <a:ext cx="11164414" cy="646331"/>
          </a:xfrm>
          <a:prstGeom prst="rect">
            <a:avLst/>
          </a:prstGeom>
          <a:noFill/>
        </p:spPr>
        <p:txBody>
          <a:bodyPr wrap="square" rtlCol="0">
            <a:spAutoFit/>
          </a:bodyPr>
          <a:lstStyle/>
          <a:p>
            <a:r>
              <a:rPr lang="en-US" dirty="0"/>
              <a:t>Edge betweenness: Edge betweenness for a particular edge is the number of shortest paths which pass through the edge. Bridge edges by nature will have very high value of edge betweenness.</a:t>
            </a:r>
          </a:p>
        </p:txBody>
      </p:sp>
    </p:spTree>
    <p:extLst>
      <p:ext uri="{BB962C8B-B14F-4D97-AF65-F5344CB8AC3E}">
        <p14:creationId xmlns:p14="http://schemas.microsoft.com/office/powerpoint/2010/main" val="2122245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Edge </a:t>
            </a:r>
            <a:r>
              <a:rPr lang="en-US" dirty="0" err="1">
                <a:solidFill>
                  <a:srgbClr val="00B050"/>
                </a:solidFill>
              </a:rPr>
              <a:t>Betweeness</a:t>
            </a:r>
            <a:endParaRPr lang="en-US" dirty="0">
              <a:solidFill>
                <a:srgbClr val="00B05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200" y="1066800"/>
                <a:ext cx="9875520" cy="5181600"/>
              </a:xfrm>
            </p:spPr>
            <p:txBody>
              <a:bodyPr>
                <a:normAutofit/>
              </a:bodyPr>
              <a:lstStyle/>
              <a:p>
                <a:r>
                  <a:rPr lang="en-US" dirty="0">
                    <a:solidFill>
                      <a:schemeClr val="accent6">
                        <a:lumMod val="75000"/>
                      </a:schemeClr>
                    </a:solidFill>
                  </a:rPr>
                  <a:t>Betweeness of edge </a:t>
                </a:r>
                <a14:m>
                  <m:oMath xmlns:m="http://schemas.openxmlformats.org/officeDocument/2006/math">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𝑎</m:t>
                        </m:r>
                        <m:r>
                          <a:rPr lang="en-US" b="0"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𝑏</m:t>
                        </m:r>
                      </m:e>
                    </m:d>
                    <m:r>
                      <a:rPr lang="en-IN" b="0" i="1" smtClean="0">
                        <a:solidFill>
                          <a:schemeClr val="accent6">
                            <a:lumMod val="75000"/>
                          </a:schemeClr>
                        </a:solidFill>
                        <a:latin typeface="Cambria Math" panose="02040503050406030204" pitchFamily="18" charset="0"/>
                      </a:rPr>
                      <m:t>= </m:t>
                    </m:r>
                    <m:r>
                      <a:rPr lang="en-US" b="0" i="1" dirty="0" smtClean="0">
                        <a:solidFill>
                          <a:schemeClr val="accent6">
                            <a:lumMod val="75000"/>
                          </a:schemeClr>
                        </a:solidFill>
                        <a:latin typeface="Cambria Math" panose="02040503050406030204" pitchFamily="18" charset="0"/>
                      </a:rPr>
                      <m:t>𝐵</m:t>
                    </m:r>
                    <m:r>
                      <a:rPr lang="en-US" b="0" i="1" dirty="0" smtClean="0">
                        <a:solidFill>
                          <a:schemeClr val="accent6">
                            <a:lumMod val="75000"/>
                          </a:schemeClr>
                        </a:solidFill>
                        <a:latin typeface="Cambria Math" panose="02040503050406030204" pitchFamily="18" charset="0"/>
                      </a:rPr>
                      <m:t>(</m:t>
                    </m:r>
                    <m:r>
                      <a:rPr lang="en-US" b="0" i="1" dirty="0" smtClean="0">
                        <a:solidFill>
                          <a:schemeClr val="accent6">
                            <a:lumMod val="75000"/>
                          </a:schemeClr>
                        </a:solidFill>
                        <a:latin typeface="Cambria Math" panose="02040503050406030204" pitchFamily="18" charset="0"/>
                      </a:rPr>
                      <m:t>𝑎</m:t>
                    </m:r>
                    <m:r>
                      <a:rPr lang="en-US" b="0" i="1" dirty="0" smtClean="0">
                        <a:solidFill>
                          <a:schemeClr val="accent6">
                            <a:lumMod val="75000"/>
                          </a:schemeClr>
                        </a:solidFill>
                        <a:latin typeface="Cambria Math" panose="02040503050406030204" pitchFamily="18" charset="0"/>
                      </a:rPr>
                      <m:t>,</m:t>
                    </m:r>
                    <m:r>
                      <a:rPr lang="en-US" b="0" i="1" dirty="0" smtClean="0">
                        <a:solidFill>
                          <a:schemeClr val="accent6">
                            <a:lumMod val="75000"/>
                          </a:schemeClr>
                        </a:solidFill>
                        <a:latin typeface="Cambria Math" panose="02040503050406030204" pitchFamily="18" charset="0"/>
                      </a:rPr>
                      <m:t>𝑏</m:t>
                    </m:r>
                    <m:r>
                      <a:rPr lang="en-US" b="0" i="1" dirty="0" smtClean="0">
                        <a:solidFill>
                          <a:schemeClr val="accent6">
                            <a:lumMod val="75000"/>
                          </a:schemeClr>
                        </a:solidFill>
                        <a:latin typeface="Cambria Math" panose="02040503050406030204" pitchFamily="18" charset="0"/>
                      </a:rPr>
                      <m:t>)</m:t>
                    </m:r>
                  </m:oMath>
                </a14:m>
                <a:endParaRPr lang="en-US" dirty="0">
                  <a:solidFill>
                    <a:schemeClr val="accent6">
                      <a:lumMod val="75000"/>
                    </a:schemeClr>
                  </a:solidFill>
                </a:endParaRPr>
              </a:p>
              <a:p>
                <a:pPr marL="38100" indent="0">
                  <a:buNone/>
                </a:pPr>
                <a:endParaRPr lang="en-US" dirty="0">
                  <a:solidFill>
                    <a:schemeClr val="accent6">
                      <a:lumMod val="75000"/>
                    </a:schemeClr>
                  </a:solidFill>
                </a:endParaRPr>
              </a:p>
              <a:p>
                <a:pPr lvl="1"/>
                <a:r>
                  <a:rPr lang="en-US" dirty="0"/>
                  <a:t>For each pair of nodes </a:t>
                </a:r>
                <a14:m>
                  <m:oMath xmlns:m="http://schemas.openxmlformats.org/officeDocument/2006/math">
                    <m:d>
                      <m:dPr>
                        <m:ctrlPr>
                          <a:rPr lang="en-IN"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IN" b="0" i="1" smtClean="0">
                        <a:latin typeface="Cambria Math" panose="02040503050406030204" pitchFamily="18" charset="0"/>
                      </a:rPr>
                      <m:t>,</m:t>
                    </m:r>
                  </m:oMath>
                </a14:m>
                <a:r>
                  <a:rPr lang="en-US" dirty="0"/>
                  <a:t> compute the number of shortest paths that </a:t>
                </a:r>
                <a:r>
                  <a:rPr lang="en-US" dirty="0">
                    <a:solidFill>
                      <a:srgbClr val="0070C0"/>
                    </a:solidFill>
                  </a:rPr>
                  <a:t>include</a:t>
                </a:r>
                <a:r>
                  <a:rPr lang="en-US" dirty="0"/>
                  <a:t>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𝑏</m:t>
                    </m:r>
                    <m:r>
                      <a:rPr lang="en-US" i="1" dirty="0" smtClean="0">
                        <a:latin typeface="Cambria Math" panose="02040503050406030204" pitchFamily="18" charset="0"/>
                      </a:rPr>
                      <m:t>)</m:t>
                    </m:r>
                  </m:oMath>
                </a14:m>
                <a:endParaRPr lang="en-US" dirty="0"/>
              </a:p>
              <a:p>
                <a:pPr lvl="1"/>
                <a:endParaRPr lang="en-US" dirty="0"/>
              </a:p>
              <a:p>
                <a:pPr lvl="1"/>
                <a:r>
                  <a:rPr lang="en-US" dirty="0"/>
                  <a:t>There may be multiple shortest paths between </a:t>
                </a:r>
                <a14:m>
                  <m:oMath xmlns:m="http://schemas.openxmlformats.org/officeDocument/2006/math">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e>
                    </m:d>
                    <m:r>
                      <m:rPr>
                        <m:nor/>
                      </m:rPr>
                      <a:rPr lang="en-US" b="0" i="0" dirty="0" smtClean="0">
                        <a:latin typeface="Cambria Math" panose="02040503050406030204" pitchFamily="18" charset="0"/>
                      </a:rPr>
                      <m:t> </m:t>
                    </m:r>
                    <m:r>
                      <m:rPr>
                        <m:nor/>
                      </m:rPr>
                      <a:rPr lang="en-US" dirty="0"/>
                      <m:t>(</m:t>
                    </m:r>
                    <m:r>
                      <a:rPr lang="en-US" i="1" dirty="0">
                        <a:solidFill>
                          <a:srgbClr val="0070C0"/>
                        </a:solidFill>
                        <a:latin typeface="Cambria Math" panose="02040503050406030204" pitchFamily="18" charset="0"/>
                      </a:rPr>
                      <m:t>𝑆𝑃</m:t>
                    </m:r>
                    <m:r>
                      <a:rPr lang="en-US" i="1" dirty="0">
                        <a:solidFill>
                          <a:srgbClr val="0070C0"/>
                        </a:solidFill>
                        <a:latin typeface="Cambria Math" panose="02040503050406030204" pitchFamily="18" charset="0"/>
                      </a:rPr>
                      <m:t>(</m:t>
                    </m:r>
                    <m:r>
                      <a:rPr lang="en-US" i="1" dirty="0" err="1">
                        <a:solidFill>
                          <a:srgbClr val="0070C0"/>
                        </a:solidFill>
                        <a:latin typeface="Cambria Math" panose="02040503050406030204" pitchFamily="18" charset="0"/>
                      </a:rPr>
                      <m:t>𝑥</m:t>
                    </m:r>
                    <m:r>
                      <a:rPr lang="en-US" i="1" dirty="0" err="1">
                        <a:solidFill>
                          <a:srgbClr val="0070C0"/>
                        </a:solidFill>
                        <a:latin typeface="Cambria Math" panose="02040503050406030204" pitchFamily="18" charset="0"/>
                      </a:rPr>
                      <m:t>,</m:t>
                    </m:r>
                    <m:r>
                      <a:rPr lang="en-US" i="1" dirty="0" err="1">
                        <a:solidFill>
                          <a:srgbClr val="0070C0"/>
                        </a:solidFill>
                        <a:latin typeface="Cambria Math" panose="02040503050406030204" pitchFamily="18" charset="0"/>
                      </a:rPr>
                      <m:t>𝑦</m:t>
                    </m:r>
                    <m:r>
                      <a:rPr lang="en-US" i="1" dirty="0">
                        <a:solidFill>
                          <a:srgbClr val="0070C0"/>
                        </a:solidFill>
                        <a:latin typeface="Cambria Math" panose="02040503050406030204" pitchFamily="18" charset="0"/>
                      </a:rPr>
                      <m:t>)</m:t>
                    </m:r>
                    <m:r>
                      <m:rPr>
                        <m:nor/>
                      </m:rPr>
                      <a:rPr lang="en-US" dirty="0"/>
                      <m:t>)</m:t>
                    </m:r>
                  </m:oMath>
                </a14:m>
                <a:r>
                  <a:rPr lang="en-US" dirty="0"/>
                  <a:t>. </a:t>
                </a:r>
              </a:p>
              <a:p>
                <a:pPr lvl="2"/>
                <a:r>
                  <a:rPr lang="en-US" dirty="0"/>
                  <a:t>Compute the </a:t>
                </a:r>
                <a:r>
                  <a:rPr lang="en-US" dirty="0">
                    <a:solidFill>
                      <a:schemeClr val="accent6">
                        <a:lumMod val="75000"/>
                      </a:schemeClr>
                    </a:solidFill>
                  </a:rPr>
                  <a:t>fraction </a:t>
                </a:r>
                <a:r>
                  <a:rPr lang="en-US" dirty="0"/>
                  <a:t>of those that pass through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𝑏</m:t>
                    </m:r>
                    <m:r>
                      <a:rPr lang="en-US" i="1" dirty="0" smtClean="0">
                        <a:latin typeface="Cambria Math" panose="02040503050406030204" pitchFamily="18" charset="0"/>
                      </a:rPr>
                      <m:t>)</m:t>
                    </m:r>
                  </m:oMath>
                </a14:m>
                <a:endParaRPr lang="en-US" dirty="0"/>
              </a:p>
              <a:p>
                <a:pPr lvl="2"/>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𝑉</m:t>
                          </m:r>
                        </m:sub>
                        <m:sup/>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𝑆𝑃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m:t>
                              </m:r>
                              <m:r>
                                <a:rPr lang="en-US" b="0" i="1" smtClean="0">
                                  <a:latin typeface="Cambria Math" panose="02040503050406030204" pitchFamily="18" charset="0"/>
                                </a:rPr>
                                <m:t>𝑡h𝑎𝑡</m:t>
                              </m:r>
                              <m:r>
                                <a:rPr lang="en-US" b="0" i="1" smtClean="0">
                                  <a:latin typeface="Cambria Math" panose="02040503050406030204" pitchFamily="18" charset="0"/>
                                </a:rPr>
                                <m:t> </m:t>
                              </m:r>
                              <m:r>
                                <a:rPr lang="en-US" b="0" i="1" smtClean="0">
                                  <a:latin typeface="Cambria Math" panose="02040503050406030204" pitchFamily="18" charset="0"/>
                                </a:rPr>
                                <m:t>𝑖𝑛𝑐𝑙𝑢𝑑𝑒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𝑆𝑃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den>
                          </m:f>
                        </m:e>
                      </m:nary>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200" y="1066800"/>
                <a:ext cx="9875520" cy="5181600"/>
              </a:xfrm>
              <a:blipFill>
                <a:blip r:embed="rId2"/>
                <a:stretch>
                  <a:fillRect l="-926"/>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1446991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8229600" cy="609600"/>
          </a:xfrm>
        </p:spPr>
        <p:txBody>
          <a:bodyPr/>
          <a:lstStyle/>
          <a:p>
            <a:r>
              <a:rPr lang="en-US" b="1" dirty="0">
                <a:solidFill>
                  <a:srgbClr val="00B050"/>
                </a:solidFill>
              </a:rPr>
              <a:t>Examples</a:t>
            </a:r>
          </a:p>
        </p:txBody>
      </p:sp>
      <p:pic>
        <p:nvPicPr>
          <p:cNvPr id="4" name="Picture 3"/>
          <p:cNvPicPr>
            <a:picLocks noChangeAspect="1" noChangeArrowheads="1"/>
          </p:cNvPicPr>
          <p:nvPr/>
        </p:nvPicPr>
        <p:blipFill>
          <a:blip r:embed="rId2" cstate="print"/>
          <a:srcRect/>
          <a:stretch>
            <a:fillRect/>
          </a:stretch>
        </p:blipFill>
        <p:spPr bwMode="auto">
          <a:xfrm>
            <a:off x="2286001" y="1623515"/>
            <a:ext cx="5290571" cy="2315403"/>
          </a:xfrm>
          <a:prstGeom prst="rect">
            <a:avLst/>
          </a:prstGeom>
          <a:noFill/>
          <a:ln w="9525">
            <a:noFill/>
            <a:miter lim="800000"/>
            <a:headEnd/>
            <a:tailEnd/>
          </a:ln>
        </p:spPr>
      </p:pic>
      <p:cxnSp>
        <p:nvCxnSpPr>
          <p:cNvPr id="5" name="Straight Arrow Connector 4"/>
          <p:cNvCxnSpPr>
            <a:stCxn id="6" idx="0"/>
          </p:cNvCxnSpPr>
          <p:nvPr/>
        </p:nvCxnSpPr>
        <p:spPr>
          <a:xfrm flipV="1">
            <a:off x="5052447" y="2723624"/>
            <a:ext cx="3705" cy="58977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 name="TextBox 4"/>
          <p:cNvSpPr txBox="1"/>
          <p:nvPr/>
        </p:nvSpPr>
        <p:spPr>
          <a:xfrm>
            <a:off x="4565773" y="3313393"/>
            <a:ext cx="1075936" cy="369332"/>
          </a:xfrm>
          <a:prstGeom prst="rect">
            <a:avLst/>
          </a:prstGeom>
          <a:noFill/>
          <a:ln w="28575">
            <a:solidFill>
              <a:schemeClr val="accent1"/>
            </a:solidFill>
          </a:ln>
        </p:spPr>
        <p:txBody>
          <a:bodyPr wrap="none" rtlCol="0">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7x7 = 49</a:t>
            </a:r>
          </a:p>
        </p:txBody>
      </p:sp>
      <p:sp>
        <p:nvSpPr>
          <p:cNvPr id="7" name="TextBox 13"/>
          <p:cNvSpPr txBox="1"/>
          <p:nvPr/>
        </p:nvSpPr>
        <p:spPr>
          <a:xfrm>
            <a:off x="4289398" y="1295400"/>
            <a:ext cx="1187056" cy="369332"/>
          </a:xfrm>
          <a:prstGeom prst="rect">
            <a:avLst/>
          </a:prstGeom>
          <a:noFill/>
          <a:ln w="28575">
            <a:solidFill>
              <a:schemeClr val="accent1"/>
            </a:solidFill>
          </a:ln>
        </p:spPr>
        <p:txBody>
          <a:bodyPr wrap="none" rtlCol="0">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3x11 = 33</a:t>
            </a:r>
          </a:p>
        </p:txBody>
      </p:sp>
      <p:cxnSp>
        <p:nvCxnSpPr>
          <p:cNvPr id="8" name="Straight Arrow Connector 7"/>
          <p:cNvCxnSpPr>
            <a:stCxn id="7" idx="2"/>
          </p:cNvCxnSpPr>
          <p:nvPr/>
        </p:nvCxnSpPr>
        <p:spPr>
          <a:xfrm flipH="1">
            <a:off x="4560140" y="1664732"/>
            <a:ext cx="274440" cy="74557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 name="TextBox 19"/>
          <p:cNvSpPr txBox="1"/>
          <p:nvPr/>
        </p:nvSpPr>
        <p:spPr>
          <a:xfrm>
            <a:off x="7324696" y="3384919"/>
            <a:ext cx="312906" cy="369332"/>
          </a:xfrm>
          <a:prstGeom prst="rect">
            <a:avLst/>
          </a:prstGeom>
          <a:noFill/>
          <a:ln w="28575">
            <a:solidFill>
              <a:schemeClr val="accent1"/>
            </a:solidFill>
          </a:ln>
        </p:spPr>
        <p:txBody>
          <a:bodyPr wrap="none" rtlCol="0">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1</a:t>
            </a:r>
          </a:p>
        </p:txBody>
      </p:sp>
      <p:cxnSp>
        <p:nvCxnSpPr>
          <p:cNvPr id="10" name="Straight Arrow Connector 9"/>
          <p:cNvCxnSpPr>
            <a:stCxn id="9" idx="1"/>
          </p:cNvCxnSpPr>
          <p:nvPr/>
        </p:nvCxnSpPr>
        <p:spPr>
          <a:xfrm flipH="1" flipV="1">
            <a:off x="6595766" y="3477254"/>
            <a:ext cx="728930" cy="9233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1" name="TextBox 26"/>
          <p:cNvSpPr txBox="1"/>
          <p:nvPr/>
        </p:nvSpPr>
        <p:spPr>
          <a:xfrm>
            <a:off x="7171524" y="1411246"/>
            <a:ext cx="1204176" cy="369332"/>
          </a:xfrm>
          <a:prstGeom prst="rect">
            <a:avLst/>
          </a:prstGeom>
          <a:noFill/>
          <a:ln w="28575">
            <a:solidFill>
              <a:schemeClr val="accent1"/>
            </a:solidFill>
          </a:ln>
        </p:spPr>
        <p:txBody>
          <a:bodyPr wrap="none" rtlCol="0">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1x12 = 12</a:t>
            </a:r>
          </a:p>
        </p:txBody>
      </p:sp>
      <p:cxnSp>
        <p:nvCxnSpPr>
          <p:cNvPr id="12" name="Straight Arrow Connector 11"/>
          <p:cNvCxnSpPr/>
          <p:nvPr/>
        </p:nvCxnSpPr>
        <p:spPr>
          <a:xfrm flipH="1">
            <a:off x="6454798" y="1616546"/>
            <a:ext cx="704522" cy="60943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 name="Slide Number Placeholder 2"/>
          <p:cNvSpPr>
            <a:spLocks noGrp="1"/>
          </p:cNvSpPr>
          <p:nvPr>
            <p:ph type="sldNum" sz="quarter" idx="12"/>
          </p:nvPr>
        </p:nvSpPr>
        <p:spPr>
          <a:xfrm>
            <a:off x="10515600" y="6248400"/>
            <a:ext cx="658440" cy="4203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2880109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409" y="350095"/>
            <a:ext cx="10972800" cy="541214"/>
          </a:xfrm>
        </p:spPr>
        <p:txBody>
          <a:bodyPr/>
          <a:lstStyle/>
          <a:p>
            <a:r>
              <a:rPr lang="en-US" dirty="0">
                <a:solidFill>
                  <a:srgbClr val="00B050"/>
                </a:solidFill>
              </a:rPr>
              <a:t>The Girvan-Newman Algorithm</a:t>
            </a:r>
          </a:p>
        </p:txBody>
      </p:sp>
      <p:sp>
        <p:nvSpPr>
          <p:cNvPr id="3" name="Content Placeholder 2"/>
          <p:cNvSpPr>
            <a:spLocks noGrp="1"/>
          </p:cNvSpPr>
          <p:nvPr>
            <p:ph idx="1"/>
          </p:nvPr>
        </p:nvSpPr>
        <p:spPr>
          <a:xfrm>
            <a:off x="1219200" y="1295400"/>
            <a:ext cx="9875520" cy="4343400"/>
          </a:xfrm>
        </p:spPr>
        <p:txBody>
          <a:bodyPr/>
          <a:lstStyle/>
          <a:p>
            <a:r>
              <a:rPr lang="en-US" sz="2400" dirty="0"/>
              <a:t>Given an undirected unweighted graph:</a:t>
            </a:r>
          </a:p>
          <a:p>
            <a:endParaRPr lang="en-US" sz="2400" dirty="0"/>
          </a:p>
          <a:p>
            <a:r>
              <a:rPr lang="en-US" sz="2400" dirty="0"/>
              <a:t>Repeat until no edges are left:</a:t>
            </a:r>
          </a:p>
          <a:p>
            <a:endParaRPr lang="en-US" sz="2400" dirty="0"/>
          </a:p>
          <a:p>
            <a:pPr lvl="1"/>
            <a:r>
              <a:rPr lang="en-US" sz="2000" dirty="0"/>
              <a:t>Compute the edge </a:t>
            </a:r>
            <a:r>
              <a:rPr lang="en-US" sz="2000" dirty="0" err="1"/>
              <a:t>betweeness</a:t>
            </a:r>
            <a:r>
              <a:rPr lang="en-US" sz="2000" dirty="0"/>
              <a:t> for all edges</a:t>
            </a:r>
          </a:p>
          <a:p>
            <a:pPr lvl="1"/>
            <a:endParaRPr lang="en-US" sz="2000" dirty="0"/>
          </a:p>
          <a:p>
            <a:pPr lvl="1"/>
            <a:r>
              <a:rPr lang="en-US" sz="2000" dirty="0"/>
              <a:t>Remove the edge with the highest </a:t>
            </a:r>
            <a:r>
              <a:rPr lang="en-US" sz="2000" dirty="0" err="1"/>
              <a:t>betweeness</a:t>
            </a:r>
            <a:endParaRPr lang="en-US" sz="2000" dirty="0"/>
          </a:p>
          <a:p>
            <a:pPr lvl="1"/>
            <a:endParaRPr lang="en-US" dirty="0"/>
          </a:p>
          <a:p>
            <a:r>
              <a:rPr lang="en-US" sz="2400" dirty="0"/>
              <a:t>At each step of the algorithm, the connected components are the communities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a:extLst>
              <a:ext uri="{FF2B5EF4-FFF2-40B4-BE49-F238E27FC236}">
                <a16:creationId xmlns:a16="http://schemas.microsoft.com/office/drawing/2014/main" id="{DCB153DD-CAEA-93E7-350E-30A86DC2B648}"/>
              </a:ext>
            </a:extLst>
          </p:cNvPr>
          <p:cNvSpPr txBox="1"/>
          <p:nvPr/>
        </p:nvSpPr>
        <p:spPr>
          <a:xfrm>
            <a:off x="208547" y="5368193"/>
            <a:ext cx="11887262" cy="1477328"/>
          </a:xfrm>
          <a:prstGeom prst="rect">
            <a:avLst/>
          </a:prstGeom>
          <a:noFill/>
        </p:spPr>
        <p:txBody>
          <a:bodyPr wrap="square" rtlCol="0">
            <a:spAutoFit/>
          </a:bodyPr>
          <a:lstStyle/>
          <a:p>
            <a:r>
              <a:rPr lang="en-US" dirty="0"/>
              <a:t>We compute edge betweenness value for all edges in the graph and then remove the edge with highest betweenness value.</a:t>
            </a:r>
          </a:p>
          <a:p>
            <a:r>
              <a:rPr lang="en-US" dirty="0"/>
              <a:t>After removal of an edge the graph gets partitioned into 2 components. At each step each of the connected component is a community.</a:t>
            </a:r>
          </a:p>
          <a:p>
            <a:r>
              <a:rPr lang="en-US" dirty="0"/>
              <a:t>Then we need to take the subgraphs and split them further. </a:t>
            </a:r>
          </a:p>
        </p:txBody>
      </p:sp>
    </p:spTree>
    <p:extLst>
      <p:ext uri="{BB962C8B-B14F-4D97-AF65-F5344CB8AC3E}">
        <p14:creationId xmlns:p14="http://schemas.microsoft.com/office/powerpoint/2010/main" val="985371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B050"/>
                </a:solidFill>
              </a:rPr>
              <a:t>Girvan Newman method: An example</a:t>
            </a:r>
          </a:p>
        </p:txBody>
      </p:sp>
      <p:pic>
        <p:nvPicPr>
          <p:cNvPr id="4" name="Picture 3"/>
          <p:cNvPicPr>
            <a:picLocks noChangeAspect="1"/>
          </p:cNvPicPr>
          <p:nvPr/>
        </p:nvPicPr>
        <p:blipFill>
          <a:blip r:embed="rId2" cstate="print"/>
          <a:stretch>
            <a:fillRect/>
          </a:stretch>
        </p:blipFill>
        <p:spPr>
          <a:xfrm>
            <a:off x="1676400" y="990600"/>
            <a:ext cx="6781800" cy="3629696"/>
          </a:xfrm>
          <a:prstGeom prst="rect">
            <a:avLst/>
          </a:prstGeom>
        </p:spPr>
      </p:pic>
      <p:sp>
        <p:nvSpPr>
          <p:cNvPr id="5" name="TextBox 4"/>
          <p:cNvSpPr txBox="1"/>
          <p:nvPr/>
        </p:nvSpPr>
        <p:spPr>
          <a:xfrm>
            <a:off x="3048001" y="4800600"/>
            <a:ext cx="360066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2000" b="0" i="0" u="none" strike="noStrike" kern="1200" cap="none" spc="0" normalizeH="0" baseline="0" noProof="0" dirty="0">
                <a:ln>
                  <a:noFill/>
                </a:ln>
                <a:solidFill>
                  <a:prstClr val="black"/>
                </a:solidFill>
                <a:effectLst/>
                <a:uLnTx/>
                <a:uFillTx/>
                <a:latin typeface="Arial"/>
                <a:ea typeface="+mn-ea"/>
                <a:cs typeface="+mn-cs"/>
              </a:rPr>
              <a:t>(7, 8) = 7x7 = 49</a:t>
            </a:r>
          </a:p>
        </p:txBody>
      </p:sp>
      <p:sp>
        <p:nvSpPr>
          <p:cNvPr id="6" name="TextBox 5"/>
          <p:cNvSpPr txBox="1"/>
          <p:nvPr/>
        </p:nvSpPr>
        <p:spPr>
          <a:xfrm>
            <a:off x="3048000" y="5591381"/>
            <a:ext cx="6125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Betweenness(3, 7) = Betweenness(6, 7) = 33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2000" b="0" i="0" u="none" strike="noStrike" kern="1200" cap="none" spc="0" normalizeH="0" baseline="0" noProof="0" dirty="0">
                <a:ln>
                  <a:noFill/>
                </a:ln>
                <a:solidFill>
                  <a:prstClr val="black"/>
                </a:solidFill>
                <a:effectLst/>
                <a:uLnTx/>
                <a:uFillTx/>
                <a:latin typeface="Arial"/>
                <a:ea typeface="+mn-ea"/>
                <a:cs typeface="+mn-cs"/>
              </a:rPr>
              <a:t>(8, 9) = </a:t>
            </a:r>
            <a:r>
              <a:rPr kumimoji="0" lang="en-US" sz="20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2000" b="0" i="0" u="none" strike="noStrike" kern="1200" cap="none" spc="0" normalizeH="0" baseline="0" noProof="0" dirty="0">
                <a:ln>
                  <a:noFill/>
                </a:ln>
                <a:solidFill>
                  <a:prstClr val="black"/>
                </a:solidFill>
                <a:effectLst/>
                <a:uLnTx/>
                <a:uFillTx/>
                <a:latin typeface="Arial"/>
                <a:ea typeface="+mn-ea"/>
                <a:cs typeface="+mn-cs"/>
              </a:rPr>
              <a:t>(8, 12)= 3X11=33</a:t>
            </a:r>
          </a:p>
        </p:txBody>
      </p:sp>
      <p:sp>
        <p:nvSpPr>
          <p:cNvPr id="8" name="TextBox 7"/>
          <p:cNvSpPr txBox="1"/>
          <p:nvPr/>
        </p:nvSpPr>
        <p:spPr>
          <a:xfrm>
            <a:off x="3048000" y="5143875"/>
            <a:ext cx="364555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2000" b="0" i="0" u="none" strike="noStrike" kern="1200" cap="none" spc="0" normalizeH="0" baseline="0" noProof="0" dirty="0">
                <a:ln>
                  <a:noFill/>
                </a:ln>
                <a:solidFill>
                  <a:prstClr val="black"/>
                </a:solidFill>
                <a:effectLst/>
                <a:uLnTx/>
                <a:uFillTx/>
                <a:latin typeface="Arial"/>
                <a:ea typeface="+mn-ea"/>
                <a:cs typeface="+mn-cs"/>
              </a:rPr>
              <a:t>(1, 3) = 1X12=12</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2484587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8229600" cy="459900"/>
          </a:xfrm>
        </p:spPr>
        <p:txBody>
          <a:bodyPr spcFirstLastPara="1" vert="horz" wrap="square" lIns="91440" tIns="45720" rIns="91440" bIns="45720" rtlCol="0" anchor="ctr" anchorCtr="0">
            <a:noAutofit/>
          </a:bodyPr>
          <a:lstStyle/>
          <a:p>
            <a:r>
              <a:rPr lang="en-US" sz="3200" dirty="0">
                <a:solidFill>
                  <a:srgbClr val="00B050"/>
                </a:solidFill>
              </a:rPr>
              <a:t>Girvan-Newman: Example</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B12225-5612-419B-A8D5-4B8EEE4C217E}"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7" name="Picture 2"/>
          <p:cNvPicPr>
            <a:picLocks noChangeAspect="1" noChangeArrowheads="1"/>
          </p:cNvPicPr>
          <p:nvPr/>
        </p:nvPicPr>
        <p:blipFill>
          <a:blip r:embed="rId2" cstate="print"/>
          <a:srcRect/>
          <a:stretch>
            <a:fillRect/>
          </a:stretch>
        </p:blipFill>
        <p:spPr bwMode="auto">
          <a:xfrm>
            <a:off x="2743200" y="1447800"/>
            <a:ext cx="4953000" cy="2912000"/>
          </a:xfrm>
          <a:prstGeom prst="rect">
            <a:avLst/>
          </a:prstGeom>
          <a:noFill/>
          <a:ln w="9525">
            <a:noFill/>
            <a:miter lim="800000"/>
            <a:headEnd/>
            <a:tailEnd/>
          </a:ln>
        </p:spPr>
      </p:pic>
      <p:sp>
        <p:nvSpPr>
          <p:cNvPr id="8" name="TextBox 7"/>
          <p:cNvSpPr txBox="1"/>
          <p:nvPr/>
        </p:nvSpPr>
        <p:spPr>
          <a:xfrm>
            <a:off x="2240303" y="4741536"/>
            <a:ext cx="667381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Arial" pitchFamily="34" charset="0"/>
              </a:rPr>
              <a:t>Need to re-compute </a:t>
            </a:r>
            <a:r>
              <a:rPr kumimoji="0" lang="en-US" sz="2400" b="0" i="0" u="none" strike="noStrike" kern="1200" cap="none" spc="0" normalizeH="0" baseline="0" noProof="0" dirty="0" err="1">
                <a:ln>
                  <a:noFill/>
                </a:ln>
                <a:solidFill>
                  <a:prstClr val="black"/>
                </a:solidFill>
                <a:effectLst/>
                <a:uLnTx/>
                <a:uFillTx/>
                <a:latin typeface="Arial"/>
                <a:ea typeface="+mn-ea"/>
                <a:cs typeface="Arial" pitchFamily="34" charset="0"/>
              </a:rPr>
              <a:t>betweenness</a:t>
            </a:r>
            <a:r>
              <a:rPr kumimoji="0" lang="en-US" sz="2400" b="0" i="0" u="none" strike="noStrike" kern="1200" cap="none" spc="0" normalizeH="0" baseline="0" noProof="0" dirty="0">
                <a:ln>
                  <a:noFill/>
                </a:ln>
                <a:solidFill>
                  <a:prstClr val="black"/>
                </a:solidFill>
                <a:effectLst/>
                <a:uLnTx/>
                <a:uFillTx/>
                <a:latin typeface="Arial"/>
                <a:ea typeface="+mn-ea"/>
                <a:cs typeface="Arial" pitchFamily="34" charset="0"/>
              </a:rPr>
              <a:t> at every step</a:t>
            </a:r>
          </a:p>
        </p:txBody>
      </p:sp>
      <p:sp>
        <p:nvSpPr>
          <p:cNvPr id="9" name="TextBox 8"/>
          <p:cNvSpPr txBox="1"/>
          <p:nvPr/>
        </p:nvSpPr>
        <p:spPr>
          <a:xfrm>
            <a:off x="5121198" y="2378600"/>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49</a:t>
            </a:r>
          </a:p>
        </p:txBody>
      </p:sp>
      <p:sp>
        <p:nvSpPr>
          <p:cNvPr id="10" name="TextBox 9"/>
          <p:cNvSpPr txBox="1"/>
          <p:nvPr/>
        </p:nvSpPr>
        <p:spPr>
          <a:xfrm>
            <a:off x="4381500" y="2226200"/>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33</a:t>
            </a:r>
          </a:p>
        </p:txBody>
      </p:sp>
      <p:sp>
        <p:nvSpPr>
          <p:cNvPr id="11" name="TextBox 10"/>
          <p:cNvSpPr txBox="1"/>
          <p:nvPr/>
        </p:nvSpPr>
        <p:spPr>
          <a:xfrm>
            <a:off x="3695700" y="1692800"/>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12</a:t>
            </a:r>
          </a:p>
        </p:txBody>
      </p:sp>
      <p:sp>
        <p:nvSpPr>
          <p:cNvPr id="12" name="TextBox 11"/>
          <p:cNvSpPr txBox="1"/>
          <p:nvPr/>
        </p:nvSpPr>
        <p:spPr>
          <a:xfrm>
            <a:off x="2933700" y="1842000"/>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1</a:t>
            </a:r>
          </a:p>
        </p:txBody>
      </p:sp>
      <p:cxnSp>
        <p:nvCxnSpPr>
          <p:cNvPr id="14" name="Straight Connector 13"/>
          <p:cNvCxnSpPr/>
          <p:nvPr/>
        </p:nvCxnSpPr>
        <p:spPr>
          <a:xfrm>
            <a:off x="5054438" y="2770234"/>
            <a:ext cx="522774" cy="0"/>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949240D1-3611-542A-085D-63D688FE4528}"/>
              </a:ext>
            </a:extLst>
          </p:cNvPr>
          <p:cNvSpPr txBox="1"/>
          <p:nvPr/>
        </p:nvSpPr>
        <p:spPr>
          <a:xfrm>
            <a:off x="83441" y="5341038"/>
            <a:ext cx="12012368" cy="1477328"/>
          </a:xfrm>
          <a:prstGeom prst="rect">
            <a:avLst/>
          </a:prstGeom>
          <a:noFill/>
        </p:spPr>
        <p:txBody>
          <a:bodyPr wrap="square" rtlCol="0">
            <a:spAutoFit/>
          </a:bodyPr>
          <a:lstStyle/>
          <a:p>
            <a:r>
              <a:rPr lang="en-US" dirty="0"/>
              <a:t>Because in the previous step we computed the betweenness value of all the edges. The question is can we reuse those betweenness value again in second step to minimize the num of computations ? </a:t>
            </a:r>
          </a:p>
          <a:p>
            <a:r>
              <a:rPr lang="en-US" dirty="0"/>
              <a:t>Answer  is No we can’t use the previously computed betweenness value. The moment we split the graph into 2 partitions the betweenness value of the existing edges will change; its not equal to what we had previously so we need to recompute the betweenness value for the graph components again.</a:t>
            </a:r>
          </a:p>
        </p:txBody>
      </p:sp>
    </p:spTree>
    <p:extLst>
      <p:ext uri="{BB962C8B-B14F-4D97-AF65-F5344CB8AC3E}">
        <p14:creationId xmlns:p14="http://schemas.microsoft.com/office/powerpoint/2010/main" val="222798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vert="horz" wrap="square" lIns="91440" tIns="45720" rIns="91440" bIns="45720" rtlCol="0" anchor="ctr" anchorCtr="0">
            <a:normAutofit fontScale="90000"/>
          </a:bodyPr>
          <a:lstStyle/>
          <a:p>
            <a:r>
              <a:rPr lang="en-US" dirty="0">
                <a:solidFill>
                  <a:srgbClr val="00B050"/>
                </a:solidFill>
              </a:rPr>
              <a:t>Girvan Newman method: An example</a:t>
            </a:r>
          </a:p>
        </p:txBody>
      </p:sp>
      <p:sp>
        <p:nvSpPr>
          <p:cNvPr id="6" name="TextBox 5"/>
          <p:cNvSpPr txBox="1"/>
          <p:nvPr/>
        </p:nvSpPr>
        <p:spPr>
          <a:xfrm>
            <a:off x="727788" y="6019802"/>
            <a:ext cx="106364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1800" b="0" i="0" u="none" strike="noStrike" kern="1200" cap="none" spc="0" normalizeH="0" baseline="0" noProof="0" dirty="0">
                <a:ln>
                  <a:noFill/>
                </a:ln>
                <a:solidFill>
                  <a:prstClr val="black"/>
                </a:solidFill>
                <a:effectLst/>
                <a:uLnTx/>
                <a:uFillTx/>
                <a:latin typeface="Arial"/>
                <a:ea typeface="+mn-ea"/>
                <a:cs typeface="+mn-cs"/>
              </a:rPr>
              <a:t>(3,7) = </a:t>
            </a:r>
            <a:r>
              <a:rPr kumimoji="0" lang="en-US" sz="18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1800" b="0" i="0" u="none" strike="noStrike" kern="1200" cap="none" spc="0" normalizeH="0" baseline="0" noProof="0" dirty="0">
                <a:ln>
                  <a:noFill/>
                </a:ln>
                <a:solidFill>
                  <a:prstClr val="black"/>
                </a:solidFill>
                <a:effectLst/>
                <a:uLnTx/>
                <a:uFillTx/>
                <a:latin typeface="Arial"/>
                <a:ea typeface="+mn-ea"/>
                <a:cs typeface="+mn-cs"/>
              </a:rPr>
              <a:t>(6,7) = </a:t>
            </a:r>
            <a:r>
              <a:rPr kumimoji="0" lang="en-US" sz="18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1800" b="0" i="0" u="none" strike="noStrike" kern="1200" cap="none" spc="0" normalizeH="0" baseline="0" noProof="0" dirty="0">
                <a:ln>
                  <a:noFill/>
                </a:ln>
                <a:solidFill>
                  <a:prstClr val="black"/>
                </a:solidFill>
                <a:effectLst/>
                <a:uLnTx/>
                <a:uFillTx/>
                <a:latin typeface="Arial"/>
                <a:ea typeface="+mn-ea"/>
                <a:cs typeface="+mn-cs"/>
              </a:rPr>
              <a:t>(8,9) = </a:t>
            </a:r>
            <a:r>
              <a:rPr kumimoji="0" lang="en-US" sz="18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1800" b="0" i="0" u="none" strike="noStrike" kern="1200" cap="none" spc="0" normalizeH="0" baseline="0" noProof="0" dirty="0">
                <a:ln>
                  <a:noFill/>
                </a:ln>
                <a:solidFill>
                  <a:prstClr val="black"/>
                </a:solidFill>
                <a:effectLst/>
                <a:uLnTx/>
                <a:uFillTx/>
                <a:latin typeface="Arial"/>
                <a:ea typeface="+mn-ea"/>
                <a:cs typeface="+mn-cs"/>
              </a:rPr>
              <a:t>(8,12) = 3X4=12</a:t>
            </a:r>
          </a:p>
        </p:txBody>
      </p:sp>
      <p:sp>
        <p:nvSpPr>
          <p:cNvPr id="8" name="TextBox 7"/>
          <p:cNvSpPr txBox="1"/>
          <p:nvPr/>
        </p:nvSpPr>
        <p:spPr>
          <a:xfrm>
            <a:off x="763685" y="5458528"/>
            <a:ext cx="304442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1800" b="0" i="0" u="none" strike="noStrike" kern="1200" cap="none" spc="0" normalizeH="0" baseline="0" noProof="0" dirty="0">
                <a:ln>
                  <a:noFill/>
                </a:ln>
                <a:solidFill>
                  <a:prstClr val="black"/>
                </a:solidFill>
                <a:effectLst/>
                <a:uLnTx/>
                <a:uFillTx/>
                <a:latin typeface="Arial"/>
                <a:ea typeface="+mn-ea"/>
                <a:cs typeface="+mn-cs"/>
              </a:rPr>
              <a:t>(1, 3) = 1X5=5</a:t>
            </a:r>
          </a:p>
        </p:txBody>
      </p:sp>
      <p:pic>
        <p:nvPicPr>
          <p:cNvPr id="7" name="Picture 6"/>
          <p:cNvPicPr>
            <a:picLocks noChangeAspect="1"/>
          </p:cNvPicPr>
          <p:nvPr/>
        </p:nvPicPr>
        <p:blipFill>
          <a:blip r:embed="rId2" cstate="print"/>
          <a:stretch>
            <a:fillRect/>
          </a:stretch>
        </p:blipFill>
        <p:spPr>
          <a:xfrm>
            <a:off x="3282950" y="1403350"/>
            <a:ext cx="5626100" cy="4051300"/>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sp>
        <p:nvSpPr>
          <p:cNvPr id="4" name="TextBox 3">
            <a:extLst>
              <a:ext uri="{FF2B5EF4-FFF2-40B4-BE49-F238E27FC236}">
                <a16:creationId xmlns:a16="http://schemas.microsoft.com/office/drawing/2014/main" id="{B738CEF6-DE02-AF7B-5F1B-463C1762EA48}"/>
              </a:ext>
            </a:extLst>
          </p:cNvPr>
          <p:cNvSpPr txBox="1"/>
          <p:nvPr/>
        </p:nvSpPr>
        <p:spPr>
          <a:xfrm>
            <a:off x="-1" y="6389134"/>
            <a:ext cx="12095809" cy="338554"/>
          </a:xfrm>
          <a:prstGeom prst="rect">
            <a:avLst/>
          </a:prstGeom>
          <a:noFill/>
        </p:spPr>
        <p:txBody>
          <a:bodyPr wrap="square" rtlCol="0">
            <a:spAutoFit/>
          </a:bodyPr>
          <a:lstStyle/>
          <a:p>
            <a:r>
              <a:rPr lang="en-US" sz="1600" dirty="0"/>
              <a:t>Break all  the edges (3,7), (6,7), (8,9) , (8,12) which have betweenness value as 12 i.e. the highest value of betweenness here.  </a:t>
            </a:r>
          </a:p>
        </p:txBody>
      </p:sp>
    </p:spTree>
    <p:extLst>
      <p:ext uri="{BB962C8B-B14F-4D97-AF65-F5344CB8AC3E}">
        <p14:creationId xmlns:p14="http://schemas.microsoft.com/office/powerpoint/2010/main" val="3869974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vert="horz" wrap="square" lIns="91440" tIns="45720" rIns="91440" bIns="45720" rtlCol="0" anchor="ctr" anchorCtr="0">
            <a:normAutofit fontScale="90000"/>
          </a:bodyPr>
          <a:lstStyle/>
          <a:p>
            <a:r>
              <a:rPr lang="en-US" dirty="0">
                <a:solidFill>
                  <a:srgbClr val="00B050"/>
                </a:solidFill>
              </a:rPr>
              <a:t>Girvan Newman method: An example</a:t>
            </a:r>
          </a:p>
        </p:txBody>
      </p:sp>
      <p:sp>
        <p:nvSpPr>
          <p:cNvPr id="8" name="TextBox 7"/>
          <p:cNvSpPr txBox="1"/>
          <p:nvPr/>
        </p:nvSpPr>
        <p:spPr>
          <a:xfrm>
            <a:off x="4395007" y="5454650"/>
            <a:ext cx="34227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Betweenness</a:t>
            </a:r>
            <a:r>
              <a:rPr kumimoji="0" lang="en-US" sz="1800" b="0" i="0" u="none" strike="noStrike" kern="1200" cap="none" spc="0" normalizeH="0" baseline="0" noProof="0" dirty="0">
                <a:ln>
                  <a:noFill/>
                </a:ln>
                <a:solidFill>
                  <a:prstClr val="black"/>
                </a:solidFill>
                <a:effectLst/>
                <a:uLnTx/>
                <a:uFillTx/>
                <a:latin typeface="Arial"/>
                <a:ea typeface="+mn-ea"/>
                <a:cs typeface="+mn-cs"/>
              </a:rPr>
              <a:t> of every edge = 1</a:t>
            </a:r>
          </a:p>
        </p:txBody>
      </p:sp>
      <p:pic>
        <p:nvPicPr>
          <p:cNvPr id="9" name="Picture 8"/>
          <p:cNvPicPr>
            <a:picLocks noChangeAspect="1"/>
          </p:cNvPicPr>
          <p:nvPr/>
        </p:nvPicPr>
        <p:blipFill>
          <a:blip r:embed="rId2" cstate="print"/>
          <a:stretch>
            <a:fillRect/>
          </a:stretch>
        </p:blipFill>
        <p:spPr>
          <a:xfrm>
            <a:off x="3200400" y="1466850"/>
            <a:ext cx="5791200" cy="3924300"/>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1970574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vert="horz" wrap="square" lIns="91440" tIns="45720" rIns="91440" bIns="45720" rtlCol="0" anchor="ctr" anchorCtr="0">
            <a:normAutofit fontScale="90000"/>
          </a:bodyPr>
          <a:lstStyle/>
          <a:p>
            <a:r>
              <a:rPr lang="en-US" dirty="0">
                <a:solidFill>
                  <a:srgbClr val="00B050"/>
                </a:solidFill>
              </a:rPr>
              <a:t>Girvan Newman method: An example</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pic>
        <p:nvPicPr>
          <p:cNvPr id="5" name="Picture 4"/>
          <p:cNvPicPr>
            <a:picLocks noChangeAspect="1"/>
          </p:cNvPicPr>
          <p:nvPr/>
        </p:nvPicPr>
        <p:blipFill>
          <a:blip r:embed="rId2" cstate="print"/>
          <a:stretch>
            <a:fillRect/>
          </a:stretch>
        </p:blipFill>
        <p:spPr>
          <a:xfrm>
            <a:off x="2857500" y="1816100"/>
            <a:ext cx="6477000" cy="3225800"/>
          </a:xfrm>
          <a:prstGeom prst="rect">
            <a:avLst/>
          </a:prstGeom>
        </p:spPr>
      </p:pic>
      <p:sp>
        <p:nvSpPr>
          <p:cNvPr id="4" name="TextBox 3">
            <a:extLst>
              <a:ext uri="{FF2B5EF4-FFF2-40B4-BE49-F238E27FC236}">
                <a16:creationId xmlns:a16="http://schemas.microsoft.com/office/drawing/2014/main" id="{817994D2-5DEA-7478-EF25-B68A13B2B9F9}"/>
              </a:ext>
            </a:extLst>
          </p:cNvPr>
          <p:cNvSpPr txBox="1"/>
          <p:nvPr/>
        </p:nvSpPr>
        <p:spPr>
          <a:xfrm>
            <a:off x="224589" y="5041900"/>
            <a:ext cx="11871220" cy="646331"/>
          </a:xfrm>
          <a:prstGeom prst="rect">
            <a:avLst/>
          </a:prstGeom>
          <a:noFill/>
        </p:spPr>
        <p:txBody>
          <a:bodyPr wrap="square" rtlCol="0">
            <a:spAutoFit/>
          </a:bodyPr>
          <a:lstStyle/>
          <a:p>
            <a:r>
              <a:rPr lang="en-US" dirty="0"/>
              <a:t>Getting singleton nodes is not our ultimate objective, its not helpful either so we need to remember the history of splitting from big graph to singleton nodes.</a:t>
            </a:r>
          </a:p>
        </p:txBody>
      </p:sp>
    </p:spTree>
    <p:extLst>
      <p:ext uri="{BB962C8B-B14F-4D97-AF65-F5344CB8AC3E}">
        <p14:creationId xmlns:p14="http://schemas.microsoft.com/office/powerpoint/2010/main" val="2455627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8229600" cy="762000"/>
          </a:xfrm>
        </p:spPr>
        <p:txBody>
          <a:bodyPr spcFirstLastPara="1" vert="horz" wrap="square" lIns="91440" tIns="45720" rIns="91440" bIns="45720" rtlCol="0" anchor="ctr" anchorCtr="0">
            <a:normAutofit/>
          </a:bodyPr>
          <a:lstStyle/>
          <a:p>
            <a:r>
              <a:rPr lang="en-US" sz="3200" dirty="0">
                <a:solidFill>
                  <a:srgbClr val="00B050"/>
                </a:solidFill>
              </a:rPr>
              <a:t>Girvan-Newman: Example</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B12225-5612-419B-A8D5-4B8EEE4C217E}" type="slidenum">
              <a:rPr kumimoji="0" lang="en-US"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13315" name="Picture 3"/>
          <p:cNvPicPr>
            <a:picLocks noChangeAspect="1" noChangeArrowheads="1"/>
          </p:cNvPicPr>
          <p:nvPr/>
        </p:nvPicPr>
        <p:blipFill>
          <a:blip r:embed="rId2" cstate="print"/>
          <a:srcRect/>
          <a:stretch>
            <a:fillRect/>
          </a:stretch>
        </p:blipFill>
        <p:spPr bwMode="auto">
          <a:xfrm>
            <a:off x="1981202" y="1609727"/>
            <a:ext cx="3514725" cy="2124075"/>
          </a:xfrm>
          <a:prstGeom prst="rect">
            <a:avLst/>
          </a:prstGeom>
          <a:noFill/>
          <a:ln w="9525">
            <a:noFill/>
            <a:miter lim="800000"/>
            <a:headEnd/>
            <a:tailEnd/>
          </a:ln>
        </p:spPr>
      </p:pic>
      <p:pic>
        <p:nvPicPr>
          <p:cNvPr id="13316" name="Picture 4"/>
          <p:cNvPicPr>
            <a:picLocks noChangeAspect="1" noChangeArrowheads="1"/>
          </p:cNvPicPr>
          <p:nvPr/>
        </p:nvPicPr>
        <p:blipFill>
          <a:blip r:embed="rId3" cstate="print"/>
          <a:srcRect/>
          <a:stretch>
            <a:fillRect/>
          </a:stretch>
        </p:blipFill>
        <p:spPr bwMode="auto">
          <a:xfrm>
            <a:off x="6553200" y="1657350"/>
            <a:ext cx="3505200" cy="2076450"/>
          </a:xfrm>
          <a:prstGeom prst="rect">
            <a:avLst/>
          </a:prstGeom>
          <a:noFill/>
          <a:ln w="9525">
            <a:noFill/>
            <a:miter lim="800000"/>
            <a:headEnd/>
            <a:tailEnd/>
          </a:ln>
        </p:spPr>
      </p:pic>
      <p:pic>
        <p:nvPicPr>
          <p:cNvPr id="13317" name="Picture 5"/>
          <p:cNvPicPr>
            <a:picLocks noChangeAspect="1" noChangeArrowheads="1"/>
          </p:cNvPicPr>
          <p:nvPr/>
        </p:nvPicPr>
        <p:blipFill>
          <a:blip r:embed="rId4" cstate="print"/>
          <a:srcRect/>
          <a:stretch>
            <a:fillRect/>
          </a:stretch>
        </p:blipFill>
        <p:spPr bwMode="auto">
          <a:xfrm>
            <a:off x="2057402" y="4343402"/>
            <a:ext cx="3667125" cy="2143125"/>
          </a:xfrm>
          <a:prstGeom prst="rect">
            <a:avLst/>
          </a:prstGeom>
          <a:noFill/>
          <a:ln w="9525">
            <a:noFill/>
            <a:miter lim="800000"/>
            <a:headEnd/>
            <a:tailEnd/>
          </a:ln>
        </p:spPr>
      </p:pic>
      <p:pic>
        <p:nvPicPr>
          <p:cNvPr id="13318" name="Picture 6"/>
          <p:cNvPicPr>
            <a:picLocks noChangeAspect="1" noChangeArrowheads="1"/>
          </p:cNvPicPr>
          <p:nvPr/>
        </p:nvPicPr>
        <p:blipFill>
          <a:blip r:embed="rId5" cstate="print"/>
          <a:srcRect/>
          <a:stretch>
            <a:fillRect/>
          </a:stretch>
        </p:blipFill>
        <p:spPr bwMode="auto">
          <a:xfrm>
            <a:off x="6352873" y="4343402"/>
            <a:ext cx="4108341" cy="2257425"/>
          </a:xfrm>
          <a:prstGeom prst="rect">
            <a:avLst/>
          </a:prstGeom>
          <a:noFill/>
          <a:ln w="9525">
            <a:noFill/>
            <a:miter lim="800000"/>
            <a:headEnd/>
            <a:tailEnd/>
          </a:ln>
        </p:spPr>
      </p:pic>
      <p:sp>
        <p:nvSpPr>
          <p:cNvPr id="16" name="TextBox 15"/>
          <p:cNvSpPr txBox="1"/>
          <p:nvPr/>
        </p:nvSpPr>
        <p:spPr>
          <a:xfrm>
            <a:off x="1752602" y="1371600"/>
            <a:ext cx="9541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Step 1:</a:t>
            </a:r>
          </a:p>
        </p:txBody>
      </p:sp>
      <p:sp>
        <p:nvSpPr>
          <p:cNvPr id="17" name="TextBox 16"/>
          <p:cNvSpPr txBox="1"/>
          <p:nvPr/>
        </p:nvSpPr>
        <p:spPr>
          <a:xfrm>
            <a:off x="6248402" y="1371600"/>
            <a:ext cx="9541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Step 2:</a:t>
            </a:r>
          </a:p>
        </p:txBody>
      </p:sp>
      <p:sp>
        <p:nvSpPr>
          <p:cNvPr id="18" name="TextBox 17"/>
          <p:cNvSpPr txBox="1"/>
          <p:nvPr/>
        </p:nvSpPr>
        <p:spPr>
          <a:xfrm>
            <a:off x="1752602" y="4114800"/>
            <a:ext cx="9541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Step 3:</a:t>
            </a:r>
          </a:p>
        </p:txBody>
      </p:sp>
      <p:sp>
        <p:nvSpPr>
          <p:cNvPr id="19" name="TextBox 18"/>
          <p:cNvSpPr txBox="1"/>
          <p:nvPr/>
        </p:nvSpPr>
        <p:spPr>
          <a:xfrm>
            <a:off x="6318375" y="4031166"/>
            <a:ext cx="42370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Hierarchical network decomposition:</a:t>
            </a:r>
          </a:p>
        </p:txBody>
      </p:sp>
    </p:spTree>
    <p:extLst>
      <p:ext uri="{BB962C8B-B14F-4D97-AF65-F5344CB8AC3E}">
        <p14:creationId xmlns:p14="http://schemas.microsoft.com/office/powerpoint/2010/main" val="414928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B050"/>
                </a:solidFill>
              </a:rPr>
              <a:t>Another example</a:t>
            </a:r>
          </a:p>
        </p:txBody>
      </p:sp>
      <p:pic>
        <p:nvPicPr>
          <p:cNvPr id="4" name="Picture 3"/>
          <p:cNvPicPr>
            <a:picLocks noChangeAspect="1"/>
          </p:cNvPicPr>
          <p:nvPr/>
        </p:nvPicPr>
        <p:blipFill>
          <a:blip r:embed="rId2" cstate="print"/>
          <a:stretch>
            <a:fillRect/>
          </a:stretch>
        </p:blipFill>
        <p:spPr>
          <a:xfrm>
            <a:off x="2971800" y="2133602"/>
            <a:ext cx="6851996" cy="3129725"/>
          </a:xfrm>
          <a:prstGeom prst="rect">
            <a:avLst/>
          </a:prstGeom>
        </p:spPr>
      </p:pic>
      <p:sp>
        <p:nvSpPr>
          <p:cNvPr id="6" name="TextBox 5"/>
          <p:cNvSpPr txBox="1"/>
          <p:nvPr/>
        </p:nvSpPr>
        <p:spPr>
          <a:xfrm>
            <a:off x="5900725" y="3705234"/>
            <a:ext cx="9861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Arial"/>
                <a:ea typeface="+mn-ea"/>
                <a:cs typeface="+mn-cs"/>
              </a:rPr>
              <a:t>5X5=25</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sp>
        <p:nvSpPr>
          <p:cNvPr id="8" name="TextBox 7">
            <a:extLst>
              <a:ext uri="{FF2B5EF4-FFF2-40B4-BE49-F238E27FC236}">
                <a16:creationId xmlns:a16="http://schemas.microsoft.com/office/drawing/2014/main" id="{1581A436-59B4-F6C6-58EE-61497ED1676E}"/>
              </a:ext>
            </a:extLst>
          </p:cNvPr>
          <p:cNvSpPr txBox="1"/>
          <p:nvPr/>
        </p:nvSpPr>
        <p:spPr>
          <a:xfrm>
            <a:off x="240632" y="5263327"/>
            <a:ext cx="11646568" cy="923330"/>
          </a:xfrm>
          <a:prstGeom prst="rect">
            <a:avLst/>
          </a:prstGeom>
          <a:noFill/>
        </p:spPr>
        <p:txBody>
          <a:bodyPr wrap="square" rtlCol="0">
            <a:spAutoFit/>
          </a:bodyPr>
          <a:lstStyle/>
          <a:p>
            <a:r>
              <a:rPr lang="en-US" dirty="0"/>
              <a:t>If we break the edge b/w 5 and 7 then we won’t be getting partitions. This only happens when there are multiple paths b/w 2 communities. As we can see even if we remove the edge (5,7) still b/w left and right community there is another path as 5 – 6 – 7, so just breaking the edge 5—7 won’t partition the given graph into subgraphs.</a:t>
            </a:r>
          </a:p>
        </p:txBody>
      </p:sp>
    </p:spTree>
    <p:extLst>
      <p:ext uri="{BB962C8B-B14F-4D97-AF65-F5344CB8AC3E}">
        <p14:creationId xmlns:p14="http://schemas.microsoft.com/office/powerpoint/2010/main" val="2440568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spcFirstLastPara="1" vert="horz" wrap="square" lIns="91440" tIns="45720" rIns="91440" bIns="45720" rtlCol="0" anchor="ctr" anchorCtr="0">
            <a:normAutofit fontScale="90000"/>
          </a:bodyPr>
          <a:lstStyle/>
          <a:p>
            <a:r>
              <a:rPr lang="en-US" dirty="0">
                <a:solidFill>
                  <a:srgbClr val="00B050"/>
                </a:solidFill>
              </a:rPr>
              <a:t>Another example</a:t>
            </a:r>
          </a:p>
        </p:txBody>
      </p:sp>
      <p:pic>
        <p:nvPicPr>
          <p:cNvPr id="5" name="Picture 4"/>
          <p:cNvPicPr>
            <a:picLocks noChangeAspect="1"/>
          </p:cNvPicPr>
          <p:nvPr/>
        </p:nvPicPr>
        <p:blipFill>
          <a:blip r:embed="rId2" cstate="print"/>
          <a:stretch>
            <a:fillRect/>
          </a:stretch>
        </p:blipFill>
        <p:spPr>
          <a:xfrm>
            <a:off x="2667000" y="2057402"/>
            <a:ext cx="7239000" cy="3980601"/>
          </a:xfrm>
          <a:prstGeom prst="rect">
            <a:avLst/>
          </a:prstGeom>
        </p:spPr>
      </p:pic>
      <p:sp>
        <p:nvSpPr>
          <p:cNvPr id="7" name="TextBox 6"/>
          <p:cNvSpPr txBox="1"/>
          <p:nvPr/>
        </p:nvSpPr>
        <p:spPr>
          <a:xfrm>
            <a:off x="6177383" y="2454276"/>
            <a:ext cx="9861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Arial"/>
                <a:ea typeface="+mn-ea"/>
                <a:cs typeface="+mn-cs"/>
              </a:rPr>
              <a:t>5X6=30</a:t>
            </a:r>
          </a:p>
        </p:txBody>
      </p:sp>
      <p:sp>
        <p:nvSpPr>
          <p:cNvPr id="8" name="TextBox 7"/>
          <p:cNvSpPr txBox="1"/>
          <p:nvPr/>
        </p:nvSpPr>
        <p:spPr>
          <a:xfrm>
            <a:off x="4634365" y="2454276"/>
            <a:ext cx="9861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Arial"/>
                <a:ea typeface="+mn-ea"/>
                <a:cs typeface="+mn-cs"/>
              </a:rPr>
              <a:t>5X6=30</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2494290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553" y="304948"/>
            <a:ext cx="8229600" cy="1143000"/>
          </a:xfrm>
        </p:spPr>
        <p:txBody>
          <a:bodyPr spcFirstLastPara="1" vert="horz" wrap="square" lIns="91440" tIns="45720" rIns="91440" bIns="45720" rtlCol="0" anchor="ctr" anchorCtr="0">
            <a:normAutofit/>
          </a:bodyPr>
          <a:lstStyle/>
          <a:p>
            <a:r>
              <a:rPr lang="en-US" dirty="0">
                <a:solidFill>
                  <a:srgbClr val="00B050"/>
                </a:solidFill>
              </a:rPr>
              <a:t>Another example</a:t>
            </a:r>
          </a:p>
        </p:txBody>
      </p:sp>
      <p:pic>
        <p:nvPicPr>
          <p:cNvPr id="6" name="Picture 5"/>
          <p:cNvPicPr>
            <a:picLocks noChangeAspect="1"/>
          </p:cNvPicPr>
          <p:nvPr/>
        </p:nvPicPr>
        <p:blipFill>
          <a:blip r:embed="rId2" cstate="print"/>
          <a:stretch>
            <a:fillRect/>
          </a:stretch>
        </p:blipFill>
        <p:spPr>
          <a:xfrm>
            <a:off x="2996859" y="2351871"/>
            <a:ext cx="6457100" cy="3286931"/>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1115297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rgbClr val="00B050"/>
                </a:solidFill>
              </a:rPr>
              <a:t>Computing</a:t>
            </a:r>
            <a:r>
              <a:rPr lang="en-US" sz="4800" dirty="0">
                <a:solidFill>
                  <a:srgbClr val="00B050"/>
                </a:solidFill>
              </a:rPr>
              <a:t> </a:t>
            </a:r>
            <a:r>
              <a:rPr lang="en-US" dirty="0" err="1">
                <a:solidFill>
                  <a:srgbClr val="00B050"/>
                </a:solidFill>
              </a:rPr>
              <a:t>Betweenness</a:t>
            </a:r>
            <a:endParaRPr lang="en-US" dirty="0">
              <a:solidFill>
                <a:srgbClr val="00B050"/>
              </a:solidFill>
            </a:endParaRPr>
          </a:p>
        </p:txBody>
      </p:sp>
      <p:sp>
        <p:nvSpPr>
          <p:cNvPr id="6" name="Content Placeholder 5"/>
          <p:cNvSpPr>
            <a:spLocks noGrp="1"/>
          </p:cNvSpPr>
          <p:nvPr>
            <p:ph idx="1"/>
          </p:nvPr>
        </p:nvSpPr>
        <p:spPr/>
        <p:txBody>
          <a:bodyPr/>
          <a:lstStyle/>
          <a:p>
            <a:pPr marL="342900" indent="-342900">
              <a:buAutoNum type="arabicPeriod"/>
            </a:pPr>
            <a:r>
              <a:rPr lang="en-US" sz="2400" dirty="0"/>
              <a:t>Perform a Breadth-First-Search (BFS) starting from A</a:t>
            </a:r>
          </a:p>
          <a:p>
            <a:pPr marL="342900" indent="-342900">
              <a:buAutoNum type="arabicPeriod"/>
            </a:pPr>
            <a:endParaRPr lang="en-US" sz="2400" dirty="0"/>
          </a:p>
          <a:p>
            <a:pPr marL="342900" indent="-342900">
              <a:buAutoNum type="arabicPeriod"/>
            </a:pPr>
            <a:endParaRPr lang="en-US" sz="2400" dirty="0"/>
          </a:p>
          <a:p>
            <a:pPr marL="342900" indent="-342900">
              <a:buAutoNum type="arabicPeriod"/>
            </a:pPr>
            <a:r>
              <a:rPr lang="en-US" sz="2400" dirty="0"/>
              <a:t>Determine the number of shortest path from A to each other node</a:t>
            </a:r>
          </a:p>
          <a:p>
            <a:pPr marL="342900" indent="-342900">
              <a:buAutoNum type="arabicPeriod"/>
            </a:pPr>
            <a:endParaRPr lang="en-US" sz="2400" dirty="0"/>
          </a:p>
          <a:p>
            <a:pPr marL="342900" indent="-342900">
              <a:buAutoNum type="arabicPeriod"/>
            </a:pPr>
            <a:endParaRPr lang="en-US" sz="2400" dirty="0"/>
          </a:p>
          <a:p>
            <a:pPr marL="342900" indent="-342900">
              <a:buAutoNum type="arabicPeriod"/>
            </a:pPr>
            <a:r>
              <a:rPr lang="en-US" sz="2400" dirty="0"/>
              <a:t>Based on these numbers, determine the amount of flow from A to all other nodes that uses each edge</a:t>
            </a:r>
          </a:p>
          <a:p>
            <a:endParaRPr lang="en-US" sz="2400" dirty="0"/>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E0B35-C73E-49DE-9EA0-4D9F6C87E107}" type="slidenum">
              <a:rPr kumimoji="0" lang="el-GR"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l-GR"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676054560"/>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leanor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3332</TotalTime>
  <Words>1707</Words>
  <Application>Microsoft Office PowerPoint</Application>
  <PresentationFormat>Widescreen</PresentationFormat>
  <Paragraphs>241</Paragraphs>
  <Slides>32</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Arial</vt:lpstr>
      <vt:lpstr>Calibri</vt:lpstr>
      <vt:lpstr>Cambria Math</vt:lpstr>
      <vt:lpstr>Century Schoolbook</vt:lpstr>
      <vt:lpstr>Google Sans</vt:lpstr>
      <vt:lpstr>Quicksand</vt:lpstr>
      <vt:lpstr>Office Theme</vt:lpstr>
      <vt:lpstr>Eleanor template</vt:lpstr>
      <vt:lpstr>Big Data Processing</vt:lpstr>
      <vt:lpstr> Graph (Network) Data Processing</vt:lpstr>
      <vt:lpstr> Agenda</vt:lpstr>
      <vt:lpstr>Graph Basics</vt:lpstr>
      <vt:lpstr>Types of Graph</vt:lpstr>
      <vt:lpstr>Representing Graph</vt:lpstr>
      <vt:lpstr>  Why Study Graphs?</vt:lpstr>
      <vt:lpstr>Graph and Communities</vt:lpstr>
      <vt:lpstr>Graph Partitioning for Community Discovery </vt:lpstr>
      <vt:lpstr>Protein-Protein interaction networks</vt:lpstr>
      <vt:lpstr>Facebook Network</vt:lpstr>
      <vt:lpstr>Communities</vt:lpstr>
      <vt:lpstr>Community detection as clustering</vt:lpstr>
      <vt:lpstr>How do we find communities?</vt:lpstr>
      <vt:lpstr>The Girvan-Newman Algorithm</vt:lpstr>
      <vt:lpstr>A Motivating Example</vt:lpstr>
      <vt:lpstr>The Girvan-Newman method</vt:lpstr>
      <vt:lpstr>The Girvan-Newman method</vt:lpstr>
      <vt:lpstr>Edge importance </vt:lpstr>
      <vt:lpstr>Edge Betweeness</vt:lpstr>
      <vt:lpstr>Examples</vt:lpstr>
      <vt:lpstr>The Girvan-Newman Algorithm</vt:lpstr>
      <vt:lpstr>Girvan Newman method: An example</vt:lpstr>
      <vt:lpstr>Girvan-Newman: Example</vt:lpstr>
      <vt:lpstr>Girvan Newman method: An example</vt:lpstr>
      <vt:lpstr>Girvan Newman method: An example</vt:lpstr>
      <vt:lpstr>Girvan Newman method: An example</vt:lpstr>
      <vt:lpstr>Girvan-Newman: Example</vt:lpstr>
      <vt:lpstr>Another example</vt:lpstr>
      <vt:lpstr>Another example</vt:lpstr>
      <vt:lpstr>Another example</vt:lpstr>
      <vt:lpstr>Computing Betweenness</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783</cp:revision>
  <dcterms:created xsi:type="dcterms:W3CDTF">2020-05-13T23:12:08Z</dcterms:created>
  <dcterms:modified xsi:type="dcterms:W3CDTF">2025-04-21T15:53:49Z</dcterms:modified>
  <cp:contentStatus/>
</cp:coreProperties>
</file>