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handoutMasterIdLst>
    <p:handoutMasterId r:id="rId37"/>
  </p:handoutMasterIdLst>
  <p:sldIdLst>
    <p:sldId id="256" r:id="rId3"/>
    <p:sldId id="394" r:id="rId4"/>
    <p:sldId id="445" r:id="rId5"/>
    <p:sldId id="401" r:id="rId6"/>
    <p:sldId id="408" r:id="rId7"/>
    <p:sldId id="410" r:id="rId8"/>
    <p:sldId id="411" r:id="rId9"/>
    <p:sldId id="413" r:id="rId10"/>
    <p:sldId id="416" r:id="rId11"/>
    <p:sldId id="419" r:id="rId12"/>
    <p:sldId id="427" r:id="rId13"/>
    <p:sldId id="429" r:id="rId14"/>
    <p:sldId id="430" r:id="rId15"/>
    <p:sldId id="421" r:id="rId16"/>
    <p:sldId id="422" r:id="rId17"/>
    <p:sldId id="423" r:id="rId18"/>
    <p:sldId id="424" r:id="rId19"/>
    <p:sldId id="425" r:id="rId20"/>
    <p:sldId id="426" r:id="rId21"/>
    <p:sldId id="431" r:id="rId22"/>
    <p:sldId id="432" r:id="rId23"/>
    <p:sldId id="433" r:id="rId24"/>
    <p:sldId id="434" r:id="rId25"/>
    <p:sldId id="435" r:id="rId26"/>
    <p:sldId id="510" r:id="rId27"/>
    <p:sldId id="511" r:id="rId28"/>
    <p:sldId id="512" r:id="rId29"/>
    <p:sldId id="513" r:id="rId30"/>
    <p:sldId id="514" r:id="rId31"/>
    <p:sldId id="515" r:id="rId32"/>
    <p:sldId id="516" r:id="rId33"/>
    <p:sldId id="517" r:id="rId34"/>
    <p:sldId id="51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663300"/>
    <a:srgbClr val="CAA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341" autoAdjust="0"/>
    <p:restoredTop sz="94660"/>
  </p:normalViewPr>
  <p:slideViewPr>
    <p:cSldViewPr snapToGrid="0">
      <p:cViewPr varScale="1">
        <p:scale>
          <a:sx n="39" d="100"/>
          <a:sy n="39" d="100"/>
        </p:scale>
        <p:origin x="62" y="965"/>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BEC899-9F02-491A-8D3A-9F1A2E35BED9}" type="datetimeFigureOut">
              <a:rPr lang="en-IN" smtClean="0"/>
              <a:t>02-04-2025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7F388-92B4-4CCE-98AB-E3403A750BCE}" type="slidenum">
              <a:rPr lang="en-IN" smtClean="0"/>
              <a:t>‹#›</a:t>
            </a:fld>
            <a:endParaRPr lang="en-IN"/>
          </a:p>
        </p:txBody>
      </p:sp>
    </p:spTree>
    <p:extLst>
      <p:ext uri="{BB962C8B-B14F-4D97-AF65-F5344CB8AC3E}">
        <p14:creationId xmlns:p14="http://schemas.microsoft.com/office/powerpoint/2010/main" val="2860447380"/>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A62B8-ED7E-4D6E-9A93-014178291C11}" type="datetimeFigureOut">
              <a:rPr lang="en-IN" smtClean="0"/>
              <a:t>02-04-2025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C15D4-91CA-4DB9-8C01-BAE492E5AD48}" type="slidenum">
              <a:rPr lang="en-IN" smtClean="0"/>
              <a:t>‹#›</a:t>
            </a:fld>
            <a:endParaRPr lang="en-IN"/>
          </a:p>
        </p:txBody>
      </p:sp>
    </p:spTree>
    <p:extLst>
      <p:ext uri="{BB962C8B-B14F-4D97-AF65-F5344CB8AC3E}">
        <p14:creationId xmlns:p14="http://schemas.microsoft.com/office/powerpoint/2010/main" val="191279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771164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lvl1pPr>
              <a:defRPr>
                <a:solidFill>
                  <a:schemeClr val="accent4">
                    <a:lumMod val="75000"/>
                  </a:schemeClr>
                </a:solidFill>
              </a:defRPr>
            </a:lvl1pPr>
          </a:lstStyle>
          <a:p>
            <a:r>
              <a:rPr lang="en-US" dirty="0"/>
              <a:t>Click to edit Master title style</a:t>
            </a:r>
            <a:endParaRPr lang="en-IN" dirty="0"/>
          </a:p>
        </p:txBody>
      </p:sp>
      <p:sp>
        <p:nvSpPr>
          <p:cNvPr id="3" name="Content Placeholder 2"/>
          <p:cNvSpPr>
            <a:spLocks noGrp="1"/>
          </p:cNvSpPr>
          <p:nvPr>
            <p:ph idx="1"/>
          </p:nvPr>
        </p:nvSpPr>
        <p:spPr>
          <a:xfrm>
            <a:off x="838200" y="1471749"/>
            <a:ext cx="10515600" cy="4705214"/>
          </a:xfrm>
        </p:spPr>
        <p:txBody>
          <a:bodyPr/>
          <a:lstStyle>
            <a:lvl1pPr>
              <a:defRPr b="1">
                <a:solidFill>
                  <a:srgbClr val="0070C0"/>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D8581B5-CE63-4C0B-AF1D-F1A23F619540}" type="datetimeFigureOut">
              <a:rPr lang="en-IN" smtClean="0"/>
              <a:t>02-04-2025</a:t>
            </a:fld>
            <a:endParaRPr lang="en-IN"/>
          </a:p>
        </p:txBody>
      </p:sp>
      <p:sp>
        <p:nvSpPr>
          <p:cNvPr id="5" name="Footer Placeholder 4"/>
          <p:cNvSpPr>
            <a:spLocks noGrp="1"/>
          </p:cNvSpPr>
          <p:nvPr>
            <p:ph type="ftr" sz="quarter" idx="11"/>
          </p:nvPr>
        </p:nvSpPr>
        <p:spPr/>
        <p:txBody>
          <a:bodyPr/>
          <a:lstStyle>
            <a:lvl1pPr>
              <a:defRPr b="1">
                <a:solidFill>
                  <a:schemeClr val="bg2">
                    <a:lumMod val="10000"/>
                  </a:schemeClr>
                </a:solidFill>
              </a:defRPr>
            </a:lvl1pPr>
          </a:lstStyle>
          <a:p>
            <a:r>
              <a:rPr lang="en-IN" dirty="0"/>
              <a:t>Jiaul Paik, IIT </a:t>
            </a:r>
            <a:r>
              <a:rPr lang="en-IN" dirty="0" err="1"/>
              <a:t>Kharagpur</a:t>
            </a:r>
            <a:endParaRPr lang="en-IN" dirty="0"/>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5717684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D8581B5-CE63-4C0B-AF1D-F1A23F619540}"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03086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8581B5-CE63-4C0B-AF1D-F1A23F619540}" type="datetimeFigureOut">
              <a:rPr lang="en-IN" smtClean="0"/>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95237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D8581B5-CE63-4C0B-AF1D-F1A23F619540}" type="datetimeFigureOut">
              <a:rPr lang="en-IN" smtClean="0"/>
              <a:t>02-04-2025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533970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8581B5-CE63-4C0B-AF1D-F1A23F619540}" type="datetimeFigureOut">
              <a:rPr lang="en-IN" smtClean="0"/>
              <a:t>02-04-2025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65923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581B5-CE63-4C0B-AF1D-F1A23F619540}" type="datetimeFigureOut">
              <a:rPr lang="en-IN" smtClean="0"/>
              <a:t>02-04-2025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1052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402082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02-04-2025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1217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7888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02-04-2025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95618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553967" y="665975"/>
            <a:ext cx="9144000" cy="459900"/>
          </a:xfrm>
          <a:prstGeom prst="rect">
            <a:avLst/>
          </a:prstGeom>
        </p:spPr>
        <p:txBody>
          <a:bodyPr spcFirstLastPara="1" wrap="square" lIns="91425" tIns="91425" rIns="91425" bIns="91425" anchor="b" anchorCtr="0"/>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42" name="Google Shape;42;p7"/>
          <p:cNvSpPr txBox="1">
            <a:spLocks noGrp="1"/>
          </p:cNvSpPr>
          <p:nvPr>
            <p:ph type="body" idx="1"/>
          </p:nvPr>
        </p:nvSpPr>
        <p:spPr>
          <a:xfrm>
            <a:off x="1553967"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43" name="Google Shape;43;p7"/>
          <p:cNvSpPr txBox="1">
            <a:spLocks noGrp="1"/>
          </p:cNvSpPr>
          <p:nvPr>
            <p:ph type="body" idx="2"/>
          </p:nvPr>
        </p:nvSpPr>
        <p:spPr>
          <a:xfrm>
            <a:off x="4922999"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sp>
        <p:nvSpPr>
          <p:cNvPr id="44" name="Google Shape;44;p7"/>
          <p:cNvSpPr txBox="1">
            <a:spLocks noGrp="1"/>
          </p:cNvSpPr>
          <p:nvPr>
            <p:ph type="body" idx="3"/>
          </p:nvPr>
        </p:nvSpPr>
        <p:spPr>
          <a:xfrm>
            <a:off x="8292031" y="1673975"/>
            <a:ext cx="3204800" cy="4893900"/>
          </a:xfrm>
          <a:prstGeom prst="rect">
            <a:avLst/>
          </a:prstGeom>
        </p:spPr>
        <p:txBody>
          <a:bodyPr spcFirstLastPara="1" wrap="square" lIns="91425" tIns="91425" rIns="91425" bIns="91425" anchor="t" anchorCtr="0"/>
          <a:lstStyle>
            <a:lvl1pPr marL="457200" lvl="0" indent="-355600" rtl="0">
              <a:spcBef>
                <a:spcPts val="600"/>
              </a:spcBef>
              <a:spcAft>
                <a:spcPts val="0"/>
              </a:spcAft>
              <a:buSzPts val="2000"/>
              <a:buChar char="◦"/>
              <a:defRPr sz="2000"/>
            </a:lvl1pPr>
            <a:lvl2pPr marL="914400" lvl="1" indent="-355600" rtl="0">
              <a:spcBef>
                <a:spcPts val="0"/>
              </a:spcBef>
              <a:spcAft>
                <a:spcPts val="0"/>
              </a:spcAft>
              <a:buSzPts val="2000"/>
              <a:buChar char="▫"/>
              <a:defRPr sz="2000"/>
            </a:lvl2pPr>
            <a:lvl3pPr marL="1371600" lvl="2" indent="-355600" rtl="0">
              <a:spcBef>
                <a:spcPts val="0"/>
              </a:spcBef>
              <a:spcAft>
                <a:spcPts val="0"/>
              </a:spcAft>
              <a:buSzPts val="2000"/>
              <a:buChar char="■"/>
              <a:defRPr sz="2000"/>
            </a:lvl3pPr>
            <a:lvl4pPr marL="1828800" lvl="3" indent="-355600" rtl="0">
              <a:spcBef>
                <a:spcPts val="0"/>
              </a:spcBef>
              <a:spcAft>
                <a:spcPts val="0"/>
              </a:spcAft>
              <a:buSzPts val="2000"/>
              <a:buChar char="●"/>
              <a:defRPr sz="2000"/>
            </a:lvl4pPr>
            <a:lvl5pPr marL="2286000" lvl="4" indent="-355600" rtl="0">
              <a:spcBef>
                <a:spcPts val="0"/>
              </a:spcBef>
              <a:spcAft>
                <a:spcPts val="0"/>
              </a:spcAft>
              <a:buSzPts val="2000"/>
              <a:buChar char="○"/>
              <a:defRPr sz="2000"/>
            </a:lvl5pPr>
            <a:lvl6pPr marL="2743200" lvl="5" indent="-355600" rtl="0">
              <a:spcBef>
                <a:spcPts val="0"/>
              </a:spcBef>
              <a:spcAft>
                <a:spcPts val="0"/>
              </a:spcAft>
              <a:buSzPts val="2000"/>
              <a:buChar char="■"/>
              <a:defRPr sz="2000"/>
            </a:lvl6pPr>
            <a:lvl7pPr marL="3200400" lvl="6" indent="-355600" rtl="0">
              <a:spcBef>
                <a:spcPts val="0"/>
              </a:spcBef>
              <a:spcAft>
                <a:spcPts val="0"/>
              </a:spcAft>
              <a:buSzPts val="2000"/>
              <a:buChar char="●"/>
              <a:defRPr sz="2000"/>
            </a:lvl7pPr>
            <a:lvl8pPr marL="3657600" lvl="7" indent="-355600" rtl="0">
              <a:spcBef>
                <a:spcPts val="0"/>
              </a:spcBef>
              <a:spcAft>
                <a:spcPts val="0"/>
              </a:spcAft>
              <a:buSzPts val="2000"/>
              <a:buChar char="○"/>
              <a:defRPr sz="2000"/>
            </a:lvl8pPr>
            <a:lvl9pPr marL="4114800" lvl="8" indent="-355600" rtl="0">
              <a:spcBef>
                <a:spcPts val="0"/>
              </a:spcBef>
              <a:spcAft>
                <a:spcPts val="0"/>
              </a:spcAft>
              <a:buSzPts val="2000"/>
              <a:buChar char="■"/>
              <a:defRPr sz="2000"/>
            </a:lvl9pPr>
          </a:lstStyle>
          <a:p>
            <a:endParaRPr/>
          </a:p>
        </p:txBody>
      </p:sp>
      <p:cxnSp>
        <p:nvCxnSpPr>
          <p:cNvPr id="45" name="Google Shape;45;p7"/>
          <p:cNvCxnSpPr/>
          <p:nvPr/>
        </p:nvCxnSpPr>
        <p:spPr>
          <a:xfrm>
            <a:off x="1205100" y="-7925"/>
            <a:ext cx="0" cy="6866100"/>
          </a:xfrm>
          <a:prstGeom prst="straightConnector1">
            <a:avLst/>
          </a:prstGeom>
          <a:noFill/>
          <a:ln w="9525" cap="flat" cmpd="sng">
            <a:solidFill>
              <a:srgbClr val="999FA9"/>
            </a:solidFill>
            <a:prstDash val="solid"/>
            <a:round/>
            <a:headEnd type="none" w="med" len="med"/>
            <a:tailEnd type="none" w="med" len="med"/>
          </a:ln>
        </p:spPr>
      </p:cxnSp>
      <p:sp>
        <p:nvSpPr>
          <p:cNvPr id="46" name="Google Shape;46;p7"/>
          <p:cNvSpPr/>
          <p:nvPr/>
        </p:nvSpPr>
        <p:spPr>
          <a:xfrm>
            <a:off x="1078300" y="800750"/>
            <a:ext cx="253600" cy="190200"/>
          </a:xfrm>
          <a:prstGeom prst="ellipse">
            <a:avLst/>
          </a:prstGeom>
          <a:solidFill>
            <a:srgbClr val="39C0BA"/>
          </a:solidFill>
          <a:ln w="28575" cap="flat" cmpd="sng">
            <a:solidFill>
              <a:srgbClr val="2E3037"/>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7" name="Google Shape;47;p7"/>
          <p:cNvSpPr/>
          <p:nvPr/>
        </p:nvSpPr>
        <p:spPr>
          <a:xfrm>
            <a:off x="1025400" y="1861900"/>
            <a:ext cx="359200" cy="269400"/>
          </a:xfrm>
          <a:prstGeom prst="ellipse">
            <a:avLst/>
          </a:prstGeom>
          <a:solidFill>
            <a:srgbClr val="2E3037"/>
          </a:solidFill>
          <a:ln w="9525" cap="flat" cmpd="sng">
            <a:solidFill>
              <a:srgbClr val="999FA9"/>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Google Shape;48;p7"/>
          <p:cNvSpPr txBox="1">
            <a:spLocks noGrp="1"/>
          </p:cNvSpPr>
          <p:nvPr>
            <p:ph type="sldNum" idx="12"/>
          </p:nvPr>
        </p:nvSpPr>
        <p:spPr>
          <a:xfrm>
            <a:off x="11364209" y="6437775"/>
            <a:ext cx="731600" cy="4203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84015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key color">
  <p:cSld name="Blank key color">
    <p:spTree>
      <p:nvGrpSpPr>
        <p:cNvPr id="1" name="Shape 63"/>
        <p:cNvGrpSpPr/>
        <p:nvPr/>
      </p:nvGrpSpPr>
      <p:grpSpPr>
        <a:xfrm>
          <a:off x="0" y="0"/>
          <a:ext cx="0" cy="0"/>
          <a:chOff x="0" y="0"/>
          <a:chExt cx="0" cy="0"/>
        </a:xfrm>
      </p:grpSpPr>
      <p:cxnSp>
        <p:nvCxnSpPr>
          <p:cNvPr id="64" name="Google Shape;64;p11"/>
          <p:cNvCxnSpPr/>
          <p:nvPr/>
        </p:nvCxnSpPr>
        <p:spPr>
          <a:xfrm>
            <a:off x="1205100" y="-7925"/>
            <a:ext cx="0" cy="6866100"/>
          </a:xfrm>
          <a:prstGeom prst="straightConnector1">
            <a:avLst/>
          </a:prstGeom>
          <a:noFill/>
          <a:ln w="9525" cap="flat" cmpd="sng">
            <a:solidFill>
              <a:srgbClr val="2E3037"/>
            </a:solidFill>
            <a:prstDash val="solid"/>
            <a:round/>
            <a:headEnd type="none" w="med" len="med"/>
            <a:tailEnd type="none" w="med" len="med"/>
          </a:ln>
        </p:spPr>
      </p:cxnSp>
      <p:sp>
        <p:nvSpPr>
          <p:cNvPr id="65" name="Google Shape;65;p11"/>
          <p:cNvSpPr/>
          <p:nvPr/>
        </p:nvSpPr>
        <p:spPr>
          <a:xfrm>
            <a:off x="1078200" y="3333900"/>
            <a:ext cx="253600" cy="190200"/>
          </a:xfrm>
          <a:prstGeom prst="ellipse">
            <a:avLst/>
          </a:prstGeom>
          <a:solidFill>
            <a:srgbClr val="39C0BA"/>
          </a:solidFill>
          <a:ln w="9525" cap="flat" cmpd="sng">
            <a:solidFill>
              <a:srgbClr val="2E3037"/>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6" name="Google Shape;66;p11"/>
          <p:cNvSpPr txBox="1">
            <a:spLocks noGrp="1"/>
          </p:cNvSpPr>
          <p:nvPr>
            <p:ph type="sldNum" idx="12"/>
          </p:nvPr>
        </p:nvSpPr>
        <p:spPr>
          <a:xfrm>
            <a:off x="11364209" y="6437775"/>
            <a:ext cx="731600" cy="420300"/>
          </a:xfrm>
          <a:prstGeom prst="rect">
            <a:avLst/>
          </a:prstGeom>
        </p:spPr>
        <p:txBody>
          <a:bodyPr spcFirstLastPara="1" wrap="square" lIns="91425" tIns="91425" rIns="91425" bIns="91425" anchor="t" anchorCtr="0">
            <a:noAutofit/>
          </a:bodyPr>
          <a:lstStyle>
            <a:lvl1pPr lvl="0">
              <a:buNone/>
              <a:defRPr>
                <a:solidFill>
                  <a:srgbClr val="2E3037"/>
                </a:solidFill>
              </a:defRPr>
            </a:lvl1pPr>
            <a:lvl2pPr lvl="1">
              <a:buNone/>
              <a:defRPr>
                <a:solidFill>
                  <a:srgbClr val="2E3037"/>
                </a:solidFill>
              </a:defRPr>
            </a:lvl2pPr>
            <a:lvl3pPr lvl="2">
              <a:buNone/>
              <a:defRPr>
                <a:solidFill>
                  <a:srgbClr val="2E3037"/>
                </a:solidFill>
              </a:defRPr>
            </a:lvl3pPr>
            <a:lvl4pPr lvl="3">
              <a:buNone/>
              <a:defRPr>
                <a:solidFill>
                  <a:srgbClr val="2E3037"/>
                </a:solidFill>
              </a:defRPr>
            </a:lvl4pPr>
            <a:lvl5pPr lvl="4">
              <a:buNone/>
              <a:defRPr>
                <a:solidFill>
                  <a:srgbClr val="2E3037"/>
                </a:solidFill>
              </a:defRPr>
            </a:lvl5pPr>
            <a:lvl6pPr lvl="5">
              <a:buNone/>
              <a:defRPr>
                <a:solidFill>
                  <a:srgbClr val="2E3037"/>
                </a:solidFill>
              </a:defRPr>
            </a:lvl6pPr>
            <a:lvl7pPr lvl="6">
              <a:buNone/>
              <a:defRPr>
                <a:solidFill>
                  <a:srgbClr val="2E3037"/>
                </a:solidFill>
              </a:defRPr>
            </a:lvl7pPr>
            <a:lvl8pPr lvl="7">
              <a:buNone/>
              <a:defRPr>
                <a:solidFill>
                  <a:srgbClr val="2E3037"/>
                </a:solidFill>
              </a:defRPr>
            </a:lvl8pPr>
            <a:lvl9pPr lvl="8">
              <a:buNone/>
              <a:defRPr>
                <a:solidFill>
                  <a:srgbClr val="2E3037"/>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66146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2667" y="220786"/>
            <a:ext cx="10972800" cy="541214"/>
          </a:xfrm>
        </p:spPr>
        <p:txBody>
          <a:bodyPr/>
          <a:lstStyle>
            <a:lvl1pPr>
              <a:defRPr sz="3200">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677333" y="1295400"/>
            <a:ext cx="10972800" cy="5181600"/>
          </a:xfrm>
        </p:spPr>
        <p:txBody>
          <a:bodyPr/>
          <a:lstStyle>
            <a:lvl1pPr marL="457200" indent="-419100">
              <a:buClr>
                <a:srgbClr val="002060"/>
              </a:buClr>
              <a:buFont typeface="Arial" panose="020B0604020202020204" pitchFamily="34" charset="0"/>
              <a:buChar char="•"/>
              <a:defRPr>
                <a:solidFill>
                  <a:schemeClr val="tx1"/>
                </a:solidFill>
              </a:defRPr>
            </a:lvl1pPr>
            <a:lvl2pPr marL="914400" indent="-381000">
              <a:buClr>
                <a:srgbClr val="002060"/>
              </a:buClr>
              <a:buFont typeface="Arial" panose="020B0604020202020204" pitchFamily="34" charset="0"/>
              <a:buChar char="•"/>
              <a:defRPr b="0">
                <a:solidFill>
                  <a:schemeClr val="tx1"/>
                </a:solidFill>
              </a:defRPr>
            </a:lvl2pPr>
            <a:lvl3pPr marL="1371600" indent="-381000">
              <a:buClr>
                <a:srgbClr val="002060"/>
              </a:buClr>
              <a:buFont typeface="Arial" panose="020B0604020202020204" pitchFamily="34" charset="0"/>
              <a:buChar char="•"/>
              <a:defRPr>
                <a:solidFill>
                  <a:schemeClr val="tx1"/>
                </a:solidFill>
              </a:defRPr>
            </a:lvl3pPr>
            <a:lvl4pPr marL="1828800" indent="-342900">
              <a:buClr>
                <a:srgbClr val="002060"/>
              </a:buClr>
              <a:buFont typeface="Arial" panose="020B0604020202020204" pitchFamily="34" charset="0"/>
              <a:buChar char="•"/>
              <a:defRPr b="0">
                <a:solidFill>
                  <a:schemeClr val="tx1"/>
                </a:solidFill>
              </a:defRPr>
            </a:lvl4pPr>
            <a:lvl5pPr marL="2286000" indent="-342900">
              <a:buClr>
                <a:srgbClr val="002060"/>
              </a:buClr>
              <a:buFont typeface="Arial" panose="020B0604020202020204" pitchFamily="34" charset="0"/>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12133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581B5-CE63-4C0B-AF1D-F1A23F619540}" type="datetimeFigureOut">
              <a:rPr lang="en-IN" smtClean="0"/>
              <a:t>02-04-2025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DD252-A74E-4E8E-A6B4-FCD6DE8F900F}" type="slidenum">
              <a:rPr lang="en-IN" smtClean="0"/>
              <a:t>‹#›</a:t>
            </a:fld>
            <a:endParaRPr lang="en-IN"/>
          </a:p>
        </p:txBody>
      </p:sp>
    </p:spTree>
    <p:extLst>
      <p:ext uri="{BB962C8B-B14F-4D97-AF65-F5344CB8AC3E}">
        <p14:creationId xmlns:p14="http://schemas.microsoft.com/office/powerpoint/2010/main" val="285816313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553967" y="665975"/>
            <a:ext cx="9144000" cy="4599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1pPr>
            <a:lvl2pPr lvl="1">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2pPr>
            <a:lvl3pPr lvl="2">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3pPr>
            <a:lvl4pPr lvl="3">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4pPr>
            <a:lvl5pPr lvl="4">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5pPr>
            <a:lvl6pPr lvl="5">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6pPr>
            <a:lvl7pPr lvl="6">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7pPr>
            <a:lvl8pPr lvl="7">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8pPr>
            <a:lvl9pPr lvl="8">
              <a:spcBef>
                <a:spcPts val="0"/>
              </a:spcBef>
              <a:spcAft>
                <a:spcPts val="0"/>
              </a:spcAft>
              <a:buClr>
                <a:srgbClr val="39C0BA"/>
              </a:buClr>
              <a:buSzPts val="1800"/>
              <a:buFont typeface="Quicksand"/>
              <a:buNone/>
              <a:defRPr sz="1800">
                <a:solidFill>
                  <a:srgbClr val="39C0BA"/>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1553998" y="1600200"/>
            <a:ext cx="9144000" cy="49677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F3F3F3"/>
              </a:buClr>
              <a:buSzPts val="3000"/>
              <a:buFont typeface="Quicksand"/>
              <a:buChar char="◦"/>
              <a:defRPr sz="3000">
                <a:solidFill>
                  <a:srgbClr val="F3F3F3"/>
                </a:solidFill>
                <a:latin typeface="Quicksand"/>
                <a:ea typeface="Quicksand"/>
                <a:cs typeface="Quicksand"/>
                <a:sym typeface="Quicksand"/>
              </a:defRPr>
            </a:lvl1pPr>
            <a:lvl2pPr marL="914400" lvl="1" indent="-38100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2pPr>
            <a:lvl3pPr marL="1371600" lvl="2" indent="-381000">
              <a:spcBef>
                <a:spcPts val="0"/>
              </a:spcBef>
              <a:spcAft>
                <a:spcPts val="0"/>
              </a:spcAft>
              <a:buClr>
                <a:srgbClr val="F3F3F3"/>
              </a:buClr>
              <a:buSzPts val="2400"/>
              <a:buFont typeface="Quicksand"/>
              <a:buChar char="■"/>
              <a:defRPr sz="2400">
                <a:solidFill>
                  <a:srgbClr val="F3F3F3"/>
                </a:solidFill>
                <a:latin typeface="Quicksand"/>
                <a:ea typeface="Quicksand"/>
                <a:cs typeface="Quicksand"/>
                <a:sym typeface="Quicksand"/>
              </a:defRPr>
            </a:lvl3pPr>
            <a:lvl4pPr marL="1828800" lvl="3"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4pPr>
            <a:lvl5pPr marL="2286000" lvl="4"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5pPr>
            <a:lvl6pPr marL="2743200" lvl="5"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6pPr>
            <a:lvl7pPr marL="3200400" lvl="6"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7pPr>
            <a:lvl8pPr marL="3657600" lvl="7"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8pPr>
            <a:lvl9pPr marL="4114800" lvl="8" indent="-342900">
              <a:spcBef>
                <a:spcPts val="0"/>
              </a:spcBef>
              <a:spcAft>
                <a:spcPts val="0"/>
              </a:spcAft>
              <a:buClr>
                <a:srgbClr val="F3F3F3"/>
              </a:buClr>
              <a:buSzPts val="1800"/>
              <a:buFont typeface="Quicksand"/>
              <a:buChar char="■"/>
              <a:defRPr sz="1800">
                <a:solidFill>
                  <a:srgbClr val="F3F3F3"/>
                </a:solidFill>
                <a:latin typeface="Quicksand"/>
                <a:ea typeface="Quicksand"/>
                <a:cs typeface="Quicksand"/>
                <a:sym typeface="Quicksand"/>
              </a:defRPr>
            </a:lvl9pPr>
          </a:lstStyle>
          <a:p>
            <a:endParaRPr/>
          </a:p>
        </p:txBody>
      </p:sp>
      <p:sp>
        <p:nvSpPr>
          <p:cNvPr id="8" name="Google Shape;8;p1"/>
          <p:cNvSpPr txBox="1">
            <a:spLocks noGrp="1"/>
          </p:cNvSpPr>
          <p:nvPr>
            <p:ph type="sldNum" idx="12"/>
          </p:nvPr>
        </p:nvSpPr>
        <p:spPr>
          <a:xfrm>
            <a:off x="11364209" y="6437775"/>
            <a:ext cx="731600" cy="420300"/>
          </a:xfrm>
          <a:prstGeom prst="rect">
            <a:avLst/>
          </a:prstGeom>
          <a:noFill/>
          <a:ln>
            <a:noFill/>
          </a:ln>
        </p:spPr>
        <p:txBody>
          <a:bodyPr spcFirstLastPara="1" wrap="square" lIns="91425" tIns="91425" rIns="91425" bIns="91425" anchor="t" anchorCtr="0">
            <a:noAutofit/>
          </a:bodyPr>
          <a:lstStyle>
            <a:lvl1pPr lvl="0" algn="r">
              <a:buNone/>
              <a:defRPr sz="1200">
                <a:solidFill>
                  <a:srgbClr val="39C0BA"/>
                </a:solidFill>
                <a:latin typeface="Quicksand"/>
                <a:ea typeface="Quicksand"/>
                <a:cs typeface="Quicksand"/>
                <a:sym typeface="Quicksand"/>
              </a:defRPr>
            </a:lvl1pPr>
            <a:lvl2pPr lvl="1" algn="r">
              <a:buNone/>
              <a:defRPr sz="1200">
                <a:solidFill>
                  <a:srgbClr val="39C0BA"/>
                </a:solidFill>
                <a:latin typeface="Quicksand"/>
                <a:ea typeface="Quicksand"/>
                <a:cs typeface="Quicksand"/>
                <a:sym typeface="Quicksand"/>
              </a:defRPr>
            </a:lvl2pPr>
            <a:lvl3pPr lvl="2" algn="r">
              <a:buNone/>
              <a:defRPr sz="1200">
                <a:solidFill>
                  <a:srgbClr val="39C0BA"/>
                </a:solidFill>
                <a:latin typeface="Quicksand"/>
                <a:ea typeface="Quicksand"/>
                <a:cs typeface="Quicksand"/>
                <a:sym typeface="Quicksand"/>
              </a:defRPr>
            </a:lvl3pPr>
            <a:lvl4pPr lvl="3" algn="r">
              <a:buNone/>
              <a:defRPr sz="1200">
                <a:solidFill>
                  <a:srgbClr val="39C0BA"/>
                </a:solidFill>
                <a:latin typeface="Quicksand"/>
                <a:ea typeface="Quicksand"/>
                <a:cs typeface="Quicksand"/>
                <a:sym typeface="Quicksand"/>
              </a:defRPr>
            </a:lvl4pPr>
            <a:lvl5pPr lvl="4" algn="r">
              <a:buNone/>
              <a:defRPr sz="1200">
                <a:solidFill>
                  <a:srgbClr val="39C0BA"/>
                </a:solidFill>
                <a:latin typeface="Quicksand"/>
                <a:ea typeface="Quicksand"/>
                <a:cs typeface="Quicksand"/>
                <a:sym typeface="Quicksand"/>
              </a:defRPr>
            </a:lvl5pPr>
            <a:lvl6pPr lvl="5" algn="r">
              <a:buNone/>
              <a:defRPr sz="1200">
                <a:solidFill>
                  <a:srgbClr val="39C0BA"/>
                </a:solidFill>
                <a:latin typeface="Quicksand"/>
                <a:ea typeface="Quicksand"/>
                <a:cs typeface="Quicksand"/>
                <a:sym typeface="Quicksand"/>
              </a:defRPr>
            </a:lvl6pPr>
            <a:lvl7pPr lvl="6" algn="r">
              <a:buNone/>
              <a:defRPr sz="1200">
                <a:solidFill>
                  <a:srgbClr val="39C0BA"/>
                </a:solidFill>
                <a:latin typeface="Quicksand"/>
                <a:ea typeface="Quicksand"/>
                <a:cs typeface="Quicksand"/>
                <a:sym typeface="Quicksand"/>
              </a:defRPr>
            </a:lvl7pPr>
            <a:lvl8pPr lvl="7" algn="r">
              <a:buNone/>
              <a:defRPr sz="1200">
                <a:solidFill>
                  <a:srgbClr val="39C0BA"/>
                </a:solidFill>
                <a:latin typeface="Quicksand"/>
                <a:ea typeface="Quicksand"/>
                <a:cs typeface="Quicksand"/>
                <a:sym typeface="Quicksand"/>
              </a:defRPr>
            </a:lvl8pPr>
            <a:lvl9pPr lvl="8" algn="r">
              <a:buNone/>
              <a:defRPr sz="1200">
                <a:solidFill>
                  <a:srgbClr val="39C0BA"/>
                </a:solidFill>
                <a:latin typeface="Quicksand"/>
                <a:ea typeface="Quicksand"/>
                <a:cs typeface="Quicksand"/>
                <a:sym typeface="Quicksand"/>
              </a:defRPr>
            </a:lvl9pPr>
          </a:lstStyle>
          <a:p>
            <a:pPr>
              <a:buClr>
                <a:srgbClr val="000000"/>
              </a:buClr>
            </a:pPr>
            <a:fld id="{00000000-1234-1234-1234-123412341234}" type="slidenum">
              <a:rPr lang="en" kern="0" smtClean="0"/>
              <a:pPr>
                <a:buClr>
                  <a:srgbClr val="000000"/>
                </a:buClr>
              </a:pPr>
              <a:t>‹#›</a:t>
            </a:fld>
            <a:endParaRPr lang="en" kern="0"/>
          </a:p>
        </p:txBody>
      </p:sp>
    </p:spTree>
    <p:extLst>
      <p:ext uri="{BB962C8B-B14F-4D97-AF65-F5344CB8AC3E}">
        <p14:creationId xmlns:p14="http://schemas.microsoft.com/office/powerpoint/2010/main" val="388012585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915" y="1122363"/>
            <a:ext cx="9972085" cy="1408401"/>
          </a:xfrm>
        </p:spPr>
        <p:txBody>
          <a:bodyPr>
            <a:normAutofit/>
          </a:bodyPr>
          <a:lstStyle/>
          <a:p>
            <a:r>
              <a:rPr lang="en-US" sz="4800" dirty="0">
                <a:solidFill>
                  <a:schemeClr val="accent4"/>
                </a:solidFill>
                <a:latin typeface="Century Schoolbook" panose="02040604050505020304" pitchFamily="18" charset="0"/>
              </a:rPr>
              <a:t>Big Data Processing</a:t>
            </a:r>
            <a:endParaRPr lang="en-IN" sz="4800" dirty="0">
              <a:solidFill>
                <a:schemeClr val="accent4"/>
              </a:solidFill>
              <a:latin typeface="Century Schoolbook" panose="02040604050505020304" pitchFamily="18" charset="0"/>
            </a:endParaRPr>
          </a:p>
        </p:txBody>
      </p:sp>
      <p:sp>
        <p:nvSpPr>
          <p:cNvPr id="3" name="Subtitle 2"/>
          <p:cNvSpPr>
            <a:spLocks noGrp="1"/>
          </p:cNvSpPr>
          <p:nvPr>
            <p:ph type="subTitle" idx="1"/>
          </p:nvPr>
        </p:nvSpPr>
        <p:spPr>
          <a:xfrm>
            <a:off x="1311564" y="3500438"/>
            <a:ext cx="9144000" cy="1655762"/>
          </a:xfrm>
        </p:spPr>
        <p:txBody>
          <a:bodyPr>
            <a:normAutofit/>
          </a:bodyPr>
          <a:lstStyle/>
          <a:p>
            <a:r>
              <a:rPr lang="en-IN" sz="4400" dirty="0">
                <a:latin typeface="Century Schoolbook" panose="02040604050505020304" pitchFamily="18" charset="0"/>
              </a:rPr>
              <a:t>Jiaul Paik</a:t>
            </a:r>
          </a:p>
          <a:p>
            <a:r>
              <a:rPr lang="en-IN" sz="3200" dirty="0">
                <a:latin typeface="Century Schoolbook" panose="02040604050505020304" pitchFamily="18" charset="0"/>
              </a:rPr>
              <a:t>Lecture 10</a:t>
            </a:r>
          </a:p>
        </p:txBody>
      </p:sp>
    </p:spTree>
    <p:extLst>
      <p:ext uri="{BB962C8B-B14F-4D97-AF65-F5344CB8AC3E}">
        <p14:creationId xmlns:p14="http://schemas.microsoft.com/office/powerpoint/2010/main" val="273389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89311" y="1970844"/>
            <a:ext cx="9030727" cy="2208158"/>
          </a:xfrm>
        </p:spPr>
        <p:txBody>
          <a:bodyPr/>
          <a:lstStyle/>
          <a:p>
            <a:pPr algn="ctr"/>
            <a:r>
              <a:rPr lang="en-US" sz="4000" b="1" dirty="0">
                <a:solidFill>
                  <a:srgbClr val="0070C0"/>
                </a:solidFill>
                <a:latin typeface="Times New Roman" panose="02020603050405020304" pitchFamily="18" charset="0"/>
                <a:cs typeface="Times New Roman" panose="02020603050405020304" pitchFamily="18" charset="0"/>
              </a:rPr>
              <a:t>S</a:t>
            </a:r>
            <a:r>
              <a:rPr lang="en-IN" sz="4000" b="1" dirty="0">
                <a:solidFill>
                  <a:srgbClr val="0070C0"/>
                </a:solidFill>
                <a:latin typeface="Times New Roman" panose="02020603050405020304" pitchFamily="18" charset="0"/>
                <a:cs typeface="Times New Roman" panose="02020603050405020304" pitchFamily="18" charset="0"/>
              </a:rPr>
              <a:t>park: Recap</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398594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Rectangle 2"/>
          <p:cNvSpPr>
            <a:spLocks noGrp="1" noChangeArrowheads="1"/>
          </p:cNvSpPr>
          <p:nvPr>
            <p:ph type="title"/>
          </p:nvPr>
        </p:nvSpPr>
        <p:spPr>
          <a:xfrm>
            <a:off x="556532" y="643467"/>
            <a:ext cx="11210925" cy="744836"/>
          </a:xfrm>
        </p:spPr>
        <p:txBody>
          <a:bodyPr vert="horz" lIns="91440" tIns="45720" rIns="91440" bIns="45720" rtlCol="0" anchor="ctr">
            <a:normAutofit/>
          </a:bodyPr>
          <a:lstStyle/>
          <a:p>
            <a:pPr algn="ctr">
              <a:lnSpc>
                <a:spcPct val="90000"/>
              </a:lnSpc>
              <a:spcBef>
                <a:spcPct val="0"/>
              </a:spcBef>
            </a:pPr>
            <a:r>
              <a:rPr lang="en-US" kern="1200">
                <a:solidFill>
                  <a:schemeClr val="bg1"/>
                </a:solidFill>
                <a:latin typeface="+mj-lt"/>
                <a:ea typeface="+mj-ea"/>
                <a:cs typeface="+mj-cs"/>
              </a:rPr>
              <a:t>Iterative Algorithm in Map-reduce: Issues</a:t>
            </a:r>
          </a:p>
        </p:txBody>
      </p:sp>
      <p:pic>
        <p:nvPicPr>
          <p:cNvPr id="8" name="Picture 7">
            <a:extLst>
              <a:ext uri="{FF2B5EF4-FFF2-40B4-BE49-F238E27FC236}">
                <a16:creationId xmlns:a16="http://schemas.microsoft.com/office/drawing/2014/main" id="{F1D31CA9-8C7E-420A-ABD5-9B5E5A57B224}"/>
              </a:ext>
            </a:extLst>
          </p:cNvPr>
          <p:cNvPicPr>
            <a:picLocks noChangeAspect="1"/>
          </p:cNvPicPr>
          <p:nvPr/>
        </p:nvPicPr>
        <p:blipFill>
          <a:blip r:embed="rId2"/>
          <a:stretch>
            <a:fillRect/>
          </a:stretch>
        </p:blipFill>
        <p:spPr>
          <a:xfrm>
            <a:off x="1494745" y="1675227"/>
            <a:ext cx="9202509" cy="4394199"/>
          </a:xfrm>
          <a:prstGeom prst="rect">
            <a:avLst/>
          </a:prstGeom>
        </p:spPr>
      </p:pic>
    </p:spTree>
    <p:extLst>
      <p:ext uri="{BB962C8B-B14F-4D97-AF65-F5344CB8AC3E}">
        <p14:creationId xmlns:p14="http://schemas.microsoft.com/office/powerpoint/2010/main" val="3140629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902" y="148502"/>
            <a:ext cx="9875520" cy="617415"/>
          </a:xfrm>
        </p:spPr>
        <p:txBody>
          <a:bodyPr>
            <a:noAutofit/>
          </a:bodyPr>
          <a:lstStyle/>
          <a:p>
            <a:r>
              <a:rPr lang="en-US" b="1" dirty="0">
                <a:solidFill>
                  <a:srgbClr val="0070C0"/>
                </a:solidFill>
              </a:rPr>
              <a:t>Key Concept in Spark for Working with Data</a:t>
            </a:r>
          </a:p>
        </p:txBody>
      </p:sp>
      <p:sp>
        <p:nvSpPr>
          <p:cNvPr id="3" name="Content Placeholder 2"/>
          <p:cNvSpPr>
            <a:spLocks noGrp="1"/>
          </p:cNvSpPr>
          <p:nvPr>
            <p:ph idx="1"/>
          </p:nvPr>
        </p:nvSpPr>
        <p:spPr>
          <a:xfrm>
            <a:off x="1137920" y="876301"/>
            <a:ext cx="9875520" cy="2754509"/>
          </a:xfrm>
        </p:spPr>
        <p:txBody>
          <a:bodyPr>
            <a:normAutofit fontScale="92500" lnSpcReduction="20000"/>
          </a:bodyPr>
          <a:lstStyle/>
          <a:p>
            <a:r>
              <a:rPr lang="en-US" sz="2400" b="1" dirty="0">
                <a:solidFill>
                  <a:srgbClr val="00B050"/>
                </a:solidFill>
              </a:rPr>
              <a:t>Resilient Distributed Dataset (RDD)</a:t>
            </a:r>
          </a:p>
          <a:p>
            <a:pPr lvl="1"/>
            <a:endParaRPr lang="en-US" dirty="0"/>
          </a:p>
          <a:p>
            <a:pPr lvl="1"/>
            <a:r>
              <a:rPr lang="en-US" b="1" dirty="0"/>
              <a:t>Resilient:</a:t>
            </a:r>
            <a:r>
              <a:rPr lang="en-US" dirty="0"/>
              <a:t>   can re-compute missing or damaged partitions due to node failures</a:t>
            </a:r>
          </a:p>
          <a:p>
            <a:pPr lvl="1"/>
            <a:endParaRPr lang="en-US" dirty="0"/>
          </a:p>
          <a:p>
            <a:pPr lvl="1"/>
            <a:r>
              <a:rPr lang="en-US" b="1" dirty="0"/>
              <a:t>Distributed:</a:t>
            </a:r>
            <a:r>
              <a:rPr lang="en-US" dirty="0"/>
              <a:t>  data residing on multiple nodes in a cluster</a:t>
            </a:r>
          </a:p>
          <a:p>
            <a:pPr lvl="1"/>
            <a:endParaRPr lang="en-US" dirty="0"/>
          </a:p>
          <a:p>
            <a:pPr lvl="1"/>
            <a:r>
              <a:rPr lang="en-US" b="1" dirty="0"/>
              <a:t>Dataset:</a:t>
            </a:r>
            <a:r>
              <a:rPr lang="en-US" dirty="0"/>
              <a:t>  a collection of partitioned data with primitive values (e.g., </a:t>
            </a:r>
            <a:r>
              <a:rPr lang="en-US" dirty="0" err="1"/>
              <a:t>int</a:t>
            </a:r>
            <a:r>
              <a:rPr lang="en-US" dirty="0"/>
              <a:t>, string) or any user defined object (e.g., (word, count) pairs)</a:t>
            </a:r>
          </a:p>
          <a:p>
            <a:pPr lvl="1"/>
            <a:endParaRPr lang="en-US" sz="1600" dirty="0"/>
          </a:p>
          <a:p>
            <a:pPr lvl="1"/>
            <a:endParaRPr lang="en-US" sz="1600" dirty="0"/>
          </a:p>
          <a:p>
            <a:pPr marL="219645" lvl="1" indent="0">
              <a:buNone/>
            </a:pPr>
            <a:endParaRPr lang="en-US" sz="1600" dirty="0"/>
          </a:p>
          <a:p>
            <a:pPr lvl="1"/>
            <a:endParaRPr lang="en-US" b="0" dirty="0"/>
          </a:p>
        </p:txBody>
      </p:sp>
      <p:sp>
        <p:nvSpPr>
          <p:cNvPr id="19" name="Rectangle 18"/>
          <p:cNvSpPr/>
          <p:nvPr/>
        </p:nvSpPr>
        <p:spPr>
          <a:xfrm>
            <a:off x="2946259" y="4637984"/>
            <a:ext cx="1524000" cy="1828800"/>
          </a:xfrm>
          <a:prstGeom prst="rect">
            <a:avLst/>
          </a:prstGeom>
          <a:solidFill>
            <a:srgbClr val="FFFFFF"/>
          </a:solidFill>
          <a:ln w="26425" cap="flat" cmpd="sng" algn="ctr">
            <a:solidFill>
              <a:srgbClr val="79463D"/>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92934"/>
              </a:solidFill>
              <a:effectLst/>
              <a:uLnTx/>
              <a:uFillTx/>
              <a:latin typeface="Arial"/>
              <a:ea typeface="+mn-ea"/>
              <a:cs typeface="+mn-cs"/>
            </a:endParaRPr>
          </a:p>
        </p:txBody>
      </p:sp>
      <p:sp>
        <p:nvSpPr>
          <p:cNvPr id="22" name="Rectangle 21"/>
          <p:cNvSpPr/>
          <p:nvPr/>
        </p:nvSpPr>
        <p:spPr>
          <a:xfrm>
            <a:off x="6800056" y="4630863"/>
            <a:ext cx="1600200" cy="1828800"/>
          </a:xfrm>
          <a:prstGeom prst="rect">
            <a:avLst/>
          </a:prstGeom>
          <a:solidFill>
            <a:srgbClr val="FFFFFF"/>
          </a:solidFill>
          <a:ln w="26425" cap="flat" cmpd="sng" algn="ctr">
            <a:solidFill>
              <a:srgbClr val="79463D"/>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292934"/>
              </a:solidFill>
              <a:effectLst/>
              <a:uLnTx/>
              <a:uFillTx/>
              <a:latin typeface="Arial"/>
              <a:ea typeface="+mn-ea"/>
              <a:cs typeface="+mn-cs"/>
            </a:endParaRPr>
          </a:p>
        </p:txBody>
      </p:sp>
      <p:sp>
        <p:nvSpPr>
          <p:cNvPr id="23" name="Rounded Rectangle 22"/>
          <p:cNvSpPr/>
          <p:nvPr/>
        </p:nvSpPr>
        <p:spPr>
          <a:xfrm>
            <a:off x="3138539" y="48245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am</a:t>
            </a:r>
          </a:p>
        </p:txBody>
      </p:sp>
      <p:sp>
        <p:nvSpPr>
          <p:cNvPr id="24" name="Rounded Rectangle 23"/>
          <p:cNvSpPr/>
          <p:nvPr/>
        </p:nvSpPr>
        <p:spPr>
          <a:xfrm>
            <a:off x="3138539" y="52055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master</a:t>
            </a:r>
          </a:p>
        </p:txBody>
      </p:sp>
      <p:sp>
        <p:nvSpPr>
          <p:cNvPr id="25" name="Rounded Rectangle 24"/>
          <p:cNvSpPr/>
          <p:nvPr/>
        </p:nvSpPr>
        <p:spPr>
          <a:xfrm>
            <a:off x="3138539" y="55865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natural</a:t>
            </a:r>
          </a:p>
        </p:txBody>
      </p:sp>
      <p:sp>
        <p:nvSpPr>
          <p:cNvPr id="26" name="Rounded Rectangle 25"/>
          <p:cNvSpPr/>
          <p:nvPr/>
        </p:nvSpPr>
        <p:spPr>
          <a:xfrm>
            <a:off x="3138539" y="59675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student</a:t>
            </a:r>
          </a:p>
        </p:txBody>
      </p:sp>
      <p:sp>
        <p:nvSpPr>
          <p:cNvPr id="27" name="Rounded Rectangle 26"/>
          <p:cNvSpPr/>
          <p:nvPr/>
        </p:nvSpPr>
        <p:spPr>
          <a:xfrm>
            <a:off x="7066756" y="47483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am, 10</a:t>
            </a:r>
          </a:p>
        </p:txBody>
      </p:sp>
      <p:sp>
        <p:nvSpPr>
          <p:cNvPr id="28" name="Rounded Rectangle 27"/>
          <p:cNvSpPr/>
          <p:nvPr/>
        </p:nvSpPr>
        <p:spPr>
          <a:xfrm>
            <a:off x="7100939" y="51293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master, 5</a:t>
            </a:r>
          </a:p>
        </p:txBody>
      </p:sp>
      <p:sp>
        <p:nvSpPr>
          <p:cNvPr id="29" name="Rounded Rectangle 28"/>
          <p:cNvSpPr/>
          <p:nvPr/>
        </p:nvSpPr>
        <p:spPr>
          <a:xfrm>
            <a:off x="7100939" y="5510368"/>
            <a:ext cx="10668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natural, 7</a:t>
            </a:r>
          </a:p>
        </p:txBody>
      </p:sp>
      <p:sp>
        <p:nvSpPr>
          <p:cNvPr id="30" name="Rounded Rectangle 29"/>
          <p:cNvSpPr/>
          <p:nvPr/>
        </p:nvSpPr>
        <p:spPr>
          <a:xfrm>
            <a:off x="7024739" y="5983947"/>
            <a:ext cx="1219200" cy="228600"/>
          </a:xfrm>
          <a:prstGeom prst="roundRect">
            <a:avLst/>
          </a:prstGeom>
          <a:solidFill>
            <a:srgbClr val="808DA0"/>
          </a:solidFill>
          <a:ln w="26425" cap="flat" cmpd="sng" algn="ctr">
            <a:solidFill>
              <a:srgbClr val="808DA0">
                <a:shade val="50000"/>
              </a:srgbClr>
            </a:solidFill>
            <a:prstDash val="solid"/>
          </a:ln>
          <a:effectLst/>
        </p:spPr>
        <p:txBody>
          <a:bodyPr rtlCol="0" anchor="ctr"/>
          <a:lstStyle/>
          <a:p>
            <a:pPr marL="0" marR="0" lvl="0" indent="0" algn="ctr" defTabSz="670985"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Arial"/>
                <a:ea typeface="+mn-ea"/>
                <a:cs typeface="+mn-cs"/>
              </a:rPr>
              <a:t>student, 17</a:t>
            </a:r>
          </a:p>
        </p:txBody>
      </p:sp>
      <p:sp>
        <p:nvSpPr>
          <p:cNvPr id="31" name="TextBox 30"/>
          <p:cNvSpPr txBox="1"/>
          <p:nvPr/>
        </p:nvSpPr>
        <p:spPr>
          <a:xfrm>
            <a:off x="2946259" y="4092476"/>
            <a:ext cx="1438214" cy="307777"/>
          </a:xfrm>
          <a:prstGeom prst="rect">
            <a:avLst/>
          </a:prstGeom>
          <a:noFill/>
        </p:spPr>
        <p:txBody>
          <a:bodyPr wrap="none" rtlCol="0">
            <a:spAutoFit/>
          </a:bodyPr>
          <a:lstStyle/>
          <a:p>
            <a:pPr marL="0" marR="0" lvl="0" indent="0" algn="l" defTabSz="670985"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70C0"/>
                </a:solidFill>
                <a:effectLst/>
                <a:uLnTx/>
                <a:uFillTx/>
                <a:latin typeface="Arial"/>
                <a:ea typeface="+mn-ea"/>
                <a:cs typeface="+mn-cs"/>
              </a:rPr>
              <a:t>RDD of strings</a:t>
            </a:r>
          </a:p>
        </p:txBody>
      </p:sp>
      <p:sp>
        <p:nvSpPr>
          <p:cNvPr id="32" name="TextBox 31"/>
          <p:cNvSpPr txBox="1"/>
          <p:nvPr/>
        </p:nvSpPr>
        <p:spPr>
          <a:xfrm>
            <a:off x="6872861" y="4000142"/>
            <a:ext cx="1269899" cy="492443"/>
          </a:xfrm>
          <a:prstGeom prst="rect">
            <a:avLst/>
          </a:prstGeom>
          <a:noFill/>
        </p:spPr>
        <p:txBody>
          <a:bodyPr wrap="none" rtlCol="0">
            <a:spAutoFit/>
          </a:bodyPr>
          <a:lstStyle/>
          <a:p>
            <a:pPr marL="0" marR="0" lvl="0" indent="0" algn="l" defTabSz="670985"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0070C0"/>
                </a:solidFill>
                <a:effectLst/>
                <a:uLnTx/>
                <a:uFillTx/>
                <a:latin typeface="Arial"/>
                <a:ea typeface="+mn-ea"/>
                <a:cs typeface="+mn-cs"/>
              </a:rPr>
              <a:t>RDD of pairs</a:t>
            </a:r>
          </a:p>
          <a:p>
            <a:pPr marL="0" marR="0" lvl="0" indent="0" algn="l" defTabSz="670985"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70C0"/>
                </a:solidFill>
                <a:effectLst/>
                <a:uLnTx/>
                <a:uFillTx/>
                <a:latin typeface="Arial"/>
                <a:ea typeface="+mn-ea"/>
                <a:cs typeface="+mn-cs"/>
              </a:rPr>
              <a:t> (word, count)</a:t>
            </a:r>
          </a:p>
        </p:txBody>
      </p:sp>
      <p:cxnSp>
        <p:nvCxnSpPr>
          <p:cNvPr id="33" name="Straight Arrow Connector 32"/>
          <p:cNvCxnSpPr>
            <a:endCxn id="35" idx="0"/>
          </p:cNvCxnSpPr>
          <p:nvPr/>
        </p:nvCxnSpPr>
        <p:spPr>
          <a:xfrm>
            <a:off x="4205339" y="4983862"/>
            <a:ext cx="1375194" cy="492322"/>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34" name="Straight Arrow Connector 33"/>
          <p:cNvCxnSpPr>
            <a:endCxn id="35" idx="0"/>
          </p:cNvCxnSpPr>
          <p:nvPr/>
        </p:nvCxnSpPr>
        <p:spPr>
          <a:xfrm flipH="1">
            <a:off x="5580533" y="4907662"/>
            <a:ext cx="1444210" cy="568522"/>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35" name="TextBox 34"/>
          <p:cNvSpPr txBox="1"/>
          <p:nvPr/>
        </p:nvSpPr>
        <p:spPr>
          <a:xfrm>
            <a:off x="4814939" y="5476184"/>
            <a:ext cx="1531188" cy="369332"/>
          </a:xfrm>
          <a:prstGeom prst="rect">
            <a:avLst/>
          </a:prstGeom>
          <a:noFill/>
        </p:spPr>
        <p:txBody>
          <a:bodyPr wrap="none" rtlCol="0">
            <a:spAutoFit/>
          </a:bodyPr>
          <a:lstStyle/>
          <a:p>
            <a:pPr marL="0" marR="0" lvl="0" indent="0" algn="l" defTabSz="670985"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00B050"/>
                </a:solidFill>
                <a:effectLst/>
                <a:uLnTx/>
                <a:uFillTx/>
                <a:latin typeface="Arial"/>
                <a:ea typeface="+mn-ea"/>
                <a:cs typeface="+mn-cs"/>
              </a:rPr>
              <a:t>one element</a:t>
            </a:r>
          </a:p>
        </p:txBody>
      </p:sp>
    </p:spTree>
    <p:extLst>
      <p:ext uri="{BB962C8B-B14F-4D97-AF65-F5344CB8AC3E}">
        <p14:creationId xmlns:p14="http://schemas.microsoft.com/office/powerpoint/2010/main" val="3535062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8240" y="228601"/>
            <a:ext cx="9875520" cy="541215"/>
          </a:xfrm>
        </p:spPr>
        <p:txBody>
          <a:bodyPr/>
          <a:lstStyle/>
          <a:p>
            <a:r>
              <a:rPr lang="en-US" sz="2800" b="1" dirty="0">
                <a:solidFill>
                  <a:srgbClr val="00B050"/>
                </a:solidFill>
              </a:rPr>
              <a:t>Main Steps of an RDD Processing</a:t>
            </a:r>
          </a:p>
        </p:txBody>
      </p:sp>
      <p:sp>
        <p:nvSpPr>
          <p:cNvPr id="3" name="Content Placeholder 2"/>
          <p:cNvSpPr>
            <a:spLocks noGrp="1"/>
          </p:cNvSpPr>
          <p:nvPr>
            <p:ph idx="1"/>
          </p:nvPr>
        </p:nvSpPr>
        <p:spPr>
          <a:xfrm>
            <a:off x="1158241" y="1219200"/>
            <a:ext cx="9875520" cy="5181600"/>
          </a:xfrm>
        </p:spPr>
        <p:txBody>
          <a:bodyPr>
            <a:noAutofit/>
          </a:bodyPr>
          <a:lstStyle/>
          <a:p>
            <a:pPr marL="457189" indent="-457189">
              <a:buFont typeface="+mj-lt"/>
              <a:buAutoNum type="arabicPeriod"/>
            </a:pPr>
            <a:r>
              <a:rPr lang="en-US" sz="2400" dirty="0">
                <a:solidFill>
                  <a:srgbClr val="C00000"/>
                </a:solidFill>
              </a:rPr>
              <a:t>Create</a:t>
            </a:r>
            <a:r>
              <a:rPr lang="en-US" sz="2400" dirty="0"/>
              <a:t>  RDD from external data (from distributed file system or local file system)</a:t>
            </a:r>
          </a:p>
          <a:p>
            <a:pPr marL="1447764" lvl="2" indent="-457189">
              <a:buFont typeface="+mj-lt"/>
              <a:buAutoNum type="arabicPeriod"/>
            </a:pPr>
            <a:endParaRPr lang="en-US" dirty="0">
              <a:solidFill>
                <a:schemeClr val="tx1"/>
              </a:solidFill>
            </a:endParaRPr>
          </a:p>
          <a:p>
            <a:pPr marL="457189" indent="-457189">
              <a:buFont typeface="+mj-lt"/>
              <a:buAutoNum type="arabicPeriod"/>
            </a:pPr>
            <a:endParaRPr lang="en-US" sz="2400" dirty="0"/>
          </a:p>
          <a:p>
            <a:pPr marL="457189" indent="-457189">
              <a:buFont typeface="+mj-lt"/>
              <a:buAutoNum type="arabicPeriod"/>
            </a:pPr>
            <a:r>
              <a:rPr lang="en-US" sz="2400" dirty="0">
                <a:solidFill>
                  <a:srgbClr val="C00000"/>
                </a:solidFill>
              </a:rPr>
              <a:t>Transform</a:t>
            </a:r>
            <a:r>
              <a:rPr lang="en-US" sz="2400" dirty="0"/>
              <a:t> them to define new RDDs using transformations </a:t>
            </a:r>
          </a:p>
          <a:p>
            <a:pPr lvl="1" indent="-457189"/>
            <a:r>
              <a:rPr lang="en-US" sz="1800" dirty="0"/>
              <a:t>map(), filter()</a:t>
            </a:r>
          </a:p>
          <a:p>
            <a:pPr indent="-457189">
              <a:buFont typeface="+mj-lt"/>
              <a:buAutoNum type="arabicPeriod"/>
            </a:pPr>
            <a:endParaRPr lang="en-US" sz="2400" dirty="0"/>
          </a:p>
          <a:p>
            <a:pPr marL="457189" indent="-457189">
              <a:buFont typeface="+mj-lt"/>
              <a:buAutoNum type="arabicPeriod"/>
            </a:pPr>
            <a:r>
              <a:rPr lang="en-US" sz="2400" dirty="0">
                <a:solidFill>
                  <a:srgbClr val="C00000"/>
                </a:solidFill>
              </a:rPr>
              <a:t>Store in memory </a:t>
            </a:r>
            <a:r>
              <a:rPr lang="en-US" sz="2400" dirty="0"/>
              <a:t>any intermediate RDDs that will need to be reused.</a:t>
            </a:r>
          </a:p>
          <a:p>
            <a:pPr lvl="1" indent="-457189"/>
            <a:r>
              <a:rPr lang="en-US" sz="1800" dirty="0"/>
              <a:t>persist()</a:t>
            </a:r>
          </a:p>
          <a:p>
            <a:pPr indent="-457189">
              <a:buFont typeface="+mj-lt"/>
              <a:buAutoNum type="arabicPeriod"/>
            </a:pPr>
            <a:endParaRPr lang="en-US" sz="2400" dirty="0"/>
          </a:p>
          <a:p>
            <a:pPr marL="457189" indent="-457189">
              <a:buFont typeface="+mj-lt"/>
              <a:buAutoNum type="arabicPeriod"/>
            </a:pPr>
            <a:r>
              <a:rPr lang="en-US" sz="2400" dirty="0">
                <a:solidFill>
                  <a:srgbClr val="C00000"/>
                </a:solidFill>
              </a:rPr>
              <a:t>Launch actions </a:t>
            </a:r>
            <a:r>
              <a:rPr lang="en-US" sz="2400" dirty="0"/>
              <a:t>to kick off a parallel computation</a:t>
            </a:r>
          </a:p>
          <a:p>
            <a:pPr lvl="1" indent="-457189"/>
            <a:r>
              <a:rPr lang="en-US" sz="1800" dirty="0"/>
              <a:t>count()</a:t>
            </a:r>
          </a:p>
        </p:txBody>
      </p:sp>
    </p:spTree>
    <p:extLst>
      <p:ext uri="{BB962C8B-B14F-4D97-AF65-F5344CB8AC3E}">
        <p14:creationId xmlns:p14="http://schemas.microsoft.com/office/powerpoint/2010/main" val="3542009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702" y="220785"/>
            <a:ext cx="9875520" cy="541215"/>
          </a:xfrm>
        </p:spPr>
        <p:txBody>
          <a:bodyPr/>
          <a:lstStyle/>
          <a:p>
            <a:r>
              <a:rPr lang="en-US" sz="3600" dirty="0">
                <a:solidFill>
                  <a:srgbClr val="00B050"/>
                </a:solidFill>
              </a:rPr>
              <a:t>Creating an RDD</a:t>
            </a:r>
          </a:p>
        </p:txBody>
      </p:sp>
      <p:sp>
        <p:nvSpPr>
          <p:cNvPr id="3" name="Content Placeholder 2"/>
          <p:cNvSpPr>
            <a:spLocks noGrp="1"/>
          </p:cNvSpPr>
          <p:nvPr>
            <p:ph idx="1"/>
          </p:nvPr>
        </p:nvSpPr>
        <p:spPr>
          <a:xfrm>
            <a:off x="1158241" y="914400"/>
            <a:ext cx="9875520" cy="5181600"/>
          </a:xfrm>
        </p:spPr>
        <p:txBody>
          <a:bodyPr/>
          <a:lstStyle/>
          <a:p>
            <a:r>
              <a:rPr lang="en-US" dirty="0"/>
              <a:t>Two ways to do it</a:t>
            </a:r>
          </a:p>
          <a:p>
            <a:endParaRPr lang="en-US" dirty="0"/>
          </a:p>
          <a:p>
            <a:pPr marL="562537" lvl="1" indent="-342891">
              <a:buFont typeface="+mj-lt"/>
              <a:buAutoNum type="arabicPeriod"/>
            </a:pPr>
            <a:r>
              <a:rPr lang="en-US" dirty="0"/>
              <a:t>By loading an external dataset from disk</a:t>
            </a:r>
          </a:p>
          <a:p>
            <a:pPr marL="439292" lvl="2" indent="0">
              <a:buNone/>
            </a:pPr>
            <a:r>
              <a:rPr lang="en-US" dirty="0"/>
              <a:t> </a:t>
            </a:r>
          </a:p>
          <a:p>
            <a:pPr marL="562537" lvl="1" indent="-342891">
              <a:buFont typeface="+mj-lt"/>
              <a:buAutoNum type="arabicPeriod"/>
            </a:pPr>
            <a:endParaRPr lang="en-US" dirty="0"/>
          </a:p>
          <a:p>
            <a:pPr marL="562537" lvl="1" indent="-342891">
              <a:buFont typeface="+mj-lt"/>
              <a:buAutoNum type="arabicPeriod"/>
            </a:pPr>
            <a:endParaRPr lang="en-US" dirty="0"/>
          </a:p>
          <a:p>
            <a:pPr marL="562537" lvl="1" indent="-342891">
              <a:buFont typeface="+mj-lt"/>
              <a:buAutoNum type="arabicPeriod"/>
            </a:pPr>
            <a:r>
              <a:rPr lang="en-US" dirty="0"/>
              <a:t>Parallelizing a collection in your driver (main) program</a:t>
            </a:r>
          </a:p>
          <a:p>
            <a:pPr marL="439292" lvl="2" indent="0">
              <a:buNone/>
            </a:pPr>
            <a:r>
              <a:rPr lang="en-US" dirty="0"/>
              <a:t>   </a:t>
            </a:r>
          </a:p>
        </p:txBody>
      </p:sp>
      <p:sp>
        <p:nvSpPr>
          <p:cNvPr id="4" name="TextBox 3"/>
          <p:cNvSpPr txBox="1"/>
          <p:nvPr/>
        </p:nvSpPr>
        <p:spPr>
          <a:xfrm>
            <a:off x="1967541" y="2456813"/>
            <a:ext cx="370967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srgbClr val="0063BE"/>
                </a:solidFill>
                <a:effectLst/>
                <a:uLnTx/>
                <a:uFillTx/>
                <a:latin typeface="Arial"/>
                <a:ea typeface="+mn-ea"/>
                <a:cs typeface="+mn-cs"/>
              </a:rPr>
              <a:t>val</a:t>
            </a:r>
            <a:r>
              <a:rPr kumimoji="0" lang="en-US" sz="2000" b="0" i="0" u="none" strike="noStrike" kern="1200" cap="none" spc="0" normalizeH="0" baseline="0" noProof="0" dirty="0">
                <a:ln>
                  <a:noFill/>
                </a:ln>
                <a:solidFill>
                  <a:srgbClr val="0063BE"/>
                </a:solidFill>
                <a:effectLst/>
                <a:uLnTx/>
                <a:uFillTx/>
                <a:latin typeface="Arial"/>
                <a:ea typeface="+mn-ea"/>
                <a:cs typeface="+mn-cs"/>
              </a:rPr>
              <a:t> </a:t>
            </a:r>
            <a:r>
              <a:rPr kumimoji="0" lang="en-US" sz="2000" b="0" i="0" u="none" strike="noStrike" kern="1200" cap="none" spc="0" normalizeH="0" baseline="0" noProof="0" dirty="0" err="1">
                <a:ln>
                  <a:noFill/>
                </a:ln>
                <a:solidFill>
                  <a:srgbClr val="0063BE"/>
                </a:solidFill>
                <a:effectLst/>
                <a:uLnTx/>
                <a:uFillTx/>
                <a:latin typeface="Arial"/>
                <a:ea typeface="+mn-ea"/>
                <a:cs typeface="+mn-cs"/>
              </a:rPr>
              <a:t>rdd</a:t>
            </a:r>
            <a:r>
              <a:rPr kumimoji="0" lang="en-US" sz="2000" b="0" i="0" u="none" strike="noStrike" kern="1200" cap="none" spc="0" normalizeH="0" baseline="0" noProof="0" dirty="0">
                <a:ln>
                  <a:noFill/>
                </a:ln>
                <a:solidFill>
                  <a:srgbClr val="0063BE"/>
                </a:solidFill>
                <a:effectLst/>
                <a:uLnTx/>
                <a:uFillTx/>
                <a:latin typeface="Arial"/>
                <a:ea typeface="+mn-ea"/>
                <a:cs typeface="+mn-cs"/>
              </a:rPr>
              <a:t> = </a:t>
            </a:r>
            <a:r>
              <a:rPr kumimoji="0" lang="en-US" sz="2000" b="0" i="0" u="none" strike="noStrike" kern="1200" cap="none" spc="0" normalizeH="0" baseline="0" noProof="0" dirty="0" err="1">
                <a:ln>
                  <a:noFill/>
                </a:ln>
                <a:solidFill>
                  <a:srgbClr val="0063BE"/>
                </a:solidFill>
                <a:effectLst/>
                <a:uLnTx/>
                <a:uFillTx/>
                <a:latin typeface="Arial"/>
                <a:ea typeface="+mn-ea"/>
                <a:cs typeface="+mn-cs"/>
              </a:rPr>
              <a:t>sc.textFile</a:t>
            </a:r>
            <a:r>
              <a:rPr kumimoji="0" lang="en-US" sz="2000" b="0" i="0" u="none" strike="noStrike" kern="1200" cap="none" spc="0" normalizeH="0" baseline="0" noProof="0" dirty="0">
                <a:ln>
                  <a:noFill/>
                </a:ln>
                <a:solidFill>
                  <a:srgbClr val="0063BE"/>
                </a:solidFill>
                <a:effectLst/>
                <a:uLnTx/>
                <a:uFillTx/>
                <a:latin typeface="Arial"/>
                <a:ea typeface="+mn-ea"/>
                <a:cs typeface="+mn-cs"/>
              </a:rPr>
              <a:t>(“</a:t>
            </a:r>
            <a:r>
              <a:rPr kumimoji="0" lang="en-US" sz="2000" b="0" i="0" u="none" strike="noStrike" kern="1200" cap="none" spc="0" normalizeH="0" baseline="0" noProof="0" dirty="0" err="1">
                <a:ln>
                  <a:noFill/>
                </a:ln>
                <a:solidFill>
                  <a:srgbClr val="0063BE"/>
                </a:solidFill>
                <a:effectLst/>
                <a:uLnTx/>
                <a:uFillTx/>
                <a:latin typeface="Arial"/>
                <a:ea typeface="+mn-ea"/>
                <a:cs typeface="+mn-cs"/>
              </a:rPr>
              <a:t>inputFile</a:t>
            </a:r>
            <a:r>
              <a:rPr kumimoji="0" lang="en-US" sz="2000" b="0" i="0" u="none" strike="noStrike" kern="1200" cap="none" spc="0" normalizeH="0" baseline="0" noProof="0" dirty="0">
                <a:ln>
                  <a:noFill/>
                </a:ln>
                <a:solidFill>
                  <a:srgbClr val="0063BE"/>
                </a:solidFill>
                <a:effectLst/>
                <a:uLnTx/>
                <a:uFillTx/>
                <a:latin typeface="Arial"/>
                <a:ea typeface="+mn-ea"/>
                <a:cs typeface="+mn-cs"/>
              </a:rPr>
              <a:t>”)</a:t>
            </a:r>
          </a:p>
        </p:txBody>
      </p:sp>
      <p:sp>
        <p:nvSpPr>
          <p:cNvPr id="6" name="TextBox 5"/>
          <p:cNvSpPr txBox="1"/>
          <p:nvPr/>
        </p:nvSpPr>
        <p:spPr>
          <a:xfrm>
            <a:off x="2032002" y="4085144"/>
            <a:ext cx="648446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n-NO" sz="2000" b="1" i="0" u="none" strike="noStrike" kern="1200" cap="none" spc="0" normalizeH="0" baseline="0" noProof="0" dirty="0">
                <a:ln>
                  <a:noFill/>
                </a:ln>
                <a:solidFill>
                  <a:srgbClr val="0063BE"/>
                </a:solidFill>
                <a:effectLst/>
                <a:uLnTx/>
                <a:uFillTx/>
                <a:latin typeface="Arial"/>
                <a:ea typeface="+mn-ea"/>
                <a:cs typeface="+mn-cs"/>
              </a:rPr>
              <a:t>val </a:t>
            </a:r>
            <a:r>
              <a:rPr kumimoji="0" lang="nn-NO" sz="2000" b="0" i="0" u="none" strike="noStrike" kern="1200" cap="none" spc="0" normalizeH="0" baseline="0" noProof="0" dirty="0">
                <a:ln>
                  <a:noFill/>
                </a:ln>
                <a:solidFill>
                  <a:srgbClr val="0063BE"/>
                </a:solidFill>
                <a:effectLst/>
                <a:uLnTx/>
                <a:uFillTx/>
                <a:latin typeface="Arial"/>
                <a:ea typeface="+mn-ea"/>
                <a:cs typeface="+mn-cs"/>
              </a:rPr>
              <a:t>lines </a:t>
            </a:r>
            <a:r>
              <a:rPr kumimoji="0" lang="nn-NO" sz="2000" b="1" i="0" u="none" strike="noStrike" kern="1200" cap="none" spc="0" normalizeH="0" baseline="0" noProof="0" dirty="0">
                <a:ln>
                  <a:noFill/>
                </a:ln>
                <a:solidFill>
                  <a:srgbClr val="0063BE"/>
                </a:solidFill>
                <a:effectLst/>
                <a:uLnTx/>
                <a:uFillTx/>
                <a:latin typeface="Arial"/>
                <a:ea typeface="+mn-ea"/>
                <a:cs typeface="+mn-cs"/>
              </a:rPr>
              <a:t>= </a:t>
            </a:r>
            <a:r>
              <a:rPr kumimoji="0" lang="nn-NO" sz="2000" b="0" i="0" u="none" strike="noStrike" kern="1200" cap="none" spc="0" normalizeH="0" baseline="0" noProof="0" dirty="0">
                <a:ln>
                  <a:noFill/>
                </a:ln>
                <a:solidFill>
                  <a:srgbClr val="0063BE"/>
                </a:solidFill>
                <a:effectLst/>
                <a:uLnTx/>
                <a:uFillTx/>
                <a:latin typeface="Arial"/>
                <a:ea typeface="+mn-ea"/>
                <a:cs typeface="+mn-cs"/>
              </a:rPr>
              <a:t>sc.parallelize(</a:t>
            </a:r>
            <a:r>
              <a:rPr kumimoji="0" lang="nn-NO" sz="2000" b="1" i="0" u="none" strike="noStrike" kern="1200" cap="none" spc="0" normalizeH="0" baseline="0" noProof="0" dirty="0">
                <a:ln>
                  <a:noFill/>
                </a:ln>
                <a:solidFill>
                  <a:srgbClr val="0063BE"/>
                </a:solidFill>
                <a:effectLst/>
                <a:uLnTx/>
                <a:uFillTx/>
                <a:latin typeface="Arial"/>
                <a:ea typeface="+mn-ea"/>
                <a:cs typeface="+mn-cs"/>
              </a:rPr>
              <a:t>List</a:t>
            </a:r>
            <a:r>
              <a:rPr kumimoji="0" lang="nn-NO" sz="2000" b="0" i="0" u="none" strike="noStrike" kern="1200" cap="none" spc="0" normalizeH="0" baseline="0" noProof="0" dirty="0">
                <a:ln>
                  <a:noFill/>
                </a:ln>
                <a:solidFill>
                  <a:srgbClr val="0063BE"/>
                </a:solidFill>
                <a:effectLst/>
                <a:uLnTx/>
                <a:uFillTx/>
                <a:latin typeface="Arial"/>
                <a:ea typeface="+mn-ea"/>
                <a:cs typeface="+mn-cs"/>
              </a:rPr>
              <a:t>("pandas", "i like pandas"))</a:t>
            </a:r>
            <a:endParaRPr kumimoji="0" lang="en-US" sz="2000" b="0" i="0" u="none" strike="noStrike" kern="1200" cap="none" spc="0" normalizeH="0" baseline="0" noProof="0" dirty="0">
              <a:ln>
                <a:noFill/>
              </a:ln>
              <a:solidFill>
                <a:srgbClr val="0063BE"/>
              </a:solidFill>
              <a:effectLst/>
              <a:uLnTx/>
              <a:uFillTx/>
              <a:latin typeface="Arial"/>
              <a:ea typeface="+mn-ea"/>
              <a:cs typeface="+mn-cs"/>
            </a:endParaRPr>
          </a:p>
        </p:txBody>
      </p:sp>
      <p:sp>
        <p:nvSpPr>
          <p:cNvPr id="7" name="TextBox 6"/>
          <p:cNvSpPr txBox="1"/>
          <p:nvPr/>
        </p:nvSpPr>
        <p:spPr>
          <a:xfrm>
            <a:off x="1463042" y="5410200"/>
            <a:ext cx="912301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prstClr val="black"/>
                </a:solidFill>
                <a:effectLst/>
                <a:uLnTx/>
                <a:uFillTx/>
                <a:latin typeface="Arial"/>
                <a:ea typeface="+mn-ea"/>
                <a:cs typeface="+mn-cs"/>
              </a:rPr>
              <a:t>sc</a:t>
            </a:r>
            <a:r>
              <a:rPr kumimoji="0" lang="en-US" sz="2000" b="0" i="0" u="none" strike="noStrike" kern="1200" cap="none" spc="0" normalizeH="0" baseline="0" noProof="0" dirty="0">
                <a:ln>
                  <a:noFill/>
                </a:ln>
                <a:solidFill>
                  <a:prstClr val="black"/>
                </a:solidFill>
                <a:effectLst/>
                <a:uLnTx/>
                <a:uFillTx/>
                <a:latin typeface="Arial"/>
                <a:ea typeface="+mn-ea"/>
                <a:cs typeface="+mn-cs"/>
              </a:rPr>
              <a:t> denotes the spark context that calls the spark core and manages the cluster</a:t>
            </a:r>
          </a:p>
        </p:txBody>
      </p:sp>
    </p:spTree>
    <p:extLst>
      <p:ext uri="{BB962C8B-B14F-4D97-AF65-F5344CB8AC3E}">
        <p14:creationId xmlns:p14="http://schemas.microsoft.com/office/powerpoint/2010/main" val="3898266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318" y="237565"/>
            <a:ext cx="9875520" cy="465013"/>
          </a:xfrm>
        </p:spPr>
        <p:txBody>
          <a:bodyPr>
            <a:noAutofit/>
          </a:bodyPr>
          <a:lstStyle/>
          <a:p>
            <a:r>
              <a:rPr lang="en-US" sz="2800" b="1" dirty="0">
                <a:solidFill>
                  <a:srgbClr val="00B050"/>
                </a:solidFill>
              </a:rPr>
              <a:t>RDD Operations</a:t>
            </a:r>
          </a:p>
        </p:txBody>
      </p:sp>
      <p:sp>
        <p:nvSpPr>
          <p:cNvPr id="3" name="Content Placeholder 2"/>
          <p:cNvSpPr>
            <a:spLocks noGrp="1"/>
          </p:cNvSpPr>
          <p:nvPr>
            <p:ph idx="1"/>
          </p:nvPr>
        </p:nvSpPr>
        <p:spPr>
          <a:xfrm>
            <a:off x="1158241" y="990600"/>
            <a:ext cx="9875520" cy="5562600"/>
          </a:xfrm>
        </p:spPr>
        <p:txBody>
          <a:bodyPr/>
          <a:lstStyle/>
          <a:p>
            <a:r>
              <a:rPr lang="en-US" dirty="0"/>
              <a:t>Two types of Operations</a:t>
            </a:r>
          </a:p>
          <a:p>
            <a:endParaRPr lang="en-US" dirty="0"/>
          </a:p>
          <a:p>
            <a:pPr lvl="1"/>
            <a:r>
              <a:rPr lang="en-US" dirty="0"/>
              <a:t>Transformations </a:t>
            </a:r>
          </a:p>
          <a:p>
            <a:pPr marL="990575" lvl="2" indent="0">
              <a:buNone/>
            </a:pPr>
            <a:endParaRPr lang="en-US" sz="2000" dirty="0"/>
          </a:p>
          <a:p>
            <a:pPr lvl="2"/>
            <a:r>
              <a:rPr lang="en-US" sz="2000" dirty="0"/>
              <a:t>Example:  </a:t>
            </a:r>
            <a:r>
              <a:rPr lang="en-US" sz="2000" dirty="0">
                <a:solidFill>
                  <a:srgbClr val="FF0000"/>
                </a:solidFill>
              </a:rPr>
              <a:t>map(), filter()</a:t>
            </a:r>
          </a:p>
          <a:p>
            <a:pPr lvl="2"/>
            <a:endParaRPr lang="en-US" dirty="0">
              <a:solidFill>
                <a:srgbClr val="FF0000"/>
              </a:solidFill>
            </a:endParaRPr>
          </a:p>
          <a:p>
            <a:pPr lvl="1"/>
            <a:endParaRPr lang="en-US" dirty="0"/>
          </a:p>
          <a:p>
            <a:pPr lvl="1"/>
            <a:r>
              <a:rPr lang="en-US" dirty="0"/>
              <a:t>Actions</a:t>
            </a:r>
          </a:p>
          <a:p>
            <a:pPr lvl="1"/>
            <a:endParaRPr lang="en-US" dirty="0"/>
          </a:p>
          <a:p>
            <a:pPr lvl="2"/>
            <a:r>
              <a:rPr lang="en-US" sz="2000" dirty="0"/>
              <a:t>Example: </a:t>
            </a:r>
            <a:r>
              <a:rPr lang="en-US" sz="2000" dirty="0">
                <a:solidFill>
                  <a:srgbClr val="FF0000"/>
                </a:solidFill>
              </a:rPr>
              <a:t>count(), </a:t>
            </a:r>
            <a:r>
              <a:rPr lang="en-US" sz="2000" dirty="0" err="1">
                <a:solidFill>
                  <a:srgbClr val="FF0000"/>
                </a:solidFill>
              </a:rPr>
              <a:t>saveAsTextFile</a:t>
            </a:r>
            <a:r>
              <a:rPr lang="en-US" sz="2000" dirty="0">
                <a:solidFill>
                  <a:srgbClr val="FF0000"/>
                </a:solidFill>
              </a:rPr>
              <a:t>()</a:t>
            </a:r>
          </a:p>
          <a:p>
            <a:pPr lvl="2"/>
            <a:endParaRPr lang="en-US" b="0" dirty="0">
              <a:solidFill>
                <a:srgbClr val="C00000"/>
              </a:solidFill>
            </a:endParaRPr>
          </a:p>
        </p:txBody>
      </p:sp>
    </p:spTree>
    <p:extLst>
      <p:ext uri="{BB962C8B-B14F-4D97-AF65-F5344CB8AC3E}">
        <p14:creationId xmlns:p14="http://schemas.microsoft.com/office/powerpoint/2010/main" val="2482350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7920" y="381002"/>
            <a:ext cx="9875520" cy="465013"/>
          </a:xfrm>
        </p:spPr>
        <p:txBody>
          <a:bodyPr>
            <a:noAutofit/>
          </a:bodyPr>
          <a:lstStyle/>
          <a:p>
            <a:r>
              <a:rPr lang="en-US" sz="2800" b="1" dirty="0">
                <a:solidFill>
                  <a:srgbClr val="00B050"/>
                </a:solidFill>
              </a:rPr>
              <a:t>Transformations: Examples</a:t>
            </a:r>
          </a:p>
        </p:txBody>
      </p:sp>
      <p:pic>
        <p:nvPicPr>
          <p:cNvPr id="5" name="Picture 4"/>
          <p:cNvPicPr>
            <a:picLocks noChangeAspect="1"/>
          </p:cNvPicPr>
          <p:nvPr/>
        </p:nvPicPr>
        <p:blipFill>
          <a:blip r:embed="rId2"/>
          <a:stretch>
            <a:fillRect/>
          </a:stretch>
        </p:blipFill>
        <p:spPr>
          <a:xfrm>
            <a:off x="1213341" y="1295401"/>
            <a:ext cx="9724681" cy="4467225"/>
          </a:xfrm>
          <a:prstGeom prst="rect">
            <a:avLst/>
          </a:prstGeom>
        </p:spPr>
      </p:pic>
    </p:spTree>
    <p:extLst>
      <p:ext uri="{BB962C8B-B14F-4D97-AF65-F5344CB8AC3E}">
        <p14:creationId xmlns:p14="http://schemas.microsoft.com/office/powerpoint/2010/main" val="3523923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1"/>
            <a:ext cx="9875520" cy="685801"/>
          </a:xfrm>
        </p:spPr>
        <p:txBody>
          <a:bodyPr/>
          <a:lstStyle/>
          <a:p>
            <a:r>
              <a:rPr lang="en-IN" sz="2800" b="1" dirty="0">
                <a:solidFill>
                  <a:srgbClr val="00B050"/>
                </a:solidFill>
              </a:rPr>
              <a:t>Actions: Examples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6" name="Picture 5"/>
          <p:cNvPicPr>
            <a:picLocks noChangeAspect="1"/>
          </p:cNvPicPr>
          <p:nvPr/>
        </p:nvPicPr>
        <p:blipFill>
          <a:blip r:embed="rId2"/>
          <a:stretch>
            <a:fillRect/>
          </a:stretch>
        </p:blipFill>
        <p:spPr>
          <a:xfrm>
            <a:off x="1295400" y="1165358"/>
            <a:ext cx="9067800" cy="5129991"/>
          </a:xfrm>
          <a:prstGeom prst="rect">
            <a:avLst/>
          </a:prstGeom>
        </p:spPr>
      </p:pic>
    </p:spTree>
    <p:extLst>
      <p:ext uri="{BB962C8B-B14F-4D97-AF65-F5344CB8AC3E}">
        <p14:creationId xmlns:p14="http://schemas.microsoft.com/office/powerpoint/2010/main" val="301459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1868" y="228601"/>
            <a:ext cx="9875520" cy="685801"/>
          </a:xfrm>
        </p:spPr>
        <p:txBody>
          <a:bodyPr/>
          <a:lstStyle/>
          <a:p>
            <a:r>
              <a:rPr lang="en-IN" sz="3600" b="1" dirty="0"/>
              <a:t>An Example Code</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8" name="Rectangle 3"/>
          <p:cNvSpPr>
            <a:spLocks noChangeArrowheads="1"/>
          </p:cNvSpPr>
          <p:nvPr/>
        </p:nvSpPr>
        <p:spPr bwMode="auto">
          <a:xfrm>
            <a:off x="1066801" y="2743201"/>
            <a:ext cx="5713615" cy="1585049"/>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err="1">
                <a:ln>
                  <a:noFill/>
                </a:ln>
                <a:solidFill>
                  <a:srgbClr val="007020"/>
                </a:solidFill>
                <a:effectLst/>
                <a:uLnTx/>
                <a:uFillTx/>
                <a:latin typeface="Menlo"/>
                <a:ea typeface="+mn-ea"/>
                <a:cs typeface="+mn-cs"/>
              </a:rPr>
              <a:t>val</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srgbClr val="BB60D5"/>
                </a:solidFill>
                <a:effectLst/>
                <a:uLnTx/>
                <a:uFillTx/>
                <a:latin typeface="Menlo"/>
                <a:ea typeface="+mn-ea"/>
                <a:cs typeface="+mn-cs"/>
              </a:rPr>
              <a:t>lines</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sc</a:t>
            </a:r>
            <a:r>
              <a:rPr kumimoji="0" lang="en-US" altLang="en-US" sz="2000" b="0" i="0" u="none" strike="noStrike" kern="1200" cap="none" spc="0" normalizeH="0" baseline="0" noProof="0" dirty="0" err="1">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err="1">
                <a:ln>
                  <a:noFill/>
                </a:ln>
                <a:solidFill>
                  <a:srgbClr val="212529"/>
                </a:solidFill>
                <a:effectLst/>
                <a:uLnTx/>
                <a:uFillTx/>
                <a:latin typeface="Menlo"/>
                <a:ea typeface="+mn-ea"/>
                <a:cs typeface="+mn-cs"/>
              </a:rPr>
              <a:t>textFile</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4070A0"/>
                </a:solidFill>
                <a:effectLst/>
                <a:uLnTx/>
                <a:uFillTx/>
                <a:latin typeface="Menlo"/>
                <a:ea typeface="+mn-ea"/>
                <a:cs typeface="+mn-cs"/>
              </a:rPr>
              <a:t>"data.txt"</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212529"/>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err="1">
                <a:ln>
                  <a:noFill/>
                </a:ln>
                <a:solidFill>
                  <a:srgbClr val="007020"/>
                </a:solidFill>
                <a:effectLst/>
                <a:uLnTx/>
                <a:uFillTx/>
                <a:latin typeface="Menlo"/>
                <a:ea typeface="+mn-ea"/>
                <a:cs typeface="+mn-cs"/>
              </a:rPr>
              <a:t>val</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lineLengths</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lines</a:t>
            </a:r>
            <a:r>
              <a:rPr kumimoji="0" lang="en-US" altLang="en-US" sz="2000" b="0" i="0" u="none" strike="noStrike" kern="1200" cap="none" spc="0" normalizeH="0" baseline="0" noProof="0" dirty="0" err="1">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err="1">
                <a:ln>
                  <a:noFill/>
                </a:ln>
                <a:solidFill>
                  <a:srgbClr val="212529"/>
                </a:solidFill>
                <a:effectLst/>
                <a:uLnTx/>
                <a:uFillTx/>
                <a:latin typeface="Menlo"/>
                <a:ea typeface="+mn-ea"/>
                <a:cs typeface="+mn-cs"/>
              </a:rPr>
              <a:t>map</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s</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=&gt;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s</a:t>
            </a:r>
            <a:r>
              <a:rPr kumimoji="0" lang="en-US" altLang="en-US" sz="2000" b="0" i="0" u="none" strike="noStrike" kern="1200" cap="none" spc="0" normalizeH="0" baseline="0" noProof="0" dirty="0" err="1">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err="1">
                <a:ln>
                  <a:noFill/>
                </a:ln>
                <a:solidFill>
                  <a:srgbClr val="212529"/>
                </a:solidFill>
                <a:effectLst/>
                <a:uLnTx/>
                <a:uFillTx/>
                <a:latin typeface="Menlo"/>
                <a:ea typeface="+mn-ea"/>
                <a:cs typeface="+mn-cs"/>
              </a:rPr>
              <a:t>length</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212529"/>
              </a:solidFill>
              <a:effectLst/>
              <a:uLnTx/>
              <a:uFillTx/>
              <a:latin typeface="Menlo"/>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err="1">
                <a:ln>
                  <a:noFill/>
                </a:ln>
                <a:solidFill>
                  <a:srgbClr val="007020"/>
                </a:solidFill>
                <a:effectLst/>
                <a:uLnTx/>
                <a:uFillTx/>
                <a:latin typeface="Menlo"/>
                <a:ea typeface="+mn-ea"/>
                <a:cs typeface="+mn-cs"/>
              </a:rPr>
              <a:t>val</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totalLength</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err="1">
                <a:ln>
                  <a:noFill/>
                </a:ln>
                <a:solidFill>
                  <a:srgbClr val="BB60D5"/>
                </a:solidFill>
                <a:effectLst/>
                <a:uLnTx/>
                <a:uFillTx/>
                <a:latin typeface="Menlo"/>
                <a:ea typeface="+mn-ea"/>
                <a:cs typeface="+mn-cs"/>
              </a:rPr>
              <a:t>lineLengths</a:t>
            </a:r>
            <a:r>
              <a:rPr kumimoji="0" lang="en-US" altLang="en-US" sz="2000" b="0" i="0" u="none" strike="noStrike" kern="1200" cap="none" spc="0" normalizeH="0" baseline="0" noProof="0" dirty="0" err="1">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err="1">
                <a:ln>
                  <a:noFill/>
                </a:ln>
                <a:solidFill>
                  <a:srgbClr val="212529"/>
                </a:solidFill>
                <a:effectLst/>
                <a:uLnTx/>
                <a:uFillTx/>
                <a:latin typeface="Menlo"/>
                <a:ea typeface="+mn-ea"/>
                <a:cs typeface="+mn-cs"/>
              </a:rPr>
              <a:t>reduce</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1" i="0" u="none" strike="noStrike" kern="1200" cap="none" spc="0" normalizeH="0" baseline="0" noProof="0" dirty="0">
                <a:ln>
                  <a:noFill/>
                </a:ln>
                <a:solidFill>
                  <a:srgbClr val="007020"/>
                </a:solidFill>
                <a:effectLst/>
                <a:uLnTx/>
                <a:uFillTx/>
                <a:latin typeface="Menlo"/>
                <a:ea typeface="+mn-ea"/>
                <a:cs typeface="+mn-cs"/>
              </a:rPr>
              <a:t>=&gt;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srgbClr val="212529"/>
                </a:solidFill>
                <a:effectLst/>
                <a:uLnTx/>
                <a:uFillTx/>
                <a:latin typeface="Menlo"/>
                <a:ea typeface="+mn-ea"/>
                <a:cs typeface="+mn-cs"/>
              </a:rPr>
              <a:t> </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a:t>
            </a:r>
            <a:r>
              <a:rPr kumimoji="0" lang="en-US" altLang="en-US" sz="2000" b="0" i="0" u="none" strike="noStrike" kern="1200" cap="none" spc="0" normalizeH="0" baseline="0" noProof="0" dirty="0">
                <a:ln>
                  <a:noFill/>
                </a:ln>
                <a:solidFill>
                  <a:srgbClr val="666666"/>
                </a:solidFill>
                <a:effectLst/>
                <a:uLnTx/>
                <a:uFillTx/>
                <a:latin typeface="Arial" panose="020B0604020202020204" pitchFamily="34" charset="0"/>
                <a:ea typeface="+mn-ea"/>
                <a:cs typeface="+mn-cs"/>
              </a:rPr>
              <a:t>)</a:t>
            </a:r>
            <a:r>
              <a:rPr kumimoji="0" lang="en-US" altLang="en-US" sz="2000" b="0" i="0" u="none" strike="noStrike" kern="1200" cap="none" spc="0" normalizeH="0" baseline="0" noProof="0" dirty="0">
                <a:ln>
                  <a:noFill/>
                </a:ln>
                <a:solidFill>
                  <a:prstClr val="black"/>
                </a:solidFill>
                <a:effectLst/>
                <a:uLnTx/>
                <a:uFillTx/>
                <a:latin typeface="Arial"/>
                <a:ea typeface="+mn-ea"/>
                <a:cs typeface="+mn-cs"/>
              </a:rPr>
              <a:t> </a:t>
            </a: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 name="TextBox 8"/>
          <p:cNvSpPr txBox="1"/>
          <p:nvPr/>
        </p:nvSpPr>
        <p:spPr>
          <a:xfrm>
            <a:off x="9296400" y="838201"/>
            <a:ext cx="1202124" cy="11695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Arial"/>
                <a:ea typeface="+mn-ea"/>
                <a:cs typeface="+mn-cs"/>
              </a:rPr>
              <a:t>data.txt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I am here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She is there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You are here</a:t>
            </a:r>
          </a:p>
        </p:txBody>
      </p:sp>
      <p:sp>
        <p:nvSpPr>
          <p:cNvPr id="3" name="TextBox 2"/>
          <p:cNvSpPr txBox="1"/>
          <p:nvPr/>
        </p:nvSpPr>
        <p:spPr>
          <a:xfrm>
            <a:off x="8724900" y="3962401"/>
            <a:ext cx="11430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srgbClr val="00B0F0"/>
                </a:solidFill>
                <a:effectLst/>
                <a:uLnTx/>
                <a:uFillTx/>
                <a:latin typeface="Arial"/>
                <a:ea typeface="+mn-ea"/>
                <a:cs typeface="+mn-cs"/>
              </a:rPr>
              <a:t>action</a:t>
            </a:r>
          </a:p>
        </p:txBody>
      </p:sp>
      <p:cxnSp>
        <p:nvCxnSpPr>
          <p:cNvPr id="6" name="Straight Arrow Connector 5"/>
          <p:cNvCxnSpPr>
            <a:endCxn id="3" idx="1"/>
          </p:cNvCxnSpPr>
          <p:nvPr/>
        </p:nvCxnSpPr>
        <p:spPr>
          <a:xfrm>
            <a:off x="7162801" y="4114801"/>
            <a:ext cx="1562099" cy="784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88618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8600" y="3048001"/>
            <a:ext cx="4038600" cy="541215"/>
          </a:xfrm>
        </p:spPr>
        <p:txBody>
          <a:bodyPr/>
          <a:lstStyle/>
          <a:p>
            <a:r>
              <a:rPr lang="en-US" sz="4000" b="1" dirty="0">
                <a:solidFill>
                  <a:srgbClr val="0070C0"/>
                </a:solidFill>
              </a:rPr>
              <a:t>RDD Persistence</a:t>
            </a:r>
          </a:p>
        </p:txBody>
      </p:sp>
    </p:spTree>
    <p:extLst>
      <p:ext uri="{BB962C8B-B14F-4D97-AF65-F5344CB8AC3E}">
        <p14:creationId xmlns:p14="http://schemas.microsoft.com/office/powerpoint/2010/main" val="4330357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201050"/>
            <a:ext cx="9875520" cy="541215"/>
          </a:xfrm>
        </p:spPr>
        <p:txBody>
          <a:bodyPr>
            <a:noAutofit/>
          </a:bodyPr>
          <a:lstStyle/>
          <a:p>
            <a:r>
              <a:rPr lang="en-US" b="1" dirty="0">
                <a:solidFill>
                  <a:srgbClr val="00B050"/>
                </a:solidFill>
              </a:rPr>
              <a:t>Persistence (Caching)</a:t>
            </a:r>
          </a:p>
        </p:txBody>
      </p:sp>
      <p:sp>
        <p:nvSpPr>
          <p:cNvPr id="3" name="Content Placeholder 2"/>
          <p:cNvSpPr>
            <a:spLocks noGrp="1"/>
          </p:cNvSpPr>
          <p:nvPr>
            <p:ph idx="1"/>
          </p:nvPr>
        </p:nvSpPr>
        <p:spPr>
          <a:xfrm>
            <a:off x="563880" y="838200"/>
            <a:ext cx="10469881" cy="5715000"/>
          </a:xfrm>
        </p:spPr>
        <p:txBody>
          <a:bodyPr>
            <a:normAutofit fontScale="55000" lnSpcReduction="20000"/>
          </a:bodyPr>
          <a:lstStyle/>
          <a:p>
            <a:r>
              <a:rPr lang="en-US" sz="3400" dirty="0"/>
              <a:t>Goal is to keep RDD in memory, distributed across machines</a:t>
            </a:r>
          </a:p>
          <a:p>
            <a:pPr marL="533387" lvl="1" indent="0">
              <a:buNone/>
            </a:pPr>
            <a:endParaRPr lang="en-US" sz="3400" dirty="0"/>
          </a:p>
          <a:p>
            <a:pPr marL="533387" lvl="1" indent="0">
              <a:buNone/>
            </a:pPr>
            <a:r>
              <a:rPr lang="en-US" sz="3400" dirty="0"/>
              <a:t>Important for iterative computation to increase efficiency</a:t>
            </a:r>
          </a:p>
          <a:p>
            <a:pPr marL="533387" lvl="1" indent="0">
              <a:buNone/>
            </a:pPr>
            <a:endParaRPr lang="en-US" dirty="0">
              <a:solidFill>
                <a:schemeClr val="tx1"/>
              </a:solidFill>
            </a:endParaRPr>
          </a:p>
          <a:p>
            <a:pPr lvl="1"/>
            <a:endParaRPr lang="en-US" dirty="0"/>
          </a:p>
          <a:p>
            <a:pPr lvl="1"/>
            <a:endParaRPr lang="en-US" dirty="0"/>
          </a:p>
          <a:p>
            <a:pPr lvl="1"/>
            <a:endParaRPr lang="en-US" dirty="0"/>
          </a:p>
          <a:p>
            <a:pPr lvl="1"/>
            <a:endParaRPr lang="en-US" dirty="0"/>
          </a:p>
          <a:p>
            <a:pPr marL="533387" lvl="1" indent="0">
              <a:buNone/>
            </a:pP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533387" lvl="1" indent="0">
              <a:buNone/>
            </a:pPr>
            <a:r>
              <a:rPr lang="en-US" dirty="0"/>
              <a:t> </a:t>
            </a:r>
          </a:p>
          <a:p>
            <a:pPr marL="533387" lvl="1" indent="0">
              <a:buNone/>
            </a:pPr>
            <a:endParaRPr lang="en-US" dirty="0"/>
          </a:p>
          <a:p>
            <a:pPr marL="533387" lvl="1" indent="0">
              <a:buNone/>
            </a:pPr>
            <a:endParaRPr lang="en-US" dirty="0"/>
          </a:p>
          <a:p>
            <a:pPr marL="533387" lvl="1" indent="0">
              <a:buNone/>
            </a:pPr>
            <a:endParaRPr lang="en-US" dirty="0"/>
          </a:p>
          <a:p>
            <a:pPr marL="533387" lvl="1" indent="0">
              <a:buNone/>
            </a:pPr>
            <a:endParaRPr lang="en-US" dirty="0"/>
          </a:p>
          <a:p>
            <a:pPr marL="533387" lvl="1" indent="0">
              <a:buNone/>
            </a:pPr>
            <a:endParaRPr lang="en-US" dirty="0"/>
          </a:p>
          <a:p>
            <a:pPr marL="533387" lvl="1" indent="0">
              <a:buNone/>
            </a:pPr>
            <a:endParaRPr lang="en-US" dirty="0"/>
          </a:p>
          <a:p>
            <a:pPr marL="533387" lvl="1" indent="0">
              <a:buNone/>
            </a:pPr>
            <a:endParaRPr lang="en-US" dirty="0"/>
          </a:p>
          <a:p>
            <a:pPr marL="533387" lvl="1" indent="0">
              <a:buNone/>
            </a:pPr>
            <a:r>
              <a:rPr lang="en-US" dirty="0"/>
              <a:t>   </a:t>
            </a:r>
          </a:p>
          <a:p>
            <a:pPr marL="439292" lvl="2" indent="0">
              <a:buNone/>
            </a:pPr>
            <a:endParaRPr lang="en-US" dirty="0"/>
          </a:p>
          <a:p>
            <a:pPr lvl="1"/>
            <a:endParaRPr lang="en-US" dirty="0"/>
          </a:p>
          <a:p>
            <a:pPr marL="219645" lvl="1" indent="0">
              <a:buNone/>
            </a:pPr>
            <a:r>
              <a:rPr lang="en-US" dirty="0"/>
              <a:t> </a:t>
            </a:r>
          </a:p>
        </p:txBody>
      </p:sp>
      <p:sp>
        <p:nvSpPr>
          <p:cNvPr id="5" name="TextBox 4"/>
          <p:cNvSpPr txBox="1"/>
          <p:nvPr/>
        </p:nvSpPr>
        <p:spPr>
          <a:xfrm>
            <a:off x="2807477" y="5426659"/>
            <a:ext cx="449738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rial"/>
                <a:ea typeface="+mn-ea"/>
                <a:cs typeface="+mn-cs"/>
              </a:rPr>
              <a:t>Usage:     </a:t>
            </a:r>
            <a:r>
              <a:rPr kumimoji="0" lang="en-US" sz="2000" b="1" i="0" u="none" strike="noStrike" kern="1200" cap="none" spc="0" normalizeH="0" baseline="0" noProof="0" dirty="0" err="1">
                <a:ln>
                  <a:noFill/>
                </a:ln>
                <a:solidFill>
                  <a:srgbClr val="C00000"/>
                </a:solidFill>
                <a:effectLst/>
                <a:uLnTx/>
                <a:uFillTx/>
                <a:latin typeface="Arial"/>
                <a:ea typeface="+mn-ea"/>
                <a:cs typeface="+mn-cs"/>
              </a:rPr>
              <a:t>yourRdd.MEMORY_ONLY</a:t>
            </a:r>
            <a:endParaRPr kumimoji="0" lang="en-US" sz="2000" b="1" i="0" u="none" strike="noStrike" kern="1200" cap="none" spc="0" normalizeH="0" baseline="0" noProof="0" dirty="0">
              <a:ln>
                <a:noFill/>
              </a:ln>
              <a:solidFill>
                <a:srgbClr val="C00000"/>
              </a:solidFill>
              <a:effectLst/>
              <a:uLnTx/>
              <a:uFillTx/>
              <a:latin typeface="Arial"/>
              <a:ea typeface="+mn-ea"/>
              <a:cs typeface="+mn-cs"/>
            </a:endParaRPr>
          </a:p>
        </p:txBody>
      </p:sp>
      <p:graphicFrame>
        <p:nvGraphicFramePr>
          <p:cNvPr id="6" name="Table 5"/>
          <p:cNvGraphicFramePr>
            <a:graphicFrameLocks noGrp="1"/>
          </p:cNvGraphicFramePr>
          <p:nvPr/>
        </p:nvGraphicFramePr>
        <p:xfrm>
          <a:off x="1158239" y="2368774"/>
          <a:ext cx="9365202" cy="2457831"/>
        </p:xfrm>
        <a:graphic>
          <a:graphicData uri="http://schemas.openxmlformats.org/drawingml/2006/table">
            <a:tbl>
              <a:tblPr firstRow="1" bandRow="1">
                <a:tableStyleId>{5C22544A-7EE6-4342-B048-85BDC9FD1C3A}</a:tableStyleId>
              </a:tblPr>
              <a:tblGrid>
                <a:gridCol w="2597073">
                  <a:extLst>
                    <a:ext uri="{9D8B030D-6E8A-4147-A177-3AD203B41FA5}">
                      <a16:colId xmlns:a16="http://schemas.microsoft.com/office/drawing/2014/main" val="20000"/>
                    </a:ext>
                  </a:extLst>
                </a:gridCol>
                <a:gridCol w="6768129">
                  <a:extLst>
                    <a:ext uri="{9D8B030D-6E8A-4147-A177-3AD203B41FA5}">
                      <a16:colId xmlns:a16="http://schemas.microsoft.com/office/drawing/2014/main" val="20001"/>
                    </a:ext>
                  </a:extLst>
                </a:gridCol>
              </a:tblGrid>
              <a:tr h="401391">
                <a:tc>
                  <a:txBody>
                    <a:bodyPr/>
                    <a:lstStyle/>
                    <a:p>
                      <a:r>
                        <a:rPr lang="en-US" dirty="0">
                          <a:solidFill>
                            <a:srgbClr val="002060"/>
                          </a:solidFill>
                        </a:rPr>
                        <a:t>Storage Level</a:t>
                      </a:r>
                    </a:p>
                  </a:txBody>
                  <a:tcPr/>
                </a:tc>
                <a:tc>
                  <a:txBody>
                    <a:bodyPr/>
                    <a:lstStyle/>
                    <a:p>
                      <a:r>
                        <a:rPr lang="en-US" dirty="0">
                          <a:solidFill>
                            <a:srgbClr val="002060"/>
                          </a:solidFill>
                        </a:rPr>
                        <a:t>Description</a:t>
                      </a:r>
                    </a:p>
                  </a:txBody>
                  <a:tcPr/>
                </a:tc>
                <a:extLst>
                  <a:ext uri="{0D108BD9-81ED-4DB2-BD59-A6C34878D82A}">
                    <a16:rowId xmlns:a16="http://schemas.microsoft.com/office/drawing/2014/main" val="10000"/>
                  </a:ext>
                </a:extLst>
              </a:tr>
              <a:tr h="401391">
                <a:tc>
                  <a:txBody>
                    <a:bodyPr/>
                    <a:lstStyle/>
                    <a:p>
                      <a:r>
                        <a:rPr lang="en-US" sz="1500" b="0" i="0" u="none" strike="noStrike" cap="none" dirty="0">
                          <a:solidFill>
                            <a:schemeClr val="dk1"/>
                          </a:solidFill>
                          <a:effectLst/>
                          <a:latin typeface="+mn-lt"/>
                          <a:ea typeface="+mn-ea"/>
                          <a:cs typeface="+mn-cs"/>
                          <a:sym typeface="Arial"/>
                        </a:rPr>
                        <a:t>MEMORY_ONLY</a:t>
                      </a:r>
                      <a:endParaRPr lang="en-US" sz="1500" dirty="0"/>
                    </a:p>
                  </a:txBody>
                  <a:tcPr/>
                </a:tc>
                <a:tc>
                  <a:txBody>
                    <a:bodyPr/>
                    <a:lstStyle/>
                    <a:p>
                      <a:r>
                        <a:rPr lang="en-US" sz="1500" b="0" i="0" u="none" strike="noStrike" cap="none" dirty="0">
                          <a:solidFill>
                            <a:schemeClr val="dk1"/>
                          </a:solidFill>
                          <a:effectLst/>
                          <a:latin typeface="+mn-lt"/>
                          <a:ea typeface="+mn-ea"/>
                          <a:cs typeface="+mn-cs"/>
                          <a:sym typeface="Arial"/>
                        </a:rPr>
                        <a:t>Stores</a:t>
                      </a:r>
                      <a:r>
                        <a:rPr lang="en-US" sz="1500" b="0" i="0" u="none" strike="noStrike" cap="none" baseline="0" dirty="0">
                          <a:solidFill>
                            <a:schemeClr val="dk1"/>
                          </a:solidFill>
                          <a:effectLst/>
                          <a:latin typeface="+mn-lt"/>
                          <a:ea typeface="+mn-ea"/>
                          <a:cs typeface="+mn-cs"/>
                          <a:sym typeface="Arial"/>
                        </a:rPr>
                        <a:t> RDD in memory</a:t>
                      </a:r>
                      <a:endParaRPr lang="en-US" sz="1500" dirty="0"/>
                    </a:p>
                  </a:txBody>
                  <a:tcPr/>
                </a:tc>
                <a:extLst>
                  <a:ext uri="{0D108BD9-81ED-4DB2-BD59-A6C34878D82A}">
                    <a16:rowId xmlns:a16="http://schemas.microsoft.com/office/drawing/2014/main" val="10001"/>
                  </a:ext>
                </a:extLst>
              </a:tr>
              <a:tr h="626829">
                <a:tc>
                  <a:txBody>
                    <a:bodyPr/>
                    <a:lstStyle/>
                    <a:p>
                      <a:pPr algn="l" fontAlgn="t"/>
                      <a:r>
                        <a:rPr lang="en-US" sz="1500" dirty="0">
                          <a:effectLst/>
                        </a:rPr>
                        <a:t>MEMORY_AND_DISK</a:t>
                      </a:r>
                    </a:p>
                  </a:txBody>
                  <a:tcPr marL="76200" marR="76200" marT="76200" marB="76200"/>
                </a:tc>
                <a:tc>
                  <a:txBody>
                    <a:bodyPr/>
                    <a:lstStyle/>
                    <a:p>
                      <a:pPr algn="l" fontAlgn="t"/>
                      <a:r>
                        <a:rPr lang="en-US" sz="1500" dirty="0">
                          <a:effectLst/>
                        </a:rPr>
                        <a:t>Store RDD in memory. If RDD does not fit in memory, store the partitions that don't fit on disk, and read them from there when they're needed.</a:t>
                      </a:r>
                    </a:p>
                  </a:txBody>
                  <a:tcPr marL="76200" marR="76200" marT="76200" marB="76200"/>
                </a:tc>
                <a:extLst>
                  <a:ext uri="{0D108BD9-81ED-4DB2-BD59-A6C34878D82A}">
                    <a16:rowId xmlns:a16="http://schemas.microsoft.com/office/drawing/2014/main" val="10002"/>
                  </a:ext>
                </a:extLst>
              </a:tr>
              <a:tr h="401391">
                <a:tc>
                  <a:txBody>
                    <a:bodyPr/>
                    <a:lstStyle/>
                    <a:p>
                      <a:pPr algn="l" fontAlgn="t"/>
                      <a:r>
                        <a:rPr lang="en-US" sz="1500" dirty="0">
                          <a:effectLst/>
                        </a:rPr>
                        <a:t>DISK_ONLY</a:t>
                      </a:r>
                    </a:p>
                  </a:txBody>
                  <a:tcPr marL="76200" marR="76200" marT="76200" marB="76200"/>
                </a:tc>
                <a:tc>
                  <a:txBody>
                    <a:bodyPr/>
                    <a:lstStyle/>
                    <a:p>
                      <a:pPr algn="l" fontAlgn="t"/>
                      <a:r>
                        <a:rPr lang="en-US" sz="1500" dirty="0">
                          <a:effectLst/>
                        </a:rPr>
                        <a:t>Store the RDD partitions only on disk.</a:t>
                      </a:r>
                    </a:p>
                  </a:txBody>
                  <a:tcPr marL="76200" marR="76200" marT="76200" marB="76200"/>
                </a:tc>
                <a:extLst>
                  <a:ext uri="{0D108BD9-81ED-4DB2-BD59-A6C34878D82A}">
                    <a16:rowId xmlns:a16="http://schemas.microsoft.com/office/drawing/2014/main" val="10005"/>
                  </a:ext>
                </a:extLst>
              </a:tr>
              <a:tr h="626829">
                <a:tc>
                  <a:txBody>
                    <a:bodyPr/>
                    <a:lstStyle/>
                    <a:p>
                      <a:pPr algn="l" fontAlgn="t"/>
                      <a:r>
                        <a:rPr lang="en-US" sz="1500" dirty="0">
                          <a:effectLst/>
                        </a:rPr>
                        <a:t>MEMORY_ONLY_2, MEMORY_AND_DISK_2</a:t>
                      </a:r>
                    </a:p>
                  </a:txBody>
                  <a:tcPr marL="76200" marR="76200" marT="76200" marB="76200"/>
                </a:tc>
                <a:tc>
                  <a:txBody>
                    <a:bodyPr/>
                    <a:lstStyle/>
                    <a:p>
                      <a:pPr algn="l" fontAlgn="t"/>
                      <a:r>
                        <a:rPr lang="en-US" sz="1500" dirty="0">
                          <a:effectLst/>
                        </a:rPr>
                        <a:t>Same as the levels above, but replicate each partition on two cluster nodes.</a:t>
                      </a:r>
                    </a:p>
                  </a:txBody>
                  <a:tcPr marL="76200" marR="76200" marT="76200" marB="7620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04340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0318"/>
            <a:ext cx="10972800" cy="541214"/>
          </a:xfrm>
        </p:spPr>
        <p:txBody>
          <a:bodyPr/>
          <a:lstStyle/>
          <a:p>
            <a:r>
              <a:rPr lang="en-IN" sz="3600" b="1" dirty="0">
                <a:solidFill>
                  <a:srgbClr val="00B050"/>
                </a:solidFill>
              </a:rPr>
              <a:t>RDD Persistence: Example</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pic>
        <p:nvPicPr>
          <p:cNvPr id="5" name="Picture 4"/>
          <p:cNvPicPr>
            <a:picLocks noChangeAspect="1"/>
          </p:cNvPicPr>
          <p:nvPr/>
        </p:nvPicPr>
        <p:blipFill>
          <a:blip r:embed="rId2"/>
          <a:stretch>
            <a:fillRect/>
          </a:stretch>
        </p:blipFill>
        <p:spPr>
          <a:xfrm>
            <a:off x="1295401" y="1189775"/>
            <a:ext cx="8945867" cy="5067300"/>
          </a:xfrm>
          <a:prstGeom prst="rect">
            <a:avLst/>
          </a:prstGeom>
        </p:spPr>
      </p:pic>
    </p:spTree>
    <p:extLst>
      <p:ext uri="{BB962C8B-B14F-4D97-AF65-F5344CB8AC3E}">
        <p14:creationId xmlns:p14="http://schemas.microsoft.com/office/powerpoint/2010/main" val="748623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016" y="211016"/>
            <a:ext cx="10742838" cy="549333"/>
          </a:xfrm>
        </p:spPr>
        <p:txBody>
          <a:bodyPr>
            <a:noAutofit/>
          </a:bodyPr>
          <a:lstStyle/>
          <a:p>
            <a:r>
              <a:rPr lang="en-US" b="1" dirty="0">
                <a:solidFill>
                  <a:srgbClr val="00B050"/>
                </a:solidFill>
              </a:rPr>
              <a:t>Example of Basic RDD Transformations: Single RDD</a:t>
            </a:r>
          </a:p>
        </p:txBody>
      </p:sp>
      <p:graphicFrame>
        <p:nvGraphicFramePr>
          <p:cNvPr id="3" name="Table 2"/>
          <p:cNvGraphicFramePr>
            <a:graphicFrameLocks noGrp="1"/>
          </p:cNvGraphicFramePr>
          <p:nvPr/>
        </p:nvGraphicFramePr>
        <p:xfrm>
          <a:off x="623394" y="1501212"/>
          <a:ext cx="10945215" cy="4884349"/>
        </p:xfrm>
        <a:graphic>
          <a:graphicData uri="http://schemas.openxmlformats.org/drawingml/2006/table">
            <a:tbl>
              <a:tblPr firstRow="1" bandRow="1">
                <a:tableStyleId>{5C22544A-7EE6-4342-B048-85BDC9FD1C3A}</a:tableStyleId>
              </a:tblPr>
              <a:tblGrid>
                <a:gridCol w="1920212">
                  <a:extLst>
                    <a:ext uri="{9D8B030D-6E8A-4147-A177-3AD203B41FA5}">
                      <a16:colId xmlns:a16="http://schemas.microsoft.com/office/drawing/2014/main" val="20000"/>
                    </a:ext>
                  </a:extLst>
                </a:gridCol>
                <a:gridCol w="4608512">
                  <a:extLst>
                    <a:ext uri="{9D8B030D-6E8A-4147-A177-3AD203B41FA5}">
                      <a16:colId xmlns:a16="http://schemas.microsoft.com/office/drawing/2014/main" val="20001"/>
                    </a:ext>
                  </a:extLst>
                </a:gridCol>
                <a:gridCol w="2400267">
                  <a:extLst>
                    <a:ext uri="{9D8B030D-6E8A-4147-A177-3AD203B41FA5}">
                      <a16:colId xmlns:a16="http://schemas.microsoft.com/office/drawing/2014/main" val="20002"/>
                    </a:ext>
                  </a:extLst>
                </a:gridCol>
                <a:gridCol w="2016224">
                  <a:extLst>
                    <a:ext uri="{9D8B030D-6E8A-4147-A177-3AD203B41FA5}">
                      <a16:colId xmlns:a16="http://schemas.microsoft.com/office/drawing/2014/main" val="20003"/>
                    </a:ext>
                  </a:extLst>
                </a:gridCol>
              </a:tblGrid>
              <a:tr h="387021">
                <a:tc>
                  <a:txBody>
                    <a:bodyPr/>
                    <a:lstStyle/>
                    <a:p>
                      <a:r>
                        <a:rPr lang="en-US" sz="1900" dirty="0">
                          <a:solidFill>
                            <a:srgbClr val="00B050"/>
                          </a:solidFill>
                        </a:rPr>
                        <a:t>Function</a:t>
                      </a:r>
                    </a:p>
                  </a:txBody>
                  <a:tcPr/>
                </a:tc>
                <a:tc>
                  <a:txBody>
                    <a:bodyPr/>
                    <a:lstStyle/>
                    <a:p>
                      <a:r>
                        <a:rPr lang="en-US" sz="1900" dirty="0">
                          <a:solidFill>
                            <a:srgbClr val="00B050"/>
                          </a:solidFill>
                        </a:rPr>
                        <a:t>Description</a:t>
                      </a:r>
                    </a:p>
                  </a:txBody>
                  <a:tcPr/>
                </a:tc>
                <a:tc>
                  <a:txBody>
                    <a:bodyPr/>
                    <a:lstStyle/>
                    <a:p>
                      <a:r>
                        <a:rPr lang="en-US" sz="1900" dirty="0">
                          <a:solidFill>
                            <a:srgbClr val="00B050"/>
                          </a:solidFill>
                        </a:rPr>
                        <a:t>Example</a:t>
                      </a:r>
                    </a:p>
                  </a:txBody>
                  <a:tcPr/>
                </a:tc>
                <a:tc>
                  <a:txBody>
                    <a:bodyPr/>
                    <a:lstStyle/>
                    <a:p>
                      <a:r>
                        <a:rPr lang="en-US" sz="1900" dirty="0">
                          <a:solidFill>
                            <a:srgbClr val="00B050"/>
                          </a:solidFill>
                        </a:rPr>
                        <a:t>Result</a:t>
                      </a:r>
                    </a:p>
                  </a:txBody>
                  <a:tcPr/>
                </a:tc>
                <a:extLst>
                  <a:ext uri="{0D108BD9-81ED-4DB2-BD59-A6C34878D82A}">
                    <a16:rowId xmlns:a16="http://schemas.microsoft.com/office/drawing/2014/main" val="10000"/>
                  </a:ext>
                </a:extLst>
              </a:tr>
              <a:tr h="914400">
                <a:tc>
                  <a:txBody>
                    <a:bodyPr/>
                    <a:lstStyle/>
                    <a:p>
                      <a:r>
                        <a:rPr lang="en-US" sz="1900" dirty="0"/>
                        <a:t>map()</a:t>
                      </a:r>
                    </a:p>
                  </a:txBody>
                  <a:tcPr/>
                </a:tc>
                <a:tc>
                  <a:txBody>
                    <a:bodyPr/>
                    <a:lstStyle/>
                    <a:p>
                      <a:r>
                        <a:rPr lang="en-US" sz="1900" dirty="0"/>
                        <a:t>Apply a function to each element in the RDD and return an RDD of the result</a:t>
                      </a:r>
                    </a:p>
                  </a:txBody>
                  <a:tcPr/>
                </a:tc>
                <a:tc>
                  <a:txBody>
                    <a:bodyPr/>
                    <a:lstStyle/>
                    <a:p>
                      <a:r>
                        <a:rPr lang="en-US" sz="1900" b="0" i="0" u="none" strike="noStrike" cap="none" baseline="0" dirty="0" err="1">
                          <a:solidFill>
                            <a:schemeClr val="dk1"/>
                          </a:solidFill>
                          <a:latin typeface="+mn-lt"/>
                          <a:ea typeface="+mn-ea"/>
                          <a:cs typeface="+mn-cs"/>
                          <a:sym typeface="Arial"/>
                        </a:rPr>
                        <a:t>rdd.map</a:t>
                      </a:r>
                      <a:r>
                        <a:rPr lang="en-US" sz="1900" b="0" i="0" u="none" strike="noStrike" cap="none" baseline="0" dirty="0">
                          <a:solidFill>
                            <a:schemeClr val="dk1"/>
                          </a:solidFill>
                          <a:latin typeface="+mn-lt"/>
                          <a:ea typeface="+mn-ea"/>
                          <a:cs typeface="+mn-cs"/>
                          <a:sym typeface="Arial"/>
                        </a:rPr>
                        <a:t>(x =&gt; x + 1)</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{2, 3, 4, 4}</a:t>
                      </a:r>
                      <a:endParaRPr lang="en-US" sz="1900" dirty="0"/>
                    </a:p>
                  </a:txBody>
                  <a:tcPr/>
                </a:tc>
                <a:extLst>
                  <a:ext uri="{0D108BD9-81ED-4DB2-BD59-A6C34878D82A}">
                    <a16:rowId xmlns:a16="http://schemas.microsoft.com/office/drawing/2014/main" val="10001"/>
                  </a:ext>
                </a:extLst>
              </a:tr>
              <a:tr h="1229360">
                <a:tc>
                  <a:txBody>
                    <a:bodyPr/>
                    <a:lstStyle/>
                    <a:p>
                      <a:r>
                        <a:rPr lang="en-US" sz="1900" dirty="0" err="1"/>
                        <a:t>flatMap</a:t>
                      </a:r>
                      <a:r>
                        <a:rPr lang="en-US" sz="1900" dirty="0"/>
                        <a:t>()</a:t>
                      </a:r>
                    </a:p>
                  </a:txBody>
                  <a:tcPr/>
                </a:tc>
                <a:tc>
                  <a:txBody>
                    <a:bodyPr/>
                    <a:lstStyle/>
                    <a:p>
                      <a:r>
                        <a:rPr lang="en-US" sz="1900" dirty="0"/>
                        <a:t>Apply a function to each element in the RDD and return an RDD of the contents of the</a:t>
                      </a:r>
                    </a:p>
                    <a:p>
                      <a:r>
                        <a:rPr lang="en-US" sz="1900" dirty="0"/>
                        <a:t>iterators returned. </a:t>
                      </a:r>
                    </a:p>
                  </a:txBody>
                  <a:tcPr/>
                </a:tc>
                <a:tc>
                  <a:txBody>
                    <a:bodyPr/>
                    <a:lstStyle/>
                    <a:p>
                      <a:r>
                        <a:rPr lang="en-US" sz="1900" b="0" i="0" u="none" strike="noStrike" cap="none" baseline="0" dirty="0" err="1">
                          <a:solidFill>
                            <a:schemeClr val="dk1"/>
                          </a:solidFill>
                          <a:latin typeface="+mn-lt"/>
                          <a:ea typeface="+mn-ea"/>
                          <a:cs typeface="+mn-cs"/>
                          <a:sym typeface="Arial"/>
                        </a:rPr>
                        <a:t>rdd.flatMap</a:t>
                      </a:r>
                      <a:r>
                        <a:rPr lang="en-US" sz="1900" b="0" i="0" u="none" strike="noStrike" cap="none" baseline="0" dirty="0">
                          <a:solidFill>
                            <a:schemeClr val="dk1"/>
                          </a:solidFill>
                          <a:latin typeface="+mn-lt"/>
                          <a:ea typeface="+mn-ea"/>
                          <a:cs typeface="+mn-cs"/>
                          <a:sym typeface="Arial"/>
                        </a:rPr>
                        <a:t>(x =&gt; x.to(3))</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{1, 2, 3, 2, 3, 3, 3}</a:t>
                      </a:r>
                      <a:endParaRPr lang="en-US" sz="1900" dirty="0"/>
                    </a:p>
                  </a:txBody>
                  <a:tcPr/>
                </a:tc>
                <a:extLst>
                  <a:ext uri="{0D108BD9-81ED-4DB2-BD59-A6C34878D82A}">
                    <a16:rowId xmlns:a16="http://schemas.microsoft.com/office/drawing/2014/main" val="10002"/>
                  </a:ext>
                </a:extLst>
              </a:tr>
              <a:tr h="986107">
                <a:tc>
                  <a:txBody>
                    <a:bodyPr/>
                    <a:lstStyle/>
                    <a:p>
                      <a:r>
                        <a:rPr lang="en-US" sz="1900" dirty="0"/>
                        <a:t>filter</a:t>
                      </a:r>
                    </a:p>
                  </a:txBody>
                  <a:tcPr/>
                </a:tc>
                <a:tc>
                  <a:txBody>
                    <a:bodyPr/>
                    <a:lstStyle/>
                    <a:p>
                      <a:r>
                        <a:rPr lang="en-US" sz="1900" dirty="0"/>
                        <a:t>Return an RDD consisting of only elements that pass the condition passed to filter().</a:t>
                      </a:r>
                    </a:p>
                  </a:txBody>
                  <a:tcPr/>
                </a:tc>
                <a:tc>
                  <a:txBody>
                    <a:bodyPr/>
                    <a:lstStyle/>
                    <a:p>
                      <a:r>
                        <a:rPr lang="en-US" sz="1900" b="0" i="0" u="none" strike="noStrike" cap="none" baseline="0" dirty="0" err="1">
                          <a:solidFill>
                            <a:schemeClr val="dk1"/>
                          </a:solidFill>
                          <a:latin typeface="+mn-lt"/>
                          <a:ea typeface="+mn-ea"/>
                          <a:cs typeface="+mn-cs"/>
                          <a:sym typeface="Arial"/>
                        </a:rPr>
                        <a:t>rdd.filter</a:t>
                      </a:r>
                      <a:r>
                        <a:rPr lang="en-US" sz="1900" b="0" i="0" u="none" strike="noStrike" cap="none" baseline="0" dirty="0">
                          <a:solidFill>
                            <a:schemeClr val="dk1"/>
                          </a:solidFill>
                          <a:latin typeface="+mn-lt"/>
                          <a:ea typeface="+mn-ea"/>
                          <a:cs typeface="+mn-cs"/>
                          <a:sym typeface="Arial"/>
                        </a:rPr>
                        <a:t>(x =&gt; x != 1)</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{2, 3, 3}</a:t>
                      </a:r>
                      <a:endParaRPr lang="en-US" sz="1900" dirty="0"/>
                    </a:p>
                  </a:txBody>
                  <a:tcPr/>
                </a:tc>
                <a:extLst>
                  <a:ext uri="{0D108BD9-81ED-4DB2-BD59-A6C34878D82A}">
                    <a16:rowId xmlns:a16="http://schemas.microsoft.com/office/drawing/2014/main" val="10003"/>
                  </a:ext>
                </a:extLst>
              </a:tr>
              <a:tr h="387021">
                <a:tc>
                  <a:txBody>
                    <a:bodyPr/>
                    <a:lstStyle/>
                    <a:p>
                      <a:r>
                        <a:rPr lang="en-US" sz="1900" dirty="0"/>
                        <a:t>distinct</a:t>
                      </a:r>
                    </a:p>
                  </a:txBody>
                  <a:tcPr/>
                </a:tc>
                <a:tc>
                  <a:txBody>
                    <a:bodyPr/>
                    <a:lstStyle/>
                    <a:p>
                      <a:r>
                        <a:rPr lang="en-US" sz="1900" dirty="0"/>
                        <a:t>Remove duplicates.</a:t>
                      </a:r>
                    </a:p>
                  </a:txBody>
                  <a:tcPr/>
                </a:tc>
                <a:tc>
                  <a:txBody>
                    <a:bodyPr/>
                    <a:lstStyle/>
                    <a:p>
                      <a:r>
                        <a:rPr lang="en-US" sz="1900" b="0" i="0" u="none" strike="noStrike" cap="none" baseline="0" dirty="0" err="1">
                          <a:solidFill>
                            <a:schemeClr val="dk1"/>
                          </a:solidFill>
                          <a:latin typeface="+mn-lt"/>
                          <a:ea typeface="+mn-ea"/>
                          <a:cs typeface="+mn-cs"/>
                          <a:sym typeface="Arial"/>
                        </a:rPr>
                        <a:t>rdd.distinct</a:t>
                      </a:r>
                      <a:r>
                        <a:rPr lang="en-US" sz="1900" b="0" i="0" u="none" strike="noStrike" cap="none" baseline="0" dirty="0">
                          <a:solidFill>
                            <a:schemeClr val="dk1"/>
                          </a:solidFill>
                          <a:latin typeface="+mn-lt"/>
                          <a:ea typeface="+mn-ea"/>
                          <a:cs typeface="+mn-cs"/>
                          <a:sym typeface="Arial"/>
                        </a:rPr>
                        <a:t>()</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{1, 2, 3}</a:t>
                      </a:r>
                      <a:endParaRPr lang="en-US" sz="1900" dirty="0"/>
                    </a:p>
                  </a:txBody>
                  <a:tcPr/>
                </a:tc>
                <a:extLst>
                  <a:ext uri="{0D108BD9-81ED-4DB2-BD59-A6C34878D82A}">
                    <a16:rowId xmlns:a16="http://schemas.microsoft.com/office/drawing/2014/main" val="10004"/>
                  </a:ext>
                </a:extLst>
              </a:tr>
              <a:tr h="944880">
                <a:tc>
                  <a:txBody>
                    <a:bodyPr/>
                    <a:lstStyle/>
                    <a:p>
                      <a:r>
                        <a:rPr lang="en-US" sz="1900" dirty="0"/>
                        <a:t>sample(</a:t>
                      </a:r>
                      <a:r>
                        <a:rPr lang="en-US" sz="1900" dirty="0" err="1"/>
                        <a:t>withRe</a:t>
                      </a:r>
                      <a:endParaRPr lang="en-US" sz="1900" dirty="0"/>
                    </a:p>
                    <a:p>
                      <a:r>
                        <a:rPr lang="en-US" sz="1900" dirty="0"/>
                        <a:t>placement, </a:t>
                      </a:r>
                      <a:r>
                        <a:rPr lang="en-US" sz="1900" dirty="0" err="1"/>
                        <a:t>frac</a:t>
                      </a:r>
                      <a:endParaRPr lang="en-US" sz="1900" dirty="0"/>
                    </a:p>
                    <a:p>
                      <a:r>
                        <a:rPr lang="en-US" sz="1900" dirty="0" err="1"/>
                        <a:t>tion</a:t>
                      </a:r>
                      <a:r>
                        <a:rPr lang="en-US" sz="1900" dirty="0"/>
                        <a:t>, [seed])</a:t>
                      </a:r>
                    </a:p>
                  </a:txBody>
                  <a:tcPr/>
                </a:tc>
                <a:tc>
                  <a:txBody>
                    <a:bodyPr/>
                    <a:lstStyle/>
                    <a:p>
                      <a:r>
                        <a:rPr lang="en-US" sz="1900" b="0" i="0" u="none" strike="noStrike" cap="none" baseline="0" dirty="0">
                          <a:solidFill>
                            <a:schemeClr val="dk1"/>
                          </a:solidFill>
                          <a:latin typeface="+mn-lt"/>
                          <a:ea typeface="+mn-ea"/>
                          <a:cs typeface="+mn-cs"/>
                          <a:sym typeface="Arial"/>
                        </a:rPr>
                        <a:t>Sample an RDD, with or without replacement.</a:t>
                      </a:r>
                      <a:endParaRPr lang="en-US" sz="1900" dirty="0"/>
                    </a:p>
                  </a:txBody>
                  <a:tcPr/>
                </a:tc>
                <a:tc>
                  <a:txBody>
                    <a:bodyPr/>
                    <a:lstStyle/>
                    <a:p>
                      <a:r>
                        <a:rPr lang="en-US" sz="1900" b="0" i="0" u="none" strike="noStrike" cap="none" baseline="0" dirty="0" err="1">
                          <a:solidFill>
                            <a:schemeClr val="dk1"/>
                          </a:solidFill>
                          <a:latin typeface="+mn-lt"/>
                          <a:ea typeface="+mn-ea"/>
                          <a:cs typeface="+mn-cs"/>
                          <a:sym typeface="Arial"/>
                        </a:rPr>
                        <a:t>rdd.sample</a:t>
                      </a:r>
                      <a:r>
                        <a:rPr lang="en-US" sz="1900" b="0" i="0" u="none" strike="noStrike" cap="none" baseline="0" dirty="0">
                          <a:solidFill>
                            <a:schemeClr val="dk1"/>
                          </a:solidFill>
                          <a:latin typeface="+mn-lt"/>
                          <a:ea typeface="+mn-ea"/>
                          <a:cs typeface="+mn-cs"/>
                          <a:sym typeface="Arial"/>
                        </a:rPr>
                        <a:t>(false, 0.5)</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Nondeterministic</a:t>
                      </a:r>
                      <a:endParaRPr lang="en-US" sz="1900" dirty="0"/>
                    </a:p>
                  </a:txBody>
                  <a:tcPr/>
                </a:tc>
                <a:extLst>
                  <a:ext uri="{0D108BD9-81ED-4DB2-BD59-A6C34878D82A}">
                    <a16:rowId xmlns:a16="http://schemas.microsoft.com/office/drawing/2014/main" val="10005"/>
                  </a:ext>
                </a:extLst>
              </a:tr>
            </a:tbl>
          </a:graphicData>
        </a:graphic>
      </p:graphicFrame>
      <p:sp>
        <p:nvSpPr>
          <p:cNvPr id="7" name="TextBox 6">
            <a:extLst>
              <a:ext uri="{FF2B5EF4-FFF2-40B4-BE49-F238E27FC236}">
                <a16:creationId xmlns:a16="http://schemas.microsoft.com/office/drawing/2014/main" id="{97A78829-438A-4CA6-A7CC-23FE0336E155}"/>
              </a:ext>
            </a:extLst>
          </p:cNvPr>
          <p:cNvSpPr txBox="1"/>
          <p:nvPr/>
        </p:nvSpPr>
        <p:spPr>
          <a:xfrm>
            <a:off x="2707689" y="988948"/>
            <a:ext cx="28648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a:ea typeface="+mn-ea"/>
                <a:cs typeface="+mn-cs"/>
              </a:rPr>
              <a:t>RDD containing {1,2,3,3}</a:t>
            </a:r>
          </a:p>
        </p:txBody>
      </p:sp>
    </p:spTree>
    <p:extLst>
      <p:ext uri="{BB962C8B-B14F-4D97-AF65-F5344CB8AC3E}">
        <p14:creationId xmlns:p14="http://schemas.microsoft.com/office/powerpoint/2010/main" val="3448762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947" y="216025"/>
            <a:ext cx="9875520" cy="541215"/>
          </a:xfrm>
        </p:spPr>
        <p:txBody>
          <a:bodyPr/>
          <a:lstStyle/>
          <a:p>
            <a:r>
              <a:rPr lang="en-US" sz="2800" b="1" dirty="0">
                <a:solidFill>
                  <a:srgbClr val="00B050"/>
                </a:solidFill>
              </a:rPr>
              <a:t>Example of Basic RDD Actions</a:t>
            </a:r>
          </a:p>
        </p:txBody>
      </p:sp>
      <p:sp>
        <p:nvSpPr>
          <p:cNvPr id="3" name="Content Placeholder 2"/>
          <p:cNvSpPr>
            <a:spLocks noGrp="1"/>
          </p:cNvSpPr>
          <p:nvPr>
            <p:ph idx="1"/>
          </p:nvPr>
        </p:nvSpPr>
        <p:spPr>
          <a:xfrm>
            <a:off x="692458" y="990600"/>
            <a:ext cx="10341303" cy="5181600"/>
          </a:xfrm>
        </p:spPr>
        <p:txBody>
          <a:bodyPr/>
          <a:lstStyle/>
          <a:p>
            <a:r>
              <a:rPr lang="en-US" sz="2400" dirty="0"/>
              <a:t>RDD containing {1, 2, 3, 3}</a:t>
            </a:r>
          </a:p>
          <a:p>
            <a:endParaRPr lang="en-US" sz="2400" dirty="0"/>
          </a:p>
          <a:p>
            <a:pPr marL="0" indent="0">
              <a:buNone/>
            </a:pPr>
            <a:endParaRPr lang="en-US" dirty="0"/>
          </a:p>
        </p:txBody>
      </p:sp>
      <p:graphicFrame>
        <p:nvGraphicFramePr>
          <p:cNvPr id="7" name="Table 6"/>
          <p:cNvGraphicFramePr>
            <a:graphicFrameLocks noGrp="1"/>
          </p:cNvGraphicFramePr>
          <p:nvPr/>
        </p:nvGraphicFramePr>
        <p:xfrm>
          <a:off x="790113" y="1727202"/>
          <a:ext cx="10258887" cy="5048886"/>
        </p:xfrm>
        <a:graphic>
          <a:graphicData uri="http://schemas.openxmlformats.org/drawingml/2006/table">
            <a:tbl>
              <a:tblPr firstRow="1" bandRow="1">
                <a:tableStyleId>{5C22544A-7EE6-4342-B048-85BDC9FD1C3A}</a:tableStyleId>
              </a:tblPr>
              <a:tblGrid>
                <a:gridCol w="2100245">
                  <a:extLst>
                    <a:ext uri="{9D8B030D-6E8A-4147-A177-3AD203B41FA5}">
                      <a16:colId xmlns:a16="http://schemas.microsoft.com/office/drawing/2014/main" val="20000"/>
                    </a:ext>
                  </a:extLst>
                </a:gridCol>
                <a:gridCol w="3635039">
                  <a:extLst>
                    <a:ext uri="{9D8B030D-6E8A-4147-A177-3AD203B41FA5}">
                      <a16:colId xmlns:a16="http://schemas.microsoft.com/office/drawing/2014/main" val="20001"/>
                    </a:ext>
                  </a:extLst>
                </a:gridCol>
                <a:gridCol w="3140619">
                  <a:extLst>
                    <a:ext uri="{9D8B030D-6E8A-4147-A177-3AD203B41FA5}">
                      <a16:colId xmlns:a16="http://schemas.microsoft.com/office/drawing/2014/main" val="20002"/>
                    </a:ext>
                  </a:extLst>
                </a:gridCol>
                <a:gridCol w="1382984">
                  <a:extLst>
                    <a:ext uri="{9D8B030D-6E8A-4147-A177-3AD203B41FA5}">
                      <a16:colId xmlns:a16="http://schemas.microsoft.com/office/drawing/2014/main" val="20003"/>
                    </a:ext>
                  </a:extLst>
                </a:gridCol>
              </a:tblGrid>
              <a:tr h="421287">
                <a:tc>
                  <a:txBody>
                    <a:bodyPr/>
                    <a:lstStyle/>
                    <a:p>
                      <a:r>
                        <a:rPr lang="en-US" sz="2000" dirty="0"/>
                        <a:t>Function</a:t>
                      </a:r>
                    </a:p>
                  </a:txBody>
                  <a:tcPr/>
                </a:tc>
                <a:tc>
                  <a:txBody>
                    <a:bodyPr/>
                    <a:lstStyle/>
                    <a:p>
                      <a:r>
                        <a:rPr lang="en-US" sz="2000" dirty="0"/>
                        <a:t>Description</a:t>
                      </a:r>
                    </a:p>
                  </a:txBody>
                  <a:tcPr/>
                </a:tc>
                <a:tc>
                  <a:txBody>
                    <a:bodyPr/>
                    <a:lstStyle/>
                    <a:p>
                      <a:r>
                        <a:rPr lang="en-US" sz="2000" dirty="0"/>
                        <a:t>Example</a:t>
                      </a:r>
                    </a:p>
                  </a:txBody>
                  <a:tcPr/>
                </a:tc>
                <a:tc>
                  <a:txBody>
                    <a:bodyPr/>
                    <a:lstStyle/>
                    <a:p>
                      <a:r>
                        <a:rPr lang="en-US" sz="2000" dirty="0"/>
                        <a:t>Result</a:t>
                      </a:r>
                    </a:p>
                  </a:txBody>
                  <a:tcPr/>
                </a:tc>
                <a:extLst>
                  <a:ext uri="{0D108BD9-81ED-4DB2-BD59-A6C34878D82A}">
                    <a16:rowId xmlns:a16="http://schemas.microsoft.com/office/drawing/2014/main" val="10000"/>
                  </a:ext>
                </a:extLst>
              </a:tr>
              <a:tr h="831032">
                <a:tc>
                  <a:txBody>
                    <a:bodyPr/>
                    <a:lstStyle/>
                    <a:p>
                      <a:r>
                        <a:rPr lang="en-US" sz="2000" dirty="0"/>
                        <a:t>collect()</a:t>
                      </a:r>
                    </a:p>
                  </a:txBody>
                  <a:tcPr/>
                </a:tc>
                <a:tc>
                  <a:txBody>
                    <a:bodyPr/>
                    <a:lstStyle/>
                    <a:p>
                      <a:r>
                        <a:rPr lang="en-US" sz="2000" b="0" i="0" u="none" strike="noStrike" cap="none" baseline="0" dirty="0">
                          <a:solidFill>
                            <a:schemeClr val="dk1"/>
                          </a:solidFill>
                          <a:latin typeface="+mn-lt"/>
                          <a:ea typeface="+mn-ea"/>
                          <a:cs typeface="+mn-cs"/>
                          <a:sym typeface="Arial"/>
                        </a:rPr>
                        <a:t>Return all elements from the RDD.</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rdd.collect</a:t>
                      </a:r>
                      <a:r>
                        <a:rPr lang="en-US" sz="2000" b="0" i="0" u="none" strike="noStrike" cap="none" baseline="0" dirty="0">
                          <a:solidFill>
                            <a:schemeClr val="dk1"/>
                          </a:solidFill>
                          <a:latin typeface="+mn-lt"/>
                          <a:ea typeface="+mn-ea"/>
                          <a:cs typeface="+mn-cs"/>
                          <a:sym typeface="Arial"/>
                        </a:rPr>
                        <a:t>()</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 2, 3, 3}</a:t>
                      </a:r>
                      <a:endParaRPr lang="en-US" sz="2000" dirty="0"/>
                    </a:p>
                  </a:txBody>
                  <a:tcPr/>
                </a:tc>
                <a:extLst>
                  <a:ext uri="{0D108BD9-81ED-4DB2-BD59-A6C34878D82A}">
                    <a16:rowId xmlns:a16="http://schemas.microsoft.com/office/drawing/2014/main" val="10001"/>
                  </a:ext>
                </a:extLst>
              </a:tr>
              <a:tr h="831032">
                <a:tc>
                  <a:txBody>
                    <a:bodyPr/>
                    <a:lstStyle/>
                    <a:p>
                      <a:r>
                        <a:rPr lang="en-US" sz="2000" dirty="0"/>
                        <a:t>count()</a:t>
                      </a:r>
                    </a:p>
                  </a:txBody>
                  <a:tcPr/>
                </a:tc>
                <a:tc>
                  <a:txBody>
                    <a:bodyPr/>
                    <a:lstStyle/>
                    <a:p>
                      <a:r>
                        <a:rPr lang="en-US" sz="2000" b="0" i="0" u="none" strike="noStrike" cap="none" baseline="0" dirty="0">
                          <a:solidFill>
                            <a:schemeClr val="dk1"/>
                          </a:solidFill>
                          <a:latin typeface="+mn-lt"/>
                          <a:ea typeface="+mn-ea"/>
                          <a:cs typeface="+mn-cs"/>
                          <a:sym typeface="Arial"/>
                        </a:rPr>
                        <a:t>Number of elements in the</a:t>
                      </a:r>
                    </a:p>
                    <a:p>
                      <a:r>
                        <a:rPr lang="en-US" sz="2000" b="0" i="0" u="none" strike="noStrike" cap="none" baseline="0" dirty="0">
                          <a:solidFill>
                            <a:schemeClr val="dk1"/>
                          </a:solidFill>
                          <a:latin typeface="+mn-lt"/>
                          <a:ea typeface="+mn-ea"/>
                          <a:cs typeface="+mn-cs"/>
                          <a:sym typeface="Arial"/>
                        </a:rPr>
                        <a:t>RDD.</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rdd.count</a:t>
                      </a:r>
                      <a:r>
                        <a:rPr lang="en-US" sz="2000" b="0" i="0" u="none" strike="noStrike" cap="none" baseline="0" dirty="0">
                          <a:solidFill>
                            <a:schemeClr val="dk1"/>
                          </a:solidFill>
                          <a:latin typeface="+mn-lt"/>
                          <a:ea typeface="+mn-ea"/>
                          <a:cs typeface="+mn-cs"/>
                          <a:sym typeface="Arial"/>
                        </a:rPr>
                        <a:t>()</a:t>
                      </a:r>
                      <a:endParaRPr lang="en-US" sz="2000" dirty="0"/>
                    </a:p>
                  </a:txBody>
                  <a:tcPr/>
                </a:tc>
                <a:tc>
                  <a:txBody>
                    <a:bodyPr/>
                    <a:lstStyle/>
                    <a:p>
                      <a:r>
                        <a:rPr lang="en-US" sz="2000" dirty="0"/>
                        <a:t>4</a:t>
                      </a:r>
                    </a:p>
                  </a:txBody>
                  <a:tcPr/>
                </a:tc>
                <a:extLst>
                  <a:ext uri="{0D108BD9-81ED-4DB2-BD59-A6C34878D82A}">
                    <a16:rowId xmlns:a16="http://schemas.microsoft.com/office/drawing/2014/main" val="10002"/>
                  </a:ext>
                </a:extLst>
              </a:tr>
              <a:tr h="837648">
                <a:tc>
                  <a:txBody>
                    <a:bodyPr/>
                    <a:lstStyle/>
                    <a:p>
                      <a:r>
                        <a:rPr lang="en-US" sz="2000" dirty="0"/>
                        <a:t>top()</a:t>
                      </a:r>
                    </a:p>
                  </a:txBody>
                  <a:tcPr/>
                </a:tc>
                <a:tc>
                  <a:txBody>
                    <a:bodyPr/>
                    <a:lstStyle/>
                    <a:p>
                      <a:r>
                        <a:rPr lang="en-US" sz="2000" b="0" i="0" u="none" strike="noStrike" cap="none" baseline="0" dirty="0">
                          <a:solidFill>
                            <a:schemeClr val="dk1"/>
                          </a:solidFill>
                          <a:latin typeface="+mn-lt"/>
                          <a:ea typeface="+mn-ea"/>
                          <a:cs typeface="+mn-cs"/>
                          <a:sym typeface="Arial"/>
                        </a:rPr>
                        <a:t>Return the top </a:t>
                      </a:r>
                      <a:r>
                        <a:rPr lang="en-US" sz="2000" b="0" i="0" u="none" strike="noStrike" cap="none" baseline="0" dirty="0" err="1">
                          <a:solidFill>
                            <a:schemeClr val="dk1"/>
                          </a:solidFill>
                          <a:latin typeface="+mn-lt"/>
                          <a:ea typeface="+mn-ea"/>
                          <a:cs typeface="+mn-cs"/>
                          <a:sym typeface="Arial"/>
                        </a:rPr>
                        <a:t>num</a:t>
                      </a:r>
                      <a:endParaRPr lang="en-US" sz="2000" b="0" i="0" u="none" strike="noStrike" cap="none" baseline="0" dirty="0">
                        <a:solidFill>
                          <a:schemeClr val="dk1"/>
                        </a:solidFill>
                        <a:latin typeface="+mn-lt"/>
                        <a:ea typeface="+mn-ea"/>
                        <a:cs typeface="+mn-cs"/>
                        <a:sym typeface="Arial"/>
                      </a:endParaRPr>
                    </a:p>
                    <a:p>
                      <a:r>
                        <a:rPr lang="en-US" sz="2000" b="0" i="0" u="none" strike="noStrike" cap="none" baseline="0" dirty="0">
                          <a:solidFill>
                            <a:schemeClr val="dk1"/>
                          </a:solidFill>
                          <a:latin typeface="+mn-lt"/>
                          <a:ea typeface="+mn-ea"/>
                          <a:cs typeface="+mn-cs"/>
                          <a:sym typeface="Arial"/>
                        </a:rPr>
                        <a:t>elements the RDD.</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rdd.top</a:t>
                      </a:r>
                      <a:r>
                        <a:rPr lang="en-US" sz="2000" b="0" i="0" u="none" strike="noStrike" cap="none" baseline="0" dirty="0">
                          <a:solidFill>
                            <a:schemeClr val="dk1"/>
                          </a:solidFill>
                          <a:latin typeface="+mn-lt"/>
                          <a:ea typeface="+mn-ea"/>
                          <a:cs typeface="+mn-cs"/>
                          <a:sym typeface="Arial"/>
                        </a:rPr>
                        <a:t>(2)</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{3, 3}</a:t>
                      </a:r>
                      <a:endParaRPr lang="en-US" sz="2000" dirty="0"/>
                    </a:p>
                  </a:txBody>
                  <a:tcPr/>
                </a:tc>
                <a:extLst>
                  <a:ext uri="{0D108BD9-81ED-4DB2-BD59-A6C34878D82A}">
                    <a16:rowId xmlns:a16="http://schemas.microsoft.com/office/drawing/2014/main" val="10003"/>
                  </a:ext>
                </a:extLst>
              </a:tr>
              <a:tr h="817247">
                <a:tc>
                  <a:txBody>
                    <a:bodyPr/>
                    <a:lstStyle/>
                    <a:p>
                      <a:r>
                        <a:rPr lang="en-US" sz="2000" b="0" i="0" u="none" strike="noStrike" cap="none" baseline="0" dirty="0" err="1">
                          <a:solidFill>
                            <a:schemeClr val="dk1"/>
                          </a:solidFill>
                          <a:latin typeface="+mn-lt"/>
                          <a:ea typeface="+mn-ea"/>
                          <a:cs typeface="+mn-cs"/>
                          <a:sym typeface="Arial"/>
                        </a:rPr>
                        <a:t>countByValue</a:t>
                      </a:r>
                      <a:r>
                        <a:rPr lang="en-US" sz="2000" b="0" i="0" u="none" strike="noStrike" cap="none" baseline="0" dirty="0">
                          <a:solidFill>
                            <a:schemeClr val="dk1"/>
                          </a:solidFill>
                          <a:latin typeface="+mn-lt"/>
                          <a:ea typeface="+mn-ea"/>
                          <a:cs typeface="+mn-cs"/>
                          <a:sym typeface="Arial"/>
                        </a:rPr>
                        <a:t>()</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Number of times each element occurs in the RDD.</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rdd.countByValue</a:t>
                      </a:r>
                      <a:r>
                        <a:rPr lang="en-US" sz="2000" b="0" i="0" u="none" strike="noStrike" cap="none" baseline="0" dirty="0">
                          <a:solidFill>
                            <a:schemeClr val="dk1"/>
                          </a:solidFill>
                          <a:latin typeface="+mn-lt"/>
                          <a:ea typeface="+mn-ea"/>
                          <a:cs typeface="+mn-cs"/>
                          <a:sym typeface="Arial"/>
                        </a:rPr>
                        <a:t>()</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 1), (2, 1), (3, 2)}</a:t>
                      </a:r>
                      <a:endParaRPr lang="en-US" sz="2000" dirty="0"/>
                    </a:p>
                  </a:txBody>
                  <a:tcPr/>
                </a:tc>
                <a:extLst>
                  <a:ext uri="{0D108BD9-81ED-4DB2-BD59-A6C34878D82A}">
                    <a16:rowId xmlns:a16="http://schemas.microsoft.com/office/drawing/2014/main" val="10004"/>
                  </a:ext>
                </a:extLst>
              </a:tr>
              <a:tr h="1310640">
                <a:tc>
                  <a:txBody>
                    <a:bodyPr/>
                    <a:lstStyle/>
                    <a:p>
                      <a:r>
                        <a:rPr lang="en-US" sz="2000" dirty="0"/>
                        <a:t>reduce()</a:t>
                      </a:r>
                    </a:p>
                  </a:txBody>
                  <a:tcPr/>
                </a:tc>
                <a:tc>
                  <a:txBody>
                    <a:bodyPr/>
                    <a:lstStyle/>
                    <a:p>
                      <a:r>
                        <a:rPr lang="en-US" sz="2000" b="0" i="0" u="none" strike="noStrike" cap="none" baseline="0" dirty="0">
                          <a:solidFill>
                            <a:schemeClr val="dk1"/>
                          </a:solidFill>
                          <a:latin typeface="+mn-lt"/>
                          <a:ea typeface="+mn-ea"/>
                          <a:cs typeface="+mn-cs"/>
                          <a:sym typeface="Arial"/>
                        </a:rPr>
                        <a:t>Combine the elements of the</a:t>
                      </a:r>
                    </a:p>
                    <a:p>
                      <a:r>
                        <a:rPr lang="en-US" sz="2000" b="0" i="0" u="none" strike="noStrike" cap="none" baseline="0" dirty="0">
                          <a:solidFill>
                            <a:schemeClr val="dk1"/>
                          </a:solidFill>
                          <a:latin typeface="+mn-lt"/>
                          <a:ea typeface="+mn-ea"/>
                          <a:cs typeface="+mn-cs"/>
                          <a:sym typeface="Arial"/>
                        </a:rPr>
                        <a:t>RDD together in parallel (e.g., sum).</a:t>
                      </a:r>
                      <a:endParaRPr lang="en-US" sz="2000" dirty="0"/>
                    </a:p>
                  </a:txBody>
                  <a:tcPr/>
                </a:tc>
                <a:tc>
                  <a:txBody>
                    <a:bodyPr/>
                    <a:lstStyle/>
                    <a:p>
                      <a:r>
                        <a:rPr lang="es-ES" sz="2000" b="0" i="0" u="none" strike="noStrike" cap="none" baseline="0" dirty="0" err="1">
                          <a:solidFill>
                            <a:schemeClr val="dk1"/>
                          </a:solidFill>
                          <a:latin typeface="+mn-lt"/>
                          <a:ea typeface="+mn-ea"/>
                          <a:cs typeface="+mn-cs"/>
                          <a:sym typeface="Arial"/>
                        </a:rPr>
                        <a:t>rdd.reduce</a:t>
                      </a:r>
                      <a:r>
                        <a:rPr lang="es-ES" sz="2000" b="0" i="0" u="none" strike="noStrike" cap="none" baseline="0" dirty="0">
                          <a:solidFill>
                            <a:schemeClr val="dk1"/>
                          </a:solidFill>
                          <a:latin typeface="+mn-lt"/>
                          <a:ea typeface="+mn-ea"/>
                          <a:cs typeface="+mn-cs"/>
                          <a:sym typeface="Arial"/>
                        </a:rPr>
                        <a:t>((x, y) =&gt; x + y)</a:t>
                      </a:r>
                      <a:endParaRPr lang="en-US" sz="2000" dirty="0"/>
                    </a:p>
                  </a:txBody>
                  <a:tcPr/>
                </a:tc>
                <a:tc>
                  <a:txBody>
                    <a:bodyPr/>
                    <a:lstStyle/>
                    <a:p>
                      <a:r>
                        <a:rPr lang="en-US" sz="2000" dirty="0"/>
                        <a:t>9</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13246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0786"/>
            <a:ext cx="9875520" cy="541215"/>
          </a:xfrm>
        </p:spPr>
        <p:txBody>
          <a:bodyPr/>
          <a:lstStyle/>
          <a:p>
            <a:r>
              <a:rPr lang="en-US" sz="2800" b="1" dirty="0">
                <a:solidFill>
                  <a:srgbClr val="00B050"/>
                </a:solidFill>
              </a:rPr>
              <a:t>Example of Basic RDD Transformations: Two RDD</a:t>
            </a:r>
          </a:p>
        </p:txBody>
      </p:sp>
      <p:sp>
        <p:nvSpPr>
          <p:cNvPr id="3" name="Content Placeholder 2"/>
          <p:cNvSpPr>
            <a:spLocks noGrp="1"/>
          </p:cNvSpPr>
          <p:nvPr>
            <p:ph idx="1"/>
          </p:nvPr>
        </p:nvSpPr>
        <p:spPr>
          <a:xfrm>
            <a:off x="1158241" y="762000"/>
            <a:ext cx="9875520" cy="5715000"/>
          </a:xfrm>
        </p:spPr>
        <p:txBody>
          <a:bodyPr>
            <a:normAutofit/>
          </a:bodyPr>
          <a:lstStyle/>
          <a:p>
            <a:r>
              <a:rPr lang="en-US" sz="2400" dirty="0"/>
              <a:t>Two-RDD transformations on RDDs containing {1, 2, 3} and {3, 4, 5}</a:t>
            </a:r>
          </a:p>
        </p:txBody>
      </p:sp>
      <p:graphicFrame>
        <p:nvGraphicFramePr>
          <p:cNvPr id="5" name="Table 4"/>
          <p:cNvGraphicFramePr>
            <a:graphicFrameLocks noGrp="1"/>
          </p:cNvGraphicFramePr>
          <p:nvPr/>
        </p:nvGraphicFramePr>
        <p:xfrm>
          <a:off x="1143000" y="1886770"/>
          <a:ext cx="9677400" cy="3752031"/>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421287">
                <a:tc>
                  <a:txBody>
                    <a:bodyPr/>
                    <a:lstStyle/>
                    <a:p>
                      <a:r>
                        <a:rPr lang="en-US" sz="2000" dirty="0">
                          <a:solidFill>
                            <a:srgbClr val="00B050"/>
                          </a:solidFill>
                        </a:rPr>
                        <a:t>Function</a:t>
                      </a:r>
                    </a:p>
                  </a:txBody>
                  <a:tcPr/>
                </a:tc>
                <a:tc>
                  <a:txBody>
                    <a:bodyPr/>
                    <a:lstStyle/>
                    <a:p>
                      <a:r>
                        <a:rPr lang="en-US" sz="2000" dirty="0">
                          <a:solidFill>
                            <a:srgbClr val="00B050"/>
                          </a:solidFill>
                        </a:rPr>
                        <a:t>Description</a:t>
                      </a:r>
                    </a:p>
                  </a:txBody>
                  <a:tcPr/>
                </a:tc>
                <a:tc>
                  <a:txBody>
                    <a:bodyPr/>
                    <a:lstStyle/>
                    <a:p>
                      <a:r>
                        <a:rPr lang="en-US" sz="2000" dirty="0">
                          <a:solidFill>
                            <a:srgbClr val="00B050"/>
                          </a:solidFill>
                        </a:rPr>
                        <a:t>Example</a:t>
                      </a:r>
                    </a:p>
                  </a:txBody>
                  <a:tcPr/>
                </a:tc>
                <a:tc>
                  <a:txBody>
                    <a:bodyPr/>
                    <a:lstStyle/>
                    <a:p>
                      <a:r>
                        <a:rPr lang="en-US" sz="2000" dirty="0">
                          <a:solidFill>
                            <a:srgbClr val="00B050"/>
                          </a:solidFill>
                        </a:rPr>
                        <a:t>Result</a:t>
                      </a:r>
                    </a:p>
                  </a:txBody>
                  <a:tcPr/>
                </a:tc>
                <a:extLst>
                  <a:ext uri="{0D108BD9-81ED-4DB2-BD59-A6C34878D82A}">
                    <a16:rowId xmlns:a16="http://schemas.microsoft.com/office/drawing/2014/main" val="10000"/>
                  </a:ext>
                </a:extLst>
              </a:tr>
              <a:tr h="1005840">
                <a:tc>
                  <a:txBody>
                    <a:bodyPr/>
                    <a:lstStyle/>
                    <a:p>
                      <a:r>
                        <a:rPr lang="en-US" sz="2000" dirty="0"/>
                        <a:t>union()</a:t>
                      </a:r>
                    </a:p>
                  </a:txBody>
                  <a:tcPr/>
                </a:tc>
                <a:tc>
                  <a:txBody>
                    <a:bodyPr/>
                    <a:lstStyle/>
                    <a:p>
                      <a:r>
                        <a:rPr lang="en-US" sz="2000" dirty="0"/>
                        <a:t>Produce an RDD containing elements</a:t>
                      </a:r>
                    </a:p>
                    <a:p>
                      <a:r>
                        <a:rPr lang="en-US" sz="2000" dirty="0"/>
                        <a:t>from both RDDs.</a:t>
                      </a:r>
                    </a:p>
                  </a:txBody>
                  <a:tcPr/>
                </a:tc>
                <a:tc>
                  <a:txBody>
                    <a:bodyPr/>
                    <a:lstStyle/>
                    <a:p>
                      <a:r>
                        <a:rPr lang="en-US" sz="2000" b="0" i="0" u="none" strike="noStrike" cap="none" baseline="0" dirty="0" err="1">
                          <a:solidFill>
                            <a:schemeClr val="dk1"/>
                          </a:solidFill>
                          <a:latin typeface="+mn-lt"/>
                          <a:ea typeface="+mn-ea"/>
                          <a:cs typeface="+mn-cs"/>
                          <a:sym typeface="Arial"/>
                        </a:rPr>
                        <a:t>rdd.union</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 2, 3, 3,</a:t>
                      </a:r>
                    </a:p>
                    <a:p>
                      <a:r>
                        <a:rPr lang="en-US" sz="2000" b="0" i="0" u="none" strike="noStrike" cap="none" baseline="0" dirty="0">
                          <a:solidFill>
                            <a:schemeClr val="dk1"/>
                          </a:solidFill>
                          <a:latin typeface="+mn-lt"/>
                          <a:ea typeface="+mn-ea"/>
                          <a:cs typeface="+mn-cs"/>
                          <a:sym typeface="Arial"/>
                        </a:rPr>
                        <a:t>4, 5}</a:t>
                      </a:r>
                      <a:endParaRPr lang="en-US" sz="2000" dirty="0"/>
                    </a:p>
                  </a:txBody>
                  <a:tcPr/>
                </a:tc>
                <a:extLst>
                  <a:ext uri="{0D108BD9-81ED-4DB2-BD59-A6C34878D82A}">
                    <a16:rowId xmlns:a16="http://schemas.microsoft.com/office/drawing/2014/main" val="10001"/>
                  </a:ext>
                </a:extLst>
              </a:tr>
              <a:tr h="831032">
                <a:tc>
                  <a:txBody>
                    <a:bodyPr/>
                    <a:lstStyle/>
                    <a:p>
                      <a:r>
                        <a:rPr lang="en-US" sz="2000" dirty="0"/>
                        <a:t>intersection()</a:t>
                      </a:r>
                    </a:p>
                  </a:txBody>
                  <a:tcPr/>
                </a:tc>
                <a:tc>
                  <a:txBody>
                    <a:bodyPr/>
                    <a:lstStyle/>
                    <a:p>
                      <a:r>
                        <a:rPr lang="en-US" sz="2000" dirty="0"/>
                        <a:t>Common elements</a:t>
                      </a:r>
                    </a:p>
                  </a:txBody>
                  <a:tcPr/>
                </a:tc>
                <a:tc>
                  <a:txBody>
                    <a:bodyPr/>
                    <a:lstStyle/>
                    <a:p>
                      <a:r>
                        <a:rPr lang="en-US" sz="2000" b="0" i="0" u="none" strike="noStrike" cap="none" baseline="0" dirty="0" err="1">
                          <a:solidFill>
                            <a:schemeClr val="dk1"/>
                          </a:solidFill>
                          <a:latin typeface="+mn-lt"/>
                          <a:ea typeface="+mn-ea"/>
                          <a:cs typeface="+mn-cs"/>
                          <a:sym typeface="Arial"/>
                        </a:rPr>
                        <a:t>rdd.intersection</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{3}</a:t>
                      </a:r>
                      <a:endParaRPr lang="en-US" sz="2000" dirty="0"/>
                    </a:p>
                  </a:txBody>
                  <a:tcPr/>
                </a:tc>
                <a:extLst>
                  <a:ext uri="{0D108BD9-81ED-4DB2-BD59-A6C34878D82A}">
                    <a16:rowId xmlns:a16="http://schemas.microsoft.com/office/drawing/2014/main" val="10002"/>
                  </a:ext>
                </a:extLst>
              </a:tr>
              <a:tr h="792832">
                <a:tc>
                  <a:txBody>
                    <a:bodyPr/>
                    <a:lstStyle/>
                    <a:p>
                      <a:r>
                        <a:rPr lang="en-US" sz="2000" dirty="0"/>
                        <a:t>subtract()</a:t>
                      </a:r>
                    </a:p>
                  </a:txBody>
                  <a:tcPr/>
                </a:tc>
                <a:tc>
                  <a:txBody>
                    <a:bodyPr/>
                    <a:lstStyle/>
                    <a:p>
                      <a:r>
                        <a:rPr lang="en-US" sz="2000" dirty="0"/>
                        <a:t>Remove the contents of one RDD</a:t>
                      </a:r>
                    </a:p>
                  </a:txBody>
                  <a:tcPr/>
                </a:tc>
                <a:tc>
                  <a:txBody>
                    <a:bodyPr/>
                    <a:lstStyle/>
                    <a:p>
                      <a:r>
                        <a:rPr lang="en-US" sz="2000" b="0" i="0" u="none" strike="noStrike" cap="none" baseline="0" dirty="0" err="1">
                          <a:solidFill>
                            <a:schemeClr val="dk1"/>
                          </a:solidFill>
                          <a:latin typeface="+mn-lt"/>
                          <a:ea typeface="+mn-ea"/>
                          <a:cs typeface="+mn-cs"/>
                          <a:sym typeface="Arial"/>
                        </a:rPr>
                        <a:t>rdd.subtract</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 2}</a:t>
                      </a:r>
                      <a:endParaRPr lang="en-US" sz="2000" dirty="0"/>
                    </a:p>
                  </a:txBody>
                  <a:tcPr/>
                </a:tc>
                <a:extLst>
                  <a:ext uri="{0D108BD9-81ED-4DB2-BD59-A6C34878D82A}">
                    <a16:rowId xmlns:a16="http://schemas.microsoft.com/office/drawing/2014/main" val="10003"/>
                  </a:ext>
                </a:extLst>
              </a:tr>
              <a:tr h="701040">
                <a:tc>
                  <a:txBody>
                    <a:bodyPr/>
                    <a:lstStyle/>
                    <a:p>
                      <a:r>
                        <a:rPr lang="en-US" sz="2000" dirty="0"/>
                        <a:t>Cartesian()</a:t>
                      </a:r>
                    </a:p>
                  </a:txBody>
                  <a:tcPr/>
                </a:tc>
                <a:tc>
                  <a:txBody>
                    <a:bodyPr/>
                    <a:lstStyle/>
                    <a:p>
                      <a:r>
                        <a:rPr lang="en-US" sz="2000" dirty="0"/>
                        <a:t>Cartesian product with the other RDD.</a:t>
                      </a:r>
                    </a:p>
                  </a:txBody>
                  <a:tcPr/>
                </a:tc>
                <a:tc>
                  <a:txBody>
                    <a:bodyPr/>
                    <a:lstStyle/>
                    <a:p>
                      <a:r>
                        <a:rPr lang="en-US" sz="2000" b="0" i="0" u="none" strike="noStrike" cap="none" baseline="0" dirty="0" err="1">
                          <a:solidFill>
                            <a:schemeClr val="dk1"/>
                          </a:solidFill>
                          <a:latin typeface="+mn-lt"/>
                          <a:ea typeface="+mn-ea"/>
                          <a:cs typeface="+mn-cs"/>
                          <a:sym typeface="Arial"/>
                        </a:rPr>
                        <a:t>rdd.cartesian</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dirty="0"/>
                        <a:t>{(1,3), (1,4), …}</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174525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782" y="144586"/>
            <a:ext cx="9875520" cy="541215"/>
          </a:xfrm>
        </p:spPr>
        <p:txBody>
          <a:bodyPr/>
          <a:lstStyle/>
          <a:p>
            <a:r>
              <a:rPr lang="en-US" b="1" dirty="0">
                <a:solidFill>
                  <a:srgbClr val="00B050"/>
                </a:solidFill>
              </a:rPr>
              <a:t>Paired RDD: Transformations</a:t>
            </a:r>
          </a:p>
        </p:txBody>
      </p:sp>
      <p:sp>
        <p:nvSpPr>
          <p:cNvPr id="3" name="Content Placeholder 2"/>
          <p:cNvSpPr>
            <a:spLocks noGrp="1"/>
          </p:cNvSpPr>
          <p:nvPr>
            <p:ph idx="1"/>
          </p:nvPr>
        </p:nvSpPr>
        <p:spPr>
          <a:xfrm>
            <a:off x="1158242" y="685801"/>
            <a:ext cx="10220959" cy="5638799"/>
          </a:xfrm>
        </p:spPr>
        <p:txBody>
          <a:bodyPr/>
          <a:lstStyle/>
          <a:p>
            <a:r>
              <a:rPr lang="en-US" sz="1600" dirty="0"/>
              <a:t>RDD containing key-value pairs</a:t>
            </a:r>
          </a:p>
          <a:p>
            <a:r>
              <a:rPr lang="en-US" sz="1600" dirty="0"/>
              <a:t>The fundamental concept behind original map-reduce model</a:t>
            </a:r>
          </a:p>
          <a:p>
            <a:pPr marL="0" indent="0">
              <a:buNone/>
            </a:pPr>
            <a:r>
              <a:rPr lang="en-US" sz="1600" dirty="0"/>
              <a:t>             Transformations on one paired RDD containing  {(1, 2), (3, 4), (3, 6)}</a:t>
            </a:r>
          </a:p>
          <a:p>
            <a:pPr marL="0" indent="0">
              <a:buNone/>
            </a:pPr>
            <a:r>
              <a:rPr lang="en-US" dirty="0"/>
              <a:t>        </a:t>
            </a:r>
          </a:p>
          <a:p>
            <a:pPr marL="0" indent="0">
              <a:buNone/>
            </a:pPr>
            <a:r>
              <a:rPr lang="en-US" dirty="0"/>
              <a:t>        </a:t>
            </a:r>
          </a:p>
          <a:p>
            <a:pPr marL="0" indent="0">
              <a:buNone/>
            </a:pPr>
            <a:endParaRPr lang="en-US" dirty="0"/>
          </a:p>
        </p:txBody>
      </p:sp>
      <p:graphicFrame>
        <p:nvGraphicFramePr>
          <p:cNvPr id="6" name="Table 5"/>
          <p:cNvGraphicFramePr>
            <a:graphicFrameLocks noGrp="1"/>
          </p:cNvGraphicFramePr>
          <p:nvPr/>
        </p:nvGraphicFramePr>
        <p:xfrm>
          <a:off x="1239521" y="2208320"/>
          <a:ext cx="10058400" cy="4116280"/>
        </p:xfrm>
        <a:graphic>
          <a:graphicData uri="http://schemas.openxmlformats.org/drawingml/2006/table">
            <a:tbl>
              <a:tblPr firstRow="1" bandRow="1">
                <a:tableStyleId>{5C22544A-7EE6-4342-B048-85BDC9FD1C3A}</a:tableStyleId>
              </a:tblPr>
              <a:tblGrid>
                <a:gridCol w="2133599">
                  <a:extLst>
                    <a:ext uri="{9D8B030D-6E8A-4147-A177-3AD203B41FA5}">
                      <a16:colId xmlns:a16="http://schemas.microsoft.com/office/drawing/2014/main" val="20000"/>
                    </a:ext>
                  </a:extLst>
                </a:gridCol>
                <a:gridCol w="3657601">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334114">
                <a:tc>
                  <a:txBody>
                    <a:bodyPr/>
                    <a:lstStyle/>
                    <a:p>
                      <a:r>
                        <a:rPr lang="en-US" sz="1400" dirty="0">
                          <a:solidFill>
                            <a:srgbClr val="00B050"/>
                          </a:solidFill>
                        </a:rPr>
                        <a:t>Function</a:t>
                      </a:r>
                    </a:p>
                  </a:txBody>
                  <a:tcPr/>
                </a:tc>
                <a:tc>
                  <a:txBody>
                    <a:bodyPr/>
                    <a:lstStyle/>
                    <a:p>
                      <a:r>
                        <a:rPr lang="en-US" sz="1400" dirty="0">
                          <a:solidFill>
                            <a:srgbClr val="00B050"/>
                          </a:solidFill>
                        </a:rPr>
                        <a:t>Description</a:t>
                      </a:r>
                    </a:p>
                  </a:txBody>
                  <a:tcPr/>
                </a:tc>
                <a:tc>
                  <a:txBody>
                    <a:bodyPr/>
                    <a:lstStyle/>
                    <a:p>
                      <a:r>
                        <a:rPr lang="en-US" sz="1400" dirty="0">
                          <a:solidFill>
                            <a:srgbClr val="00B050"/>
                          </a:solidFill>
                        </a:rPr>
                        <a:t>Example</a:t>
                      </a:r>
                    </a:p>
                  </a:txBody>
                  <a:tcPr/>
                </a:tc>
                <a:tc>
                  <a:txBody>
                    <a:bodyPr/>
                    <a:lstStyle/>
                    <a:p>
                      <a:r>
                        <a:rPr lang="en-US" sz="1400" dirty="0">
                          <a:solidFill>
                            <a:srgbClr val="00B050"/>
                          </a:solidFill>
                        </a:rPr>
                        <a:t>Result</a:t>
                      </a:r>
                    </a:p>
                  </a:txBody>
                  <a:tcPr/>
                </a:tc>
                <a:extLst>
                  <a:ext uri="{0D108BD9-81ED-4DB2-BD59-A6C34878D82A}">
                    <a16:rowId xmlns:a16="http://schemas.microsoft.com/office/drawing/2014/main" val="10000"/>
                  </a:ext>
                </a:extLst>
              </a:tr>
              <a:tr h="588040">
                <a:tc>
                  <a:txBody>
                    <a:bodyPr/>
                    <a:lstStyle/>
                    <a:p>
                      <a:r>
                        <a:rPr lang="en-US" sz="1400" b="0" i="0" u="none" strike="noStrike" cap="none" baseline="0" dirty="0" err="1">
                          <a:solidFill>
                            <a:schemeClr val="dk1"/>
                          </a:solidFill>
                          <a:latin typeface="+mn-lt"/>
                          <a:ea typeface="+mn-ea"/>
                          <a:cs typeface="+mn-cs"/>
                          <a:sym typeface="Arial"/>
                        </a:rPr>
                        <a:t>reduceByKey</a:t>
                      </a:r>
                      <a:r>
                        <a:rPr lang="en-US" sz="1400" b="0" i="0" u="none" strike="noStrike" cap="none" baseline="0" dirty="0">
                          <a:solidFill>
                            <a:schemeClr val="dk1"/>
                          </a:solidFill>
                          <a:latin typeface="+mn-lt"/>
                          <a:ea typeface="+mn-ea"/>
                          <a:cs typeface="+mn-cs"/>
                          <a:sym typeface="Arial"/>
                        </a:rPr>
                        <a:t>(</a:t>
                      </a:r>
                      <a:r>
                        <a:rPr lang="en-US" sz="1400" b="0" i="0" u="none" strike="noStrike" cap="none" baseline="0" dirty="0" err="1">
                          <a:solidFill>
                            <a:schemeClr val="dk1"/>
                          </a:solidFill>
                          <a:latin typeface="+mn-lt"/>
                          <a:ea typeface="+mn-ea"/>
                          <a:cs typeface="+mn-cs"/>
                          <a:sym typeface="Arial"/>
                        </a:rPr>
                        <a:t>func</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Combine values with</a:t>
                      </a:r>
                    </a:p>
                    <a:p>
                      <a:r>
                        <a:rPr lang="en-US" sz="1400" b="0" i="0" u="none" strike="noStrike" cap="none" baseline="0" dirty="0">
                          <a:solidFill>
                            <a:schemeClr val="dk1"/>
                          </a:solidFill>
                          <a:latin typeface="+mn-lt"/>
                          <a:ea typeface="+mn-ea"/>
                          <a:cs typeface="+mn-cs"/>
                          <a:sym typeface="Arial"/>
                        </a:rPr>
                        <a:t>the same key.</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rdd.reduceByKey</a:t>
                      </a:r>
                      <a:r>
                        <a:rPr lang="en-US" sz="1400" b="0" i="0" u="none" strike="noStrike" cap="none" baseline="0" dirty="0">
                          <a:solidFill>
                            <a:schemeClr val="dk1"/>
                          </a:solidFill>
                          <a:latin typeface="+mn-lt"/>
                          <a:ea typeface="+mn-ea"/>
                          <a:cs typeface="+mn-cs"/>
                          <a:sym typeface="Arial"/>
                        </a:rPr>
                        <a:t>(</a:t>
                      </a:r>
                    </a:p>
                    <a:p>
                      <a:r>
                        <a:rPr lang="en-US" sz="1400" b="0" i="0" u="none" strike="noStrike" cap="none" baseline="0" dirty="0">
                          <a:solidFill>
                            <a:schemeClr val="dk1"/>
                          </a:solidFill>
                          <a:latin typeface="+mn-lt"/>
                          <a:ea typeface="+mn-ea"/>
                          <a:cs typeface="+mn-cs"/>
                          <a:sym typeface="Arial"/>
                        </a:rPr>
                        <a:t>(x, y) =&gt; x + y)</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{(1,2), (3,10)}</a:t>
                      </a:r>
                      <a:endParaRPr lang="en-US" sz="1400" dirty="0"/>
                    </a:p>
                  </a:txBody>
                  <a:tcPr/>
                </a:tc>
                <a:extLst>
                  <a:ext uri="{0D108BD9-81ED-4DB2-BD59-A6C34878D82A}">
                    <a16:rowId xmlns:a16="http://schemas.microsoft.com/office/drawing/2014/main" val="10001"/>
                  </a:ext>
                </a:extLst>
              </a:tr>
              <a:tr h="588040">
                <a:tc>
                  <a:txBody>
                    <a:bodyPr/>
                    <a:lstStyle/>
                    <a:p>
                      <a:r>
                        <a:rPr lang="en-US" sz="1400" b="0" i="0" u="none" strike="noStrike" cap="none" baseline="0" dirty="0" err="1">
                          <a:solidFill>
                            <a:schemeClr val="dk1"/>
                          </a:solidFill>
                          <a:latin typeface="+mn-lt"/>
                          <a:ea typeface="+mn-ea"/>
                          <a:cs typeface="+mn-cs"/>
                          <a:sym typeface="Arial"/>
                        </a:rPr>
                        <a:t>groupByKey</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Group values with the</a:t>
                      </a:r>
                    </a:p>
                    <a:p>
                      <a:r>
                        <a:rPr lang="en-US" sz="1400" b="0" i="0" u="none" strike="noStrike" cap="none" baseline="0" dirty="0">
                          <a:solidFill>
                            <a:schemeClr val="dk1"/>
                          </a:solidFill>
                          <a:latin typeface="+mn-lt"/>
                          <a:ea typeface="+mn-ea"/>
                          <a:cs typeface="+mn-cs"/>
                          <a:sym typeface="Arial"/>
                        </a:rPr>
                        <a:t>same key.</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rdd.groupByKey</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{(1,[2]),(3, [4,6])}</a:t>
                      </a:r>
                      <a:endParaRPr lang="en-US" sz="1400" dirty="0"/>
                    </a:p>
                  </a:txBody>
                  <a:tcPr/>
                </a:tc>
                <a:extLst>
                  <a:ext uri="{0D108BD9-81ED-4DB2-BD59-A6C34878D82A}">
                    <a16:rowId xmlns:a16="http://schemas.microsoft.com/office/drawing/2014/main" val="10002"/>
                  </a:ext>
                </a:extLst>
              </a:tr>
              <a:tr h="841966">
                <a:tc>
                  <a:txBody>
                    <a:bodyPr/>
                    <a:lstStyle/>
                    <a:p>
                      <a:r>
                        <a:rPr lang="en-US" sz="1400" b="0" i="0" u="none" strike="noStrike" cap="none" baseline="0" dirty="0" err="1">
                          <a:solidFill>
                            <a:schemeClr val="dk1"/>
                          </a:solidFill>
                          <a:latin typeface="+mn-lt"/>
                          <a:ea typeface="+mn-ea"/>
                          <a:cs typeface="+mn-cs"/>
                          <a:sym typeface="Arial"/>
                        </a:rPr>
                        <a:t>mapValues</a:t>
                      </a:r>
                      <a:r>
                        <a:rPr lang="en-US" sz="1400" b="0" i="0" u="none" strike="noStrike" cap="none" baseline="0" dirty="0">
                          <a:solidFill>
                            <a:schemeClr val="dk1"/>
                          </a:solidFill>
                          <a:latin typeface="+mn-lt"/>
                          <a:ea typeface="+mn-ea"/>
                          <a:cs typeface="+mn-cs"/>
                          <a:sym typeface="Arial"/>
                        </a:rPr>
                        <a:t>(</a:t>
                      </a:r>
                      <a:r>
                        <a:rPr lang="en-US" sz="1400" b="0" i="0" u="none" strike="noStrike" cap="none" baseline="0" dirty="0" err="1">
                          <a:solidFill>
                            <a:schemeClr val="dk1"/>
                          </a:solidFill>
                          <a:latin typeface="+mn-lt"/>
                          <a:ea typeface="+mn-ea"/>
                          <a:cs typeface="+mn-cs"/>
                          <a:sym typeface="Arial"/>
                        </a:rPr>
                        <a:t>func</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Apply a function to each value of a pair RDD without changing the key.</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rdd.mapValues</a:t>
                      </a:r>
                      <a:r>
                        <a:rPr lang="en-US" sz="1400" b="0" i="0" u="none" strike="noStrike" cap="none" baseline="0" dirty="0">
                          <a:solidFill>
                            <a:schemeClr val="dk1"/>
                          </a:solidFill>
                          <a:latin typeface="+mn-lt"/>
                          <a:ea typeface="+mn-ea"/>
                          <a:cs typeface="+mn-cs"/>
                          <a:sym typeface="Arial"/>
                        </a:rPr>
                        <a:t>(x =&gt; x+1)</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{(1,3), (3,5), (3,7)}</a:t>
                      </a:r>
                      <a:endParaRPr lang="en-US" sz="1400" dirty="0"/>
                    </a:p>
                  </a:txBody>
                  <a:tcPr/>
                </a:tc>
                <a:extLst>
                  <a:ext uri="{0D108BD9-81ED-4DB2-BD59-A6C34878D82A}">
                    <a16:rowId xmlns:a16="http://schemas.microsoft.com/office/drawing/2014/main" val="10003"/>
                  </a:ext>
                </a:extLst>
              </a:tr>
              <a:tr h="588040">
                <a:tc>
                  <a:txBody>
                    <a:bodyPr/>
                    <a:lstStyle/>
                    <a:p>
                      <a:r>
                        <a:rPr lang="en-US" sz="1400" b="0" i="0" u="none" strike="noStrike" cap="none" baseline="0" dirty="0">
                          <a:solidFill>
                            <a:schemeClr val="dk1"/>
                          </a:solidFill>
                          <a:latin typeface="+mn-lt"/>
                          <a:ea typeface="+mn-ea"/>
                          <a:cs typeface="+mn-cs"/>
                          <a:sym typeface="Arial"/>
                        </a:rPr>
                        <a:t>keys()</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Return an RDD of just</a:t>
                      </a:r>
                    </a:p>
                    <a:p>
                      <a:r>
                        <a:rPr lang="en-US" sz="1400" b="0" i="0" u="none" strike="noStrike" cap="none" baseline="0" dirty="0">
                          <a:solidFill>
                            <a:schemeClr val="dk1"/>
                          </a:solidFill>
                          <a:latin typeface="+mn-lt"/>
                          <a:ea typeface="+mn-ea"/>
                          <a:cs typeface="+mn-cs"/>
                          <a:sym typeface="Arial"/>
                        </a:rPr>
                        <a:t>the keys.</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rdd.keys</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 3,3}</a:t>
                      </a:r>
                      <a:endParaRPr lang="en-US" sz="1400" dirty="0"/>
                    </a:p>
                  </a:txBody>
                  <a:tcPr/>
                </a:tc>
                <a:extLst>
                  <a:ext uri="{0D108BD9-81ED-4DB2-BD59-A6C34878D82A}">
                    <a16:rowId xmlns:a16="http://schemas.microsoft.com/office/drawing/2014/main" val="10004"/>
                  </a:ext>
                </a:extLst>
              </a:tr>
              <a:tr h="588040">
                <a:tc>
                  <a:txBody>
                    <a:bodyPr/>
                    <a:lstStyle/>
                    <a:p>
                      <a:r>
                        <a:rPr lang="en-US" sz="1400" b="0" i="0" u="none" strike="noStrike" cap="none" baseline="0" dirty="0">
                          <a:solidFill>
                            <a:schemeClr val="dk1"/>
                          </a:solidFill>
                          <a:latin typeface="+mn-lt"/>
                          <a:ea typeface="+mn-ea"/>
                          <a:cs typeface="+mn-cs"/>
                          <a:sym typeface="Arial"/>
                        </a:rPr>
                        <a:t>values()</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Return an RDD of just</a:t>
                      </a:r>
                    </a:p>
                    <a:p>
                      <a:r>
                        <a:rPr lang="en-US" sz="1400" b="0" i="0" u="none" strike="noStrike" cap="none" baseline="0" dirty="0">
                          <a:solidFill>
                            <a:schemeClr val="dk1"/>
                          </a:solidFill>
                          <a:latin typeface="+mn-lt"/>
                          <a:ea typeface="+mn-ea"/>
                          <a:cs typeface="+mn-cs"/>
                          <a:sym typeface="Arial"/>
                        </a:rPr>
                        <a:t>the values.</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rdd.values</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{2, 4,6}</a:t>
                      </a:r>
                      <a:endParaRPr lang="en-US" sz="1400" dirty="0"/>
                    </a:p>
                  </a:txBody>
                  <a:tcPr/>
                </a:tc>
                <a:extLst>
                  <a:ext uri="{0D108BD9-81ED-4DB2-BD59-A6C34878D82A}">
                    <a16:rowId xmlns:a16="http://schemas.microsoft.com/office/drawing/2014/main" val="10005"/>
                  </a:ext>
                </a:extLst>
              </a:tr>
              <a:tr h="588040">
                <a:tc>
                  <a:txBody>
                    <a:bodyPr/>
                    <a:lstStyle/>
                    <a:p>
                      <a:r>
                        <a:rPr lang="en-US" sz="1400" b="0" i="0" u="none" strike="noStrike" cap="none" baseline="0" dirty="0" err="1">
                          <a:solidFill>
                            <a:schemeClr val="dk1"/>
                          </a:solidFill>
                          <a:latin typeface="+mn-lt"/>
                          <a:ea typeface="+mn-ea"/>
                          <a:cs typeface="+mn-cs"/>
                          <a:sym typeface="Arial"/>
                        </a:rPr>
                        <a:t>sortByKey</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Return an RDD sorted</a:t>
                      </a:r>
                    </a:p>
                    <a:p>
                      <a:r>
                        <a:rPr lang="en-US" sz="1400" b="0" i="0" u="none" strike="noStrike" cap="none" baseline="0" dirty="0">
                          <a:solidFill>
                            <a:schemeClr val="dk1"/>
                          </a:solidFill>
                          <a:latin typeface="+mn-lt"/>
                          <a:ea typeface="+mn-ea"/>
                          <a:cs typeface="+mn-cs"/>
                          <a:sym typeface="Arial"/>
                        </a:rPr>
                        <a:t>by the key.</a:t>
                      </a:r>
                      <a:endParaRPr lang="en-US" sz="1400" dirty="0"/>
                    </a:p>
                  </a:txBody>
                  <a:tcPr/>
                </a:tc>
                <a:tc>
                  <a:txBody>
                    <a:bodyPr/>
                    <a:lstStyle/>
                    <a:p>
                      <a:r>
                        <a:rPr lang="en-US" sz="1400" b="0" i="0" u="none" strike="noStrike" cap="none" baseline="0" dirty="0" err="1">
                          <a:solidFill>
                            <a:schemeClr val="dk1"/>
                          </a:solidFill>
                          <a:latin typeface="+mn-lt"/>
                          <a:ea typeface="+mn-ea"/>
                          <a:cs typeface="+mn-cs"/>
                          <a:sym typeface="Arial"/>
                        </a:rPr>
                        <a:t>rdd.sortByKey</a:t>
                      </a:r>
                      <a:r>
                        <a:rPr lang="en-US" sz="1400" b="0" i="0" u="none" strike="noStrike" cap="none" baseline="0" dirty="0">
                          <a:solidFill>
                            <a:schemeClr val="dk1"/>
                          </a:solidFill>
                          <a:latin typeface="+mn-lt"/>
                          <a:ea typeface="+mn-ea"/>
                          <a:cs typeface="+mn-cs"/>
                          <a:sym typeface="Arial"/>
                        </a:rPr>
                        <a:t>()</a:t>
                      </a:r>
                      <a:endParaRPr lang="en-US" sz="1400" dirty="0"/>
                    </a:p>
                  </a:txBody>
                  <a:tcPr/>
                </a:tc>
                <a:tc>
                  <a:txBody>
                    <a:bodyPr/>
                    <a:lstStyle/>
                    <a:p>
                      <a:r>
                        <a:rPr lang="en-US" sz="1400" b="0" i="0" u="none" strike="noStrike" cap="none" baseline="0" dirty="0">
                          <a:solidFill>
                            <a:schemeClr val="dk1"/>
                          </a:solidFill>
                          <a:latin typeface="+mn-lt"/>
                          <a:ea typeface="+mn-ea"/>
                          <a:cs typeface="+mn-cs"/>
                          <a:sym typeface="Arial"/>
                        </a:rPr>
                        <a:t>{(1,2), (3,4), (3,6)}</a:t>
                      </a:r>
                      <a:endParaRPr lang="en-US" sz="1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35125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4586"/>
            <a:ext cx="9875520" cy="541215"/>
          </a:xfrm>
        </p:spPr>
        <p:txBody>
          <a:bodyPr/>
          <a:lstStyle/>
          <a:p>
            <a:r>
              <a:rPr lang="en-US" b="1" dirty="0">
                <a:solidFill>
                  <a:srgbClr val="00B050"/>
                </a:solidFill>
              </a:rPr>
              <a:t>Paired RDD: Actions</a:t>
            </a:r>
          </a:p>
        </p:txBody>
      </p:sp>
      <p:sp>
        <p:nvSpPr>
          <p:cNvPr id="3" name="Content Placeholder 2"/>
          <p:cNvSpPr>
            <a:spLocks noGrp="1"/>
          </p:cNvSpPr>
          <p:nvPr>
            <p:ph idx="1"/>
          </p:nvPr>
        </p:nvSpPr>
        <p:spPr>
          <a:xfrm>
            <a:off x="1158242" y="685801"/>
            <a:ext cx="10220959" cy="5638799"/>
          </a:xfrm>
        </p:spPr>
        <p:txBody>
          <a:bodyPr/>
          <a:lstStyle/>
          <a:p>
            <a:pPr marL="38099" indent="0">
              <a:buNone/>
            </a:pPr>
            <a:r>
              <a:rPr lang="en-US" dirty="0"/>
              <a:t>RDD containing  {(1, 2), (3, 4), (3, 6)}</a:t>
            </a:r>
          </a:p>
          <a:p>
            <a:pPr marL="0" indent="0">
              <a:buNone/>
            </a:pPr>
            <a:r>
              <a:rPr lang="en-US" dirty="0"/>
              <a:t>        </a:t>
            </a:r>
          </a:p>
          <a:p>
            <a:pPr marL="0" indent="0">
              <a:buNone/>
            </a:pPr>
            <a:r>
              <a:rPr lang="en-US" dirty="0"/>
              <a:t>        </a:t>
            </a:r>
          </a:p>
          <a:p>
            <a:pPr marL="0" indent="0">
              <a:buNone/>
            </a:pPr>
            <a:endParaRPr lang="en-US" dirty="0"/>
          </a:p>
        </p:txBody>
      </p:sp>
      <p:graphicFrame>
        <p:nvGraphicFramePr>
          <p:cNvPr id="6" name="Table 5"/>
          <p:cNvGraphicFramePr>
            <a:graphicFrameLocks noGrp="1"/>
          </p:cNvGraphicFramePr>
          <p:nvPr/>
        </p:nvGraphicFramePr>
        <p:xfrm>
          <a:off x="1295401" y="1981201"/>
          <a:ext cx="9525001" cy="1722120"/>
        </p:xfrm>
        <a:graphic>
          <a:graphicData uri="http://schemas.openxmlformats.org/drawingml/2006/table">
            <a:tbl>
              <a:tblPr firstRow="1" bandRow="1">
                <a:tableStyleId>{5C22544A-7EE6-4342-B048-85BDC9FD1C3A}</a:tableStyleId>
              </a:tblPr>
              <a:tblGrid>
                <a:gridCol w="2236932">
                  <a:extLst>
                    <a:ext uri="{9D8B030D-6E8A-4147-A177-3AD203B41FA5}">
                      <a16:colId xmlns:a16="http://schemas.microsoft.com/office/drawing/2014/main" val="20000"/>
                    </a:ext>
                  </a:extLst>
                </a:gridCol>
                <a:gridCol w="3247160">
                  <a:extLst>
                    <a:ext uri="{9D8B030D-6E8A-4147-A177-3AD203B41FA5}">
                      <a16:colId xmlns:a16="http://schemas.microsoft.com/office/drawing/2014/main" val="20001"/>
                    </a:ext>
                  </a:extLst>
                </a:gridCol>
                <a:gridCol w="2453409">
                  <a:extLst>
                    <a:ext uri="{9D8B030D-6E8A-4147-A177-3AD203B41FA5}">
                      <a16:colId xmlns:a16="http://schemas.microsoft.com/office/drawing/2014/main" val="20002"/>
                    </a:ext>
                  </a:extLst>
                </a:gridCol>
                <a:gridCol w="1587500">
                  <a:extLst>
                    <a:ext uri="{9D8B030D-6E8A-4147-A177-3AD203B41FA5}">
                      <a16:colId xmlns:a16="http://schemas.microsoft.com/office/drawing/2014/main" val="20003"/>
                    </a:ext>
                  </a:extLst>
                </a:gridCol>
              </a:tblGrid>
              <a:tr h="380948">
                <a:tc>
                  <a:txBody>
                    <a:bodyPr/>
                    <a:lstStyle/>
                    <a:p>
                      <a:r>
                        <a:rPr lang="en-US" sz="1900" dirty="0">
                          <a:solidFill>
                            <a:srgbClr val="00B050"/>
                          </a:solidFill>
                        </a:rPr>
                        <a:t>Function</a:t>
                      </a:r>
                    </a:p>
                  </a:txBody>
                  <a:tcPr/>
                </a:tc>
                <a:tc>
                  <a:txBody>
                    <a:bodyPr/>
                    <a:lstStyle/>
                    <a:p>
                      <a:r>
                        <a:rPr lang="en-US" sz="1900" dirty="0">
                          <a:solidFill>
                            <a:srgbClr val="00B050"/>
                          </a:solidFill>
                        </a:rPr>
                        <a:t>Description</a:t>
                      </a:r>
                    </a:p>
                  </a:txBody>
                  <a:tcPr/>
                </a:tc>
                <a:tc>
                  <a:txBody>
                    <a:bodyPr/>
                    <a:lstStyle/>
                    <a:p>
                      <a:r>
                        <a:rPr lang="en-US" sz="1900" dirty="0">
                          <a:solidFill>
                            <a:srgbClr val="00B050"/>
                          </a:solidFill>
                        </a:rPr>
                        <a:t>Example</a:t>
                      </a:r>
                    </a:p>
                  </a:txBody>
                  <a:tcPr/>
                </a:tc>
                <a:tc>
                  <a:txBody>
                    <a:bodyPr/>
                    <a:lstStyle/>
                    <a:p>
                      <a:r>
                        <a:rPr lang="en-US" sz="1900" dirty="0">
                          <a:solidFill>
                            <a:srgbClr val="00B050"/>
                          </a:solidFill>
                        </a:rPr>
                        <a:t>Result</a:t>
                      </a:r>
                    </a:p>
                  </a:txBody>
                  <a:tcPr/>
                </a:tc>
                <a:extLst>
                  <a:ext uri="{0D108BD9-81ED-4DB2-BD59-A6C34878D82A}">
                    <a16:rowId xmlns:a16="http://schemas.microsoft.com/office/drawing/2014/main" val="10000"/>
                  </a:ext>
                </a:extLst>
              </a:tr>
              <a:tr h="660400">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900" b="0" i="0" u="none" strike="noStrike" cap="none" baseline="0" dirty="0" err="1">
                          <a:solidFill>
                            <a:schemeClr val="dk1"/>
                          </a:solidFill>
                          <a:latin typeface="+mn-lt"/>
                          <a:ea typeface="+mn-ea"/>
                          <a:cs typeface="+mn-cs"/>
                          <a:sym typeface="Arial"/>
                        </a:rPr>
                        <a:t>countByKey</a:t>
                      </a:r>
                      <a:r>
                        <a:rPr lang="en-US" sz="1900" b="0" i="0" u="none" strike="noStrike" cap="none" baseline="0" dirty="0">
                          <a:solidFill>
                            <a:schemeClr val="dk1"/>
                          </a:solidFill>
                          <a:latin typeface="+mn-lt"/>
                          <a:ea typeface="+mn-ea"/>
                          <a:cs typeface="+mn-cs"/>
                          <a:sym typeface="Arial"/>
                        </a:rPr>
                        <a:t>()</a:t>
                      </a:r>
                      <a:endParaRPr lang="en-US" sz="1900" dirty="0"/>
                    </a:p>
                    <a:p>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Count the number of elements for each key.</a:t>
                      </a:r>
                      <a:endParaRPr lang="en-US" sz="1900" dirty="0"/>
                    </a:p>
                  </a:txBody>
                  <a:tcPr/>
                </a:tc>
                <a:tc>
                  <a:txBody>
                    <a:bodyPr/>
                    <a:lstStyle/>
                    <a:p>
                      <a:r>
                        <a:rPr lang="en-US" sz="1900" b="0" i="0" u="none" strike="noStrike" cap="none" baseline="0" dirty="0" err="1">
                          <a:solidFill>
                            <a:schemeClr val="dk1"/>
                          </a:solidFill>
                          <a:latin typeface="+mn-lt"/>
                          <a:ea typeface="+mn-ea"/>
                          <a:cs typeface="+mn-cs"/>
                          <a:sym typeface="Arial"/>
                        </a:rPr>
                        <a:t>rdd.countByKey</a:t>
                      </a:r>
                      <a:r>
                        <a:rPr lang="en-US" sz="1900" b="0" i="0" u="none" strike="noStrike" cap="none" baseline="0" dirty="0">
                          <a:solidFill>
                            <a:schemeClr val="dk1"/>
                          </a:solidFill>
                          <a:latin typeface="+mn-lt"/>
                          <a:ea typeface="+mn-ea"/>
                          <a:cs typeface="+mn-cs"/>
                          <a:sym typeface="Arial"/>
                        </a:rPr>
                        <a:t>()</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{(1, 1), (3, 2)}</a:t>
                      </a:r>
                      <a:endParaRPr lang="en-US" sz="1900" dirty="0"/>
                    </a:p>
                  </a:txBody>
                  <a:tcPr/>
                </a:tc>
                <a:extLst>
                  <a:ext uri="{0D108BD9-81ED-4DB2-BD59-A6C34878D82A}">
                    <a16:rowId xmlns:a16="http://schemas.microsoft.com/office/drawing/2014/main" val="10001"/>
                  </a:ext>
                </a:extLst>
              </a:tr>
              <a:tr h="660400">
                <a:tc>
                  <a:txBody>
                    <a:bodyPr/>
                    <a:lstStyle/>
                    <a:p>
                      <a:r>
                        <a:rPr lang="en-US" sz="1900" b="0" i="0" u="none" strike="noStrike" cap="none" baseline="0" dirty="0">
                          <a:solidFill>
                            <a:schemeClr val="dk1"/>
                          </a:solidFill>
                          <a:latin typeface="+mn-lt"/>
                          <a:ea typeface="+mn-ea"/>
                          <a:cs typeface="+mn-cs"/>
                          <a:sym typeface="Arial"/>
                        </a:rPr>
                        <a:t>lookup(key)</a:t>
                      </a:r>
                      <a:endParaRPr lang="en-US" sz="1900" dirty="0"/>
                    </a:p>
                  </a:txBody>
                  <a:tcPr/>
                </a:tc>
                <a:tc>
                  <a:txBody>
                    <a:bodyPr/>
                    <a:lstStyle/>
                    <a:p>
                      <a:r>
                        <a:rPr lang="en-US" sz="1900" b="0" i="0" u="none" strike="noStrike" cap="none" baseline="0" dirty="0">
                          <a:solidFill>
                            <a:schemeClr val="dk1"/>
                          </a:solidFill>
                          <a:latin typeface="+mn-lt"/>
                          <a:ea typeface="+mn-ea"/>
                          <a:cs typeface="+mn-cs"/>
                          <a:sym typeface="Arial"/>
                        </a:rPr>
                        <a:t>Return all values associated with the provided key.</a:t>
                      </a:r>
                      <a:endParaRPr lang="en-US" sz="1900" dirty="0"/>
                    </a:p>
                  </a:txBody>
                  <a:tcPr/>
                </a:tc>
                <a:tc>
                  <a:txBody>
                    <a:bodyPr/>
                    <a:lstStyle/>
                    <a:p>
                      <a:r>
                        <a:rPr lang="en-US" sz="1900" b="0" i="0" u="none" strike="noStrike" cap="none" baseline="0" dirty="0" err="1">
                          <a:solidFill>
                            <a:schemeClr val="dk1"/>
                          </a:solidFill>
                          <a:latin typeface="+mn-lt"/>
                          <a:ea typeface="+mn-ea"/>
                          <a:cs typeface="+mn-cs"/>
                          <a:sym typeface="Arial"/>
                        </a:rPr>
                        <a:t>rdd.lookup</a:t>
                      </a:r>
                      <a:r>
                        <a:rPr lang="en-US" sz="1900" b="0" i="0" u="none" strike="noStrike" cap="none" baseline="0" dirty="0">
                          <a:solidFill>
                            <a:schemeClr val="dk1"/>
                          </a:solidFill>
                          <a:latin typeface="+mn-lt"/>
                          <a:ea typeface="+mn-ea"/>
                          <a:cs typeface="+mn-cs"/>
                          <a:sym typeface="Arial"/>
                        </a:rPr>
                        <a:t>(3)</a:t>
                      </a:r>
                      <a:endParaRPr lang="en-US" sz="1900" dirty="0"/>
                    </a:p>
                  </a:txBody>
                  <a:tcPr/>
                </a:tc>
                <a:tc>
                  <a:txBody>
                    <a:bodyPr/>
                    <a:lstStyle/>
                    <a:p>
                      <a:r>
                        <a:rPr lang="en-US" sz="1900" dirty="0"/>
                        <a:t>{4,6}</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68308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410" y="219724"/>
            <a:ext cx="9875520" cy="541215"/>
          </a:xfrm>
        </p:spPr>
        <p:txBody>
          <a:bodyPr/>
          <a:lstStyle/>
          <a:p>
            <a:r>
              <a:rPr lang="en-US" sz="3600" b="1" dirty="0">
                <a:solidFill>
                  <a:srgbClr val="00B050"/>
                </a:solidFill>
              </a:rPr>
              <a:t>Two Paired RDD: Transformations</a:t>
            </a:r>
          </a:p>
        </p:txBody>
      </p:sp>
      <p:sp>
        <p:nvSpPr>
          <p:cNvPr id="3" name="Content Placeholder 2"/>
          <p:cNvSpPr>
            <a:spLocks noGrp="1"/>
          </p:cNvSpPr>
          <p:nvPr>
            <p:ph idx="1"/>
          </p:nvPr>
        </p:nvSpPr>
        <p:spPr>
          <a:xfrm>
            <a:off x="583410" y="838200"/>
            <a:ext cx="10771130" cy="5181600"/>
          </a:xfrm>
        </p:spPr>
        <p:txBody>
          <a:bodyPr>
            <a:normAutofit/>
          </a:bodyPr>
          <a:lstStyle/>
          <a:p>
            <a:r>
              <a:rPr lang="en-US" sz="2400" dirty="0"/>
              <a:t>Transformations on two paired RDDs: (</a:t>
            </a:r>
            <a:r>
              <a:rPr lang="en-US" sz="2400" dirty="0" err="1">
                <a:solidFill>
                  <a:srgbClr val="C00000"/>
                </a:solidFill>
              </a:rPr>
              <a:t>rdd</a:t>
            </a:r>
            <a:r>
              <a:rPr lang="en-US" sz="2400" dirty="0"/>
              <a:t> = {(1, 2), (3, 4), (3, 6)}, </a:t>
            </a:r>
            <a:r>
              <a:rPr lang="en-US" sz="2400" dirty="0">
                <a:solidFill>
                  <a:srgbClr val="C00000"/>
                </a:solidFill>
              </a:rPr>
              <a:t>other</a:t>
            </a:r>
            <a:r>
              <a:rPr lang="en-US" sz="2400" dirty="0"/>
              <a:t> = {(3, 9)})</a:t>
            </a:r>
          </a:p>
          <a:p>
            <a:endParaRPr lang="en-US" sz="1800" dirty="0"/>
          </a:p>
          <a:p>
            <a:pPr marL="0" indent="0">
              <a:buNone/>
            </a:pPr>
            <a:r>
              <a:rPr lang="en-US" sz="1800" dirty="0"/>
              <a:t>  </a:t>
            </a:r>
          </a:p>
        </p:txBody>
      </p:sp>
      <p:graphicFrame>
        <p:nvGraphicFramePr>
          <p:cNvPr id="5" name="Table 4"/>
          <p:cNvGraphicFramePr>
            <a:graphicFrameLocks noGrp="1"/>
          </p:cNvGraphicFramePr>
          <p:nvPr/>
        </p:nvGraphicFramePr>
        <p:xfrm>
          <a:off x="1143000" y="2389575"/>
          <a:ext cx="10058400" cy="1823367"/>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819400">
                  <a:extLst>
                    <a:ext uri="{9D8B030D-6E8A-4147-A177-3AD203B41FA5}">
                      <a16:colId xmlns:a16="http://schemas.microsoft.com/office/drawing/2014/main" val="20003"/>
                    </a:ext>
                  </a:extLst>
                </a:gridCol>
              </a:tblGrid>
              <a:tr h="421287">
                <a:tc>
                  <a:txBody>
                    <a:bodyPr/>
                    <a:lstStyle/>
                    <a:p>
                      <a:r>
                        <a:rPr lang="en-US" sz="2000" dirty="0">
                          <a:solidFill>
                            <a:srgbClr val="00B050"/>
                          </a:solidFill>
                        </a:rPr>
                        <a:t>Function</a:t>
                      </a:r>
                    </a:p>
                  </a:txBody>
                  <a:tcPr/>
                </a:tc>
                <a:tc>
                  <a:txBody>
                    <a:bodyPr/>
                    <a:lstStyle/>
                    <a:p>
                      <a:r>
                        <a:rPr lang="en-US" sz="2000" dirty="0">
                          <a:solidFill>
                            <a:srgbClr val="00B050"/>
                          </a:solidFill>
                        </a:rPr>
                        <a:t>Description</a:t>
                      </a:r>
                    </a:p>
                  </a:txBody>
                  <a:tcPr/>
                </a:tc>
                <a:tc>
                  <a:txBody>
                    <a:bodyPr/>
                    <a:lstStyle/>
                    <a:p>
                      <a:r>
                        <a:rPr lang="en-US" sz="2000" dirty="0">
                          <a:solidFill>
                            <a:srgbClr val="00B050"/>
                          </a:solidFill>
                        </a:rPr>
                        <a:t>Example</a:t>
                      </a:r>
                    </a:p>
                  </a:txBody>
                  <a:tcPr/>
                </a:tc>
                <a:tc>
                  <a:txBody>
                    <a:bodyPr/>
                    <a:lstStyle/>
                    <a:p>
                      <a:r>
                        <a:rPr lang="en-US" sz="2000" dirty="0">
                          <a:solidFill>
                            <a:srgbClr val="00B050"/>
                          </a:solidFill>
                        </a:rPr>
                        <a:t>Result</a:t>
                      </a:r>
                    </a:p>
                  </a:txBody>
                  <a:tcPr/>
                </a:tc>
                <a:extLst>
                  <a:ext uri="{0D108BD9-81ED-4DB2-BD59-A6C34878D82A}">
                    <a16:rowId xmlns:a16="http://schemas.microsoft.com/office/drawing/2014/main" val="10000"/>
                  </a:ext>
                </a:extLst>
              </a:tr>
              <a:tr h="701040">
                <a:tc>
                  <a:txBody>
                    <a:bodyPr/>
                    <a:lstStyle/>
                    <a:p>
                      <a:r>
                        <a:rPr lang="en-US" sz="2000" b="0" i="0" u="none" strike="noStrike" cap="none" baseline="0" dirty="0">
                          <a:solidFill>
                            <a:schemeClr val="dk1"/>
                          </a:solidFill>
                          <a:latin typeface="+mn-lt"/>
                          <a:ea typeface="+mn-ea"/>
                          <a:cs typeface="+mn-cs"/>
                          <a:sym typeface="Arial"/>
                        </a:rPr>
                        <a:t>join</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Perform an inner join</a:t>
                      </a:r>
                    </a:p>
                    <a:p>
                      <a:r>
                        <a:rPr lang="en-US" sz="2000" b="0" i="0" u="none" strike="noStrike" cap="none" baseline="0" dirty="0">
                          <a:solidFill>
                            <a:schemeClr val="dk1"/>
                          </a:solidFill>
                          <a:latin typeface="+mn-lt"/>
                          <a:ea typeface="+mn-ea"/>
                          <a:cs typeface="+mn-cs"/>
                          <a:sym typeface="Arial"/>
                        </a:rPr>
                        <a:t>between two RDDs.</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rdd.join</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{(3, (4, 9)), (3,</a:t>
                      </a:r>
                    </a:p>
                    <a:p>
                      <a:r>
                        <a:rPr lang="en-US" sz="2000" b="0" i="0" u="none" strike="noStrike" cap="none" baseline="0" dirty="0">
                          <a:solidFill>
                            <a:schemeClr val="dk1"/>
                          </a:solidFill>
                          <a:latin typeface="+mn-lt"/>
                          <a:ea typeface="+mn-ea"/>
                          <a:cs typeface="+mn-cs"/>
                          <a:sym typeface="Arial"/>
                        </a:rPr>
                        <a:t>(6, 9))}</a:t>
                      </a:r>
                      <a:endParaRPr lang="en-US" sz="2000" dirty="0"/>
                    </a:p>
                  </a:txBody>
                  <a:tcPr/>
                </a:tc>
                <a:extLst>
                  <a:ext uri="{0D108BD9-81ED-4DB2-BD59-A6C34878D82A}">
                    <a16:rowId xmlns:a16="http://schemas.microsoft.com/office/drawing/2014/main" val="10001"/>
                  </a:ext>
                </a:extLst>
              </a:tr>
              <a:tr h="701040">
                <a:tc>
                  <a:txBody>
                    <a:bodyPr/>
                    <a:lstStyle/>
                    <a:p>
                      <a:r>
                        <a:rPr lang="en-US" sz="2000" b="0" i="0" u="none" strike="noStrike" cap="none" baseline="0" dirty="0" err="1">
                          <a:solidFill>
                            <a:schemeClr val="dk1"/>
                          </a:solidFill>
                          <a:latin typeface="+mn-lt"/>
                          <a:ea typeface="+mn-ea"/>
                          <a:cs typeface="+mn-cs"/>
                          <a:sym typeface="Arial"/>
                        </a:rPr>
                        <a:t>cogroup</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Group data from both RDDs</a:t>
                      </a:r>
                    </a:p>
                    <a:p>
                      <a:r>
                        <a:rPr lang="en-US" sz="2000" b="0" i="0" u="none" strike="noStrike" cap="none" baseline="0" dirty="0">
                          <a:solidFill>
                            <a:schemeClr val="dk1"/>
                          </a:solidFill>
                          <a:latin typeface="+mn-lt"/>
                          <a:ea typeface="+mn-ea"/>
                          <a:cs typeface="+mn-cs"/>
                          <a:sym typeface="Arial"/>
                        </a:rPr>
                        <a:t>sharing the same key.</a:t>
                      </a:r>
                      <a:endParaRPr lang="en-US" sz="2000" dirty="0"/>
                    </a:p>
                  </a:txBody>
                  <a:tcPr/>
                </a:tc>
                <a:tc>
                  <a:txBody>
                    <a:bodyPr/>
                    <a:lstStyle/>
                    <a:p>
                      <a:r>
                        <a:rPr lang="en-US" sz="2000" b="0" i="0" u="none" strike="noStrike" cap="none" baseline="0" dirty="0" err="1">
                          <a:solidFill>
                            <a:schemeClr val="dk1"/>
                          </a:solidFill>
                          <a:latin typeface="+mn-lt"/>
                          <a:ea typeface="+mn-ea"/>
                          <a:cs typeface="+mn-cs"/>
                          <a:sym typeface="Arial"/>
                        </a:rPr>
                        <a:t>rdd.cogroup</a:t>
                      </a:r>
                      <a:r>
                        <a:rPr lang="en-US" sz="2000" b="0" i="0" u="none" strike="noStrike" cap="none" baseline="0" dirty="0">
                          <a:solidFill>
                            <a:schemeClr val="dk1"/>
                          </a:solidFill>
                          <a:latin typeface="+mn-lt"/>
                          <a:ea typeface="+mn-ea"/>
                          <a:cs typeface="+mn-cs"/>
                          <a:sym typeface="Arial"/>
                        </a:rPr>
                        <a:t>(other)</a:t>
                      </a:r>
                      <a:endParaRPr lang="en-US" sz="2000" dirty="0"/>
                    </a:p>
                  </a:txBody>
                  <a:tcPr/>
                </a:tc>
                <a:tc>
                  <a:txBody>
                    <a:bodyPr/>
                    <a:lstStyle/>
                    <a:p>
                      <a:r>
                        <a:rPr lang="en-US" sz="2000" b="0" i="0" u="none" strike="noStrike" cap="none" baseline="0" dirty="0">
                          <a:solidFill>
                            <a:schemeClr val="dk1"/>
                          </a:solidFill>
                          <a:latin typeface="+mn-lt"/>
                          <a:ea typeface="+mn-ea"/>
                          <a:cs typeface="+mn-cs"/>
                          <a:sym typeface="Arial"/>
                        </a:rPr>
                        <a:t>{(1,([2],[])), (3,</a:t>
                      </a:r>
                    </a:p>
                    <a:p>
                      <a:r>
                        <a:rPr lang="en-US" sz="2000" b="0" i="0" u="none" strike="noStrike" cap="none" baseline="0" dirty="0">
                          <a:solidFill>
                            <a:schemeClr val="dk1"/>
                          </a:solidFill>
                          <a:latin typeface="+mn-lt"/>
                          <a:ea typeface="+mn-ea"/>
                          <a:cs typeface="+mn-cs"/>
                          <a:sym typeface="Arial"/>
                        </a:rPr>
                        <a:t>([4, 6],[9]))}</a:t>
                      </a:r>
                      <a:endParaRPr lang="en-US" sz="20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90891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514601"/>
            <a:ext cx="9875520" cy="1219201"/>
          </a:xfrm>
        </p:spPr>
        <p:txBody>
          <a:bodyPr/>
          <a:lstStyle/>
          <a:p>
            <a:pPr algn="ctr"/>
            <a:r>
              <a:rPr lang="en-IN" sz="3600" b="1" dirty="0">
                <a:solidFill>
                  <a:srgbClr val="0070C0"/>
                </a:solidFill>
              </a:rPr>
              <a:t>Controlling Partitions in RDD</a:t>
            </a:r>
            <a:br>
              <a:rPr lang="en-IN" sz="3600" b="1" dirty="0">
                <a:solidFill>
                  <a:srgbClr val="0070C0"/>
                </a:solidFill>
              </a:rPr>
            </a:br>
            <a:r>
              <a:rPr lang="en-IN" sz="3600" b="1" dirty="0">
                <a:solidFill>
                  <a:srgbClr val="0070C0"/>
                </a:solidFill>
              </a:rPr>
              <a:t>(controlling parallelism)</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3" name="TextBox 2">
            <a:extLst>
              <a:ext uri="{FF2B5EF4-FFF2-40B4-BE49-F238E27FC236}">
                <a16:creationId xmlns:a16="http://schemas.microsoft.com/office/drawing/2014/main" id="{41373612-73DF-0928-ADAA-8A5D6E67BA41}"/>
              </a:ext>
            </a:extLst>
          </p:cNvPr>
          <p:cNvSpPr txBox="1"/>
          <p:nvPr/>
        </p:nvSpPr>
        <p:spPr>
          <a:xfrm>
            <a:off x="3524392" y="3852452"/>
            <a:ext cx="5143216" cy="2585323"/>
          </a:xfrm>
          <a:prstGeom prst="rect">
            <a:avLst/>
          </a:prstGeom>
          <a:noFill/>
        </p:spPr>
        <p:txBody>
          <a:bodyPr wrap="square" rtlCol="0">
            <a:spAutoFit/>
          </a:bodyPr>
          <a:lstStyle/>
          <a:p>
            <a:r>
              <a:rPr lang="en-US" dirty="0"/>
              <a:t>One important thing in parallel programming is “How we can control the parallelism ?”</a:t>
            </a:r>
          </a:p>
          <a:p>
            <a:endParaRPr lang="en-US" dirty="0"/>
          </a:p>
          <a:p>
            <a:r>
              <a:rPr lang="en-US" dirty="0"/>
              <a:t>If </a:t>
            </a:r>
            <a:r>
              <a:rPr lang="en-US" dirty="0" err="1"/>
              <a:t>rdd</a:t>
            </a:r>
            <a:r>
              <a:rPr lang="en-US" dirty="0"/>
              <a:t> is not having enough number of partitions then parallelization wont be that efficient,</a:t>
            </a:r>
          </a:p>
          <a:p>
            <a:r>
              <a:rPr lang="en-US" dirty="0"/>
              <a:t>Suppose we have 2 </a:t>
            </a:r>
            <a:r>
              <a:rPr lang="en-US" dirty="0" err="1"/>
              <a:t>rdd</a:t>
            </a:r>
            <a:r>
              <a:rPr lang="en-US" dirty="0"/>
              <a:t> partitions so we cant run 4 executors on it., so its wastage of resources </a:t>
            </a:r>
          </a:p>
          <a:p>
            <a:r>
              <a:rPr lang="en-US" dirty="0"/>
              <a:t>So how can we control the parallelism depends on how we are partitioning our </a:t>
            </a:r>
            <a:r>
              <a:rPr lang="en-US" dirty="0" err="1"/>
              <a:t>rdd</a:t>
            </a:r>
            <a:r>
              <a:rPr lang="en-US" dirty="0"/>
              <a:t>.</a:t>
            </a:r>
          </a:p>
        </p:txBody>
      </p:sp>
    </p:spTree>
    <p:extLst>
      <p:ext uri="{BB962C8B-B14F-4D97-AF65-F5344CB8AC3E}">
        <p14:creationId xmlns:p14="http://schemas.microsoft.com/office/powerpoint/2010/main" val="1263656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228524"/>
            <a:ext cx="9875520" cy="685801"/>
          </a:xfrm>
        </p:spPr>
        <p:txBody>
          <a:bodyPr/>
          <a:lstStyle/>
          <a:p>
            <a:r>
              <a:rPr lang="en-IN" sz="3600" b="1" dirty="0">
                <a:solidFill>
                  <a:srgbClr val="00B050"/>
                </a:solidFill>
              </a:rPr>
              <a:t>Partitioning RDDs</a:t>
            </a:r>
          </a:p>
        </p:txBody>
      </p:sp>
      <p:sp>
        <p:nvSpPr>
          <p:cNvPr id="3" name="Content Placeholder 2"/>
          <p:cNvSpPr>
            <a:spLocks noGrp="1"/>
          </p:cNvSpPr>
          <p:nvPr>
            <p:ph idx="1"/>
          </p:nvPr>
        </p:nvSpPr>
        <p:spPr/>
        <p:txBody>
          <a:bodyPr/>
          <a:lstStyle/>
          <a:p>
            <a:r>
              <a:rPr lang="en-IN" dirty="0">
                <a:solidFill>
                  <a:srgbClr val="00B0F0"/>
                </a:solidFill>
              </a:rPr>
              <a:t>Goal</a:t>
            </a:r>
          </a:p>
          <a:p>
            <a:pPr lvl="1"/>
            <a:r>
              <a:rPr lang="en-US" dirty="0"/>
              <a:t>control how data will be physically distributed across the cluster</a:t>
            </a:r>
          </a:p>
          <a:p>
            <a:pPr lvl="1"/>
            <a:endParaRPr lang="en-US" dirty="0"/>
          </a:p>
          <a:p>
            <a:pPr lvl="1"/>
            <a:r>
              <a:rPr lang="en-US" dirty="0"/>
              <a:t>You can reduce the number of partition </a:t>
            </a:r>
          </a:p>
          <a:p>
            <a:pPr lvl="1"/>
            <a:endParaRPr lang="en-US" dirty="0"/>
          </a:p>
          <a:p>
            <a:pPr lvl="1"/>
            <a:r>
              <a:rPr lang="en-US" dirty="0"/>
              <a:t>You can increase the number of partition </a:t>
            </a:r>
            <a:endParaRPr lang="en-IN"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Tree>
    <p:extLst>
      <p:ext uri="{BB962C8B-B14F-4D97-AF65-F5344CB8AC3E}">
        <p14:creationId xmlns:p14="http://schemas.microsoft.com/office/powerpoint/2010/main" val="3969087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262633"/>
            <a:ext cx="10515600" cy="732155"/>
          </a:xfrm>
        </p:spPr>
        <p:txBody>
          <a:bodyPr/>
          <a:lstStyle/>
          <a:p>
            <a:r>
              <a:rPr lang="en-IN" sz="3600" b="1" dirty="0">
                <a:solidFill>
                  <a:srgbClr val="00B050"/>
                </a:solidFill>
              </a:rPr>
              <a:t>Partitioning RDDs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p:cNvSpPr txBox="1"/>
          <p:nvPr/>
        </p:nvSpPr>
        <p:spPr>
          <a:xfrm>
            <a:off x="1447800" y="1828801"/>
            <a:ext cx="148630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Arial"/>
                <a:ea typeface="+mn-ea"/>
                <a:cs typeface="+mn-cs"/>
              </a:rPr>
              <a:t>coalesce</a:t>
            </a:r>
            <a:endParaRPr kumimoji="0" lang="en-IN"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Box 5"/>
          <p:cNvSpPr txBox="1"/>
          <p:nvPr/>
        </p:nvSpPr>
        <p:spPr>
          <a:xfrm>
            <a:off x="1617927" y="2667000"/>
            <a:ext cx="93573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collapses partitions on the same worker</a:t>
            </a: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Box 6"/>
          <p:cNvSpPr txBox="1"/>
          <p:nvPr/>
        </p:nvSpPr>
        <p:spPr>
          <a:xfrm>
            <a:off x="1568723" y="4267200"/>
            <a:ext cx="5622052"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70C0"/>
                </a:solidFill>
                <a:effectLst/>
                <a:uLnTx/>
                <a:uFillTx/>
                <a:latin typeface="Arial"/>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srgbClr val="0070C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70C0"/>
                </a:solidFill>
                <a:effectLst/>
                <a:uLnTx/>
                <a:uFillTx/>
                <a:latin typeface="Arial"/>
                <a:ea typeface="+mn-ea"/>
                <a:cs typeface="+mn-cs"/>
              </a:rPr>
              <a:t>     </a:t>
            </a:r>
            <a:r>
              <a:rPr kumimoji="0" lang="en-IN" sz="1800" b="1" i="0" u="none" strike="noStrike" kern="1200" cap="none" spc="0" normalizeH="0" baseline="0" noProof="0" dirty="0" err="1">
                <a:ln>
                  <a:noFill/>
                </a:ln>
                <a:solidFill>
                  <a:srgbClr val="0070C0"/>
                </a:solidFill>
                <a:effectLst/>
                <a:uLnTx/>
                <a:uFillTx/>
                <a:latin typeface="Arial"/>
                <a:ea typeface="+mn-ea"/>
                <a:cs typeface="+mn-cs"/>
              </a:rPr>
              <a:t>words.coalesce</a:t>
            </a:r>
            <a:r>
              <a:rPr kumimoji="0" lang="en-IN" sz="1800" b="1" i="0" u="none" strike="noStrike" kern="1200" cap="none" spc="0" normalizeH="0" baseline="0" noProof="0" dirty="0">
                <a:ln>
                  <a:noFill/>
                </a:ln>
                <a:solidFill>
                  <a:srgbClr val="0070C0"/>
                </a:solidFill>
                <a:effectLst/>
                <a:uLnTx/>
                <a:uFillTx/>
                <a:latin typeface="Arial"/>
                <a:ea typeface="+mn-ea"/>
                <a:cs typeface="+mn-cs"/>
              </a:rPr>
              <a:t>(1)     // # partition reduces to 1 </a:t>
            </a:r>
          </a:p>
        </p:txBody>
      </p:sp>
      <p:sp>
        <p:nvSpPr>
          <p:cNvPr id="8" name="TextBox 7">
            <a:extLst>
              <a:ext uri="{FF2B5EF4-FFF2-40B4-BE49-F238E27FC236}">
                <a16:creationId xmlns:a16="http://schemas.microsoft.com/office/drawing/2014/main" id="{404F7CB9-BA3B-0EA4-252F-0BBC11C7FFD0}"/>
              </a:ext>
            </a:extLst>
          </p:cNvPr>
          <p:cNvSpPr txBox="1"/>
          <p:nvPr/>
        </p:nvSpPr>
        <p:spPr>
          <a:xfrm>
            <a:off x="8481848" y="994788"/>
            <a:ext cx="2882361" cy="3139321"/>
          </a:xfrm>
          <a:prstGeom prst="rect">
            <a:avLst/>
          </a:prstGeom>
          <a:noFill/>
        </p:spPr>
        <p:txBody>
          <a:bodyPr wrap="square" rtlCol="0">
            <a:spAutoFit/>
          </a:bodyPr>
          <a:lstStyle/>
          <a:p>
            <a:r>
              <a:rPr lang="en-US" dirty="0"/>
              <a:t>Suppose in the same worker node you have 3-4 partitions.</a:t>
            </a:r>
          </a:p>
          <a:p>
            <a:r>
              <a:rPr lang="en-US" dirty="0"/>
              <a:t>May be in some intermediate processing 3-4 partitions got created in single worker node,</a:t>
            </a:r>
          </a:p>
          <a:p>
            <a:r>
              <a:rPr lang="en-US" dirty="0"/>
              <a:t>In next step if I notice I have to run single worker node on it so we can coalesce it to 1 partition.</a:t>
            </a:r>
          </a:p>
        </p:txBody>
      </p:sp>
    </p:spTree>
    <p:extLst>
      <p:ext uri="{BB962C8B-B14F-4D97-AF65-F5344CB8AC3E}">
        <p14:creationId xmlns:p14="http://schemas.microsoft.com/office/powerpoint/2010/main" val="1175594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012" y="164637"/>
            <a:ext cx="10515600" cy="732155"/>
          </a:xfrm>
        </p:spPr>
        <p:txBody>
          <a:bodyPr/>
          <a:lstStyle/>
          <a:p>
            <a:r>
              <a:rPr lang="en-IN" sz="3600" b="1" dirty="0">
                <a:solidFill>
                  <a:srgbClr val="00B050"/>
                </a:solidFill>
              </a:rPr>
              <a:t>Partitioning RDDs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p:cNvSpPr txBox="1"/>
          <p:nvPr/>
        </p:nvSpPr>
        <p:spPr>
          <a:xfrm>
            <a:off x="1295400" y="1276694"/>
            <a:ext cx="170591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Arial"/>
                <a:ea typeface="+mn-ea"/>
                <a:cs typeface="+mn-cs"/>
              </a:rPr>
              <a:t>repartition</a:t>
            </a:r>
            <a:endParaRPr kumimoji="0" lang="en-IN"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Box 5"/>
          <p:cNvSpPr txBox="1"/>
          <p:nvPr/>
        </p:nvSpPr>
        <p:spPr>
          <a:xfrm>
            <a:off x="1345132" y="2024451"/>
            <a:ext cx="9357360" cy="1631216"/>
          </a:xfrm>
          <a:prstGeom prst="rect">
            <a:avLst/>
          </a:prstGeom>
          <a:noFill/>
        </p:spPr>
        <p:txBody>
          <a:bodyPr wrap="square" rtlCol="0">
            <a:spAutoFit/>
          </a:bodyPr>
          <a:lstStyle/>
          <a:p>
            <a:pPr marL="342891" marR="0" lvl="0"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allows you to repartition your data up or down </a:t>
            </a:r>
          </a:p>
          <a:p>
            <a:pPr marL="342891" marR="0" lvl="0"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342891" marR="0" lvl="0"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but performs a shuffle across nodes in the process. </a:t>
            </a:r>
          </a:p>
          <a:p>
            <a:pPr marL="342891" marR="0" lvl="0"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Arial"/>
              <a:ea typeface="+mn-ea"/>
              <a:cs typeface="+mn-cs"/>
            </a:endParaRPr>
          </a:p>
          <a:p>
            <a:pPr marL="342891" marR="0" lvl="0"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Arial"/>
                <a:ea typeface="+mn-ea"/>
                <a:cs typeface="+mn-cs"/>
              </a:rPr>
              <a:t>Increasing the number of partitions can increase the level of parallelism</a:t>
            </a: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Box 6"/>
          <p:cNvSpPr txBox="1"/>
          <p:nvPr/>
        </p:nvSpPr>
        <p:spPr>
          <a:xfrm>
            <a:off x="1600202" y="4267200"/>
            <a:ext cx="5545108"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70C0"/>
                </a:solidFill>
                <a:effectLst/>
                <a:uLnTx/>
                <a:uFillTx/>
                <a:latin typeface="Arial"/>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srgbClr val="0070C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70C0"/>
                </a:solidFill>
                <a:effectLst/>
                <a:uLnTx/>
                <a:uFillTx/>
                <a:latin typeface="Arial"/>
                <a:ea typeface="+mn-ea"/>
                <a:cs typeface="+mn-cs"/>
              </a:rPr>
              <a:t>     </a:t>
            </a:r>
            <a:r>
              <a:rPr kumimoji="0" lang="en-IN" sz="1800" b="1" i="0" u="none" strike="noStrike" kern="1200" cap="none" spc="0" normalizeH="0" baseline="0" noProof="0" dirty="0" err="1">
                <a:ln>
                  <a:noFill/>
                </a:ln>
                <a:solidFill>
                  <a:srgbClr val="0070C0"/>
                </a:solidFill>
                <a:effectLst/>
                <a:uLnTx/>
                <a:uFillTx/>
                <a:latin typeface="Arial"/>
                <a:ea typeface="+mn-ea"/>
                <a:cs typeface="+mn-cs"/>
              </a:rPr>
              <a:t>words.repartition</a:t>
            </a:r>
            <a:r>
              <a:rPr kumimoji="0" lang="en-IN" sz="1800" b="1" i="0" u="none" strike="noStrike" kern="1200" cap="none" spc="0" normalizeH="0" baseline="0" noProof="0" dirty="0">
                <a:ln>
                  <a:noFill/>
                </a:ln>
                <a:solidFill>
                  <a:srgbClr val="0070C0"/>
                </a:solidFill>
                <a:effectLst/>
                <a:uLnTx/>
                <a:uFillTx/>
                <a:latin typeface="Arial"/>
                <a:ea typeface="+mn-ea"/>
                <a:cs typeface="+mn-cs"/>
              </a:rPr>
              <a:t>(10)   // gives us 10 partitions</a:t>
            </a:r>
          </a:p>
        </p:txBody>
      </p:sp>
      <p:sp>
        <p:nvSpPr>
          <p:cNvPr id="3" name="TextBox 2">
            <a:extLst>
              <a:ext uri="{FF2B5EF4-FFF2-40B4-BE49-F238E27FC236}">
                <a16:creationId xmlns:a16="http://schemas.microsoft.com/office/drawing/2014/main" id="{65508806-0A14-1F2E-B75D-5B193BB15F24}"/>
              </a:ext>
            </a:extLst>
          </p:cNvPr>
          <p:cNvSpPr txBox="1"/>
          <p:nvPr/>
        </p:nvSpPr>
        <p:spPr>
          <a:xfrm>
            <a:off x="8008883" y="1276694"/>
            <a:ext cx="4086926" cy="1200329"/>
          </a:xfrm>
          <a:prstGeom prst="rect">
            <a:avLst/>
          </a:prstGeom>
          <a:noFill/>
        </p:spPr>
        <p:txBody>
          <a:bodyPr wrap="square" rtlCol="0">
            <a:spAutoFit/>
          </a:bodyPr>
          <a:lstStyle/>
          <a:p>
            <a:r>
              <a:rPr lang="en-US" dirty="0"/>
              <a:t>Repartition can enhance the parallelization,</a:t>
            </a:r>
          </a:p>
          <a:p>
            <a:r>
              <a:rPr lang="en-US" dirty="0"/>
              <a:t>But repartitioning can result in the shuffling of data across nodes. </a:t>
            </a:r>
          </a:p>
        </p:txBody>
      </p:sp>
    </p:spTree>
    <p:extLst>
      <p:ext uri="{BB962C8B-B14F-4D97-AF65-F5344CB8AC3E}">
        <p14:creationId xmlns:p14="http://schemas.microsoft.com/office/powerpoint/2010/main" val="2730639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012" y="164637"/>
            <a:ext cx="10515600" cy="732155"/>
          </a:xfrm>
        </p:spPr>
        <p:txBody>
          <a:bodyPr/>
          <a:lstStyle/>
          <a:p>
            <a:r>
              <a:rPr lang="en-IN" sz="3600" b="1" dirty="0">
                <a:solidFill>
                  <a:srgbClr val="00B050"/>
                </a:solidFill>
              </a:rPr>
              <a:t>Partitioning RDDs</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srgbClr val="39C0BA"/>
                </a:solidFill>
                <a:effectLst/>
                <a:uLnTx/>
                <a:uFillTx/>
                <a:latin typeface="Quicksand"/>
                <a:sym typeface="Quicksand"/>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srgbClr val="39C0BA"/>
              </a:solidFill>
              <a:effectLst/>
              <a:uLnTx/>
              <a:uFillTx/>
              <a:latin typeface="Quicksand"/>
              <a:sym typeface="Quicksand"/>
            </a:endParaRPr>
          </a:p>
        </p:txBody>
      </p:sp>
      <p:sp>
        <p:nvSpPr>
          <p:cNvPr id="5" name="TextBox 4"/>
          <p:cNvSpPr txBox="1"/>
          <p:nvPr/>
        </p:nvSpPr>
        <p:spPr>
          <a:xfrm>
            <a:off x="1295400" y="1276694"/>
            <a:ext cx="27286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Arial"/>
                <a:ea typeface="+mn-ea"/>
                <a:cs typeface="+mn-cs"/>
              </a:rPr>
              <a:t>Inbuilt </a:t>
            </a:r>
            <a:r>
              <a:rPr kumimoji="0" lang="en-IN" sz="2400" b="1" i="0" u="none" strike="noStrike" kern="1200" cap="none" spc="0" normalizeH="0" baseline="0" noProof="0" dirty="0" err="1">
                <a:ln>
                  <a:noFill/>
                </a:ln>
                <a:solidFill>
                  <a:prstClr val="black"/>
                </a:solidFill>
                <a:effectLst/>
                <a:uLnTx/>
                <a:uFillTx/>
                <a:latin typeface="Arial"/>
                <a:ea typeface="+mn-ea"/>
                <a:cs typeface="+mn-cs"/>
              </a:rPr>
              <a:t>Partitioner</a:t>
            </a:r>
            <a:endParaRPr kumimoji="0" lang="en-IN" sz="2400"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Box 5"/>
          <p:cNvSpPr txBox="1"/>
          <p:nvPr/>
        </p:nvSpPr>
        <p:spPr>
          <a:xfrm>
            <a:off x="1345132" y="2024451"/>
            <a:ext cx="9357360" cy="2246769"/>
          </a:xfrm>
          <a:prstGeom prst="rect">
            <a:avLst/>
          </a:prstGeom>
          <a:noFill/>
        </p:spPr>
        <p:txBody>
          <a:bodyPr wrap="square" rtlCol="0">
            <a:spAutoFit/>
          </a:bodyPr>
          <a:lstStyle/>
          <a:p>
            <a:pPr marL="342891" marR="0" lvl="0"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Arial"/>
                <a:ea typeface="+mn-ea"/>
                <a:cs typeface="+mn-cs"/>
              </a:rPr>
              <a:t>Spark supports two inbuilt </a:t>
            </a:r>
            <a:r>
              <a:rPr kumimoji="0" lang="en-IN" sz="2000" b="0" i="0" u="none" strike="noStrike" kern="1200" cap="none" spc="0" normalizeH="0" baseline="0" noProof="0" dirty="0" err="1">
                <a:ln>
                  <a:noFill/>
                </a:ln>
                <a:solidFill>
                  <a:prstClr val="black"/>
                </a:solidFill>
                <a:effectLst/>
                <a:uLnTx/>
                <a:uFillTx/>
                <a:latin typeface="Arial"/>
                <a:ea typeface="+mn-ea"/>
                <a:cs typeface="+mn-cs"/>
              </a:rPr>
              <a:t>partitioner</a:t>
            </a: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342891" marR="0" lvl="0"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342891" marR="0" lvl="0"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800080" marR="0" lvl="1"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err="1">
                <a:ln>
                  <a:noFill/>
                </a:ln>
                <a:solidFill>
                  <a:prstClr val="black"/>
                </a:solidFill>
                <a:effectLst/>
                <a:uLnTx/>
                <a:uFillTx/>
                <a:latin typeface="Arial"/>
                <a:ea typeface="+mn-ea"/>
                <a:cs typeface="+mn-cs"/>
              </a:rPr>
              <a:t>HashPartitioner</a:t>
            </a:r>
            <a:r>
              <a:rPr kumimoji="0" lang="en-IN" sz="2000" b="0" i="0" u="none" strike="noStrike" kern="1200" cap="none" spc="0" normalizeH="0" baseline="0" noProof="0" dirty="0">
                <a:ln>
                  <a:noFill/>
                </a:ln>
                <a:solidFill>
                  <a:prstClr val="black"/>
                </a:solidFill>
                <a:effectLst/>
                <a:uLnTx/>
                <a:uFillTx/>
                <a:latin typeface="Arial"/>
                <a:ea typeface="+mn-ea"/>
                <a:cs typeface="+mn-cs"/>
              </a:rPr>
              <a:t>      (for discrete values like when keys are words)</a:t>
            </a:r>
          </a:p>
          <a:p>
            <a:pPr marL="800080" marR="0" lvl="1"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Arial"/>
              <a:ea typeface="+mn-ea"/>
              <a:cs typeface="+mn-cs"/>
            </a:endParaRPr>
          </a:p>
          <a:p>
            <a:pPr marL="800080" marR="0" lvl="1" indent="-342891"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err="1">
                <a:ln>
                  <a:noFill/>
                </a:ln>
                <a:solidFill>
                  <a:prstClr val="black"/>
                </a:solidFill>
                <a:effectLst/>
                <a:uLnTx/>
                <a:uFillTx/>
                <a:latin typeface="Arial"/>
                <a:ea typeface="+mn-ea"/>
                <a:cs typeface="+mn-cs"/>
              </a:rPr>
              <a:t>RangePartitioner</a:t>
            </a:r>
            <a:r>
              <a:rPr kumimoji="0" lang="en-IN" sz="2000" b="0" i="0" u="none" strike="noStrike" kern="1200" cap="none" spc="0" normalizeH="0" baseline="0" noProof="0" dirty="0">
                <a:ln>
                  <a:noFill/>
                </a:ln>
                <a:solidFill>
                  <a:prstClr val="black"/>
                </a:solidFill>
                <a:effectLst/>
                <a:uLnTx/>
                <a:uFillTx/>
                <a:latin typeface="Arial"/>
                <a:ea typeface="+mn-ea"/>
                <a:cs typeface="+mn-cs"/>
              </a:rPr>
              <a:t>    (for continuous values like when the key is blood pressure)</a:t>
            </a:r>
          </a:p>
        </p:txBody>
      </p:sp>
    </p:spTree>
    <p:extLst>
      <p:ext uri="{BB962C8B-B14F-4D97-AF65-F5344CB8AC3E}">
        <p14:creationId xmlns:p14="http://schemas.microsoft.com/office/powerpoint/2010/main" val="2647710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5413" y="2660915"/>
            <a:ext cx="10515600" cy="732155"/>
          </a:xfrm>
        </p:spPr>
        <p:txBody>
          <a:bodyPr/>
          <a:lstStyle/>
          <a:p>
            <a:pPr algn="ctr"/>
            <a:r>
              <a:rPr lang="en-IN" sz="4000" b="1" dirty="0">
                <a:solidFill>
                  <a:srgbClr val="00B050"/>
                </a:solidFill>
              </a:rPr>
              <a:t>Important Spark Operations</a:t>
            </a:r>
          </a:p>
        </p:txBody>
      </p:sp>
    </p:spTree>
    <p:extLst>
      <p:ext uri="{BB962C8B-B14F-4D97-AF65-F5344CB8AC3E}">
        <p14:creationId xmlns:p14="http://schemas.microsoft.com/office/powerpoint/2010/main" val="4098348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2223" y="260648"/>
            <a:ext cx="10515600" cy="732155"/>
          </a:xfrm>
        </p:spPr>
        <p:txBody>
          <a:bodyPr/>
          <a:lstStyle/>
          <a:p>
            <a:r>
              <a:rPr lang="en-IN" b="1" dirty="0">
                <a:solidFill>
                  <a:srgbClr val="00B050"/>
                </a:solidFill>
              </a:rPr>
              <a:t>map vs </a:t>
            </a:r>
            <a:r>
              <a:rPr lang="en-IN" b="1" dirty="0" err="1">
                <a:solidFill>
                  <a:srgbClr val="00B050"/>
                </a:solidFill>
              </a:rPr>
              <a:t>flatmap</a:t>
            </a:r>
            <a:endParaRPr lang="en-IN" b="1" dirty="0">
              <a:solidFill>
                <a:srgbClr val="00B050"/>
              </a:solidFill>
            </a:endParaRPr>
          </a:p>
        </p:txBody>
      </p:sp>
      <p:sp>
        <p:nvSpPr>
          <p:cNvPr id="4" name="TextBox 3"/>
          <p:cNvSpPr txBox="1"/>
          <p:nvPr/>
        </p:nvSpPr>
        <p:spPr>
          <a:xfrm>
            <a:off x="9264352" y="1743298"/>
            <a:ext cx="1202124" cy="11695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black"/>
                </a:solidFill>
                <a:effectLst/>
                <a:uLnTx/>
                <a:uFillTx/>
                <a:latin typeface="Arial"/>
                <a:ea typeface="+mn-ea"/>
                <a:cs typeface="+mn-cs"/>
              </a:rPr>
              <a:t>data.txt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I am here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She is there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Arial"/>
                <a:ea typeface="+mn-ea"/>
                <a:cs typeface="+mn-cs"/>
              </a:rPr>
              <a:t>You are here</a:t>
            </a:r>
          </a:p>
        </p:txBody>
      </p:sp>
      <p:sp>
        <p:nvSpPr>
          <p:cNvPr id="5" name="TextBox 4"/>
          <p:cNvSpPr txBox="1"/>
          <p:nvPr/>
        </p:nvSpPr>
        <p:spPr>
          <a:xfrm>
            <a:off x="802224" y="1604797"/>
            <a:ext cx="5869841" cy="7076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a:ln>
                  <a:noFill/>
                </a:ln>
                <a:solidFill>
                  <a:prstClr val="black"/>
                </a:solidFill>
                <a:effectLst/>
                <a:uLnTx/>
                <a:uFillTx/>
                <a:latin typeface="Arial"/>
                <a:ea typeface="+mn-ea"/>
                <a:cs typeface="+mn-cs"/>
              </a:rPr>
              <a:t>map(f):</a:t>
            </a:r>
            <a:r>
              <a:rPr kumimoji="0" lang="en-IN" sz="1333"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solidFill>
                <a:effectLst/>
                <a:uLnTx/>
                <a:uFillTx/>
                <a:latin typeface="Arial"/>
                <a:ea typeface="+mn-ea"/>
                <a:cs typeface="+mn-cs"/>
              </a:rPr>
              <a:t>Return a new distributed dataset formed by passing each element of the source through a function </a:t>
            </a:r>
            <a:r>
              <a:rPr kumimoji="0" lang="en-US" sz="1333" b="0" i="1" u="none" strike="noStrike" kern="1200" cap="none" spc="0" normalizeH="0" baseline="0" noProof="0" dirty="0">
                <a:ln>
                  <a:noFill/>
                </a:ln>
                <a:solidFill>
                  <a:prstClr val="black"/>
                </a:solidFill>
                <a:effectLst/>
                <a:uLnTx/>
                <a:uFillTx/>
                <a:latin typeface="Arial"/>
                <a:ea typeface="+mn-ea"/>
                <a:cs typeface="+mn-cs"/>
              </a:rPr>
              <a:t>f</a:t>
            </a:r>
            <a:endParaRPr kumimoji="0" lang="en-IN" sz="1333" b="0" i="0" u="none" strike="noStrike" kern="1200" cap="none" spc="0" normalizeH="0" baseline="0" noProof="0" dirty="0">
              <a:ln>
                <a:noFill/>
              </a:ln>
              <a:solidFill>
                <a:prstClr val="black"/>
              </a:solidFill>
              <a:effectLst/>
              <a:uLnTx/>
              <a:uFillTx/>
              <a:latin typeface="Arial"/>
              <a:ea typeface="+mn-ea"/>
              <a:cs typeface="+mn-cs"/>
            </a:endParaRPr>
          </a:p>
        </p:txBody>
      </p:sp>
      <p:sp>
        <p:nvSpPr>
          <p:cNvPr id="6" name="TextBox 5"/>
          <p:cNvSpPr txBox="1"/>
          <p:nvPr/>
        </p:nvSpPr>
        <p:spPr>
          <a:xfrm>
            <a:off x="802224" y="2586124"/>
            <a:ext cx="5869841" cy="7076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333" b="1" i="0" u="none" strike="noStrike" kern="1200" cap="none" spc="0" normalizeH="0" baseline="0" noProof="0" dirty="0" err="1">
                <a:ln>
                  <a:noFill/>
                </a:ln>
                <a:solidFill>
                  <a:prstClr val="black"/>
                </a:solidFill>
                <a:effectLst/>
                <a:uLnTx/>
                <a:uFillTx/>
                <a:latin typeface="Arial"/>
                <a:ea typeface="+mn-ea"/>
                <a:cs typeface="+mn-cs"/>
              </a:rPr>
              <a:t>flatMap</a:t>
            </a:r>
            <a:r>
              <a:rPr kumimoji="0" lang="en-IN" sz="1333" b="1" i="0" u="none" strike="noStrike" kern="1200" cap="none" spc="0" normalizeH="0" baseline="0" noProof="0" dirty="0">
                <a:ln>
                  <a:noFill/>
                </a:ln>
                <a:solidFill>
                  <a:prstClr val="black"/>
                </a:solidFill>
                <a:effectLst/>
                <a:uLnTx/>
                <a:uFillTx/>
                <a:latin typeface="Arial"/>
                <a:ea typeface="+mn-ea"/>
                <a:cs typeface="+mn-cs"/>
              </a:rPr>
              <a:t>(f):</a:t>
            </a:r>
            <a:r>
              <a:rPr kumimoji="0" lang="en-IN" sz="1333" b="0" i="0" u="none" strike="noStrike" kern="1200" cap="none" spc="0" normalizeH="0" baseline="0" noProof="0" dirty="0">
                <a:ln>
                  <a:noFill/>
                </a:ln>
                <a:solidFill>
                  <a:prstClr val="black"/>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black"/>
                </a:solidFill>
                <a:effectLst/>
                <a:uLnTx/>
                <a:uFillTx/>
                <a:latin typeface="Arial"/>
                <a:ea typeface="+mn-ea"/>
                <a:cs typeface="+mn-cs"/>
              </a:rPr>
              <a:t>Similar to map, but each input item can be mapped to 0 or more output items (so </a:t>
            </a:r>
            <a:r>
              <a:rPr kumimoji="0" lang="en-US" sz="1333" b="0" i="1" u="none" strike="noStrike" kern="1200" cap="none" spc="0" normalizeH="0" baseline="0" noProof="0" dirty="0">
                <a:ln>
                  <a:noFill/>
                </a:ln>
                <a:solidFill>
                  <a:prstClr val="black"/>
                </a:solidFill>
                <a:effectLst/>
                <a:uLnTx/>
                <a:uFillTx/>
                <a:latin typeface="Arial"/>
                <a:ea typeface="+mn-ea"/>
                <a:cs typeface="+mn-cs"/>
              </a:rPr>
              <a:t>f</a:t>
            </a:r>
            <a:r>
              <a:rPr kumimoji="0" lang="en-US" sz="1333" b="0" i="0" u="none" strike="noStrike" kern="1200" cap="none" spc="0" normalizeH="0" baseline="0" noProof="0" dirty="0">
                <a:ln>
                  <a:noFill/>
                </a:ln>
                <a:solidFill>
                  <a:prstClr val="black"/>
                </a:solidFill>
                <a:effectLst/>
                <a:uLnTx/>
                <a:uFillTx/>
                <a:latin typeface="Arial"/>
                <a:ea typeface="+mn-ea"/>
                <a:cs typeface="+mn-cs"/>
              </a:rPr>
              <a:t> should return a Sequence rather than a single item)</a:t>
            </a:r>
            <a:endParaRPr kumimoji="0" lang="en-IN" sz="1333"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TextBox 6"/>
          <p:cNvSpPr txBox="1"/>
          <p:nvPr/>
        </p:nvSpPr>
        <p:spPr>
          <a:xfrm>
            <a:off x="911424" y="4005064"/>
            <a:ext cx="4387740" cy="3181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1" i="0" u="none" strike="noStrike" kern="1200" cap="none" spc="0" normalizeH="0" baseline="0" noProof="0" dirty="0">
                <a:ln>
                  <a:noFill/>
                </a:ln>
                <a:solidFill>
                  <a:prstClr val="black"/>
                </a:solidFill>
                <a:effectLst/>
                <a:uLnTx/>
                <a:uFillTx/>
                <a:latin typeface="Arial"/>
                <a:ea typeface="+mn-ea"/>
                <a:cs typeface="+mn-cs"/>
              </a:rPr>
              <a:t>Example:</a:t>
            </a:r>
            <a:r>
              <a:rPr kumimoji="0" lang="en-IN" sz="1467" b="0" i="0" u="none" strike="noStrike" kern="1200" cap="none" spc="0" normalizeH="0" baseline="0" noProof="0" dirty="0">
                <a:ln>
                  <a:noFill/>
                </a:ln>
                <a:solidFill>
                  <a:prstClr val="black"/>
                </a:solidFill>
                <a:effectLst/>
                <a:uLnTx/>
                <a:uFillTx/>
                <a:latin typeface="Arial"/>
                <a:ea typeface="+mn-ea"/>
                <a:cs typeface="+mn-cs"/>
              </a:rPr>
              <a:t> Counting number of letters in each lines</a:t>
            </a:r>
          </a:p>
        </p:txBody>
      </p:sp>
      <p:sp>
        <p:nvSpPr>
          <p:cNvPr id="8" name="TextBox 7"/>
          <p:cNvSpPr txBox="1"/>
          <p:nvPr/>
        </p:nvSpPr>
        <p:spPr>
          <a:xfrm>
            <a:off x="911424" y="4685340"/>
            <a:ext cx="3425938" cy="31810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67" b="1" i="0" u="none" strike="noStrike" kern="1200" cap="none" spc="0" normalizeH="0" baseline="0" noProof="0" dirty="0">
                <a:ln>
                  <a:noFill/>
                </a:ln>
                <a:solidFill>
                  <a:prstClr val="black"/>
                </a:solidFill>
                <a:effectLst/>
                <a:uLnTx/>
                <a:uFillTx/>
                <a:latin typeface="Arial"/>
                <a:ea typeface="+mn-ea"/>
                <a:cs typeface="+mn-cs"/>
              </a:rPr>
              <a:t>Example:</a:t>
            </a:r>
            <a:r>
              <a:rPr kumimoji="0" lang="en-IN" sz="1467" b="0" i="0" u="none" strike="noStrike" kern="1200" cap="none" spc="0" normalizeH="0" baseline="0" noProof="0" dirty="0">
                <a:ln>
                  <a:noFill/>
                </a:ln>
                <a:solidFill>
                  <a:prstClr val="black"/>
                </a:solidFill>
                <a:effectLst/>
                <a:uLnTx/>
                <a:uFillTx/>
                <a:latin typeface="Arial"/>
                <a:ea typeface="+mn-ea"/>
                <a:cs typeface="+mn-cs"/>
              </a:rPr>
              <a:t> getting words from each line</a:t>
            </a:r>
          </a:p>
        </p:txBody>
      </p:sp>
    </p:spTree>
    <p:extLst>
      <p:ext uri="{BB962C8B-B14F-4D97-AF65-F5344CB8AC3E}">
        <p14:creationId xmlns:p14="http://schemas.microsoft.com/office/powerpoint/2010/main" val="33309387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403" y="104557"/>
            <a:ext cx="10515600" cy="732155"/>
          </a:xfrm>
        </p:spPr>
        <p:txBody>
          <a:bodyPr/>
          <a:lstStyle/>
          <a:p>
            <a:r>
              <a:rPr lang="en-IN" sz="3733" b="1" dirty="0" err="1">
                <a:solidFill>
                  <a:srgbClr val="00B050"/>
                </a:solidFill>
              </a:rPr>
              <a:t>reduceByKey</a:t>
            </a:r>
            <a:r>
              <a:rPr lang="en-IN" sz="3733" b="1" dirty="0">
                <a:solidFill>
                  <a:srgbClr val="00B050"/>
                </a:solidFill>
              </a:rPr>
              <a:t> vs </a:t>
            </a:r>
            <a:r>
              <a:rPr lang="en-IN" sz="3733" b="1" dirty="0" err="1">
                <a:solidFill>
                  <a:srgbClr val="00B050"/>
                </a:solidFill>
              </a:rPr>
              <a:t>groupByKey</a:t>
            </a:r>
            <a:endParaRPr lang="en-IN" sz="3733" b="1" dirty="0">
              <a:solidFill>
                <a:srgbClr val="00B050"/>
              </a:solidFill>
            </a:endParaRPr>
          </a:p>
        </p:txBody>
      </p:sp>
      <p:sp>
        <p:nvSpPr>
          <p:cNvPr id="5" name="TextBox 4"/>
          <p:cNvSpPr txBox="1"/>
          <p:nvPr/>
        </p:nvSpPr>
        <p:spPr>
          <a:xfrm>
            <a:off x="1007435" y="1701582"/>
            <a:ext cx="7477560"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err="1">
                <a:ln>
                  <a:noFill/>
                </a:ln>
                <a:solidFill>
                  <a:prstClr val="black"/>
                </a:solidFill>
                <a:effectLst/>
                <a:uLnTx/>
                <a:uFillTx/>
                <a:latin typeface="Arial"/>
                <a:ea typeface="+mn-ea"/>
                <a:cs typeface="+mn-cs"/>
              </a:rPr>
              <a:t>reduceByKey</a:t>
            </a:r>
            <a:r>
              <a:rPr kumimoji="0" lang="en-IN" sz="2400" b="1" i="0" u="none" strike="noStrike" kern="1200" cap="none" spc="0" normalizeH="0" baseline="0" noProof="0" dirty="0">
                <a:ln>
                  <a:noFill/>
                </a:ln>
                <a:solidFill>
                  <a:prstClr val="black"/>
                </a:solidFill>
                <a:effectLst/>
                <a:uLnTx/>
                <a:uFillTx/>
                <a:latin typeface="Arial"/>
                <a:ea typeface="+mn-ea"/>
                <a:cs typeface="+mn-cs"/>
              </a:rPr>
              <a:t>(f):</a:t>
            </a:r>
          </a:p>
          <a:p>
            <a:pPr marL="380990" marR="0" lvl="0"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rial"/>
                <a:ea typeface="+mn-ea"/>
                <a:cs typeface="+mn-cs"/>
              </a:rPr>
              <a:t>Aggregates data based on the common keys</a:t>
            </a:r>
          </a:p>
          <a:p>
            <a:pPr marL="380990" marR="0" lvl="0"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rial"/>
                <a:ea typeface="+mn-ea"/>
                <a:cs typeface="+mn-cs"/>
              </a:rPr>
              <a:t>It is done in each partition, before they are shuffled</a:t>
            </a:r>
          </a:p>
        </p:txBody>
      </p:sp>
      <p:sp>
        <p:nvSpPr>
          <p:cNvPr id="6" name="TextBox 5"/>
          <p:cNvSpPr txBox="1"/>
          <p:nvPr/>
        </p:nvSpPr>
        <p:spPr>
          <a:xfrm>
            <a:off x="977193" y="3525011"/>
            <a:ext cx="6797054"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err="1">
                <a:ln>
                  <a:noFill/>
                </a:ln>
                <a:solidFill>
                  <a:prstClr val="black"/>
                </a:solidFill>
                <a:effectLst/>
                <a:uLnTx/>
                <a:uFillTx/>
                <a:latin typeface="Arial"/>
                <a:ea typeface="+mn-ea"/>
                <a:cs typeface="+mn-cs"/>
              </a:rPr>
              <a:t>groupByKey</a:t>
            </a:r>
            <a:r>
              <a:rPr kumimoji="0" lang="en-IN" sz="2400" b="1" i="0" u="none" strike="noStrike" kern="1200" cap="none" spc="0" normalizeH="0" baseline="0" noProof="0" dirty="0">
                <a:ln>
                  <a:noFill/>
                </a:ln>
                <a:solidFill>
                  <a:prstClr val="black"/>
                </a:solidFill>
                <a:effectLst/>
                <a:uLnTx/>
                <a:uFillTx/>
                <a:latin typeface="Arial"/>
                <a:ea typeface="+mn-ea"/>
                <a:cs typeface="+mn-cs"/>
              </a:rPr>
              <a:t>:</a:t>
            </a:r>
          </a:p>
          <a:p>
            <a:pPr marL="380990" marR="0" lvl="0"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400" b="0" i="0" u="none" strike="noStrike" kern="1200" cap="none" spc="0" normalizeH="0" baseline="0" noProof="0" dirty="0">
                <a:ln>
                  <a:noFill/>
                </a:ln>
                <a:solidFill>
                  <a:prstClr val="black"/>
                </a:solidFill>
                <a:effectLst/>
                <a:uLnTx/>
                <a:uFillTx/>
                <a:latin typeface="Arial"/>
                <a:ea typeface="+mn-ea"/>
                <a:cs typeface="+mn-cs"/>
              </a:rPr>
              <a:t>Returns the set of elements with common key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607107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193" y="260648"/>
            <a:ext cx="10515600" cy="567597"/>
          </a:xfrm>
        </p:spPr>
        <p:txBody>
          <a:bodyPr/>
          <a:lstStyle/>
          <a:p>
            <a:r>
              <a:rPr lang="en-IN" b="1" dirty="0" err="1">
                <a:solidFill>
                  <a:srgbClr val="00B050"/>
                </a:solidFill>
              </a:rPr>
              <a:t>reduceBykey</a:t>
            </a:r>
            <a:r>
              <a:rPr lang="en-IN" b="1" dirty="0">
                <a:solidFill>
                  <a:srgbClr val="00B050"/>
                </a:solidFill>
              </a:rPr>
              <a:t>: Illustration</a:t>
            </a:r>
          </a:p>
        </p:txBody>
      </p:sp>
      <p:sp>
        <p:nvSpPr>
          <p:cNvPr id="3" name="Rectangle 2"/>
          <p:cNvSpPr/>
          <p:nvPr/>
        </p:nvSpPr>
        <p:spPr>
          <a:xfrm>
            <a:off x="720970" y="1700808"/>
            <a:ext cx="1825374" cy="192021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(b,2)</a:t>
            </a:r>
          </a:p>
        </p:txBody>
      </p:sp>
      <p:sp>
        <p:nvSpPr>
          <p:cNvPr id="4" name="Right Arrow 3"/>
          <p:cNvSpPr/>
          <p:nvPr/>
        </p:nvSpPr>
        <p:spPr>
          <a:xfrm>
            <a:off x="1578274" y="2530599"/>
            <a:ext cx="384043" cy="288032"/>
          </a:xfrm>
          <a:prstGeom prst="right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5" name="TextBox 4"/>
          <p:cNvSpPr txBox="1"/>
          <p:nvPr/>
        </p:nvSpPr>
        <p:spPr>
          <a:xfrm>
            <a:off x="1894863" y="2310547"/>
            <a:ext cx="65915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(b,2)</a:t>
            </a:r>
          </a:p>
        </p:txBody>
      </p:sp>
      <p:sp>
        <p:nvSpPr>
          <p:cNvPr id="6" name="TextBox 5"/>
          <p:cNvSpPr txBox="1"/>
          <p:nvPr/>
        </p:nvSpPr>
        <p:spPr>
          <a:xfrm>
            <a:off x="2351584" y="968694"/>
            <a:ext cx="708880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Arial"/>
                <a:ea typeface="+mn-ea"/>
                <a:cs typeface="+mn-cs"/>
              </a:rPr>
              <a:t>Find sum of values based on the common keys</a:t>
            </a:r>
          </a:p>
        </p:txBody>
      </p:sp>
      <p:sp>
        <p:nvSpPr>
          <p:cNvPr id="7" name="Rectangle 6"/>
          <p:cNvSpPr/>
          <p:nvPr/>
        </p:nvSpPr>
        <p:spPr>
          <a:xfrm>
            <a:off x="3792791" y="1700808"/>
            <a:ext cx="2015177" cy="192021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(b,1)</a:t>
            </a:r>
          </a:p>
        </p:txBody>
      </p:sp>
      <p:sp>
        <p:nvSpPr>
          <p:cNvPr id="8" name="Right Arrow 7"/>
          <p:cNvSpPr/>
          <p:nvPr/>
        </p:nvSpPr>
        <p:spPr>
          <a:xfrm>
            <a:off x="4723463" y="2548928"/>
            <a:ext cx="384043" cy="288032"/>
          </a:xfrm>
          <a:prstGeom prst="right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9" name="TextBox 8"/>
          <p:cNvSpPr txBox="1"/>
          <p:nvPr/>
        </p:nvSpPr>
        <p:spPr>
          <a:xfrm>
            <a:off x="5156489" y="2310547"/>
            <a:ext cx="65915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(b,3)</a:t>
            </a:r>
          </a:p>
        </p:txBody>
      </p:sp>
      <p:sp>
        <p:nvSpPr>
          <p:cNvPr id="10" name="Rectangle 9"/>
          <p:cNvSpPr/>
          <p:nvPr/>
        </p:nvSpPr>
        <p:spPr>
          <a:xfrm>
            <a:off x="7730399" y="1570808"/>
            <a:ext cx="1915118" cy="205021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(b,1)</a:t>
            </a:r>
          </a:p>
        </p:txBody>
      </p:sp>
      <p:sp>
        <p:nvSpPr>
          <p:cNvPr id="11" name="Right Arrow 10"/>
          <p:cNvSpPr/>
          <p:nvPr/>
        </p:nvSpPr>
        <p:spPr>
          <a:xfrm>
            <a:off x="8562951" y="2515344"/>
            <a:ext cx="384043" cy="288032"/>
          </a:xfrm>
          <a:prstGeom prst="right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12" name="TextBox 11"/>
          <p:cNvSpPr txBox="1"/>
          <p:nvPr/>
        </p:nvSpPr>
        <p:spPr>
          <a:xfrm>
            <a:off x="8887329" y="2243861"/>
            <a:ext cx="65915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(b,6)</a:t>
            </a:r>
          </a:p>
        </p:txBody>
      </p:sp>
      <p:sp>
        <p:nvSpPr>
          <p:cNvPr id="14" name="Rectangle 13"/>
          <p:cNvSpPr/>
          <p:nvPr/>
        </p:nvSpPr>
        <p:spPr>
          <a:xfrm>
            <a:off x="2351584" y="4293096"/>
            <a:ext cx="2039337" cy="192021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(a,2)</a:t>
            </a:r>
          </a:p>
        </p:txBody>
      </p:sp>
      <p:sp>
        <p:nvSpPr>
          <p:cNvPr id="15" name="Right Arrow 14"/>
          <p:cNvSpPr/>
          <p:nvPr/>
        </p:nvSpPr>
        <p:spPr>
          <a:xfrm>
            <a:off x="3311691" y="5107632"/>
            <a:ext cx="384043" cy="288032"/>
          </a:xfrm>
          <a:prstGeom prst="right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16" name="TextBox 15"/>
          <p:cNvSpPr txBox="1"/>
          <p:nvPr/>
        </p:nvSpPr>
        <p:spPr>
          <a:xfrm>
            <a:off x="3615401" y="5045305"/>
            <a:ext cx="78739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(a,10)</a:t>
            </a:r>
          </a:p>
        </p:txBody>
      </p:sp>
      <p:sp>
        <p:nvSpPr>
          <p:cNvPr id="17" name="Rectangle 16"/>
          <p:cNvSpPr/>
          <p:nvPr/>
        </p:nvSpPr>
        <p:spPr>
          <a:xfrm>
            <a:off x="5599275" y="4305242"/>
            <a:ext cx="2039337" cy="192021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(b,3)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(b,6)</a:t>
            </a:r>
          </a:p>
        </p:txBody>
      </p:sp>
      <p:sp>
        <p:nvSpPr>
          <p:cNvPr id="18" name="Right Arrow 17"/>
          <p:cNvSpPr/>
          <p:nvPr/>
        </p:nvSpPr>
        <p:spPr>
          <a:xfrm>
            <a:off x="6431167" y="5119777"/>
            <a:ext cx="384043" cy="288032"/>
          </a:xfrm>
          <a:prstGeom prst="right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Arial"/>
              <a:ea typeface="+mn-ea"/>
              <a:cs typeface="+mn-cs"/>
            </a:endParaRPr>
          </a:p>
        </p:txBody>
      </p:sp>
      <p:sp>
        <p:nvSpPr>
          <p:cNvPr id="19" name="TextBox 18"/>
          <p:cNvSpPr txBox="1"/>
          <p:nvPr/>
        </p:nvSpPr>
        <p:spPr>
          <a:xfrm>
            <a:off x="6815210" y="5045305"/>
            <a:ext cx="7702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rial"/>
                <a:ea typeface="+mn-ea"/>
                <a:cs typeface="+mn-cs"/>
              </a:rPr>
              <a:t>(b,11)</a:t>
            </a:r>
          </a:p>
        </p:txBody>
      </p:sp>
      <p:cxnSp>
        <p:nvCxnSpPr>
          <p:cNvPr id="21" name="Straight Arrow Connector 20"/>
          <p:cNvCxnSpPr>
            <a:cxnSpLocks/>
            <a:stCxn id="3" idx="2"/>
            <a:endCxn id="14" idx="0"/>
          </p:cNvCxnSpPr>
          <p:nvPr/>
        </p:nvCxnSpPr>
        <p:spPr>
          <a:xfrm>
            <a:off x="1633657" y="3621021"/>
            <a:ext cx="1737596" cy="672075"/>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p:cNvCxnSpPr>
            <a:cxnSpLocks/>
            <a:stCxn id="7" idx="2"/>
            <a:endCxn id="14" idx="0"/>
          </p:cNvCxnSpPr>
          <p:nvPr/>
        </p:nvCxnSpPr>
        <p:spPr>
          <a:xfrm flipH="1">
            <a:off x="3371253" y="3621021"/>
            <a:ext cx="1429127" cy="672075"/>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p:cNvCxnSpPr>
            <a:cxnSpLocks/>
            <a:stCxn id="10" idx="2"/>
            <a:endCxn id="14" idx="0"/>
          </p:cNvCxnSpPr>
          <p:nvPr/>
        </p:nvCxnSpPr>
        <p:spPr>
          <a:xfrm flipH="1">
            <a:off x="3371253" y="3621021"/>
            <a:ext cx="5316705" cy="672075"/>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p:cNvCxnSpPr>
            <a:stCxn id="3" idx="2"/>
            <a:endCxn id="17" idx="0"/>
          </p:cNvCxnSpPr>
          <p:nvPr/>
        </p:nvCxnSpPr>
        <p:spPr>
          <a:xfrm>
            <a:off x="1778258" y="3621022"/>
            <a:ext cx="4778247" cy="684220"/>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7" idx="2"/>
            <a:endCxn id="17" idx="0"/>
          </p:cNvCxnSpPr>
          <p:nvPr/>
        </p:nvCxnSpPr>
        <p:spPr>
          <a:xfrm>
            <a:off x="5039883" y="3621022"/>
            <a:ext cx="1516621" cy="684220"/>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0" idx="2"/>
            <a:endCxn id="17" idx="0"/>
          </p:cNvCxnSpPr>
          <p:nvPr/>
        </p:nvCxnSpPr>
        <p:spPr>
          <a:xfrm flipH="1">
            <a:off x="6556504" y="3621022"/>
            <a:ext cx="2131784" cy="684220"/>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CA84F7D6-C9CE-51C9-7132-935EDE64B5C0}"/>
              </a:ext>
            </a:extLst>
          </p:cNvPr>
          <p:cNvSpPr txBox="1"/>
          <p:nvPr/>
        </p:nvSpPr>
        <p:spPr>
          <a:xfrm>
            <a:off x="8219040" y="4398974"/>
            <a:ext cx="3504042" cy="2308324"/>
          </a:xfrm>
          <a:prstGeom prst="rect">
            <a:avLst/>
          </a:prstGeom>
          <a:noFill/>
        </p:spPr>
        <p:txBody>
          <a:bodyPr wrap="square" rtlCol="0">
            <a:spAutoFit/>
          </a:bodyPr>
          <a:lstStyle/>
          <a:p>
            <a:r>
              <a:rPr lang="en-US" dirty="0"/>
              <a:t>Optimized Aggregation </a:t>
            </a:r>
          </a:p>
          <a:p>
            <a:r>
              <a:rPr lang="en-US" dirty="0"/>
              <a:t>The data is aggregated in each of the nodes to reduce the data size before sending it over the network which improves </a:t>
            </a:r>
            <a:r>
              <a:rPr lang="en-US" dirty="0" err="1"/>
              <a:t>efiiciency</a:t>
            </a:r>
            <a:r>
              <a:rPr lang="en-US" dirty="0"/>
              <a:t>.</a:t>
            </a:r>
          </a:p>
          <a:p>
            <a:r>
              <a:rPr lang="en-US" dirty="0"/>
              <a:t>Then final aggregation happens across partitions. </a:t>
            </a:r>
          </a:p>
        </p:txBody>
      </p:sp>
      <p:sp>
        <p:nvSpPr>
          <p:cNvPr id="20" name="TextBox 19">
            <a:extLst>
              <a:ext uri="{FF2B5EF4-FFF2-40B4-BE49-F238E27FC236}">
                <a16:creationId xmlns:a16="http://schemas.microsoft.com/office/drawing/2014/main" id="{A6AD12C4-5FD1-ECF3-5AD6-5B44505CA102}"/>
              </a:ext>
            </a:extLst>
          </p:cNvPr>
          <p:cNvSpPr txBox="1"/>
          <p:nvPr/>
        </p:nvSpPr>
        <p:spPr>
          <a:xfrm>
            <a:off x="9861197" y="2548928"/>
            <a:ext cx="2211787" cy="1200329"/>
          </a:xfrm>
          <a:prstGeom prst="rect">
            <a:avLst/>
          </a:prstGeom>
          <a:noFill/>
        </p:spPr>
        <p:txBody>
          <a:bodyPr wrap="square" rtlCol="0">
            <a:spAutoFit/>
          </a:bodyPr>
          <a:lstStyle/>
          <a:p>
            <a:r>
              <a:rPr lang="en-US" dirty="0"/>
              <a:t>LOCAL AGGREGATION  and then GLOBAL AGGREGATION</a:t>
            </a:r>
          </a:p>
        </p:txBody>
      </p:sp>
    </p:spTree>
    <p:extLst>
      <p:ext uri="{BB962C8B-B14F-4D97-AF65-F5344CB8AC3E}">
        <p14:creationId xmlns:p14="http://schemas.microsoft.com/office/powerpoint/2010/main" val="4004957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168" y="166304"/>
            <a:ext cx="10515600" cy="567597"/>
          </a:xfrm>
        </p:spPr>
        <p:txBody>
          <a:bodyPr/>
          <a:lstStyle/>
          <a:p>
            <a:r>
              <a:rPr lang="en-IN" dirty="0" err="1">
                <a:solidFill>
                  <a:srgbClr val="00B050"/>
                </a:solidFill>
              </a:rPr>
              <a:t>groupByKey</a:t>
            </a:r>
            <a:r>
              <a:rPr lang="en-IN" dirty="0">
                <a:solidFill>
                  <a:srgbClr val="00B050"/>
                </a:solidFill>
              </a:rPr>
              <a:t>: Illustration</a:t>
            </a:r>
          </a:p>
        </p:txBody>
      </p:sp>
      <p:sp>
        <p:nvSpPr>
          <p:cNvPr id="3" name="Rectangle 2"/>
          <p:cNvSpPr/>
          <p:nvPr/>
        </p:nvSpPr>
        <p:spPr>
          <a:xfrm>
            <a:off x="1010172" y="1700808"/>
            <a:ext cx="976777" cy="192021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(b,2)</a:t>
            </a:r>
          </a:p>
        </p:txBody>
      </p:sp>
      <p:sp>
        <p:nvSpPr>
          <p:cNvPr id="6" name="TextBox 5"/>
          <p:cNvSpPr txBox="1"/>
          <p:nvPr/>
        </p:nvSpPr>
        <p:spPr>
          <a:xfrm>
            <a:off x="2351584" y="968694"/>
            <a:ext cx="708880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Arial"/>
                <a:ea typeface="+mn-ea"/>
                <a:cs typeface="+mn-cs"/>
              </a:rPr>
              <a:t>Find sum of values based on the common keys</a:t>
            </a:r>
          </a:p>
        </p:txBody>
      </p:sp>
      <p:sp>
        <p:nvSpPr>
          <p:cNvPr id="7" name="Rectangle 6"/>
          <p:cNvSpPr/>
          <p:nvPr/>
        </p:nvSpPr>
        <p:spPr>
          <a:xfrm>
            <a:off x="4271797" y="1700808"/>
            <a:ext cx="957087" cy="192021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(b,1)</a:t>
            </a:r>
          </a:p>
        </p:txBody>
      </p:sp>
      <p:sp>
        <p:nvSpPr>
          <p:cNvPr id="10" name="Rectangle 9"/>
          <p:cNvSpPr/>
          <p:nvPr/>
        </p:nvSpPr>
        <p:spPr>
          <a:xfrm>
            <a:off x="7920203" y="1570808"/>
            <a:ext cx="933651" cy="205021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(b,1)</a:t>
            </a:r>
          </a:p>
        </p:txBody>
      </p:sp>
      <p:sp>
        <p:nvSpPr>
          <p:cNvPr id="14" name="Rectangle 13"/>
          <p:cNvSpPr/>
          <p:nvPr/>
        </p:nvSpPr>
        <p:spPr>
          <a:xfrm>
            <a:off x="2546343" y="4293096"/>
            <a:ext cx="2042753" cy="214287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a:t>
            </a:r>
          </a:p>
        </p:txBody>
      </p:sp>
      <p:sp>
        <p:nvSpPr>
          <p:cNvPr id="15" name="Right Arrow 14"/>
          <p:cNvSpPr/>
          <p:nvPr/>
        </p:nvSpPr>
        <p:spPr>
          <a:xfrm>
            <a:off x="3195409" y="5105955"/>
            <a:ext cx="384043" cy="288032"/>
          </a:xfrm>
          <a:prstGeom prst="right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Arial"/>
              <a:ea typeface="+mn-ea"/>
              <a:cs typeface="+mn-cs"/>
            </a:endParaRPr>
          </a:p>
        </p:txBody>
      </p:sp>
      <p:sp>
        <p:nvSpPr>
          <p:cNvPr id="16" name="TextBox 15"/>
          <p:cNvSpPr txBox="1"/>
          <p:nvPr/>
        </p:nvSpPr>
        <p:spPr>
          <a:xfrm>
            <a:off x="3599723" y="5034856"/>
            <a:ext cx="72167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(a,10)</a:t>
            </a:r>
          </a:p>
        </p:txBody>
      </p:sp>
      <p:sp>
        <p:nvSpPr>
          <p:cNvPr id="17" name="Rectangle 16"/>
          <p:cNvSpPr/>
          <p:nvPr/>
        </p:nvSpPr>
        <p:spPr>
          <a:xfrm>
            <a:off x="5232047" y="4305242"/>
            <a:ext cx="2092544" cy="2130727"/>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(b,1)</a:t>
            </a:r>
          </a:p>
        </p:txBody>
      </p:sp>
      <p:sp>
        <p:nvSpPr>
          <p:cNvPr id="18" name="Right Arrow 17"/>
          <p:cNvSpPr/>
          <p:nvPr/>
        </p:nvSpPr>
        <p:spPr>
          <a:xfrm>
            <a:off x="6078956" y="5374720"/>
            <a:ext cx="384043" cy="288032"/>
          </a:xfrm>
          <a:prstGeom prst="rightArrow">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Arial"/>
              <a:ea typeface="+mn-ea"/>
              <a:cs typeface="+mn-cs"/>
            </a:endParaRPr>
          </a:p>
        </p:txBody>
      </p:sp>
      <p:sp>
        <p:nvSpPr>
          <p:cNvPr id="19" name="TextBox 18"/>
          <p:cNvSpPr txBox="1"/>
          <p:nvPr/>
        </p:nvSpPr>
        <p:spPr>
          <a:xfrm>
            <a:off x="6618179" y="5357496"/>
            <a:ext cx="70641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Arial"/>
                <a:ea typeface="+mn-ea"/>
                <a:cs typeface="+mn-cs"/>
              </a:rPr>
              <a:t>(b,11)</a:t>
            </a:r>
          </a:p>
        </p:txBody>
      </p:sp>
      <p:cxnSp>
        <p:nvCxnSpPr>
          <p:cNvPr id="21" name="Straight Arrow Connector 20"/>
          <p:cNvCxnSpPr>
            <a:stCxn id="3" idx="2"/>
            <a:endCxn id="14" idx="0"/>
          </p:cNvCxnSpPr>
          <p:nvPr/>
        </p:nvCxnSpPr>
        <p:spPr>
          <a:xfrm>
            <a:off x="1778258" y="3621021"/>
            <a:ext cx="1725313" cy="672075"/>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p:cNvCxnSpPr>
            <a:stCxn id="7" idx="2"/>
            <a:endCxn id="14" idx="0"/>
          </p:cNvCxnSpPr>
          <p:nvPr/>
        </p:nvCxnSpPr>
        <p:spPr>
          <a:xfrm flipH="1">
            <a:off x="3503571" y="3621021"/>
            <a:ext cx="1536312" cy="672075"/>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p:cNvCxnSpPr>
            <a:stCxn id="10" idx="2"/>
            <a:endCxn id="14" idx="0"/>
          </p:cNvCxnSpPr>
          <p:nvPr/>
        </p:nvCxnSpPr>
        <p:spPr>
          <a:xfrm flipH="1">
            <a:off x="3503571" y="3621021"/>
            <a:ext cx="5184717" cy="672075"/>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p:cNvCxnSpPr>
            <a:stCxn id="3" idx="2"/>
            <a:endCxn id="17" idx="0"/>
          </p:cNvCxnSpPr>
          <p:nvPr/>
        </p:nvCxnSpPr>
        <p:spPr>
          <a:xfrm>
            <a:off x="1778258" y="3621022"/>
            <a:ext cx="4778247" cy="684220"/>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7" idx="2"/>
            <a:endCxn id="17" idx="0"/>
          </p:cNvCxnSpPr>
          <p:nvPr/>
        </p:nvCxnSpPr>
        <p:spPr>
          <a:xfrm>
            <a:off x="5039883" y="3621022"/>
            <a:ext cx="1516621" cy="684220"/>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0" idx="2"/>
            <a:endCxn id="17" idx="0"/>
          </p:cNvCxnSpPr>
          <p:nvPr/>
        </p:nvCxnSpPr>
        <p:spPr>
          <a:xfrm flipH="1">
            <a:off x="6556504" y="3621022"/>
            <a:ext cx="2131784" cy="684220"/>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673645C7-C7B3-C90F-F133-F7FA6A9A2AAD}"/>
              </a:ext>
            </a:extLst>
          </p:cNvPr>
          <p:cNvSpPr txBox="1"/>
          <p:nvPr/>
        </p:nvSpPr>
        <p:spPr>
          <a:xfrm>
            <a:off x="7920203" y="4305242"/>
            <a:ext cx="3887484" cy="2308324"/>
          </a:xfrm>
          <a:prstGeom prst="rect">
            <a:avLst/>
          </a:prstGeom>
          <a:noFill/>
        </p:spPr>
        <p:txBody>
          <a:bodyPr wrap="square" rtlCol="0">
            <a:spAutoFit/>
          </a:bodyPr>
          <a:lstStyle/>
          <a:p>
            <a:r>
              <a:rPr lang="en-US" dirty="0"/>
              <a:t>Groups the data without any local aggregation</a:t>
            </a:r>
          </a:p>
          <a:p>
            <a:r>
              <a:rPr lang="en-US" dirty="0"/>
              <a:t>All the values of the keys are collected and shuffled over the network.</a:t>
            </a:r>
          </a:p>
          <a:p>
            <a:r>
              <a:rPr lang="en-US" dirty="0"/>
              <a:t>Costlier than </a:t>
            </a:r>
            <a:r>
              <a:rPr lang="en-US" dirty="0" err="1"/>
              <a:t>reduceByKey</a:t>
            </a:r>
            <a:r>
              <a:rPr lang="en-US" dirty="0"/>
              <a:t>()</a:t>
            </a:r>
          </a:p>
          <a:p>
            <a:r>
              <a:rPr lang="en-US" dirty="0"/>
              <a:t>After grouping we can apply some function to process the values.</a:t>
            </a:r>
          </a:p>
        </p:txBody>
      </p:sp>
    </p:spTree>
    <p:extLst>
      <p:ext uri="{BB962C8B-B14F-4D97-AF65-F5344CB8AC3E}">
        <p14:creationId xmlns:p14="http://schemas.microsoft.com/office/powerpoint/2010/main" val="2736061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D906B6-D8FA-8DAA-AAC8-C80C3288A30E}"/>
              </a:ext>
            </a:extLst>
          </p:cNvPr>
          <p:cNvSpPr>
            <a:spLocks noGrp="1"/>
          </p:cNvSpPr>
          <p:nvPr>
            <p:ph type="sldNum" sz="quarter" idx="12"/>
          </p:nvPr>
        </p:nvSpPr>
        <p:spPr/>
        <p:txBody>
          <a:bodyPr/>
          <a:lstStyle/>
          <a:p>
            <a:fld id="{B6F15528-21DE-4FAA-801E-634DDDAF4B2B}" type="slidenum">
              <a:rPr lang="en-US" smtClean="0"/>
              <a:pPr/>
              <a:t>30</a:t>
            </a:fld>
            <a:endParaRPr lang="en-US"/>
          </a:p>
        </p:txBody>
      </p:sp>
      <p:pic>
        <p:nvPicPr>
          <p:cNvPr id="7" name="Picture 6">
            <a:extLst>
              <a:ext uri="{FF2B5EF4-FFF2-40B4-BE49-F238E27FC236}">
                <a16:creationId xmlns:a16="http://schemas.microsoft.com/office/drawing/2014/main" id="{BA98B577-EC85-A8DF-B769-05F585681C2C}"/>
              </a:ext>
            </a:extLst>
          </p:cNvPr>
          <p:cNvPicPr>
            <a:picLocks noChangeAspect="1"/>
          </p:cNvPicPr>
          <p:nvPr/>
        </p:nvPicPr>
        <p:blipFill>
          <a:blip r:embed="rId2"/>
          <a:stretch>
            <a:fillRect/>
          </a:stretch>
        </p:blipFill>
        <p:spPr>
          <a:xfrm>
            <a:off x="0" y="229683"/>
            <a:ext cx="6849431" cy="1543265"/>
          </a:xfrm>
          <a:prstGeom prst="rect">
            <a:avLst/>
          </a:prstGeom>
        </p:spPr>
      </p:pic>
      <p:sp>
        <p:nvSpPr>
          <p:cNvPr id="8" name="TextBox 7">
            <a:extLst>
              <a:ext uri="{FF2B5EF4-FFF2-40B4-BE49-F238E27FC236}">
                <a16:creationId xmlns:a16="http://schemas.microsoft.com/office/drawing/2014/main" id="{5F70F5DA-E808-FEE7-0095-5C2EE6A1E380}"/>
              </a:ext>
            </a:extLst>
          </p:cNvPr>
          <p:cNvSpPr txBox="1"/>
          <p:nvPr/>
        </p:nvSpPr>
        <p:spPr>
          <a:xfrm>
            <a:off x="7060366" y="630669"/>
            <a:ext cx="3882453" cy="370646"/>
          </a:xfrm>
          <a:prstGeom prst="rect">
            <a:avLst/>
          </a:prstGeom>
          <a:noFill/>
        </p:spPr>
        <p:txBody>
          <a:bodyPr wrap="square" rtlCol="0">
            <a:spAutoFit/>
          </a:bodyPr>
          <a:lstStyle/>
          <a:p>
            <a:r>
              <a:rPr lang="en-US" dirty="0"/>
              <a:t>Answer : 3</a:t>
            </a:r>
          </a:p>
        </p:txBody>
      </p:sp>
      <p:pic>
        <p:nvPicPr>
          <p:cNvPr id="10" name="Picture 9">
            <a:extLst>
              <a:ext uri="{FF2B5EF4-FFF2-40B4-BE49-F238E27FC236}">
                <a16:creationId xmlns:a16="http://schemas.microsoft.com/office/drawing/2014/main" id="{CDABA956-9F77-D6E9-6120-75C084960643}"/>
              </a:ext>
            </a:extLst>
          </p:cNvPr>
          <p:cNvPicPr>
            <a:picLocks noChangeAspect="1"/>
          </p:cNvPicPr>
          <p:nvPr/>
        </p:nvPicPr>
        <p:blipFill>
          <a:blip r:embed="rId3"/>
          <a:stretch>
            <a:fillRect/>
          </a:stretch>
        </p:blipFill>
        <p:spPr>
          <a:xfrm>
            <a:off x="248363" y="1772948"/>
            <a:ext cx="6706536" cy="2838846"/>
          </a:xfrm>
          <a:prstGeom prst="rect">
            <a:avLst/>
          </a:prstGeom>
        </p:spPr>
      </p:pic>
      <p:sp>
        <p:nvSpPr>
          <p:cNvPr id="11" name="TextBox 10">
            <a:extLst>
              <a:ext uri="{FF2B5EF4-FFF2-40B4-BE49-F238E27FC236}">
                <a16:creationId xmlns:a16="http://schemas.microsoft.com/office/drawing/2014/main" id="{7444AC79-3F2E-01DA-100D-69C24F805DB5}"/>
              </a:ext>
            </a:extLst>
          </p:cNvPr>
          <p:cNvSpPr txBox="1"/>
          <p:nvPr/>
        </p:nvSpPr>
        <p:spPr>
          <a:xfrm>
            <a:off x="6872941" y="1634288"/>
            <a:ext cx="5140910" cy="5078313"/>
          </a:xfrm>
          <a:prstGeom prst="rect">
            <a:avLst/>
          </a:prstGeom>
          <a:noFill/>
        </p:spPr>
        <p:txBody>
          <a:bodyPr wrap="square" rtlCol="0">
            <a:spAutoFit/>
          </a:bodyPr>
          <a:lstStyle/>
          <a:p>
            <a:r>
              <a:rPr lang="en-US" dirty="0"/>
              <a:t>MEMORY_ONLY:: It will store the content of the RDD into memory only if we don’t have enough memory then we would be having out of memory problem.</a:t>
            </a:r>
          </a:p>
          <a:p>
            <a:endParaRPr lang="en-US" dirty="0"/>
          </a:p>
          <a:p>
            <a:r>
              <a:rPr lang="en-US" dirty="0"/>
              <a:t>MEMORY_AND_DISK :: </a:t>
            </a:r>
          </a:p>
          <a:p>
            <a:endParaRPr lang="en-US" dirty="0"/>
          </a:p>
          <a:p>
            <a:r>
              <a:rPr lang="en-US" dirty="0"/>
              <a:t>MEMORY_AND_DISK_SER:: second one only but format is serialized Java object, </a:t>
            </a:r>
          </a:p>
          <a:p>
            <a:r>
              <a:rPr lang="en-US" dirty="0"/>
              <a:t>Serialization: converting data into byte stream</a:t>
            </a:r>
          </a:p>
          <a:p>
            <a:r>
              <a:rPr lang="en-US" dirty="0"/>
              <a:t>When we send data over the network then serialization takes less amount of space than raw data , lesser amount of data to be sent over the network,</a:t>
            </a:r>
          </a:p>
          <a:p>
            <a:r>
              <a:rPr lang="en-US" dirty="0"/>
              <a:t>Downside : u have send the data from one node to other node but when u process data on other node then u have to again deserialize to original objects, deserialization cost is the downside</a:t>
            </a:r>
          </a:p>
        </p:txBody>
      </p:sp>
    </p:spTree>
    <p:extLst>
      <p:ext uri="{BB962C8B-B14F-4D97-AF65-F5344CB8AC3E}">
        <p14:creationId xmlns:p14="http://schemas.microsoft.com/office/powerpoint/2010/main" val="319123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418973-D7CD-6C7D-9F9B-694C6B04ECFB}"/>
              </a:ext>
            </a:extLst>
          </p:cNvPr>
          <p:cNvSpPr>
            <a:spLocks noGrp="1"/>
          </p:cNvSpPr>
          <p:nvPr>
            <p:ph type="sldNum" sz="quarter" idx="12"/>
          </p:nvPr>
        </p:nvSpPr>
        <p:spPr/>
        <p:txBody>
          <a:bodyPr/>
          <a:lstStyle/>
          <a:p>
            <a:fld id="{B6F15528-21DE-4FAA-801E-634DDDAF4B2B}" type="slidenum">
              <a:rPr lang="en-US" smtClean="0"/>
              <a:pPr/>
              <a:t>31</a:t>
            </a:fld>
            <a:endParaRPr lang="en-US"/>
          </a:p>
        </p:txBody>
      </p:sp>
      <p:pic>
        <p:nvPicPr>
          <p:cNvPr id="6" name="Picture 5">
            <a:extLst>
              <a:ext uri="{FF2B5EF4-FFF2-40B4-BE49-F238E27FC236}">
                <a16:creationId xmlns:a16="http://schemas.microsoft.com/office/drawing/2014/main" id="{23607FEF-B714-83E0-3301-A38F33222BDD}"/>
              </a:ext>
            </a:extLst>
          </p:cNvPr>
          <p:cNvPicPr>
            <a:picLocks noChangeAspect="1"/>
          </p:cNvPicPr>
          <p:nvPr/>
        </p:nvPicPr>
        <p:blipFill>
          <a:blip r:embed="rId2"/>
          <a:stretch>
            <a:fillRect/>
          </a:stretch>
        </p:blipFill>
        <p:spPr>
          <a:xfrm>
            <a:off x="-1" y="0"/>
            <a:ext cx="7764529" cy="3043003"/>
          </a:xfrm>
          <a:prstGeom prst="rect">
            <a:avLst/>
          </a:prstGeom>
        </p:spPr>
      </p:pic>
      <p:sp>
        <p:nvSpPr>
          <p:cNvPr id="7" name="TextBox 6">
            <a:extLst>
              <a:ext uri="{FF2B5EF4-FFF2-40B4-BE49-F238E27FC236}">
                <a16:creationId xmlns:a16="http://schemas.microsoft.com/office/drawing/2014/main" id="{FC66EBE7-77C7-44F2-5BFD-23A1A880AAF4}"/>
              </a:ext>
            </a:extLst>
          </p:cNvPr>
          <p:cNvSpPr txBox="1"/>
          <p:nvPr/>
        </p:nvSpPr>
        <p:spPr>
          <a:xfrm>
            <a:off x="0" y="3177915"/>
            <a:ext cx="11782269" cy="1200329"/>
          </a:xfrm>
          <a:prstGeom prst="rect">
            <a:avLst/>
          </a:prstGeom>
          <a:noFill/>
        </p:spPr>
        <p:txBody>
          <a:bodyPr wrap="square" rtlCol="0">
            <a:spAutoFit/>
          </a:bodyPr>
          <a:lstStyle/>
          <a:p>
            <a:r>
              <a:rPr lang="en-US" dirty="0"/>
              <a:t>The major difficulty is data generated by the first 2 operations before .collect(), we are collecting  the whole data in array-like structure in driver’s main memory,</a:t>
            </a:r>
          </a:p>
          <a:p>
            <a:r>
              <a:rPr lang="en-US" dirty="0"/>
              <a:t>If </a:t>
            </a:r>
            <a:r>
              <a:rPr lang="en-US" dirty="0" err="1"/>
              <a:t>sz</a:t>
            </a:r>
            <a:r>
              <a:rPr lang="en-US" dirty="0"/>
              <a:t> of data is very large then we may run out of memory since driver is just one single dedicated node in the cluster, so we have to make sure data which we are collecting should be smaller than the memory of the driver  </a:t>
            </a:r>
          </a:p>
        </p:txBody>
      </p:sp>
    </p:spTree>
    <p:extLst>
      <p:ext uri="{BB962C8B-B14F-4D97-AF65-F5344CB8AC3E}">
        <p14:creationId xmlns:p14="http://schemas.microsoft.com/office/powerpoint/2010/main" val="2894691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2B920D-B2AD-5507-1541-7C6E7CC600B5}"/>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5" name="TextBox 4">
            <a:extLst>
              <a:ext uri="{FF2B5EF4-FFF2-40B4-BE49-F238E27FC236}">
                <a16:creationId xmlns:a16="http://schemas.microsoft.com/office/drawing/2014/main" id="{81D218D7-0C19-FC5E-B7A8-E895E4B4DD10}"/>
              </a:ext>
            </a:extLst>
          </p:cNvPr>
          <p:cNvSpPr txBox="1"/>
          <p:nvPr/>
        </p:nvSpPr>
        <p:spPr>
          <a:xfrm>
            <a:off x="7580025" y="932738"/>
            <a:ext cx="3227883" cy="1754326"/>
          </a:xfrm>
          <a:prstGeom prst="rect">
            <a:avLst/>
          </a:prstGeom>
          <a:noFill/>
        </p:spPr>
        <p:txBody>
          <a:bodyPr wrap="square" rtlCol="0">
            <a:spAutoFit/>
          </a:bodyPr>
          <a:lstStyle/>
          <a:p>
            <a:r>
              <a:rPr lang="en-US" dirty="0"/>
              <a:t>MEMORY_ONLY_2, if we have enough amount of memory</a:t>
            </a:r>
          </a:p>
          <a:p>
            <a:r>
              <a:rPr lang="en-US" dirty="0"/>
              <a:t>MEMORY_AND_DISK_2 if we don’t have enough memory</a:t>
            </a:r>
          </a:p>
        </p:txBody>
      </p:sp>
      <p:pic>
        <p:nvPicPr>
          <p:cNvPr id="7" name="Picture 6">
            <a:extLst>
              <a:ext uri="{FF2B5EF4-FFF2-40B4-BE49-F238E27FC236}">
                <a16:creationId xmlns:a16="http://schemas.microsoft.com/office/drawing/2014/main" id="{78E394E9-16B9-3D09-A90E-BDE5AA7BDADE}"/>
              </a:ext>
            </a:extLst>
          </p:cNvPr>
          <p:cNvPicPr>
            <a:picLocks noChangeAspect="1"/>
          </p:cNvPicPr>
          <p:nvPr/>
        </p:nvPicPr>
        <p:blipFill>
          <a:blip r:embed="rId2"/>
          <a:stretch>
            <a:fillRect/>
          </a:stretch>
        </p:blipFill>
        <p:spPr>
          <a:xfrm>
            <a:off x="464927" y="473280"/>
            <a:ext cx="6735115" cy="1657581"/>
          </a:xfrm>
          <a:prstGeom prst="rect">
            <a:avLst/>
          </a:prstGeom>
        </p:spPr>
      </p:pic>
      <p:pic>
        <p:nvPicPr>
          <p:cNvPr id="9" name="Picture 8">
            <a:extLst>
              <a:ext uri="{FF2B5EF4-FFF2-40B4-BE49-F238E27FC236}">
                <a16:creationId xmlns:a16="http://schemas.microsoft.com/office/drawing/2014/main" id="{133D7D70-8C18-2E3E-4B75-3161DB738685}"/>
              </a:ext>
            </a:extLst>
          </p:cNvPr>
          <p:cNvPicPr>
            <a:picLocks noChangeAspect="1"/>
          </p:cNvPicPr>
          <p:nvPr/>
        </p:nvPicPr>
        <p:blipFill>
          <a:blip r:embed="rId3"/>
          <a:stretch>
            <a:fillRect/>
          </a:stretch>
        </p:blipFill>
        <p:spPr>
          <a:xfrm>
            <a:off x="465939" y="2130861"/>
            <a:ext cx="5630061" cy="2886478"/>
          </a:xfrm>
          <a:prstGeom prst="rect">
            <a:avLst/>
          </a:prstGeom>
        </p:spPr>
      </p:pic>
      <p:sp>
        <p:nvSpPr>
          <p:cNvPr id="12" name="TextBox 11">
            <a:extLst>
              <a:ext uri="{FF2B5EF4-FFF2-40B4-BE49-F238E27FC236}">
                <a16:creationId xmlns:a16="http://schemas.microsoft.com/office/drawing/2014/main" id="{4107EB42-49D1-8241-0582-876AE2913CD7}"/>
              </a:ext>
            </a:extLst>
          </p:cNvPr>
          <p:cNvSpPr txBox="1"/>
          <p:nvPr/>
        </p:nvSpPr>
        <p:spPr>
          <a:xfrm>
            <a:off x="6595672" y="3222885"/>
            <a:ext cx="3582649" cy="369332"/>
          </a:xfrm>
          <a:prstGeom prst="rect">
            <a:avLst/>
          </a:prstGeom>
          <a:noFill/>
        </p:spPr>
        <p:txBody>
          <a:bodyPr wrap="square" rtlCol="0">
            <a:spAutoFit/>
          </a:bodyPr>
          <a:lstStyle/>
          <a:p>
            <a:r>
              <a:rPr lang="en-US" dirty="0"/>
              <a:t>10 times</a:t>
            </a:r>
          </a:p>
        </p:txBody>
      </p:sp>
    </p:spTree>
    <p:extLst>
      <p:ext uri="{BB962C8B-B14F-4D97-AF65-F5344CB8AC3E}">
        <p14:creationId xmlns:p14="http://schemas.microsoft.com/office/powerpoint/2010/main" val="2040569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EA49E6-4298-638D-A0E5-56E005F6B4BE}"/>
              </a:ext>
            </a:extLst>
          </p:cNvPr>
          <p:cNvSpPr>
            <a:spLocks noGrp="1"/>
          </p:cNvSpPr>
          <p:nvPr>
            <p:ph type="sldNum" sz="quarter" idx="12"/>
          </p:nvPr>
        </p:nvSpPr>
        <p:spPr/>
        <p:txBody>
          <a:bodyPr/>
          <a:lstStyle/>
          <a:p>
            <a:fld id="{B6F15528-21DE-4FAA-801E-634DDDAF4B2B}" type="slidenum">
              <a:rPr lang="en-US" smtClean="0"/>
              <a:pPr/>
              <a:t>33</a:t>
            </a:fld>
            <a:endParaRPr lang="en-US"/>
          </a:p>
        </p:txBody>
      </p:sp>
      <p:pic>
        <p:nvPicPr>
          <p:cNvPr id="6" name="Picture 5">
            <a:extLst>
              <a:ext uri="{FF2B5EF4-FFF2-40B4-BE49-F238E27FC236}">
                <a16:creationId xmlns:a16="http://schemas.microsoft.com/office/drawing/2014/main" id="{DB234626-6B2B-B193-3AC4-5BBD35052E16}"/>
              </a:ext>
            </a:extLst>
          </p:cNvPr>
          <p:cNvPicPr>
            <a:picLocks noChangeAspect="1"/>
          </p:cNvPicPr>
          <p:nvPr/>
        </p:nvPicPr>
        <p:blipFill>
          <a:blip r:embed="rId2"/>
          <a:stretch>
            <a:fillRect/>
          </a:stretch>
        </p:blipFill>
        <p:spPr>
          <a:xfrm>
            <a:off x="0" y="0"/>
            <a:ext cx="6878010" cy="3286584"/>
          </a:xfrm>
          <a:prstGeom prst="rect">
            <a:avLst/>
          </a:prstGeom>
        </p:spPr>
      </p:pic>
      <p:sp>
        <p:nvSpPr>
          <p:cNvPr id="7" name="TextBox 6">
            <a:extLst>
              <a:ext uri="{FF2B5EF4-FFF2-40B4-BE49-F238E27FC236}">
                <a16:creationId xmlns:a16="http://schemas.microsoft.com/office/drawing/2014/main" id="{7FD7D140-3067-E1F3-3B09-E2A5FE570CEE}"/>
              </a:ext>
            </a:extLst>
          </p:cNvPr>
          <p:cNvSpPr txBox="1"/>
          <p:nvPr/>
        </p:nvSpPr>
        <p:spPr>
          <a:xfrm>
            <a:off x="6878009" y="52465"/>
            <a:ext cx="5217799" cy="2862322"/>
          </a:xfrm>
          <a:prstGeom prst="rect">
            <a:avLst/>
          </a:prstGeom>
          <a:noFill/>
        </p:spPr>
        <p:txBody>
          <a:bodyPr wrap="square" rtlCol="0">
            <a:spAutoFit/>
          </a:bodyPr>
          <a:lstStyle/>
          <a:p>
            <a:r>
              <a:rPr lang="en-US" dirty="0" err="1"/>
              <a:t>RDD.repartition</a:t>
            </a:r>
            <a:r>
              <a:rPr lang="en-US" dirty="0"/>
              <a:t>() :: helps transformation operations like map() operation </a:t>
            </a:r>
          </a:p>
          <a:p>
            <a:r>
              <a:rPr lang="en-US" dirty="0" err="1"/>
              <a:t>reduceByKey</a:t>
            </a:r>
            <a:r>
              <a:rPr lang="en-US" dirty="0"/>
              <a:t>() :: partitioning is done based on some Hash Function if we have repartitioned the data then obviously I wont be splitting the data corresponding to same key so it would create small - small parts where we have all the data for a particular key but we wont be data splitting in 2 regions for same key so “</a:t>
            </a:r>
            <a:r>
              <a:rPr lang="en-US" dirty="0" err="1"/>
              <a:t>reduceByKey</a:t>
            </a:r>
            <a:r>
              <a:rPr lang="en-US" dirty="0"/>
              <a:t>” will also get benefitted because of repartitioning.</a:t>
            </a:r>
          </a:p>
        </p:txBody>
      </p:sp>
    </p:spTree>
    <p:extLst>
      <p:ext uri="{BB962C8B-B14F-4D97-AF65-F5344CB8AC3E}">
        <p14:creationId xmlns:p14="http://schemas.microsoft.com/office/powerpoint/2010/main" val="2913920796"/>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leanor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3378</TotalTime>
  <Words>2379</Words>
  <Application>Microsoft Office PowerPoint</Application>
  <PresentationFormat>Widescreen</PresentationFormat>
  <Paragraphs>438</Paragraphs>
  <Slides>33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Arial</vt:lpstr>
      <vt:lpstr>Calibri</vt:lpstr>
      <vt:lpstr>Century Schoolbook</vt:lpstr>
      <vt:lpstr>Menlo</vt:lpstr>
      <vt:lpstr>Quicksand</vt:lpstr>
      <vt:lpstr>Times New Roman</vt:lpstr>
      <vt:lpstr>Office Theme</vt:lpstr>
      <vt:lpstr>Eleanor template</vt:lpstr>
      <vt:lpstr>Big Data Processing</vt:lpstr>
      <vt:lpstr>Spark: Recap</vt:lpstr>
      <vt:lpstr>Iterative Algorithm in Map-reduce: Issues</vt:lpstr>
      <vt:lpstr>Key Concept in Spark for Working with Data</vt:lpstr>
      <vt:lpstr>Main Steps of an RDD Processing</vt:lpstr>
      <vt:lpstr>Creating an RDD</vt:lpstr>
      <vt:lpstr>RDD Operations</vt:lpstr>
      <vt:lpstr>Transformations: Examples</vt:lpstr>
      <vt:lpstr>Actions: Examples</vt:lpstr>
      <vt:lpstr>An Example Code</vt:lpstr>
      <vt:lpstr>RDD Persistence</vt:lpstr>
      <vt:lpstr>Persistence (Caching)</vt:lpstr>
      <vt:lpstr>RDD Persistence: Example</vt:lpstr>
      <vt:lpstr>Example of Basic RDD Transformations: Single RDD</vt:lpstr>
      <vt:lpstr>Example of Basic RDD Actions</vt:lpstr>
      <vt:lpstr>Example of Basic RDD Transformations: Two RDD</vt:lpstr>
      <vt:lpstr>Paired RDD: Transformations</vt:lpstr>
      <vt:lpstr>Paired RDD: Actions</vt:lpstr>
      <vt:lpstr>Two Paired RDD: Transformations</vt:lpstr>
      <vt:lpstr>Controlling Partitions in RDD (controlling parallelism)</vt:lpstr>
      <vt:lpstr>Partitioning RDDs</vt:lpstr>
      <vt:lpstr>Partitioning RDDs</vt:lpstr>
      <vt:lpstr>Partitioning RDDs</vt:lpstr>
      <vt:lpstr>Partitioning RDDs</vt:lpstr>
      <vt:lpstr>Important Spark Operations</vt:lpstr>
      <vt:lpstr>map vs flatmap</vt:lpstr>
      <vt:lpstr>reduceByKey vs groupByKey</vt:lpstr>
      <vt:lpstr>reduceBykey: Illustration</vt:lpstr>
      <vt:lpstr>groupByKey: Illustration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Processing</dc:title>
  <dc:creator>jiaul paik</dc:creator>
  <cp:lastModifiedBy>Subhasini Kumari Gupta</cp:lastModifiedBy>
  <cp:revision>719</cp:revision>
  <dcterms:created xsi:type="dcterms:W3CDTF">2020-05-13T23:12:08Z</dcterms:created>
  <dcterms:modified xsi:type="dcterms:W3CDTF">2025-04-01T20:53:52Z</dcterms:modified>
</cp:coreProperties>
</file>