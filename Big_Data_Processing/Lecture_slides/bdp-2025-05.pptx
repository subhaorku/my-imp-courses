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505" r:id="rId3"/>
    <p:sldId id="529" r:id="rId4"/>
    <p:sldId id="534" r:id="rId5"/>
    <p:sldId id="53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  <a:srgbClr val="CAAE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13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BEC899-9F02-491A-8D3A-9F1A2E35BED9}" type="datetimeFigureOut">
              <a:rPr lang="en-IN" smtClean="0"/>
              <a:t>20-01-2025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C7F388-92B4-4CCE-98AB-E3403A750B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0447380"/>
      </p:ext>
    </p:extLst>
  </p:cSld>
  <p:clrMap bg1="dk1" tx1="lt1" bg2="dk2" tx2="lt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9A62B8-ED7E-4D6E-9A93-014178291C11}" type="datetimeFigureOut">
              <a:rPr lang="en-IN" smtClean="0"/>
              <a:t>20-01-2025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15D4-91CA-4DB9-8C01-BAE492E5AD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2799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581B5-CE63-4C0B-AF1D-F1A23F619540}" type="datetimeFigureOut">
              <a:rPr lang="en-IN" smtClean="0"/>
              <a:t>20-01-2025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D252-A74E-4E8E-A6B4-FCD6DE8F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1164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155"/>
          </a:xfrm>
        </p:spPr>
        <p:txBody>
          <a:bodyPr/>
          <a:lstStyle>
            <a:lvl1pPr>
              <a:defRPr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1749"/>
            <a:ext cx="10515600" cy="4705214"/>
          </a:xfrm>
        </p:spPr>
        <p:txBody>
          <a:bodyPr/>
          <a:lstStyle>
            <a:lvl1pPr>
              <a:defRPr b="1">
                <a:solidFill>
                  <a:srgbClr val="0070C0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581B5-CE63-4C0B-AF1D-F1A23F619540}" type="datetimeFigureOut">
              <a:rPr lang="en-IN" smtClean="0"/>
              <a:t>20-01-2025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r>
              <a:rPr lang="en-IN" dirty="0"/>
              <a:t>Jiaul Paik, IIT </a:t>
            </a:r>
            <a:r>
              <a:rPr lang="en-IN" dirty="0" err="1"/>
              <a:t>Kharagpur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D252-A74E-4E8E-A6B4-FCD6DE8F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7684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581B5-CE63-4C0B-AF1D-F1A23F619540}" type="datetimeFigureOut">
              <a:rPr lang="en-IN" smtClean="0"/>
              <a:t>20-01-2025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D252-A74E-4E8E-A6B4-FCD6DE8F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0869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581B5-CE63-4C0B-AF1D-F1A23F619540}" type="datetimeFigureOut">
              <a:rPr lang="en-IN" smtClean="0"/>
              <a:t>20-01-2025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D252-A74E-4E8E-A6B4-FCD6DE8F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376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581B5-CE63-4C0B-AF1D-F1A23F619540}" type="datetimeFigureOut">
              <a:rPr lang="en-IN" smtClean="0"/>
              <a:t>20-01-2025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D252-A74E-4E8E-A6B4-FCD6DE8F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3970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581B5-CE63-4C0B-AF1D-F1A23F619540}" type="datetimeFigureOut">
              <a:rPr lang="en-IN" smtClean="0"/>
              <a:t>20-01-2025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D252-A74E-4E8E-A6B4-FCD6DE8F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9233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581B5-CE63-4C0B-AF1D-F1A23F619540}" type="datetimeFigureOut">
              <a:rPr lang="en-IN" smtClean="0"/>
              <a:t>20-01-2025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D252-A74E-4E8E-A6B4-FCD6DE8F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0526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581B5-CE63-4C0B-AF1D-F1A23F619540}" type="datetimeFigureOut">
              <a:rPr lang="en-IN" smtClean="0"/>
              <a:t>20-01-2025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D252-A74E-4E8E-A6B4-FCD6DE8F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0820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581B5-CE63-4C0B-AF1D-F1A23F619540}" type="datetimeFigureOut">
              <a:rPr lang="en-IN" smtClean="0"/>
              <a:t>20-01-2025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D252-A74E-4E8E-A6B4-FCD6DE8F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2170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581B5-CE63-4C0B-AF1D-F1A23F619540}" type="datetimeFigureOut">
              <a:rPr lang="en-IN" smtClean="0"/>
              <a:t>20-01-2025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D252-A74E-4E8E-A6B4-FCD6DE8F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880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581B5-CE63-4C0B-AF1D-F1A23F619540}" type="datetimeFigureOut">
              <a:rPr lang="en-IN" smtClean="0"/>
              <a:t>20-01-2025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D252-A74E-4E8E-A6B4-FCD6DE8F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6180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8581B5-CE63-4C0B-AF1D-F1A23F619540}" type="datetimeFigureOut">
              <a:rPr lang="en-IN" smtClean="0"/>
              <a:t>20-01-2025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7DD252-A74E-4E8E-A6B4-FCD6DE8F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1631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5915" y="1122363"/>
            <a:ext cx="9972085" cy="1408401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accent4"/>
                </a:solidFill>
                <a:latin typeface="Century Schoolbook" panose="02040604050505020304" pitchFamily="18" charset="0"/>
              </a:rPr>
              <a:t>Big Data Processing</a:t>
            </a:r>
            <a:endParaRPr lang="en-IN" sz="4800" dirty="0">
              <a:solidFill>
                <a:schemeClr val="accent4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1564" y="3500438"/>
            <a:ext cx="9144000" cy="1655762"/>
          </a:xfrm>
        </p:spPr>
        <p:txBody>
          <a:bodyPr>
            <a:normAutofit/>
          </a:bodyPr>
          <a:lstStyle/>
          <a:p>
            <a:r>
              <a:rPr lang="en-IN" sz="4400" dirty="0">
                <a:latin typeface="Century Schoolbook" panose="02040604050505020304" pitchFamily="18" charset="0"/>
              </a:rPr>
              <a:t>Jiaul Paik</a:t>
            </a:r>
          </a:p>
          <a:p>
            <a:r>
              <a:rPr lang="en-IN" sz="3200" dirty="0">
                <a:latin typeface="Century Schoolbook" panose="02040604050505020304" pitchFamily="18" charset="0"/>
              </a:rPr>
              <a:t>Lecture 5</a:t>
            </a:r>
          </a:p>
        </p:txBody>
      </p:sp>
    </p:spTree>
    <p:extLst>
      <p:ext uri="{BB962C8B-B14F-4D97-AF65-F5344CB8AC3E}">
        <p14:creationId xmlns:p14="http://schemas.microsoft.com/office/powerpoint/2010/main" val="2733896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8CA3A-E083-4DF1-AD30-C4DD522EB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741" y="162559"/>
            <a:ext cx="10515600" cy="732155"/>
          </a:xfrm>
        </p:spPr>
        <p:txBody>
          <a:bodyPr/>
          <a:lstStyle/>
          <a:p>
            <a:r>
              <a:rPr lang="en-IN"/>
              <a:t>Exercise: </a:t>
            </a:r>
            <a:r>
              <a:rPr lang="en-IN" dirty="0"/>
              <a:t>Top k Similarity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EBA236-CAE2-42EF-B483-784668BC44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0988" y="1560487"/>
                <a:ext cx="11170023" cy="4347254"/>
              </a:xfrm>
            </p:spPr>
            <p:txBody>
              <a:bodyPr/>
              <a:lstStyle/>
              <a:p>
                <a:pPr algn="just"/>
                <a:r>
                  <a:rPr lang="en-IN" dirty="0"/>
                  <a:t>Given a set of items: </a:t>
                </a:r>
                <a14:m>
                  <m:oMath xmlns:m="http://schemas.openxmlformats.org/officeDocument/2006/math">
                    <m:r>
                      <a:rPr lang="en-IN" b="1" i="0" smtClean="0"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b="1" i="1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b="1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IN" b="1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IN" b="1" i="1" smtClean="0">
                        <a:latin typeface="Cambria Math" panose="02040503050406030204" pitchFamily="18" charset="0"/>
                      </a:rPr>
                      <m:t>, ….. </m:t>
                    </m:r>
                    <m:sSub>
                      <m:sSub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IN" b="1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IN" dirty="0"/>
                  <a:t> and a query item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𝒒</m:t>
                        </m:r>
                      </m:sub>
                    </m:sSub>
                  </m:oMath>
                </a14:m>
                <a:r>
                  <a:rPr lang="en-IN" dirty="0"/>
                  <a:t>, find out top k most similar items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𝒒</m:t>
                        </m:r>
                      </m:sub>
                    </m:sSub>
                  </m:oMath>
                </a14:m>
                <a:r>
                  <a:rPr lang="en-IN" dirty="0"/>
                  <a:t>, based on a similarity measure</a:t>
                </a:r>
              </a:p>
              <a:p>
                <a:pPr algn="just"/>
                <a:endParaRPr lang="en-IN" dirty="0"/>
              </a:p>
              <a:p>
                <a:pPr algn="just"/>
                <a:r>
                  <a:rPr lang="en-IN" dirty="0"/>
                  <a:t>Large number of applications: </a:t>
                </a:r>
              </a:p>
              <a:p>
                <a:pPr lvl="1" algn="just"/>
                <a:r>
                  <a:rPr lang="en-IN" dirty="0"/>
                  <a:t>Ranking in search engines </a:t>
                </a:r>
              </a:p>
              <a:p>
                <a:pPr lvl="1" algn="just"/>
                <a:r>
                  <a:rPr lang="en-IN" dirty="0"/>
                  <a:t>Querying on database </a:t>
                </a:r>
              </a:p>
              <a:p>
                <a:pPr lvl="1" algn="just"/>
                <a:r>
                  <a:rPr lang="en-IN" dirty="0"/>
                  <a:t>Finding similar products e-commerce platforms</a:t>
                </a:r>
              </a:p>
              <a:p>
                <a:pPr lvl="1" algn="just"/>
                <a:r>
                  <a:rPr lang="en-IN" dirty="0"/>
                  <a:t>Finding similar patients from medical records </a:t>
                </a:r>
              </a:p>
              <a:p>
                <a:pPr lvl="1" algn="just"/>
                <a:r>
                  <a:rPr lang="en-IN" dirty="0"/>
                  <a:t>And so on ….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EBA236-CAE2-42EF-B483-784668BC44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0988" y="1560487"/>
                <a:ext cx="11170023" cy="4347254"/>
              </a:xfrm>
              <a:blipFill>
                <a:blip r:embed="rId2"/>
                <a:stretch>
                  <a:fillRect l="-983" t="-2665" r="-1092" b="-14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1374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HDFS</a:t>
            </a:r>
          </a:p>
        </p:txBody>
      </p:sp>
      <p:sp>
        <p:nvSpPr>
          <p:cNvPr id="57" name="Rectangle 6"/>
          <p:cNvSpPr>
            <a:spLocks noChangeArrowheads="1"/>
          </p:cNvSpPr>
          <p:nvPr/>
        </p:nvSpPr>
        <p:spPr bwMode="auto">
          <a:xfrm>
            <a:off x="6248400" y="1981200"/>
            <a:ext cx="1981200" cy="914400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8" name="Rectangle 35"/>
          <p:cNvSpPr>
            <a:spLocks noChangeArrowheads="1"/>
          </p:cNvSpPr>
          <p:nvPr/>
        </p:nvSpPr>
        <p:spPr bwMode="auto">
          <a:xfrm>
            <a:off x="6248400" y="2286000"/>
            <a:ext cx="1981200" cy="609600"/>
          </a:xfrm>
          <a:prstGeom prst="rect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9" name="Rectangle 6"/>
          <p:cNvSpPr>
            <a:spLocks noChangeArrowheads="1"/>
          </p:cNvSpPr>
          <p:nvPr/>
        </p:nvSpPr>
        <p:spPr bwMode="auto">
          <a:xfrm>
            <a:off x="4114800" y="1981200"/>
            <a:ext cx="1981200" cy="914400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60" name="Rectangle 6"/>
          <p:cNvSpPr>
            <a:spLocks noChangeArrowheads="1"/>
          </p:cNvSpPr>
          <p:nvPr/>
        </p:nvSpPr>
        <p:spPr bwMode="auto">
          <a:xfrm>
            <a:off x="5181600" y="3352800"/>
            <a:ext cx="1981200" cy="1600200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61" name="Rectangle 6"/>
          <p:cNvSpPr>
            <a:spLocks noChangeArrowheads="1"/>
          </p:cNvSpPr>
          <p:nvPr/>
        </p:nvSpPr>
        <p:spPr bwMode="auto">
          <a:xfrm>
            <a:off x="7239000" y="3352800"/>
            <a:ext cx="1981200" cy="1600200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62" name="Rectangle 6"/>
          <p:cNvSpPr>
            <a:spLocks noChangeArrowheads="1"/>
          </p:cNvSpPr>
          <p:nvPr/>
        </p:nvSpPr>
        <p:spPr bwMode="auto">
          <a:xfrm>
            <a:off x="3124200" y="3352800"/>
            <a:ext cx="1981200" cy="1600200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63" name="Straight Arrow Connector 53"/>
          <p:cNvCxnSpPr>
            <a:cxnSpLocks noChangeShapeType="1"/>
            <a:stCxn id="107" idx="2"/>
            <a:endCxn id="70" idx="0"/>
          </p:cNvCxnSpPr>
          <p:nvPr/>
        </p:nvCxnSpPr>
        <p:spPr bwMode="auto">
          <a:xfrm rot="5400000">
            <a:off x="4038600" y="2819400"/>
            <a:ext cx="1143000" cy="99060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headEnd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64" name="Straight Arrow Connector 53"/>
          <p:cNvCxnSpPr>
            <a:cxnSpLocks noChangeShapeType="1"/>
            <a:stCxn id="107" idx="2"/>
            <a:endCxn id="82" idx="0"/>
          </p:cNvCxnSpPr>
          <p:nvPr/>
        </p:nvCxnSpPr>
        <p:spPr bwMode="auto">
          <a:xfrm rot="16200000" flipH="1">
            <a:off x="5067300" y="2781300"/>
            <a:ext cx="1143000" cy="106680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headEnd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65" name="Straight Arrow Connector 53"/>
          <p:cNvCxnSpPr>
            <a:cxnSpLocks noChangeShapeType="1"/>
            <a:stCxn id="107" idx="2"/>
            <a:endCxn id="94" idx="0"/>
          </p:cNvCxnSpPr>
          <p:nvPr/>
        </p:nvCxnSpPr>
        <p:spPr bwMode="auto">
          <a:xfrm rot="16200000" flipH="1">
            <a:off x="6096000" y="1752600"/>
            <a:ext cx="1143000" cy="312420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headEnd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66" name="Straight Arrow Connector 53"/>
          <p:cNvCxnSpPr>
            <a:cxnSpLocks noChangeShapeType="1"/>
            <a:stCxn id="109" idx="2"/>
            <a:endCxn id="79" idx="0"/>
          </p:cNvCxnSpPr>
          <p:nvPr/>
        </p:nvCxnSpPr>
        <p:spPr bwMode="auto">
          <a:xfrm rot="5400000">
            <a:off x="5295900" y="1562100"/>
            <a:ext cx="762000" cy="312420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ysDash"/>
            <a:headEnd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67" name="Straight Arrow Connector 53"/>
          <p:cNvCxnSpPr>
            <a:cxnSpLocks noChangeShapeType="1"/>
            <a:stCxn id="109" idx="2"/>
            <a:endCxn id="91" idx="0"/>
          </p:cNvCxnSpPr>
          <p:nvPr/>
        </p:nvCxnSpPr>
        <p:spPr bwMode="auto">
          <a:xfrm rot="5400000">
            <a:off x="6324600" y="2590800"/>
            <a:ext cx="762000" cy="106680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ysDash"/>
            <a:headEnd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68" name="Straight Arrow Connector 53"/>
          <p:cNvCxnSpPr>
            <a:cxnSpLocks noChangeShapeType="1"/>
            <a:stCxn id="109" idx="2"/>
            <a:endCxn id="103" idx="0"/>
          </p:cNvCxnSpPr>
          <p:nvPr/>
        </p:nvCxnSpPr>
        <p:spPr bwMode="auto">
          <a:xfrm rot="16200000" flipH="1">
            <a:off x="7353300" y="2628900"/>
            <a:ext cx="762000" cy="99060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ysDash"/>
            <a:headEnd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69" name="Rectangle 6"/>
          <p:cNvSpPr>
            <a:spLocks noChangeArrowheads="1"/>
          </p:cNvSpPr>
          <p:nvPr/>
        </p:nvSpPr>
        <p:spPr bwMode="auto">
          <a:xfrm>
            <a:off x="3276600" y="3886200"/>
            <a:ext cx="1676400" cy="609600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70" name="Rectangle 4"/>
          <p:cNvSpPr>
            <a:spLocks noChangeArrowheads="1"/>
          </p:cNvSpPr>
          <p:nvPr/>
        </p:nvSpPr>
        <p:spPr bwMode="auto">
          <a:xfrm>
            <a:off x="3276600" y="3886200"/>
            <a:ext cx="1676400" cy="304800"/>
          </a:xfrm>
          <a:prstGeom prst="rect">
            <a:avLst/>
          </a:prstGeom>
          <a:solidFill>
            <a:sysClr val="windowText" lastClr="000000">
              <a:lumMod val="65000"/>
              <a:lumOff val="35000"/>
            </a:sysClr>
          </a:solidFill>
          <a:ln w="9525" algn="ctr">
            <a:solidFill>
              <a:sysClr val="windowText" lastClr="000000"/>
            </a:solidFill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datanode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daemon</a:t>
            </a:r>
          </a:p>
        </p:txBody>
      </p:sp>
      <p:sp>
        <p:nvSpPr>
          <p:cNvPr id="71" name="Rectangle 35"/>
          <p:cNvSpPr>
            <a:spLocks noChangeArrowheads="1"/>
          </p:cNvSpPr>
          <p:nvPr/>
        </p:nvSpPr>
        <p:spPr bwMode="auto">
          <a:xfrm>
            <a:off x="3276600" y="4191000"/>
            <a:ext cx="1676400" cy="304800"/>
          </a:xfrm>
          <a:prstGeom prst="rect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Linux file system</a:t>
            </a:r>
          </a:p>
        </p:txBody>
      </p:sp>
      <p:sp>
        <p:nvSpPr>
          <p:cNvPr id="72" name="Flowchart: Magnetic Disk 36"/>
          <p:cNvSpPr>
            <a:spLocks noChangeArrowheads="1"/>
          </p:cNvSpPr>
          <p:nvPr/>
        </p:nvSpPr>
        <p:spPr bwMode="auto">
          <a:xfrm>
            <a:off x="3546903" y="4572001"/>
            <a:ext cx="304800" cy="304800"/>
          </a:xfrm>
          <a:prstGeom prst="flowChartMagneticDisk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73" name="Flowchart: Magnetic Disk 37"/>
          <p:cNvSpPr>
            <a:spLocks noChangeArrowheads="1"/>
          </p:cNvSpPr>
          <p:nvPr/>
        </p:nvSpPr>
        <p:spPr bwMode="auto">
          <a:xfrm>
            <a:off x="4080303" y="4572001"/>
            <a:ext cx="304800" cy="304800"/>
          </a:xfrm>
          <a:prstGeom prst="flowChartMagneticDisk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74" name="Straight Connector 38"/>
          <p:cNvCxnSpPr>
            <a:cxnSpLocks noChangeShapeType="1"/>
          </p:cNvCxnSpPr>
          <p:nvPr/>
        </p:nvCxnSpPr>
        <p:spPr bwMode="auto">
          <a:xfrm rot="5400000">
            <a:off x="3280203" y="4610103"/>
            <a:ext cx="228600" cy="3175"/>
          </a:xfrm>
          <a:prstGeom prst="line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/>
          </a:ln>
        </p:spPr>
      </p:cxnSp>
      <p:cxnSp>
        <p:nvCxnSpPr>
          <p:cNvPr id="75" name="Straight Connector 39"/>
          <p:cNvCxnSpPr>
            <a:cxnSpLocks noChangeShapeType="1"/>
            <a:endCxn id="72" idx="2"/>
          </p:cNvCxnSpPr>
          <p:nvPr/>
        </p:nvCxnSpPr>
        <p:spPr bwMode="auto">
          <a:xfrm>
            <a:off x="3394503" y="4724402"/>
            <a:ext cx="152400" cy="1588"/>
          </a:xfrm>
          <a:prstGeom prst="line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/>
          </a:ln>
        </p:spPr>
      </p:cxnSp>
      <p:cxnSp>
        <p:nvCxnSpPr>
          <p:cNvPr id="76" name="Straight Connector 40"/>
          <p:cNvCxnSpPr>
            <a:cxnSpLocks noChangeShapeType="1"/>
          </p:cNvCxnSpPr>
          <p:nvPr/>
        </p:nvCxnSpPr>
        <p:spPr bwMode="auto">
          <a:xfrm rot="5400000">
            <a:off x="3813603" y="4608515"/>
            <a:ext cx="228600" cy="3175"/>
          </a:xfrm>
          <a:prstGeom prst="line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/>
          </a:ln>
        </p:spPr>
      </p:cxnSp>
      <p:cxnSp>
        <p:nvCxnSpPr>
          <p:cNvPr id="77" name="Straight Connector 41"/>
          <p:cNvCxnSpPr>
            <a:cxnSpLocks noChangeShapeType="1"/>
          </p:cNvCxnSpPr>
          <p:nvPr/>
        </p:nvCxnSpPr>
        <p:spPr bwMode="auto">
          <a:xfrm>
            <a:off x="3927903" y="4722817"/>
            <a:ext cx="152400" cy="3175"/>
          </a:xfrm>
          <a:prstGeom prst="line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/>
          </a:ln>
        </p:spPr>
      </p:cxnSp>
      <p:sp>
        <p:nvSpPr>
          <p:cNvPr id="78" name="TextBox 42"/>
          <p:cNvSpPr txBox="1">
            <a:spLocks noChangeArrowheads="1"/>
          </p:cNvSpPr>
          <p:nvPr/>
        </p:nvSpPr>
        <p:spPr bwMode="auto">
          <a:xfrm>
            <a:off x="4537501" y="4538666"/>
            <a:ext cx="3898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…</a:t>
            </a:r>
          </a:p>
        </p:txBody>
      </p:sp>
      <p:sp>
        <p:nvSpPr>
          <p:cNvPr id="79" name="Rectangle 4"/>
          <p:cNvSpPr>
            <a:spLocks noChangeArrowheads="1"/>
          </p:cNvSpPr>
          <p:nvPr/>
        </p:nvSpPr>
        <p:spPr bwMode="auto">
          <a:xfrm>
            <a:off x="3276600" y="3505200"/>
            <a:ext cx="1676400" cy="3048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tasktracker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0" name="Rectangle 4"/>
          <p:cNvSpPr>
            <a:spLocks noChangeArrowheads="1"/>
          </p:cNvSpPr>
          <p:nvPr/>
        </p:nvSpPr>
        <p:spPr bwMode="auto">
          <a:xfrm>
            <a:off x="3124200" y="4953000"/>
            <a:ext cx="1981200" cy="304800"/>
          </a:xfrm>
          <a:prstGeom prst="rect">
            <a:avLst/>
          </a:prstGeom>
          <a:solidFill>
            <a:sysClr val="windowText" lastClr="000000"/>
          </a:solidFill>
          <a:ln w="9525" algn="ctr">
            <a:solidFill>
              <a:sysClr val="windowText" lastClr="000000"/>
            </a:solidFill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slave node</a:t>
            </a:r>
          </a:p>
        </p:txBody>
      </p:sp>
      <p:sp>
        <p:nvSpPr>
          <p:cNvPr id="81" name="Rectangle 6"/>
          <p:cNvSpPr>
            <a:spLocks noChangeArrowheads="1"/>
          </p:cNvSpPr>
          <p:nvPr/>
        </p:nvSpPr>
        <p:spPr bwMode="auto">
          <a:xfrm>
            <a:off x="5334000" y="3886200"/>
            <a:ext cx="1676400" cy="609600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2" name="Rectangle 4"/>
          <p:cNvSpPr>
            <a:spLocks noChangeArrowheads="1"/>
          </p:cNvSpPr>
          <p:nvPr/>
        </p:nvSpPr>
        <p:spPr bwMode="auto">
          <a:xfrm>
            <a:off x="5334000" y="3886200"/>
            <a:ext cx="1676400" cy="304800"/>
          </a:xfrm>
          <a:prstGeom prst="rect">
            <a:avLst/>
          </a:prstGeom>
          <a:solidFill>
            <a:sysClr val="windowText" lastClr="000000">
              <a:lumMod val="65000"/>
              <a:lumOff val="35000"/>
            </a:sysClr>
          </a:solidFill>
          <a:ln w="9525" algn="ctr">
            <a:solidFill>
              <a:sysClr val="windowText" lastClr="000000"/>
            </a:solidFill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datanode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daemon</a:t>
            </a:r>
          </a:p>
        </p:txBody>
      </p:sp>
      <p:sp>
        <p:nvSpPr>
          <p:cNvPr id="83" name="Rectangle 35"/>
          <p:cNvSpPr>
            <a:spLocks noChangeArrowheads="1"/>
          </p:cNvSpPr>
          <p:nvPr/>
        </p:nvSpPr>
        <p:spPr bwMode="auto">
          <a:xfrm>
            <a:off x="5334000" y="4191000"/>
            <a:ext cx="1676400" cy="304800"/>
          </a:xfrm>
          <a:prstGeom prst="rect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Linux file system</a:t>
            </a:r>
          </a:p>
        </p:txBody>
      </p:sp>
      <p:sp>
        <p:nvSpPr>
          <p:cNvPr id="84" name="Flowchart: Magnetic Disk 36"/>
          <p:cNvSpPr>
            <a:spLocks noChangeArrowheads="1"/>
          </p:cNvSpPr>
          <p:nvPr/>
        </p:nvSpPr>
        <p:spPr bwMode="auto">
          <a:xfrm>
            <a:off x="5604303" y="4572001"/>
            <a:ext cx="304800" cy="304800"/>
          </a:xfrm>
          <a:prstGeom prst="flowChartMagneticDisk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5" name="Flowchart: Magnetic Disk 37"/>
          <p:cNvSpPr>
            <a:spLocks noChangeArrowheads="1"/>
          </p:cNvSpPr>
          <p:nvPr/>
        </p:nvSpPr>
        <p:spPr bwMode="auto">
          <a:xfrm>
            <a:off x="6137703" y="4572001"/>
            <a:ext cx="304800" cy="304800"/>
          </a:xfrm>
          <a:prstGeom prst="flowChartMagneticDisk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86" name="Straight Connector 38"/>
          <p:cNvCxnSpPr>
            <a:cxnSpLocks noChangeShapeType="1"/>
          </p:cNvCxnSpPr>
          <p:nvPr/>
        </p:nvCxnSpPr>
        <p:spPr bwMode="auto">
          <a:xfrm rot="5400000">
            <a:off x="5337603" y="4610103"/>
            <a:ext cx="228600" cy="3175"/>
          </a:xfrm>
          <a:prstGeom prst="line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/>
          </a:ln>
        </p:spPr>
      </p:cxnSp>
      <p:cxnSp>
        <p:nvCxnSpPr>
          <p:cNvPr id="87" name="Straight Connector 39"/>
          <p:cNvCxnSpPr>
            <a:cxnSpLocks noChangeShapeType="1"/>
            <a:endCxn id="84" idx="2"/>
          </p:cNvCxnSpPr>
          <p:nvPr/>
        </p:nvCxnSpPr>
        <p:spPr bwMode="auto">
          <a:xfrm>
            <a:off x="5451903" y="4724402"/>
            <a:ext cx="152400" cy="1588"/>
          </a:xfrm>
          <a:prstGeom prst="line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/>
          </a:ln>
        </p:spPr>
      </p:cxnSp>
      <p:cxnSp>
        <p:nvCxnSpPr>
          <p:cNvPr id="88" name="Straight Connector 40"/>
          <p:cNvCxnSpPr>
            <a:cxnSpLocks noChangeShapeType="1"/>
          </p:cNvCxnSpPr>
          <p:nvPr/>
        </p:nvCxnSpPr>
        <p:spPr bwMode="auto">
          <a:xfrm rot="5400000">
            <a:off x="5871003" y="4608515"/>
            <a:ext cx="228600" cy="3175"/>
          </a:xfrm>
          <a:prstGeom prst="line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/>
          </a:ln>
        </p:spPr>
      </p:cxnSp>
      <p:cxnSp>
        <p:nvCxnSpPr>
          <p:cNvPr id="89" name="Straight Connector 41"/>
          <p:cNvCxnSpPr>
            <a:cxnSpLocks noChangeShapeType="1"/>
          </p:cNvCxnSpPr>
          <p:nvPr/>
        </p:nvCxnSpPr>
        <p:spPr bwMode="auto">
          <a:xfrm>
            <a:off x="5985303" y="4722817"/>
            <a:ext cx="152400" cy="3175"/>
          </a:xfrm>
          <a:prstGeom prst="line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/>
          </a:ln>
        </p:spPr>
      </p:cxnSp>
      <p:sp>
        <p:nvSpPr>
          <p:cNvPr id="90" name="TextBox 42"/>
          <p:cNvSpPr txBox="1">
            <a:spLocks noChangeArrowheads="1"/>
          </p:cNvSpPr>
          <p:nvPr/>
        </p:nvSpPr>
        <p:spPr bwMode="auto">
          <a:xfrm>
            <a:off x="6594901" y="4538666"/>
            <a:ext cx="3898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…</a:t>
            </a:r>
          </a:p>
        </p:txBody>
      </p:sp>
      <p:sp>
        <p:nvSpPr>
          <p:cNvPr id="91" name="Rectangle 4"/>
          <p:cNvSpPr>
            <a:spLocks noChangeArrowheads="1"/>
          </p:cNvSpPr>
          <p:nvPr/>
        </p:nvSpPr>
        <p:spPr bwMode="auto">
          <a:xfrm>
            <a:off x="5334000" y="3505200"/>
            <a:ext cx="1676400" cy="3048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tasktracker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92" name="Rectangle 4"/>
          <p:cNvSpPr>
            <a:spLocks noChangeArrowheads="1"/>
          </p:cNvSpPr>
          <p:nvPr/>
        </p:nvSpPr>
        <p:spPr bwMode="auto">
          <a:xfrm>
            <a:off x="5181600" y="4953000"/>
            <a:ext cx="1981200" cy="304800"/>
          </a:xfrm>
          <a:prstGeom prst="rect">
            <a:avLst/>
          </a:prstGeom>
          <a:solidFill>
            <a:sysClr val="windowText" lastClr="000000"/>
          </a:solidFill>
          <a:ln w="9525" algn="ctr">
            <a:solidFill>
              <a:sysClr val="windowText" lastClr="000000"/>
            </a:solidFill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slave node</a:t>
            </a:r>
          </a:p>
        </p:txBody>
      </p:sp>
      <p:sp>
        <p:nvSpPr>
          <p:cNvPr id="93" name="Rectangle 6"/>
          <p:cNvSpPr>
            <a:spLocks noChangeArrowheads="1"/>
          </p:cNvSpPr>
          <p:nvPr/>
        </p:nvSpPr>
        <p:spPr bwMode="auto">
          <a:xfrm>
            <a:off x="7391400" y="3886200"/>
            <a:ext cx="1676400" cy="609600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94" name="Rectangle 4"/>
          <p:cNvSpPr>
            <a:spLocks noChangeArrowheads="1"/>
          </p:cNvSpPr>
          <p:nvPr/>
        </p:nvSpPr>
        <p:spPr bwMode="auto">
          <a:xfrm>
            <a:off x="7391400" y="3886200"/>
            <a:ext cx="1676400" cy="304800"/>
          </a:xfrm>
          <a:prstGeom prst="rect">
            <a:avLst/>
          </a:prstGeom>
          <a:solidFill>
            <a:sysClr val="windowText" lastClr="000000">
              <a:lumMod val="65000"/>
              <a:lumOff val="35000"/>
            </a:sysClr>
          </a:solidFill>
          <a:ln w="9525" algn="ctr">
            <a:solidFill>
              <a:sysClr val="windowText" lastClr="000000"/>
            </a:solidFill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datanode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daemon</a:t>
            </a:r>
          </a:p>
        </p:txBody>
      </p:sp>
      <p:sp>
        <p:nvSpPr>
          <p:cNvPr id="95" name="Rectangle 35"/>
          <p:cNvSpPr>
            <a:spLocks noChangeArrowheads="1"/>
          </p:cNvSpPr>
          <p:nvPr/>
        </p:nvSpPr>
        <p:spPr bwMode="auto">
          <a:xfrm>
            <a:off x="7391400" y="4191000"/>
            <a:ext cx="1676400" cy="304800"/>
          </a:xfrm>
          <a:prstGeom prst="rect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Linux file system</a:t>
            </a:r>
          </a:p>
        </p:txBody>
      </p:sp>
      <p:sp>
        <p:nvSpPr>
          <p:cNvPr id="96" name="Flowchart: Magnetic Disk 36"/>
          <p:cNvSpPr>
            <a:spLocks noChangeArrowheads="1"/>
          </p:cNvSpPr>
          <p:nvPr/>
        </p:nvSpPr>
        <p:spPr bwMode="auto">
          <a:xfrm>
            <a:off x="7661703" y="4572001"/>
            <a:ext cx="304800" cy="304800"/>
          </a:xfrm>
          <a:prstGeom prst="flowChartMagneticDisk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97" name="Flowchart: Magnetic Disk 37"/>
          <p:cNvSpPr>
            <a:spLocks noChangeArrowheads="1"/>
          </p:cNvSpPr>
          <p:nvPr/>
        </p:nvSpPr>
        <p:spPr bwMode="auto">
          <a:xfrm>
            <a:off x="8195103" y="4572001"/>
            <a:ext cx="304800" cy="304800"/>
          </a:xfrm>
          <a:prstGeom prst="flowChartMagneticDisk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98" name="Straight Connector 38"/>
          <p:cNvCxnSpPr>
            <a:cxnSpLocks noChangeShapeType="1"/>
          </p:cNvCxnSpPr>
          <p:nvPr/>
        </p:nvCxnSpPr>
        <p:spPr bwMode="auto">
          <a:xfrm rot="5400000">
            <a:off x="7395003" y="4610103"/>
            <a:ext cx="228600" cy="3175"/>
          </a:xfrm>
          <a:prstGeom prst="line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/>
          </a:ln>
        </p:spPr>
      </p:cxnSp>
      <p:cxnSp>
        <p:nvCxnSpPr>
          <p:cNvPr id="99" name="Straight Connector 39"/>
          <p:cNvCxnSpPr>
            <a:cxnSpLocks noChangeShapeType="1"/>
            <a:endCxn id="96" idx="2"/>
          </p:cNvCxnSpPr>
          <p:nvPr/>
        </p:nvCxnSpPr>
        <p:spPr bwMode="auto">
          <a:xfrm>
            <a:off x="7509303" y="4724402"/>
            <a:ext cx="152400" cy="1588"/>
          </a:xfrm>
          <a:prstGeom prst="line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/>
          </a:ln>
        </p:spPr>
      </p:cxnSp>
      <p:cxnSp>
        <p:nvCxnSpPr>
          <p:cNvPr id="100" name="Straight Connector 40"/>
          <p:cNvCxnSpPr>
            <a:cxnSpLocks noChangeShapeType="1"/>
          </p:cNvCxnSpPr>
          <p:nvPr/>
        </p:nvCxnSpPr>
        <p:spPr bwMode="auto">
          <a:xfrm rot="5400000">
            <a:off x="7928403" y="4608515"/>
            <a:ext cx="228600" cy="3175"/>
          </a:xfrm>
          <a:prstGeom prst="line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/>
          </a:ln>
        </p:spPr>
      </p:cxnSp>
      <p:cxnSp>
        <p:nvCxnSpPr>
          <p:cNvPr id="101" name="Straight Connector 41"/>
          <p:cNvCxnSpPr>
            <a:cxnSpLocks noChangeShapeType="1"/>
          </p:cNvCxnSpPr>
          <p:nvPr/>
        </p:nvCxnSpPr>
        <p:spPr bwMode="auto">
          <a:xfrm>
            <a:off x="8042703" y="4722817"/>
            <a:ext cx="152400" cy="3175"/>
          </a:xfrm>
          <a:prstGeom prst="line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/>
          </a:ln>
        </p:spPr>
      </p:cxnSp>
      <p:sp>
        <p:nvSpPr>
          <p:cNvPr id="102" name="TextBox 42"/>
          <p:cNvSpPr txBox="1">
            <a:spLocks noChangeArrowheads="1"/>
          </p:cNvSpPr>
          <p:nvPr/>
        </p:nvSpPr>
        <p:spPr bwMode="auto">
          <a:xfrm>
            <a:off x="8652301" y="4538666"/>
            <a:ext cx="3898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…</a:t>
            </a:r>
          </a:p>
        </p:txBody>
      </p:sp>
      <p:sp>
        <p:nvSpPr>
          <p:cNvPr id="103" name="Rectangle 4"/>
          <p:cNvSpPr>
            <a:spLocks noChangeArrowheads="1"/>
          </p:cNvSpPr>
          <p:nvPr/>
        </p:nvSpPr>
        <p:spPr bwMode="auto">
          <a:xfrm>
            <a:off x="7391400" y="3505200"/>
            <a:ext cx="1676400" cy="3048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tasktracker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4" name="Rectangle 4"/>
          <p:cNvSpPr>
            <a:spLocks noChangeArrowheads="1"/>
          </p:cNvSpPr>
          <p:nvPr/>
        </p:nvSpPr>
        <p:spPr bwMode="auto">
          <a:xfrm>
            <a:off x="7239000" y="4953000"/>
            <a:ext cx="1981200" cy="304800"/>
          </a:xfrm>
          <a:prstGeom prst="rect">
            <a:avLst/>
          </a:prstGeom>
          <a:solidFill>
            <a:sysClr val="windowText" lastClr="000000"/>
          </a:solidFill>
          <a:ln w="9525" algn="ctr">
            <a:solidFill>
              <a:sysClr val="windowText" lastClr="000000"/>
            </a:solidFill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slave node</a:t>
            </a:r>
          </a:p>
        </p:txBody>
      </p:sp>
      <p:sp>
        <p:nvSpPr>
          <p:cNvPr id="105" name="Rectangle 4"/>
          <p:cNvSpPr>
            <a:spLocks noChangeArrowheads="1"/>
          </p:cNvSpPr>
          <p:nvPr/>
        </p:nvSpPr>
        <p:spPr bwMode="auto">
          <a:xfrm>
            <a:off x="4114800" y="1981200"/>
            <a:ext cx="1981200" cy="304800"/>
          </a:xfrm>
          <a:prstGeom prst="rect">
            <a:avLst/>
          </a:prstGeom>
          <a:solidFill>
            <a:sysClr val="windowText" lastClr="000000"/>
          </a:solidFill>
          <a:ln w="9525" algn="ctr">
            <a:solidFill>
              <a:sysClr val="windowText" lastClr="000000"/>
            </a:solidFill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namenode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6" name="Rectangle 35"/>
          <p:cNvSpPr>
            <a:spLocks noChangeArrowheads="1"/>
          </p:cNvSpPr>
          <p:nvPr/>
        </p:nvSpPr>
        <p:spPr bwMode="auto">
          <a:xfrm>
            <a:off x="4114800" y="2286000"/>
            <a:ext cx="1981200" cy="609600"/>
          </a:xfrm>
          <a:prstGeom prst="rect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7" name="Rectangle 4"/>
          <p:cNvSpPr>
            <a:spLocks noChangeArrowheads="1"/>
          </p:cNvSpPr>
          <p:nvPr/>
        </p:nvSpPr>
        <p:spPr bwMode="auto">
          <a:xfrm>
            <a:off x="4267200" y="2438400"/>
            <a:ext cx="1676400" cy="3048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namenode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daemon</a:t>
            </a:r>
          </a:p>
        </p:txBody>
      </p:sp>
      <p:sp>
        <p:nvSpPr>
          <p:cNvPr id="108" name="Rectangle 4"/>
          <p:cNvSpPr>
            <a:spLocks noChangeArrowheads="1"/>
          </p:cNvSpPr>
          <p:nvPr/>
        </p:nvSpPr>
        <p:spPr bwMode="auto">
          <a:xfrm>
            <a:off x="6248400" y="1981200"/>
            <a:ext cx="1981200" cy="304800"/>
          </a:xfrm>
          <a:prstGeom prst="rect">
            <a:avLst/>
          </a:prstGeom>
          <a:solidFill>
            <a:sysClr val="windowText" lastClr="000000"/>
          </a:solidFill>
          <a:ln w="9525" algn="ctr">
            <a:solidFill>
              <a:sysClr val="windowText" lastClr="000000"/>
            </a:solidFill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job submission node</a:t>
            </a:r>
          </a:p>
        </p:txBody>
      </p:sp>
      <p:sp>
        <p:nvSpPr>
          <p:cNvPr id="109" name="Rectangle 4"/>
          <p:cNvSpPr>
            <a:spLocks noChangeArrowheads="1"/>
          </p:cNvSpPr>
          <p:nvPr/>
        </p:nvSpPr>
        <p:spPr bwMode="auto">
          <a:xfrm>
            <a:off x="6400800" y="2438400"/>
            <a:ext cx="1676400" cy="3048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jobtracker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2060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/>
          <p:cNvSpPr/>
          <p:nvPr/>
        </p:nvSpPr>
        <p:spPr>
          <a:xfrm>
            <a:off x="742969" y="1402391"/>
            <a:ext cx="3786215" cy="47149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895369" y="1573840"/>
            <a:ext cx="1633551" cy="39719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1076344" y="1697667"/>
            <a:ext cx="1276360" cy="276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1066820" y="2126295"/>
            <a:ext cx="1276360" cy="276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076344" y="2545399"/>
            <a:ext cx="1276360" cy="276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1066820" y="2974027"/>
            <a:ext cx="1276360" cy="276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1076344" y="3412179"/>
            <a:ext cx="1276360" cy="276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1066820" y="3840807"/>
            <a:ext cx="1276360" cy="276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1076344" y="4259911"/>
            <a:ext cx="1276360" cy="276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1066820" y="4688539"/>
            <a:ext cx="1276360" cy="276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2743233" y="1573840"/>
            <a:ext cx="1633551" cy="39719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2924208" y="1697667"/>
            <a:ext cx="1276360" cy="276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2914684" y="2126295"/>
            <a:ext cx="1276360" cy="276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2924208" y="2545399"/>
            <a:ext cx="1276360" cy="276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2914684" y="2974027"/>
            <a:ext cx="1276360" cy="276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2924208" y="3412179"/>
            <a:ext cx="1276360" cy="276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2914684" y="3840807"/>
            <a:ext cx="1276360" cy="276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2924208" y="4259911"/>
            <a:ext cx="1276360" cy="276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2914684" y="4688539"/>
            <a:ext cx="1276360" cy="276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4957810" y="1402391"/>
            <a:ext cx="3786215" cy="47149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5110210" y="1573840"/>
            <a:ext cx="1633551" cy="39719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5291187" y="1697667"/>
            <a:ext cx="1276360" cy="276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5281663" y="2126295"/>
            <a:ext cx="1276360" cy="276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5291187" y="2545399"/>
            <a:ext cx="1276360" cy="276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5281663" y="2974027"/>
            <a:ext cx="1276360" cy="276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5291187" y="3412179"/>
            <a:ext cx="1276360" cy="276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5281663" y="3840807"/>
            <a:ext cx="1276360" cy="276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5291187" y="4259911"/>
            <a:ext cx="1276360" cy="276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5281663" y="4688539"/>
            <a:ext cx="1276360" cy="276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6958074" y="1573840"/>
            <a:ext cx="1633551" cy="39719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7139051" y="1697667"/>
            <a:ext cx="1276360" cy="276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7129527" y="2126295"/>
            <a:ext cx="1276360" cy="276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7139051" y="2545399"/>
            <a:ext cx="1276360" cy="276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7129527" y="2974027"/>
            <a:ext cx="1276360" cy="276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7139051" y="3412179"/>
            <a:ext cx="1276360" cy="276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7129527" y="3840807"/>
            <a:ext cx="1276360" cy="276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7139051" y="4259911"/>
            <a:ext cx="1276360" cy="276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7129527" y="4688539"/>
            <a:ext cx="1276360" cy="276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1157306" y="1759582"/>
            <a:ext cx="442919" cy="14287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1671662" y="1759582"/>
            <a:ext cx="442919" cy="142876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3014694" y="1759582"/>
            <a:ext cx="442919" cy="142876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1157306" y="3045466"/>
            <a:ext cx="442919" cy="142876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5372149" y="1759582"/>
            <a:ext cx="442919" cy="1428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2071715" y="1702761"/>
            <a:ext cx="5000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n1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886240" y="1697669"/>
            <a:ext cx="5000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n3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028852" y="2982781"/>
            <a:ext cx="5000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n2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267507" y="1702430"/>
            <a:ext cx="5000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n4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458140" y="1688143"/>
            <a:ext cx="6953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node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457348" y="5188606"/>
            <a:ext cx="5000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r1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314736" y="5188606"/>
            <a:ext cx="5000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r2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672189" y="5188606"/>
            <a:ext cx="5000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r3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529577" y="5188605"/>
            <a:ext cx="6238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r4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85844" y="5666645"/>
            <a:ext cx="18573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d1 (data center)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048312" y="5638806"/>
            <a:ext cx="16335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d2 (data center)</a:t>
            </a:r>
          </a:p>
        </p:txBody>
      </p:sp>
      <p:cxnSp>
        <p:nvCxnSpPr>
          <p:cNvPr id="114" name="Curved Connector 113"/>
          <p:cNvCxnSpPr>
            <a:stCxn id="96" idx="0"/>
            <a:endCxn id="98" idx="0"/>
          </p:cNvCxnSpPr>
          <p:nvPr/>
        </p:nvCxnSpPr>
        <p:spPr>
          <a:xfrm rot="5400000" flipH="1" flipV="1">
            <a:off x="2307459" y="830887"/>
            <a:ext cx="1588" cy="1857388"/>
          </a:xfrm>
          <a:prstGeom prst="curvedConnector3">
            <a:avLst>
              <a:gd name="adj1" fmla="val 29390752"/>
            </a:avLst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urved Connector 116"/>
          <p:cNvCxnSpPr>
            <a:stCxn id="96" idx="0"/>
            <a:endCxn id="100" idx="0"/>
          </p:cNvCxnSpPr>
          <p:nvPr/>
        </p:nvCxnSpPr>
        <p:spPr>
          <a:xfrm rot="5400000" flipH="1" flipV="1">
            <a:off x="3486187" y="-347842"/>
            <a:ext cx="1588" cy="4214843"/>
          </a:xfrm>
          <a:prstGeom prst="curvedConnector3">
            <a:avLst>
              <a:gd name="adj1" fmla="val 63579995"/>
            </a:avLst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urved Connector 119"/>
          <p:cNvCxnSpPr>
            <a:stCxn id="96" idx="2"/>
            <a:endCxn id="97" idx="2"/>
          </p:cNvCxnSpPr>
          <p:nvPr/>
        </p:nvCxnSpPr>
        <p:spPr>
          <a:xfrm rot="16200000" flipH="1">
            <a:off x="1635943" y="1645279"/>
            <a:ext cx="1588" cy="514356"/>
          </a:xfrm>
          <a:prstGeom prst="curvedConnector3">
            <a:avLst>
              <a:gd name="adj1" fmla="val 16794716"/>
            </a:avLst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urved Connector 124"/>
          <p:cNvCxnSpPr>
            <a:stCxn id="96" idx="1"/>
            <a:endCxn id="99" idx="1"/>
          </p:cNvCxnSpPr>
          <p:nvPr/>
        </p:nvCxnSpPr>
        <p:spPr>
          <a:xfrm rot="10800000" flipV="1">
            <a:off x="1157307" y="1831019"/>
            <a:ext cx="1588" cy="1285884"/>
          </a:xfrm>
          <a:prstGeom prst="curvedConnector3">
            <a:avLst>
              <a:gd name="adj1" fmla="val 23392640"/>
            </a:avLst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3243297" y="737425"/>
            <a:ext cx="8623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d=6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100289" y="1023177"/>
            <a:ext cx="8572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d=4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385910" y="2094746"/>
            <a:ext cx="6858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d=0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39350" y="2402523"/>
            <a:ext cx="6096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d=2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79679" y="96505"/>
            <a:ext cx="6789559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67" b="1" i="0" u="none" strike="noStrike" kern="1200" cap="none" spc="0" normalizeH="0" baseline="0" noProof="0" dirty="0">
                <a:ln>
                  <a:noFill/>
                </a:ln>
                <a:solidFill>
                  <a:srgbClr val="029676">
                    <a:lumMod val="75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Network Topology in Hadoop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70619" y="6230397"/>
            <a:ext cx="4095993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Adapted from: Hadoop the definitive Guide, 4</a:t>
            </a:r>
            <a:r>
              <a:rPr kumimoji="0" lang="en-IN" sz="1067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th</a:t>
            </a:r>
            <a:r>
              <a:rPr kumimoji="0" lang="en-IN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 </a:t>
            </a:r>
            <a:r>
              <a:rPr kumimoji="0" lang="en-IN" sz="1067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ed</a:t>
            </a:r>
            <a:r>
              <a:rPr kumimoji="0" lang="en-IN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, Tom white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D2B8BF-DD28-4C03-82F6-7519DE13DC74}"/>
              </a:ext>
            </a:extLst>
          </p:cNvPr>
          <p:cNvSpPr txBox="1"/>
          <p:nvPr/>
        </p:nvSpPr>
        <p:spPr>
          <a:xfrm>
            <a:off x="5222907" y="569266"/>
            <a:ext cx="1883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Node distance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2DDE1A5-3C08-4BBA-81C2-AC2625E4B806}"/>
              </a:ext>
            </a:extLst>
          </p:cNvPr>
          <p:cNvCxnSpPr>
            <a:cxnSpLocks/>
            <a:endCxn id="2" idx="1"/>
          </p:cNvCxnSpPr>
          <p:nvPr/>
        </p:nvCxnSpPr>
        <p:spPr>
          <a:xfrm flipV="1">
            <a:off x="3886240" y="753932"/>
            <a:ext cx="1336667" cy="1430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5658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9CA5AFB-9BE4-434F-8AC6-AF0EBAF8C41E}"/>
              </a:ext>
            </a:extLst>
          </p:cNvPr>
          <p:cNvSpPr/>
          <p:nvPr/>
        </p:nvSpPr>
        <p:spPr>
          <a:xfrm>
            <a:off x="1391478" y="1116563"/>
            <a:ext cx="3057525" cy="452068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7E648F-3778-4677-8914-03FD14355DC5}"/>
              </a:ext>
            </a:extLst>
          </p:cNvPr>
          <p:cNvSpPr/>
          <p:nvPr/>
        </p:nvSpPr>
        <p:spPr>
          <a:xfrm>
            <a:off x="1677227" y="1240390"/>
            <a:ext cx="1162051" cy="36544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A14DA7-E067-4927-ACCE-D7FBA39436D2}"/>
              </a:ext>
            </a:extLst>
          </p:cNvPr>
          <p:cNvSpPr/>
          <p:nvPr/>
        </p:nvSpPr>
        <p:spPr>
          <a:xfrm>
            <a:off x="3063115" y="1240390"/>
            <a:ext cx="1162051" cy="36544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3201BF-FFE8-49E9-A782-98ABECE5EC1D}"/>
              </a:ext>
            </a:extLst>
          </p:cNvPr>
          <p:cNvSpPr/>
          <p:nvPr/>
        </p:nvSpPr>
        <p:spPr>
          <a:xfrm>
            <a:off x="1867729" y="1411839"/>
            <a:ext cx="809625" cy="2667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D7EC73-9DFE-43F8-8286-0D92E1BC4464}"/>
              </a:ext>
            </a:extLst>
          </p:cNvPr>
          <p:cNvSpPr/>
          <p:nvPr/>
        </p:nvSpPr>
        <p:spPr>
          <a:xfrm>
            <a:off x="1867729" y="1802365"/>
            <a:ext cx="809625" cy="2667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79C7BF-AFA5-44D5-BE87-071756700331}"/>
              </a:ext>
            </a:extLst>
          </p:cNvPr>
          <p:cNvSpPr/>
          <p:nvPr/>
        </p:nvSpPr>
        <p:spPr>
          <a:xfrm>
            <a:off x="1867729" y="2204001"/>
            <a:ext cx="809625" cy="2667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B925B5-F002-438B-8088-98DEDBD7C978}"/>
              </a:ext>
            </a:extLst>
          </p:cNvPr>
          <p:cNvSpPr/>
          <p:nvPr/>
        </p:nvSpPr>
        <p:spPr>
          <a:xfrm>
            <a:off x="1867729" y="2608813"/>
            <a:ext cx="809625" cy="2667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200C22-BBD2-4ED0-88C6-7D869EEA68C4}"/>
              </a:ext>
            </a:extLst>
          </p:cNvPr>
          <p:cNvSpPr/>
          <p:nvPr/>
        </p:nvSpPr>
        <p:spPr>
          <a:xfrm>
            <a:off x="1867729" y="3023150"/>
            <a:ext cx="809625" cy="2667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739B710-40AD-4DEB-B056-C2457D492521}"/>
              </a:ext>
            </a:extLst>
          </p:cNvPr>
          <p:cNvSpPr/>
          <p:nvPr/>
        </p:nvSpPr>
        <p:spPr>
          <a:xfrm>
            <a:off x="1867729" y="3436695"/>
            <a:ext cx="809625" cy="2667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EB3556-27DF-4817-BF51-FB63B0F5CA90}"/>
              </a:ext>
            </a:extLst>
          </p:cNvPr>
          <p:cNvSpPr/>
          <p:nvPr/>
        </p:nvSpPr>
        <p:spPr>
          <a:xfrm>
            <a:off x="1867729" y="3827221"/>
            <a:ext cx="809625" cy="2667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3EB818-D735-4FE0-A51A-4BB4F68AC88A}"/>
              </a:ext>
            </a:extLst>
          </p:cNvPr>
          <p:cNvSpPr/>
          <p:nvPr/>
        </p:nvSpPr>
        <p:spPr>
          <a:xfrm>
            <a:off x="1867729" y="4234017"/>
            <a:ext cx="809625" cy="2667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23EBA75-9A12-4EAC-998C-BC489077B17F}"/>
              </a:ext>
            </a:extLst>
          </p:cNvPr>
          <p:cNvSpPr/>
          <p:nvPr/>
        </p:nvSpPr>
        <p:spPr>
          <a:xfrm>
            <a:off x="3241710" y="1411839"/>
            <a:ext cx="809625" cy="2667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5920F54-7632-40DF-9C34-288D8FF97E1D}"/>
              </a:ext>
            </a:extLst>
          </p:cNvPr>
          <p:cNvSpPr/>
          <p:nvPr/>
        </p:nvSpPr>
        <p:spPr>
          <a:xfrm>
            <a:off x="3241710" y="1802365"/>
            <a:ext cx="809625" cy="2667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F229B30-A3E0-4A64-81F1-442685B99768}"/>
              </a:ext>
            </a:extLst>
          </p:cNvPr>
          <p:cNvSpPr/>
          <p:nvPr/>
        </p:nvSpPr>
        <p:spPr>
          <a:xfrm>
            <a:off x="3241710" y="2204001"/>
            <a:ext cx="809625" cy="2667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78A536C-0BF5-4B0B-A777-167F951DE713}"/>
              </a:ext>
            </a:extLst>
          </p:cNvPr>
          <p:cNvSpPr/>
          <p:nvPr/>
        </p:nvSpPr>
        <p:spPr>
          <a:xfrm>
            <a:off x="3241710" y="2608813"/>
            <a:ext cx="809625" cy="2667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4841DBB-CC8B-4A14-B32F-9FE201FC8E9A}"/>
              </a:ext>
            </a:extLst>
          </p:cNvPr>
          <p:cNvSpPr/>
          <p:nvPr/>
        </p:nvSpPr>
        <p:spPr>
          <a:xfrm>
            <a:off x="3241710" y="3023150"/>
            <a:ext cx="809625" cy="2667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20AB91D-FAD7-4AE9-AC5B-3EE8D0BC0D03}"/>
              </a:ext>
            </a:extLst>
          </p:cNvPr>
          <p:cNvSpPr/>
          <p:nvPr/>
        </p:nvSpPr>
        <p:spPr>
          <a:xfrm>
            <a:off x="3241710" y="3436695"/>
            <a:ext cx="809625" cy="2667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5A9E14D-3662-4A5E-99D1-F97440565A84}"/>
              </a:ext>
            </a:extLst>
          </p:cNvPr>
          <p:cNvSpPr/>
          <p:nvPr/>
        </p:nvSpPr>
        <p:spPr>
          <a:xfrm>
            <a:off x="3241710" y="3827221"/>
            <a:ext cx="809625" cy="2667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AE87D6-0EDB-49A4-8EB2-29E8A6B49C26}"/>
              </a:ext>
            </a:extLst>
          </p:cNvPr>
          <p:cNvSpPr/>
          <p:nvPr/>
        </p:nvSpPr>
        <p:spPr>
          <a:xfrm>
            <a:off x="3241710" y="4234017"/>
            <a:ext cx="809625" cy="2667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B74DA3-A139-4651-AF9D-7870CAC550AA}"/>
              </a:ext>
            </a:extLst>
          </p:cNvPr>
          <p:cNvSpPr txBox="1"/>
          <p:nvPr/>
        </p:nvSpPr>
        <p:spPr>
          <a:xfrm>
            <a:off x="3357811" y="4907197"/>
            <a:ext cx="550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rack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BD5CB6-E8CC-4270-BBE4-31E5546BDAA3}"/>
              </a:ext>
            </a:extLst>
          </p:cNvPr>
          <p:cNvSpPr txBox="1"/>
          <p:nvPr/>
        </p:nvSpPr>
        <p:spPr>
          <a:xfrm>
            <a:off x="3306003" y="1359470"/>
            <a:ext cx="5757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node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7AE3AF3-27E5-4171-8D84-2AFA662FC32B}"/>
              </a:ext>
            </a:extLst>
          </p:cNvPr>
          <p:cNvSpPr/>
          <p:nvPr/>
        </p:nvSpPr>
        <p:spPr>
          <a:xfrm>
            <a:off x="1934403" y="2697038"/>
            <a:ext cx="257175" cy="99101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38EC63E-0F1F-465F-8AE5-954315A35036}"/>
              </a:ext>
            </a:extLst>
          </p:cNvPr>
          <p:cNvSpPr/>
          <p:nvPr/>
        </p:nvSpPr>
        <p:spPr>
          <a:xfrm>
            <a:off x="2348741" y="2697038"/>
            <a:ext cx="257175" cy="991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DC2FFCD-8B4F-425E-ADB7-2EA830048817}"/>
              </a:ext>
            </a:extLst>
          </p:cNvPr>
          <p:cNvSpPr/>
          <p:nvPr/>
        </p:nvSpPr>
        <p:spPr>
          <a:xfrm>
            <a:off x="3357811" y="2697038"/>
            <a:ext cx="257175" cy="991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B084914-2860-4C41-B51C-15E1FA76CD4B}"/>
              </a:ext>
            </a:extLst>
          </p:cNvPr>
          <p:cNvSpPr/>
          <p:nvPr/>
        </p:nvSpPr>
        <p:spPr>
          <a:xfrm>
            <a:off x="3361995" y="3536746"/>
            <a:ext cx="257175" cy="991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D205F78-2044-4ED3-B9F0-DF7E4C63BBF7}"/>
              </a:ext>
            </a:extLst>
          </p:cNvPr>
          <p:cNvCxnSpPr>
            <a:stCxn id="25" idx="3"/>
            <a:endCxn id="26" idx="1"/>
          </p:cNvCxnSpPr>
          <p:nvPr/>
        </p:nvCxnSpPr>
        <p:spPr>
          <a:xfrm>
            <a:off x="2191577" y="2746588"/>
            <a:ext cx="157163" cy="0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A63F331-40E1-467F-94AE-1D1EBCE37210}"/>
              </a:ext>
            </a:extLst>
          </p:cNvPr>
          <p:cNvCxnSpPr>
            <a:stCxn id="10" idx="3"/>
            <a:endCxn id="27" idx="1"/>
          </p:cNvCxnSpPr>
          <p:nvPr/>
        </p:nvCxnSpPr>
        <p:spPr>
          <a:xfrm>
            <a:off x="2677352" y="2742163"/>
            <a:ext cx="680459" cy="4427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A61C383-7FA2-4ED2-8498-620C232926BD}"/>
              </a:ext>
            </a:extLst>
          </p:cNvPr>
          <p:cNvCxnSpPr/>
          <p:nvPr/>
        </p:nvCxnSpPr>
        <p:spPr>
          <a:xfrm>
            <a:off x="3486397" y="2796139"/>
            <a:ext cx="0" cy="740607"/>
          </a:xfrm>
          <a:prstGeom prst="straightConnector1">
            <a:avLst/>
          </a:prstGeom>
          <a:ln w="95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FED611AA-8915-4FB1-BE5D-D878270EB1DD}"/>
              </a:ext>
            </a:extLst>
          </p:cNvPr>
          <p:cNvSpPr txBox="1"/>
          <p:nvPr/>
        </p:nvSpPr>
        <p:spPr>
          <a:xfrm>
            <a:off x="2338611" y="5263608"/>
            <a:ext cx="11624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Data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center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23392" y="164638"/>
            <a:ext cx="37064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Replica Placement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48135" y="357026"/>
            <a:ext cx="5856651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Tradeoff between reliability and write bandwidth and read bandwidth</a:t>
            </a:r>
          </a:p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Placing into single node is bad idea</a:t>
            </a:r>
          </a:p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The first replica is placed in random </a:t>
            </a:r>
          </a:p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Second replica is placed on different rack </a:t>
            </a:r>
          </a:p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The third replica is placed on the same rack as the second, but on a different node</a:t>
            </a:r>
          </a:p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After locations are fixed, replica pipeline is built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545905" y="6230396"/>
            <a:ext cx="4095993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Adapted from: Hadoop the definitive Guide, 4</a:t>
            </a:r>
            <a:r>
              <a:rPr kumimoji="0" lang="en-IN" sz="1067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th</a:t>
            </a:r>
            <a:r>
              <a:rPr kumimoji="0" lang="en-IN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 </a:t>
            </a:r>
            <a:r>
              <a:rPr kumimoji="0" lang="en-IN" sz="1067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ed</a:t>
            </a:r>
            <a:r>
              <a:rPr kumimoji="0" lang="en-IN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, Tom white</a:t>
            </a:r>
          </a:p>
        </p:txBody>
      </p:sp>
    </p:spTree>
    <p:extLst>
      <p:ext uri="{BB962C8B-B14F-4D97-AF65-F5344CB8AC3E}">
        <p14:creationId xmlns:p14="http://schemas.microsoft.com/office/powerpoint/2010/main" val="1768977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Century Schoolbook">
      <a:majorFont>
        <a:latin typeface="Century Schoolbook" panose="02040604050505020304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2873</TotalTime>
  <Words>176</Words>
  <Application>Microsoft Office PowerPoint</Application>
  <PresentationFormat>Widescreen</PresentationFormat>
  <Paragraphs>66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Cambria Math</vt:lpstr>
      <vt:lpstr>Century Schoolbook</vt:lpstr>
      <vt:lpstr>Times New Roman</vt:lpstr>
      <vt:lpstr>Office Theme</vt:lpstr>
      <vt:lpstr>Big Data Processing</vt:lpstr>
      <vt:lpstr>Exercise: Top k Similarity Search</vt:lpstr>
      <vt:lpstr>HDFS</vt:lpstr>
      <vt:lpstr>PowerPoint Presentation</vt:lpstr>
      <vt:lpstr>PowerPoint Presentation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 Processing</dc:title>
  <dc:creator>jiaul paik</dc:creator>
  <cp:lastModifiedBy>User</cp:lastModifiedBy>
  <cp:revision>569</cp:revision>
  <dcterms:created xsi:type="dcterms:W3CDTF">2020-05-13T23:12:08Z</dcterms:created>
  <dcterms:modified xsi:type="dcterms:W3CDTF">2025-01-20T07:29:25Z</dcterms:modified>
</cp:coreProperties>
</file>