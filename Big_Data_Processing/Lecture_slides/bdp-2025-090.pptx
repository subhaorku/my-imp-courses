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0"/>
  </p:notesMasterIdLst>
  <p:handoutMasterIdLst>
    <p:handoutMasterId r:id="rId51"/>
  </p:handoutMasterIdLst>
  <p:sldIdLst>
    <p:sldId id="256" r:id="rId3"/>
    <p:sldId id="555" r:id="rId4"/>
    <p:sldId id="338" r:id="rId5"/>
    <p:sldId id="382" r:id="rId6"/>
    <p:sldId id="453" r:id="rId7"/>
    <p:sldId id="339" r:id="rId8"/>
    <p:sldId id="383" r:id="rId9"/>
    <p:sldId id="384" r:id="rId10"/>
    <p:sldId id="394" r:id="rId11"/>
    <p:sldId id="395" r:id="rId12"/>
    <p:sldId id="445" r:id="rId13"/>
    <p:sldId id="396" r:id="rId14"/>
    <p:sldId id="401" r:id="rId15"/>
    <p:sldId id="407" r:id="rId16"/>
    <p:sldId id="408" r:id="rId17"/>
    <p:sldId id="410" r:id="rId18"/>
    <p:sldId id="411" r:id="rId19"/>
    <p:sldId id="412" r:id="rId20"/>
    <p:sldId id="413" r:id="rId21"/>
    <p:sldId id="415" r:id="rId22"/>
    <p:sldId id="416" r:id="rId23"/>
    <p:sldId id="417" r:id="rId24"/>
    <p:sldId id="418" r:id="rId25"/>
    <p:sldId id="419" r:id="rId26"/>
    <p:sldId id="427" r:id="rId27"/>
    <p:sldId id="428" r:id="rId28"/>
    <p:sldId id="429" r:id="rId29"/>
    <p:sldId id="430" r:id="rId30"/>
    <p:sldId id="446" r:id="rId31"/>
    <p:sldId id="447" r:id="rId32"/>
    <p:sldId id="448" r:id="rId33"/>
    <p:sldId id="449" r:id="rId34"/>
    <p:sldId id="450" r:id="rId35"/>
    <p:sldId id="451" r:id="rId36"/>
    <p:sldId id="452" r:id="rId37"/>
    <p:sldId id="454" r:id="rId38"/>
    <p:sldId id="455" r:id="rId39"/>
    <p:sldId id="456" r:id="rId40"/>
    <p:sldId id="457" r:id="rId41"/>
    <p:sldId id="458" r:id="rId42"/>
    <p:sldId id="420" r:id="rId43"/>
    <p:sldId id="421" r:id="rId44"/>
    <p:sldId id="422" r:id="rId45"/>
    <p:sldId id="423" r:id="rId46"/>
    <p:sldId id="424" r:id="rId47"/>
    <p:sldId id="425" r:id="rId48"/>
    <p:sldId id="42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CAA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EC899-9F02-491A-8D3A-9F1A2E35BED9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7F388-92B4-4CCE-98AB-E3403A750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47380"/>
      </p:ext>
    </p:extLst>
  </p:cSld>
  <p:clrMap bg1="dk1" tx1="lt1" bg2="dk2" tx2="lt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A62B8-ED7E-4D6E-9A93-014178291C11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15D4-91CA-4DB9-8C01-BAE492E5A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79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636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593648-B6B4-48DF-B44C-E3693731EC7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636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7523" name="Text Box 1"/>
          <p:cNvSpPr txBox="1">
            <a:spLocks noChangeArrowheads="1"/>
          </p:cNvSpPr>
          <p:nvPr/>
        </p:nvSpPr>
        <p:spPr bwMode="auto">
          <a:xfrm>
            <a:off x="1219200" y="720725"/>
            <a:ext cx="4876800" cy="359886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6657" tIns="48328" rIns="96657" bIns="48328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7524" name="Rectangle 2"/>
          <p:cNvSpPr>
            <a:spLocks noGrp="1" noChangeArrowheads="1"/>
          </p:cNvSpPr>
          <p:nvPr>
            <p:ph type="body"/>
          </p:nvPr>
        </p:nvSpPr>
        <p:spPr>
          <a:xfrm>
            <a:off x="731838" y="4560888"/>
            <a:ext cx="5848350" cy="4319587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66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116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1749"/>
            <a:ext cx="10515600" cy="4705214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en-IN" dirty="0"/>
              <a:t>Jiaul Paik, IIT </a:t>
            </a:r>
            <a:r>
              <a:rPr lang="en-IN" dirty="0" err="1"/>
              <a:t>Kharagpur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768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86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7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97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23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2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82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17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8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180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553967" y="665975"/>
            <a:ext cx="9144000" cy="459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553967" y="1673975"/>
            <a:ext cx="3204800" cy="4893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◦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922999" y="1673975"/>
            <a:ext cx="3204800" cy="4893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◦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8292031" y="1673975"/>
            <a:ext cx="3204800" cy="4893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◦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cxnSp>
        <p:nvCxnSpPr>
          <p:cNvPr id="45" name="Google Shape;45;p7"/>
          <p:cNvCxnSpPr/>
          <p:nvPr/>
        </p:nvCxnSpPr>
        <p:spPr>
          <a:xfrm>
            <a:off x="1205100" y="-7925"/>
            <a:ext cx="0" cy="6866100"/>
          </a:xfrm>
          <a:prstGeom prst="straightConnector1">
            <a:avLst/>
          </a:prstGeom>
          <a:noFill/>
          <a:ln w="9525" cap="flat" cmpd="sng">
            <a:solidFill>
              <a:srgbClr val="999FA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46;p7"/>
          <p:cNvSpPr/>
          <p:nvPr/>
        </p:nvSpPr>
        <p:spPr>
          <a:xfrm>
            <a:off x="1078300" y="800750"/>
            <a:ext cx="253600" cy="190200"/>
          </a:xfrm>
          <a:prstGeom prst="ellipse">
            <a:avLst/>
          </a:prstGeom>
          <a:solidFill>
            <a:srgbClr val="39C0BA"/>
          </a:solidFill>
          <a:ln w="2857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1025400" y="1861900"/>
            <a:ext cx="359200" cy="26940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1364209" y="6437775"/>
            <a:ext cx="7316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401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key color">
  <p:cSld name="Blank key colo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1"/>
          <p:cNvCxnSpPr/>
          <p:nvPr/>
        </p:nvCxnSpPr>
        <p:spPr>
          <a:xfrm>
            <a:off x="1205100" y="-7925"/>
            <a:ext cx="0" cy="6866100"/>
          </a:xfrm>
          <a:prstGeom prst="straightConnector1">
            <a:avLst/>
          </a:prstGeom>
          <a:noFill/>
          <a:ln w="9525" cap="flat" cmpd="sng">
            <a:solidFill>
              <a:srgbClr val="2E303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11"/>
          <p:cNvSpPr/>
          <p:nvPr/>
        </p:nvSpPr>
        <p:spPr>
          <a:xfrm>
            <a:off x="1078200" y="3333900"/>
            <a:ext cx="253600" cy="190200"/>
          </a:xfrm>
          <a:prstGeom prst="ellipse">
            <a:avLst/>
          </a:prstGeom>
          <a:solidFill>
            <a:srgbClr val="39C0BA"/>
          </a:solidFill>
          <a:ln w="95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11364209" y="6437775"/>
            <a:ext cx="7316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2E3037"/>
                </a:solidFill>
              </a:defRPr>
            </a:lvl1pPr>
            <a:lvl2pPr lvl="1">
              <a:buNone/>
              <a:defRPr>
                <a:solidFill>
                  <a:srgbClr val="2E3037"/>
                </a:solidFill>
              </a:defRPr>
            </a:lvl2pPr>
            <a:lvl3pPr lvl="2">
              <a:buNone/>
              <a:defRPr>
                <a:solidFill>
                  <a:srgbClr val="2E3037"/>
                </a:solidFill>
              </a:defRPr>
            </a:lvl3pPr>
            <a:lvl4pPr lvl="3">
              <a:buNone/>
              <a:defRPr>
                <a:solidFill>
                  <a:srgbClr val="2E3037"/>
                </a:solidFill>
              </a:defRPr>
            </a:lvl4pPr>
            <a:lvl5pPr lvl="4">
              <a:buNone/>
              <a:defRPr>
                <a:solidFill>
                  <a:srgbClr val="2E3037"/>
                </a:solidFill>
              </a:defRPr>
            </a:lvl5pPr>
            <a:lvl6pPr lvl="5">
              <a:buNone/>
              <a:defRPr>
                <a:solidFill>
                  <a:srgbClr val="2E3037"/>
                </a:solidFill>
              </a:defRPr>
            </a:lvl6pPr>
            <a:lvl7pPr lvl="6">
              <a:buNone/>
              <a:defRPr>
                <a:solidFill>
                  <a:srgbClr val="2E3037"/>
                </a:solidFill>
              </a:defRPr>
            </a:lvl7pPr>
            <a:lvl8pPr lvl="7">
              <a:buNone/>
              <a:defRPr>
                <a:solidFill>
                  <a:srgbClr val="2E3037"/>
                </a:solidFill>
              </a:defRPr>
            </a:lvl8pPr>
            <a:lvl9pPr lvl="8">
              <a:buNone/>
              <a:defRPr>
                <a:solidFill>
                  <a:srgbClr val="2E3037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6146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220786"/>
            <a:ext cx="10972800" cy="54121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295400"/>
            <a:ext cx="10972800" cy="5181600"/>
          </a:xfrm>
        </p:spPr>
        <p:txBody>
          <a:bodyPr/>
          <a:lstStyle>
            <a:lvl1pPr marL="457200" indent="-419100">
              <a:buClr>
                <a:srgbClr val="00206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-381000">
              <a:buClr>
                <a:srgbClr val="002060"/>
              </a:buClr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 marL="1371600" indent="-381000">
              <a:buClr>
                <a:srgbClr val="00206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828800" indent="-342900">
              <a:buClr>
                <a:srgbClr val="002060"/>
              </a:buClr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4pPr>
            <a:lvl5pPr marL="2286000" indent="-342900">
              <a:buClr>
                <a:srgbClr val="00206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3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581B5-CE63-4C0B-AF1D-F1A23F619540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63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553967" y="665975"/>
            <a:ext cx="91440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553998" y="1600200"/>
            <a:ext cx="9144000" cy="49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Quicksand"/>
              <a:buChar char="◦"/>
              <a:defRPr sz="30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▫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■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64209" y="6437775"/>
            <a:ext cx="73160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" kern="0" smtClean="0"/>
              <a:pPr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8801258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915" y="1122363"/>
            <a:ext cx="9972085" cy="140840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Century Schoolbook" panose="02040604050505020304" pitchFamily="18" charset="0"/>
              </a:rPr>
              <a:t>Big Data Processing</a:t>
            </a:r>
            <a:endParaRPr lang="en-IN" sz="4800" dirty="0">
              <a:solidFill>
                <a:schemeClr val="accent4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1564" y="3500438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Century Schoolbook" panose="02040604050505020304" pitchFamily="18" charset="0"/>
              </a:rPr>
              <a:t>Jiaul Paik</a:t>
            </a:r>
          </a:p>
          <a:p>
            <a:r>
              <a:rPr lang="en-IN" sz="3200" dirty="0">
                <a:latin typeface="Century Schoolbook" panose="02040604050505020304" pitchFamily="18" charset="0"/>
              </a:rPr>
              <a:t>Lecture 9</a:t>
            </a:r>
          </a:p>
        </p:txBody>
      </p:sp>
    </p:spTree>
    <p:extLst>
      <p:ext uri="{BB962C8B-B14F-4D97-AF65-F5344CB8AC3E}">
        <p14:creationId xmlns:p14="http://schemas.microsoft.com/office/powerpoint/2010/main" val="273389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1036-3116-4EB0-9478-1401E3538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076393"/>
            <a:ext cx="10515600" cy="4705214"/>
          </a:xfrm>
        </p:spPr>
        <p:txBody>
          <a:bodyPr>
            <a:normAutofit/>
          </a:bodyPr>
          <a:lstStyle/>
          <a:p>
            <a:r>
              <a:rPr lang="en-IN" dirty="0"/>
              <a:t>Map-reduce Algorithm Design </a:t>
            </a:r>
          </a:p>
          <a:p>
            <a:pPr marL="457200" lvl="1" indent="0">
              <a:buNone/>
            </a:pPr>
            <a:endParaRPr lang="en-IN" sz="2800" dirty="0"/>
          </a:p>
          <a:p>
            <a:pPr marL="971550" lvl="1" indent="-514350">
              <a:buFont typeface="+mj-lt"/>
              <a:buAutoNum type="alphaLcParenR"/>
            </a:pPr>
            <a:r>
              <a:rPr lang="en-IN" sz="2800" dirty="0"/>
              <a:t>Combiner </a:t>
            </a:r>
          </a:p>
          <a:p>
            <a:pPr marL="971550" lvl="1" indent="-514350">
              <a:buFont typeface="+mj-lt"/>
              <a:buAutoNum type="alphaLcParenR"/>
            </a:pPr>
            <a:endParaRPr lang="en-IN" sz="2800" dirty="0"/>
          </a:p>
          <a:p>
            <a:r>
              <a:rPr lang="en-IN" dirty="0"/>
              <a:t>Fast Big Data Processing with Spark</a:t>
            </a:r>
          </a:p>
        </p:txBody>
      </p:sp>
    </p:spTree>
    <p:extLst>
      <p:ext uri="{BB962C8B-B14F-4D97-AF65-F5344CB8AC3E}">
        <p14:creationId xmlns:p14="http://schemas.microsoft.com/office/powerpoint/2010/main" val="239690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355" y="3095873"/>
            <a:ext cx="10972800" cy="54121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/>
              <a:t>Use of Combiner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059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 of combiner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Combiners are mini-reducers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Reduces data from mappers before they are shuffled through the network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176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189" y="1057267"/>
            <a:ext cx="4475993" cy="5094908"/>
          </a:xfrm>
          <a:prstGeom prst="rect">
            <a:avLst/>
          </a:prstGeom>
        </p:spPr>
      </p:pic>
      <p:cxnSp>
        <p:nvCxnSpPr>
          <p:cNvPr id="19" name="Straight Arrow Connector 18"/>
          <p:cNvCxnSpPr>
            <a:endCxn id="20" idx="1"/>
          </p:cNvCxnSpPr>
          <p:nvPr/>
        </p:nvCxnSpPr>
        <p:spPr bwMode="auto">
          <a:xfrm flipV="1">
            <a:off x="7710855" y="2167301"/>
            <a:ext cx="1354014" cy="5715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64869" y="2013412"/>
            <a:ext cx="1207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Splitting job</a:t>
            </a:r>
          </a:p>
        </p:txBody>
      </p:sp>
      <p:cxnSp>
        <p:nvCxnSpPr>
          <p:cNvPr id="322" name="Straight Arrow Connector 321"/>
          <p:cNvCxnSpPr>
            <a:endCxn id="323" idx="1"/>
          </p:cNvCxnSpPr>
          <p:nvPr/>
        </p:nvCxnSpPr>
        <p:spPr bwMode="auto">
          <a:xfrm flipV="1">
            <a:off x="7710855" y="3123447"/>
            <a:ext cx="1354014" cy="5715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" name="TextBox 322"/>
          <p:cNvSpPr txBox="1"/>
          <p:nvPr/>
        </p:nvSpPr>
        <p:spPr>
          <a:xfrm>
            <a:off x="9064869" y="2969558"/>
            <a:ext cx="2182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Intermediate combining</a:t>
            </a:r>
          </a:p>
        </p:txBody>
      </p:sp>
      <p:cxnSp>
        <p:nvCxnSpPr>
          <p:cNvPr id="324" name="Straight Arrow Connector 323"/>
          <p:cNvCxnSpPr>
            <a:endCxn id="325" idx="1"/>
          </p:cNvCxnSpPr>
          <p:nvPr/>
        </p:nvCxnSpPr>
        <p:spPr bwMode="auto">
          <a:xfrm flipV="1">
            <a:off x="7315200" y="5388215"/>
            <a:ext cx="1831731" cy="3077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5" name="TextBox 324"/>
          <p:cNvSpPr txBox="1"/>
          <p:nvPr/>
        </p:nvSpPr>
        <p:spPr>
          <a:xfrm>
            <a:off x="9146931" y="5234326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Final combining</a:t>
            </a:r>
          </a:p>
        </p:txBody>
      </p:sp>
    </p:spTree>
    <p:extLst>
      <p:ext uri="{BB962C8B-B14F-4D97-AF65-F5344CB8AC3E}">
        <p14:creationId xmlns:p14="http://schemas.microsoft.com/office/powerpoint/2010/main" val="3915055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81437"/>
            <a:ext cx="10972800" cy="54121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Problem: Computing Mean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1" y="1108789"/>
            <a:ext cx="10755087" cy="5181600"/>
          </a:xfrm>
        </p:spPr>
        <p:txBody>
          <a:bodyPr/>
          <a:lstStyle/>
          <a:p>
            <a:pPr algn="just"/>
            <a:r>
              <a:rPr lang="en-US" sz="2400" b="0" dirty="0">
                <a:solidFill>
                  <a:schemeClr val="tx1"/>
                </a:solidFill>
              </a:rPr>
              <a:t>A shop has a database which contains the customer names and the time spent by the customer in the shop in each visit. Find the average time spent by each customer in the shop.</a:t>
            </a:r>
            <a:r>
              <a:rPr lang="en-US" b="0" dirty="0">
                <a:solidFill>
                  <a:schemeClr val="tx1"/>
                </a:solidFill>
              </a:rPr>
              <a:t> 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4463819" y="2276872"/>
          <a:ext cx="4608512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464">
                  <a:extLst>
                    <a:ext uri="{9D8B030D-6E8A-4147-A177-3AD203B41FA5}">
                      <a16:colId xmlns:a16="http://schemas.microsoft.com/office/drawing/2014/main" val="4099932494"/>
                    </a:ext>
                  </a:extLst>
                </a:gridCol>
                <a:gridCol w="3591048">
                  <a:extLst>
                    <a:ext uri="{9D8B030D-6E8A-4147-A177-3AD203B41FA5}">
                      <a16:colId xmlns:a16="http://schemas.microsoft.com/office/drawing/2014/main" val="338558389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IN" sz="20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Time spent on</a:t>
                      </a:r>
                      <a:r>
                        <a:rPr lang="en-IN" sz="2000" baseline="0" dirty="0"/>
                        <a:t> each visit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28227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900" dirty="0" err="1"/>
                        <a:t>amar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6827149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900" dirty="0" err="1"/>
                        <a:t>amar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95448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900" dirty="0" err="1"/>
                        <a:t>rakesh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41462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900" dirty="0" err="1"/>
                        <a:t>rakesh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940792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900" dirty="0" err="1"/>
                        <a:t>sanjib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445044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900" dirty="0" err="1"/>
                        <a:t>rakesh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494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900" dirty="0" err="1"/>
                        <a:t>amar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8157175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900" dirty="0" err="1"/>
                        <a:t>sony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2007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r>
                        <a:rPr lang="en-IN" sz="1900" dirty="0" err="1"/>
                        <a:t>jiban</a:t>
                      </a:r>
                      <a:endParaRPr lang="en-IN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28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22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95632" y="864993"/>
            <a:ext cx="6530955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Reducer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method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Reduce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(string t; pairs [(s1; c1); (s2; c2) : : :])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sum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count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for all pair (s; c) in pairs [(s1; c1); (s2; c2) : : :]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sum = sum + 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count = count +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avg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= sum/count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Emit(string t; integer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avg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64637"/>
            <a:ext cx="10515600" cy="576064"/>
          </a:xfrm>
        </p:spPr>
        <p:txBody>
          <a:bodyPr>
            <a:normAutofit fontScale="90000"/>
          </a:bodyPr>
          <a:lstStyle/>
          <a:p>
            <a:r>
              <a:rPr lang="en-IN" sz="3733" dirty="0"/>
              <a:t>Computing mean: Use of combiner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360" y="1544061"/>
            <a:ext cx="422263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Mapper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method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Map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(string t; integer 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 Emit(string t; pair (r, 1))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137" y="3963304"/>
            <a:ext cx="6724918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Combiner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method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Combine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(string t; pairs [(s1; c1); (s2; c2) : : :])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sum = 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count = 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for all pair (s; c) in pairs [(s1; c1); (s2; c2) : : :]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sum = sum + 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count = count +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Emit(string t; pair (sum, count))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90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64637"/>
            <a:ext cx="10515600" cy="576064"/>
          </a:xfrm>
        </p:spPr>
        <p:txBody>
          <a:bodyPr>
            <a:normAutofit fontScale="90000"/>
          </a:bodyPr>
          <a:lstStyle/>
          <a:p>
            <a:r>
              <a:rPr lang="en-IN" sz="3733" dirty="0"/>
              <a:t>Combiner: Warning!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361" y="1222757"/>
            <a:ext cx="422263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Mapper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method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Map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(string t; integer 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 Emit(string t; integer 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461" y="3548963"/>
            <a:ext cx="6530955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Reducer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method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Reduce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(string t; pairs [(s1; c1); (s2; c2) : : :])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sum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count =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for all pair (s; c) in pairs [(s1; c1); (s2; c2) : : :]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sum = sum + 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count = count +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avg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= sum/count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Emit(string t; integer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avg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9989" y="616839"/>
            <a:ext cx="6011582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Combiner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method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Combine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(string t; integers [r1; r2; : : :])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sum = 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count = 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for all integer r in integers [r1; r2; : : :] 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sum  = sum + 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  count = count + 1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   Emit(string t; pair (sum, count))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004482" y="4892207"/>
            <a:ext cx="4564126" cy="672075"/>
          </a:xfrm>
          <a:prstGeom prst="round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Combiner output must match with mapper output </a:t>
            </a:r>
          </a:p>
        </p:txBody>
      </p:sp>
    </p:spTree>
    <p:extLst>
      <p:ext uri="{BB962C8B-B14F-4D97-AF65-F5344CB8AC3E}">
        <p14:creationId xmlns:p14="http://schemas.microsoft.com/office/powerpoint/2010/main" val="106665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89311" y="1970844"/>
            <a:ext cx="9030727" cy="2208158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park</a:t>
            </a:r>
            <a:b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Big Data Processing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39C0BA"/>
                </a:solidFill>
                <a:effectLst/>
                <a:uLnTx/>
                <a:uFillTx/>
                <a:latin typeface="Quicksand"/>
                <a:sym typeface="Quicksand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" sz="1200" b="0" i="0" u="none" strike="noStrike" kern="1200" cap="none" spc="0" normalizeH="0" baseline="0" noProof="0">
              <a:ln>
                <a:noFill/>
              </a:ln>
              <a:solidFill>
                <a:srgbClr val="39C0BA"/>
              </a:solidFill>
              <a:effectLst/>
              <a:uLnTx/>
              <a:uFillTx/>
              <a:latin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3985942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Iterative Algorithm in Map-reduce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C32F9C-723C-4BB8-BE11-8FCC03AF5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604613"/>
            <a:ext cx="10905066" cy="253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Iterative Algorithm in Map-reduce: Issues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D31CA9-8C7E-420A-ABD5-9B5E5A57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45" y="1675227"/>
            <a:ext cx="920250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29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0185" y="287044"/>
            <a:ext cx="9875520" cy="627356"/>
          </a:xfrm>
        </p:spPr>
        <p:txBody>
          <a:bodyPr>
            <a:noAutofit/>
          </a:bodyPr>
          <a:lstStyle/>
          <a:p>
            <a:r>
              <a:rPr lang="en-US" sz="4000" b="1" dirty="0"/>
              <a:t>Limitations of basic map-reduce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58241" y="1127464"/>
            <a:ext cx="9875520" cy="5349536"/>
          </a:xfrm>
        </p:spPr>
        <p:txBody>
          <a:bodyPr/>
          <a:lstStyle/>
          <a:p>
            <a:r>
              <a:rPr lang="en-US" sz="2800" dirty="0">
                <a:solidFill>
                  <a:srgbClr val="0063BE"/>
                </a:solidFill>
              </a:rPr>
              <a:t>Good for one-pass computation</a:t>
            </a:r>
          </a:p>
          <a:p>
            <a:endParaRPr lang="en-US" sz="2800" dirty="0">
              <a:solidFill>
                <a:srgbClr val="0063BE"/>
              </a:solidFill>
            </a:endParaRPr>
          </a:p>
          <a:p>
            <a:r>
              <a:rPr lang="en-US" sz="2800" dirty="0">
                <a:solidFill>
                  <a:srgbClr val="0063BE"/>
                </a:solidFill>
              </a:rPr>
              <a:t>But inefficient for </a:t>
            </a:r>
            <a:r>
              <a:rPr lang="en-US" sz="2800" i="1" dirty="0">
                <a:solidFill>
                  <a:srgbClr val="0063BE"/>
                </a:solidFill>
              </a:rPr>
              <a:t>multi-pass </a:t>
            </a:r>
            <a:r>
              <a:rPr lang="en-US" sz="2800" dirty="0">
                <a:solidFill>
                  <a:srgbClr val="0063BE"/>
                </a:solidFill>
              </a:rPr>
              <a:t>algorithms</a:t>
            </a:r>
          </a:p>
          <a:p>
            <a:pPr lvl="1"/>
            <a:r>
              <a:rPr lang="en-US" sz="2800" b="0" dirty="0">
                <a:solidFill>
                  <a:srgbClr val="0063BE"/>
                </a:solidFill>
                <a:latin typeface="+mj-lt"/>
              </a:rPr>
              <a:t>k-means, gradient descent</a:t>
            </a:r>
          </a:p>
          <a:p>
            <a:pPr marL="38099" indent="0">
              <a:buNone/>
            </a:pPr>
            <a:endParaRPr lang="en-US" sz="2800" b="0" dirty="0">
              <a:solidFill>
                <a:srgbClr val="0063BE"/>
              </a:solidFill>
              <a:latin typeface="+mj-lt"/>
            </a:endParaRPr>
          </a:p>
          <a:p>
            <a:r>
              <a:rPr lang="en-US" sz="2800" dirty="0">
                <a:solidFill>
                  <a:srgbClr val="0063BE"/>
                </a:solidFill>
              </a:rPr>
              <a:t>Spark uses an in-memory distributed data structure to store the data that is repeatedly used</a:t>
            </a:r>
          </a:p>
          <a:p>
            <a:endParaRPr lang="en-US" sz="2800" dirty="0">
              <a:solidFill>
                <a:srgbClr val="0063BE"/>
              </a:solidFill>
            </a:endParaRPr>
          </a:p>
          <a:p>
            <a:pPr lvl="1"/>
            <a:r>
              <a:rPr lang="en-US" sz="2800" dirty="0">
                <a:solidFill>
                  <a:srgbClr val="0063BE"/>
                </a:solidFill>
              </a:rPr>
              <a:t>Read-only data structure</a:t>
            </a:r>
          </a:p>
          <a:p>
            <a:endParaRPr lang="en-US" b="0" dirty="0">
              <a:solidFill>
                <a:srgbClr val="0063B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1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902" y="148502"/>
            <a:ext cx="9875520" cy="61741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Key Concept in Spark for Working with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920" y="876301"/>
            <a:ext cx="9875520" cy="2754509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Resilient Distributed Dataset (RDD)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Resilient:</a:t>
            </a:r>
            <a:r>
              <a:rPr lang="en-US" dirty="0"/>
              <a:t>   can re-compute missing or damaged partitions due to node failures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Distributed:</a:t>
            </a:r>
            <a:r>
              <a:rPr lang="en-US" dirty="0"/>
              <a:t>  data residing on multiple nodes in a cluster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Dataset:</a:t>
            </a:r>
            <a:r>
              <a:rPr lang="en-US" dirty="0"/>
              <a:t>  a collection of partitioned data with primitive values (e.g., </a:t>
            </a:r>
            <a:r>
              <a:rPr lang="en-US" dirty="0" err="1"/>
              <a:t>int</a:t>
            </a:r>
            <a:r>
              <a:rPr lang="en-US" dirty="0"/>
              <a:t>, string) or any user defined object (e.g., (word, count) pairs)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marL="219645" lvl="1" indent="0">
              <a:buNone/>
            </a:pPr>
            <a:endParaRPr lang="en-US" sz="1600" dirty="0"/>
          </a:p>
          <a:p>
            <a:pPr lvl="1"/>
            <a:endParaRPr lang="en-US" b="0" dirty="0"/>
          </a:p>
        </p:txBody>
      </p:sp>
      <p:sp>
        <p:nvSpPr>
          <p:cNvPr id="19" name="Rectangle 18"/>
          <p:cNvSpPr/>
          <p:nvPr/>
        </p:nvSpPr>
        <p:spPr>
          <a:xfrm>
            <a:off x="2946259" y="4637984"/>
            <a:ext cx="1524000" cy="1828800"/>
          </a:xfrm>
          <a:prstGeom prst="rect">
            <a:avLst/>
          </a:prstGeom>
          <a:solidFill>
            <a:srgbClr val="FFFFFF"/>
          </a:solidFill>
          <a:ln w="26425" cap="flat" cmpd="sng" algn="ctr">
            <a:solidFill>
              <a:srgbClr val="79463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00056" y="4630863"/>
            <a:ext cx="1600200" cy="1828800"/>
          </a:xfrm>
          <a:prstGeom prst="rect">
            <a:avLst/>
          </a:prstGeom>
          <a:solidFill>
            <a:srgbClr val="FFFFFF"/>
          </a:solidFill>
          <a:ln w="26425" cap="flat" cmpd="sng" algn="ctr">
            <a:solidFill>
              <a:srgbClr val="79463D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138539" y="4824568"/>
            <a:ext cx="1066800" cy="228600"/>
          </a:xfrm>
          <a:prstGeom prst="roundRect">
            <a:avLst/>
          </a:prstGeom>
          <a:solidFill>
            <a:srgbClr val="808DA0"/>
          </a:solidFill>
          <a:ln w="26425" cap="flat" cmpd="sng" algn="ctr">
            <a:solidFill>
              <a:srgbClr val="808DA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38539" y="5205568"/>
            <a:ext cx="1066800" cy="228600"/>
          </a:xfrm>
          <a:prstGeom prst="roundRect">
            <a:avLst/>
          </a:prstGeom>
          <a:solidFill>
            <a:srgbClr val="808DA0"/>
          </a:solidFill>
          <a:ln w="26425" cap="flat" cmpd="sng" algn="ctr">
            <a:solidFill>
              <a:srgbClr val="808DA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master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38539" y="5586568"/>
            <a:ext cx="1066800" cy="228600"/>
          </a:xfrm>
          <a:prstGeom prst="roundRect">
            <a:avLst/>
          </a:prstGeom>
          <a:solidFill>
            <a:srgbClr val="808DA0"/>
          </a:solidFill>
          <a:ln w="26425" cap="flat" cmpd="sng" algn="ctr">
            <a:solidFill>
              <a:srgbClr val="808DA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natural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38539" y="5967568"/>
            <a:ext cx="1066800" cy="228600"/>
          </a:xfrm>
          <a:prstGeom prst="roundRect">
            <a:avLst/>
          </a:prstGeom>
          <a:solidFill>
            <a:srgbClr val="808DA0"/>
          </a:solidFill>
          <a:ln w="26425" cap="flat" cmpd="sng" algn="ctr">
            <a:solidFill>
              <a:srgbClr val="808DA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student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66756" y="4748368"/>
            <a:ext cx="1066800" cy="228600"/>
          </a:xfrm>
          <a:prstGeom prst="roundRect">
            <a:avLst/>
          </a:prstGeom>
          <a:solidFill>
            <a:srgbClr val="808DA0"/>
          </a:solidFill>
          <a:ln w="26425" cap="flat" cmpd="sng" algn="ctr">
            <a:solidFill>
              <a:srgbClr val="808DA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am, 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00939" y="5129368"/>
            <a:ext cx="1066800" cy="228600"/>
          </a:xfrm>
          <a:prstGeom prst="roundRect">
            <a:avLst/>
          </a:prstGeom>
          <a:solidFill>
            <a:srgbClr val="808DA0"/>
          </a:solidFill>
          <a:ln w="26425" cap="flat" cmpd="sng" algn="ctr">
            <a:solidFill>
              <a:srgbClr val="808DA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master,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00939" y="5510368"/>
            <a:ext cx="1066800" cy="228600"/>
          </a:xfrm>
          <a:prstGeom prst="roundRect">
            <a:avLst/>
          </a:prstGeom>
          <a:solidFill>
            <a:srgbClr val="808DA0"/>
          </a:solidFill>
          <a:ln w="26425" cap="flat" cmpd="sng" algn="ctr">
            <a:solidFill>
              <a:srgbClr val="808DA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natural, 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24739" y="5983947"/>
            <a:ext cx="1219200" cy="228600"/>
          </a:xfrm>
          <a:prstGeom prst="roundRect">
            <a:avLst/>
          </a:prstGeom>
          <a:solidFill>
            <a:srgbClr val="808DA0"/>
          </a:solidFill>
          <a:ln w="26425" cap="flat" cmpd="sng" algn="ctr">
            <a:solidFill>
              <a:srgbClr val="808DA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student, 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6259" y="4092476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RDD of strings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2861" y="4000142"/>
            <a:ext cx="126989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RDD of pairs</a:t>
            </a:r>
          </a:p>
          <a:p>
            <a:pPr marL="0" marR="0" lvl="0" indent="0" algn="l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(word, count)</a:t>
            </a:r>
          </a:p>
        </p:txBody>
      </p:sp>
      <p:cxnSp>
        <p:nvCxnSpPr>
          <p:cNvPr id="33" name="Straight Arrow Connector 32"/>
          <p:cNvCxnSpPr>
            <a:endCxn id="35" idx="0"/>
          </p:cNvCxnSpPr>
          <p:nvPr/>
        </p:nvCxnSpPr>
        <p:spPr>
          <a:xfrm>
            <a:off x="4205339" y="4983862"/>
            <a:ext cx="1375194" cy="49232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35" idx="0"/>
          </p:cNvCxnSpPr>
          <p:nvPr/>
        </p:nvCxnSpPr>
        <p:spPr>
          <a:xfrm flipH="1">
            <a:off x="5580533" y="4907662"/>
            <a:ext cx="1444210" cy="56852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814939" y="5476184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709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one element</a:t>
            </a:r>
          </a:p>
        </p:txBody>
      </p:sp>
    </p:spTree>
    <p:extLst>
      <p:ext uri="{BB962C8B-B14F-4D97-AF65-F5344CB8AC3E}">
        <p14:creationId xmlns:p14="http://schemas.microsoft.com/office/powerpoint/2010/main" val="353506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  <p:bldP spid="32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562" y="224005"/>
            <a:ext cx="9875520" cy="588301"/>
          </a:xfrm>
        </p:spPr>
        <p:txBody>
          <a:bodyPr/>
          <a:lstStyle/>
          <a:p>
            <a:r>
              <a:rPr lang="en-IN" sz="4000" b="1" dirty="0">
                <a:solidFill>
                  <a:srgbClr val="0070C0"/>
                </a:solidFill>
              </a:rPr>
              <a:t>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2" y="990602"/>
            <a:ext cx="10195559" cy="2895599"/>
          </a:xfrm>
        </p:spPr>
        <p:txBody>
          <a:bodyPr/>
          <a:lstStyle/>
          <a:p>
            <a:r>
              <a:rPr lang="en-US" sz="2400" dirty="0"/>
              <a:t>Connects to a cluster manager which allocate resources across applications</a:t>
            </a:r>
          </a:p>
          <a:p>
            <a:r>
              <a:rPr lang="en-US" sz="2400" dirty="0"/>
              <a:t>Acquires executors on cluster nodes – worker processes to run computations and store data</a:t>
            </a:r>
          </a:p>
          <a:p>
            <a:r>
              <a:rPr lang="en-US" sz="2400" dirty="0"/>
              <a:t>Sends app code to the executors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9C0BA"/>
                </a:solidFill>
                <a:effectLst/>
                <a:uLnTx/>
                <a:uFillTx/>
                <a:latin typeface="Quicksand"/>
                <a:sym typeface="Quicksand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9C0BA"/>
              </a:solidFill>
              <a:effectLst/>
              <a:uLnTx/>
              <a:uFillTx/>
              <a:latin typeface="Quicksand"/>
              <a:sym typeface="Quicksan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657600"/>
            <a:ext cx="5410200" cy="284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2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8240" y="228601"/>
            <a:ext cx="9875520" cy="541215"/>
          </a:xfrm>
        </p:spPr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</a:rPr>
              <a:t>Main Steps of an RDD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1" y="1219200"/>
            <a:ext cx="9875520" cy="5181600"/>
          </a:xfrm>
        </p:spPr>
        <p:txBody>
          <a:bodyPr>
            <a:noAutofit/>
          </a:bodyPr>
          <a:lstStyle/>
          <a:p>
            <a:pPr marL="457189" indent="-457189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Create</a:t>
            </a:r>
            <a:r>
              <a:rPr lang="en-US" sz="2400" dirty="0"/>
              <a:t>  RDD from external data (from distributed file system or local file system)</a:t>
            </a:r>
          </a:p>
          <a:p>
            <a:pPr marL="1447764" lvl="2" indent="-457189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457189" indent="-457189">
              <a:buFont typeface="+mj-lt"/>
              <a:buAutoNum type="arabicPeriod"/>
            </a:pPr>
            <a:endParaRPr lang="en-US" sz="2400" dirty="0"/>
          </a:p>
          <a:p>
            <a:pPr marL="457189" indent="-457189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Transform</a:t>
            </a:r>
            <a:r>
              <a:rPr lang="en-US" sz="2400" dirty="0"/>
              <a:t> them to define new RDDs using transformations </a:t>
            </a:r>
          </a:p>
          <a:p>
            <a:pPr lvl="1" indent="-457189"/>
            <a:r>
              <a:rPr lang="en-US" sz="1800" dirty="0"/>
              <a:t>map(), filter()</a:t>
            </a:r>
          </a:p>
          <a:p>
            <a:pPr indent="-457189">
              <a:buFont typeface="+mj-lt"/>
              <a:buAutoNum type="arabicPeriod"/>
            </a:pPr>
            <a:endParaRPr lang="en-US" sz="2400" dirty="0"/>
          </a:p>
          <a:p>
            <a:pPr marL="457189" indent="-457189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Store in memory </a:t>
            </a:r>
            <a:r>
              <a:rPr lang="en-US" sz="2400" dirty="0"/>
              <a:t>any intermediate RDDs that will need to be reused.</a:t>
            </a:r>
          </a:p>
          <a:p>
            <a:pPr lvl="1" indent="-457189"/>
            <a:r>
              <a:rPr lang="en-US" sz="1800" dirty="0"/>
              <a:t>persist()</a:t>
            </a:r>
          </a:p>
          <a:p>
            <a:pPr indent="-457189">
              <a:buFont typeface="+mj-lt"/>
              <a:buAutoNum type="arabicPeriod"/>
            </a:pPr>
            <a:endParaRPr lang="en-US" sz="2400" dirty="0"/>
          </a:p>
          <a:p>
            <a:pPr marL="457189" indent="-457189"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Launch actions </a:t>
            </a:r>
            <a:r>
              <a:rPr lang="en-US" sz="2400" dirty="0"/>
              <a:t>to kick off a parallel computation</a:t>
            </a:r>
          </a:p>
          <a:p>
            <a:pPr lvl="1" indent="-457189"/>
            <a:r>
              <a:rPr lang="en-US" sz="1800" dirty="0"/>
              <a:t>count()</a:t>
            </a:r>
          </a:p>
        </p:txBody>
      </p:sp>
    </p:spTree>
    <p:extLst>
      <p:ext uri="{BB962C8B-B14F-4D97-AF65-F5344CB8AC3E}">
        <p14:creationId xmlns:p14="http://schemas.microsoft.com/office/powerpoint/2010/main" val="354200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702" y="220785"/>
            <a:ext cx="9875520" cy="541215"/>
          </a:xfrm>
        </p:spPr>
        <p:txBody>
          <a:bodyPr/>
          <a:lstStyle/>
          <a:p>
            <a:r>
              <a:rPr lang="en-US" sz="3600" dirty="0">
                <a:solidFill>
                  <a:srgbClr val="00B050"/>
                </a:solidFill>
              </a:rPr>
              <a:t>Creating an RDD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1" y="914400"/>
            <a:ext cx="9875520" cy="5181600"/>
          </a:xfrm>
        </p:spPr>
        <p:txBody>
          <a:bodyPr/>
          <a:lstStyle/>
          <a:p>
            <a:r>
              <a:rPr lang="en-US" dirty="0"/>
              <a:t>Two ways to do it</a:t>
            </a:r>
          </a:p>
          <a:p>
            <a:endParaRPr lang="en-US" dirty="0"/>
          </a:p>
          <a:p>
            <a:pPr marL="562537" lvl="1" indent="-342891">
              <a:buFont typeface="+mj-lt"/>
              <a:buAutoNum type="arabicPeriod"/>
            </a:pPr>
            <a:r>
              <a:rPr lang="en-US" dirty="0"/>
              <a:t>By loading an external dataset from disk</a:t>
            </a:r>
          </a:p>
          <a:p>
            <a:pPr marL="439292" lvl="2" indent="0">
              <a:buNone/>
            </a:pPr>
            <a:r>
              <a:rPr lang="en-US" dirty="0"/>
              <a:t> </a:t>
            </a:r>
          </a:p>
          <a:p>
            <a:pPr marL="562537" lvl="1" indent="-342891">
              <a:buFont typeface="+mj-lt"/>
              <a:buAutoNum type="arabicPeriod"/>
            </a:pPr>
            <a:endParaRPr lang="en-US" dirty="0"/>
          </a:p>
          <a:p>
            <a:pPr marL="562537" lvl="1" indent="-342891">
              <a:buFont typeface="+mj-lt"/>
              <a:buAutoNum type="arabicPeriod"/>
            </a:pPr>
            <a:endParaRPr lang="en-US" dirty="0"/>
          </a:p>
          <a:p>
            <a:pPr marL="562537" lvl="1" indent="-342891">
              <a:buFont typeface="+mj-lt"/>
              <a:buAutoNum type="arabicPeriod"/>
            </a:pPr>
            <a:r>
              <a:rPr lang="en-US" dirty="0"/>
              <a:t>Parallelizing a collection in your driver (main) program</a:t>
            </a:r>
          </a:p>
          <a:p>
            <a:pPr marL="439292" lvl="2" indent="0">
              <a:buNone/>
            </a:pPr>
            <a:r>
              <a:rPr lang="en-US" dirty="0"/>
              <a:t>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7541" y="2456813"/>
            <a:ext cx="3709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rdd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inputFile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2002" y="4085144"/>
            <a:ext cx="6484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2000" b="1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</a:t>
            </a:r>
            <a:r>
              <a:rPr kumimoji="0" lang="nn-NO" sz="20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 </a:t>
            </a:r>
            <a:r>
              <a:rPr kumimoji="0" lang="nn-NO" sz="2000" b="1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 </a:t>
            </a:r>
            <a:r>
              <a:rPr kumimoji="0" lang="nn-NO" sz="20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sc.parallelize(</a:t>
            </a:r>
            <a:r>
              <a:rPr kumimoji="0" lang="nn-NO" sz="2000" b="1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List</a:t>
            </a:r>
            <a:r>
              <a:rPr kumimoji="0" lang="nn-NO" sz="20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("pandas", "i like pandas"))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63B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2" y="5410200"/>
            <a:ext cx="9123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denotes the spark context that calls the spark core and manages the cluster</a:t>
            </a:r>
          </a:p>
        </p:txBody>
      </p:sp>
    </p:spTree>
    <p:extLst>
      <p:ext uri="{BB962C8B-B14F-4D97-AF65-F5344CB8AC3E}">
        <p14:creationId xmlns:p14="http://schemas.microsoft.com/office/powerpoint/2010/main" val="3898266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318" y="237565"/>
            <a:ext cx="9875520" cy="46501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RDD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1" y="990600"/>
            <a:ext cx="9875520" cy="5562600"/>
          </a:xfrm>
        </p:spPr>
        <p:txBody>
          <a:bodyPr/>
          <a:lstStyle/>
          <a:p>
            <a:r>
              <a:rPr lang="en-US" dirty="0"/>
              <a:t>Two types of Operations</a:t>
            </a:r>
          </a:p>
          <a:p>
            <a:endParaRPr lang="en-US" dirty="0"/>
          </a:p>
          <a:p>
            <a:pPr lvl="1"/>
            <a:r>
              <a:rPr lang="en-US" dirty="0"/>
              <a:t>Transformations </a:t>
            </a:r>
          </a:p>
          <a:p>
            <a:pPr marL="990575" lvl="2" indent="0">
              <a:buNone/>
            </a:pPr>
            <a:endParaRPr lang="en-US" sz="2000" dirty="0"/>
          </a:p>
          <a:p>
            <a:pPr lvl="2"/>
            <a:r>
              <a:rPr lang="en-US" sz="2000" dirty="0"/>
              <a:t>Example:  </a:t>
            </a:r>
            <a:r>
              <a:rPr lang="en-US" sz="2000" dirty="0">
                <a:solidFill>
                  <a:srgbClr val="FF0000"/>
                </a:solidFill>
              </a:rPr>
              <a:t>map(), filter()</a:t>
            </a:r>
          </a:p>
          <a:p>
            <a:pPr lvl="2"/>
            <a:endParaRPr lang="en-US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Actions</a:t>
            </a:r>
          </a:p>
          <a:p>
            <a:pPr lvl="1"/>
            <a:endParaRPr lang="en-US" dirty="0"/>
          </a:p>
          <a:p>
            <a:pPr lvl="2"/>
            <a:r>
              <a:rPr lang="en-US" sz="2000" dirty="0"/>
              <a:t>Example: </a:t>
            </a:r>
            <a:r>
              <a:rPr lang="en-US" sz="2000" dirty="0">
                <a:solidFill>
                  <a:srgbClr val="FF0000"/>
                </a:solidFill>
              </a:rPr>
              <a:t>count(), </a:t>
            </a:r>
            <a:r>
              <a:rPr lang="en-US" sz="2000" dirty="0" err="1">
                <a:solidFill>
                  <a:srgbClr val="FF0000"/>
                </a:solidFill>
              </a:rPr>
              <a:t>saveAsTextFile</a:t>
            </a:r>
            <a:r>
              <a:rPr lang="en-US" sz="2000" dirty="0">
                <a:solidFill>
                  <a:srgbClr val="FF0000"/>
                </a:solidFill>
              </a:rPr>
              <a:t>()</a:t>
            </a:r>
          </a:p>
          <a:p>
            <a:pPr lvl="2"/>
            <a:endParaRPr lang="en-US" b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350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606" y="184004"/>
            <a:ext cx="9875520" cy="67355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/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/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RDD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920" y="857559"/>
            <a:ext cx="9875520" cy="55626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Transformations</a:t>
            </a:r>
            <a:r>
              <a:rPr lang="en-US" dirty="0">
                <a:solidFill>
                  <a:srgbClr val="002060"/>
                </a:solidFill>
              </a:rPr>
              <a:t> </a:t>
            </a:r>
            <a:endParaRPr lang="en-US" sz="2400" dirty="0">
              <a:solidFill>
                <a:srgbClr val="002060"/>
              </a:solidFill>
            </a:endParaRPr>
          </a:p>
          <a:p>
            <a:pPr lvl="1"/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Transformations create a new dataset from an existing one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All transformations in Spark are lazy:</a:t>
            </a:r>
            <a:r>
              <a:rPr lang="en-US" dirty="0"/>
              <a:t>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they do not compute their results right away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they remember the transformations applied to some base dataset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the transformed RDD gets recomputed when an action is run on it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Optimizes the required calculations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Recover from the lost data partitions</a:t>
            </a:r>
          </a:p>
        </p:txBody>
      </p:sp>
    </p:spTree>
    <p:extLst>
      <p:ext uri="{BB962C8B-B14F-4D97-AF65-F5344CB8AC3E}">
        <p14:creationId xmlns:p14="http://schemas.microsoft.com/office/powerpoint/2010/main" val="54732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920" y="381002"/>
            <a:ext cx="9875520" cy="465013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Transformations: Examples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341" y="1295401"/>
            <a:ext cx="9724681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23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947" y="230820"/>
            <a:ext cx="9875520" cy="615194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RDD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2" y="914400"/>
            <a:ext cx="10119359" cy="55626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Actions </a:t>
            </a:r>
          </a:p>
          <a:p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/>
              <a:t>Operations that return a result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b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/>
              <a:t>It kicks off a computation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b="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dirty="0"/>
              <a:t>This is when transformations of RDDs are applied</a:t>
            </a:r>
          </a:p>
          <a:p>
            <a:pPr lvl="1"/>
            <a:endParaRPr lang="en-US" sz="18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75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1"/>
            <a:ext cx="9875520" cy="685801"/>
          </a:xfrm>
        </p:spPr>
        <p:txBody>
          <a:bodyPr/>
          <a:lstStyle/>
          <a:p>
            <a:r>
              <a:rPr lang="en-IN" sz="2800" b="1" dirty="0">
                <a:solidFill>
                  <a:srgbClr val="00B050"/>
                </a:solidFill>
              </a:rPr>
              <a:t>Actions: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9C0BA"/>
                </a:solidFill>
                <a:effectLst/>
                <a:uLnTx/>
                <a:uFillTx/>
                <a:latin typeface="Quicksand"/>
                <a:sym typeface="Quicksand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9C0BA"/>
              </a:solidFill>
              <a:effectLst/>
              <a:uLnTx/>
              <a:uFillTx/>
              <a:latin typeface="Quicksand"/>
              <a:sym typeface="Quicksan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165358"/>
            <a:ext cx="9067800" cy="512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59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893" y="182686"/>
            <a:ext cx="9875520" cy="61741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Anatomy of an RDD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1" y="990600"/>
            <a:ext cx="9875520" cy="4838667"/>
          </a:xfrm>
        </p:spPr>
        <p:txBody>
          <a:bodyPr/>
          <a:lstStyle/>
          <a:p>
            <a:pPr marL="439292" lvl="2" indent="0">
              <a:buNone/>
            </a:pPr>
            <a:endParaRPr lang="en-US" b="0" dirty="0"/>
          </a:p>
          <a:p>
            <a:pPr marL="439292" lvl="2" indent="0">
              <a:buNone/>
            </a:pPr>
            <a:endParaRPr lang="en-US" sz="1600" dirty="0">
              <a:latin typeface="Adobe Garamond Pro" pitchFamily="18" charset="0"/>
            </a:endParaRPr>
          </a:p>
          <a:p>
            <a:pPr marL="439292" lvl="2" indent="0">
              <a:buNone/>
            </a:pPr>
            <a:endParaRPr lang="en-US" sz="1600" dirty="0">
              <a:latin typeface="Adobe Garamond Pro" pitchFamily="18" charset="0"/>
            </a:endParaRPr>
          </a:p>
          <a:p>
            <a:pPr marL="439292" lvl="2" indent="0">
              <a:buNone/>
            </a:pPr>
            <a:endParaRPr lang="en-US" sz="1600" dirty="0">
              <a:latin typeface="Adobe Garamond Pro" pitchFamily="18" charset="0"/>
            </a:endParaRPr>
          </a:p>
          <a:p>
            <a:pPr marL="439292" lvl="2" indent="0">
              <a:buNone/>
            </a:pPr>
            <a:r>
              <a:rPr lang="en-US" sz="3200" dirty="0">
                <a:latin typeface="Adobe Garamond Pro" pitchFamily="18" charset="0"/>
              </a:rPr>
              <a:t>     </a:t>
            </a:r>
            <a:r>
              <a:rPr lang="en-US" sz="3200" b="1" dirty="0" err="1">
                <a:latin typeface="Adobe Garamond Pro" pitchFamily="18" charset="0"/>
              </a:rPr>
              <a:t>newRDD</a:t>
            </a:r>
            <a:r>
              <a:rPr lang="en-US" sz="3200" dirty="0">
                <a:latin typeface="Adobe Garamond Pro" pitchFamily="18" charset="0"/>
              </a:rPr>
              <a:t> = </a:t>
            </a:r>
            <a:r>
              <a:rPr lang="en-US" sz="3200" b="1" dirty="0" err="1">
                <a:solidFill>
                  <a:srgbClr val="0070C0"/>
                </a:solidFill>
                <a:latin typeface="Adobe Garamond Pro" pitchFamily="18" charset="0"/>
              </a:rPr>
              <a:t>oldRDD.map</a:t>
            </a:r>
            <a:r>
              <a:rPr lang="en-US" sz="3200" dirty="0">
                <a:latin typeface="Adobe Garamond Pro" pitchFamily="18" charset="0"/>
              </a:rPr>
              <a:t>(….)</a:t>
            </a:r>
            <a:r>
              <a:rPr lang="en-US" sz="3200" dirty="0"/>
              <a:t> </a:t>
            </a:r>
          </a:p>
          <a:p>
            <a:pPr marL="439292" lvl="2" indent="0">
              <a:buNone/>
            </a:pPr>
            <a:endParaRPr lang="en-US" dirty="0"/>
          </a:p>
          <a:p>
            <a:pPr marL="439292" lvl="2" indent="0">
              <a:buNone/>
            </a:pPr>
            <a:r>
              <a:rPr lang="en-US" dirty="0"/>
              <a:t> </a:t>
            </a:r>
            <a:endParaRPr lang="en-US" sz="1400" dirty="0"/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6973952" y="2689934"/>
            <a:ext cx="0" cy="21868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3001" y="4953000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User defined code/function</a:t>
            </a:r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3007360" y="2689934"/>
            <a:ext cx="0" cy="663517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47800" y="335280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creates new RDD from old RDD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and saves in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newRDD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054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228524"/>
            <a:ext cx="9875520" cy="685801"/>
          </a:xfrm>
        </p:spPr>
        <p:txBody>
          <a:bodyPr/>
          <a:lstStyle/>
          <a:p>
            <a:r>
              <a:rPr lang="en-IN" sz="3600" b="1" dirty="0">
                <a:solidFill>
                  <a:srgbClr val="00B050"/>
                </a:solidFill>
              </a:rPr>
              <a:t>Lazy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Spark does not immediately perform an operation 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It simply remembers it </a:t>
            </a:r>
          </a:p>
          <a:p>
            <a:pPr lvl="1"/>
            <a:r>
              <a:rPr lang="en-IN" dirty="0"/>
              <a:t>Uses a flow graph for memorizing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r>
              <a:rPr lang="en-IN" dirty="0"/>
              <a:t>It kicks off computation if an action operation is requested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9C0BA"/>
                </a:solidFill>
                <a:effectLst/>
                <a:uLnTx/>
                <a:uFillTx/>
                <a:latin typeface="Quicksand"/>
                <a:sym typeface="Quicksand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9C0BA"/>
              </a:solidFill>
              <a:effectLst/>
              <a:uLnTx/>
              <a:uFillTx/>
              <a:latin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262896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868" y="228601"/>
            <a:ext cx="9875520" cy="685801"/>
          </a:xfrm>
        </p:spPr>
        <p:txBody>
          <a:bodyPr/>
          <a:lstStyle/>
          <a:p>
            <a:r>
              <a:rPr lang="en-IN" sz="3600" b="1" dirty="0"/>
              <a:t>An Example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9C0BA"/>
                </a:solidFill>
                <a:effectLst/>
                <a:uLnTx/>
                <a:uFillTx/>
                <a:latin typeface="Quicksand"/>
                <a:sym typeface="Quicksand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9C0BA"/>
              </a:solidFill>
              <a:effectLst/>
              <a:uLnTx/>
              <a:uFillTx/>
              <a:latin typeface="Quicksand"/>
              <a:sym typeface="Quicksand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066801" y="2743201"/>
            <a:ext cx="5713615" cy="158504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val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B60D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lines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=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BB60D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sc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textFile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70A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"data.txt"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212529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val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BB60D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lineLengths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=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BB60D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lines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map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=&gt;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BB60D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s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length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212529"/>
              </a:solidFill>
              <a:effectLst/>
              <a:uLnTx/>
              <a:uFillTx/>
              <a:latin typeface="Menl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val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BB60D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totalLength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=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BB60D5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lineLengths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reduce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((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=&gt;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+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96400" y="838201"/>
            <a:ext cx="120212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data.txt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am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 is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 are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24900" y="3962401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action</a:t>
            </a:r>
          </a:p>
        </p:txBody>
      </p:sp>
      <p:cxnSp>
        <p:nvCxnSpPr>
          <p:cNvPr id="6" name="Straight Arrow Connector 5"/>
          <p:cNvCxnSpPr>
            <a:endCxn id="3" idx="1"/>
          </p:cNvCxnSpPr>
          <p:nvPr/>
        </p:nvCxnSpPr>
        <p:spPr>
          <a:xfrm>
            <a:off x="7162801" y="4114801"/>
            <a:ext cx="1562099" cy="784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6182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00" y="3048001"/>
            <a:ext cx="4038600" cy="541215"/>
          </a:xfrm>
        </p:spPr>
        <p:txBody>
          <a:bodyPr/>
          <a:lstStyle/>
          <a:p>
            <a:r>
              <a:rPr lang="en-US" sz="4000" b="1" dirty="0">
                <a:solidFill>
                  <a:srgbClr val="0070C0"/>
                </a:solidFill>
              </a:rPr>
              <a:t>RDD Persistence</a:t>
            </a:r>
          </a:p>
        </p:txBody>
      </p:sp>
    </p:spTree>
    <p:extLst>
      <p:ext uri="{BB962C8B-B14F-4D97-AF65-F5344CB8AC3E}">
        <p14:creationId xmlns:p14="http://schemas.microsoft.com/office/powerpoint/2010/main" val="433035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969" y="230910"/>
            <a:ext cx="9875520" cy="762001"/>
          </a:xfrm>
        </p:spPr>
        <p:txBody>
          <a:bodyPr/>
          <a:lstStyle/>
          <a:p>
            <a:r>
              <a:rPr lang="en-IN" sz="3600" b="1" dirty="0">
                <a:solidFill>
                  <a:srgbClr val="00B050"/>
                </a:solidFill>
              </a:rPr>
              <a:t>RDD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0" y="992911"/>
            <a:ext cx="9875520" cy="5181600"/>
          </a:xfrm>
        </p:spPr>
        <p:txBody>
          <a:bodyPr/>
          <a:lstStyle/>
          <a:p>
            <a:endParaRPr lang="en-US" sz="2400" dirty="0"/>
          </a:p>
          <a:p>
            <a:r>
              <a:rPr lang="en-US" sz="2400" dirty="0"/>
              <a:t>Spark can persist (or cache) a dataset in memory across operations</a:t>
            </a:r>
          </a:p>
          <a:p>
            <a:endParaRPr lang="en-US" sz="2400" dirty="0"/>
          </a:p>
          <a:p>
            <a:r>
              <a:rPr lang="en-US" sz="2400" dirty="0"/>
              <a:t>Each node stores in memory any slices of it that it computes and reuses them in other actions on that dataset</a:t>
            </a:r>
          </a:p>
          <a:p>
            <a:pPr lvl="1"/>
            <a:r>
              <a:rPr lang="en-US" sz="1800" dirty="0"/>
              <a:t>often making future actions more than 10x faster</a:t>
            </a:r>
          </a:p>
          <a:p>
            <a:endParaRPr lang="en-US" sz="2400" dirty="0"/>
          </a:p>
          <a:p>
            <a:r>
              <a:rPr lang="en-US" sz="2400" dirty="0"/>
              <a:t>The cache is fault-tolerant: 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if any partition of an RDD is lost, it will automatically be recomputed using the transformations that originally created it</a:t>
            </a: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9C0BA"/>
                </a:solidFill>
                <a:effectLst/>
                <a:uLnTx/>
                <a:uFillTx/>
                <a:latin typeface="Quicksand"/>
                <a:sym typeface="Quicksand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9C0BA"/>
              </a:solidFill>
              <a:effectLst/>
              <a:uLnTx/>
              <a:uFillTx/>
              <a:latin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463749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880" y="201050"/>
            <a:ext cx="9875520" cy="54121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Persistence (Caching)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880" y="838200"/>
            <a:ext cx="10469881" cy="5715000"/>
          </a:xfrm>
        </p:spPr>
        <p:txBody>
          <a:bodyPr>
            <a:normAutofit fontScale="55000" lnSpcReduction="20000"/>
          </a:bodyPr>
          <a:lstStyle/>
          <a:p>
            <a:r>
              <a:rPr lang="en-US" sz="3400" dirty="0"/>
              <a:t>Goal is to keep RDD in memory, distributed across machines</a:t>
            </a:r>
          </a:p>
          <a:p>
            <a:pPr marL="533387" lvl="1" indent="0">
              <a:buNone/>
            </a:pPr>
            <a:endParaRPr lang="en-US" sz="3400" dirty="0"/>
          </a:p>
          <a:p>
            <a:pPr marL="533387" lvl="1" indent="0">
              <a:buNone/>
            </a:pPr>
            <a:r>
              <a:rPr lang="en-US" sz="3400" dirty="0"/>
              <a:t>Important for iterative computation to increase efficiency</a:t>
            </a:r>
          </a:p>
          <a:p>
            <a:pPr marL="533387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533387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533387" lvl="1" indent="0">
              <a:buNone/>
            </a:pPr>
            <a:r>
              <a:rPr lang="en-US" dirty="0"/>
              <a:t> </a:t>
            </a:r>
          </a:p>
          <a:p>
            <a:pPr marL="533387" lvl="1" indent="0">
              <a:buNone/>
            </a:pPr>
            <a:endParaRPr lang="en-US" dirty="0"/>
          </a:p>
          <a:p>
            <a:pPr marL="533387" lvl="1" indent="0">
              <a:buNone/>
            </a:pPr>
            <a:endParaRPr lang="en-US" dirty="0"/>
          </a:p>
          <a:p>
            <a:pPr marL="533387" lvl="1" indent="0">
              <a:buNone/>
            </a:pPr>
            <a:endParaRPr lang="en-US" dirty="0"/>
          </a:p>
          <a:p>
            <a:pPr marL="533387" lvl="1" indent="0">
              <a:buNone/>
            </a:pPr>
            <a:endParaRPr lang="en-US" dirty="0"/>
          </a:p>
          <a:p>
            <a:pPr marL="533387" lvl="1" indent="0">
              <a:buNone/>
            </a:pPr>
            <a:endParaRPr lang="en-US" dirty="0"/>
          </a:p>
          <a:p>
            <a:pPr marL="533387" lvl="1" indent="0">
              <a:buNone/>
            </a:pPr>
            <a:endParaRPr lang="en-US" dirty="0"/>
          </a:p>
          <a:p>
            <a:pPr marL="533387" lvl="1" indent="0">
              <a:buNone/>
            </a:pPr>
            <a:endParaRPr lang="en-US" dirty="0"/>
          </a:p>
          <a:p>
            <a:pPr marL="533387" lvl="1" indent="0">
              <a:buNone/>
            </a:pPr>
            <a:r>
              <a:rPr lang="en-US" dirty="0"/>
              <a:t>   </a:t>
            </a:r>
          </a:p>
          <a:p>
            <a:pPr marL="439292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219645" lvl="1" indent="0">
              <a:buNone/>
            </a:pPr>
            <a:r>
              <a:rPr lang="en-US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7477" y="5426659"/>
            <a:ext cx="4497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Usage:    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yourRdd.MEMORY_ONLY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158239" y="2368774"/>
          <a:ext cx="9365202" cy="2457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39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Storage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91">
                <a:tc>
                  <a:txBody>
                    <a:bodyPr/>
                    <a:lstStyle/>
                    <a:p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MEMORY_ONLY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Stores</a:t>
                      </a:r>
                      <a:r>
                        <a:rPr lang="en-US" sz="1500" b="0" i="0" u="none" strike="noStrike" cap="non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RDD in memory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829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MEMORY_AND_DISK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Store RDD in memory. If RDD does not fit in memory, store the partitions that don't fit on disk, and read them from there when they're needed.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91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DISK_ONLY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Store the RDD partitions only on disk.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829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MEMORY_ONLY_2, MEMORY_AND_DISK_2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Same as the levels above, but replicate each partition on two cluster nodes.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340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0318"/>
            <a:ext cx="10972800" cy="541214"/>
          </a:xfrm>
        </p:spPr>
        <p:txBody>
          <a:bodyPr/>
          <a:lstStyle/>
          <a:p>
            <a:r>
              <a:rPr lang="en-IN" sz="3600" b="1" dirty="0">
                <a:solidFill>
                  <a:srgbClr val="00B050"/>
                </a:solidFill>
              </a:rPr>
              <a:t>RDD Persistence: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39C0BA"/>
                </a:solidFill>
                <a:effectLst/>
                <a:uLnTx/>
                <a:uFillTx/>
                <a:latin typeface="Quicksand"/>
                <a:sym typeface="Quicksand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39C0BA"/>
              </a:solidFill>
              <a:effectLst/>
              <a:uLnTx/>
              <a:uFillTx/>
              <a:latin typeface="Quicksand"/>
              <a:sym typeface="Quicksand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1189775"/>
            <a:ext cx="8945867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623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424" y="2756925"/>
            <a:ext cx="10515600" cy="732155"/>
          </a:xfrm>
        </p:spPr>
        <p:txBody>
          <a:bodyPr/>
          <a:lstStyle/>
          <a:p>
            <a:pPr algn="ctr"/>
            <a:r>
              <a:rPr lang="en-IN" sz="4000" b="1" dirty="0">
                <a:solidFill>
                  <a:srgbClr val="00B050"/>
                </a:solidFill>
              </a:rPr>
              <a:t>Distributed Execution of RDD</a:t>
            </a:r>
          </a:p>
        </p:txBody>
      </p:sp>
    </p:spTree>
    <p:extLst>
      <p:ext uri="{BB962C8B-B14F-4D97-AF65-F5344CB8AC3E}">
        <p14:creationId xmlns:p14="http://schemas.microsoft.com/office/powerpoint/2010/main" val="2857155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39" y="381000"/>
            <a:ext cx="10972800" cy="541214"/>
          </a:xfrm>
        </p:spPr>
        <p:txBody>
          <a:bodyPr/>
          <a:lstStyle/>
          <a:p>
            <a:r>
              <a:rPr lang="en-IN" sz="4000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Error log mining</a:t>
            </a:r>
          </a:p>
          <a:p>
            <a:endParaRPr lang="en-IN" dirty="0"/>
          </a:p>
          <a:p>
            <a:pPr lvl="1"/>
            <a:r>
              <a:rPr lang="en-IN" dirty="0"/>
              <a:t>Search for various patterns in an error log.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5521" y="3236979"/>
            <a:ext cx="422583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D53E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D53E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ERROR: java lang.io problem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D53E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ERROR: insufficient memory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D53E8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ERROR: array out of bound</a:t>
            </a:r>
          </a:p>
        </p:txBody>
      </p:sp>
    </p:spTree>
    <p:extLst>
      <p:ext uri="{BB962C8B-B14F-4D97-AF65-F5344CB8AC3E}">
        <p14:creationId xmlns:p14="http://schemas.microsoft.com/office/powerpoint/2010/main" val="2790070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627"/>
            <a:ext cx="10515600" cy="732155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0782"/>
            <a:ext cx="10515600" cy="5376597"/>
          </a:xfrm>
        </p:spPr>
        <p:txBody>
          <a:bodyPr/>
          <a:lstStyle/>
          <a:p>
            <a:r>
              <a:rPr lang="en-IN" dirty="0"/>
              <a:t>Error log mining</a:t>
            </a:r>
          </a:p>
          <a:p>
            <a:pPr lvl="1"/>
            <a:r>
              <a:rPr lang="en-IN" dirty="0"/>
              <a:t>Search for various patterns in an error log.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31372" y="1963790"/>
            <a:ext cx="858866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java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memory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</a:t>
            </a:r>
          </a:p>
        </p:txBody>
      </p:sp>
    </p:spTree>
    <p:extLst>
      <p:ext uri="{BB962C8B-B14F-4D97-AF65-F5344CB8AC3E}">
        <p14:creationId xmlns:p14="http://schemas.microsoft.com/office/powerpoint/2010/main" val="1383907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627"/>
            <a:ext cx="10515600" cy="732155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40701"/>
            <a:ext cx="10515600" cy="5376597"/>
          </a:xfrm>
        </p:spPr>
        <p:txBody>
          <a:bodyPr/>
          <a:lstStyle/>
          <a:p>
            <a:r>
              <a:rPr lang="en-IN" dirty="0"/>
              <a:t>Error log mining</a:t>
            </a:r>
          </a:p>
          <a:p>
            <a:pPr lvl="1"/>
            <a:r>
              <a:rPr lang="en-IN" dirty="0"/>
              <a:t>Search for various patterns in an error log.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2975" y="2043751"/>
            <a:ext cx="608515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java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memory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59589" y="3044957"/>
            <a:ext cx="1232690" cy="384043"/>
          </a:xfrm>
          <a:prstGeom prst="round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363" y="1508787"/>
            <a:ext cx="1248453" cy="384043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8767" y="3044957"/>
            <a:ext cx="1232690" cy="384043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393987" y="4657020"/>
            <a:ext cx="1248453" cy="384043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</p:txBody>
      </p:sp>
    </p:spTree>
    <p:extLst>
      <p:ext uri="{BB962C8B-B14F-4D97-AF65-F5344CB8AC3E}">
        <p14:creationId xmlns:p14="http://schemas.microsoft.com/office/powerpoint/2010/main" val="2361154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237" y="140510"/>
            <a:ext cx="10515600" cy="732155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RDD Operator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414" y="1220755"/>
            <a:ext cx="68167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027647" y="1341096"/>
            <a:ext cx="2060563" cy="480053"/>
          </a:xfrm>
          <a:prstGeom prst="roundRect">
            <a:avLst/>
          </a:prstGeom>
          <a:solidFill>
            <a:schemeClr val="tx1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HadoopRDD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27647" y="2509036"/>
            <a:ext cx="2060563" cy="480053"/>
          </a:xfrm>
          <a:prstGeom prst="roundRect">
            <a:avLst/>
          </a:prstGeom>
          <a:solidFill>
            <a:schemeClr val="tx1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FilteredRDD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27647" y="3702192"/>
            <a:ext cx="2060563" cy="480053"/>
          </a:xfrm>
          <a:prstGeom prst="roundRect">
            <a:avLst/>
          </a:prstGeom>
          <a:solidFill>
            <a:schemeClr val="tx1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MappedRDD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031555" y="4878424"/>
            <a:ext cx="2056655" cy="480053"/>
          </a:xfrm>
          <a:prstGeom prst="roundRect">
            <a:avLst/>
          </a:prstGeom>
          <a:solidFill>
            <a:schemeClr val="tx1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MappedRDD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7" name="Straight Arrow Connector 16"/>
          <p:cNvCxnSpPr>
            <a:cxnSpLocks/>
            <a:stCxn id="9" idx="2"/>
            <a:endCxn id="13" idx="0"/>
          </p:cNvCxnSpPr>
          <p:nvPr/>
        </p:nvCxnSpPr>
        <p:spPr>
          <a:xfrm>
            <a:off x="10057929" y="1821149"/>
            <a:ext cx="0" cy="6878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  <a:stCxn id="13" idx="2"/>
            <a:endCxn id="15" idx="0"/>
          </p:cNvCxnSpPr>
          <p:nvPr/>
        </p:nvCxnSpPr>
        <p:spPr>
          <a:xfrm>
            <a:off x="10057929" y="2989089"/>
            <a:ext cx="0" cy="71310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  <a:stCxn id="15" idx="2"/>
            <a:endCxn id="16" idx="0"/>
          </p:cNvCxnSpPr>
          <p:nvPr/>
        </p:nvCxnSpPr>
        <p:spPr>
          <a:xfrm>
            <a:off x="10057929" y="4182245"/>
            <a:ext cx="1954" cy="6961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8213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5" grpId="0" animBg="1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627"/>
            <a:ext cx="10515600" cy="732155"/>
          </a:xfrm>
        </p:spPr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8264" y="3044957"/>
            <a:ext cx="1356977" cy="384043"/>
          </a:xfrm>
          <a:prstGeom prst="round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363" y="1316765"/>
            <a:ext cx="1248453" cy="960107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8767" y="2852936"/>
            <a:ext cx="1356977" cy="864096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393987" y="4657019"/>
            <a:ext cx="1331757" cy="884215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92" y="1500267"/>
            <a:ext cx="631894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java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(_.contains(“memory")).count()</a:t>
            </a:r>
          </a:p>
        </p:txBody>
      </p:sp>
    </p:spTree>
    <p:extLst>
      <p:ext uri="{BB962C8B-B14F-4D97-AF65-F5344CB8AC3E}">
        <p14:creationId xmlns:p14="http://schemas.microsoft.com/office/powerpoint/2010/main" val="4131014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80449"/>
            <a:ext cx="10515600" cy="732155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79689" y="3044957"/>
            <a:ext cx="1312589" cy="384043"/>
          </a:xfrm>
          <a:prstGeom prst="round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363" y="1316765"/>
            <a:ext cx="1248453" cy="960107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8767" y="2852936"/>
            <a:ext cx="1337808" cy="864096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9393987" y="4657019"/>
            <a:ext cx="1337808" cy="884215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3</a:t>
            </a:r>
          </a:p>
        </p:txBody>
      </p:sp>
      <p:cxnSp>
        <p:nvCxnSpPr>
          <p:cNvPr id="10" name="Straight Arrow Connector 9"/>
          <p:cNvCxnSpPr>
            <a:cxnSpLocks/>
            <a:stCxn id="5" idx="0"/>
            <a:endCxn id="6" idx="1"/>
          </p:cNvCxnSpPr>
          <p:nvPr/>
        </p:nvCxnSpPr>
        <p:spPr>
          <a:xfrm flipV="1">
            <a:off x="7935984" y="1796819"/>
            <a:ext cx="1424379" cy="12481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  <a:stCxn id="5" idx="3"/>
            <a:endCxn id="7" idx="1"/>
          </p:cNvCxnSpPr>
          <p:nvPr/>
        </p:nvCxnSpPr>
        <p:spPr>
          <a:xfrm>
            <a:off x="8592278" y="3236979"/>
            <a:ext cx="776489" cy="480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  <a:endCxn id="8" idx="0"/>
          </p:cNvCxnSpPr>
          <p:nvPr/>
        </p:nvCxnSpPr>
        <p:spPr>
          <a:xfrm>
            <a:off x="8112224" y="3429001"/>
            <a:ext cx="1950667" cy="12280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3391" y="1500267"/>
            <a:ext cx="630119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java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(_.contains(“memory")).count()</a:t>
            </a:r>
          </a:p>
        </p:txBody>
      </p:sp>
    </p:spTree>
    <p:extLst>
      <p:ext uri="{BB962C8B-B14F-4D97-AF65-F5344CB8AC3E}">
        <p14:creationId xmlns:p14="http://schemas.microsoft.com/office/powerpoint/2010/main" val="12408070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55668"/>
            <a:ext cx="10515600" cy="732155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53057" y="3044957"/>
            <a:ext cx="1339222" cy="384043"/>
          </a:xfrm>
          <a:prstGeom prst="round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957569" y="1316765"/>
            <a:ext cx="1362901" cy="960107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5973" y="2852936"/>
            <a:ext cx="1362901" cy="864096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8957569" y="4657019"/>
            <a:ext cx="1396525" cy="884215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3</a:t>
            </a:r>
          </a:p>
        </p:txBody>
      </p:sp>
      <p:sp>
        <p:nvSpPr>
          <p:cNvPr id="3" name="Curved Down Arrow 2"/>
          <p:cNvSpPr/>
          <p:nvPr/>
        </p:nvSpPr>
        <p:spPr>
          <a:xfrm rot="5206396">
            <a:off x="10290023" y="1572590"/>
            <a:ext cx="620349" cy="508537"/>
          </a:xfrm>
          <a:prstGeom prst="curvedDown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00523" y="1502864"/>
            <a:ext cx="952505" cy="50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block</a:t>
            </a:r>
          </a:p>
        </p:txBody>
      </p:sp>
      <p:sp>
        <p:nvSpPr>
          <p:cNvPr id="13" name="Curved Down Arrow 12"/>
          <p:cNvSpPr/>
          <p:nvPr/>
        </p:nvSpPr>
        <p:spPr>
          <a:xfrm rot="5206396">
            <a:off x="10290023" y="3048393"/>
            <a:ext cx="620349" cy="508537"/>
          </a:xfrm>
          <a:prstGeom prst="curvedDown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00523" y="2978666"/>
            <a:ext cx="952505" cy="50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block</a:t>
            </a:r>
          </a:p>
        </p:txBody>
      </p:sp>
      <p:sp>
        <p:nvSpPr>
          <p:cNvPr id="16" name="Curved Down Arrow 15"/>
          <p:cNvSpPr/>
          <p:nvPr/>
        </p:nvSpPr>
        <p:spPr>
          <a:xfrm rot="5206396">
            <a:off x="10290023" y="4938888"/>
            <a:ext cx="620349" cy="508537"/>
          </a:xfrm>
          <a:prstGeom prst="curvedDown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00523" y="4869161"/>
            <a:ext cx="952505" cy="50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91" y="1500267"/>
            <a:ext cx="625597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java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(_.contains(“memory")).count()</a:t>
            </a:r>
          </a:p>
        </p:txBody>
      </p:sp>
    </p:spTree>
    <p:extLst>
      <p:ext uri="{BB962C8B-B14F-4D97-AF65-F5344CB8AC3E}">
        <p14:creationId xmlns:p14="http://schemas.microsoft.com/office/powerpoint/2010/main" val="1356937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527" y="78073"/>
            <a:ext cx="10515600" cy="732155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04250" y="2943945"/>
            <a:ext cx="1045220" cy="384043"/>
          </a:xfrm>
          <a:prstGeom prst="round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430435" y="1220755"/>
            <a:ext cx="1313972" cy="960107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63B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74747" y="2864505"/>
            <a:ext cx="1278063" cy="864096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74747" y="4561009"/>
            <a:ext cx="1303283" cy="884215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1490" y="1449522"/>
            <a:ext cx="1056700" cy="50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data</a:t>
            </a:r>
          </a:p>
        </p:txBody>
      </p:sp>
      <p:cxnSp>
        <p:nvCxnSpPr>
          <p:cNvPr id="11" name="Straight Arrow Connector 10"/>
          <p:cNvCxnSpPr>
            <a:stCxn id="9" idx="0"/>
          </p:cNvCxnSpPr>
          <p:nvPr/>
        </p:nvCxnSpPr>
        <p:spPr>
          <a:xfrm flipH="1" flipV="1">
            <a:off x="10669323" y="1074327"/>
            <a:ext cx="20517" cy="3751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940702" y="700408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1</a:t>
            </a:r>
          </a:p>
        </p:txBody>
      </p:sp>
      <p:cxnSp>
        <p:nvCxnSpPr>
          <p:cNvPr id="18" name="Straight Connector 17"/>
          <p:cNvCxnSpPr>
            <a:cxnSpLocks/>
            <a:stCxn id="6" idx="3"/>
            <a:endCxn id="9" idx="1"/>
          </p:cNvCxnSpPr>
          <p:nvPr/>
        </p:nvCxnSpPr>
        <p:spPr>
          <a:xfrm>
            <a:off x="9744407" y="1700809"/>
            <a:ext cx="417083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26735" y="2975257"/>
            <a:ext cx="1056700" cy="50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data</a:t>
            </a:r>
          </a:p>
        </p:txBody>
      </p:sp>
      <p:cxnSp>
        <p:nvCxnSpPr>
          <p:cNvPr id="25" name="Straight Arrow Connector 24"/>
          <p:cNvCxnSpPr>
            <a:stCxn id="24" idx="0"/>
          </p:cNvCxnSpPr>
          <p:nvPr/>
        </p:nvCxnSpPr>
        <p:spPr>
          <a:xfrm flipH="1" flipV="1">
            <a:off x="10534568" y="2600063"/>
            <a:ext cx="20517" cy="3751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947606" y="2281962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2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9751309" y="3252222"/>
            <a:ext cx="384043" cy="3014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969468" y="4741961"/>
            <a:ext cx="1056700" cy="502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data</a:t>
            </a:r>
          </a:p>
        </p:txBody>
      </p:sp>
      <p:cxnSp>
        <p:nvCxnSpPr>
          <p:cNvPr id="29" name="Straight Arrow Connector 28"/>
          <p:cNvCxnSpPr>
            <a:stCxn id="28" idx="0"/>
          </p:cNvCxnSpPr>
          <p:nvPr/>
        </p:nvCxnSpPr>
        <p:spPr>
          <a:xfrm flipH="1" flipV="1">
            <a:off x="10477301" y="4366766"/>
            <a:ext cx="20517" cy="3751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973743" y="4038440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3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V="1">
            <a:off x="9777447" y="5008701"/>
            <a:ext cx="384043" cy="3014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1049" y="1500267"/>
            <a:ext cx="62479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java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(_.contains(“memory")).count()</a:t>
            </a:r>
          </a:p>
        </p:txBody>
      </p:sp>
    </p:spTree>
    <p:extLst>
      <p:ext uri="{BB962C8B-B14F-4D97-AF65-F5344CB8AC3E}">
        <p14:creationId xmlns:p14="http://schemas.microsoft.com/office/powerpoint/2010/main" val="3755959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2" y="157227"/>
            <a:ext cx="10515600" cy="732155"/>
          </a:xfrm>
        </p:spPr>
        <p:txBody>
          <a:bodyPr/>
          <a:lstStyle/>
          <a:p>
            <a:r>
              <a:rPr lang="en-IN" sz="3733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11013" y="2948947"/>
            <a:ext cx="1047565" cy="384043"/>
          </a:xfrm>
          <a:prstGeom prst="round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478175" y="1220755"/>
            <a:ext cx="1266231" cy="960107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496267" y="2900941"/>
            <a:ext cx="1248139" cy="864096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07153" y="4561009"/>
            <a:ext cx="1370877" cy="884215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2826" y="1526051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459" y="3158583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139" y="4828708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3</a:t>
            </a:r>
          </a:p>
        </p:txBody>
      </p:sp>
      <p:cxnSp>
        <p:nvCxnSpPr>
          <p:cNvPr id="33" name="Straight Arrow Connector 32"/>
          <p:cNvCxnSpPr>
            <a:cxnSpLocks/>
            <a:stCxn id="6" idx="1"/>
            <a:endCxn id="5" idx="0"/>
          </p:cNvCxnSpPr>
          <p:nvPr/>
        </p:nvCxnSpPr>
        <p:spPr>
          <a:xfrm flipH="1">
            <a:off x="7634796" y="1700809"/>
            <a:ext cx="843379" cy="12481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  <a:stCxn id="7" idx="1"/>
            <a:endCxn id="5" idx="3"/>
          </p:cNvCxnSpPr>
          <p:nvPr/>
        </p:nvCxnSpPr>
        <p:spPr>
          <a:xfrm flipH="1" flipV="1">
            <a:off x="8158578" y="3140969"/>
            <a:ext cx="337689" cy="1920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stCxn id="8" idx="1"/>
            <a:endCxn id="5" idx="2"/>
          </p:cNvCxnSpPr>
          <p:nvPr/>
        </p:nvCxnSpPr>
        <p:spPr>
          <a:xfrm flipH="1" flipV="1">
            <a:off x="7634796" y="3332990"/>
            <a:ext cx="772357" cy="16701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3392" y="1500267"/>
            <a:ext cx="623904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java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(_.contains(“memory")).count()</a:t>
            </a:r>
          </a:p>
        </p:txBody>
      </p:sp>
    </p:spTree>
    <p:extLst>
      <p:ext uri="{BB962C8B-B14F-4D97-AF65-F5344CB8AC3E}">
        <p14:creationId xmlns:p14="http://schemas.microsoft.com/office/powerpoint/2010/main" val="22227535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2" y="157227"/>
            <a:ext cx="10515600" cy="732155"/>
          </a:xfrm>
        </p:spPr>
        <p:txBody>
          <a:bodyPr/>
          <a:lstStyle/>
          <a:p>
            <a:r>
              <a:rPr lang="en-IN" sz="3733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7381" y="1724775"/>
            <a:ext cx="58566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(_.contains(“java")).count()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memory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738151" y="2948947"/>
            <a:ext cx="1278063" cy="384043"/>
          </a:xfrm>
          <a:prstGeom prst="round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9399" y="1220755"/>
            <a:ext cx="1355008" cy="960107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9399" y="2900941"/>
            <a:ext cx="1355008" cy="864096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23023" y="4561009"/>
            <a:ext cx="1355007" cy="884215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2826" y="1526051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459" y="3158583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139" y="4828708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3</a:t>
            </a:r>
          </a:p>
        </p:txBody>
      </p:sp>
    </p:spTree>
    <p:extLst>
      <p:ext uri="{BB962C8B-B14F-4D97-AF65-F5344CB8AC3E}">
        <p14:creationId xmlns:p14="http://schemas.microsoft.com/office/powerpoint/2010/main" val="1799765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2" y="157227"/>
            <a:ext cx="10515600" cy="732155"/>
          </a:xfrm>
        </p:spPr>
        <p:txBody>
          <a:bodyPr/>
          <a:lstStyle/>
          <a:p>
            <a:r>
              <a:rPr lang="en-IN" sz="3733" b="1" dirty="0">
                <a:solidFill>
                  <a:srgbClr val="00B050"/>
                </a:solidFill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7381" y="1724775"/>
            <a:ext cx="585665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load data from 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hdfs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://...")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apply transformations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errors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lines.filter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startsWith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(“ERROR"))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messages = 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errors.map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(_.split("\t")).</a:t>
            </a:r>
            <a:r>
              <a:rPr kumimoji="0" lang="fr-F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</a:t>
            </a: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r(1))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messages.cache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(_.contains(“java")).count()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perform action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messages.filter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(_.contains(“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memory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")).count()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26623" y="2948947"/>
            <a:ext cx="1189592" cy="384043"/>
          </a:xfrm>
          <a:prstGeom prst="round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driver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37175" y="1220755"/>
            <a:ext cx="1507232" cy="960107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37175" y="2900941"/>
            <a:ext cx="1507231" cy="864096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8237175" y="4561009"/>
            <a:ext cx="1540855" cy="884215"/>
          </a:xfrm>
          <a:prstGeom prst="rect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rgbClr val="0063B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block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4283" y="747538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8395" y="2487003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4283" y="4147070"/>
            <a:ext cx="885179" cy="3181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Cache 3</a:t>
            </a:r>
          </a:p>
        </p:txBody>
      </p:sp>
      <p:sp>
        <p:nvSpPr>
          <p:cNvPr id="3" name="Oval 2"/>
          <p:cNvSpPr/>
          <p:nvPr/>
        </p:nvSpPr>
        <p:spPr>
          <a:xfrm>
            <a:off x="9936427" y="1343100"/>
            <a:ext cx="1507232" cy="576064"/>
          </a:xfrm>
          <a:prstGeom prst="ellipse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 from cache</a:t>
            </a:r>
          </a:p>
        </p:txBody>
      </p:sp>
      <p:sp>
        <p:nvSpPr>
          <p:cNvPr id="13" name="Oval 12"/>
          <p:cNvSpPr/>
          <p:nvPr/>
        </p:nvSpPr>
        <p:spPr>
          <a:xfrm>
            <a:off x="10067689" y="3091957"/>
            <a:ext cx="1507232" cy="576064"/>
          </a:xfrm>
          <a:prstGeom prst="ellipse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 from cache</a:t>
            </a:r>
          </a:p>
        </p:txBody>
      </p:sp>
      <p:sp>
        <p:nvSpPr>
          <p:cNvPr id="14" name="Oval 13"/>
          <p:cNvSpPr/>
          <p:nvPr/>
        </p:nvSpPr>
        <p:spPr>
          <a:xfrm>
            <a:off x="10067689" y="4800992"/>
            <a:ext cx="1507232" cy="576064"/>
          </a:xfrm>
          <a:prstGeom prst="ellipse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Process from cache</a:t>
            </a:r>
          </a:p>
        </p:txBody>
      </p:sp>
      <p:cxnSp>
        <p:nvCxnSpPr>
          <p:cNvPr id="10" name="Straight Arrow Connector 9"/>
          <p:cNvCxnSpPr>
            <a:cxnSpLocks/>
            <a:stCxn id="14" idx="2"/>
            <a:endCxn id="8" idx="3"/>
          </p:cNvCxnSpPr>
          <p:nvPr/>
        </p:nvCxnSpPr>
        <p:spPr>
          <a:xfrm flipH="1" flipV="1">
            <a:off x="9778030" y="5003117"/>
            <a:ext cx="289659" cy="859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3" idx="2"/>
            <a:endCxn id="7" idx="3"/>
          </p:cNvCxnSpPr>
          <p:nvPr/>
        </p:nvCxnSpPr>
        <p:spPr>
          <a:xfrm flipH="1" flipV="1">
            <a:off x="9744406" y="3332989"/>
            <a:ext cx="323283" cy="47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  <a:stCxn id="3" idx="2"/>
            <a:endCxn id="6" idx="3"/>
          </p:cNvCxnSpPr>
          <p:nvPr/>
        </p:nvCxnSpPr>
        <p:spPr>
          <a:xfrm flipH="1">
            <a:off x="9744407" y="1631132"/>
            <a:ext cx="192020" cy="696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12" idx="2"/>
            <a:endCxn id="3" idx="0"/>
          </p:cNvCxnSpPr>
          <p:nvPr/>
        </p:nvCxnSpPr>
        <p:spPr>
          <a:xfrm>
            <a:off x="10086873" y="1065638"/>
            <a:ext cx="603170" cy="27746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23" idx="2"/>
            <a:endCxn id="13" idx="0"/>
          </p:cNvCxnSpPr>
          <p:nvPr/>
        </p:nvCxnSpPr>
        <p:spPr>
          <a:xfrm>
            <a:off x="10090985" y="2805103"/>
            <a:ext cx="730320" cy="28685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32" idx="2"/>
            <a:endCxn id="14" idx="0"/>
          </p:cNvCxnSpPr>
          <p:nvPr/>
        </p:nvCxnSpPr>
        <p:spPr>
          <a:xfrm>
            <a:off x="10086873" y="4465170"/>
            <a:ext cx="734432" cy="33582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0606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048001"/>
            <a:ext cx="5486400" cy="541215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RDD Operations: Examples</a:t>
            </a:r>
          </a:p>
        </p:txBody>
      </p:sp>
    </p:spTree>
    <p:extLst>
      <p:ext uri="{BB962C8B-B14F-4D97-AF65-F5344CB8AC3E}">
        <p14:creationId xmlns:p14="http://schemas.microsoft.com/office/powerpoint/2010/main" val="4035142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016" y="211016"/>
            <a:ext cx="10742838" cy="54933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Example of Basic RDD Transformations: Single RDD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623394" y="1501212"/>
          <a:ext cx="10945215" cy="4884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021"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00B050"/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00B05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00B050"/>
                          </a:solidFill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00B050"/>
                          </a:solidFill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900" dirty="0"/>
                        <a:t>map()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Apply a function to each element in the RDD and return an RDD of the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rdd.map</a:t>
                      </a:r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(x =&gt; x + 1)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{2, 3, 4, 4}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360">
                <a:tc>
                  <a:txBody>
                    <a:bodyPr/>
                    <a:lstStyle/>
                    <a:p>
                      <a:r>
                        <a:rPr lang="en-US" sz="1900" dirty="0" err="1"/>
                        <a:t>flatMap</a:t>
                      </a:r>
                      <a:r>
                        <a:rPr lang="en-US" sz="19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Apply a function to each element in the RDD and return an RDD of the contents of the</a:t>
                      </a:r>
                    </a:p>
                    <a:p>
                      <a:r>
                        <a:rPr lang="en-US" sz="1900" dirty="0"/>
                        <a:t>iterators returned.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rdd.flatMap</a:t>
                      </a:r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(x =&gt; x.to(3))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{1, 2, 3, 2, 3, 3, 3}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6107">
                <a:tc>
                  <a:txBody>
                    <a:bodyPr/>
                    <a:lstStyle/>
                    <a:p>
                      <a:r>
                        <a:rPr lang="en-US" sz="1900" dirty="0"/>
                        <a:t>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Return an RDD consisting of only elements that pass the condition passed to filter().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rdd.filter</a:t>
                      </a:r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(x =&gt; x != 1)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{2, 3, 3}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021">
                <a:tc>
                  <a:txBody>
                    <a:bodyPr/>
                    <a:lstStyle/>
                    <a:p>
                      <a:r>
                        <a:rPr lang="en-US" sz="1900" dirty="0"/>
                        <a:t>distinct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Remove duplicates.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rdd.distinct</a:t>
                      </a:r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{1, 2, 3}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r>
                        <a:rPr lang="en-US" sz="1900" dirty="0"/>
                        <a:t>sample(</a:t>
                      </a:r>
                      <a:r>
                        <a:rPr lang="en-US" sz="1900" dirty="0" err="1"/>
                        <a:t>withRe</a:t>
                      </a:r>
                      <a:endParaRPr lang="en-US" sz="1900" dirty="0"/>
                    </a:p>
                    <a:p>
                      <a:r>
                        <a:rPr lang="en-US" sz="1900" dirty="0"/>
                        <a:t>placement, </a:t>
                      </a:r>
                      <a:r>
                        <a:rPr lang="en-US" sz="1900" dirty="0" err="1"/>
                        <a:t>frac</a:t>
                      </a:r>
                      <a:endParaRPr lang="en-US" sz="1900" dirty="0"/>
                    </a:p>
                    <a:p>
                      <a:r>
                        <a:rPr lang="en-US" sz="1900" dirty="0" err="1"/>
                        <a:t>tion</a:t>
                      </a:r>
                      <a:r>
                        <a:rPr lang="en-US" sz="1900" dirty="0"/>
                        <a:t>, [seed])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Sample an RDD, with or without replacement.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rdd.sample</a:t>
                      </a:r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(false, 0.5)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Nondeterministic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7A78829-438A-4CA6-A7CC-23FE0336E155}"/>
              </a:ext>
            </a:extLst>
          </p:cNvPr>
          <p:cNvSpPr txBox="1"/>
          <p:nvPr/>
        </p:nvSpPr>
        <p:spPr>
          <a:xfrm>
            <a:off x="2707689" y="988948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RDD containing {1,2,3,3}</a:t>
            </a:r>
          </a:p>
        </p:txBody>
      </p:sp>
    </p:spTree>
    <p:extLst>
      <p:ext uri="{BB962C8B-B14F-4D97-AF65-F5344CB8AC3E}">
        <p14:creationId xmlns:p14="http://schemas.microsoft.com/office/powerpoint/2010/main" val="3448762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947" y="216025"/>
            <a:ext cx="9875520" cy="541215"/>
          </a:xfrm>
        </p:spPr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</a:rPr>
              <a:t>Example of Basic RDD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458" y="990600"/>
            <a:ext cx="10341303" cy="5181600"/>
          </a:xfrm>
        </p:spPr>
        <p:txBody>
          <a:bodyPr/>
          <a:lstStyle/>
          <a:p>
            <a:r>
              <a:rPr lang="en-US" sz="2400" dirty="0"/>
              <a:t>RDD containing {1, 2, 3, 3}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790113" y="1727202"/>
          <a:ext cx="10258887" cy="5048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5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0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2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287">
                <a:tc>
                  <a:txBody>
                    <a:bodyPr/>
                    <a:lstStyle/>
                    <a:p>
                      <a:r>
                        <a:rPr lang="en-US" sz="2000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032">
                <a:tc>
                  <a:txBody>
                    <a:bodyPr/>
                    <a:lstStyle/>
                    <a:p>
                      <a:r>
                        <a:rPr lang="en-US" sz="2000" dirty="0"/>
                        <a:t>collect()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Return all elements from the RDD.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rdd.collect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{1, 2, 3, 3}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032">
                <a:tc>
                  <a:txBody>
                    <a:bodyPr/>
                    <a:lstStyle/>
                    <a:p>
                      <a:r>
                        <a:rPr lang="en-US" sz="2000" dirty="0"/>
                        <a:t>count()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Number of elements in the</a:t>
                      </a:r>
                    </a:p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rdd.count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7648">
                <a:tc>
                  <a:txBody>
                    <a:bodyPr/>
                    <a:lstStyle/>
                    <a:p>
                      <a:r>
                        <a:rPr lang="en-US" sz="2000" dirty="0"/>
                        <a:t>top()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Return the top </a:t>
                      </a:r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num</a:t>
                      </a:r>
                      <a:endParaRPr lang="en-US" sz="2000" b="0" i="0" u="none" strike="noStrike" cap="none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elements the RDD.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rdd.top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(2)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{3, 3}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247"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countByValue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Number of times each element occurs in the RDD.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rdd.countByValue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{(1, 1), (2, 1), (3, 2)}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0640">
                <a:tc>
                  <a:txBody>
                    <a:bodyPr/>
                    <a:lstStyle/>
                    <a:p>
                      <a:r>
                        <a:rPr lang="en-US" sz="2000" dirty="0"/>
                        <a:t>reduce()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Combine the elements of the</a:t>
                      </a:r>
                    </a:p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 together in parallel (e.g., sum).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rdd.reduce</a:t>
                      </a:r>
                      <a:r>
                        <a:rPr lang="es-E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((x, y) =&gt; x + y)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2467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0786"/>
            <a:ext cx="9875520" cy="541215"/>
          </a:xfrm>
        </p:spPr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</a:rPr>
              <a:t>Example of Basic RDD Transformations: Two RDD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1" y="762000"/>
            <a:ext cx="9875520" cy="5715000"/>
          </a:xfrm>
        </p:spPr>
        <p:txBody>
          <a:bodyPr>
            <a:normAutofit/>
          </a:bodyPr>
          <a:lstStyle/>
          <a:p>
            <a:r>
              <a:rPr lang="en-US" sz="2400" dirty="0"/>
              <a:t>Two-RDD transformations on RDDs containing {1, 2, 3} and {3, 4, 5}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143000" y="1886770"/>
          <a:ext cx="9677400" cy="3752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28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r>
                        <a:rPr lang="en-US" sz="2000" dirty="0"/>
                        <a:t>union()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Produce an RDD containing elements</a:t>
                      </a:r>
                    </a:p>
                    <a:p>
                      <a:r>
                        <a:rPr lang="en-US" sz="2000" dirty="0"/>
                        <a:t>from both RDDs.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rdd.union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(other)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{1, 2, 3, 3,</a:t>
                      </a:r>
                    </a:p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4, 5}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032">
                <a:tc>
                  <a:txBody>
                    <a:bodyPr/>
                    <a:lstStyle/>
                    <a:p>
                      <a:r>
                        <a:rPr lang="en-US" sz="2000" dirty="0"/>
                        <a:t>intersection()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Common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rdd.intersection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(other)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{3}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832">
                <a:tc>
                  <a:txBody>
                    <a:bodyPr/>
                    <a:lstStyle/>
                    <a:p>
                      <a:r>
                        <a:rPr lang="en-US" sz="2000" dirty="0"/>
                        <a:t>subtract()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Remove the contents of one RDD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rdd.subtract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(other)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{1, 2}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US" sz="2000" dirty="0"/>
                        <a:t>Cartesian()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Cartesian product with the other RDD.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rdd.cartesian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(other)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{(1,3), (1,4), …}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5256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82" y="144586"/>
            <a:ext cx="9875520" cy="541215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Paired RDD: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2" y="685801"/>
            <a:ext cx="10220959" cy="5638799"/>
          </a:xfrm>
        </p:spPr>
        <p:txBody>
          <a:bodyPr/>
          <a:lstStyle/>
          <a:p>
            <a:r>
              <a:rPr lang="en-US" sz="1600" dirty="0"/>
              <a:t>RDD containing key-value pairs</a:t>
            </a:r>
          </a:p>
          <a:p>
            <a:r>
              <a:rPr lang="en-US" sz="1600" dirty="0"/>
              <a:t>The fundamental concept behind original map-reduce model</a:t>
            </a:r>
          </a:p>
          <a:p>
            <a:pPr marL="0" indent="0">
              <a:buNone/>
            </a:pPr>
            <a:r>
              <a:rPr lang="en-US" sz="1600" dirty="0"/>
              <a:t>             Transformations on one paired RDD containing  {(1, 2), (3, 4), (3, 6)}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239521" y="2208320"/>
          <a:ext cx="10058400" cy="411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11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00B050"/>
                          </a:solidFill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0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reduceByKey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func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Combine values with</a:t>
                      </a:r>
                    </a:p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the same key.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rdd.reduceByKey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</a:p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(x, y) =&gt; x + y)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{(1,2), (3,10)}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groupByKey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Group values with the</a:t>
                      </a:r>
                    </a:p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same key.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rdd.groupByKey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{(1,[2]),(3, [4,6])}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966"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mapValues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</a:t>
                      </a:r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func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Apply a function to each value of a pair RDD without changing the key.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rdd.mapValues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(x =&gt; x+1)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{(1,3), (3,5), (3,7)}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0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keys()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Return an RDD of just</a:t>
                      </a:r>
                    </a:p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the keys.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rdd.keys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{1, 3,3}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0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values()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Return an RDD of just</a:t>
                      </a:r>
                    </a:p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the values.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rdd.values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{2, 4,6}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0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sortByKey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Return an RDD sorted</a:t>
                      </a:r>
                    </a:p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by the key.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rdd.sortByKey</a:t>
                      </a:r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{(1,2), (3,4), (3,6)}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1252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4586"/>
            <a:ext cx="9875520" cy="541215"/>
          </a:xfrm>
        </p:spPr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Paired RDD: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8242" y="685801"/>
            <a:ext cx="10220959" cy="5638799"/>
          </a:xfrm>
        </p:spPr>
        <p:txBody>
          <a:bodyPr/>
          <a:lstStyle/>
          <a:p>
            <a:pPr marL="38099" indent="0">
              <a:buNone/>
            </a:pPr>
            <a:r>
              <a:rPr lang="en-US" dirty="0"/>
              <a:t>RDD containing  {(1, 2), (3, 4), (3, 6)}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r>
              <a:rPr lang="en-US" dirty="0"/>
              <a:t>        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1295401" y="1981201"/>
          <a:ext cx="9525001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3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948"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00B050"/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00B05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00B050"/>
                          </a:solidFill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rgbClr val="00B050"/>
                          </a:solidFill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9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countByKey</a:t>
                      </a:r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1900" dirty="0"/>
                    </a:p>
                    <a:p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Count the number of elements for each key.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rdd.countByKey</a:t>
                      </a:r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()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{(1, 1), (3, 2)}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lookup(key)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Return all values associated with the provided key.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rdd.lookup</a:t>
                      </a:r>
                      <a:r>
                        <a:rPr lang="en-US" sz="19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(3)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{4,6}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3087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410" y="219724"/>
            <a:ext cx="9875520" cy="541215"/>
          </a:xfrm>
        </p:spPr>
        <p:txBody>
          <a:bodyPr/>
          <a:lstStyle/>
          <a:p>
            <a:r>
              <a:rPr lang="en-US" sz="3600" b="1" dirty="0">
                <a:solidFill>
                  <a:srgbClr val="00B050"/>
                </a:solidFill>
              </a:rPr>
              <a:t>Two Paired RDD: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410" y="838200"/>
            <a:ext cx="10771130" cy="5181600"/>
          </a:xfrm>
        </p:spPr>
        <p:txBody>
          <a:bodyPr>
            <a:normAutofit/>
          </a:bodyPr>
          <a:lstStyle/>
          <a:p>
            <a:r>
              <a:rPr lang="en-US" sz="2400" dirty="0"/>
              <a:t>Transformations on two paired RDDs: (</a:t>
            </a:r>
            <a:r>
              <a:rPr lang="en-US" sz="2400" dirty="0" err="1">
                <a:solidFill>
                  <a:srgbClr val="C00000"/>
                </a:solidFill>
              </a:rPr>
              <a:t>rdd</a:t>
            </a:r>
            <a:r>
              <a:rPr lang="en-US" sz="2400" dirty="0"/>
              <a:t> = {(1, 2), (3, 4), (3, 6)}, </a:t>
            </a:r>
            <a:r>
              <a:rPr lang="en-US" sz="2400" dirty="0">
                <a:solidFill>
                  <a:srgbClr val="C00000"/>
                </a:solidFill>
              </a:rPr>
              <a:t>other</a:t>
            </a:r>
            <a:r>
              <a:rPr lang="en-US" sz="2400" dirty="0"/>
              <a:t> = {(3, 9)})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 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143000" y="2389575"/>
          <a:ext cx="10058400" cy="1823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287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B050"/>
                          </a:solidFill>
                        </a:rP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join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Perform an inner join</a:t>
                      </a:r>
                    </a:p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between two RDDs.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rdd.join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(other)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{(3, (4, 9)), (3,</a:t>
                      </a:r>
                    </a:p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(6, 9))}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cogroup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Group data from both RDDs</a:t>
                      </a:r>
                    </a:p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sharing the same key.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rdd.cogroup</a:t>
                      </a:r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(other)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{(1,([2],[])), (3,</a:t>
                      </a:r>
                    </a:p>
                    <a:p>
                      <a:r>
                        <a:rPr lang="en-US" sz="20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([4, 6],[9]))}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891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leanor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3308</TotalTime>
  <Words>2621</Words>
  <Application>Microsoft Office PowerPoint</Application>
  <PresentationFormat>Widescreen</PresentationFormat>
  <Paragraphs>660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Adobe Garamond Pro</vt:lpstr>
      <vt:lpstr>Arial</vt:lpstr>
      <vt:lpstr>Calibri</vt:lpstr>
      <vt:lpstr>Century Schoolbook</vt:lpstr>
      <vt:lpstr>Menlo</vt:lpstr>
      <vt:lpstr>Quicksand</vt:lpstr>
      <vt:lpstr>Times New Roman</vt:lpstr>
      <vt:lpstr>Office Theme</vt:lpstr>
      <vt:lpstr>Eleanor template</vt:lpstr>
      <vt:lpstr>Big Data Processing</vt:lpstr>
      <vt:lpstr>PowerPoint Presentation</vt:lpstr>
      <vt:lpstr>Use of Combiner</vt:lpstr>
      <vt:lpstr>Role of combiner</vt:lpstr>
      <vt:lpstr>PowerPoint Presentation</vt:lpstr>
      <vt:lpstr>Problem: Computing Mean</vt:lpstr>
      <vt:lpstr>Computing mean: Use of combiner</vt:lpstr>
      <vt:lpstr>Combiner: Warning!</vt:lpstr>
      <vt:lpstr>Spark  Fast Big Data Processing</vt:lpstr>
      <vt:lpstr>Iterative Algorithm in Map-reduce</vt:lpstr>
      <vt:lpstr>Iterative Algorithm in Map-reduce: Issues</vt:lpstr>
      <vt:lpstr>Limitations of basic map-reduce</vt:lpstr>
      <vt:lpstr>Key Concept in Spark for Working with Data</vt:lpstr>
      <vt:lpstr>Master</vt:lpstr>
      <vt:lpstr>Main Steps of an RDD Processing</vt:lpstr>
      <vt:lpstr>Creating an RDD</vt:lpstr>
      <vt:lpstr>RDD Operations</vt:lpstr>
      <vt:lpstr>  RDD Operations</vt:lpstr>
      <vt:lpstr>Transformations: Examples</vt:lpstr>
      <vt:lpstr>RDD Operations</vt:lpstr>
      <vt:lpstr>Actions: Examples</vt:lpstr>
      <vt:lpstr>Anatomy of an RDD Operation</vt:lpstr>
      <vt:lpstr>Lazy Evaluation</vt:lpstr>
      <vt:lpstr>An Example Code</vt:lpstr>
      <vt:lpstr>RDD Persistence</vt:lpstr>
      <vt:lpstr>RDD Persistence</vt:lpstr>
      <vt:lpstr>Persistence (Caching)</vt:lpstr>
      <vt:lpstr>RDD Persistence: Example</vt:lpstr>
      <vt:lpstr>Distributed Execution of RDD</vt:lpstr>
      <vt:lpstr>Example</vt:lpstr>
      <vt:lpstr>Example</vt:lpstr>
      <vt:lpstr>Example</vt:lpstr>
      <vt:lpstr>RDD Operator Graph</vt:lpstr>
      <vt:lpstr>Example</vt:lpstr>
      <vt:lpstr>Example</vt:lpstr>
      <vt:lpstr>Example</vt:lpstr>
      <vt:lpstr>Example</vt:lpstr>
      <vt:lpstr>Example</vt:lpstr>
      <vt:lpstr>Example</vt:lpstr>
      <vt:lpstr>Example</vt:lpstr>
      <vt:lpstr>RDD Operations: Examples</vt:lpstr>
      <vt:lpstr>Example of Basic RDD Transformations: Single RDD</vt:lpstr>
      <vt:lpstr>Example of Basic RDD Actions</vt:lpstr>
      <vt:lpstr>Example of Basic RDD Transformations: Two RDD</vt:lpstr>
      <vt:lpstr>Paired RDD: Transformations</vt:lpstr>
      <vt:lpstr>Paired RDD: Actions</vt:lpstr>
      <vt:lpstr>Two Paired RDD: Transformations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Processing</dc:title>
  <dc:creator>jiaul paik</dc:creator>
  <cp:lastModifiedBy>User</cp:lastModifiedBy>
  <cp:revision>698</cp:revision>
  <dcterms:created xsi:type="dcterms:W3CDTF">2020-05-13T23:12:08Z</dcterms:created>
  <dcterms:modified xsi:type="dcterms:W3CDTF">2025-02-12T06:06:30Z</dcterms:modified>
</cp:coreProperties>
</file>